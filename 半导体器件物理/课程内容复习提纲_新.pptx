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22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53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02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96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8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01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2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3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40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4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04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68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E1DF2-B09C-4839-AD45-A58ED6F8FCD0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2C26E-1084-4380-9F6D-EB69AE7F67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62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课程内容提纲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8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7~9</a:t>
            </a:r>
            <a:r>
              <a:rPr lang="zh-CN" altLang="en-US" dirty="0" smtClean="0"/>
              <a:t>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 err="1"/>
              <a:t>pn</a:t>
            </a:r>
            <a:r>
              <a:rPr lang="zh-CN" altLang="zh-CN" dirty="0"/>
              <a:t>结形成机制及正偏和反偏空间电荷区的变化</a:t>
            </a:r>
          </a:p>
          <a:p>
            <a:pPr lvl="0"/>
            <a:r>
              <a:rPr lang="en-US" altLang="zh-CN" dirty="0" err="1"/>
              <a:t>pn</a:t>
            </a:r>
            <a:r>
              <a:rPr lang="zh-CN" altLang="zh-CN" dirty="0"/>
              <a:t>结反向饱和电流的影响因数</a:t>
            </a:r>
          </a:p>
          <a:p>
            <a:pPr lvl="0"/>
            <a:r>
              <a:rPr lang="en-US" altLang="zh-CN" dirty="0" err="1"/>
              <a:t>pn</a:t>
            </a:r>
            <a:r>
              <a:rPr lang="zh-CN" altLang="zh-CN" dirty="0"/>
              <a:t>结二极管产生与复合电流</a:t>
            </a:r>
          </a:p>
          <a:p>
            <a:pPr lvl="0"/>
            <a:r>
              <a:rPr lang="zh-CN" altLang="zh-CN" dirty="0"/>
              <a:t>肖特基势垒形成机制及肖特基二极管与</a:t>
            </a:r>
            <a:r>
              <a:rPr lang="en-US" altLang="zh-CN" dirty="0" err="1"/>
              <a:t>pn</a:t>
            </a:r>
            <a:r>
              <a:rPr lang="zh-CN" altLang="zh-CN" dirty="0"/>
              <a:t>结二极管的区别</a:t>
            </a:r>
          </a:p>
          <a:p>
            <a:pPr lvl="0"/>
            <a:r>
              <a:rPr lang="zh-CN" altLang="zh-CN" dirty="0"/>
              <a:t>异质结概念及形成条件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542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第十章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1</a:t>
            </a:r>
            <a:r>
              <a:rPr lang="zh-CN" altLang="zh-CN" sz="2400" dirty="0" smtClean="0"/>
              <a:t>．</a:t>
            </a:r>
            <a:r>
              <a:rPr lang="zh-CN" altLang="en-US" sz="2400" dirty="0" smtClean="0"/>
              <a:t>阈值电压、产生的原因</a:t>
            </a:r>
            <a:r>
              <a:rPr lang="zh-CN" altLang="zh-CN" sz="2400" dirty="0" smtClean="0"/>
              <a:t>及其</a:t>
            </a:r>
            <a:r>
              <a:rPr lang="zh-CN" altLang="zh-CN" sz="2400" dirty="0"/>
              <a:t>影响因素</a:t>
            </a:r>
            <a:r>
              <a:rPr lang="zh-CN" altLang="zh-CN" sz="2400" dirty="0" smtClean="0"/>
              <a:t>；</a:t>
            </a:r>
            <a:endParaRPr lang="en-US" altLang="zh-CN" sz="2400" dirty="0"/>
          </a:p>
          <a:p>
            <a:r>
              <a:rPr lang="en-US" altLang="zh-CN" sz="2400" dirty="0" smtClean="0"/>
              <a:t>2.MOS</a:t>
            </a:r>
            <a:r>
              <a:rPr lang="zh-CN" altLang="zh-CN" sz="2400" dirty="0"/>
              <a:t>电容</a:t>
            </a:r>
            <a:r>
              <a:rPr lang="en-US" altLang="zh-CN" sz="2400" dirty="0"/>
              <a:t>-</a:t>
            </a:r>
            <a:r>
              <a:rPr lang="zh-CN" altLang="zh-CN" sz="2400" dirty="0"/>
              <a:t>栅压曲线特性与不同状态下对应的界面</a:t>
            </a:r>
            <a:r>
              <a:rPr lang="en-US" altLang="zh-CN" sz="2400" dirty="0"/>
              <a:t>/</a:t>
            </a:r>
            <a:r>
              <a:rPr lang="zh-CN" altLang="zh-CN" sz="2400" dirty="0"/>
              <a:t>结区电荷分布</a:t>
            </a:r>
          </a:p>
          <a:p>
            <a:r>
              <a:rPr lang="en-US" altLang="zh-CN" sz="2400" dirty="0" smtClean="0"/>
              <a:t>3. </a:t>
            </a:r>
            <a:r>
              <a:rPr lang="zh-CN" altLang="zh-CN" sz="2400" dirty="0"/>
              <a:t>增强型、耗尽型</a:t>
            </a:r>
            <a:r>
              <a:rPr lang="en-US" altLang="zh-CN" sz="2400" dirty="0"/>
              <a:t>MOSFET</a:t>
            </a:r>
            <a:r>
              <a:rPr lang="zh-CN" altLang="zh-CN" sz="2400" dirty="0"/>
              <a:t>及其主要区别</a:t>
            </a:r>
            <a:r>
              <a:rPr lang="zh-CN" altLang="zh-CN" sz="2400" dirty="0" smtClean="0"/>
              <a:t>；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zh-CN" sz="2400" dirty="0" smtClean="0"/>
              <a:t>．</a:t>
            </a:r>
            <a:r>
              <a:rPr lang="en-US" altLang="zh-CN" sz="2400" dirty="0"/>
              <a:t>MOSFET</a:t>
            </a:r>
            <a:r>
              <a:rPr lang="zh-CN" altLang="zh-CN" sz="2400" dirty="0"/>
              <a:t>工作模式区分</a:t>
            </a:r>
          </a:p>
          <a:p>
            <a:r>
              <a:rPr lang="en-US" altLang="zh-CN" sz="2400" dirty="0" smtClean="0"/>
              <a:t>5</a:t>
            </a:r>
            <a:r>
              <a:rPr lang="zh-CN" altLang="zh-CN" sz="2400" dirty="0" smtClean="0"/>
              <a:t>．</a:t>
            </a:r>
            <a:r>
              <a:rPr lang="zh-CN" altLang="zh-CN" sz="2400" dirty="0"/>
              <a:t>跨导和衬底偏压影响因素和</a:t>
            </a:r>
            <a:r>
              <a:rPr lang="zh-CN" altLang="zh-CN" sz="2400" dirty="0" smtClean="0"/>
              <a:t>效果</a:t>
            </a:r>
            <a:endParaRPr lang="zh-CN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866775" y="4266337"/>
            <a:ext cx="104870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计算：</a:t>
            </a:r>
            <a:r>
              <a:rPr lang="en-US" altLang="zh-CN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MOSFET </a:t>
            </a:r>
            <a:r>
              <a:rPr lang="zh-CN" altLang="zh-CN" sz="2400" dirty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底层物理计算：如</a:t>
            </a:r>
            <a:r>
              <a:rPr lang="zh-CN" altLang="zh-CN" sz="2400" dirty="0">
                <a:latin typeface="Aptos"/>
                <a:cs typeface="Times New Roman" panose="02020603050405020304" pitchFamily="18" charset="0"/>
              </a:rPr>
              <a:t>费米势、平带电压、氧化层电容、阈值电压公</a:t>
            </a:r>
            <a:r>
              <a:rPr lang="zh-CN" altLang="zh-CN" sz="2400" dirty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式等。</a:t>
            </a:r>
            <a:endParaRPr lang="zh-CN" altLang="zh-CN" sz="2400" dirty="0">
              <a:latin typeface="Aptos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2400" dirty="0" smtClean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zh-CN" sz="2400" dirty="0" smtClean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长</a:t>
            </a:r>
            <a:r>
              <a:rPr lang="zh-CN" altLang="zh-CN" sz="2400" dirty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沟道</a:t>
            </a:r>
            <a:r>
              <a:rPr lang="en-US" altLang="zh-CN" sz="2400" dirty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 MOSFET </a:t>
            </a:r>
            <a:r>
              <a:rPr lang="zh-CN" altLang="zh-CN" sz="2400" dirty="0">
                <a:latin typeface="Aptos"/>
                <a:ea typeface="宋体" panose="02010600030101010101" pitchFamily="2" charset="-122"/>
                <a:cs typeface="宋体" panose="02010600030101010101" pitchFamily="2" charset="-122"/>
              </a:rPr>
              <a:t>的直流特性</a:t>
            </a:r>
            <a:endParaRPr lang="zh-CN" altLang="zh-CN" sz="2400" dirty="0">
              <a:latin typeface="Aptos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400" dirty="0" smtClean="0">
                <a:latin typeface="Aptos"/>
                <a:cs typeface="Times New Roman" panose="02020603050405020304" pitchFamily="18" charset="0"/>
              </a:rPr>
              <a:t>高频</a:t>
            </a:r>
            <a:r>
              <a:rPr lang="zh-CN" altLang="zh-CN" sz="2400" dirty="0">
                <a:latin typeface="Aptos"/>
                <a:cs typeface="Times New Roman" panose="02020603050405020304" pitchFamily="18" charset="0"/>
              </a:rPr>
              <a:t>特性与频率</a:t>
            </a:r>
            <a:r>
              <a:rPr lang="zh-CN" altLang="zh-CN" sz="2400" dirty="0" smtClean="0">
                <a:latin typeface="Aptos"/>
                <a:cs typeface="Times New Roman" panose="02020603050405020304" pitchFamily="18" charset="0"/>
              </a:rPr>
              <a:t>极限</a:t>
            </a:r>
            <a:endParaRPr lang="zh-CN" altLang="zh-CN" sz="2400" dirty="0">
              <a:latin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85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第十一章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非理想效应与结果</a:t>
            </a:r>
          </a:p>
          <a:p>
            <a:pPr lvl="0"/>
            <a:r>
              <a:rPr lang="zh-CN" altLang="zh-CN" dirty="0"/>
              <a:t>短</a:t>
            </a:r>
            <a:r>
              <a:rPr lang="zh-CN" altLang="zh-CN" dirty="0" smtClean="0"/>
              <a:t>沟道和</a:t>
            </a:r>
            <a:r>
              <a:rPr lang="zh-CN" altLang="zh-CN" dirty="0"/>
              <a:t>窄</a:t>
            </a:r>
            <a:r>
              <a:rPr lang="zh-CN" altLang="zh-CN" dirty="0" smtClean="0"/>
              <a:t>沟道效应</a:t>
            </a:r>
            <a:r>
              <a:rPr lang="zh-CN" altLang="en-US" dirty="0" smtClean="0"/>
              <a:t>，</a:t>
            </a:r>
            <a:r>
              <a:rPr lang="zh-CN" altLang="en-US" dirty="0"/>
              <a:t>及</a:t>
            </a:r>
            <a:r>
              <a:rPr lang="zh-CN" altLang="zh-CN" dirty="0" smtClean="0"/>
              <a:t>影响</a:t>
            </a:r>
            <a:r>
              <a:rPr lang="zh-CN" altLang="zh-CN" dirty="0"/>
              <a:t>与结果</a:t>
            </a:r>
          </a:p>
          <a:p>
            <a:pPr lvl="0"/>
            <a:r>
              <a:rPr lang="zh-CN" altLang="zh-CN" dirty="0"/>
              <a:t>漏致势垒降低效应和热载流子</a:t>
            </a:r>
            <a:r>
              <a:rPr lang="zh-CN" altLang="zh-CN" dirty="0" smtClean="0"/>
              <a:t>效应</a:t>
            </a:r>
            <a:endParaRPr lang="en-US" altLang="zh-CN" dirty="0" smtClean="0"/>
          </a:p>
          <a:p>
            <a:r>
              <a:rPr lang="zh-CN" altLang="zh-CN" dirty="0" smtClean="0"/>
              <a:t>恒定</a:t>
            </a:r>
            <a:r>
              <a:rPr lang="zh-CN" altLang="zh-CN" dirty="0"/>
              <a:t>电场按比例缩小理论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计算：沟道长度调制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</a:t>
            </a:r>
            <a:r>
              <a:rPr lang="zh-CN" altLang="en-US" dirty="0" smtClean="0"/>
              <a:t>速度饱和相关参数计算</a:t>
            </a:r>
            <a:endParaRPr lang="zh-CN" altLang="zh-CN" dirty="0"/>
          </a:p>
          <a:p>
            <a:pPr lvl="0"/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727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12</a:t>
            </a:r>
            <a:r>
              <a:rPr lang="zh-CN" altLang="en-US" dirty="0" smtClean="0"/>
              <a:t>章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52475" y="1387475"/>
                <a:ext cx="10515600" cy="5575300"/>
              </a:xfrm>
            </p:spPr>
            <p:txBody>
              <a:bodyPr>
                <a:normAutofit fontScale="77500" lnSpcReduction="20000"/>
              </a:bodyPr>
              <a:lstStyle/>
              <a:p>
                <a:pPr lvl="0"/>
                <a:r>
                  <a:rPr lang="zh-CN" altLang="zh-CN" dirty="0"/>
                  <a:t>双极型晶体管的结构、工作原理；</a:t>
                </a:r>
              </a:p>
              <a:p>
                <a:pPr lvl="0"/>
                <a:r>
                  <a:rPr lang="zh-CN" altLang="zh-CN" dirty="0"/>
                  <a:t>双极型晶体管不同工作模式下，对发射结和集电结偏压的要求</a:t>
                </a:r>
                <a:r>
                  <a:rPr lang="zh-CN" altLang="zh-CN" dirty="0" smtClean="0"/>
                  <a:t>；</a:t>
                </a:r>
                <a:endParaRPr lang="en-US" altLang="zh-CN" dirty="0" smtClean="0"/>
              </a:p>
              <a:p>
                <a:r>
                  <a:rPr lang="en-US" altLang="zh-CN" dirty="0" smtClean="0"/>
                  <a:t>.</a:t>
                </a:r>
                <a:r>
                  <a:rPr lang="zh-CN" altLang="zh-CN" dirty="0"/>
                  <a:t>四种工作模式下发射区、基区与集电区对应的少子</a:t>
                </a:r>
                <a:r>
                  <a:rPr lang="zh-CN" altLang="zh-CN" dirty="0" smtClean="0"/>
                  <a:t>浓度分布</a:t>
                </a:r>
                <a:endParaRPr lang="zh-CN" altLang="zh-CN" dirty="0"/>
              </a:p>
              <a:p>
                <a:pPr lvl="0"/>
                <a:r>
                  <a:rPr lang="zh-CN" altLang="zh-CN" dirty="0"/>
                  <a:t>双极型晶体管共射极</a:t>
                </a:r>
                <a:r>
                  <a:rPr lang="en-US" altLang="zh-CN" dirty="0"/>
                  <a:t>/</a:t>
                </a:r>
                <a:r>
                  <a:rPr lang="zh-CN" altLang="zh-CN" dirty="0"/>
                  <a:t>共基极电流增益（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zh-CN" dirty="0"/>
                  <a:t>；</a:t>
                </a:r>
              </a:p>
              <a:p>
                <a:pPr lvl="0"/>
                <a:r>
                  <a:rPr lang="zh-CN" altLang="zh-CN" dirty="0"/>
                  <a:t>非理想效应</a:t>
                </a:r>
              </a:p>
              <a:p>
                <a:r>
                  <a:rPr lang="zh-CN" altLang="zh-CN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）基区宽度调制</a:t>
                </a:r>
                <a:r>
                  <a:rPr lang="zh-CN" altLang="zh-CN" dirty="0" smtClean="0"/>
                  <a:t>效应</a:t>
                </a:r>
                <a:r>
                  <a:rPr lang="en-US" altLang="zh-CN" dirty="0"/>
                  <a:t>(</a:t>
                </a:r>
                <a:r>
                  <a:rPr lang="en-US" altLang="zh-CN" dirty="0" smtClean="0"/>
                  <a:t>Early</a:t>
                </a:r>
                <a:r>
                  <a:rPr lang="zh-CN" altLang="zh-CN" dirty="0" smtClean="0"/>
                  <a:t>效应</a:t>
                </a:r>
                <a:r>
                  <a:rPr lang="en-US" altLang="zh-CN" dirty="0" smtClean="0"/>
                  <a:t>),</a:t>
                </a:r>
                <a:r>
                  <a:rPr lang="zh-CN" altLang="en-US" dirty="0" smtClean="0"/>
                  <a:t>及</a:t>
                </a:r>
                <a:r>
                  <a:rPr lang="zh-CN" altLang="zh-CN" dirty="0" smtClean="0"/>
                  <a:t>厄</a:t>
                </a:r>
                <a:r>
                  <a:rPr lang="zh-CN" altLang="zh-CN" dirty="0"/>
                  <a:t>利电压的概念</a:t>
                </a:r>
              </a:p>
              <a:p>
                <a:r>
                  <a:rPr lang="zh-CN" altLang="zh-CN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）发射区禁带变窄的概念及影响</a:t>
                </a:r>
              </a:p>
              <a:p>
                <a:r>
                  <a:rPr lang="en-US" altLang="zh-CN" dirty="0" smtClean="0"/>
                  <a:t> </a:t>
                </a:r>
                <a:r>
                  <a:rPr lang="zh-CN" altLang="zh-CN" dirty="0"/>
                  <a:t>双极型晶体管的频率响应及截止频率的概念；</a:t>
                </a:r>
              </a:p>
              <a:p>
                <a:r>
                  <a:rPr lang="zh-CN" altLang="zh-CN" dirty="0" smtClean="0"/>
                  <a:t>双</a:t>
                </a:r>
                <a:r>
                  <a:rPr lang="zh-CN" altLang="zh-CN" dirty="0"/>
                  <a:t>极型晶体管开关特性</a:t>
                </a:r>
                <a:r>
                  <a:rPr lang="zh-CN" altLang="zh-CN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计算：共基极电流增益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 smtClean="0"/>
                  <a:t>，共发射极电流增益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 smtClean="0"/>
                  <a:t>（定义式，两者关系式）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              </a:t>
                </a:r>
                <a:r>
                  <a:rPr lang="zh-CN" altLang="en-US" dirty="0" smtClean="0"/>
                  <a:t>发射极注入效率，基区传输系数，复合系数（定义式）</a:t>
                </a:r>
                <a:r>
                  <a:rPr lang="en-US" altLang="zh-CN" dirty="0" smtClean="0"/>
                  <a:t>          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        </a:t>
                </a:r>
                <a:r>
                  <a:rPr lang="zh-CN" altLang="en-US" dirty="0" smtClean="0"/>
                  <a:t>电流组成</a:t>
                </a:r>
                <a:r>
                  <a:rPr lang="en-US" altLang="zh-CN" dirty="0" smtClean="0"/>
                  <a:t>(P358)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        </a:t>
                </a:r>
                <a:r>
                  <a:rPr lang="zh-CN" altLang="en-US" dirty="0" smtClean="0"/>
                  <a:t>电流计算（</a:t>
                </a:r>
                <a:r>
                  <a:rPr lang="en-US" altLang="zh-CN" dirty="0" smtClean="0"/>
                  <a:t>P349)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              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2475" y="1387475"/>
                <a:ext cx="10515600" cy="5575300"/>
              </a:xfrm>
              <a:blipFill>
                <a:blip r:embed="rId2"/>
                <a:stretch>
                  <a:fillRect l="-638" t="-2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8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556</Words>
  <Application>Microsoft Office PowerPoint</Application>
  <PresentationFormat>Custom</PresentationFormat>
  <Paragraphs>39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主题​​</vt:lpstr>
      <vt:lpstr>课程内容提纲</vt:lpstr>
      <vt:lpstr>7~9章</vt:lpstr>
      <vt:lpstr>第十章</vt:lpstr>
      <vt:lpstr>第十一章</vt:lpstr>
      <vt:lpstr>第12章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课程内容提纲</dc:title>
  <dc:creator>Administrator</dc:creator>
  <cp:lastModifiedBy>GL</cp:lastModifiedBy>
  <cp:revision>12</cp:revision>
  <dcterms:created xsi:type="dcterms:W3CDTF">2026-01-05T07:34:07Z</dcterms:created>
  <dcterms:modified xsi:type="dcterms:W3CDTF">2026-01-06T15:18:46Z</dcterms:modified>
</cp:coreProperties>
</file>