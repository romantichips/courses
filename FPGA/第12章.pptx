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7" r:id="rId1"/>
  </p:sldMasterIdLst>
  <p:notesMasterIdLst>
    <p:notesMasterId r:id="rId17"/>
  </p:notesMasterIdLst>
  <p:handoutMasterIdLst>
    <p:handoutMasterId r:id="rId18"/>
  </p:handoutMasterIdLst>
  <p:sldIdLst>
    <p:sldId id="2528" r:id="rId2"/>
    <p:sldId id="2567" r:id="rId3"/>
    <p:sldId id="2529" r:id="rId4"/>
    <p:sldId id="2593" r:id="rId5"/>
    <p:sldId id="2594" r:id="rId6"/>
    <p:sldId id="2595" r:id="rId7"/>
    <p:sldId id="2596" r:id="rId8"/>
    <p:sldId id="2597" r:id="rId9"/>
    <p:sldId id="2598" r:id="rId10"/>
    <p:sldId id="2599" r:id="rId11"/>
    <p:sldId id="2600" r:id="rId12"/>
    <p:sldId id="2601" r:id="rId13"/>
    <p:sldId id="2602" r:id="rId14"/>
    <p:sldId id="2603" r:id="rId15"/>
    <p:sldId id="2604" r:id="rId16"/>
  </p:sldIdLst>
  <p:sldSz cx="12858750" cy="7232650"/>
  <p:notesSz cx="6858000" cy="9144000"/>
  <p:custDataLst>
    <p:tags r:id="rId19"/>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9763" indent="-182563"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638" indent="-55403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497" userDrawn="1">
          <p15:clr>
            <a:srgbClr val="A4A3A4"/>
          </p15:clr>
        </p15:guide>
        <p15:guide id="7" pos="69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66"/>
    <a:srgbClr val="2DDE45"/>
    <a:srgbClr val="FFFFFF"/>
    <a:srgbClr val="66CCFF"/>
    <a:srgbClr val="000000"/>
    <a:srgbClr val="125B26"/>
    <a:srgbClr val="27B23C"/>
    <a:srgbClr val="134B28"/>
    <a:srgbClr val="63BC6F"/>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25" autoAdjust="0"/>
    <p:restoredTop sz="83969" autoAdjust="0"/>
  </p:normalViewPr>
  <p:slideViewPr>
    <p:cSldViewPr>
      <p:cViewPr varScale="1">
        <p:scale>
          <a:sx n="93" d="100"/>
          <a:sy n="93" d="100"/>
        </p:scale>
        <p:origin x="1050" y="84"/>
      </p:cViewPr>
      <p:guideLst>
        <p:guide orient="horz" pos="328"/>
        <p:guide pos="4050"/>
        <p:guide pos="557"/>
        <p:guide orient="horz" pos="4183"/>
        <p:guide pos="7497"/>
        <p:guide pos="6908"/>
      </p:guideLst>
    </p:cSldViewPr>
  </p:slideViewPr>
  <p:outlineViewPr>
    <p:cViewPr>
      <p:scale>
        <a:sx n="100" d="100"/>
        <a:sy n="100" d="100"/>
      </p:scale>
      <p:origin x="0" y="-2055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5" d="100"/>
          <a:sy n="65" d="100"/>
        </p:scale>
        <p:origin x="2796"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t>2022/5/22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t>‹#›</a:t>
            </a:fld>
            <a:endParaRPr lang="zh-CN" altLang="en-US"/>
          </a:p>
        </p:txBody>
      </p:sp>
    </p:spTree>
    <p:extLst>
      <p:ext uri="{BB962C8B-B14F-4D97-AF65-F5344CB8AC3E}">
        <p14:creationId xmlns:p14="http://schemas.microsoft.com/office/powerpoint/2010/main" val="198666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2022/5/22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613" algn="l" rtl="0" eaLnBrk="0" fontAlgn="base" hangingPunct="0">
      <a:spcBef>
        <a:spcPct val="30000"/>
      </a:spcBef>
      <a:spcAft>
        <a:spcPct val="0"/>
      </a:spcAft>
      <a:defRPr sz="1300" kern="1200">
        <a:solidFill>
          <a:schemeClr val="tx1"/>
        </a:solidFill>
        <a:latin typeface="+mn-lt"/>
        <a:ea typeface="+mn-ea"/>
        <a:cs typeface="+mn-cs"/>
      </a:defRPr>
    </a:lvl2pPr>
    <a:lvl3pPr marL="912813" algn="l" rtl="0" eaLnBrk="0" fontAlgn="base" hangingPunct="0">
      <a:spcBef>
        <a:spcPct val="30000"/>
      </a:spcBef>
      <a:spcAft>
        <a:spcPct val="0"/>
      </a:spcAft>
      <a:defRPr sz="1300" kern="1200">
        <a:solidFill>
          <a:schemeClr val="tx1"/>
        </a:solidFill>
        <a:latin typeface="+mn-lt"/>
        <a:ea typeface="+mn-ea"/>
        <a:cs typeface="+mn-cs"/>
      </a:defRPr>
    </a:lvl3pPr>
    <a:lvl4pPr marL="1370013" algn="l" rtl="0" eaLnBrk="0" fontAlgn="base" hangingPunct="0">
      <a:spcBef>
        <a:spcPct val="30000"/>
      </a:spcBef>
      <a:spcAft>
        <a:spcPct val="0"/>
      </a:spcAft>
      <a:defRPr sz="1300" kern="1200">
        <a:solidFill>
          <a:schemeClr val="tx1"/>
        </a:solidFill>
        <a:latin typeface="+mn-lt"/>
        <a:ea typeface="+mn-ea"/>
        <a:cs typeface="+mn-cs"/>
      </a:defRPr>
    </a:lvl4pPr>
    <a:lvl5pPr marL="1827213" algn="l" rtl="0" eaLnBrk="0" fontAlgn="base" hangingPunct="0">
      <a:spcBef>
        <a:spcPct val="30000"/>
      </a:spcBef>
      <a:spcAft>
        <a:spcPct val="0"/>
      </a:spcAft>
      <a:defRPr sz="1300" kern="1200">
        <a:solidFill>
          <a:schemeClr val="tx1"/>
        </a:solidFill>
        <a:latin typeface="+mn-lt"/>
        <a:ea typeface="+mn-ea"/>
        <a:cs typeface="+mn-cs"/>
      </a:defRPr>
    </a:lvl5pPr>
    <a:lvl6pPr marL="2285493" algn="l" defTabSz="914197" rtl="0" eaLnBrk="1" latinLnBrk="0" hangingPunct="1">
      <a:defRPr sz="1300" kern="1200">
        <a:solidFill>
          <a:schemeClr val="tx1"/>
        </a:solidFill>
        <a:latin typeface="+mn-lt"/>
        <a:ea typeface="+mn-ea"/>
        <a:cs typeface="+mn-cs"/>
      </a:defRPr>
    </a:lvl6pPr>
    <a:lvl7pPr marL="2742592" algn="l" defTabSz="914197" rtl="0" eaLnBrk="1" latinLnBrk="0" hangingPunct="1">
      <a:defRPr sz="1300" kern="1200">
        <a:solidFill>
          <a:schemeClr val="tx1"/>
        </a:solidFill>
        <a:latin typeface="+mn-lt"/>
        <a:ea typeface="+mn-ea"/>
        <a:cs typeface="+mn-cs"/>
      </a:defRPr>
    </a:lvl7pPr>
    <a:lvl8pPr marL="3199692" algn="l" defTabSz="914197" rtl="0" eaLnBrk="1" latinLnBrk="0" hangingPunct="1">
      <a:defRPr sz="1300" kern="1200">
        <a:solidFill>
          <a:schemeClr val="tx1"/>
        </a:solidFill>
        <a:latin typeface="+mn-lt"/>
        <a:ea typeface="+mn-ea"/>
        <a:cs typeface="+mn-cs"/>
      </a:defRPr>
    </a:lvl8pPr>
    <a:lvl9pPr marL="3656788" algn="l" defTabSz="91419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pPr/>
              <a:t>1</a:t>
            </a:fld>
            <a:endParaRPr lang="en-US" dirty="0"/>
          </a:p>
        </p:txBody>
      </p:sp>
    </p:spTree>
    <p:extLst>
      <p:ext uri="{BB962C8B-B14F-4D97-AF65-F5344CB8AC3E}">
        <p14:creationId xmlns:p14="http://schemas.microsoft.com/office/powerpoint/2010/main" val="257062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a:t>
            </a:fld>
            <a:endParaRPr lang="zh-CN" altLang="en-US"/>
          </a:p>
        </p:txBody>
      </p:sp>
    </p:spTree>
    <p:extLst>
      <p:ext uri="{BB962C8B-B14F-4D97-AF65-F5344CB8AC3E}">
        <p14:creationId xmlns:p14="http://schemas.microsoft.com/office/powerpoint/2010/main" val="3546299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3</a:t>
            </a:fld>
            <a:endParaRPr lang="zh-CN" altLang="en-US"/>
          </a:p>
        </p:txBody>
      </p:sp>
    </p:spTree>
    <p:extLst>
      <p:ext uri="{BB962C8B-B14F-4D97-AF65-F5344CB8AC3E}">
        <p14:creationId xmlns:p14="http://schemas.microsoft.com/office/powerpoint/2010/main" val="3512598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4</a:t>
            </a:fld>
            <a:endParaRPr lang="zh-CN" altLang="en-US"/>
          </a:p>
        </p:txBody>
      </p:sp>
    </p:spTree>
    <p:extLst>
      <p:ext uri="{BB962C8B-B14F-4D97-AF65-F5344CB8AC3E}">
        <p14:creationId xmlns:p14="http://schemas.microsoft.com/office/powerpoint/2010/main" val="1568036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5</a:t>
            </a:fld>
            <a:endParaRPr lang="zh-CN" altLang="en-US"/>
          </a:p>
        </p:txBody>
      </p:sp>
    </p:spTree>
    <p:extLst>
      <p:ext uri="{BB962C8B-B14F-4D97-AF65-F5344CB8AC3E}">
        <p14:creationId xmlns:p14="http://schemas.microsoft.com/office/powerpoint/2010/main" val="4060585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6</a:t>
            </a:fld>
            <a:endParaRPr lang="zh-CN" altLang="en-US"/>
          </a:p>
        </p:txBody>
      </p:sp>
    </p:spTree>
    <p:extLst>
      <p:ext uri="{BB962C8B-B14F-4D97-AF65-F5344CB8AC3E}">
        <p14:creationId xmlns:p14="http://schemas.microsoft.com/office/powerpoint/2010/main" val="3981973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7</a:t>
            </a:fld>
            <a:endParaRPr lang="zh-CN" altLang="en-US"/>
          </a:p>
        </p:txBody>
      </p:sp>
    </p:spTree>
    <p:extLst>
      <p:ext uri="{BB962C8B-B14F-4D97-AF65-F5344CB8AC3E}">
        <p14:creationId xmlns:p14="http://schemas.microsoft.com/office/powerpoint/2010/main" val="2642548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8</a:t>
            </a:fld>
            <a:endParaRPr lang="zh-CN" altLang="en-US"/>
          </a:p>
        </p:txBody>
      </p:sp>
    </p:spTree>
    <p:extLst>
      <p:ext uri="{BB962C8B-B14F-4D97-AF65-F5344CB8AC3E}">
        <p14:creationId xmlns:p14="http://schemas.microsoft.com/office/powerpoint/2010/main" val="2289115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9</a:t>
            </a:fld>
            <a:endParaRPr lang="zh-CN" altLang="en-US"/>
          </a:p>
        </p:txBody>
      </p:sp>
    </p:spTree>
    <p:extLst>
      <p:ext uri="{BB962C8B-B14F-4D97-AF65-F5344CB8AC3E}">
        <p14:creationId xmlns:p14="http://schemas.microsoft.com/office/powerpoint/2010/main" val="3058616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10</a:t>
            </a:fld>
            <a:endParaRPr lang="zh-CN" altLang="en-US"/>
          </a:p>
        </p:txBody>
      </p:sp>
    </p:spTree>
    <p:extLst>
      <p:ext uri="{BB962C8B-B14F-4D97-AF65-F5344CB8AC3E}">
        <p14:creationId xmlns:p14="http://schemas.microsoft.com/office/powerpoint/2010/main" val="2097594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11</a:t>
            </a:fld>
            <a:endParaRPr lang="zh-CN" altLang="en-US"/>
          </a:p>
        </p:txBody>
      </p:sp>
    </p:spTree>
    <p:extLst>
      <p:ext uri="{BB962C8B-B14F-4D97-AF65-F5344CB8AC3E}">
        <p14:creationId xmlns:p14="http://schemas.microsoft.com/office/powerpoint/2010/main" val="330229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12</a:t>
            </a:fld>
            <a:endParaRPr lang="zh-CN" altLang="en-US"/>
          </a:p>
        </p:txBody>
      </p:sp>
    </p:spTree>
    <p:extLst>
      <p:ext uri="{BB962C8B-B14F-4D97-AF65-F5344CB8AC3E}">
        <p14:creationId xmlns:p14="http://schemas.microsoft.com/office/powerpoint/2010/main" val="784876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13</a:t>
            </a:fld>
            <a:endParaRPr lang="zh-CN" altLang="en-US"/>
          </a:p>
        </p:txBody>
      </p:sp>
    </p:spTree>
    <p:extLst>
      <p:ext uri="{BB962C8B-B14F-4D97-AF65-F5344CB8AC3E}">
        <p14:creationId xmlns:p14="http://schemas.microsoft.com/office/powerpoint/2010/main" val="3014705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14</a:t>
            </a:fld>
            <a:endParaRPr lang="zh-CN" altLang="en-US"/>
          </a:p>
        </p:txBody>
      </p:sp>
    </p:spTree>
    <p:extLst>
      <p:ext uri="{BB962C8B-B14F-4D97-AF65-F5344CB8AC3E}">
        <p14:creationId xmlns:p14="http://schemas.microsoft.com/office/powerpoint/2010/main" val="33338674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15</a:t>
            </a:fld>
            <a:endParaRPr lang="zh-CN" altLang="en-US"/>
          </a:p>
        </p:txBody>
      </p:sp>
    </p:spTree>
    <p:extLst>
      <p:ext uri="{BB962C8B-B14F-4D97-AF65-F5344CB8AC3E}">
        <p14:creationId xmlns:p14="http://schemas.microsoft.com/office/powerpoint/2010/main" val="1503451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2BF82D2-7A68-459D-A996-9BDDA2518FA4}" type="datetimeFigureOut">
              <a:rPr lang="zh-CN" altLang="en-US" smtClean="0"/>
              <a:t>2022/5/22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01EE5D-26FB-46D5-A381-ECFB35BF1D34}" type="slidenum">
              <a:rPr lang="zh-CN" altLang="en-US" smtClean="0"/>
              <a:t>‹#›</a:t>
            </a:fld>
            <a:endParaRPr lang="zh-CN" altLang="en-US"/>
          </a:p>
        </p:txBody>
      </p:sp>
    </p:spTree>
    <p:extLst>
      <p:ext uri="{BB962C8B-B14F-4D97-AF65-F5344CB8AC3E}">
        <p14:creationId xmlns:p14="http://schemas.microsoft.com/office/powerpoint/2010/main" val="193328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71421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defRPr>
            </a:lvl1pPr>
          </a:lstStyle>
          <a:p>
            <a:fld id="{32BF82D2-7A68-459D-A996-9BDDA2518FA4}" type="datetimeFigureOut">
              <a:rPr lang="zh-CN" altLang="en-US" smtClean="0"/>
              <a:t>2022/5/22</a:t>
            </a:fld>
            <a:endParaRPr lang="zh-CN" altLang="en-US"/>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defRPr>
            </a:lvl1pPr>
          </a:lstStyle>
          <a:p>
            <a:fld id="{3E01EE5D-26FB-46D5-A381-ECFB35BF1D34}" type="slidenum">
              <a:rPr lang="zh-CN" altLang="en-US" smtClean="0"/>
              <a:t>‹#›</a:t>
            </a:fld>
            <a:endParaRPr lang="zh-CN" altLang="en-US"/>
          </a:p>
        </p:txBody>
      </p:sp>
    </p:spTree>
    <p:extLst>
      <p:ext uri="{BB962C8B-B14F-4D97-AF65-F5344CB8AC3E}">
        <p14:creationId xmlns:p14="http://schemas.microsoft.com/office/powerpoint/2010/main" val="3485056897"/>
      </p:ext>
    </p:extLst>
  </p:cSld>
  <p:clrMap bg1="lt1" tx1="dk1" bg2="lt2" tx2="dk2" accent1="accent1" accent2="accent2" accent3="accent3" accent4="accent4" accent5="accent5" accent6="accent6" hlink="hlink" folHlink="folHlink"/>
  <p:sldLayoutIdLst>
    <p:sldLayoutId id="2147483704" r:id="rId1"/>
    <p:sldLayoutId id="214748370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1.png"/><Relationship Id="rId5" Type="http://schemas.openxmlformats.org/officeDocument/2006/relationships/tags" Target="../tags/tag6.xml"/><Relationship Id="rId10" Type="http://schemas.openxmlformats.org/officeDocument/2006/relationships/notesSlide" Target="../notesSlides/notesSlide3.xml"/><Relationship Id="rId4" Type="http://schemas.openxmlformats.org/officeDocument/2006/relationships/tags" Target="../tags/tag5.xml"/><Relationship Id="rId9"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4530684"/>
            <a:ext cx="12858395" cy="27019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59"/>
          <p:cNvSpPr>
            <a:spLocks noChangeArrowheads="1"/>
          </p:cNvSpPr>
          <p:nvPr/>
        </p:nvSpPr>
        <p:spPr bwMode="auto">
          <a:xfrm>
            <a:off x="2289094" y="2819987"/>
            <a:ext cx="8280201" cy="566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50000"/>
              </a:lnSpc>
              <a:buNone/>
            </a:pPr>
            <a:r>
              <a:rPr lang="en-US" altLang="zh-CN" sz="2400" dirty="0">
                <a:solidFill>
                  <a:schemeClr val="accent1"/>
                </a:solidFill>
                <a:latin typeface="Arial" panose="020B0604020202020204" pitchFamily="34" charset="0"/>
                <a:cs typeface="Arial" panose="020B0604020202020204" pitchFamily="34" charset="0"/>
              </a:rPr>
              <a:t>Hardware </a:t>
            </a:r>
            <a:r>
              <a:rPr lang="en-US" altLang="zh-CN" sz="2800" dirty="0">
                <a:solidFill>
                  <a:schemeClr val="accent1"/>
                </a:solidFill>
                <a:latin typeface="Arial" panose="020B0604020202020204" pitchFamily="34" charset="0"/>
                <a:cs typeface="Arial" panose="020B0604020202020204" pitchFamily="34" charset="0"/>
              </a:rPr>
              <a:t>Description</a:t>
            </a:r>
            <a:r>
              <a:rPr lang="en-US" altLang="zh-CN" sz="2400" dirty="0">
                <a:solidFill>
                  <a:schemeClr val="accent1"/>
                </a:solidFill>
                <a:latin typeface="Arial" panose="020B0604020202020204" pitchFamily="34" charset="0"/>
                <a:cs typeface="Arial" panose="020B0604020202020204" pitchFamily="34" charset="0"/>
              </a:rPr>
              <a:t> Language and Applications of FPGA</a:t>
            </a:r>
            <a:endParaRPr lang="zh-CN" altLang="en-US" sz="2400" dirty="0">
              <a:solidFill>
                <a:schemeClr val="accent1"/>
              </a:solidFill>
              <a:latin typeface="Arial" panose="020B0604020202020204" pitchFamily="34" charset="0"/>
              <a:cs typeface="Arial" panose="020B0604020202020204" pitchFamily="34" charset="0"/>
            </a:endParaRPr>
          </a:p>
        </p:txBody>
      </p:sp>
      <p:sp>
        <p:nvSpPr>
          <p:cNvPr id="8" name="矩形 259"/>
          <p:cNvSpPr>
            <a:spLocks noChangeArrowheads="1"/>
          </p:cNvSpPr>
          <p:nvPr/>
        </p:nvSpPr>
        <p:spPr bwMode="auto">
          <a:xfrm>
            <a:off x="2692476" y="1681384"/>
            <a:ext cx="74734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5400" b="1" cap="all" dirty="0">
                <a:solidFill>
                  <a:schemeClr val="accent1"/>
                </a:solidFill>
                <a:latin typeface="Agency FB" panose="020B0503020202020204" pitchFamily="34" charset="0"/>
                <a:cs typeface="Arial" panose="020B0604020202020204" pitchFamily="34" charset="0"/>
              </a:rPr>
              <a:t>硬件描述语言与</a:t>
            </a:r>
            <a:r>
              <a:rPr lang="en-US" altLang="zh-CN" sz="5400" b="1" cap="all" dirty="0">
                <a:solidFill>
                  <a:schemeClr val="accent1"/>
                </a:solidFill>
                <a:latin typeface="Agency FB" panose="020B0503020202020204" pitchFamily="34" charset="0"/>
                <a:cs typeface="Arial" panose="020B0604020202020204" pitchFamily="34" charset="0"/>
              </a:rPr>
              <a:t>FPGA</a:t>
            </a:r>
            <a:r>
              <a:rPr lang="zh-CN" altLang="en-US" sz="5400" b="1" cap="all" dirty="0">
                <a:solidFill>
                  <a:schemeClr val="accent1"/>
                </a:solidFill>
                <a:latin typeface="Agency FB" panose="020B0503020202020204" pitchFamily="34" charset="0"/>
                <a:cs typeface="Arial" panose="020B0604020202020204" pitchFamily="34" charset="0"/>
              </a:rPr>
              <a:t>应用</a:t>
            </a:r>
          </a:p>
        </p:txBody>
      </p:sp>
      <p:sp>
        <p:nvSpPr>
          <p:cNvPr id="9" name="矩形 259"/>
          <p:cNvSpPr>
            <a:spLocks noChangeArrowheads="1"/>
          </p:cNvSpPr>
          <p:nvPr/>
        </p:nvSpPr>
        <p:spPr bwMode="auto">
          <a:xfrm>
            <a:off x="3219269" y="5056485"/>
            <a:ext cx="6419850" cy="947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2800" dirty="0">
                <a:solidFill>
                  <a:schemeClr val="bg1"/>
                </a:solidFill>
                <a:cs typeface="Arial" panose="020B0604020202020204" pitchFamily="34" charset="0"/>
              </a:rPr>
              <a:t>安徽大学</a:t>
            </a:r>
            <a:endParaRPr lang="en-US" altLang="zh-CN" sz="2800" dirty="0">
              <a:solidFill>
                <a:schemeClr val="bg1"/>
              </a:solidFill>
              <a:cs typeface="Arial" panose="020B0604020202020204" pitchFamily="34" charset="0"/>
            </a:endParaRPr>
          </a:p>
          <a:p>
            <a:pPr algn="ctr">
              <a:buNone/>
            </a:pPr>
            <a:r>
              <a:rPr lang="zh-CN" altLang="en-US" sz="2800">
                <a:solidFill>
                  <a:schemeClr val="bg1"/>
                </a:solidFill>
                <a:cs typeface="Arial" panose="020B0604020202020204" pitchFamily="34" charset="0"/>
              </a:rPr>
              <a:t>集成电路学院</a:t>
            </a:r>
            <a:endParaRPr lang="en-US" altLang="zh-CN" sz="2800" dirty="0">
              <a:solidFill>
                <a:schemeClr val="bg1"/>
              </a:solidFill>
              <a:cs typeface="Arial" panose="020B0604020202020204" pitchFamily="34" charset="0"/>
            </a:endParaRPr>
          </a:p>
        </p:txBody>
      </p:sp>
      <p:sp>
        <p:nvSpPr>
          <p:cNvPr id="2" name="矩形 1"/>
          <p:cNvSpPr/>
          <p:nvPr/>
        </p:nvSpPr>
        <p:spPr>
          <a:xfrm>
            <a:off x="2243073" y="952687"/>
            <a:ext cx="8372245" cy="285489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65000"/>
                </a:schemeClr>
              </a:solidFill>
            </a:endParaRPr>
          </a:p>
        </p:txBody>
      </p:sp>
      <p:pic>
        <p:nvPicPr>
          <p:cNvPr id="4" name="图片 3">
            <a:extLst>
              <a:ext uri="{FF2B5EF4-FFF2-40B4-BE49-F238E27FC236}">
                <a16:creationId xmlns:a16="http://schemas.microsoft.com/office/drawing/2014/main" id="{D1ED3A12-1F4A-44BD-9D24-5F73707FE7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Tree>
    <p:extLst>
      <p:ext uri="{BB962C8B-B14F-4D97-AF65-F5344CB8AC3E}">
        <p14:creationId xmlns:p14="http://schemas.microsoft.com/office/powerpoint/2010/main" val="2643136536"/>
      </p:ext>
    </p:extLst>
  </p:cSld>
  <p:clrMapOvr>
    <a:masterClrMapping/>
  </p:clrMapOvr>
  <mc:AlternateContent xmlns:mc="http://schemas.openxmlformats.org/markup-compatibility/2006" xmlns:p14="http://schemas.microsoft.com/office/powerpoint/2010/main">
    <mc:Choice Requires="p14">
      <p:transition spd="slow" p14:dur="1200" advTm="0">
        <p:dissolve/>
      </p:transition>
    </mc:Choice>
    <mc:Fallback xmlns="">
      <p:transition spd="slow" advTm="0">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1100783" y="2752229"/>
            <a:ext cx="748883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square" anchor="ctr">
            <a:spAutoFit/>
          </a:bodyPr>
          <a:lstStyle/>
          <a:p>
            <a:r>
              <a:rPr lang="zh-CN" altLang="en-US" sz="60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同步状态机的原理、结构和设计</a:t>
            </a:r>
          </a:p>
        </p:txBody>
      </p:sp>
      <p:sp>
        <p:nvSpPr>
          <p:cNvPr id="5125" name="直接连接符 11"/>
          <p:cNvSpPr>
            <a:spLocks noChangeShapeType="1"/>
          </p:cNvSpPr>
          <p:nvPr/>
        </p:nvSpPr>
        <p:spPr bwMode="auto">
          <a:xfrm>
            <a:off x="2746448" y="2531523"/>
            <a:ext cx="5504850" cy="1675"/>
          </a:xfrm>
          <a:prstGeom prst="line">
            <a:avLst/>
          </a:prstGeom>
          <a:noFill/>
          <a:ln w="6350" cap="flat" cmpd="sng">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sz="2002">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Text Box 3"/>
          <p:cNvSpPr>
            <a:spLocks noChangeArrowheads="1"/>
          </p:cNvSpPr>
          <p:nvPr/>
        </p:nvSpPr>
        <p:spPr bwMode="auto">
          <a:xfrm>
            <a:off x="8475204" y="1921864"/>
            <a:ext cx="2436886" cy="315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nchor="ctr">
            <a:spAutoFit/>
          </a:bodyPr>
          <a:lstStyle/>
          <a:p>
            <a:r>
              <a:rPr lang="en-US" sz="19900" dirty="0">
                <a:solidFill>
                  <a:schemeClr val="accent2"/>
                </a:solidFill>
                <a:latin typeface="Impact" panose="020B0806030902050204" pitchFamily="34" charset="0"/>
                <a:ea typeface="微软雅黑" panose="020B0503020204020204" pitchFamily="34" charset="-122"/>
                <a:sym typeface="Arial" panose="020B0604020202020204" pitchFamily="34" charset="0"/>
              </a:rPr>
              <a:t>12</a:t>
            </a:r>
            <a:endParaRPr lang="zh-CN" altLang="en-US" sz="19900" b="1" dirty="0">
              <a:solidFill>
                <a:schemeClr val="accent2"/>
              </a:solidFill>
              <a:latin typeface="Impact" panose="020B0806030902050204" pitchFamily="34" charset="0"/>
              <a:ea typeface="微软雅黑" panose="020B0503020204020204" pitchFamily="34" charset="-122"/>
              <a:sym typeface="Arial" panose="020B0604020202020204" pitchFamily="34" charset="0"/>
            </a:endParaRPr>
          </a:p>
        </p:txBody>
      </p:sp>
      <p:sp>
        <p:nvSpPr>
          <p:cNvPr id="8" name="Freeform 6"/>
          <p:cNvSpPr>
            <a:spLocks/>
          </p:cNvSpPr>
          <p:nvPr/>
        </p:nvSpPr>
        <p:spPr bwMode="auto">
          <a:xfrm>
            <a:off x="0" y="4091804"/>
            <a:ext cx="5265494" cy="3140846"/>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chemeClr val="accent1"/>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Freeform 7"/>
          <p:cNvSpPr>
            <a:spLocks/>
          </p:cNvSpPr>
          <p:nvPr/>
        </p:nvSpPr>
        <p:spPr bwMode="auto">
          <a:xfrm>
            <a:off x="2984828" y="4640949"/>
            <a:ext cx="9873922" cy="2591700"/>
          </a:xfrm>
          <a:custGeom>
            <a:avLst/>
            <a:gdLst>
              <a:gd name="T0" fmla="*/ 4403 w 4403"/>
              <a:gd name="T1" fmla="*/ 0 h 1161"/>
              <a:gd name="T2" fmla="*/ 4403 w 4403"/>
              <a:gd name="T3" fmla="*/ 1161 h 1161"/>
              <a:gd name="T4" fmla="*/ 0 w 4403"/>
              <a:gd name="T5" fmla="*/ 1161 h 1161"/>
              <a:gd name="T6" fmla="*/ 4403 w 4403"/>
              <a:gd name="T7" fmla="*/ 0 h 1161"/>
            </a:gdLst>
            <a:ahLst/>
            <a:cxnLst>
              <a:cxn ang="0">
                <a:pos x="T0" y="T1"/>
              </a:cxn>
              <a:cxn ang="0">
                <a:pos x="T2" y="T3"/>
              </a:cxn>
              <a:cxn ang="0">
                <a:pos x="T4" y="T5"/>
              </a:cxn>
              <a:cxn ang="0">
                <a:pos x="T6" y="T7"/>
              </a:cxn>
            </a:cxnLst>
            <a:rect l="0" t="0" r="r" b="b"/>
            <a:pathLst>
              <a:path w="4403" h="1161">
                <a:moveTo>
                  <a:pt x="4403" y="0"/>
                </a:moveTo>
                <a:lnTo>
                  <a:pt x="4403" y="1161"/>
                </a:lnTo>
                <a:lnTo>
                  <a:pt x="0" y="1161"/>
                </a:lnTo>
                <a:lnTo>
                  <a:pt x="4403" y="0"/>
                </a:lnTo>
                <a:close/>
              </a:path>
            </a:pathLst>
          </a:custGeom>
          <a:solidFill>
            <a:schemeClr val="accent1">
              <a:lumMod val="5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1" name="图片 10">
            <a:extLst>
              <a:ext uri="{FF2B5EF4-FFF2-40B4-BE49-F238E27FC236}">
                <a16:creationId xmlns:a16="http://schemas.microsoft.com/office/drawing/2014/main" id="{FFE7EBBC-0CAF-4408-925A-7AE478103B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Tree>
    <p:extLst>
      <p:ext uri="{BB962C8B-B14F-4D97-AF65-F5344CB8AC3E}">
        <p14:creationId xmlns:p14="http://schemas.microsoft.com/office/powerpoint/2010/main" val="1580520827"/>
      </p:ext>
    </p:extLst>
  </p:cSld>
  <p:clrMapOvr>
    <a:masterClrMapping/>
  </p:clrMapOvr>
  <p:transition spd="slow" advTm="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MH_Others_1"/>
          <p:cNvSpPr txBox="1"/>
          <p:nvPr>
            <p:custDataLst>
              <p:tags r:id="rId1"/>
            </p:custDataLst>
          </p:nvPr>
        </p:nvSpPr>
        <p:spPr>
          <a:xfrm>
            <a:off x="3493514" y="1489047"/>
            <a:ext cx="1769715" cy="3794592"/>
          </a:xfrm>
          <a:prstGeom prst="rect">
            <a:avLst/>
          </a:prstGeom>
          <a:noFill/>
        </p:spPr>
        <p:txBody>
          <a:bodyPr vert="eaVert" wrap="square" lIns="0" tIns="0" rIns="0" bIns="0" rtlCol="0" anchor="ctr" anchorCtr="0">
            <a:spAutoFit/>
          </a:bodyPr>
          <a:lstStyle/>
          <a:p>
            <a:pPr algn="ctr"/>
            <a:r>
              <a:rPr lang="zh-CN" altLang="en-US" sz="115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19" name="MH_Others_2"/>
          <p:cNvSpPr txBox="1"/>
          <p:nvPr>
            <p:custDataLst>
              <p:tags r:id="rId2"/>
            </p:custDataLst>
          </p:nvPr>
        </p:nvSpPr>
        <p:spPr>
          <a:xfrm rot="5400000">
            <a:off x="1645732" y="3047789"/>
            <a:ext cx="3299296" cy="677108"/>
          </a:xfrm>
          <a:prstGeom prst="rect">
            <a:avLst/>
          </a:prstGeom>
          <a:noFill/>
        </p:spPr>
        <p:txBody>
          <a:bodyPr wrap="square" lIns="0" tIns="0" rIns="0" bIns="0">
            <a:spAutoFit/>
          </a:bodyPr>
          <a:lstStyle/>
          <a:p>
            <a:pPr algn="ctr">
              <a:defRPr/>
            </a:pPr>
            <a:r>
              <a:rPr lang="en-US" altLang="zh-CN" sz="44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44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Freeform 6"/>
          <p:cNvSpPr>
            <a:spLocks/>
          </p:cNvSpPr>
          <p:nvPr/>
        </p:nvSpPr>
        <p:spPr bwMode="auto">
          <a:xfrm>
            <a:off x="0" y="4091804"/>
            <a:ext cx="5265494" cy="3140846"/>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chemeClr val="accent1"/>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Freeform 7"/>
          <p:cNvSpPr>
            <a:spLocks/>
          </p:cNvSpPr>
          <p:nvPr/>
        </p:nvSpPr>
        <p:spPr bwMode="auto">
          <a:xfrm>
            <a:off x="2984828" y="4640949"/>
            <a:ext cx="9873922" cy="2591700"/>
          </a:xfrm>
          <a:custGeom>
            <a:avLst/>
            <a:gdLst>
              <a:gd name="T0" fmla="*/ 4403 w 4403"/>
              <a:gd name="T1" fmla="*/ 0 h 1161"/>
              <a:gd name="T2" fmla="*/ 4403 w 4403"/>
              <a:gd name="T3" fmla="*/ 1161 h 1161"/>
              <a:gd name="T4" fmla="*/ 0 w 4403"/>
              <a:gd name="T5" fmla="*/ 1161 h 1161"/>
              <a:gd name="T6" fmla="*/ 4403 w 4403"/>
              <a:gd name="T7" fmla="*/ 0 h 1161"/>
            </a:gdLst>
            <a:ahLst/>
            <a:cxnLst>
              <a:cxn ang="0">
                <a:pos x="T0" y="T1"/>
              </a:cxn>
              <a:cxn ang="0">
                <a:pos x="T2" y="T3"/>
              </a:cxn>
              <a:cxn ang="0">
                <a:pos x="T4" y="T5"/>
              </a:cxn>
              <a:cxn ang="0">
                <a:pos x="T6" y="T7"/>
              </a:cxn>
            </a:cxnLst>
            <a:rect l="0" t="0" r="r" b="b"/>
            <a:pathLst>
              <a:path w="4403" h="1161">
                <a:moveTo>
                  <a:pt x="4403" y="0"/>
                </a:moveTo>
                <a:lnTo>
                  <a:pt x="4403" y="1161"/>
                </a:lnTo>
                <a:lnTo>
                  <a:pt x="0" y="1161"/>
                </a:lnTo>
                <a:lnTo>
                  <a:pt x="4403" y="0"/>
                </a:lnTo>
                <a:close/>
              </a:path>
            </a:pathLst>
          </a:custGeom>
          <a:solidFill>
            <a:schemeClr val="accent1">
              <a:lumMod val="5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5" name="图片 14">
            <a:extLst>
              <a:ext uri="{FF2B5EF4-FFF2-40B4-BE49-F238E27FC236}">
                <a16:creationId xmlns:a16="http://schemas.microsoft.com/office/drawing/2014/main" id="{47311054-18EE-4649-B48A-2195C732D63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3" name="MH_Number_1">
            <a:extLst>
              <a:ext uri="{FF2B5EF4-FFF2-40B4-BE49-F238E27FC236}">
                <a16:creationId xmlns:a16="http://schemas.microsoft.com/office/drawing/2014/main" id="{D7CE3145-111A-4429-87FA-47626EA901C0}"/>
              </a:ext>
            </a:extLst>
          </p:cNvPr>
          <p:cNvSpPr/>
          <p:nvPr>
            <p:custDataLst>
              <p:tags r:id="rId3"/>
            </p:custDataLst>
          </p:nvPr>
        </p:nvSpPr>
        <p:spPr>
          <a:xfrm>
            <a:off x="5983406" y="2610330"/>
            <a:ext cx="379667" cy="379667"/>
          </a:xfrm>
          <a:prstGeom prst="ellipse">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4" name="MH_Entry_1">
            <a:extLst>
              <a:ext uri="{FF2B5EF4-FFF2-40B4-BE49-F238E27FC236}">
                <a16:creationId xmlns:a16="http://schemas.microsoft.com/office/drawing/2014/main" id="{51F3C70C-D35D-48CB-B498-C3BE927E07CB}"/>
              </a:ext>
            </a:extLst>
          </p:cNvPr>
          <p:cNvSpPr/>
          <p:nvPr>
            <p:custDataLst>
              <p:tags r:id="rId4"/>
            </p:custDataLst>
          </p:nvPr>
        </p:nvSpPr>
        <p:spPr>
          <a:xfrm>
            <a:off x="6529189" y="2479285"/>
            <a:ext cx="5444802" cy="504882"/>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nSpc>
                <a:spcPct val="130000"/>
              </a:lnSpc>
            </a:pPr>
            <a:r>
              <a:rPr lang="zh-CN" altLang="en-US"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状态机的结构</a:t>
            </a:r>
          </a:p>
        </p:txBody>
      </p:sp>
      <p:sp>
        <p:nvSpPr>
          <p:cNvPr id="26" name="MH_Number_2">
            <a:extLst>
              <a:ext uri="{FF2B5EF4-FFF2-40B4-BE49-F238E27FC236}">
                <a16:creationId xmlns:a16="http://schemas.microsoft.com/office/drawing/2014/main" id="{A63AE1B4-5980-48CF-BC61-8E9204A055E6}"/>
              </a:ext>
            </a:extLst>
          </p:cNvPr>
          <p:cNvSpPr/>
          <p:nvPr>
            <p:custDataLst>
              <p:tags r:id="rId5"/>
            </p:custDataLst>
          </p:nvPr>
        </p:nvSpPr>
        <p:spPr>
          <a:xfrm>
            <a:off x="5978828" y="3204680"/>
            <a:ext cx="379667" cy="379667"/>
          </a:xfrm>
          <a:prstGeom prst="ellipse">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7" name="MH_Entry_2">
            <a:extLst>
              <a:ext uri="{FF2B5EF4-FFF2-40B4-BE49-F238E27FC236}">
                <a16:creationId xmlns:a16="http://schemas.microsoft.com/office/drawing/2014/main" id="{2B223DAE-BED5-48FA-8C4E-C21E2C427C6C}"/>
              </a:ext>
            </a:extLst>
          </p:cNvPr>
          <p:cNvSpPr/>
          <p:nvPr>
            <p:custDataLst>
              <p:tags r:id="rId6"/>
            </p:custDataLst>
          </p:nvPr>
        </p:nvSpPr>
        <p:spPr>
          <a:xfrm>
            <a:off x="6514588" y="3082366"/>
            <a:ext cx="6338057" cy="504882"/>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lnSpc>
                <a:spcPct val="130000"/>
              </a:lnSpc>
            </a:pPr>
            <a:r>
              <a:rPr lang="en-US" altLang="zh-CN"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Mealy</a:t>
            </a:r>
            <a:r>
              <a:rPr lang="zh-CN" altLang="en-US"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状态机和</a:t>
            </a:r>
            <a:r>
              <a:rPr lang="en-US" altLang="zh-CN"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Moore</a:t>
            </a:r>
            <a:r>
              <a:rPr lang="zh-CN" altLang="en-US"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状态机的不同点</a:t>
            </a:r>
          </a:p>
        </p:txBody>
      </p:sp>
      <p:sp>
        <p:nvSpPr>
          <p:cNvPr id="32" name="MH_Number_3">
            <a:extLst>
              <a:ext uri="{FF2B5EF4-FFF2-40B4-BE49-F238E27FC236}">
                <a16:creationId xmlns:a16="http://schemas.microsoft.com/office/drawing/2014/main" id="{29CD41A9-AC59-49D9-83C7-BD7AD71F2C9F}"/>
              </a:ext>
            </a:extLst>
          </p:cNvPr>
          <p:cNvSpPr/>
          <p:nvPr>
            <p:custDataLst>
              <p:tags r:id="rId7"/>
            </p:custDataLst>
          </p:nvPr>
        </p:nvSpPr>
        <p:spPr>
          <a:xfrm>
            <a:off x="5972101" y="3812721"/>
            <a:ext cx="379667" cy="379667"/>
          </a:xfrm>
          <a:prstGeom prst="ellipse">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3" name="MH_Entry_3">
            <a:extLst>
              <a:ext uri="{FF2B5EF4-FFF2-40B4-BE49-F238E27FC236}">
                <a16:creationId xmlns:a16="http://schemas.microsoft.com/office/drawing/2014/main" id="{85449CAE-0CA5-47BE-8545-B4BB4B0E6B7F}"/>
              </a:ext>
            </a:extLst>
          </p:cNvPr>
          <p:cNvSpPr/>
          <p:nvPr>
            <p:custDataLst>
              <p:tags r:id="rId8"/>
            </p:custDataLst>
          </p:nvPr>
        </p:nvSpPr>
        <p:spPr>
          <a:xfrm>
            <a:off x="6507862" y="3687507"/>
            <a:ext cx="5970185" cy="504882"/>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lnSpc>
                <a:spcPct val="130000"/>
              </a:lnSpc>
            </a:pPr>
            <a:r>
              <a:rPr lang="zh-CN" altLang="en-US"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如何用</a:t>
            </a:r>
            <a:r>
              <a:rPr lang="en-US" altLang="zh-CN"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Verilog</a:t>
            </a:r>
            <a:r>
              <a:rPr lang="zh-CN" altLang="en-US"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来描述可综合的状态机</a:t>
            </a:r>
          </a:p>
        </p:txBody>
      </p:sp>
    </p:spTree>
    <p:extLst>
      <p:ext uri="{BB962C8B-B14F-4D97-AF65-F5344CB8AC3E}">
        <p14:creationId xmlns:p14="http://schemas.microsoft.com/office/powerpoint/2010/main" val="615584034"/>
      </p:ext>
    </p:extLst>
  </p:cSld>
  <p:clrMapOvr>
    <a:masterClrMapping/>
  </p:clrMapOvr>
  <p:transition spd="slow" advTm="40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1846659"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状态机的结构</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6" name="文本框 5">
            <a:extLst>
              <a:ext uri="{FF2B5EF4-FFF2-40B4-BE49-F238E27FC236}">
                <a16:creationId xmlns:a16="http://schemas.microsoft.com/office/drawing/2014/main" id="{6DB21CDA-5827-4DC7-AF27-87EAC3B8EC95}"/>
              </a:ext>
            </a:extLst>
          </p:cNvPr>
          <p:cNvSpPr txBox="1"/>
          <p:nvPr/>
        </p:nvSpPr>
        <p:spPr>
          <a:xfrm>
            <a:off x="225370" y="1992386"/>
            <a:ext cx="12396693" cy="3894208"/>
          </a:xfrm>
          <a:prstGeom prst="rect">
            <a:avLst/>
          </a:prstGeom>
          <a:noFill/>
        </p:spPr>
        <p:txBody>
          <a:bodyPr wrap="square">
            <a:spAutoFit/>
          </a:bodyPr>
          <a:lstStyle/>
          <a:p>
            <a:pPr algn="just">
              <a:lnSpc>
                <a:spcPct val="150000"/>
              </a:lnSpc>
            </a:pPr>
            <a:r>
              <a:rPr lang="zh-CN" altLang="en-US" sz="2800" b="1" dirty="0">
                <a:solidFill>
                  <a:srgbClr val="003366"/>
                </a:solidFill>
                <a:latin typeface="微软雅黑" panose="020B0503020204020204" pitchFamily="34" charset="-122"/>
                <a:ea typeface="微软雅黑" panose="020B0503020204020204" pitchFamily="34" charset="-122"/>
                <a:cs typeface="+mn-ea"/>
              </a:rPr>
              <a:t>       有限状态机是由寄存器组和组合逻辑构成的硬件时序电路，其状态（即由寄存器组的</a:t>
            </a:r>
            <a:r>
              <a:rPr lang="en-US" altLang="zh-CN" sz="2800" b="1" dirty="0">
                <a:solidFill>
                  <a:srgbClr val="003366"/>
                </a:solidFill>
                <a:latin typeface="微软雅黑" panose="020B0503020204020204" pitchFamily="34" charset="-122"/>
                <a:ea typeface="微软雅黑" panose="020B0503020204020204" pitchFamily="34" charset="-122"/>
                <a:cs typeface="+mn-ea"/>
              </a:rPr>
              <a:t>1</a:t>
            </a:r>
            <a:r>
              <a:rPr lang="zh-CN" altLang="en-US" sz="2800" b="1" dirty="0">
                <a:solidFill>
                  <a:srgbClr val="003366"/>
                </a:solidFill>
                <a:latin typeface="微软雅黑" panose="020B0503020204020204" pitchFamily="34" charset="-122"/>
                <a:ea typeface="微软雅黑" panose="020B0503020204020204" pitchFamily="34" charset="-122"/>
                <a:cs typeface="+mn-ea"/>
              </a:rPr>
              <a:t>和</a:t>
            </a:r>
            <a:r>
              <a:rPr lang="en-US" altLang="zh-CN" sz="2800" b="1" dirty="0">
                <a:solidFill>
                  <a:srgbClr val="003366"/>
                </a:solidFill>
                <a:latin typeface="微软雅黑" panose="020B0503020204020204" pitchFamily="34" charset="-122"/>
                <a:ea typeface="微软雅黑" panose="020B0503020204020204" pitchFamily="34" charset="-122"/>
                <a:cs typeface="+mn-ea"/>
              </a:rPr>
              <a:t>0</a:t>
            </a:r>
            <a:r>
              <a:rPr lang="zh-CN" altLang="en-US" sz="2800" b="1" dirty="0">
                <a:solidFill>
                  <a:srgbClr val="003366"/>
                </a:solidFill>
                <a:latin typeface="微软雅黑" panose="020B0503020204020204" pitchFamily="34" charset="-122"/>
                <a:ea typeface="微软雅黑" panose="020B0503020204020204" pitchFamily="34" charset="-122"/>
                <a:cs typeface="+mn-ea"/>
              </a:rPr>
              <a:t>的组合状态所构成的有限个状态）只可能在同一时钟跳变沿的情况下才能从一个状态转向另一个状态，究竟转向哪一状态还是留在原状态不但取决于各个输入值，还取决于当前所在状态。</a:t>
            </a:r>
            <a:endParaRPr lang="en-US" altLang="zh-CN" sz="28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pPr>
            <a:r>
              <a:rPr lang="zh-CN" altLang="en-US" sz="2800" b="1" dirty="0">
                <a:solidFill>
                  <a:srgbClr val="003366"/>
                </a:solidFill>
                <a:latin typeface="微软雅黑" panose="020B0503020204020204" pitchFamily="34" charset="-122"/>
                <a:ea typeface="微软雅黑" panose="020B0503020204020204" pitchFamily="34" charset="-122"/>
                <a:cs typeface="+mn-ea"/>
              </a:rPr>
              <a:t>（这里指的是米里</a:t>
            </a:r>
            <a:r>
              <a:rPr lang="en-US" altLang="zh-CN" sz="2800" b="1" dirty="0">
                <a:solidFill>
                  <a:srgbClr val="003366"/>
                </a:solidFill>
                <a:latin typeface="微软雅黑" panose="020B0503020204020204" pitchFamily="34" charset="-122"/>
                <a:ea typeface="微软雅黑" panose="020B0503020204020204" pitchFamily="34" charset="-122"/>
                <a:cs typeface="+mn-ea"/>
              </a:rPr>
              <a:t>Mealy</a:t>
            </a:r>
            <a:r>
              <a:rPr lang="zh-CN" altLang="en-US" sz="2800" b="1" dirty="0">
                <a:solidFill>
                  <a:srgbClr val="003366"/>
                </a:solidFill>
                <a:latin typeface="微软雅黑" panose="020B0503020204020204" pitchFamily="34" charset="-122"/>
                <a:ea typeface="微软雅黑" panose="020B0503020204020204" pitchFamily="34" charset="-122"/>
                <a:cs typeface="+mn-ea"/>
              </a:rPr>
              <a:t>型有限状态机，而莫尔</a:t>
            </a:r>
            <a:r>
              <a:rPr lang="en-US" altLang="zh-CN" sz="2800" b="1" dirty="0">
                <a:solidFill>
                  <a:srgbClr val="003366"/>
                </a:solidFill>
                <a:latin typeface="微软雅黑" panose="020B0503020204020204" pitchFamily="34" charset="-122"/>
                <a:ea typeface="微软雅黑" panose="020B0503020204020204" pitchFamily="34" charset="-122"/>
                <a:cs typeface="+mn-ea"/>
              </a:rPr>
              <a:t>Moore</a:t>
            </a:r>
            <a:r>
              <a:rPr lang="zh-CN" altLang="en-US" sz="2800" b="1" dirty="0">
                <a:solidFill>
                  <a:srgbClr val="003366"/>
                </a:solidFill>
                <a:latin typeface="微软雅黑" panose="020B0503020204020204" pitchFamily="34" charset="-122"/>
                <a:ea typeface="微软雅黑" panose="020B0503020204020204" pitchFamily="34" charset="-122"/>
                <a:cs typeface="+mn-ea"/>
              </a:rPr>
              <a:t>型有限状态机究竟转向哪一状态只决于当前状态。）</a:t>
            </a:r>
          </a:p>
        </p:txBody>
      </p:sp>
    </p:spTree>
    <p:extLst>
      <p:ext uri="{BB962C8B-B14F-4D97-AF65-F5344CB8AC3E}">
        <p14:creationId xmlns:p14="http://schemas.microsoft.com/office/powerpoint/2010/main" val="3084198354"/>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5256695" cy="369332"/>
          </a:xfrm>
          <a:prstGeom prst="rect">
            <a:avLst/>
          </a:prstGeom>
          <a:noFill/>
        </p:spPr>
        <p:txBody>
          <a:bodyPr wrap="none" lIns="0" tIns="0" rIns="0" bIns="0" rtlCol="0">
            <a:spAutoFit/>
          </a:bodyPr>
          <a:lstStyle/>
          <a:p>
            <a:pPr defTabSz="964278"/>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Mealy</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状态机和</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Moore</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状态机的不同点</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7" name="文本框 6">
            <a:extLst>
              <a:ext uri="{FF2B5EF4-FFF2-40B4-BE49-F238E27FC236}">
                <a16:creationId xmlns:a16="http://schemas.microsoft.com/office/drawing/2014/main" id="{BB9BC25D-0034-393F-B1A0-4D7583F9BE88}"/>
              </a:ext>
            </a:extLst>
          </p:cNvPr>
          <p:cNvSpPr txBox="1"/>
          <p:nvPr/>
        </p:nvSpPr>
        <p:spPr>
          <a:xfrm>
            <a:off x="225370" y="1992386"/>
            <a:ext cx="12396693" cy="3247877"/>
          </a:xfrm>
          <a:prstGeom prst="rect">
            <a:avLst/>
          </a:prstGeom>
          <a:noFill/>
        </p:spPr>
        <p:txBody>
          <a:bodyPr wrap="square">
            <a:spAutoFit/>
          </a:bodyPr>
          <a:lstStyle/>
          <a:p>
            <a:pPr marL="457200" indent="-457200" algn="just">
              <a:lnSpc>
                <a:spcPct val="150000"/>
              </a:lnSpc>
              <a:buFont typeface="Wingdings" panose="05000000000000000000" pitchFamily="2" charset="2"/>
              <a:buChar char="Ø"/>
            </a:pPr>
            <a:r>
              <a:rPr lang="zh-CN" altLang="en-US" sz="2800" b="1" dirty="0">
                <a:solidFill>
                  <a:srgbClr val="003366"/>
                </a:solidFill>
                <a:latin typeface="微软雅黑" panose="020B0503020204020204" pitchFamily="34" charset="-122"/>
                <a:ea typeface="微软雅黑" panose="020B0503020204020204" pitchFamily="34" charset="-122"/>
                <a:cs typeface="+mn-ea"/>
              </a:rPr>
              <a:t>如果时序逻辑的输出不但取决于状态还取决于输入，称为</a:t>
            </a:r>
            <a:r>
              <a:rPr lang="en-US" altLang="zh-CN" sz="2800" b="1" dirty="0">
                <a:solidFill>
                  <a:srgbClr val="003366"/>
                </a:solidFill>
                <a:latin typeface="微软雅黑" panose="020B0503020204020204" pitchFamily="34" charset="-122"/>
                <a:ea typeface="微软雅黑" panose="020B0503020204020204" pitchFamily="34" charset="-122"/>
                <a:cs typeface="+mn-ea"/>
              </a:rPr>
              <a:t>Mealy</a:t>
            </a:r>
            <a:r>
              <a:rPr lang="zh-CN" altLang="en-US" sz="2800" b="1" dirty="0">
                <a:solidFill>
                  <a:srgbClr val="003366"/>
                </a:solidFill>
                <a:latin typeface="微软雅黑" panose="020B0503020204020204" pitchFamily="34" charset="-122"/>
                <a:ea typeface="微软雅黑" panose="020B0503020204020204" pitchFamily="34" charset="-122"/>
                <a:cs typeface="+mn-ea"/>
              </a:rPr>
              <a:t>状态机。</a:t>
            </a:r>
            <a:endParaRPr lang="en-US" altLang="zh-CN" sz="2800" b="1" dirty="0">
              <a:solidFill>
                <a:srgbClr val="003366"/>
              </a:solidFill>
              <a:latin typeface="微软雅黑" panose="020B0503020204020204" pitchFamily="34" charset="-122"/>
              <a:ea typeface="微软雅黑" panose="020B0503020204020204" pitchFamily="34" charset="-122"/>
              <a:cs typeface="+mn-ea"/>
            </a:endParaRPr>
          </a:p>
          <a:p>
            <a:pPr marL="457200" indent="-457200" algn="just">
              <a:lnSpc>
                <a:spcPct val="150000"/>
              </a:lnSpc>
              <a:buFont typeface="Wingdings" panose="05000000000000000000" pitchFamily="2" charset="2"/>
              <a:buChar char="Ø"/>
            </a:pPr>
            <a:r>
              <a:rPr lang="zh-CN" altLang="en-US" sz="2800" b="1" dirty="0">
                <a:solidFill>
                  <a:srgbClr val="003366"/>
                </a:solidFill>
                <a:latin typeface="微软雅黑" panose="020B0503020204020204" pitchFamily="34" charset="-122"/>
                <a:ea typeface="微软雅黑" panose="020B0503020204020204" pitchFamily="34" charset="-122"/>
                <a:cs typeface="+mn-ea"/>
              </a:rPr>
              <a:t>而有些时序逻辑电路的输出只取决于当前状态，即输出信号</a:t>
            </a:r>
            <a:r>
              <a:rPr lang="en-US" altLang="zh-CN" sz="2800" b="1" dirty="0">
                <a:solidFill>
                  <a:srgbClr val="003366"/>
                </a:solidFill>
                <a:latin typeface="微软雅黑" panose="020B0503020204020204" pitchFamily="34" charset="-122"/>
                <a:ea typeface="微软雅黑" panose="020B0503020204020204" pitchFamily="34" charset="-122"/>
                <a:cs typeface="+mn-ea"/>
              </a:rPr>
              <a:t>=G(</a:t>
            </a:r>
            <a:r>
              <a:rPr lang="zh-CN" altLang="en-US" sz="2800" b="1" dirty="0">
                <a:solidFill>
                  <a:srgbClr val="003366"/>
                </a:solidFill>
                <a:latin typeface="微软雅黑" panose="020B0503020204020204" pitchFamily="34" charset="-122"/>
                <a:ea typeface="微软雅黑" panose="020B0503020204020204" pitchFamily="34" charset="-122"/>
                <a:cs typeface="+mn-ea"/>
              </a:rPr>
              <a:t>当前状态</a:t>
            </a:r>
            <a:r>
              <a:rPr lang="en-US" altLang="zh-CN" sz="2800" b="1" dirty="0">
                <a:solidFill>
                  <a:srgbClr val="003366"/>
                </a:solidFill>
                <a:latin typeface="微软雅黑" panose="020B0503020204020204" pitchFamily="34" charset="-122"/>
                <a:ea typeface="微软雅黑" panose="020B0503020204020204" pitchFamily="34" charset="-122"/>
                <a:cs typeface="+mn-ea"/>
              </a:rPr>
              <a:t>)</a:t>
            </a:r>
            <a:r>
              <a:rPr lang="zh-CN" altLang="en-US" sz="2800" b="1" dirty="0">
                <a:solidFill>
                  <a:srgbClr val="003366"/>
                </a:solidFill>
                <a:latin typeface="微软雅黑" panose="020B0503020204020204" pitchFamily="34" charset="-122"/>
                <a:ea typeface="微软雅黑" panose="020B0503020204020204" pitchFamily="34" charset="-122"/>
                <a:cs typeface="+mn-ea"/>
              </a:rPr>
              <a:t>，这样的电路就称为 </a:t>
            </a:r>
            <a:r>
              <a:rPr lang="en-US" altLang="zh-CN" sz="2800" b="1" dirty="0">
                <a:solidFill>
                  <a:srgbClr val="003366"/>
                </a:solidFill>
                <a:latin typeface="微软雅黑" panose="020B0503020204020204" pitchFamily="34" charset="-122"/>
                <a:ea typeface="微软雅黑" panose="020B0503020204020204" pitchFamily="34" charset="-122"/>
                <a:cs typeface="+mn-ea"/>
              </a:rPr>
              <a:t>Moore </a:t>
            </a:r>
            <a:r>
              <a:rPr lang="zh-CN" altLang="en-US" sz="2800" b="1" dirty="0">
                <a:solidFill>
                  <a:srgbClr val="003366"/>
                </a:solidFill>
                <a:latin typeface="微软雅黑" panose="020B0503020204020204" pitchFamily="34" charset="-122"/>
                <a:ea typeface="微软雅黑" panose="020B0503020204020204" pitchFamily="34" charset="-122"/>
                <a:cs typeface="+mn-ea"/>
              </a:rPr>
              <a:t>状态机。</a:t>
            </a:r>
            <a:endParaRPr lang="en-US" altLang="zh-CN" sz="2800" b="1" dirty="0">
              <a:solidFill>
                <a:srgbClr val="003366"/>
              </a:solidFill>
              <a:latin typeface="微软雅黑" panose="020B0503020204020204" pitchFamily="34" charset="-122"/>
              <a:ea typeface="微软雅黑" panose="020B0503020204020204" pitchFamily="34" charset="-122"/>
              <a:cs typeface="+mn-ea"/>
            </a:endParaRPr>
          </a:p>
          <a:p>
            <a:pPr marL="457200" indent="-457200" algn="just">
              <a:lnSpc>
                <a:spcPct val="150000"/>
              </a:lnSpc>
              <a:buFont typeface="Wingdings" panose="05000000000000000000" pitchFamily="2" charset="2"/>
              <a:buChar char="Ø"/>
            </a:pPr>
            <a:r>
              <a:rPr lang="zh-CN" altLang="en-US" sz="2800" b="1" dirty="0">
                <a:solidFill>
                  <a:srgbClr val="003366"/>
                </a:solidFill>
                <a:latin typeface="微软雅黑" panose="020B0503020204020204" pitchFamily="34" charset="-122"/>
                <a:ea typeface="微软雅黑" panose="020B0503020204020204" pitchFamily="34" charset="-122"/>
                <a:cs typeface="+mn-ea"/>
              </a:rPr>
              <a:t>这两种电路结构除了在输出电路部分有些不同外，其他地方都是相同的。</a:t>
            </a:r>
            <a:endParaRPr lang="en-US" altLang="zh-CN" sz="2800" b="1" dirty="0">
              <a:solidFill>
                <a:srgbClr val="003366"/>
              </a:solidFill>
              <a:latin typeface="微软雅黑" panose="020B0503020204020204" pitchFamily="34" charset="-122"/>
              <a:ea typeface="微软雅黑" panose="020B0503020204020204" pitchFamily="34" charset="-122"/>
              <a:cs typeface="+mn-ea"/>
            </a:endParaRPr>
          </a:p>
          <a:p>
            <a:pPr marL="457200" indent="-457200" algn="just">
              <a:lnSpc>
                <a:spcPct val="150000"/>
              </a:lnSpc>
              <a:buFont typeface="Wingdings" panose="05000000000000000000" pitchFamily="2" charset="2"/>
              <a:buChar char="Ø"/>
            </a:pPr>
            <a:r>
              <a:rPr lang="zh-CN" altLang="en-US" sz="2800" b="1" dirty="0">
                <a:solidFill>
                  <a:srgbClr val="003366"/>
                </a:solidFill>
                <a:latin typeface="微软雅黑" panose="020B0503020204020204" pitchFamily="34" charset="-122"/>
                <a:ea typeface="微软雅黑" panose="020B0503020204020204" pitchFamily="34" charset="-122"/>
                <a:cs typeface="+mn-ea"/>
              </a:rPr>
              <a:t>在实际设计工作中，其实大部分状态机都属于</a:t>
            </a:r>
            <a:r>
              <a:rPr lang="en-US" altLang="zh-CN" sz="2800" b="1" dirty="0">
                <a:solidFill>
                  <a:srgbClr val="003366"/>
                </a:solidFill>
                <a:latin typeface="微软雅黑" panose="020B0503020204020204" pitchFamily="34" charset="-122"/>
                <a:ea typeface="微软雅黑" panose="020B0503020204020204" pitchFamily="34" charset="-122"/>
                <a:cs typeface="+mn-ea"/>
              </a:rPr>
              <a:t>Mealy</a:t>
            </a:r>
            <a:r>
              <a:rPr lang="zh-CN" altLang="en-US" sz="2800" b="1" dirty="0">
                <a:solidFill>
                  <a:srgbClr val="003366"/>
                </a:solidFill>
                <a:latin typeface="微软雅黑" panose="020B0503020204020204" pitchFamily="34" charset="-122"/>
                <a:ea typeface="微软雅黑" panose="020B0503020204020204" pitchFamily="34" charset="-122"/>
                <a:cs typeface="+mn-ea"/>
              </a:rPr>
              <a:t>状态机。</a:t>
            </a:r>
          </a:p>
        </p:txBody>
      </p:sp>
    </p:spTree>
    <p:extLst>
      <p:ext uri="{BB962C8B-B14F-4D97-AF65-F5344CB8AC3E}">
        <p14:creationId xmlns:p14="http://schemas.microsoft.com/office/powerpoint/2010/main" val="1343839155"/>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5036572"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6" name="文本框 5">
            <a:extLst>
              <a:ext uri="{FF2B5EF4-FFF2-40B4-BE49-F238E27FC236}">
                <a16:creationId xmlns:a16="http://schemas.microsoft.com/office/drawing/2014/main" id="{7C4669BC-80BC-BD1A-79D5-43EC7133357F}"/>
              </a:ext>
            </a:extLst>
          </p:cNvPr>
          <p:cNvSpPr txBox="1"/>
          <p:nvPr/>
        </p:nvSpPr>
        <p:spPr>
          <a:xfrm>
            <a:off x="668735" y="1168053"/>
            <a:ext cx="11233248" cy="1955215"/>
          </a:xfrm>
          <a:prstGeom prst="rect">
            <a:avLst/>
          </a:prstGeom>
          <a:noFill/>
        </p:spPr>
        <p:txBody>
          <a:bodyPr wrap="square">
            <a:spAutoFit/>
          </a:bodyPr>
          <a:lstStyle/>
          <a:p>
            <a:pPr marL="457200" indent="-457200" algn="just">
              <a:lnSpc>
                <a:spcPct val="150000"/>
              </a:lnSpc>
              <a:buFont typeface="Wingdings" panose="05000000000000000000" pitchFamily="2" charset="2"/>
              <a:buChar char="Ø"/>
            </a:pPr>
            <a:r>
              <a:rPr lang="en-US" altLang="zh-CN" sz="2800" b="1" dirty="0">
                <a:solidFill>
                  <a:srgbClr val="003366"/>
                </a:solidFill>
                <a:latin typeface="微软雅黑" panose="020B0503020204020204" pitchFamily="34" charset="-122"/>
                <a:ea typeface="微软雅黑" panose="020B0503020204020204" pitchFamily="34" charset="-122"/>
                <a:cs typeface="+mn-ea"/>
              </a:rPr>
              <a:t>Verilog HDL</a:t>
            </a:r>
            <a:r>
              <a:rPr lang="zh-CN" altLang="en-US" sz="2800" b="1" dirty="0">
                <a:solidFill>
                  <a:srgbClr val="003366"/>
                </a:solidFill>
                <a:latin typeface="微软雅黑" panose="020B0503020204020204" pitchFamily="34" charset="-122"/>
                <a:ea typeface="微软雅黑" panose="020B0503020204020204" pitchFamily="34" charset="-122"/>
                <a:cs typeface="+mn-ea"/>
              </a:rPr>
              <a:t>中可以用许多种方法来描述有限状态机。</a:t>
            </a:r>
          </a:p>
          <a:p>
            <a:pPr marL="457200" indent="-457200" algn="just">
              <a:lnSpc>
                <a:spcPct val="150000"/>
              </a:lnSpc>
              <a:buFont typeface="Wingdings" panose="05000000000000000000" pitchFamily="2" charset="2"/>
              <a:buChar char="Ø"/>
            </a:pPr>
            <a:r>
              <a:rPr lang="zh-CN" altLang="en-US" sz="2800" b="1" dirty="0">
                <a:solidFill>
                  <a:srgbClr val="003366"/>
                </a:solidFill>
                <a:latin typeface="微软雅黑" panose="020B0503020204020204" pitchFamily="34" charset="-122"/>
                <a:ea typeface="微软雅黑" panose="020B0503020204020204" pitchFamily="34" charset="-122"/>
                <a:cs typeface="+mn-ea"/>
              </a:rPr>
              <a:t>最常用的方法是用</a:t>
            </a:r>
            <a:r>
              <a:rPr lang="en-US" altLang="zh-CN" sz="2800" b="1" dirty="0">
                <a:solidFill>
                  <a:srgbClr val="003366"/>
                </a:solidFill>
                <a:latin typeface="微软雅黑" panose="020B0503020204020204" pitchFamily="34" charset="-122"/>
                <a:ea typeface="微软雅黑" panose="020B0503020204020204" pitchFamily="34" charset="-122"/>
                <a:cs typeface="+mn-ea"/>
              </a:rPr>
              <a:t>always</a:t>
            </a:r>
            <a:r>
              <a:rPr lang="zh-CN" altLang="en-US" sz="2800" b="1" dirty="0">
                <a:solidFill>
                  <a:srgbClr val="003366"/>
                </a:solidFill>
                <a:latin typeface="微软雅黑" panose="020B0503020204020204" pitchFamily="34" charset="-122"/>
                <a:ea typeface="微软雅黑" panose="020B0503020204020204" pitchFamily="34" charset="-122"/>
                <a:cs typeface="+mn-ea"/>
              </a:rPr>
              <a:t>语句和</a:t>
            </a:r>
            <a:r>
              <a:rPr lang="en-US" altLang="zh-CN" sz="2800" b="1" dirty="0">
                <a:solidFill>
                  <a:srgbClr val="003366"/>
                </a:solidFill>
                <a:latin typeface="微软雅黑" panose="020B0503020204020204" pitchFamily="34" charset="-122"/>
                <a:ea typeface="微软雅黑" panose="020B0503020204020204" pitchFamily="34" charset="-122"/>
                <a:cs typeface="+mn-ea"/>
              </a:rPr>
              <a:t>case</a:t>
            </a:r>
            <a:r>
              <a:rPr lang="zh-CN" altLang="en-US" sz="2800" b="1" dirty="0">
                <a:solidFill>
                  <a:srgbClr val="003366"/>
                </a:solidFill>
                <a:latin typeface="微软雅黑" panose="020B0503020204020204" pitchFamily="34" charset="-122"/>
                <a:ea typeface="微软雅黑" panose="020B0503020204020204" pitchFamily="34" charset="-122"/>
                <a:cs typeface="+mn-ea"/>
              </a:rPr>
              <a:t>语句。</a:t>
            </a:r>
            <a:endParaRPr lang="en-US" altLang="zh-CN" sz="2800" b="1" dirty="0">
              <a:solidFill>
                <a:srgbClr val="003366"/>
              </a:solidFill>
              <a:latin typeface="微软雅黑" panose="020B0503020204020204" pitchFamily="34" charset="-122"/>
              <a:ea typeface="微软雅黑" panose="020B0503020204020204" pitchFamily="34" charset="-122"/>
              <a:cs typeface="+mn-ea"/>
            </a:endParaRPr>
          </a:p>
          <a:p>
            <a:pPr marL="457200" indent="-457200" algn="just">
              <a:lnSpc>
                <a:spcPct val="150000"/>
              </a:lnSpc>
              <a:buFont typeface="Wingdings" panose="05000000000000000000" pitchFamily="2" charset="2"/>
              <a:buChar char="Ø"/>
            </a:pPr>
            <a:r>
              <a:rPr lang="zh-CN" altLang="en-US" sz="2800" b="1" dirty="0">
                <a:solidFill>
                  <a:srgbClr val="003366"/>
                </a:solidFill>
                <a:latin typeface="微软雅黑" panose="020B0503020204020204" pitchFamily="34" charset="-122"/>
                <a:ea typeface="微软雅黑" panose="020B0503020204020204" pitchFamily="34" charset="-122"/>
                <a:cs typeface="+mn-ea"/>
              </a:rPr>
              <a:t>下面的状态转移图表示了一个有限状态机。</a:t>
            </a:r>
          </a:p>
        </p:txBody>
      </p:sp>
      <p:pic>
        <p:nvPicPr>
          <p:cNvPr id="4" name="图片 3">
            <a:extLst>
              <a:ext uri="{FF2B5EF4-FFF2-40B4-BE49-F238E27FC236}">
                <a16:creationId xmlns:a16="http://schemas.microsoft.com/office/drawing/2014/main" id="{91F6D985-5D41-7A81-3DFC-1B7D45C3D599}"/>
              </a:ext>
            </a:extLst>
          </p:cNvPr>
          <p:cNvPicPr>
            <a:picLocks noChangeAspect="1"/>
          </p:cNvPicPr>
          <p:nvPr/>
        </p:nvPicPr>
        <p:blipFill>
          <a:blip r:embed="rId4"/>
          <a:stretch>
            <a:fillRect/>
          </a:stretch>
        </p:blipFill>
        <p:spPr>
          <a:xfrm>
            <a:off x="2324919" y="3083018"/>
            <a:ext cx="7344816" cy="4105475"/>
          </a:xfrm>
          <a:prstGeom prst="rect">
            <a:avLst/>
          </a:prstGeom>
        </p:spPr>
      </p:pic>
    </p:spTree>
    <p:extLst>
      <p:ext uri="{BB962C8B-B14F-4D97-AF65-F5344CB8AC3E}">
        <p14:creationId xmlns:p14="http://schemas.microsoft.com/office/powerpoint/2010/main" val="3293211068"/>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7316618"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采用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Gary</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码</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0" y="692038"/>
            <a:ext cx="7183922" cy="6675032"/>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module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fsm</a:t>
            </a:r>
            <a:r>
              <a:rPr lang="en-US" altLang="zh-CN" sz="2400" b="1" dirty="0">
                <a:solidFill>
                  <a:srgbClr val="003366"/>
                </a:solidFill>
                <a:latin typeface="微软雅黑" panose="020B0503020204020204" pitchFamily="34" charset="-122"/>
                <a:ea typeface="微软雅黑" panose="020B0503020204020204" pitchFamily="34" charset="-122"/>
                <a:cs typeface="+mn-ea"/>
              </a:rPr>
              <a:t> (Clock, Reset, A, K2,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input Clock, Reset, A;</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output K2,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reg K2 ,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reg [1:0] state ;</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Parameter	Idle = 2'b00,  Start = 2'b01;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Stop = 2'b10,  Clear = 2'b11;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@(posedge Clock)</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 Reset)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 &lt;= Idle; K2 &lt;=0; K1 &lt;=0;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  </a:t>
            </a:r>
          </a:p>
        </p:txBody>
      </p:sp>
      <p:sp>
        <p:nvSpPr>
          <p:cNvPr id="14" name="文本框 13">
            <a:extLst>
              <a:ext uri="{FF2B5EF4-FFF2-40B4-BE49-F238E27FC236}">
                <a16:creationId xmlns:a16="http://schemas.microsoft.com/office/drawing/2014/main" id="{ED55C243-052F-C51E-3183-00B16E9B5974}"/>
              </a:ext>
            </a:extLst>
          </p:cNvPr>
          <p:cNvSpPr txBox="1"/>
          <p:nvPr/>
        </p:nvSpPr>
        <p:spPr>
          <a:xfrm>
            <a:off x="6933431" y="635907"/>
            <a:ext cx="5533296" cy="5013039"/>
          </a:xfrm>
          <a:prstGeom prst="rect">
            <a:avLst/>
          </a:prstGeom>
          <a:noFill/>
        </p:spPr>
        <p:txBody>
          <a:bodyPr wrap="square">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else</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case (state)</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Idle : begin</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if (A)  begin</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state &lt;= Start;</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K1 &lt;=0;</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end</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else 	state &lt;= idle;</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end </a:t>
            </a:r>
          </a:p>
        </p:txBody>
      </p:sp>
    </p:spTree>
    <p:extLst>
      <p:ext uri="{BB962C8B-B14F-4D97-AF65-F5344CB8AC3E}">
        <p14:creationId xmlns:p14="http://schemas.microsoft.com/office/powerpoint/2010/main" val="278988672"/>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7316618"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采用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Gary</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码</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0" y="692038"/>
            <a:ext cx="7183922" cy="6121035"/>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Start :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(!A)  state &lt;= Stop;</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start;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Stop :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(A)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 &lt;= Clear;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K2 &lt;= 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Stop;</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p:txBody>
      </p:sp>
      <p:sp>
        <p:nvSpPr>
          <p:cNvPr id="14" name="文本框 13">
            <a:extLst>
              <a:ext uri="{FF2B5EF4-FFF2-40B4-BE49-F238E27FC236}">
                <a16:creationId xmlns:a16="http://schemas.microsoft.com/office/drawing/2014/main" id="{ED55C243-052F-C51E-3183-00B16E9B5974}"/>
              </a:ext>
            </a:extLst>
          </p:cNvPr>
          <p:cNvSpPr txBox="1"/>
          <p:nvPr/>
        </p:nvSpPr>
        <p:spPr>
          <a:xfrm>
            <a:off x="6933431" y="635907"/>
            <a:ext cx="6482992" cy="5567037"/>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Clear :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 A)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 &lt;=Idle;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K2&lt;=0; K1&lt;=1;  </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Clear;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default: state&lt;=2'bxx;</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endcase</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pPr>
            <a:r>
              <a:rPr lang="en-US" altLang="zh-CN" sz="2400" b="1" dirty="0" err="1">
                <a:solidFill>
                  <a:srgbClr val="003366"/>
                </a:solidFill>
                <a:latin typeface="微软雅黑" panose="020B0503020204020204" pitchFamily="34" charset="-122"/>
                <a:ea typeface="微软雅黑" panose="020B0503020204020204" pitchFamily="34" charset="-122"/>
                <a:cs typeface="+mn-ea"/>
              </a:rPr>
              <a:t>endmodule</a:t>
            </a:r>
            <a:endPar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4225255692"/>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7546874"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采用独热编码</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0" y="667440"/>
            <a:ext cx="7183922" cy="6121035"/>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module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fsm</a:t>
            </a:r>
            <a:r>
              <a:rPr lang="en-US" altLang="zh-CN" sz="2400" b="1" dirty="0">
                <a:solidFill>
                  <a:srgbClr val="003366"/>
                </a:solidFill>
                <a:latin typeface="微软雅黑" panose="020B0503020204020204" pitchFamily="34" charset="-122"/>
                <a:ea typeface="微软雅黑" panose="020B0503020204020204" pitchFamily="34" charset="-122"/>
                <a:cs typeface="+mn-ea"/>
              </a:rPr>
              <a:t> (Clock, Reset, A, K2,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input Clock, Reset, A;</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output K2,K1;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reg K2,K1;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reg [3:0] state ;</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parameter   Idle = 4’b1000,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Start = 4’b0100,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Stop = 4’b0010,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Clear = 4’b0001;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posedge</a:t>
            </a:r>
            <a:r>
              <a:rPr lang="en-US" altLang="zh-CN" sz="2400" b="1" dirty="0">
                <a:solidFill>
                  <a:srgbClr val="003366"/>
                </a:solidFill>
                <a:latin typeface="微软雅黑" panose="020B0503020204020204" pitchFamily="34" charset="-122"/>
                <a:ea typeface="微软雅黑" panose="020B0503020204020204" pitchFamily="34" charset="-122"/>
                <a:cs typeface="+mn-ea"/>
              </a:rPr>
              <a:t> clock)</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 ! Reset)</a:t>
            </a:r>
          </a:p>
        </p:txBody>
      </p:sp>
      <p:sp>
        <p:nvSpPr>
          <p:cNvPr id="14" name="文本框 13">
            <a:extLst>
              <a:ext uri="{FF2B5EF4-FFF2-40B4-BE49-F238E27FC236}">
                <a16:creationId xmlns:a16="http://schemas.microsoft.com/office/drawing/2014/main" id="{ED55C243-052F-C51E-3183-00B16E9B5974}"/>
              </a:ext>
            </a:extLst>
          </p:cNvPr>
          <p:cNvSpPr txBox="1"/>
          <p:nvPr/>
        </p:nvSpPr>
        <p:spPr>
          <a:xfrm>
            <a:off x="6717407" y="667440"/>
            <a:ext cx="6482992" cy="6675032"/>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 &lt;= Idle; K2&lt;=0; K1&lt;=0;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case (state)</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Idle:   begin</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if (A) begin</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state &lt;= Start;</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K1&lt;=0;</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end</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else state &lt;= Idle;</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end</a:t>
            </a:r>
          </a:p>
        </p:txBody>
      </p:sp>
    </p:spTree>
    <p:extLst>
      <p:ext uri="{BB962C8B-B14F-4D97-AF65-F5344CB8AC3E}">
        <p14:creationId xmlns:p14="http://schemas.microsoft.com/office/powerpoint/2010/main" val="229209591"/>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7546874"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采用独热编码</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0" y="667440"/>
            <a:ext cx="7183922" cy="6121035"/>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Start: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(!A)  state &lt;= Stop;</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Start;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Stop: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(A)  begin </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 &lt;= Clear;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K2 &lt;= 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Stop;</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p:txBody>
      </p:sp>
      <p:sp>
        <p:nvSpPr>
          <p:cNvPr id="14" name="文本框 13">
            <a:extLst>
              <a:ext uri="{FF2B5EF4-FFF2-40B4-BE49-F238E27FC236}">
                <a16:creationId xmlns:a16="http://schemas.microsoft.com/office/drawing/2014/main" id="{ED55C243-052F-C51E-3183-00B16E9B5974}"/>
              </a:ext>
            </a:extLst>
          </p:cNvPr>
          <p:cNvSpPr txBox="1"/>
          <p:nvPr/>
        </p:nvSpPr>
        <p:spPr>
          <a:xfrm>
            <a:off x="6717407" y="667440"/>
            <a:ext cx="6482992" cy="5567037"/>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Clear: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(!A)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 &lt;=Idle;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K2&lt;=0; K1&lt;=1;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Clear;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default:   state &lt;=Idle;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endcase</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pPr>
            <a:r>
              <a:rPr lang="en-US" altLang="zh-CN" sz="2400" b="1" dirty="0" err="1">
                <a:solidFill>
                  <a:srgbClr val="003366"/>
                </a:solidFill>
                <a:latin typeface="微软雅黑" panose="020B0503020204020204" pitchFamily="34" charset="-122"/>
                <a:ea typeface="微软雅黑" panose="020B0503020204020204" pitchFamily="34" charset="-122"/>
                <a:cs typeface="+mn-ea"/>
              </a:rPr>
              <a:t>endmodule</a:t>
            </a:r>
            <a:endPar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180086172"/>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9085757"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把输出直接指定为状态码</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0" y="613701"/>
            <a:ext cx="7183922" cy="6675032"/>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Module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fsm</a:t>
            </a:r>
            <a:r>
              <a:rPr lang="en-US" altLang="zh-CN" sz="2400" b="1" dirty="0">
                <a:solidFill>
                  <a:srgbClr val="003366"/>
                </a:solidFill>
                <a:latin typeface="微软雅黑" panose="020B0503020204020204" pitchFamily="34" charset="-122"/>
                <a:ea typeface="微软雅黑" panose="020B0503020204020204" pitchFamily="34" charset="-122"/>
                <a:cs typeface="+mn-ea"/>
              </a:rPr>
              <a:t>( Clock, Reset, A, K2,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input  Clock,  Reset,  A;</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output  K2,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reg [3:0] state;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assign K2=state[3];</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assign K1=state[0];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parameter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Zero	=  4’b0_0_0_0,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Idle 	=  4’b0_0_0_1,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Start 	=  4’b0_1_0_0,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Stop	=  4’b0_0_1_0,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Clear	=  4’b1_0_0_0;</a:t>
            </a:r>
          </a:p>
        </p:txBody>
      </p:sp>
      <p:sp>
        <p:nvSpPr>
          <p:cNvPr id="14" name="文本框 13">
            <a:extLst>
              <a:ext uri="{FF2B5EF4-FFF2-40B4-BE49-F238E27FC236}">
                <a16:creationId xmlns:a16="http://schemas.microsoft.com/office/drawing/2014/main" id="{ED55C243-052F-C51E-3183-00B16E9B5974}"/>
              </a:ext>
            </a:extLst>
          </p:cNvPr>
          <p:cNvSpPr txBox="1"/>
          <p:nvPr/>
        </p:nvSpPr>
        <p:spPr>
          <a:xfrm>
            <a:off x="6448920" y="635907"/>
            <a:ext cx="6482992" cy="6675032"/>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@(posedge Clock)</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 !  Reset)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state&lt;=Zero;</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Case  (state)</a:t>
            </a:r>
          </a:p>
          <a:p>
            <a:pPr algn="just">
              <a:lnSpc>
                <a:spcPct val="150000"/>
              </a:lnSpc>
            </a:pP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Idle,Zero</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begin</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if (A) begin</a:t>
            </a:r>
          </a:p>
          <a:p>
            <a:pPr algn="just">
              <a:lnSpc>
                <a:spcPct val="150000"/>
              </a:lnSpc>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state&lt;=Start;</a:t>
            </a:r>
          </a:p>
          <a:p>
            <a:pPr algn="just">
              <a:lnSpc>
                <a:spcPct val="150000"/>
              </a:lnSpc>
            </a:pPr>
            <a:r>
              <a:rPr kumimoji="0" lang="da-DK"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end</a:t>
            </a:r>
          </a:p>
          <a:p>
            <a:pPr algn="just">
              <a:lnSpc>
                <a:spcPct val="150000"/>
              </a:lnSpc>
            </a:pPr>
            <a:r>
              <a:rPr kumimoji="0" lang="da-DK"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else  state&lt;=Idle; </a:t>
            </a:r>
          </a:p>
          <a:p>
            <a:pPr algn="just">
              <a:lnSpc>
                <a:spcPct val="150000"/>
              </a:lnSpc>
            </a:pPr>
            <a:r>
              <a:rPr kumimoji="0" lang="da-DK"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end</a:t>
            </a:r>
            <a:endPar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564791851"/>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9085757"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把输出直接指定为状态码</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0" y="1384077"/>
            <a:ext cx="5925319" cy="5013039"/>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Start: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  A)  state&lt;=Stop;</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state&lt;=Start;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Stop: begin  if (A)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state&lt;=Clear;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state&lt;=Stop;</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p:txBody>
      </p:sp>
      <p:sp>
        <p:nvSpPr>
          <p:cNvPr id="14" name="文本框 13">
            <a:extLst>
              <a:ext uri="{FF2B5EF4-FFF2-40B4-BE49-F238E27FC236}">
                <a16:creationId xmlns:a16="http://schemas.microsoft.com/office/drawing/2014/main" id="{ED55C243-052F-C51E-3183-00B16E9B5974}"/>
              </a:ext>
            </a:extLst>
          </p:cNvPr>
          <p:cNvSpPr txBox="1"/>
          <p:nvPr/>
        </p:nvSpPr>
        <p:spPr>
          <a:xfrm>
            <a:off x="6448920" y="1386804"/>
            <a:ext cx="6482992" cy="4459041"/>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Clear: begin  if(</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a:solidFill>
                  <a:srgbClr val="003366"/>
                </a:solidFill>
                <a:latin typeface="微软雅黑" panose="020B0503020204020204" pitchFamily="34" charset="-122"/>
                <a:ea typeface="微软雅黑" panose="020B0503020204020204" pitchFamily="34" charset="-122"/>
                <a:cs typeface="+mn-ea"/>
              </a:rPr>
              <a:t>A)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state&lt;=Idle;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state&lt;=Clear;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Default: state&lt;=Zero;</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endcase</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pPr>
            <a:r>
              <a:rPr lang="en-US" altLang="zh-CN" sz="2400" b="1" dirty="0" err="1">
                <a:solidFill>
                  <a:srgbClr val="003366"/>
                </a:solidFill>
                <a:latin typeface="微软雅黑" panose="020B0503020204020204" pitchFamily="34" charset="-122"/>
                <a:ea typeface="微软雅黑" panose="020B0503020204020204" pitchFamily="34" charset="-122"/>
                <a:cs typeface="+mn-ea"/>
              </a:rPr>
              <a:t>endmodule</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07657936"/>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8470204"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复杂的多输出状态机</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0" y="613701"/>
            <a:ext cx="7183922" cy="6675032"/>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module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fsm</a:t>
            </a:r>
            <a:r>
              <a:rPr lang="en-US" altLang="zh-CN" sz="2400" b="1" dirty="0">
                <a:solidFill>
                  <a:srgbClr val="003366"/>
                </a:solidFill>
                <a:latin typeface="微软雅黑" panose="020B0503020204020204" pitchFamily="34" charset="-122"/>
                <a:ea typeface="微软雅黑" panose="020B0503020204020204" pitchFamily="34" charset="-122"/>
                <a:cs typeface="+mn-ea"/>
              </a:rPr>
              <a:t> (Clock, Reset, A, K2,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input Clock, Reset, A;</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output K2,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reg  K2, K1;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reg [1:0] state;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parameter   </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Idle = 2’b00, Start = 2’b01,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Stop = 2’b10, Clear = 2’b11;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@(posedge Clock)</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 ! Reset)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 &lt;= Idle;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a:t>
            </a:r>
          </a:p>
        </p:txBody>
      </p:sp>
      <p:sp>
        <p:nvSpPr>
          <p:cNvPr id="14" name="文本框 13">
            <a:extLst>
              <a:ext uri="{FF2B5EF4-FFF2-40B4-BE49-F238E27FC236}">
                <a16:creationId xmlns:a16="http://schemas.microsoft.com/office/drawing/2014/main" id="{ED55C243-052F-C51E-3183-00B16E9B5974}"/>
              </a:ext>
            </a:extLst>
          </p:cNvPr>
          <p:cNvSpPr txBox="1"/>
          <p:nvPr/>
        </p:nvSpPr>
        <p:spPr>
          <a:xfrm>
            <a:off x="6573391" y="838756"/>
            <a:ext cx="6482992" cy="5567037"/>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case(state)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Idle:  begin  if (A) begin</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state&lt; = Start;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 Idle;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Start:  begin  if ( ! A)  </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state&lt; = Stop;</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Start;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p:txBody>
      </p:sp>
    </p:spTree>
    <p:extLst>
      <p:ext uri="{BB962C8B-B14F-4D97-AF65-F5344CB8AC3E}">
        <p14:creationId xmlns:p14="http://schemas.microsoft.com/office/powerpoint/2010/main" val="1106920946"/>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8470204"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复杂的多输出状态机</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0" y="613701"/>
            <a:ext cx="7183922" cy="5567037"/>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Stop:  begin  if (A)  state&lt; = Clear;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Stop;</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Clear:  begin  if ( ! A)  state&lt; = Idle;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state &lt;= Clear;</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Default :   state&lt;=2’bxx;</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endcase</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@(state or Reset or A)</a:t>
            </a:r>
          </a:p>
          <a:p>
            <a:pPr algn="just">
              <a:lnSpc>
                <a:spcPct val="150000"/>
              </a:lnSpc>
            </a:pP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p:txBody>
      </p:sp>
      <p:sp>
        <p:nvSpPr>
          <p:cNvPr id="14" name="文本框 13">
            <a:extLst>
              <a:ext uri="{FF2B5EF4-FFF2-40B4-BE49-F238E27FC236}">
                <a16:creationId xmlns:a16="http://schemas.microsoft.com/office/drawing/2014/main" id="{ED55C243-052F-C51E-3183-00B16E9B5974}"/>
              </a:ext>
            </a:extLst>
          </p:cNvPr>
          <p:cNvSpPr txBox="1"/>
          <p:nvPr/>
        </p:nvSpPr>
        <p:spPr>
          <a:xfrm>
            <a:off x="6573391" y="545432"/>
            <a:ext cx="6482992" cy="6675032"/>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 Reset)  K2=0;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((state==Clear) &amp;&amp; A)</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K2=1;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K2=0;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@(state or Reset)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 Reset)  K1=0;</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if ((state==Idle) &amp;&amp; !A)</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K1=1;</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else    K1=0;</a:t>
            </a:r>
          </a:p>
          <a:p>
            <a:pPr algn="just">
              <a:lnSpc>
                <a:spcPct val="150000"/>
              </a:lnSpc>
            </a:pPr>
            <a:r>
              <a:rPr lang="en-US" altLang="zh-CN" sz="2400" b="1" dirty="0" err="1">
                <a:solidFill>
                  <a:srgbClr val="003366"/>
                </a:solidFill>
                <a:latin typeface="微软雅黑" panose="020B0503020204020204" pitchFamily="34" charset="-122"/>
                <a:ea typeface="微软雅黑" panose="020B0503020204020204" pitchFamily="34" charset="-122"/>
                <a:cs typeface="+mn-ea"/>
              </a:rPr>
              <a:t>endmodule</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510947347"/>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8470204"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如何用</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来描述可综合的状态机</a:t>
            </a:r>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复杂的多输出状态机</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3AA34DB9-7567-19E7-F224-37F77AB1B287}"/>
              </a:ext>
            </a:extLst>
          </p:cNvPr>
          <p:cNvSpPr txBox="1"/>
          <p:nvPr/>
        </p:nvSpPr>
        <p:spPr>
          <a:xfrm>
            <a:off x="-5977" y="1026334"/>
            <a:ext cx="12723051" cy="4459041"/>
          </a:xfrm>
          <a:prstGeom prst="rect">
            <a:avLst/>
          </a:prstGeom>
          <a:noFill/>
        </p:spPr>
        <p:txBody>
          <a:bodyPr wrap="square">
            <a:spAutoFit/>
          </a:bodyPr>
          <a:lstStyle/>
          <a:p>
            <a:pPr algn="just">
              <a:lnSpc>
                <a:spcPct val="150000"/>
              </a:lnSpc>
            </a:pPr>
            <a:r>
              <a:rPr lang="zh-CN" altLang="en-US" sz="2400" b="1" dirty="0">
                <a:solidFill>
                  <a:srgbClr val="003366"/>
                </a:solidFill>
                <a:latin typeface="微软雅黑" panose="020B0503020204020204" pitchFamily="34" charset="-122"/>
                <a:ea typeface="微软雅黑" panose="020B0503020204020204" pitchFamily="34" charset="-122"/>
                <a:cs typeface="+mn-ea"/>
              </a:rPr>
              <a:t>有限状态机设计的一般步骤：</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逻辑抽象：得出状态转换图就是把给出的一个实际逻辑关系表示为时序逻辑函数，可以用状态转换表来描述，也可以用状态转换图来描述。</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状态化简：如果在状态转换图中出现这样两个状态，它们在相同的输入下转换到同一状态去，并得到一样的输出，则称它们为等价状态。显然等价状态是重复的，可以合并为一个。</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状态分配：状态分配又称状态编码。</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选定触发器的类型并求出状态方程、驱动方程和输出方程。</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按照方程得出逻辑图</a:t>
            </a:r>
          </a:p>
        </p:txBody>
      </p:sp>
      <p:sp>
        <p:nvSpPr>
          <p:cNvPr id="11" name="文本框 10">
            <a:extLst>
              <a:ext uri="{FF2B5EF4-FFF2-40B4-BE49-F238E27FC236}">
                <a16:creationId xmlns:a16="http://schemas.microsoft.com/office/drawing/2014/main" id="{FCEB8795-87B8-3743-49DD-3697D6ACCD06}"/>
              </a:ext>
            </a:extLst>
          </p:cNvPr>
          <p:cNvSpPr txBox="1"/>
          <p:nvPr/>
        </p:nvSpPr>
        <p:spPr>
          <a:xfrm>
            <a:off x="141324" y="5831021"/>
            <a:ext cx="12576102" cy="1135054"/>
          </a:xfrm>
          <a:prstGeom prst="rect">
            <a:avLst/>
          </a:prstGeom>
          <a:noFill/>
        </p:spPr>
        <p:txBody>
          <a:bodyPr wrap="square">
            <a:spAutoFit/>
          </a:bodyPr>
          <a:lstStyle/>
          <a:p>
            <a:pPr algn="just">
              <a:lnSpc>
                <a:spcPct val="150000"/>
              </a:lnSpc>
            </a:pPr>
            <a:r>
              <a:rPr lang="zh-CN" altLang="en-US" sz="2400" b="1" dirty="0">
                <a:solidFill>
                  <a:srgbClr val="FF0000"/>
                </a:solidFill>
                <a:latin typeface="微软雅黑" panose="020B0503020204020204" pitchFamily="34" charset="-122"/>
                <a:ea typeface="微软雅黑" panose="020B0503020204020204" pitchFamily="34" charset="-122"/>
                <a:cs typeface="+mn-ea"/>
              </a:rPr>
              <a:t>用</a:t>
            </a:r>
            <a:r>
              <a:rPr lang="en-US" altLang="zh-CN" sz="2400" b="1" dirty="0">
                <a:solidFill>
                  <a:srgbClr val="FF0000"/>
                </a:solidFill>
                <a:latin typeface="微软雅黑" panose="020B0503020204020204" pitchFamily="34" charset="-122"/>
                <a:ea typeface="微软雅黑" panose="020B0503020204020204" pitchFamily="34" charset="-122"/>
                <a:cs typeface="+mn-ea"/>
              </a:rPr>
              <a:t>Verilog HDL</a:t>
            </a:r>
            <a:r>
              <a:rPr lang="zh-CN" altLang="en-US" sz="2400" b="1" dirty="0">
                <a:solidFill>
                  <a:srgbClr val="FF0000"/>
                </a:solidFill>
                <a:latin typeface="微软雅黑" panose="020B0503020204020204" pitchFamily="34" charset="-122"/>
                <a:ea typeface="微软雅黑" panose="020B0503020204020204" pitchFamily="34" charset="-122"/>
                <a:cs typeface="+mn-ea"/>
              </a:rPr>
              <a:t>来描述有限状态机，可以充分发挥硬件描述语言的抽象建模能力，使用</a:t>
            </a:r>
            <a:r>
              <a:rPr lang="en-US" altLang="zh-CN" sz="2400" b="1" dirty="0">
                <a:solidFill>
                  <a:srgbClr val="FF0000"/>
                </a:solidFill>
                <a:latin typeface="微软雅黑" panose="020B0503020204020204" pitchFamily="34" charset="-122"/>
                <a:ea typeface="微软雅黑" panose="020B0503020204020204" pitchFamily="34" charset="-122"/>
                <a:cs typeface="+mn-ea"/>
              </a:rPr>
              <a:t>always</a:t>
            </a:r>
            <a:r>
              <a:rPr lang="zh-CN" altLang="en-US" sz="2400" b="1" dirty="0">
                <a:solidFill>
                  <a:srgbClr val="FF0000"/>
                </a:solidFill>
                <a:latin typeface="微软雅黑" panose="020B0503020204020204" pitchFamily="34" charset="-122"/>
                <a:ea typeface="微软雅黑" panose="020B0503020204020204" pitchFamily="34" charset="-122"/>
                <a:cs typeface="+mn-ea"/>
              </a:rPr>
              <a:t>块语句和</a:t>
            </a:r>
            <a:r>
              <a:rPr lang="en-US" altLang="zh-CN" sz="2400" b="1" dirty="0">
                <a:solidFill>
                  <a:srgbClr val="FF0000"/>
                </a:solidFill>
                <a:latin typeface="微软雅黑" panose="020B0503020204020204" pitchFamily="34" charset="-122"/>
                <a:ea typeface="微软雅黑" panose="020B0503020204020204" pitchFamily="34" charset="-122"/>
                <a:cs typeface="+mn-ea"/>
              </a:rPr>
              <a:t>case</a:t>
            </a:r>
            <a:r>
              <a:rPr lang="zh-CN" altLang="en-US" sz="2400" b="1" dirty="0">
                <a:solidFill>
                  <a:srgbClr val="FF0000"/>
                </a:solidFill>
                <a:latin typeface="微软雅黑" panose="020B0503020204020204" pitchFamily="34" charset="-122"/>
                <a:ea typeface="微软雅黑" panose="020B0503020204020204" pitchFamily="34" charset="-122"/>
                <a:cs typeface="+mn-ea"/>
              </a:rPr>
              <a:t>（</a:t>
            </a:r>
            <a:r>
              <a:rPr lang="en-US" altLang="zh-CN" sz="2400" b="1" dirty="0">
                <a:solidFill>
                  <a:srgbClr val="FF0000"/>
                </a:solidFill>
                <a:latin typeface="微软雅黑" panose="020B0503020204020204" pitchFamily="34" charset="-122"/>
                <a:ea typeface="微软雅黑" panose="020B0503020204020204" pitchFamily="34" charset="-122"/>
                <a:cs typeface="+mn-ea"/>
              </a:rPr>
              <a:t>if</a:t>
            </a:r>
            <a:r>
              <a:rPr lang="zh-CN" altLang="en-US" sz="2400" b="1" dirty="0">
                <a:solidFill>
                  <a:srgbClr val="FF0000"/>
                </a:solidFill>
                <a:latin typeface="微软雅黑" panose="020B0503020204020204" pitchFamily="34" charset="-122"/>
                <a:ea typeface="微软雅黑" panose="020B0503020204020204" pitchFamily="34" charset="-122"/>
                <a:cs typeface="+mn-ea"/>
              </a:rPr>
              <a:t>）等条件语句及赋值语句即可方便实现。</a:t>
            </a:r>
          </a:p>
        </p:txBody>
      </p:sp>
    </p:spTree>
    <p:extLst>
      <p:ext uri="{BB962C8B-B14F-4D97-AF65-F5344CB8AC3E}">
        <p14:creationId xmlns:p14="http://schemas.microsoft.com/office/powerpoint/2010/main" val="3964272971"/>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bt031.pptx"/>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heme/theme1.xml><?xml version="1.0" encoding="utf-8"?>
<a:theme xmlns:a="http://schemas.openxmlformats.org/drawingml/2006/main" name="第一PPT，www.1ppt.com">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1536</Words>
  <Application>Microsoft Office PowerPoint</Application>
  <PresentationFormat>自定义</PresentationFormat>
  <Paragraphs>227</Paragraphs>
  <Slides>15</Slides>
  <Notes>15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微软雅黑</vt:lpstr>
      <vt:lpstr>Agency FB</vt:lpstr>
      <vt:lpstr>Arial</vt:lpstr>
      <vt:lpstr>Calibri</vt:lpstr>
      <vt:lpstr>Calibri Light</vt:lpstr>
      <vt:lpstr>Impact</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2016-09-26T19:01:29Z</dcterms:created>
  <dcterms:modified xsi:type="dcterms:W3CDTF">2022-05-22T15:25:46Z</dcterms:modified>
</cp:coreProperties>
</file>