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17"/>
  </p:notesMasterIdLst>
  <p:handoutMasterIdLst>
    <p:handoutMasterId r:id="rId18"/>
  </p:handoutMasterIdLst>
  <p:sldIdLst>
    <p:sldId id="2528" r:id="rId2"/>
    <p:sldId id="2567" r:id="rId3"/>
    <p:sldId id="2529" r:id="rId4"/>
    <p:sldId id="2576" r:id="rId5"/>
    <p:sldId id="2578" r:id="rId6"/>
    <p:sldId id="2579" r:id="rId7"/>
    <p:sldId id="2580" r:id="rId8"/>
    <p:sldId id="2581" r:id="rId9"/>
    <p:sldId id="2582" r:id="rId10"/>
    <p:sldId id="2577" r:id="rId11"/>
    <p:sldId id="2583" r:id="rId12"/>
    <p:sldId id="2584" r:id="rId13"/>
    <p:sldId id="2585" r:id="rId14"/>
    <p:sldId id="2586" r:id="rId15"/>
    <p:sldId id="2587" r:id="rId16"/>
  </p:sldIdLst>
  <p:sldSz cx="12858750" cy="7232650"/>
  <p:notesSz cx="6858000" cy="9144000"/>
  <p:custDataLst>
    <p:tags r:id="rId19"/>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9763" indent="-182563"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5638" indent="-55403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27B23C"/>
    <a:srgbClr val="66CCFF"/>
    <a:srgbClr val="2DDE45"/>
    <a:srgbClr val="FFFFFF"/>
    <a:srgbClr val="000000"/>
    <a:srgbClr val="125B26"/>
    <a:srgbClr val="134B28"/>
    <a:srgbClr val="63BC6F"/>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93" autoAdjust="0"/>
    <p:restoredTop sz="68530" autoAdjust="0"/>
  </p:normalViewPr>
  <p:slideViewPr>
    <p:cSldViewPr>
      <p:cViewPr varScale="1">
        <p:scale>
          <a:sx n="109" d="100"/>
          <a:sy n="109" d="100"/>
        </p:scale>
        <p:origin x="1164" y="108"/>
      </p:cViewPr>
      <p:guideLst>
        <p:guide orient="horz" pos="328"/>
        <p:guide pos="4050"/>
        <p:guide pos="557"/>
        <p:guide orient="horz" pos="4183"/>
        <p:guide pos="7497"/>
        <p:guide pos="6908"/>
      </p:guideLst>
    </p:cSldViewPr>
  </p:slideViewPr>
  <p:outlineViewPr>
    <p:cViewPr>
      <p:scale>
        <a:sx n="100" d="100"/>
        <a:sy n="100" d="100"/>
      </p:scale>
      <p:origin x="0" y="-2055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65" d="100"/>
          <a:sy n="65" d="100"/>
        </p:scale>
        <p:origin x="2796"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t>2022/5/8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2022/5/8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613" algn="l" rtl="0" eaLnBrk="0" fontAlgn="base" hangingPunct="0">
      <a:spcBef>
        <a:spcPct val="30000"/>
      </a:spcBef>
      <a:spcAft>
        <a:spcPct val="0"/>
      </a:spcAft>
      <a:defRPr sz="1300" kern="1200">
        <a:solidFill>
          <a:schemeClr val="tx1"/>
        </a:solidFill>
        <a:latin typeface="+mn-lt"/>
        <a:ea typeface="+mn-ea"/>
        <a:cs typeface="+mn-cs"/>
      </a:defRPr>
    </a:lvl2pPr>
    <a:lvl3pPr marL="912813" algn="l" rtl="0" eaLnBrk="0" fontAlgn="base" hangingPunct="0">
      <a:spcBef>
        <a:spcPct val="30000"/>
      </a:spcBef>
      <a:spcAft>
        <a:spcPct val="0"/>
      </a:spcAft>
      <a:defRPr sz="1300" kern="1200">
        <a:solidFill>
          <a:schemeClr val="tx1"/>
        </a:solidFill>
        <a:latin typeface="+mn-lt"/>
        <a:ea typeface="+mn-ea"/>
        <a:cs typeface="+mn-cs"/>
      </a:defRPr>
    </a:lvl3pPr>
    <a:lvl4pPr marL="1370013" algn="l" rtl="0" eaLnBrk="0" fontAlgn="base" hangingPunct="0">
      <a:spcBef>
        <a:spcPct val="30000"/>
      </a:spcBef>
      <a:spcAft>
        <a:spcPct val="0"/>
      </a:spcAft>
      <a:defRPr sz="1300" kern="1200">
        <a:solidFill>
          <a:schemeClr val="tx1"/>
        </a:solidFill>
        <a:latin typeface="+mn-lt"/>
        <a:ea typeface="+mn-ea"/>
        <a:cs typeface="+mn-cs"/>
      </a:defRPr>
    </a:lvl4pPr>
    <a:lvl5pPr marL="1827213" algn="l" rtl="0" eaLnBrk="0" fontAlgn="base" hangingPunct="0">
      <a:spcBef>
        <a:spcPct val="30000"/>
      </a:spcBef>
      <a:spcAft>
        <a:spcPct val="0"/>
      </a:spcAft>
      <a:defRPr sz="1300" kern="1200">
        <a:solidFill>
          <a:schemeClr val="tx1"/>
        </a:solidFill>
        <a:latin typeface="+mn-lt"/>
        <a:ea typeface="+mn-ea"/>
        <a:cs typeface="+mn-cs"/>
      </a:defRPr>
    </a:lvl5pPr>
    <a:lvl6pPr marL="2285493" algn="l" defTabSz="914197" rtl="0" eaLnBrk="1" latinLnBrk="0" hangingPunct="1">
      <a:defRPr sz="1300" kern="1200">
        <a:solidFill>
          <a:schemeClr val="tx1"/>
        </a:solidFill>
        <a:latin typeface="+mn-lt"/>
        <a:ea typeface="+mn-ea"/>
        <a:cs typeface="+mn-cs"/>
      </a:defRPr>
    </a:lvl6pPr>
    <a:lvl7pPr marL="2742592" algn="l" defTabSz="914197" rtl="0" eaLnBrk="1" latinLnBrk="0" hangingPunct="1">
      <a:defRPr sz="1300" kern="1200">
        <a:solidFill>
          <a:schemeClr val="tx1"/>
        </a:solidFill>
        <a:latin typeface="+mn-lt"/>
        <a:ea typeface="+mn-ea"/>
        <a:cs typeface="+mn-cs"/>
      </a:defRPr>
    </a:lvl7pPr>
    <a:lvl8pPr marL="3199692" algn="l" defTabSz="914197" rtl="0" eaLnBrk="1" latinLnBrk="0" hangingPunct="1">
      <a:defRPr sz="1300" kern="1200">
        <a:solidFill>
          <a:schemeClr val="tx1"/>
        </a:solidFill>
        <a:latin typeface="+mn-lt"/>
        <a:ea typeface="+mn-ea"/>
        <a:cs typeface="+mn-cs"/>
      </a:defRPr>
    </a:lvl8pPr>
    <a:lvl9pPr marL="3656788" algn="l" defTabSz="914197"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4FF5570-FE69-4FDF-99DA-8CDE436443CD}" type="slidenum">
              <a:rPr lang="en-US" smtClean="0"/>
              <a:pPr/>
              <a:t>1</a:t>
            </a:fld>
            <a:endParaRPr lang="en-US" dirty="0"/>
          </a:p>
        </p:txBody>
      </p:sp>
    </p:spTree>
    <p:extLst>
      <p:ext uri="{BB962C8B-B14F-4D97-AF65-F5344CB8AC3E}">
        <p14:creationId xmlns:p14="http://schemas.microsoft.com/office/powerpoint/2010/main" val="257062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a:t>
            </a:fld>
            <a:endParaRPr lang="zh-CN" altLang="en-US"/>
          </a:p>
        </p:txBody>
      </p:sp>
    </p:spTree>
    <p:extLst>
      <p:ext uri="{BB962C8B-B14F-4D97-AF65-F5344CB8AC3E}">
        <p14:creationId xmlns:p14="http://schemas.microsoft.com/office/powerpoint/2010/main" val="3546299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3</a:t>
            </a:fld>
            <a:endParaRPr lang="zh-CN" altLang="en-US"/>
          </a:p>
        </p:txBody>
      </p:sp>
    </p:spTree>
    <p:extLst>
      <p:ext uri="{BB962C8B-B14F-4D97-AF65-F5344CB8AC3E}">
        <p14:creationId xmlns:p14="http://schemas.microsoft.com/office/powerpoint/2010/main" val="3512598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4</a:t>
            </a:fld>
            <a:endParaRPr lang="zh-CN" altLang="en-US"/>
          </a:p>
        </p:txBody>
      </p:sp>
    </p:spTree>
    <p:extLst>
      <p:ext uri="{BB962C8B-B14F-4D97-AF65-F5344CB8AC3E}">
        <p14:creationId xmlns:p14="http://schemas.microsoft.com/office/powerpoint/2010/main" val="3797459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5</a:t>
            </a:fld>
            <a:endParaRPr lang="zh-CN" altLang="en-US"/>
          </a:p>
        </p:txBody>
      </p:sp>
    </p:spTree>
    <p:extLst>
      <p:ext uri="{BB962C8B-B14F-4D97-AF65-F5344CB8AC3E}">
        <p14:creationId xmlns:p14="http://schemas.microsoft.com/office/powerpoint/2010/main" val="3747976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6</a:t>
            </a:fld>
            <a:endParaRPr lang="zh-CN" altLang="en-US"/>
          </a:p>
        </p:txBody>
      </p:sp>
    </p:spTree>
    <p:extLst>
      <p:ext uri="{BB962C8B-B14F-4D97-AF65-F5344CB8AC3E}">
        <p14:creationId xmlns:p14="http://schemas.microsoft.com/office/powerpoint/2010/main" val="1906665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7</a:t>
            </a:fld>
            <a:endParaRPr lang="zh-CN" altLang="en-US"/>
          </a:p>
        </p:txBody>
      </p:sp>
    </p:spTree>
    <p:extLst>
      <p:ext uri="{BB962C8B-B14F-4D97-AF65-F5344CB8AC3E}">
        <p14:creationId xmlns:p14="http://schemas.microsoft.com/office/powerpoint/2010/main" val="1064926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8</a:t>
            </a:fld>
            <a:endParaRPr lang="zh-CN" altLang="en-US"/>
          </a:p>
        </p:txBody>
      </p:sp>
    </p:spTree>
    <p:extLst>
      <p:ext uri="{BB962C8B-B14F-4D97-AF65-F5344CB8AC3E}">
        <p14:creationId xmlns:p14="http://schemas.microsoft.com/office/powerpoint/2010/main" val="4086406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9</a:t>
            </a:fld>
            <a:endParaRPr lang="zh-CN" altLang="en-US"/>
          </a:p>
        </p:txBody>
      </p:sp>
    </p:spTree>
    <p:extLst>
      <p:ext uri="{BB962C8B-B14F-4D97-AF65-F5344CB8AC3E}">
        <p14:creationId xmlns:p14="http://schemas.microsoft.com/office/powerpoint/2010/main" val="1990823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10</a:t>
            </a:fld>
            <a:endParaRPr lang="zh-CN" altLang="en-US"/>
          </a:p>
        </p:txBody>
      </p:sp>
    </p:spTree>
    <p:extLst>
      <p:ext uri="{BB962C8B-B14F-4D97-AF65-F5344CB8AC3E}">
        <p14:creationId xmlns:p14="http://schemas.microsoft.com/office/powerpoint/2010/main" val="8737790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11</a:t>
            </a:fld>
            <a:endParaRPr lang="zh-CN" altLang="en-US"/>
          </a:p>
        </p:txBody>
      </p:sp>
    </p:spTree>
    <p:extLst>
      <p:ext uri="{BB962C8B-B14F-4D97-AF65-F5344CB8AC3E}">
        <p14:creationId xmlns:p14="http://schemas.microsoft.com/office/powerpoint/2010/main" val="1039922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12</a:t>
            </a:fld>
            <a:endParaRPr lang="zh-CN" altLang="en-US"/>
          </a:p>
        </p:txBody>
      </p:sp>
    </p:spTree>
    <p:extLst>
      <p:ext uri="{BB962C8B-B14F-4D97-AF65-F5344CB8AC3E}">
        <p14:creationId xmlns:p14="http://schemas.microsoft.com/office/powerpoint/2010/main" val="2600369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13</a:t>
            </a:fld>
            <a:endParaRPr lang="zh-CN" altLang="en-US"/>
          </a:p>
        </p:txBody>
      </p:sp>
    </p:spTree>
    <p:extLst>
      <p:ext uri="{BB962C8B-B14F-4D97-AF65-F5344CB8AC3E}">
        <p14:creationId xmlns:p14="http://schemas.microsoft.com/office/powerpoint/2010/main" val="2620044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14</a:t>
            </a:fld>
            <a:endParaRPr lang="zh-CN" altLang="en-US"/>
          </a:p>
        </p:txBody>
      </p:sp>
    </p:spTree>
    <p:extLst>
      <p:ext uri="{BB962C8B-B14F-4D97-AF65-F5344CB8AC3E}">
        <p14:creationId xmlns:p14="http://schemas.microsoft.com/office/powerpoint/2010/main" val="594916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15</a:t>
            </a:fld>
            <a:endParaRPr lang="zh-CN" altLang="en-US"/>
          </a:p>
        </p:txBody>
      </p:sp>
    </p:spTree>
    <p:extLst>
      <p:ext uri="{BB962C8B-B14F-4D97-AF65-F5344CB8AC3E}">
        <p14:creationId xmlns:p14="http://schemas.microsoft.com/office/powerpoint/2010/main" val="3797305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t>2022/5/8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71421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fld id="{32BF82D2-7A68-459D-A996-9BDDA2518FA4}" type="datetimeFigureOut">
              <a:rPr lang="zh-CN" altLang="en-US" smtClean="0"/>
              <a:t>2022/5/8</a:t>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fld id="{3E01EE5D-26FB-46D5-A381-ECFB35BF1D34}" type="slidenum">
              <a:rPr lang="zh-CN" altLang="en-US" smtClean="0"/>
              <a:t>‹#›</a:t>
            </a:fld>
            <a:endParaRPr lang="zh-CN" altLang="en-US"/>
          </a:p>
        </p:txBody>
      </p:sp>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1.png"/><Relationship Id="rId5" Type="http://schemas.openxmlformats.org/officeDocument/2006/relationships/tags" Target="../tags/tag6.xml"/><Relationship Id="rId10" Type="http://schemas.openxmlformats.org/officeDocument/2006/relationships/notesSlide" Target="../notesSlides/notesSlide3.xml"/><Relationship Id="rId4" Type="http://schemas.openxmlformats.org/officeDocument/2006/relationships/tags" Target="../tags/tag5.xml"/><Relationship Id="rId9"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4530684"/>
            <a:ext cx="12858395" cy="27019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59"/>
          <p:cNvSpPr>
            <a:spLocks noChangeArrowheads="1"/>
          </p:cNvSpPr>
          <p:nvPr/>
        </p:nvSpPr>
        <p:spPr bwMode="auto">
          <a:xfrm>
            <a:off x="2289094" y="2819987"/>
            <a:ext cx="8280201" cy="566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50000"/>
              </a:lnSpc>
              <a:buNone/>
            </a:pPr>
            <a:r>
              <a:rPr lang="en-US" altLang="zh-CN" sz="2400" dirty="0">
                <a:solidFill>
                  <a:schemeClr val="accent1"/>
                </a:solidFill>
                <a:latin typeface="Arial" panose="020B0604020202020204" pitchFamily="34" charset="0"/>
                <a:cs typeface="Arial" panose="020B0604020202020204" pitchFamily="34" charset="0"/>
              </a:rPr>
              <a:t>Hardware </a:t>
            </a:r>
            <a:r>
              <a:rPr lang="en-US" altLang="zh-CN" sz="2800" dirty="0">
                <a:solidFill>
                  <a:schemeClr val="accent1"/>
                </a:solidFill>
                <a:latin typeface="Arial" panose="020B0604020202020204" pitchFamily="34" charset="0"/>
                <a:cs typeface="Arial" panose="020B0604020202020204" pitchFamily="34" charset="0"/>
              </a:rPr>
              <a:t>Description</a:t>
            </a:r>
            <a:r>
              <a:rPr lang="en-US" altLang="zh-CN" sz="2400" dirty="0">
                <a:solidFill>
                  <a:schemeClr val="accent1"/>
                </a:solidFill>
                <a:latin typeface="Arial" panose="020B0604020202020204" pitchFamily="34" charset="0"/>
                <a:cs typeface="Arial" panose="020B0604020202020204" pitchFamily="34" charset="0"/>
              </a:rPr>
              <a:t> Language and Applications of FPGA</a:t>
            </a:r>
            <a:endParaRPr lang="zh-CN" altLang="en-US" sz="2400" dirty="0">
              <a:solidFill>
                <a:schemeClr val="accent1"/>
              </a:solidFill>
              <a:latin typeface="Arial" panose="020B0604020202020204" pitchFamily="34" charset="0"/>
              <a:cs typeface="Arial" panose="020B0604020202020204" pitchFamily="34" charset="0"/>
            </a:endParaRPr>
          </a:p>
        </p:txBody>
      </p:sp>
      <p:sp>
        <p:nvSpPr>
          <p:cNvPr id="8" name="矩形 259"/>
          <p:cNvSpPr>
            <a:spLocks noChangeArrowheads="1"/>
          </p:cNvSpPr>
          <p:nvPr/>
        </p:nvSpPr>
        <p:spPr bwMode="auto">
          <a:xfrm>
            <a:off x="2692476" y="1681384"/>
            <a:ext cx="747343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5400" b="1" cap="all" dirty="0">
                <a:solidFill>
                  <a:schemeClr val="accent1"/>
                </a:solidFill>
                <a:latin typeface="Agency FB" panose="020B0503020202020204" pitchFamily="34" charset="0"/>
                <a:cs typeface="Arial" panose="020B0604020202020204" pitchFamily="34" charset="0"/>
              </a:rPr>
              <a:t>硬件描述语言与</a:t>
            </a:r>
            <a:r>
              <a:rPr lang="en-US" altLang="zh-CN" sz="5400" b="1" cap="all" dirty="0">
                <a:solidFill>
                  <a:schemeClr val="accent1"/>
                </a:solidFill>
                <a:latin typeface="Agency FB" panose="020B0503020202020204" pitchFamily="34" charset="0"/>
                <a:cs typeface="Arial" panose="020B0604020202020204" pitchFamily="34" charset="0"/>
              </a:rPr>
              <a:t>FPGA</a:t>
            </a:r>
            <a:r>
              <a:rPr lang="zh-CN" altLang="en-US" sz="5400" b="1" cap="all" dirty="0">
                <a:solidFill>
                  <a:schemeClr val="accent1"/>
                </a:solidFill>
                <a:latin typeface="Agency FB" panose="020B0503020202020204" pitchFamily="34" charset="0"/>
                <a:cs typeface="Arial" panose="020B0604020202020204" pitchFamily="34" charset="0"/>
              </a:rPr>
              <a:t>应用</a:t>
            </a:r>
          </a:p>
        </p:txBody>
      </p:sp>
      <p:sp>
        <p:nvSpPr>
          <p:cNvPr id="9" name="矩形 259"/>
          <p:cNvSpPr>
            <a:spLocks noChangeArrowheads="1"/>
          </p:cNvSpPr>
          <p:nvPr/>
        </p:nvSpPr>
        <p:spPr bwMode="auto">
          <a:xfrm>
            <a:off x="3219269" y="5056485"/>
            <a:ext cx="6419850" cy="947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2800" dirty="0">
                <a:solidFill>
                  <a:schemeClr val="bg1"/>
                </a:solidFill>
                <a:cs typeface="Arial" panose="020B0604020202020204" pitchFamily="34" charset="0"/>
              </a:rPr>
              <a:t>安徽大学</a:t>
            </a:r>
            <a:endParaRPr lang="en-US" altLang="zh-CN" sz="2800" dirty="0">
              <a:solidFill>
                <a:schemeClr val="bg1"/>
              </a:solidFill>
              <a:cs typeface="Arial" panose="020B0604020202020204" pitchFamily="34" charset="0"/>
            </a:endParaRPr>
          </a:p>
          <a:p>
            <a:pPr algn="ctr">
              <a:buNone/>
            </a:pPr>
            <a:r>
              <a:rPr lang="zh-CN" altLang="en-US" sz="2800">
                <a:solidFill>
                  <a:schemeClr val="bg1"/>
                </a:solidFill>
                <a:cs typeface="Arial" panose="020B0604020202020204" pitchFamily="34" charset="0"/>
              </a:rPr>
              <a:t>集成电路学院</a:t>
            </a:r>
            <a:endParaRPr lang="en-US" altLang="zh-CN" sz="2800" dirty="0">
              <a:solidFill>
                <a:schemeClr val="bg1"/>
              </a:solidFill>
              <a:cs typeface="Arial" panose="020B0604020202020204" pitchFamily="34" charset="0"/>
            </a:endParaRPr>
          </a:p>
        </p:txBody>
      </p:sp>
      <p:sp>
        <p:nvSpPr>
          <p:cNvPr id="2" name="矩形 1"/>
          <p:cNvSpPr/>
          <p:nvPr/>
        </p:nvSpPr>
        <p:spPr>
          <a:xfrm>
            <a:off x="2243073" y="952687"/>
            <a:ext cx="8372245" cy="285489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endParaRPr>
          </a:p>
        </p:txBody>
      </p:sp>
      <p:pic>
        <p:nvPicPr>
          <p:cNvPr id="4" name="图片 3">
            <a:extLst>
              <a:ext uri="{FF2B5EF4-FFF2-40B4-BE49-F238E27FC236}">
                <a16:creationId xmlns:a16="http://schemas.microsoft.com/office/drawing/2014/main" id="{D1ED3A12-1F4A-44BD-9D24-5F73707FE7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Tree>
    <p:extLst>
      <p:ext uri="{BB962C8B-B14F-4D97-AF65-F5344CB8AC3E}">
        <p14:creationId xmlns:p14="http://schemas.microsoft.com/office/powerpoint/2010/main" val="2643136536"/>
      </p:ext>
    </p:extLst>
  </p:cSld>
  <p:clrMapOvr>
    <a:masterClrMapping/>
  </p:clrMapOvr>
  <mc:AlternateContent xmlns:mc="http://schemas.openxmlformats.org/markup-compatibility/2006" xmlns:p14="http://schemas.microsoft.com/office/powerpoint/2010/main">
    <mc:Choice Requires="p14">
      <p:transition spd="slow" p14:dur="1200" advTm="0">
        <p:dissolve/>
      </p:transition>
    </mc:Choice>
    <mc:Fallback xmlns="">
      <p:transition spd="slow" advTm="0">
        <p:dissolv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3"/>
          <p:cNvSpPr>
            <a:spLocks noChangeArrowheads="1"/>
          </p:cNvSpPr>
          <p:nvPr/>
        </p:nvSpPr>
        <p:spPr bwMode="auto">
          <a:xfrm>
            <a:off x="2180903" y="2875359"/>
            <a:ext cx="648072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square" anchor="ctr">
            <a:spAutoFit/>
          </a:bodyPr>
          <a:lstStyle/>
          <a:p>
            <a:r>
              <a:rPr lang="en-US" altLang="zh-CN" sz="5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Verilog HDL</a:t>
            </a:r>
            <a:r>
              <a:rPr lang="zh-CN" altLang="en-US" sz="5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模型的</a:t>
            </a:r>
            <a:endParaRPr lang="en-US" altLang="zh-CN" sz="5400"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a:p>
            <a:r>
              <a:rPr lang="zh-CN" altLang="en-US" sz="5400" b="1" dirty="0">
                <a:solidFill>
                  <a:schemeClr val="accent1"/>
                </a:solidFill>
                <a:latin typeface="Arial" panose="020B0604020202020204" pitchFamily="34" charset="0"/>
                <a:ea typeface="微软雅黑" panose="020B0503020204020204" pitchFamily="34" charset="-122"/>
                <a:sym typeface="Arial" panose="020B0604020202020204" pitchFamily="34" charset="0"/>
              </a:rPr>
              <a:t>不同抽象级别</a:t>
            </a:r>
          </a:p>
        </p:txBody>
      </p:sp>
      <p:sp>
        <p:nvSpPr>
          <p:cNvPr id="5125" name="直接连接符 11"/>
          <p:cNvSpPr>
            <a:spLocks noChangeShapeType="1"/>
          </p:cNvSpPr>
          <p:nvPr/>
        </p:nvSpPr>
        <p:spPr bwMode="auto">
          <a:xfrm>
            <a:off x="2746448" y="2531523"/>
            <a:ext cx="5504850" cy="1675"/>
          </a:xfrm>
          <a:prstGeom prst="line">
            <a:avLst/>
          </a:prstGeom>
          <a:noFill/>
          <a:ln w="6350" cap="flat" cmpd="sng">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sz="2002">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Text Box 3"/>
          <p:cNvSpPr>
            <a:spLocks noChangeArrowheads="1"/>
          </p:cNvSpPr>
          <p:nvPr/>
        </p:nvSpPr>
        <p:spPr bwMode="auto">
          <a:xfrm>
            <a:off x="8475204" y="1921864"/>
            <a:ext cx="2922595" cy="31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wrap="none" anchor="ctr">
            <a:spAutoFit/>
          </a:bodyPr>
          <a:lstStyle/>
          <a:p>
            <a:r>
              <a:rPr lang="en-US" sz="19900" dirty="0">
                <a:solidFill>
                  <a:schemeClr val="accent2"/>
                </a:solidFill>
                <a:latin typeface="Impact" panose="020B0806030902050204" pitchFamily="34" charset="0"/>
                <a:ea typeface="微软雅黑" panose="020B0503020204020204" pitchFamily="34" charset="-122"/>
                <a:sym typeface="Arial" panose="020B0604020202020204" pitchFamily="34" charset="0"/>
              </a:rPr>
              <a:t>09</a:t>
            </a:r>
            <a:endParaRPr lang="zh-CN" altLang="en-US" sz="19900" b="1" dirty="0">
              <a:solidFill>
                <a:schemeClr val="accent2"/>
              </a:solidFill>
              <a:latin typeface="Impact" panose="020B0806030902050204" pitchFamily="34" charset="0"/>
              <a:ea typeface="微软雅黑" panose="020B0503020204020204" pitchFamily="34" charset="-122"/>
              <a:sym typeface="Arial" panose="020B0604020202020204" pitchFamily="34" charset="0"/>
            </a:endParaRPr>
          </a:p>
        </p:txBody>
      </p:sp>
      <p:sp>
        <p:nvSpPr>
          <p:cNvPr id="8" name="Freeform 6"/>
          <p:cNvSpPr>
            <a:spLocks/>
          </p:cNvSpPr>
          <p:nvPr/>
        </p:nvSpPr>
        <p:spPr bwMode="auto">
          <a:xfrm>
            <a:off x="0" y="4091804"/>
            <a:ext cx="5265494" cy="3140846"/>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chemeClr val="accent1"/>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Freeform 7"/>
          <p:cNvSpPr>
            <a:spLocks/>
          </p:cNvSpPr>
          <p:nvPr/>
        </p:nvSpPr>
        <p:spPr bwMode="auto">
          <a:xfrm>
            <a:off x="2984828" y="4640949"/>
            <a:ext cx="9873922" cy="2591700"/>
          </a:xfrm>
          <a:custGeom>
            <a:avLst/>
            <a:gdLst>
              <a:gd name="T0" fmla="*/ 4403 w 4403"/>
              <a:gd name="T1" fmla="*/ 0 h 1161"/>
              <a:gd name="T2" fmla="*/ 4403 w 4403"/>
              <a:gd name="T3" fmla="*/ 1161 h 1161"/>
              <a:gd name="T4" fmla="*/ 0 w 4403"/>
              <a:gd name="T5" fmla="*/ 1161 h 1161"/>
              <a:gd name="T6" fmla="*/ 4403 w 4403"/>
              <a:gd name="T7" fmla="*/ 0 h 1161"/>
            </a:gdLst>
            <a:ahLst/>
            <a:cxnLst>
              <a:cxn ang="0">
                <a:pos x="T0" y="T1"/>
              </a:cxn>
              <a:cxn ang="0">
                <a:pos x="T2" y="T3"/>
              </a:cxn>
              <a:cxn ang="0">
                <a:pos x="T4" y="T5"/>
              </a:cxn>
              <a:cxn ang="0">
                <a:pos x="T6" y="T7"/>
              </a:cxn>
            </a:cxnLst>
            <a:rect l="0" t="0" r="r" b="b"/>
            <a:pathLst>
              <a:path w="4403" h="1161">
                <a:moveTo>
                  <a:pt x="4403" y="0"/>
                </a:moveTo>
                <a:lnTo>
                  <a:pt x="4403" y="1161"/>
                </a:lnTo>
                <a:lnTo>
                  <a:pt x="0" y="1161"/>
                </a:lnTo>
                <a:lnTo>
                  <a:pt x="4403" y="0"/>
                </a:lnTo>
                <a:close/>
              </a:path>
            </a:pathLst>
          </a:custGeom>
          <a:solidFill>
            <a:schemeClr val="accent1">
              <a:lumMod val="5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1" name="图片 10">
            <a:extLst>
              <a:ext uri="{FF2B5EF4-FFF2-40B4-BE49-F238E27FC236}">
                <a16:creationId xmlns:a16="http://schemas.microsoft.com/office/drawing/2014/main" id="{FFE7EBBC-0CAF-4408-925A-7AE478103B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Tree>
    <p:extLst>
      <p:ext uri="{BB962C8B-B14F-4D97-AF65-F5344CB8AC3E}">
        <p14:creationId xmlns:p14="http://schemas.microsoft.com/office/powerpoint/2010/main" val="1580520827"/>
      </p:ext>
    </p:extLst>
  </p:cSld>
  <p:clrMapOvr>
    <a:masterClrMapping/>
  </p:clrMapOvr>
  <p:transition spd="slow" advTm="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H_Others_1"/>
          <p:cNvSpPr txBox="1"/>
          <p:nvPr>
            <p:custDataLst>
              <p:tags r:id="rId1"/>
            </p:custDataLst>
          </p:nvPr>
        </p:nvSpPr>
        <p:spPr>
          <a:xfrm>
            <a:off x="3493514" y="1489047"/>
            <a:ext cx="1769715" cy="3794592"/>
          </a:xfrm>
          <a:prstGeom prst="rect">
            <a:avLst/>
          </a:prstGeom>
          <a:noFill/>
        </p:spPr>
        <p:txBody>
          <a:bodyPr vert="eaVert" wrap="square" lIns="0" tIns="0" rIns="0" bIns="0" rtlCol="0" anchor="ctr" anchorCtr="0">
            <a:spAutoFit/>
          </a:bodyPr>
          <a:lstStyle/>
          <a:p>
            <a:pPr algn="ctr"/>
            <a:r>
              <a:rPr lang="zh-CN" altLang="en-US" sz="115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2"/>
            </p:custDataLst>
          </p:nvPr>
        </p:nvSpPr>
        <p:spPr>
          <a:xfrm rot="5400000">
            <a:off x="1645732" y="3047789"/>
            <a:ext cx="3299296" cy="677108"/>
          </a:xfrm>
          <a:prstGeom prst="rect">
            <a:avLst/>
          </a:prstGeom>
          <a:noFill/>
        </p:spPr>
        <p:txBody>
          <a:bodyPr wrap="square" lIns="0" tIns="0" rIns="0" bIns="0">
            <a:spAutoFit/>
          </a:bodyPr>
          <a:lstStyle/>
          <a:p>
            <a:pPr algn="ctr">
              <a:defRPr/>
            </a:pPr>
            <a:r>
              <a:rPr lang="en-US" altLang="zh-CN" sz="44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4400" b="1" dirty="0">
              <a:solidFill>
                <a:schemeClr val="tx1">
                  <a:lumMod val="50000"/>
                  <a:lumOff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Freeform 6"/>
          <p:cNvSpPr>
            <a:spLocks/>
          </p:cNvSpPr>
          <p:nvPr/>
        </p:nvSpPr>
        <p:spPr bwMode="auto">
          <a:xfrm>
            <a:off x="0" y="4091804"/>
            <a:ext cx="5265494" cy="3140846"/>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chemeClr val="accent1"/>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Freeform 7"/>
          <p:cNvSpPr>
            <a:spLocks/>
          </p:cNvSpPr>
          <p:nvPr/>
        </p:nvSpPr>
        <p:spPr bwMode="auto">
          <a:xfrm>
            <a:off x="2984828" y="4640949"/>
            <a:ext cx="9873922" cy="2591700"/>
          </a:xfrm>
          <a:custGeom>
            <a:avLst/>
            <a:gdLst>
              <a:gd name="T0" fmla="*/ 4403 w 4403"/>
              <a:gd name="T1" fmla="*/ 0 h 1161"/>
              <a:gd name="T2" fmla="*/ 4403 w 4403"/>
              <a:gd name="T3" fmla="*/ 1161 h 1161"/>
              <a:gd name="T4" fmla="*/ 0 w 4403"/>
              <a:gd name="T5" fmla="*/ 1161 h 1161"/>
              <a:gd name="T6" fmla="*/ 4403 w 4403"/>
              <a:gd name="T7" fmla="*/ 0 h 1161"/>
            </a:gdLst>
            <a:ahLst/>
            <a:cxnLst>
              <a:cxn ang="0">
                <a:pos x="T0" y="T1"/>
              </a:cxn>
              <a:cxn ang="0">
                <a:pos x="T2" y="T3"/>
              </a:cxn>
              <a:cxn ang="0">
                <a:pos x="T4" y="T5"/>
              </a:cxn>
              <a:cxn ang="0">
                <a:pos x="T6" y="T7"/>
              </a:cxn>
            </a:cxnLst>
            <a:rect l="0" t="0" r="r" b="b"/>
            <a:pathLst>
              <a:path w="4403" h="1161">
                <a:moveTo>
                  <a:pt x="4403" y="0"/>
                </a:moveTo>
                <a:lnTo>
                  <a:pt x="4403" y="1161"/>
                </a:lnTo>
                <a:lnTo>
                  <a:pt x="0" y="1161"/>
                </a:lnTo>
                <a:lnTo>
                  <a:pt x="4403" y="0"/>
                </a:lnTo>
                <a:close/>
              </a:path>
            </a:pathLst>
          </a:custGeom>
          <a:solidFill>
            <a:schemeClr val="accent1">
              <a:lumMod val="50000"/>
            </a:schemeClr>
          </a:solidFill>
          <a:ln w="0">
            <a:noFill/>
            <a:prstDash val="solid"/>
            <a:round/>
            <a:headEnd/>
            <a:tailEnd/>
          </a:ln>
        </p:spPr>
        <p:txBody>
          <a:bodyPr vert="horz" wrap="square" lIns="128580" tIns="64290" rIns="128580" bIns="64290" numCol="1" anchor="t" anchorCtr="0" compatLnSpc="1">
            <a:prstTxWarp prst="textNoShape">
              <a:avLst/>
            </a:prstTxWarp>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5" name="图片 14">
            <a:extLst>
              <a:ext uri="{FF2B5EF4-FFF2-40B4-BE49-F238E27FC236}">
                <a16:creationId xmlns:a16="http://schemas.microsoft.com/office/drawing/2014/main" id="{47311054-18EE-4649-B48A-2195C732D63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3" name="MH_Number_1">
            <a:extLst>
              <a:ext uri="{FF2B5EF4-FFF2-40B4-BE49-F238E27FC236}">
                <a16:creationId xmlns:a16="http://schemas.microsoft.com/office/drawing/2014/main" id="{D7CE3145-111A-4429-87FA-47626EA901C0}"/>
              </a:ext>
            </a:extLst>
          </p:cNvPr>
          <p:cNvSpPr/>
          <p:nvPr>
            <p:custDataLst>
              <p:tags r:id="rId3"/>
            </p:custDataLst>
          </p:nvPr>
        </p:nvSpPr>
        <p:spPr>
          <a:xfrm>
            <a:off x="5983406" y="2855431"/>
            <a:ext cx="379667" cy="379667"/>
          </a:xfrm>
          <a:prstGeom prst="ellipse">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4" name="MH_Entry_1">
            <a:extLst>
              <a:ext uri="{FF2B5EF4-FFF2-40B4-BE49-F238E27FC236}">
                <a16:creationId xmlns:a16="http://schemas.microsoft.com/office/drawing/2014/main" id="{51F3C70C-D35D-48CB-B498-C3BE927E07CB}"/>
              </a:ext>
            </a:extLst>
          </p:cNvPr>
          <p:cNvSpPr/>
          <p:nvPr>
            <p:custDataLst>
              <p:tags r:id="rId4"/>
            </p:custDataLst>
          </p:nvPr>
        </p:nvSpPr>
        <p:spPr>
          <a:xfrm>
            <a:off x="6529189" y="2724386"/>
            <a:ext cx="3788618" cy="50488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nSpc>
                <a:spcPct val="130000"/>
              </a:lnSpc>
            </a:pP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门级结构描述</a:t>
            </a:r>
          </a:p>
        </p:txBody>
      </p:sp>
      <p:sp>
        <p:nvSpPr>
          <p:cNvPr id="26" name="MH_Number_2">
            <a:extLst>
              <a:ext uri="{FF2B5EF4-FFF2-40B4-BE49-F238E27FC236}">
                <a16:creationId xmlns:a16="http://schemas.microsoft.com/office/drawing/2014/main" id="{A63AE1B4-5980-48CF-BC61-8E9204A055E6}"/>
              </a:ext>
            </a:extLst>
          </p:cNvPr>
          <p:cNvSpPr/>
          <p:nvPr>
            <p:custDataLst>
              <p:tags r:id="rId5"/>
            </p:custDataLst>
          </p:nvPr>
        </p:nvSpPr>
        <p:spPr>
          <a:xfrm>
            <a:off x="5978828" y="3449781"/>
            <a:ext cx="379667" cy="379667"/>
          </a:xfrm>
          <a:prstGeom prst="ellipse">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MH_Entry_2">
            <a:extLst>
              <a:ext uri="{FF2B5EF4-FFF2-40B4-BE49-F238E27FC236}">
                <a16:creationId xmlns:a16="http://schemas.microsoft.com/office/drawing/2014/main" id="{2B223DAE-BED5-48FA-8C4E-C21E2C427C6C}"/>
              </a:ext>
            </a:extLst>
          </p:cNvPr>
          <p:cNvSpPr/>
          <p:nvPr>
            <p:custDataLst>
              <p:tags r:id="rId6"/>
            </p:custDataLst>
          </p:nvPr>
        </p:nvSpPr>
        <p:spPr>
          <a:xfrm>
            <a:off x="6514589" y="3327467"/>
            <a:ext cx="5171370" cy="50488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lnSpc>
                <a:spcPct val="130000"/>
              </a:lnSpc>
            </a:pPr>
            <a:r>
              <a:rPr lang="en-US" altLang="zh-CN"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Verilog HDL</a:t>
            </a: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的行为级描述建模</a:t>
            </a:r>
          </a:p>
        </p:txBody>
      </p:sp>
      <p:sp>
        <p:nvSpPr>
          <p:cNvPr id="21" name="MH_Number_2">
            <a:extLst>
              <a:ext uri="{FF2B5EF4-FFF2-40B4-BE49-F238E27FC236}">
                <a16:creationId xmlns:a16="http://schemas.microsoft.com/office/drawing/2014/main" id="{BFEF00C4-08DC-5108-80AE-D3F679D4969B}"/>
              </a:ext>
            </a:extLst>
          </p:cNvPr>
          <p:cNvSpPr/>
          <p:nvPr>
            <p:custDataLst>
              <p:tags r:id="rId7"/>
            </p:custDataLst>
          </p:nvPr>
        </p:nvSpPr>
        <p:spPr>
          <a:xfrm>
            <a:off x="5978828" y="4043698"/>
            <a:ext cx="379667" cy="379667"/>
          </a:xfrm>
          <a:prstGeom prst="ellipse">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2400" b="1" dirty="0">
              <a:solidFill>
                <a:srgbClr val="FFFFFF"/>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2" name="MH_Entry_2">
            <a:extLst>
              <a:ext uri="{FF2B5EF4-FFF2-40B4-BE49-F238E27FC236}">
                <a16:creationId xmlns:a16="http://schemas.microsoft.com/office/drawing/2014/main" id="{FA3B7091-FF59-2B96-7800-B6B82DC6C70A}"/>
              </a:ext>
            </a:extLst>
          </p:cNvPr>
          <p:cNvSpPr/>
          <p:nvPr>
            <p:custDataLst>
              <p:tags r:id="rId8"/>
            </p:custDataLst>
          </p:nvPr>
        </p:nvSpPr>
        <p:spPr>
          <a:xfrm>
            <a:off x="6514589" y="3930548"/>
            <a:ext cx="5171370" cy="504882"/>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solidFill>
            <a:schemeClr val="bg1">
              <a:lumMod val="50000"/>
            </a:schemeClr>
          </a:solid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lnSpc>
                <a:spcPct val="130000"/>
              </a:lnSpc>
            </a:pPr>
            <a:r>
              <a:rPr lang="zh-CN" altLang="en-US" sz="2800" b="1" dirty="0">
                <a:solidFill>
                  <a:srgbClr val="003366"/>
                </a:solidFill>
                <a:latin typeface="Arial" panose="020B0604020202020204" pitchFamily="34" charset="0"/>
                <a:ea typeface="微软雅黑" panose="020B0503020204020204" pitchFamily="34" charset="-122"/>
                <a:sym typeface="Arial" panose="020B0604020202020204" pitchFamily="34" charset="0"/>
              </a:rPr>
              <a:t>用户定义的原语</a:t>
            </a:r>
          </a:p>
        </p:txBody>
      </p:sp>
    </p:spTree>
    <p:extLst>
      <p:ext uri="{BB962C8B-B14F-4D97-AF65-F5344CB8AC3E}">
        <p14:creationId xmlns:p14="http://schemas.microsoft.com/office/powerpoint/2010/main" val="615584034"/>
      </p:ext>
    </p:extLst>
  </p:cSld>
  <p:clrMapOvr>
    <a:masterClrMapping/>
  </p:clrMapOvr>
  <p:transition spd="slow" advTm="40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门级结构描述</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20" name="文本框 19">
            <a:extLst>
              <a:ext uri="{FF2B5EF4-FFF2-40B4-BE49-F238E27FC236}">
                <a16:creationId xmlns:a16="http://schemas.microsoft.com/office/drawing/2014/main" id="{084C9BB0-37AF-4E33-998C-5EBFFFD0F783}"/>
              </a:ext>
            </a:extLst>
          </p:cNvPr>
          <p:cNvSpPr txBox="1"/>
          <p:nvPr/>
        </p:nvSpPr>
        <p:spPr>
          <a:xfrm>
            <a:off x="215101" y="1456085"/>
            <a:ext cx="12333513" cy="5013039"/>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Verilog</a:t>
            </a:r>
            <a:r>
              <a:rPr lang="zh-CN" altLang="en-US" sz="2400" b="1" dirty="0">
                <a:solidFill>
                  <a:srgbClr val="003366"/>
                </a:solidFill>
                <a:latin typeface="微软雅黑" panose="020B0503020204020204" pitchFamily="34" charset="-122"/>
                <a:ea typeface="微软雅黑" panose="020B0503020204020204" pitchFamily="34" charset="-122"/>
                <a:cs typeface="+mn-ea"/>
              </a:rPr>
              <a:t>模型可以是实际电路中不同级别的抽象。所谓不同的抽象级别，实际上是指</a:t>
            </a:r>
            <a:r>
              <a:rPr lang="zh-CN" altLang="en-US" sz="2400" b="1" dirty="0">
                <a:solidFill>
                  <a:srgbClr val="FF0000"/>
                </a:solidFill>
                <a:latin typeface="微软雅黑" panose="020B0503020204020204" pitchFamily="34" charset="-122"/>
                <a:ea typeface="微软雅黑" panose="020B0503020204020204" pitchFamily="34" charset="-122"/>
                <a:cs typeface="+mn-ea"/>
              </a:rPr>
              <a:t>同一个物理电路</a:t>
            </a:r>
            <a:r>
              <a:rPr lang="zh-CN" altLang="en-US" sz="2400" b="1" dirty="0">
                <a:solidFill>
                  <a:srgbClr val="003366"/>
                </a:solidFill>
                <a:latin typeface="微软雅黑" panose="020B0503020204020204" pitchFamily="34" charset="-122"/>
                <a:ea typeface="微软雅黑" panose="020B0503020204020204" pitchFamily="34" charset="-122"/>
                <a:cs typeface="+mn-ea"/>
              </a:rPr>
              <a:t>，可以在</a:t>
            </a:r>
            <a:r>
              <a:rPr lang="zh-CN" altLang="en-US" sz="2400" b="1" dirty="0">
                <a:solidFill>
                  <a:srgbClr val="FF0000"/>
                </a:solidFill>
                <a:latin typeface="微软雅黑" panose="020B0503020204020204" pitchFamily="34" charset="-122"/>
                <a:ea typeface="微软雅黑" panose="020B0503020204020204" pitchFamily="34" charset="-122"/>
                <a:cs typeface="+mn-ea"/>
              </a:rPr>
              <a:t>不同的层次上</a:t>
            </a:r>
            <a:r>
              <a:rPr lang="zh-CN" altLang="en-US" sz="2400" b="1" dirty="0">
                <a:solidFill>
                  <a:srgbClr val="003366"/>
                </a:solidFill>
                <a:latin typeface="微软雅黑" panose="020B0503020204020204" pitchFamily="34" charset="-122"/>
                <a:ea typeface="微软雅黑" panose="020B0503020204020204" pitchFamily="34" charset="-122"/>
                <a:cs typeface="+mn-ea"/>
              </a:rPr>
              <a:t>用 </a:t>
            </a:r>
            <a:r>
              <a:rPr lang="en-US" altLang="zh-CN" sz="2400" b="1" dirty="0">
                <a:solidFill>
                  <a:srgbClr val="003366"/>
                </a:solidFill>
                <a:latin typeface="微软雅黑" panose="020B0503020204020204" pitchFamily="34" charset="-122"/>
                <a:ea typeface="微软雅黑" panose="020B0503020204020204" pitchFamily="34" charset="-122"/>
                <a:cs typeface="+mn-ea"/>
              </a:rPr>
              <a:t>Verilog </a:t>
            </a:r>
            <a:r>
              <a:rPr lang="zh-CN" altLang="en-US" sz="2400" b="1" dirty="0">
                <a:solidFill>
                  <a:srgbClr val="003366"/>
                </a:solidFill>
                <a:latin typeface="微软雅黑" panose="020B0503020204020204" pitchFamily="34" charset="-122"/>
                <a:ea typeface="微软雅黑" panose="020B0503020204020204" pitchFamily="34" charset="-122"/>
                <a:cs typeface="+mn-ea"/>
              </a:rPr>
              <a:t>语言来描述它。如果只</a:t>
            </a:r>
            <a:r>
              <a:rPr lang="zh-CN" altLang="en-US" sz="2400" b="1" dirty="0">
                <a:solidFill>
                  <a:srgbClr val="FF0000"/>
                </a:solidFill>
                <a:latin typeface="微软雅黑" panose="020B0503020204020204" pitchFamily="34" charset="-122"/>
                <a:ea typeface="微软雅黑" panose="020B0503020204020204" pitchFamily="34" charset="-122"/>
                <a:cs typeface="+mn-ea"/>
              </a:rPr>
              <a:t>从行为和功能的角度来描述某一电路模块，就称为行为模块</a:t>
            </a:r>
            <a:r>
              <a:rPr lang="zh-CN" altLang="en-US" sz="2400" b="1" dirty="0">
                <a:solidFill>
                  <a:srgbClr val="003366"/>
                </a:solidFill>
                <a:latin typeface="微软雅黑" panose="020B0503020204020204" pitchFamily="34" charset="-122"/>
                <a:ea typeface="微软雅黑" panose="020B0503020204020204" pitchFamily="34" charset="-122"/>
                <a:cs typeface="+mn-ea"/>
              </a:rPr>
              <a:t>；如果从</a:t>
            </a:r>
            <a:r>
              <a:rPr lang="zh-CN" altLang="en-US" sz="2400" b="1" dirty="0">
                <a:solidFill>
                  <a:srgbClr val="FF0000"/>
                </a:solidFill>
                <a:latin typeface="微软雅黑" panose="020B0503020204020204" pitchFamily="34" charset="-122"/>
                <a:ea typeface="微软雅黑" panose="020B0503020204020204" pitchFamily="34" charset="-122"/>
                <a:cs typeface="+mn-ea"/>
              </a:rPr>
              <a:t>电路结构的角度来描述该电路模块，就称为结构模块。</a:t>
            </a:r>
            <a:r>
              <a:rPr lang="zh-CN" altLang="en-US" sz="2400" b="1" dirty="0">
                <a:solidFill>
                  <a:srgbClr val="003366"/>
                </a:solidFill>
                <a:latin typeface="微软雅黑" panose="020B0503020204020204" pitchFamily="34" charset="-122"/>
                <a:ea typeface="微软雅黑" panose="020B0503020204020204" pitchFamily="34" charset="-122"/>
                <a:cs typeface="+mn-ea"/>
              </a:rPr>
              <a:t>这些抽象的级别和它们对应的模型类型共有以下五种：</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系统级</a:t>
            </a:r>
            <a:r>
              <a:rPr lang="en-US" altLang="zh-CN" sz="2400" b="1" dirty="0">
                <a:solidFill>
                  <a:srgbClr val="003366"/>
                </a:solidFill>
                <a:latin typeface="微软雅黑" panose="020B0503020204020204" pitchFamily="34" charset="-122"/>
                <a:ea typeface="微软雅黑" panose="020B0503020204020204" pitchFamily="34" charset="-122"/>
                <a:cs typeface="+mn-ea"/>
              </a:rPr>
              <a:t>(system)</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算法级</a:t>
            </a:r>
            <a:r>
              <a:rPr lang="en-US" altLang="zh-CN" sz="2400" b="1" dirty="0">
                <a:solidFill>
                  <a:srgbClr val="003366"/>
                </a:solidFill>
                <a:latin typeface="微软雅黑" panose="020B0503020204020204" pitchFamily="34" charset="-122"/>
                <a:ea typeface="微软雅黑" panose="020B0503020204020204" pitchFamily="34" charset="-122"/>
                <a:cs typeface="+mn-ea"/>
              </a:rPr>
              <a:t>(algorithmic)</a:t>
            </a:r>
          </a:p>
          <a:p>
            <a:pPr marL="342900" indent="-342900" algn="just">
              <a:lnSpc>
                <a:spcPct val="150000"/>
              </a:lnSpc>
              <a:buFont typeface="Wingdings" panose="05000000000000000000" pitchFamily="2" charset="2"/>
              <a:buChar char="Ø"/>
            </a:pPr>
            <a:r>
              <a:rPr lang="en-US" altLang="zh-CN" sz="2400" b="1" dirty="0">
                <a:solidFill>
                  <a:srgbClr val="003366"/>
                </a:solidFill>
                <a:latin typeface="微软雅黑" panose="020B0503020204020204" pitchFamily="34" charset="-122"/>
                <a:ea typeface="微软雅黑" panose="020B0503020204020204" pitchFamily="34" charset="-122"/>
                <a:cs typeface="+mn-ea"/>
              </a:rPr>
              <a:t>RTL</a:t>
            </a:r>
            <a:r>
              <a:rPr lang="zh-CN" altLang="en-US" sz="2400" b="1" dirty="0">
                <a:solidFill>
                  <a:srgbClr val="003366"/>
                </a:solidFill>
                <a:latin typeface="微软雅黑" panose="020B0503020204020204" pitchFamily="34" charset="-122"/>
                <a:ea typeface="微软雅黑" panose="020B0503020204020204" pitchFamily="34" charset="-122"/>
                <a:cs typeface="+mn-ea"/>
              </a:rPr>
              <a:t>级</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err="1">
                <a:solidFill>
                  <a:srgbClr val="003366"/>
                </a:solidFill>
                <a:latin typeface="微软雅黑" panose="020B0503020204020204" pitchFamily="34" charset="-122"/>
                <a:ea typeface="微软雅黑" panose="020B0503020204020204" pitchFamily="34" charset="-122"/>
                <a:cs typeface="+mn-ea"/>
              </a:rPr>
              <a:t>RegisterTransferLevel</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门级</a:t>
            </a:r>
            <a:r>
              <a:rPr lang="en-US" altLang="zh-CN" sz="2400" b="1" dirty="0">
                <a:solidFill>
                  <a:srgbClr val="003366"/>
                </a:solidFill>
                <a:latin typeface="微软雅黑" panose="020B0503020204020204" pitchFamily="34" charset="-122"/>
                <a:ea typeface="微软雅黑" panose="020B0503020204020204" pitchFamily="34" charset="-122"/>
                <a:cs typeface="+mn-ea"/>
              </a:rPr>
              <a:t>(gate-level):</a:t>
            </a:r>
          </a:p>
          <a:p>
            <a:pPr marL="342900" indent="-342900" algn="just">
              <a:lnSpc>
                <a:spcPct val="150000"/>
              </a:lnSpc>
              <a:buFont typeface="Wingdings" panose="05000000000000000000" pitchFamily="2" charset="2"/>
              <a:buChar char="Ø"/>
            </a:pPr>
            <a:r>
              <a:rPr lang="zh-CN" altLang="en-US" sz="2400" b="1" dirty="0">
                <a:solidFill>
                  <a:srgbClr val="003366"/>
                </a:solidFill>
                <a:latin typeface="微软雅黑" panose="020B0503020204020204" pitchFamily="34" charset="-122"/>
                <a:ea typeface="微软雅黑" panose="020B0503020204020204" pitchFamily="34" charset="-122"/>
                <a:cs typeface="+mn-ea"/>
              </a:rPr>
              <a:t>开关级</a:t>
            </a:r>
            <a:r>
              <a:rPr lang="en-US" altLang="zh-CN" sz="2400" b="1" dirty="0">
                <a:solidFill>
                  <a:srgbClr val="003366"/>
                </a:solidFill>
                <a:latin typeface="微软雅黑" panose="020B0503020204020204" pitchFamily="34" charset="-122"/>
                <a:ea typeface="微软雅黑" panose="020B0503020204020204" pitchFamily="34" charset="-122"/>
                <a:cs typeface="+mn-ea"/>
              </a:rPr>
              <a:t>(switch-level) </a:t>
            </a:r>
            <a:endParaRPr lang="zh-CN" altLang="en-US" sz="2400" b="1" dirty="0">
              <a:solidFill>
                <a:srgbClr val="003366"/>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236375424"/>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门级结构描述</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20" name="文本框 19">
            <a:extLst>
              <a:ext uri="{FF2B5EF4-FFF2-40B4-BE49-F238E27FC236}">
                <a16:creationId xmlns:a16="http://schemas.microsoft.com/office/drawing/2014/main" id="{084C9BB0-37AF-4E33-998C-5EBFFFD0F783}"/>
              </a:ext>
            </a:extLst>
          </p:cNvPr>
          <p:cNvSpPr txBox="1"/>
          <p:nvPr/>
        </p:nvSpPr>
        <p:spPr>
          <a:xfrm>
            <a:off x="215101" y="1456085"/>
            <a:ext cx="12333513" cy="6121035"/>
          </a:xfrm>
          <a:prstGeom prst="rect">
            <a:avLst/>
          </a:prstGeom>
          <a:noFill/>
        </p:spPr>
        <p:txBody>
          <a:bodyPr wrap="square">
            <a:spAutoFit/>
          </a:bodyPr>
          <a:lstStyle/>
          <a:p>
            <a:pPr algn="just">
              <a:lnSpc>
                <a:spcPct val="150000"/>
              </a:lnSpc>
            </a:pPr>
            <a:r>
              <a:rPr lang="zh-CN" altLang="en-US" sz="2400" b="1" dirty="0">
                <a:solidFill>
                  <a:srgbClr val="003366"/>
                </a:solidFill>
                <a:latin typeface="微软雅黑" panose="020B0503020204020204" pitchFamily="34" charset="-122"/>
                <a:ea typeface="微软雅黑" panose="020B0503020204020204" pitchFamily="34" charset="-122"/>
                <a:cs typeface="+mn-ea"/>
              </a:rPr>
              <a:t>门级结构描述</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zh-CN" altLang="en-US" sz="2400" b="1" dirty="0">
                <a:solidFill>
                  <a:srgbClr val="003366"/>
                </a:solidFill>
                <a:latin typeface="微软雅黑" panose="020B0503020204020204" pitchFamily="34" charset="-122"/>
                <a:ea typeface="微软雅黑" panose="020B0503020204020204" pitchFamily="34" charset="-122"/>
                <a:cs typeface="+mn-ea"/>
              </a:rPr>
              <a:t>       一个逻辑网络是由许多逻辑门和开关所组成，因此用逻辑门的模型来描述逻辑网络是最直观的。</a:t>
            </a:r>
            <a:r>
              <a:rPr lang="en-US" altLang="zh-CN" sz="2400" b="1" dirty="0">
                <a:solidFill>
                  <a:srgbClr val="003366"/>
                </a:solidFill>
                <a:latin typeface="微软雅黑" panose="020B0503020204020204" pitchFamily="34" charset="-122"/>
                <a:ea typeface="微软雅黑" panose="020B0503020204020204" pitchFamily="34" charset="-122"/>
                <a:cs typeface="+mn-ea"/>
              </a:rPr>
              <a:t>Verilog HDL</a:t>
            </a:r>
            <a:r>
              <a:rPr lang="zh-CN" altLang="en-US" sz="2400" b="1" dirty="0">
                <a:solidFill>
                  <a:srgbClr val="003366"/>
                </a:solidFill>
                <a:latin typeface="微软雅黑" panose="020B0503020204020204" pitchFamily="34" charset="-122"/>
                <a:ea typeface="微软雅黑" panose="020B0503020204020204" pitchFamily="34" charset="-122"/>
                <a:cs typeface="+mn-ea"/>
              </a:rPr>
              <a:t>提供了一些门类型的关键字，可以用于门级结构建模。</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Verilog HDL</a:t>
            </a:r>
            <a:r>
              <a:rPr lang="zh-CN" altLang="en-US" sz="2400" b="1" dirty="0">
                <a:solidFill>
                  <a:srgbClr val="003366"/>
                </a:solidFill>
                <a:latin typeface="微软雅黑" panose="020B0503020204020204" pitchFamily="34" charset="-122"/>
                <a:ea typeface="微软雅黑" panose="020B0503020204020204" pitchFamily="34" charset="-122"/>
                <a:cs typeface="+mn-ea"/>
              </a:rPr>
              <a:t>中有关门类型的关键字共有</a:t>
            </a:r>
            <a:r>
              <a:rPr lang="en-US" altLang="zh-CN" sz="2400" b="1" dirty="0">
                <a:solidFill>
                  <a:srgbClr val="FF0000"/>
                </a:solidFill>
                <a:latin typeface="微软雅黑" panose="020B0503020204020204" pitchFamily="34" charset="-122"/>
                <a:ea typeface="微软雅黑" panose="020B0503020204020204" pitchFamily="34" charset="-122"/>
                <a:cs typeface="+mn-ea"/>
              </a:rPr>
              <a:t>26</a:t>
            </a:r>
            <a:r>
              <a:rPr lang="zh-CN" altLang="en-US" sz="2400" b="1" dirty="0">
                <a:solidFill>
                  <a:srgbClr val="FF0000"/>
                </a:solidFill>
                <a:latin typeface="微软雅黑" panose="020B0503020204020204" pitchFamily="34" charset="-122"/>
                <a:ea typeface="微软雅黑" panose="020B0503020204020204" pitchFamily="34" charset="-122"/>
                <a:cs typeface="+mn-ea"/>
              </a:rPr>
              <a:t>个</a:t>
            </a:r>
            <a:r>
              <a:rPr lang="zh-CN" altLang="en-US" sz="2400" b="1" dirty="0">
                <a:solidFill>
                  <a:srgbClr val="003366"/>
                </a:solidFill>
                <a:latin typeface="微软雅黑" panose="020B0503020204020204" pitchFamily="34" charset="-122"/>
                <a:ea typeface="微软雅黑" panose="020B0503020204020204" pitchFamily="34" charset="-122"/>
                <a:cs typeface="+mn-ea"/>
              </a:rPr>
              <a:t>之多，在本教材中我们只介绍最基本的八个。下面列出了</a:t>
            </a:r>
            <a:r>
              <a:rPr lang="zh-CN" altLang="en-US" sz="2400" b="1" dirty="0">
                <a:solidFill>
                  <a:srgbClr val="FF0000"/>
                </a:solidFill>
                <a:latin typeface="微软雅黑" panose="020B0503020204020204" pitchFamily="34" charset="-122"/>
                <a:ea typeface="微软雅黑" panose="020B0503020204020204" pitchFamily="34" charset="-122"/>
                <a:cs typeface="+mn-ea"/>
              </a:rPr>
              <a:t>八个基本的门类（</a:t>
            </a:r>
            <a:r>
              <a:rPr lang="en-US" altLang="zh-CN" sz="2400" b="1" dirty="0">
                <a:solidFill>
                  <a:srgbClr val="FF0000"/>
                </a:solidFill>
                <a:latin typeface="微软雅黑" panose="020B0503020204020204" pitchFamily="34" charset="-122"/>
                <a:ea typeface="微软雅黑" panose="020B0503020204020204" pitchFamily="34" charset="-122"/>
                <a:cs typeface="+mn-ea"/>
              </a:rPr>
              <a:t>GATETYPE</a:t>
            </a:r>
            <a:r>
              <a:rPr lang="zh-CN" altLang="en-US" sz="2400" b="1" dirty="0">
                <a:solidFill>
                  <a:srgbClr val="FF0000"/>
                </a:solidFill>
                <a:latin typeface="微软雅黑" panose="020B0503020204020204" pitchFamily="34" charset="-122"/>
                <a:ea typeface="微软雅黑" panose="020B0503020204020204" pitchFamily="34" charset="-122"/>
                <a:cs typeface="+mn-ea"/>
              </a:rPr>
              <a:t>）</a:t>
            </a:r>
            <a:r>
              <a:rPr lang="zh-CN" altLang="en-US" sz="2400" b="1" dirty="0">
                <a:solidFill>
                  <a:srgbClr val="003366"/>
                </a:solidFill>
                <a:latin typeface="微软雅黑" panose="020B0503020204020204" pitchFamily="34" charset="-122"/>
                <a:ea typeface="微软雅黑" panose="020B0503020204020204" pitchFamily="34" charset="-122"/>
                <a:cs typeface="+mn-ea"/>
              </a:rPr>
              <a:t>关键字和它们所表示的门的类型：</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and ———</a:t>
            </a:r>
            <a:r>
              <a:rPr lang="zh-CN" altLang="en-US" sz="2400" b="1" dirty="0">
                <a:solidFill>
                  <a:srgbClr val="003366"/>
                </a:solidFill>
                <a:latin typeface="微软雅黑" panose="020B0503020204020204" pitchFamily="34" charset="-122"/>
                <a:ea typeface="微软雅黑" panose="020B0503020204020204" pitchFamily="34" charset="-122"/>
                <a:cs typeface="+mn-ea"/>
              </a:rPr>
              <a:t>与门</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nand</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zh-CN" altLang="en-US" sz="2400" b="1" dirty="0">
                <a:solidFill>
                  <a:srgbClr val="003366"/>
                </a:solidFill>
                <a:latin typeface="微软雅黑" panose="020B0503020204020204" pitchFamily="34" charset="-122"/>
                <a:ea typeface="微软雅黑" panose="020B0503020204020204" pitchFamily="34" charset="-122"/>
                <a:cs typeface="+mn-ea"/>
              </a:rPr>
              <a:t>与非门</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nor ———</a:t>
            </a:r>
            <a:r>
              <a:rPr lang="zh-CN" altLang="en-US" sz="2400" b="1" dirty="0">
                <a:solidFill>
                  <a:srgbClr val="003366"/>
                </a:solidFill>
                <a:latin typeface="微软雅黑" panose="020B0503020204020204" pitchFamily="34" charset="-122"/>
                <a:ea typeface="微软雅黑" panose="020B0503020204020204" pitchFamily="34" charset="-122"/>
                <a:cs typeface="+mn-ea"/>
              </a:rPr>
              <a:t>或非门</a:t>
            </a:r>
            <a:r>
              <a:rPr lang="en-US" altLang="zh-CN" sz="2400" b="1" dirty="0">
                <a:solidFill>
                  <a:srgbClr val="003366"/>
                </a:solidFill>
                <a:latin typeface="微软雅黑" panose="020B0503020204020204" pitchFamily="34" charset="-122"/>
                <a:ea typeface="微软雅黑" panose="020B0503020204020204" pitchFamily="34" charset="-122"/>
                <a:cs typeface="+mn-ea"/>
              </a:rPr>
              <a:t>		or     ———</a:t>
            </a:r>
            <a:r>
              <a:rPr lang="zh-CN" altLang="en-US" sz="2400" b="1" dirty="0">
                <a:solidFill>
                  <a:srgbClr val="003366"/>
                </a:solidFill>
                <a:latin typeface="微软雅黑" panose="020B0503020204020204" pitchFamily="34" charset="-122"/>
                <a:ea typeface="微软雅黑" panose="020B0503020204020204" pitchFamily="34" charset="-122"/>
                <a:cs typeface="+mn-ea"/>
              </a:rPr>
              <a:t>或门</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xor</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zh-CN" altLang="en-US" sz="2400" b="1" dirty="0">
                <a:solidFill>
                  <a:srgbClr val="003366"/>
                </a:solidFill>
                <a:latin typeface="微软雅黑" panose="020B0503020204020204" pitchFamily="34" charset="-122"/>
                <a:ea typeface="微软雅黑" panose="020B0503020204020204" pitchFamily="34" charset="-122"/>
                <a:cs typeface="+mn-ea"/>
              </a:rPr>
              <a:t>异或门</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xnor</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zh-CN" altLang="en-US" sz="2400" b="1" dirty="0">
                <a:solidFill>
                  <a:srgbClr val="003366"/>
                </a:solidFill>
                <a:latin typeface="微软雅黑" panose="020B0503020204020204" pitchFamily="34" charset="-122"/>
                <a:ea typeface="微软雅黑" panose="020B0503020204020204" pitchFamily="34" charset="-122"/>
                <a:cs typeface="+mn-ea"/>
              </a:rPr>
              <a:t>异或非门</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buf</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zh-CN" altLang="en-US" sz="2400" b="1" dirty="0">
                <a:solidFill>
                  <a:srgbClr val="003366"/>
                </a:solidFill>
                <a:latin typeface="微软雅黑" panose="020B0503020204020204" pitchFamily="34" charset="-122"/>
                <a:ea typeface="微软雅黑" panose="020B0503020204020204" pitchFamily="34" charset="-122"/>
                <a:cs typeface="+mn-ea"/>
              </a:rPr>
              <a:t>缓冲器</a:t>
            </a:r>
            <a:r>
              <a:rPr lang="en-US" altLang="zh-CN" sz="2400" b="1" dirty="0">
                <a:solidFill>
                  <a:srgbClr val="003366"/>
                </a:solidFill>
                <a:latin typeface="微软雅黑" panose="020B0503020204020204" pitchFamily="34" charset="-122"/>
                <a:ea typeface="微软雅黑" panose="020B0503020204020204" pitchFamily="34" charset="-122"/>
                <a:cs typeface="+mn-ea"/>
              </a:rPr>
              <a:t>		not   ———</a:t>
            </a:r>
            <a:r>
              <a:rPr lang="zh-CN" altLang="en-US" sz="2400" b="1" dirty="0">
                <a:solidFill>
                  <a:srgbClr val="003366"/>
                </a:solidFill>
                <a:latin typeface="微软雅黑" panose="020B0503020204020204" pitchFamily="34" charset="-122"/>
                <a:ea typeface="微软雅黑" panose="020B0503020204020204" pitchFamily="34" charset="-122"/>
                <a:cs typeface="+mn-ea"/>
              </a:rPr>
              <a:t>非门。</a:t>
            </a:r>
          </a:p>
          <a:p>
            <a:pPr algn="just">
              <a:lnSpc>
                <a:spcPct val="150000"/>
              </a:lnSpc>
            </a:pPr>
            <a:endParaRPr lang="zh-CN" altLang="en-US"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pPr>
            <a:endParaRPr lang="zh-CN" altLang="en-US" sz="2400" b="1" dirty="0">
              <a:solidFill>
                <a:srgbClr val="003366"/>
              </a:solidFill>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817548287"/>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门级结构描述</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20" name="文本框 19">
            <a:extLst>
              <a:ext uri="{FF2B5EF4-FFF2-40B4-BE49-F238E27FC236}">
                <a16:creationId xmlns:a16="http://schemas.microsoft.com/office/drawing/2014/main" id="{084C9BB0-37AF-4E33-998C-5EBFFFD0F783}"/>
              </a:ext>
            </a:extLst>
          </p:cNvPr>
          <p:cNvSpPr txBox="1"/>
          <p:nvPr/>
        </p:nvSpPr>
        <p:spPr>
          <a:xfrm>
            <a:off x="215102" y="1456085"/>
            <a:ext cx="6214274" cy="5013039"/>
          </a:xfrm>
          <a:prstGeom prst="rect">
            <a:avLst/>
          </a:prstGeom>
          <a:noFill/>
        </p:spPr>
        <p:txBody>
          <a:bodyPr wrap="square">
            <a:spAutoFit/>
          </a:bodyPr>
          <a:lstStyle/>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flop(</a:t>
            </a:r>
            <a:r>
              <a:rPr lang="en-US" altLang="zh-CN" sz="2400" b="1" dirty="0" err="1">
                <a:solidFill>
                  <a:srgbClr val="003366"/>
                </a:solidFill>
                <a:latin typeface="微软雅黑" panose="020B0503020204020204" pitchFamily="34" charset="-122"/>
                <a:ea typeface="微软雅黑" panose="020B0503020204020204" pitchFamily="34" charset="-122"/>
                <a:cs typeface="+mn-ea"/>
              </a:rPr>
              <a:t>data,clock,clear,q,qb</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input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data,clock,clear</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q,qb</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err="1">
                <a:solidFill>
                  <a:srgbClr val="003366"/>
                </a:solidFill>
                <a:latin typeface="微软雅黑" panose="020B0503020204020204" pitchFamily="34" charset="-122"/>
                <a:ea typeface="微软雅黑" panose="020B0503020204020204" pitchFamily="34" charset="-122"/>
                <a:cs typeface="+mn-ea"/>
              </a:rPr>
              <a:t>nand</a:t>
            </a:r>
            <a:r>
              <a:rPr lang="en-US" altLang="zh-CN" sz="2400" b="1" dirty="0">
                <a:solidFill>
                  <a:srgbClr val="003366"/>
                </a:solidFill>
                <a:latin typeface="微软雅黑" panose="020B0503020204020204" pitchFamily="34" charset="-122"/>
                <a:ea typeface="微软雅黑" panose="020B0503020204020204" pitchFamily="34" charset="-122"/>
                <a:cs typeface="+mn-ea"/>
              </a:rPr>
              <a:t>  #10   nd1(</a:t>
            </a:r>
            <a:r>
              <a:rPr lang="en-US" altLang="zh-CN" sz="2400" b="1" dirty="0" err="1">
                <a:solidFill>
                  <a:srgbClr val="003366"/>
                </a:solidFill>
                <a:latin typeface="微软雅黑" panose="020B0503020204020204" pitchFamily="34" charset="-122"/>
                <a:ea typeface="微软雅黑" panose="020B0503020204020204" pitchFamily="34" charset="-122"/>
                <a:cs typeface="+mn-ea"/>
              </a:rPr>
              <a:t>a,data,clock,clear</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nd2(</a:t>
            </a:r>
            <a:r>
              <a:rPr lang="en-US" altLang="zh-CN" sz="2400" b="1" dirty="0" err="1">
                <a:solidFill>
                  <a:srgbClr val="003366"/>
                </a:solidFill>
                <a:latin typeface="微软雅黑" panose="020B0503020204020204" pitchFamily="34" charset="-122"/>
                <a:ea typeface="微软雅黑" panose="020B0503020204020204" pitchFamily="34" charset="-122"/>
                <a:cs typeface="+mn-ea"/>
              </a:rPr>
              <a:t>b,ndata,clock</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nd4(</a:t>
            </a:r>
            <a:r>
              <a:rPr lang="en-US" altLang="zh-CN" sz="2400" b="1" dirty="0" err="1">
                <a:solidFill>
                  <a:srgbClr val="003366"/>
                </a:solidFill>
                <a:latin typeface="微软雅黑" panose="020B0503020204020204" pitchFamily="34" charset="-122"/>
                <a:ea typeface="微软雅黑" panose="020B0503020204020204" pitchFamily="34" charset="-122"/>
                <a:cs typeface="+mn-ea"/>
              </a:rPr>
              <a:t>d,c,b,clear</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nd5(</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e,c,nclock</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nd6(</a:t>
            </a:r>
            <a:r>
              <a:rPr lang="en-US" altLang="zh-CN" sz="2400" b="1" dirty="0" err="1">
                <a:solidFill>
                  <a:srgbClr val="003366"/>
                </a:solidFill>
                <a:latin typeface="微软雅黑" panose="020B0503020204020204" pitchFamily="34" charset="-122"/>
                <a:ea typeface="微软雅黑" panose="020B0503020204020204" pitchFamily="34" charset="-122"/>
                <a:cs typeface="+mn-ea"/>
              </a:rPr>
              <a:t>f,d,nclock</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pPr>
            <a:r>
              <a:rPr lang="en-US" altLang="zh-CN" sz="2400" b="1" dirty="0">
                <a:solidFill>
                  <a:srgbClr val="003366"/>
                </a:solidFill>
                <a:latin typeface="微软雅黑" panose="020B0503020204020204" pitchFamily="34" charset="-122"/>
                <a:ea typeface="微软雅黑" panose="020B0503020204020204" pitchFamily="34" charset="-122"/>
                <a:cs typeface="+mn-ea"/>
              </a:rPr>
              <a:t>		nd8(</a:t>
            </a:r>
            <a:r>
              <a:rPr lang="en-US" altLang="zh-CN" sz="2400" b="1" dirty="0" err="1">
                <a:solidFill>
                  <a:srgbClr val="003366"/>
                </a:solidFill>
                <a:latin typeface="微软雅黑" panose="020B0503020204020204" pitchFamily="34" charset="-122"/>
                <a:ea typeface="微软雅黑" panose="020B0503020204020204" pitchFamily="34" charset="-122"/>
                <a:cs typeface="+mn-ea"/>
              </a:rPr>
              <a:t>qb,q,f,clear</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p:txBody>
      </p:sp>
      <p:sp>
        <p:nvSpPr>
          <p:cNvPr id="9" name="文本框 8">
            <a:extLst>
              <a:ext uri="{FF2B5EF4-FFF2-40B4-BE49-F238E27FC236}">
                <a16:creationId xmlns:a16="http://schemas.microsoft.com/office/drawing/2014/main" id="{0143ACA3-37C7-4744-E4DF-60570AE3F44A}"/>
              </a:ext>
            </a:extLst>
          </p:cNvPr>
          <p:cNvSpPr txBox="1"/>
          <p:nvPr/>
        </p:nvSpPr>
        <p:spPr>
          <a:xfrm>
            <a:off x="6432018" y="1456085"/>
            <a:ext cx="6431572" cy="2803332"/>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nand</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#9    nd3(</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c,a,d</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nd7(</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q,e,qb</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not     #10   iv1(</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ndata,data</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iv2(</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nclock,clock</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endmodule</a:t>
            </a:r>
            <a:endParaRPr lang="zh-CN" altLang="en-US" dirty="0"/>
          </a:p>
        </p:txBody>
      </p:sp>
    </p:spTree>
    <p:extLst>
      <p:ext uri="{BB962C8B-B14F-4D97-AF65-F5344CB8AC3E}">
        <p14:creationId xmlns:p14="http://schemas.microsoft.com/office/powerpoint/2010/main" val="2341103671"/>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门级结构描述</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0143ACA3-37C7-4744-E4DF-60570AE3F44A}"/>
              </a:ext>
            </a:extLst>
          </p:cNvPr>
          <p:cNvSpPr txBox="1"/>
          <p:nvPr/>
        </p:nvSpPr>
        <p:spPr>
          <a:xfrm>
            <a:off x="145783" y="880021"/>
            <a:ext cx="11245021" cy="2243050"/>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在这个</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Verilog HDL </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结构描述的模块中，</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flop</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定义了模块名，设计上层模块时可以用这个名</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(flop)</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调用这个模块；</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module, input, output</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endmodule</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等都是关键字；</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nand</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和</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not</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分别表示与非门和反相器；</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#10</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表示</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10</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个单位时间的延时；</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nd1,nd2,......,nd8,iv1</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iv2</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分别为图中的各个基本部件</a:t>
            </a:r>
          </a:p>
        </p:txBody>
      </p:sp>
      <p:pic>
        <p:nvPicPr>
          <p:cNvPr id="3" name="图片 2">
            <a:extLst>
              <a:ext uri="{FF2B5EF4-FFF2-40B4-BE49-F238E27FC236}">
                <a16:creationId xmlns:a16="http://schemas.microsoft.com/office/drawing/2014/main" id="{8D68B47D-3A12-9108-BCD2-2154ADB75714}"/>
              </a:ext>
            </a:extLst>
          </p:cNvPr>
          <p:cNvPicPr>
            <a:picLocks noChangeAspect="1"/>
          </p:cNvPicPr>
          <p:nvPr/>
        </p:nvPicPr>
        <p:blipFill>
          <a:blip r:embed="rId4"/>
          <a:stretch>
            <a:fillRect/>
          </a:stretch>
        </p:blipFill>
        <p:spPr>
          <a:xfrm>
            <a:off x="1826016" y="3367185"/>
            <a:ext cx="9206717" cy="3644980"/>
          </a:xfrm>
          <a:prstGeom prst="rect">
            <a:avLst/>
          </a:prstGeom>
        </p:spPr>
      </p:pic>
    </p:spTree>
    <p:extLst>
      <p:ext uri="{BB962C8B-B14F-4D97-AF65-F5344CB8AC3E}">
        <p14:creationId xmlns:p14="http://schemas.microsoft.com/office/powerpoint/2010/main" val="764888308"/>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门级结构描述</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0143ACA3-37C7-4744-E4DF-60570AE3F44A}"/>
              </a:ext>
            </a:extLst>
          </p:cNvPr>
          <p:cNvSpPr txBox="1"/>
          <p:nvPr/>
        </p:nvSpPr>
        <p:spPr>
          <a:xfrm>
            <a:off x="145783" y="880021"/>
            <a:ext cx="11245021" cy="6121035"/>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如果已经编制了一个模块，如</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flop, </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可以在另外的模块中引用这个模块，引用的方法与门类型的实例引用非常类似。只需在前面写上已编的模块名，紧跟着写上引用的实例名，按顺序写上实例的端口名即可，也可以用已编模块的端口名按对应的原则逐一填入</a:t>
            </a:r>
            <a:endPar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Ø"/>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flop f1op_d( d1,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clrb</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q,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qn</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Ø"/>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flop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flop_d</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(.clock(</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),.q(q),.clear(</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clrb</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qb</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qn</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),.data(d1));</a:t>
            </a:r>
          </a:p>
          <a:p>
            <a:pPr marR="0" lvl="0" algn="just" defTabSz="914400" rtl="0" eaLnBrk="1" fontAlgn="base" latinLnBrk="0" hangingPunct="1">
              <a:lnSpc>
                <a:spcPct val="150000"/>
              </a:lnSpc>
              <a:spcBef>
                <a:spcPct val="0"/>
              </a:spcBef>
              <a:spcAft>
                <a:spcPct val="0"/>
              </a:spcAft>
              <a:buClrTx/>
              <a:buSzTx/>
              <a:tabLst/>
              <a:defRPr/>
            </a:pP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rPr>
              <a:t>       显而易见，通过</a:t>
            </a:r>
            <a:r>
              <a:rPr kumimoji="0" lang="en-US" altLang="zh-CN"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rPr>
              <a:t>Verilog HDL</a:t>
            </a:r>
            <a:r>
              <a:rPr kumimoji="0" lang="zh-CN" altLang="en-US" sz="24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rPr>
              <a:t>模块的调用，可以构成任何复杂结构的电路。这种以结构方式所建立的硬件模型不仅是可以仿真的，也是可综合的，这就是以门级为基础的结构描述建模的基本思路。</a:t>
            </a:r>
          </a:p>
          <a:p>
            <a:pPr marL="342900" marR="0" lvl="0" indent="-342900" algn="just" defTabSz="914400" rtl="0" eaLnBrk="1" fontAlgn="base" latinLnBrk="0" hangingPunct="1">
              <a:lnSpc>
                <a:spcPct val="150000"/>
              </a:lnSpc>
              <a:spcBef>
                <a:spcPct val="0"/>
              </a:spcBef>
              <a:spcAft>
                <a:spcPct val="0"/>
              </a:spcAft>
              <a:buClrTx/>
              <a:buSzTx/>
              <a:buFont typeface="Wingdings" panose="05000000000000000000" pitchFamily="2" charset="2"/>
              <a:buChar char="Ø"/>
              <a:tabLst/>
              <a:defRPr/>
            </a:pPr>
            <a:endPar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a:p>
            <a:pPr marL="0" marR="0" lvl="0" indent="0" algn="just" defTabSz="914400" rtl="0" eaLnBrk="1" fontAlgn="base" latinLnBrk="0" hangingPunct="1">
              <a:lnSpc>
                <a:spcPct val="150000"/>
              </a:lnSpc>
              <a:spcBef>
                <a:spcPct val="0"/>
              </a:spcBef>
              <a:spcAft>
                <a:spcPct val="0"/>
              </a:spcAft>
              <a:buClrTx/>
              <a:buSzTx/>
              <a:buFontTx/>
              <a:buNone/>
              <a:tabLst/>
              <a:defRPr/>
            </a:pPr>
            <a:endPar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p:txBody>
      </p:sp>
    </p:spTree>
    <p:extLst>
      <p:ext uri="{BB962C8B-B14F-4D97-AF65-F5344CB8AC3E}">
        <p14:creationId xmlns:p14="http://schemas.microsoft.com/office/powerpoint/2010/main" val="3376383944"/>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1846659"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门级结构描述</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0143ACA3-37C7-4744-E4DF-60570AE3F44A}"/>
              </a:ext>
            </a:extLst>
          </p:cNvPr>
          <p:cNvSpPr txBox="1"/>
          <p:nvPr/>
        </p:nvSpPr>
        <p:spPr>
          <a:xfrm>
            <a:off x="145784" y="880021"/>
            <a:ext cx="4987448" cy="5567037"/>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`include “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flop.v</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module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hardreg</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d,clk,clrb,q</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input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clk,clrb</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input[3:0]  d;</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output[3:0]  q;</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flop	f1(d[0],</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clk,clrb,q</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[0],),</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f2(d[1],</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clk,clrb,q</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[1],),</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f3(d[2],</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clk,clrb,q</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[2],),</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f4(d[3],</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clk,clrb,q</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[3],);</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endmodule</a:t>
            </a:r>
            <a:endPar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endParaRPr>
          </a:p>
        </p:txBody>
      </p:sp>
      <p:pic>
        <p:nvPicPr>
          <p:cNvPr id="7" name="图片 6">
            <a:extLst>
              <a:ext uri="{FF2B5EF4-FFF2-40B4-BE49-F238E27FC236}">
                <a16:creationId xmlns:a16="http://schemas.microsoft.com/office/drawing/2014/main" id="{4DDC9ABE-6344-9585-FBE1-35A9493E83F4}"/>
              </a:ext>
            </a:extLst>
          </p:cNvPr>
          <p:cNvPicPr>
            <a:picLocks noChangeAspect="1"/>
          </p:cNvPicPr>
          <p:nvPr/>
        </p:nvPicPr>
        <p:blipFill>
          <a:blip r:embed="rId4"/>
          <a:stretch>
            <a:fillRect/>
          </a:stretch>
        </p:blipFill>
        <p:spPr>
          <a:xfrm>
            <a:off x="4435360" y="1672109"/>
            <a:ext cx="8280920" cy="2471337"/>
          </a:xfrm>
          <a:prstGeom prst="rect">
            <a:avLst/>
          </a:prstGeom>
        </p:spPr>
      </p:pic>
      <p:sp>
        <p:nvSpPr>
          <p:cNvPr id="13" name="文本框 12">
            <a:extLst>
              <a:ext uri="{FF2B5EF4-FFF2-40B4-BE49-F238E27FC236}">
                <a16:creationId xmlns:a16="http://schemas.microsoft.com/office/drawing/2014/main" id="{B40B5B4C-E5DA-DD6C-322F-93CA7779C058}"/>
              </a:ext>
            </a:extLst>
          </p:cNvPr>
          <p:cNvSpPr txBox="1"/>
          <p:nvPr/>
        </p:nvSpPr>
        <p:spPr>
          <a:xfrm>
            <a:off x="5565279" y="4704701"/>
            <a:ext cx="5112568" cy="461665"/>
          </a:xfrm>
          <a:prstGeom prst="rect">
            <a:avLst/>
          </a:prstGeom>
          <a:solidFill>
            <a:srgbClr val="FF0000"/>
          </a:solidFill>
          <a:ln>
            <a:noFill/>
          </a:ln>
        </p:spPr>
        <p:txBody>
          <a:bodyPr wrap="squar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注意结束时用逗号，最后才用分号</a:t>
            </a:r>
          </a:p>
        </p:txBody>
      </p:sp>
      <p:sp>
        <p:nvSpPr>
          <p:cNvPr id="10" name="箭头: 下 9">
            <a:extLst>
              <a:ext uri="{FF2B5EF4-FFF2-40B4-BE49-F238E27FC236}">
                <a16:creationId xmlns:a16="http://schemas.microsoft.com/office/drawing/2014/main" id="{445BF9AE-8246-4686-EF0E-C9C1B1156EAE}"/>
              </a:ext>
            </a:extLst>
          </p:cNvPr>
          <p:cNvSpPr/>
          <p:nvPr/>
        </p:nvSpPr>
        <p:spPr>
          <a:xfrm rot="6389575">
            <a:off x="4975183" y="4159925"/>
            <a:ext cx="153857" cy="11750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19219242"/>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4220643" cy="369332"/>
          </a:xfrm>
          <a:prstGeom prst="rect">
            <a:avLst/>
          </a:prstGeom>
          <a:noFill/>
        </p:spPr>
        <p:txBody>
          <a:bodyPr wrap="none" lIns="0" tIns="0" rIns="0" bIns="0" rtlCol="0">
            <a:spAutoFit/>
          </a:bodyPr>
          <a:lstStyle/>
          <a:p>
            <a:pPr defTabSz="964278"/>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 HDL</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的行为级描述建模</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E2C38F4A-5F26-548A-814F-49DA2AED087E}"/>
              </a:ext>
            </a:extLst>
          </p:cNvPr>
          <p:cNvSpPr txBox="1"/>
          <p:nvPr/>
        </p:nvSpPr>
        <p:spPr>
          <a:xfrm>
            <a:off x="884759" y="1888133"/>
            <a:ext cx="10104921" cy="3351046"/>
          </a:xfrm>
          <a:prstGeom prst="rect">
            <a:avLst/>
          </a:prstGeom>
          <a:noFill/>
        </p:spPr>
        <p:txBody>
          <a:bodyPr wrap="square">
            <a:spAutoFit/>
          </a:bodyPr>
          <a:lstStyle/>
          <a:p>
            <a:pPr marL="342900" indent="-342900" algn="just">
              <a:lnSpc>
                <a:spcPct val="150000"/>
              </a:lnSpc>
              <a:buFont typeface="Wingdings" panose="05000000000000000000" pitchFamily="2" charset="2"/>
              <a:buChar char="Ø"/>
              <a:defRPr/>
            </a:pPr>
            <a:r>
              <a:rPr lang="zh-CN" altLang="en-US" sz="2400" b="1" dirty="0">
                <a:solidFill>
                  <a:srgbClr val="003366"/>
                </a:solidFill>
                <a:latin typeface="微软雅黑" panose="020B0503020204020204" pitchFamily="34" charset="-122"/>
                <a:ea typeface="微软雅黑" panose="020B0503020204020204" pitchFamily="34" charset="-122"/>
                <a:cs typeface="+mn-ea"/>
              </a:rPr>
              <a:t>行为级描述是对系统的高抽象级描述。在这个抽象级，注重的是整个系统的功能而不是实现。</a:t>
            </a:r>
          </a:p>
          <a:p>
            <a:pPr marL="342900" indent="-342900" algn="just">
              <a:lnSpc>
                <a:spcPct val="150000"/>
              </a:lnSpc>
              <a:buFont typeface="Wingdings" panose="05000000000000000000" pitchFamily="2" charset="2"/>
              <a:buChar char="Ø"/>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Verilog</a:t>
            </a:r>
            <a:r>
              <a:rPr lang="zh-CN" altLang="en-US" sz="2400" b="1" dirty="0">
                <a:solidFill>
                  <a:srgbClr val="003366"/>
                </a:solidFill>
                <a:latin typeface="微软雅黑" panose="020B0503020204020204" pitchFamily="34" charset="-122"/>
                <a:ea typeface="微软雅黑" panose="020B0503020204020204" pitchFamily="34" charset="-122"/>
                <a:cs typeface="+mn-ea"/>
              </a:rPr>
              <a:t>有高级编程语言结构用于行为描述，包括：</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wait, while, if else, case</a:t>
            </a:r>
            <a:r>
              <a:rPr lang="zh-CN" altLang="en-US" sz="2400" b="1" dirty="0">
                <a:solidFill>
                  <a:srgbClr val="003366"/>
                </a:solidFill>
                <a:latin typeface="微软雅黑" panose="020B0503020204020204" pitchFamily="34" charset="-122"/>
                <a:ea typeface="微软雅黑" panose="020B0503020204020204" pitchFamily="34" charset="-122"/>
                <a:cs typeface="+mn-ea"/>
              </a:rPr>
              <a:t>和</a:t>
            </a:r>
            <a:r>
              <a:rPr lang="en-US" altLang="zh-CN" sz="2400" b="1" dirty="0">
                <a:solidFill>
                  <a:srgbClr val="003366"/>
                </a:solidFill>
                <a:latin typeface="微软雅黑" panose="020B0503020204020204" pitchFamily="34" charset="-122"/>
                <a:ea typeface="微软雅黑" panose="020B0503020204020204" pitchFamily="34" charset="-122"/>
                <a:cs typeface="+mn-ea"/>
              </a:rPr>
              <a:t>forever</a:t>
            </a:r>
          </a:p>
          <a:p>
            <a:pPr marL="342900" indent="-342900" algn="just">
              <a:lnSpc>
                <a:spcPct val="150000"/>
              </a:lnSpc>
              <a:buFont typeface="Wingdings" panose="05000000000000000000" pitchFamily="2" charset="2"/>
              <a:buChar char="Ø"/>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Verilog</a:t>
            </a:r>
            <a:r>
              <a:rPr lang="zh-CN" altLang="en-US" sz="2400" b="1" dirty="0">
                <a:solidFill>
                  <a:srgbClr val="003366"/>
                </a:solidFill>
                <a:latin typeface="微软雅黑" panose="020B0503020204020204" pitchFamily="34" charset="-122"/>
                <a:ea typeface="微软雅黑" panose="020B0503020204020204" pitchFamily="34" charset="-122"/>
                <a:cs typeface="+mn-ea"/>
              </a:rPr>
              <a:t>的行为建模是用一系列以高级编程语言编写的并行的、动态的过程块来描述系统的工作。</a:t>
            </a:r>
          </a:p>
        </p:txBody>
      </p:sp>
    </p:spTree>
    <p:extLst>
      <p:ext uri="{BB962C8B-B14F-4D97-AF65-F5344CB8AC3E}">
        <p14:creationId xmlns:p14="http://schemas.microsoft.com/office/powerpoint/2010/main" val="2976946950"/>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4220643" cy="369332"/>
          </a:xfrm>
          <a:prstGeom prst="rect">
            <a:avLst/>
          </a:prstGeom>
          <a:noFill/>
        </p:spPr>
        <p:txBody>
          <a:bodyPr wrap="none" lIns="0" tIns="0" rIns="0" bIns="0" rtlCol="0">
            <a:spAutoFit/>
          </a:bodyPr>
          <a:lstStyle/>
          <a:p>
            <a:pPr defTabSz="964278"/>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 HDL</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的行为级描述建模</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E2C38F4A-5F26-548A-814F-49DA2AED087E}"/>
              </a:ext>
            </a:extLst>
          </p:cNvPr>
          <p:cNvSpPr txBox="1"/>
          <p:nvPr/>
        </p:nvSpPr>
        <p:spPr>
          <a:xfrm>
            <a:off x="401902" y="1240061"/>
            <a:ext cx="11653976" cy="1689052"/>
          </a:xfrm>
          <a:prstGeom prst="rect">
            <a:avLst/>
          </a:prstGeom>
          <a:noFill/>
        </p:spPr>
        <p:txBody>
          <a:bodyPr wrap="square">
            <a:spAutoFit/>
          </a:bodyPr>
          <a:lstStyle/>
          <a:p>
            <a:pPr algn="just">
              <a:lnSpc>
                <a:spcPct val="150000"/>
              </a:lnSpc>
              <a:defRPr/>
            </a:pPr>
            <a:r>
              <a:rPr lang="zh-CN" altLang="en-US" sz="2400" b="1" dirty="0">
                <a:solidFill>
                  <a:srgbClr val="003366"/>
                </a:solidFill>
                <a:latin typeface="微软雅黑" panose="020B0503020204020204" pitchFamily="34" charset="-122"/>
                <a:ea typeface="微软雅黑" panose="020B0503020204020204" pitchFamily="34" charset="-122"/>
                <a:cs typeface="+mn-ea"/>
              </a:rPr>
              <a:t>       为了对已设计的模块进行检验往往需要产生一系列信号作为输出，输入到已设计的模块，并检查已设计模块的输出，看它们是否符合设计要求。这就要求我们编写测试模块，也称作测试文件，常用带</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err="1">
                <a:solidFill>
                  <a:srgbClr val="003366"/>
                </a:solidFill>
                <a:latin typeface="微软雅黑" panose="020B0503020204020204" pitchFamily="34" charset="-122"/>
                <a:ea typeface="微软雅黑" panose="020B0503020204020204" pitchFamily="34" charset="-122"/>
                <a:cs typeface="+mn-ea"/>
              </a:rPr>
              <a:t>tf</a:t>
            </a:r>
            <a:r>
              <a:rPr lang="zh-CN" altLang="en-US" sz="2400" b="1" dirty="0">
                <a:solidFill>
                  <a:srgbClr val="003366"/>
                </a:solidFill>
                <a:latin typeface="微软雅黑" panose="020B0503020204020204" pitchFamily="34" charset="-122"/>
                <a:ea typeface="微软雅黑" panose="020B0503020204020204" pitchFamily="34" charset="-122"/>
                <a:cs typeface="+mn-ea"/>
              </a:rPr>
              <a:t>扩展名的文件来描述测试模块。</a:t>
            </a:r>
          </a:p>
        </p:txBody>
      </p:sp>
      <p:sp>
        <p:nvSpPr>
          <p:cNvPr id="10" name="文本框 9">
            <a:extLst>
              <a:ext uri="{FF2B5EF4-FFF2-40B4-BE49-F238E27FC236}">
                <a16:creationId xmlns:a16="http://schemas.microsoft.com/office/drawing/2014/main" id="{9F98CD2F-7B44-8113-31BB-EE24A57401DB}"/>
              </a:ext>
            </a:extLst>
          </p:cNvPr>
          <p:cNvSpPr txBox="1"/>
          <p:nvPr/>
        </p:nvSpPr>
        <p:spPr>
          <a:xfrm>
            <a:off x="668735" y="3061032"/>
            <a:ext cx="6431572" cy="3905043"/>
          </a:xfrm>
          <a:prstGeom prst="rect">
            <a:avLst/>
          </a:prstGeom>
          <a:noFill/>
        </p:spPr>
        <p:txBody>
          <a:bodyPr wrap="square">
            <a:spAutoFit/>
          </a:bodyPr>
          <a:lstStyle/>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gen_clk</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clk,reset</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clk</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output  reset;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reg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clk</a:t>
            </a:r>
            <a:r>
              <a:rPr lang="en-US" altLang="zh-CN" sz="2400" b="1" dirty="0">
                <a:solidFill>
                  <a:srgbClr val="003366"/>
                </a:solidFill>
                <a:latin typeface="微软雅黑" panose="020B0503020204020204" pitchFamily="34" charset="-122"/>
                <a:ea typeface="微软雅黑" panose="020B0503020204020204" pitchFamily="34" charset="-122"/>
                <a:cs typeface="+mn-ea"/>
              </a:rPr>
              <a:t> ,reset;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initial  begin</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reset = 1;    //initial  state</a:t>
            </a:r>
          </a:p>
          <a:p>
            <a:pPr algn="just">
              <a:lnSpc>
                <a:spcPct val="150000"/>
              </a:lnSpc>
              <a:defRPr/>
            </a:pP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p:txBody>
      </p:sp>
      <p:sp>
        <p:nvSpPr>
          <p:cNvPr id="13" name="文本框 12">
            <a:extLst>
              <a:ext uri="{FF2B5EF4-FFF2-40B4-BE49-F238E27FC236}">
                <a16:creationId xmlns:a16="http://schemas.microsoft.com/office/drawing/2014/main" id="{225397F3-34E2-0130-7C4E-319BF332FA87}"/>
              </a:ext>
            </a:extLst>
          </p:cNvPr>
          <p:cNvSpPr txBox="1"/>
          <p:nvPr/>
        </p:nvSpPr>
        <p:spPr>
          <a:xfrm>
            <a:off x="7368322" y="3061032"/>
            <a:ext cx="4104456" cy="3357329"/>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=0;</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#3 reset = 0;</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#5 reset = 1;</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end</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always  #5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 = ~</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clk</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endmodule</a:t>
            </a:r>
            <a:endParaRPr lang="zh-CN" altLang="en-US" dirty="0"/>
          </a:p>
        </p:txBody>
      </p:sp>
      <p:sp>
        <p:nvSpPr>
          <p:cNvPr id="14" name="文本框 13">
            <a:extLst>
              <a:ext uri="{FF2B5EF4-FFF2-40B4-BE49-F238E27FC236}">
                <a16:creationId xmlns:a16="http://schemas.microsoft.com/office/drawing/2014/main" id="{EE53A07B-9B86-2DDD-BEC6-6EB151BE7EE4}"/>
              </a:ext>
            </a:extLst>
          </p:cNvPr>
          <p:cNvSpPr txBox="1"/>
          <p:nvPr/>
        </p:nvSpPr>
        <p:spPr>
          <a:xfrm>
            <a:off x="7581503" y="6565965"/>
            <a:ext cx="5112568" cy="400110"/>
          </a:xfrm>
          <a:prstGeom prst="rect">
            <a:avLst/>
          </a:prstGeom>
          <a:solidFill>
            <a:srgbClr val="FF0000"/>
          </a:solidFill>
          <a:ln>
            <a:noFill/>
          </a:ln>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以后每隔</a:t>
            </a:r>
            <a:r>
              <a:rPr lang="en-US" altLang="zh-CN" sz="2000" b="1" dirty="0">
                <a:solidFill>
                  <a:schemeClr val="bg1"/>
                </a:solidFill>
                <a:latin typeface="微软雅黑" panose="020B0503020204020204" pitchFamily="34" charset="-122"/>
                <a:ea typeface="微软雅黑" panose="020B0503020204020204" pitchFamily="34" charset="-122"/>
              </a:rPr>
              <a:t>5</a:t>
            </a:r>
            <a:r>
              <a:rPr lang="zh-CN" altLang="en-US" sz="2000" b="1" dirty="0">
                <a:solidFill>
                  <a:schemeClr val="bg1"/>
                </a:solidFill>
                <a:latin typeface="微软雅黑" panose="020B0503020204020204" pitchFamily="34" charset="-122"/>
                <a:ea typeface="微软雅黑" panose="020B0503020204020204" pitchFamily="34" charset="-122"/>
              </a:rPr>
              <a:t>个时间单位，时钟就翻转一次</a:t>
            </a:r>
          </a:p>
        </p:txBody>
      </p:sp>
      <p:sp>
        <p:nvSpPr>
          <p:cNvPr id="15" name="文本框 14">
            <a:extLst>
              <a:ext uri="{FF2B5EF4-FFF2-40B4-BE49-F238E27FC236}">
                <a16:creationId xmlns:a16="http://schemas.microsoft.com/office/drawing/2014/main" id="{7E0BC10F-008E-688D-EDE1-538551BD6069}"/>
              </a:ext>
            </a:extLst>
          </p:cNvPr>
          <p:cNvSpPr txBox="1"/>
          <p:nvPr/>
        </p:nvSpPr>
        <p:spPr>
          <a:xfrm>
            <a:off x="4328297" y="4507366"/>
            <a:ext cx="3024336" cy="1323439"/>
          </a:xfrm>
          <a:prstGeom prst="rect">
            <a:avLst/>
          </a:prstGeom>
          <a:solidFill>
            <a:srgbClr val="FF0000"/>
          </a:solidFill>
          <a:ln>
            <a:noFill/>
          </a:ln>
        </p:spPr>
        <p:txBody>
          <a:bodyPr wrap="square">
            <a:spAutoFit/>
          </a:bodyPr>
          <a:lstStyle/>
          <a:p>
            <a:pPr algn="just"/>
            <a:r>
              <a:rPr lang="zh-CN" altLang="en-US" sz="2000" b="1" dirty="0">
                <a:solidFill>
                  <a:schemeClr val="bg1"/>
                </a:solidFill>
                <a:latin typeface="微软雅黑" panose="020B0503020204020204" pitchFamily="34" charset="-122"/>
                <a:ea typeface="微软雅黑" panose="020B0503020204020204" pitchFamily="34" charset="-122"/>
              </a:rPr>
              <a:t>初始状态时，</a:t>
            </a:r>
            <a:r>
              <a:rPr lang="en-US" altLang="zh-CN" sz="2000" b="1" dirty="0" err="1">
                <a:solidFill>
                  <a:schemeClr val="bg1"/>
                </a:solidFill>
                <a:latin typeface="微软雅黑" panose="020B0503020204020204" pitchFamily="34" charset="-122"/>
                <a:ea typeface="微软雅黑" panose="020B0503020204020204" pitchFamily="34" charset="-122"/>
              </a:rPr>
              <a:t>clk</a:t>
            </a:r>
            <a:r>
              <a:rPr lang="zh-CN" altLang="en-US" sz="2000" b="1" dirty="0">
                <a:solidFill>
                  <a:schemeClr val="bg1"/>
                </a:solidFill>
                <a:latin typeface="微软雅黑" panose="020B0503020204020204" pitchFamily="34" charset="-122"/>
                <a:ea typeface="微软雅黑" panose="020B0503020204020204" pitchFamily="34" charset="-122"/>
              </a:rPr>
              <a:t>置为低电平，</a:t>
            </a:r>
            <a:r>
              <a:rPr lang="en-US" altLang="zh-CN" sz="2000" b="1" dirty="0">
                <a:solidFill>
                  <a:schemeClr val="bg1"/>
                </a:solidFill>
                <a:latin typeface="微软雅黑" panose="020B0503020204020204" pitchFamily="34" charset="-122"/>
                <a:ea typeface="微软雅黑" panose="020B0503020204020204" pitchFamily="34" charset="-122"/>
              </a:rPr>
              <a:t>reset</a:t>
            </a:r>
            <a:r>
              <a:rPr lang="zh-CN" altLang="en-US" sz="2000" b="1" dirty="0">
                <a:solidFill>
                  <a:schemeClr val="bg1"/>
                </a:solidFill>
                <a:latin typeface="微软雅黑" panose="020B0503020204020204" pitchFamily="34" charset="-122"/>
                <a:ea typeface="微软雅黑" panose="020B0503020204020204" pitchFamily="34" charset="-122"/>
              </a:rPr>
              <a:t>为高电平。</a:t>
            </a:r>
            <a:r>
              <a:rPr lang="en-US" altLang="zh-CN" sz="2000" b="1" dirty="0">
                <a:solidFill>
                  <a:schemeClr val="bg1"/>
                </a:solidFill>
                <a:latin typeface="微软雅黑" panose="020B0503020204020204" pitchFamily="34" charset="-122"/>
                <a:ea typeface="微软雅黑" panose="020B0503020204020204" pitchFamily="34" charset="-122"/>
              </a:rPr>
              <a:t>reset</a:t>
            </a:r>
            <a:r>
              <a:rPr lang="zh-CN" altLang="en-US" sz="2000" b="1" dirty="0">
                <a:solidFill>
                  <a:schemeClr val="bg1"/>
                </a:solidFill>
                <a:latin typeface="微软雅黑" panose="020B0503020204020204" pitchFamily="34" charset="-122"/>
                <a:ea typeface="微软雅黑" panose="020B0503020204020204" pitchFamily="34" charset="-122"/>
              </a:rPr>
              <a:t>信号输出一个复位信号后，维持在高电平。</a:t>
            </a:r>
          </a:p>
        </p:txBody>
      </p:sp>
      <p:sp>
        <p:nvSpPr>
          <p:cNvPr id="16" name="文本框 15">
            <a:extLst>
              <a:ext uri="{FF2B5EF4-FFF2-40B4-BE49-F238E27FC236}">
                <a16:creationId xmlns:a16="http://schemas.microsoft.com/office/drawing/2014/main" id="{82CCEBD8-F064-87BB-0A01-ED4C1EA9A281}"/>
              </a:ext>
            </a:extLst>
          </p:cNvPr>
          <p:cNvSpPr txBox="1"/>
          <p:nvPr/>
        </p:nvSpPr>
        <p:spPr>
          <a:xfrm>
            <a:off x="3181713" y="3952269"/>
            <a:ext cx="2359496" cy="400110"/>
          </a:xfrm>
          <a:prstGeom prst="rect">
            <a:avLst/>
          </a:prstGeom>
          <a:solidFill>
            <a:srgbClr val="FF0000"/>
          </a:solidFill>
          <a:ln>
            <a:noFill/>
          </a:ln>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输出仿真信号</a:t>
            </a:r>
          </a:p>
        </p:txBody>
      </p:sp>
      <p:sp>
        <p:nvSpPr>
          <p:cNvPr id="17" name="箭头: 下 16">
            <a:extLst>
              <a:ext uri="{FF2B5EF4-FFF2-40B4-BE49-F238E27FC236}">
                <a16:creationId xmlns:a16="http://schemas.microsoft.com/office/drawing/2014/main" id="{16856AF9-0DDB-EC01-E0E5-BEEF0F53F209}"/>
              </a:ext>
            </a:extLst>
          </p:cNvPr>
          <p:cNvSpPr/>
          <p:nvPr/>
        </p:nvSpPr>
        <p:spPr>
          <a:xfrm rot="6165281">
            <a:off x="2814805" y="3679802"/>
            <a:ext cx="107663" cy="715722"/>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83265984-705C-0BC2-5D2E-B79B9B0C7FD7}"/>
              </a:ext>
            </a:extLst>
          </p:cNvPr>
          <p:cNvSpPr/>
          <p:nvPr/>
        </p:nvSpPr>
        <p:spPr>
          <a:xfrm rot="3043353">
            <a:off x="3108520" y="3996768"/>
            <a:ext cx="95205" cy="677354"/>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BE68BD5D-13E6-B158-0512-49ACEF314F59}"/>
              </a:ext>
            </a:extLst>
          </p:cNvPr>
          <p:cNvSpPr/>
          <p:nvPr/>
        </p:nvSpPr>
        <p:spPr>
          <a:xfrm rot="3043353">
            <a:off x="3861400" y="5227001"/>
            <a:ext cx="162039" cy="108369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AC990FA2-9E05-E2E6-D60E-4898D264ED24}"/>
              </a:ext>
            </a:extLst>
          </p:cNvPr>
          <p:cNvSpPr/>
          <p:nvPr/>
        </p:nvSpPr>
        <p:spPr>
          <a:xfrm rot="13995641">
            <a:off x="8175666" y="2971808"/>
            <a:ext cx="146975" cy="2501430"/>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下 20">
            <a:extLst>
              <a:ext uri="{FF2B5EF4-FFF2-40B4-BE49-F238E27FC236}">
                <a16:creationId xmlns:a16="http://schemas.microsoft.com/office/drawing/2014/main" id="{C96A7C95-012B-CF1A-1551-B16A0818E9EE}"/>
              </a:ext>
            </a:extLst>
          </p:cNvPr>
          <p:cNvSpPr/>
          <p:nvPr/>
        </p:nvSpPr>
        <p:spPr>
          <a:xfrm rot="8929020">
            <a:off x="10056767" y="5632749"/>
            <a:ext cx="162039" cy="1083695"/>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2762871"/>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4220643" cy="369332"/>
          </a:xfrm>
          <a:prstGeom prst="rect">
            <a:avLst/>
          </a:prstGeom>
          <a:noFill/>
        </p:spPr>
        <p:txBody>
          <a:bodyPr wrap="none" lIns="0" tIns="0" rIns="0" bIns="0" rtlCol="0">
            <a:spAutoFit/>
          </a:bodyPr>
          <a:lstStyle/>
          <a:p>
            <a:pPr defTabSz="964278"/>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 HDL</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的行为级描述建模</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E2C38F4A-5F26-548A-814F-49DA2AED087E}"/>
              </a:ext>
            </a:extLst>
          </p:cNvPr>
          <p:cNvSpPr txBox="1"/>
          <p:nvPr/>
        </p:nvSpPr>
        <p:spPr>
          <a:xfrm>
            <a:off x="392023" y="838718"/>
            <a:ext cx="11653976" cy="581057"/>
          </a:xfrm>
          <a:prstGeom prst="rect">
            <a:avLst/>
          </a:prstGeom>
          <a:noFill/>
        </p:spPr>
        <p:txBody>
          <a:bodyPr wrap="square">
            <a:spAutoFit/>
          </a:bodyPr>
          <a:lstStyle/>
          <a:p>
            <a:pPr algn="just">
              <a:lnSpc>
                <a:spcPct val="150000"/>
              </a:lnSpc>
              <a:defRPr/>
            </a:pPr>
            <a:r>
              <a:rPr lang="zh-CN" altLang="en-US" sz="2400" b="1" dirty="0">
                <a:solidFill>
                  <a:srgbClr val="003366"/>
                </a:solidFill>
                <a:latin typeface="微软雅黑" panose="020B0503020204020204" pitchFamily="34" charset="-122"/>
                <a:ea typeface="微软雅黑" panose="020B0503020204020204" pitchFamily="34" charset="-122"/>
                <a:cs typeface="+mn-ea"/>
              </a:rPr>
              <a:t>编写测试模块通过仿真检查设计正确与否： </a:t>
            </a:r>
          </a:p>
        </p:txBody>
      </p:sp>
      <p:sp>
        <p:nvSpPr>
          <p:cNvPr id="10" name="文本框 9">
            <a:extLst>
              <a:ext uri="{FF2B5EF4-FFF2-40B4-BE49-F238E27FC236}">
                <a16:creationId xmlns:a16="http://schemas.microsoft.com/office/drawing/2014/main" id="{9F98CD2F-7B44-8113-31BB-EE24A57401DB}"/>
              </a:ext>
            </a:extLst>
          </p:cNvPr>
          <p:cNvSpPr txBox="1"/>
          <p:nvPr/>
        </p:nvSpPr>
        <p:spPr>
          <a:xfrm>
            <a:off x="812751" y="1474625"/>
            <a:ext cx="10009112" cy="5013039"/>
          </a:xfrm>
          <a:prstGeom prst="rect">
            <a:avLst/>
          </a:prstGeom>
          <a:noFill/>
        </p:spPr>
        <p:txBody>
          <a:bodyPr wrap="square">
            <a:spAutoFit/>
          </a:bodyPr>
          <a:lstStyle/>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`include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flop.v</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`include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hardreg.v</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module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hardreg_top</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reg clock,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reg [3:0] data</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wire [3:0]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qout</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`define stim  #100 data=4'b		//</a:t>
            </a:r>
            <a:r>
              <a:rPr lang="zh-CN" altLang="en-US" sz="2400" b="1" dirty="0">
                <a:solidFill>
                  <a:srgbClr val="003366"/>
                </a:solidFill>
                <a:latin typeface="微软雅黑" panose="020B0503020204020204" pitchFamily="34" charset="-122"/>
                <a:ea typeface="微软雅黑" panose="020B0503020204020204" pitchFamily="34" charset="-122"/>
                <a:cs typeface="+mn-ea"/>
              </a:rPr>
              <a:t>宏定义 </a:t>
            </a:r>
            <a:r>
              <a:rPr lang="en-US" altLang="zh-CN" sz="2400" b="1" dirty="0">
                <a:solidFill>
                  <a:srgbClr val="003366"/>
                </a:solidFill>
                <a:latin typeface="微软雅黑" panose="020B0503020204020204" pitchFamily="34" charset="-122"/>
                <a:ea typeface="微软雅黑" panose="020B0503020204020204" pitchFamily="34" charset="-122"/>
                <a:cs typeface="+mn-ea"/>
              </a:rPr>
              <a:t>stim,</a:t>
            </a:r>
            <a:r>
              <a:rPr lang="zh-CN" altLang="en-US" sz="2400" b="1" dirty="0">
                <a:solidFill>
                  <a:srgbClr val="003366"/>
                </a:solidFill>
                <a:latin typeface="微软雅黑" panose="020B0503020204020204" pitchFamily="34" charset="-122"/>
                <a:ea typeface="微软雅黑" panose="020B0503020204020204" pitchFamily="34" charset="-122"/>
                <a:cs typeface="+mn-ea"/>
              </a:rPr>
              <a:t>可使源程序简洁</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event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end_first_pass</a:t>
            </a: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zh-CN" altLang="en-US" sz="2400" b="1" dirty="0">
                <a:solidFill>
                  <a:srgbClr val="003366"/>
                </a:solidFill>
                <a:latin typeface="微软雅黑" panose="020B0503020204020204" pitchFamily="34" charset="-122"/>
                <a:ea typeface="微软雅黑" panose="020B0503020204020204" pitchFamily="34" charset="-122"/>
                <a:cs typeface="+mn-ea"/>
              </a:rPr>
              <a:t>定义事件</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end_first_pass</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defRPr/>
            </a:pPr>
            <a:r>
              <a:rPr lang="en-US" altLang="zh-CN" sz="2400" b="1" dirty="0" err="1">
                <a:solidFill>
                  <a:srgbClr val="003366"/>
                </a:solidFill>
                <a:latin typeface="微软雅黑" panose="020B0503020204020204" pitchFamily="34" charset="-122"/>
                <a:ea typeface="微软雅黑" panose="020B0503020204020204" pitchFamily="34" charset="-122"/>
                <a:cs typeface="+mn-ea"/>
              </a:rPr>
              <a:t>hardreg</a:t>
            </a:r>
            <a:r>
              <a:rPr lang="en-US" altLang="zh-CN" sz="2400" b="1" dirty="0">
                <a:solidFill>
                  <a:srgbClr val="003366"/>
                </a:solidFill>
                <a:latin typeface="微软雅黑" panose="020B0503020204020204" pitchFamily="34" charset="-122"/>
                <a:ea typeface="微软雅黑" panose="020B0503020204020204" pitchFamily="34" charset="-122"/>
                <a:cs typeface="+mn-ea"/>
              </a:rPr>
              <a:t> reg_4bit(.d(data),.</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clk</a:t>
            </a:r>
            <a:r>
              <a:rPr lang="en-US" altLang="zh-CN" sz="2400" b="1" dirty="0">
                <a:solidFill>
                  <a:srgbClr val="003366"/>
                </a:solidFill>
                <a:latin typeface="微软雅黑" panose="020B0503020204020204" pitchFamily="34" charset="-122"/>
                <a:ea typeface="微软雅黑" panose="020B0503020204020204" pitchFamily="34" charset="-122"/>
                <a:cs typeface="+mn-ea"/>
              </a:rPr>
              <a:t>(clock),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clrb</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r>
              <a:rPr lang="en-US" altLang="zh-CN" sz="2400" b="1" dirty="0">
                <a:solidFill>
                  <a:srgbClr val="003366"/>
                </a:solidFill>
                <a:latin typeface="微软雅黑" panose="020B0503020204020204" pitchFamily="34" charset="-122"/>
                <a:ea typeface="微软雅黑" panose="020B0503020204020204" pitchFamily="34" charset="-122"/>
                <a:cs typeface="+mn-ea"/>
              </a:rPr>
              <a:t>), .q(</a:t>
            </a:r>
            <a:r>
              <a:rPr lang="en-US" altLang="zh-CN" sz="2400" b="1" dirty="0" err="1">
                <a:solidFill>
                  <a:srgbClr val="003366"/>
                </a:solidFill>
                <a:latin typeface="微软雅黑" panose="020B0503020204020204" pitchFamily="34" charset="-122"/>
                <a:ea typeface="微软雅黑" panose="020B0503020204020204" pitchFamily="34" charset="-122"/>
                <a:cs typeface="+mn-ea"/>
              </a:rPr>
              <a:t>qout</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p:txBody>
      </p:sp>
    </p:spTree>
    <p:extLst>
      <p:ext uri="{BB962C8B-B14F-4D97-AF65-F5344CB8AC3E}">
        <p14:creationId xmlns:p14="http://schemas.microsoft.com/office/powerpoint/2010/main" val="3715221540"/>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4220643" cy="369332"/>
          </a:xfrm>
          <a:prstGeom prst="rect">
            <a:avLst/>
          </a:prstGeom>
          <a:noFill/>
        </p:spPr>
        <p:txBody>
          <a:bodyPr wrap="none" lIns="0" tIns="0" rIns="0" bIns="0" rtlCol="0">
            <a:spAutoFit/>
          </a:bodyPr>
          <a:lstStyle/>
          <a:p>
            <a:pPr defTabSz="964278"/>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 HDL</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的行为级描述建模</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E2C38F4A-5F26-548A-814F-49DA2AED087E}"/>
              </a:ext>
            </a:extLst>
          </p:cNvPr>
          <p:cNvSpPr txBox="1"/>
          <p:nvPr/>
        </p:nvSpPr>
        <p:spPr>
          <a:xfrm>
            <a:off x="112862" y="856272"/>
            <a:ext cx="10645864" cy="1135054"/>
          </a:xfrm>
          <a:prstGeom prst="rect">
            <a:avLst/>
          </a:prstGeom>
          <a:noFill/>
        </p:spPr>
        <p:txBody>
          <a:bodyPr wrap="square">
            <a:spAutoFit/>
          </a:bodyPr>
          <a:lstStyle/>
          <a:p>
            <a:pPr algn="just">
              <a:lnSpc>
                <a:spcPct val="150000"/>
              </a:lnSpc>
              <a:defRPr/>
            </a:pPr>
            <a:r>
              <a:rPr lang="zh-CN" altLang="en-US" sz="2400" b="1" dirty="0">
                <a:solidFill>
                  <a:srgbClr val="003366"/>
                </a:solidFill>
                <a:latin typeface="微软雅黑" panose="020B0503020204020204" pitchFamily="34" charset="-122"/>
                <a:ea typeface="微软雅黑" panose="020B0503020204020204" pitchFamily="34" charset="-122"/>
                <a:cs typeface="+mn-ea"/>
              </a:rPr>
              <a:t>把本模块中产生的测试信号</a:t>
            </a:r>
            <a:r>
              <a:rPr lang="en-US" altLang="zh-CN" sz="2400" b="1" dirty="0">
                <a:solidFill>
                  <a:srgbClr val="003366"/>
                </a:solidFill>
                <a:latin typeface="微软雅黑" panose="020B0503020204020204" pitchFamily="34" charset="-122"/>
                <a:ea typeface="微软雅黑" panose="020B0503020204020204" pitchFamily="34" charset="-122"/>
                <a:cs typeface="+mn-ea"/>
              </a:rPr>
              <a:t>data</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clock</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r>
              <a:rPr lang="zh-CN" altLang="en-US" sz="2400" b="1" dirty="0">
                <a:solidFill>
                  <a:srgbClr val="003366"/>
                </a:solidFill>
                <a:latin typeface="微软雅黑" panose="020B0503020204020204" pitchFamily="34" charset="-122"/>
                <a:ea typeface="微软雅黑" panose="020B0503020204020204" pitchFamily="34" charset="-122"/>
                <a:cs typeface="+mn-ea"/>
              </a:rPr>
              <a:t>输入实例</a:t>
            </a:r>
            <a:r>
              <a:rPr lang="en-US" altLang="zh-CN" sz="2400" b="1" dirty="0">
                <a:solidFill>
                  <a:srgbClr val="003366"/>
                </a:solidFill>
                <a:latin typeface="微软雅黑" panose="020B0503020204020204" pitchFamily="34" charset="-122"/>
                <a:ea typeface="微软雅黑" panose="020B0503020204020204" pitchFamily="34" charset="-122"/>
                <a:cs typeface="+mn-ea"/>
              </a:rPr>
              <a:t>reg_4bit</a:t>
            </a:r>
            <a:r>
              <a:rPr lang="zh-CN" altLang="en-US" sz="2400" b="1" dirty="0">
                <a:solidFill>
                  <a:srgbClr val="003366"/>
                </a:solidFill>
                <a:latin typeface="微软雅黑" panose="020B0503020204020204" pitchFamily="34" charset="-122"/>
                <a:ea typeface="微软雅黑" panose="020B0503020204020204" pitchFamily="34" charset="-122"/>
                <a:cs typeface="+mn-ea"/>
              </a:rPr>
              <a:t>以观察输出信号</a:t>
            </a:r>
            <a:r>
              <a:rPr lang="en-US" altLang="zh-CN" sz="2400" b="1" dirty="0" err="1">
                <a:solidFill>
                  <a:srgbClr val="003366"/>
                </a:solidFill>
                <a:latin typeface="微软雅黑" panose="020B0503020204020204" pitchFamily="34" charset="-122"/>
                <a:ea typeface="微软雅黑" panose="020B0503020204020204" pitchFamily="34" charset="-122"/>
                <a:cs typeface="+mn-ea"/>
              </a:rPr>
              <a:t>qout</a:t>
            </a:r>
            <a:r>
              <a:rPr lang="zh-CN" altLang="en-US" sz="2400" b="1" dirty="0">
                <a:solidFill>
                  <a:srgbClr val="003366"/>
                </a:solidFill>
                <a:latin typeface="微软雅黑" panose="020B0503020204020204" pitchFamily="34" charset="-122"/>
                <a:ea typeface="微软雅黑" panose="020B0503020204020204" pitchFamily="34" charset="-122"/>
                <a:cs typeface="+mn-ea"/>
              </a:rPr>
              <a:t>。实例</a:t>
            </a:r>
            <a:r>
              <a:rPr lang="en-US" altLang="zh-CN" sz="2400" b="1" dirty="0">
                <a:solidFill>
                  <a:srgbClr val="003366"/>
                </a:solidFill>
                <a:latin typeface="微软雅黑" panose="020B0503020204020204" pitchFamily="34" charset="-122"/>
                <a:ea typeface="微软雅黑" panose="020B0503020204020204" pitchFamily="34" charset="-122"/>
                <a:cs typeface="+mn-ea"/>
              </a:rPr>
              <a:t>reg_4bit</a:t>
            </a:r>
            <a:r>
              <a:rPr lang="zh-CN" altLang="en-US" sz="2400" b="1" dirty="0">
                <a:solidFill>
                  <a:srgbClr val="003366"/>
                </a:solidFill>
                <a:latin typeface="微软雅黑" panose="020B0503020204020204" pitchFamily="34" charset="-122"/>
                <a:ea typeface="微软雅黑" panose="020B0503020204020204" pitchFamily="34" charset="-122"/>
                <a:cs typeface="+mn-ea"/>
              </a:rPr>
              <a:t>引用了</a:t>
            </a:r>
            <a:r>
              <a:rPr lang="en-US" altLang="zh-CN" sz="2400" b="1" dirty="0" err="1">
                <a:solidFill>
                  <a:srgbClr val="003366"/>
                </a:solidFill>
                <a:latin typeface="微软雅黑" panose="020B0503020204020204" pitchFamily="34" charset="-122"/>
                <a:ea typeface="微软雅黑" panose="020B0503020204020204" pitchFamily="34" charset="-122"/>
                <a:cs typeface="+mn-ea"/>
              </a:rPr>
              <a:t>hardreg</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p:txBody>
      </p:sp>
      <p:sp>
        <p:nvSpPr>
          <p:cNvPr id="10" name="文本框 9">
            <a:extLst>
              <a:ext uri="{FF2B5EF4-FFF2-40B4-BE49-F238E27FC236}">
                <a16:creationId xmlns:a16="http://schemas.microsoft.com/office/drawing/2014/main" id="{9F98CD2F-7B44-8113-31BB-EE24A57401DB}"/>
              </a:ext>
            </a:extLst>
          </p:cNvPr>
          <p:cNvSpPr txBox="1"/>
          <p:nvPr/>
        </p:nvSpPr>
        <p:spPr>
          <a:xfrm>
            <a:off x="225370" y="1991326"/>
            <a:ext cx="12627276" cy="5013039"/>
          </a:xfrm>
          <a:prstGeom prst="rect">
            <a:avLst/>
          </a:prstGeom>
          <a:noFill/>
        </p:spPr>
        <p:txBody>
          <a:bodyPr wrap="square">
            <a:spAutoFit/>
          </a:bodyPr>
          <a:lstStyle/>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initial  begin</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clock = 0;</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r>
              <a:rPr lang="en-US" altLang="zh-CN" sz="2400" b="1" dirty="0">
                <a:solidFill>
                  <a:srgbClr val="003366"/>
                </a:solidFill>
                <a:latin typeface="微软雅黑" panose="020B0503020204020204" pitchFamily="34" charset="-122"/>
                <a:ea typeface="微软雅黑" panose="020B0503020204020204" pitchFamily="34" charset="-122"/>
                <a:cs typeface="+mn-ea"/>
              </a:rPr>
              <a:t> = 1;</a:t>
            </a:r>
          </a:p>
          <a:p>
            <a:pPr lvl="1"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end	</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#50 clock = ~clock;</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@(end_first_pass)</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r>
              <a:rPr lang="en-US" altLang="zh-CN" sz="2400" b="1" dirty="0">
                <a:solidFill>
                  <a:srgbClr val="003366"/>
                </a:solidFill>
                <a:latin typeface="微软雅黑" panose="020B0503020204020204" pitchFamily="34" charset="-122"/>
                <a:ea typeface="微软雅黑" panose="020B0503020204020204" pitchFamily="34" charset="-122"/>
                <a:cs typeface="+mn-ea"/>
              </a:rPr>
              <a:t> =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always @(posedge clock)</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diplay</a:t>
            </a:r>
            <a:r>
              <a:rPr lang="en-US" altLang="zh-CN" sz="2400" b="1" dirty="0">
                <a:solidFill>
                  <a:srgbClr val="003366"/>
                </a:solidFill>
                <a:latin typeface="微软雅黑" panose="020B0503020204020204" pitchFamily="34" charset="-122"/>
                <a:ea typeface="微软雅黑" panose="020B0503020204020204" pitchFamily="34" charset="-122"/>
                <a:cs typeface="+mn-ea"/>
              </a:rPr>
              <a:t>(“at time %0d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clearb</a:t>
            </a:r>
            <a:r>
              <a:rPr lang="en-US" altLang="zh-CN" sz="2400" b="1" dirty="0">
                <a:solidFill>
                  <a:srgbClr val="003366"/>
                </a:solidFill>
                <a:latin typeface="微软雅黑" panose="020B0503020204020204" pitchFamily="34" charset="-122"/>
                <a:ea typeface="微软雅黑" panose="020B0503020204020204" pitchFamily="34" charset="-122"/>
                <a:cs typeface="+mn-ea"/>
              </a:rPr>
              <a:t>=%b date=%d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qout</a:t>
            </a:r>
            <a:r>
              <a:rPr lang="en-US" altLang="zh-CN" sz="2400" b="1" dirty="0">
                <a:solidFill>
                  <a:srgbClr val="003366"/>
                </a:solidFill>
                <a:latin typeface="微软雅黑" panose="020B0503020204020204" pitchFamily="34" charset="-122"/>
                <a:ea typeface="微软雅黑" panose="020B0503020204020204" pitchFamily="34" charset="-122"/>
                <a:cs typeface="+mn-ea"/>
              </a:rPr>
              <a:t>=%d”,$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time,clearb,data,qout</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p:txBody>
      </p:sp>
    </p:spTree>
    <p:extLst>
      <p:ext uri="{BB962C8B-B14F-4D97-AF65-F5344CB8AC3E}">
        <p14:creationId xmlns:p14="http://schemas.microsoft.com/office/powerpoint/2010/main" val="2102244706"/>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4220643" cy="369332"/>
          </a:xfrm>
          <a:prstGeom prst="rect">
            <a:avLst/>
          </a:prstGeom>
          <a:noFill/>
        </p:spPr>
        <p:txBody>
          <a:bodyPr wrap="none" lIns="0" tIns="0" rIns="0" bIns="0" rtlCol="0">
            <a:spAutoFit/>
          </a:bodyPr>
          <a:lstStyle/>
          <a:p>
            <a:pPr defTabSz="964278"/>
            <a:r>
              <a:rPr lang="en-US" altLang="zh-CN"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Verilog HDL</a:t>
            </a:r>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的行为级描述建模</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10" name="文本框 9">
            <a:extLst>
              <a:ext uri="{FF2B5EF4-FFF2-40B4-BE49-F238E27FC236}">
                <a16:creationId xmlns:a16="http://schemas.microsoft.com/office/drawing/2014/main" id="{9F98CD2F-7B44-8113-31BB-EE24A57401DB}"/>
              </a:ext>
            </a:extLst>
          </p:cNvPr>
          <p:cNvSpPr txBox="1"/>
          <p:nvPr/>
        </p:nvSpPr>
        <p:spPr>
          <a:xfrm>
            <a:off x="502217" y="635907"/>
            <a:ext cx="10823702" cy="6675032"/>
          </a:xfrm>
          <a:prstGeom prst="rect">
            <a:avLst/>
          </a:prstGeom>
          <a:noFill/>
        </p:spPr>
        <p:txBody>
          <a:bodyPr wrap="square">
            <a:spAutoFit/>
          </a:bodyPr>
          <a:lstStyle/>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initial begin</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repeat(4)</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begin</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`stim 0000;		// #100 date=4'b0000</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`stim 0001;</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 . . . . .</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`stim 1111;</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#200 </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&gt; </a:t>
            </a:r>
            <a:r>
              <a:rPr lang="en-US" altLang="zh-CN" sz="2400" b="1" dirty="0" err="1">
                <a:solidFill>
                  <a:srgbClr val="003366"/>
                </a:solidFill>
                <a:latin typeface="微软雅黑" panose="020B0503020204020204" pitchFamily="34" charset="-122"/>
                <a:ea typeface="微软雅黑" panose="020B0503020204020204" pitchFamily="34" charset="-122"/>
                <a:cs typeface="+mn-ea"/>
              </a:rPr>
              <a:t>end_first_pass</a:t>
            </a:r>
            <a:r>
              <a:rPr lang="en-US" altLang="zh-CN" sz="2400" b="1" dirty="0">
                <a:solidFill>
                  <a:srgbClr val="003366"/>
                </a:solidFill>
                <a:latin typeface="微软雅黑" panose="020B0503020204020204" pitchFamily="34" charset="-122"/>
                <a:ea typeface="微软雅黑" panose="020B0503020204020204" pitchFamily="34" charset="-122"/>
                <a:cs typeface="+mn-ea"/>
              </a:rPr>
              <a:t>;</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$finish;</a:t>
            </a:r>
            <a:endParaRPr lang="zh-CN" altLang="en-US" sz="2400" b="1" dirty="0">
              <a:solidFill>
                <a:srgbClr val="003366"/>
              </a:solidFill>
              <a:latin typeface="微软雅黑" panose="020B0503020204020204" pitchFamily="34" charset="-122"/>
              <a:ea typeface="微软雅黑" panose="020B0503020204020204" pitchFamily="34" charset="-122"/>
              <a:cs typeface="+mn-ea"/>
            </a:endParaRPr>
          </a:p>
          <a:p>
            <a:pPr algn="just">
              <a:lnSpc>
                <a:spcPct val="150000"/>
              </a:lnSpc>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	end</a:t>
            </a:r>
          </a:p>
          <a:p>
            <a:pPr algn="just">
              <a:lnSpc>
                <a:spcPct val="150000"/>
              </a:lnSpc>
              <a:defRPr/>
            </a:pPr>
            <a:r>
              <a:rPr lang="en-US" altLang="zh-CN" sz="2400" b="1" dirty="0" err="1">
                <a:solidFill>
                  <a:srgbClr val="003366"/>
                </a:solidFill>
                <a:latin typeface="微软雅黑" panose="020B0503020204020204" pitchFamily="34" charset="-122"/>
                <a:ea typeface="微软雅黑" panose="020B0503020204020204" pitchFamily="34" charset="-122"/>
                <a:cs typeface="+mn-ea"/>
              </a:rPr>
              <a:t>endmodule</a:t>
            </a:r>
            <a:endParaRPr lang="en-US" altLang="zh-CN" sz="2400" b="1" dirty="0">
              <a:solidFill>
                <a:srgbClr val="003366"/>
              </a:solidFill>
              <a:latin typeface="微软雅黑" panose="020B0503020204020204" pitchFamily="34" charset="-122"/>
              <a:ea typeface="微软雅黑" panose="020B0503020204020204" pitchFamily="34" charset="-122"/>
              <a:cs typeface="+mn-ea"/>
            </a:endParaRPr>
          </a:p>
        </p:txBody>
      </p:sp>
      <p:sp>
        <p:nvSpPr>
          <p:cNvPr id="7" name="文本框 6">
            <a:extLst>
              <a:ext uri="{FF2B5EF4-FFF2-40B4-BE49-F238E27FC236}">
                <a16:creationId xmlns:a16="http://schemas.microsoft.com/office/drawing/2014/main" id="{6FA3A805-FCC7-9B1F-9CA1-E5CF7D74BBEE}"/>
              </a:ext>
            </a:extLst>
          </p:cNvPr>
          <p:cNvSpPr txBox="1"/>
          <p:nvPr/>
        </p:nvSpPr>
        <p:spPr>
          <a:xfrm>
            <a:off x="5729303" y="2964477"/>
            <a:ext cx="3141774" cy="1015663"/>
          </a:xfrm>
          <a:prstGeom prst="rect">
            <a:avLst/>
          </a:prstGeom>
          <a:solidFill>
            <a:srgbClr val="FF0000"/>
          </a:solidFill>
          <a:ln>
            <a:noFill/>
          </a:ln>
        </p:spPr>
        <p:txBody>
          <a:bodyPr wrap="squar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宏定义</a:t>
            </a:r>
            <a:r>
              <a:rPr lang="en-US" altLang="zh-CN" sz="2000" b="1" dirty="0">
                <a:solidFill>
                  <a:schemeClr val="bg1"/>
                </a:solidFill>
                <a:latin typeface="微软雅黑" panose="020B0503020204020204" pitchFamily="34" charset="-122"/>
                <a:ea typeface="微软雅黑" panose="020B0503020204020204" pitchFamily="34" charset="-122"/>
              </a:rPr>
              <a:t>stim</a:t>
            </a:r>
            <a:r>
              <a:rPr lang="zh-CN" altLang="en-US" sz="2000" b="1" dirty="0">
                <a:solidFill>
                  <a:schemeClr val="bg1"/>
                </a:solidFill>
                <a:latin typeface="微软雅黑" panose="020B0503020204020204" pitchFamily="34" charset="-122"/>
                <a:ea typeface="微软雅黑" panose="020B0503020204020204" pitchFamily="34" charset="-122"/>
              </a:rPr>
              <a:t>引用</a:t>
            </a:r>
            <a:endParaRPr lang="en-US" altLang="zh-CN" sz="2000" b="1" dirty="0">
              <a:solidFill>
                <a:schemeClr val="bg1"/>
              </a:solidFill>
              <a:latin typeface="微软雅黑" panose="020B0503020204020204" pitchFamily="34" charset="-122"/>
              <a:ea typeface="微软雅黑" panose="020B0503020204020204" pitchFamily="34" charset="-122"/>
            </a:endParaRPr>
          </a:p>
          <a:p>
            <a:r>
              <a:rPr lang="zh-CN" altLang="en-US" sz="2000" b="1" dirty="0">
                <a:solidFill>
                  <a:schemeClr val="bg1"/>
                </a:solidFill>
                <a:latin typeface="微软雅黑" panose="020B0503020204020204" pitchFamily="34" charset="-122"/>
                <a:ea typeface="微软雅黑" panose="020B0503020204020204" pitchFamily="34" charset="-122"/>
              </a:rPr>
              <a:t>等同于 </a:t>
            </a:r>
            <a:r>
              <a:rPr lang="en-US" altLang="zh-CN" sz="2000" b="1" dirty="0">
                <a:solidFill>
                  <a:schemeClr val="bg1"/>
                </a:solidFill>
                <a:latin typeface="微软雅黑" panose="020B0503020204020204" pitchFamily="34" charset="-122"/>
                <a:ea typeface="微软雅黑" panose="020B0503020204020204" pitchFamily="34" charset="-122"/>
              </a:rPr>
              <a:t>#100 data=4'b     </a:t>
            </a:r>
          </a:p>
          <a:p>
            <a:r>
              <a:rPr lang="zh-CN" altLang="en-US" sz="2000" b="1" dirty="0">
                <a:solidFill>
                  <a:schemeClr val="bg1"/>
                </a:solidFill>
                <a:latin typeface="微软雅黑" panose="020B0503020204020204" pitchFamily="34" charset="-122"/>
                <a:ea typeface="微软雅黑" panose="020B0503020204020204" pitchFamily="34" charset="-122"/>
              </a:rPr>
              <a:t>注意引用时要用 </a:t>
            </a:r>
            <a:r>
              <a:rPr lang="en-US" altLang="zh-CN" sz="2000" b="1" dirty="0">
                <a:solidFill>
                  <a:schemeClr val="bg1"/>
                </a:solidFill>
                <a:latin typeface="微软雅黑" panose="020B0503020204020204" pitchFamily="34" charset="-122"/>
                <a:ea typeface="微软雅黑" panose="020B0503020204020204" pitchFamily="34" charset="-122"/>
              </a:rPr>
              <a:t>`</a:t>
            </a:r>
            <a:r>
              <a:rPr lang="zh-CN" altLang="en-US" sz="2000" b="1" dirty="0">
                <a:solidFill>
                  <a:schemeClr val="bg1"/>
                </a:solidFill>
                <a:latin typeface="微软雅黑" panose="020B0503020204020204" pitchFamily="34" charset="-122"/>
                <a:ea typeface="微软雅黑" panose="020B0503020204020204" pitchFamily="34" charset="-122"/>
              </a:rPr>
              <a:t>符号。</a:t>
            </a:r>
          </a:p>
        </p:txBody>
      </p:sp>
      <p:sp>
        <p:nvSpPr>
          <p:cNvPr id="2" name="右大括号 1">
            <a:extLst>
              <a:ext uri="{FF2B5EF4-FFF2-40B4-BE49-F238E27FC236}">
                <a16:creationId xmlns:a16="http://schemas.microsoft.com/office/drawing/2014/main" id="{C23DB812-961F-60F9-0F76-70C8F91BF75A}"/>
              </a:ext>
            </a:extLst>
          </p:cNvPr>
          <p:cNvSpPr/>
          <p:nvPr/>
        </p:nvSpPr>
        <p:spPr>
          <a:xfrm>
            <a:off x="5185675" y="2464197"/>
            <a:ext cx="504056" cy="2016224"/>
          </a:xfrm>
          <a:prstGeom prst="rightBrace">
            <a:avLst>
              <a:gd name="adj1" fmla="val 56835"/>
              <a:gd name="adj2" fmla="val 49128"/>
            </a:avLst>
          </a:prstGeom>
          <a:ln w="349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9A9B9503-2237-4AFA-2FCF-9D1F0DB19C64}"/>
              </a:ext>
            </a:extLst>
          </p:cNvPr>
          <p:cNvSpPr txBox="1"/>
          <p:nvPr/>
        </p:nvSpPr>
        <p:spPr>
          <a:xfrm>
            <a:off x="6213351" y="5347621"/>
            <a:ext cx="3141774" cy="707886"/>
          </a:xfrm>
          <a:prstGeom prst="rect">
            <a:avLst/>
          </a:prstGeom>
          <a:solidFill>
            <a:srgbClr val="FF0000"/>
          </a:solidFill>
          <a:ln>
            <a:noFill/>
          </a:ln>
        </p:spPr>
        <p:txBody>
          <a:bodyPr wrap="square">
            <a:spAutoFit/>
          </a:bodyPr>
          <a:lstStyle/>
          <a:p>
            <a:r>
              <a:rPr lang="zh-CN" altLang="en-US" sz="2000" b="1" dirty="0">
                <a:solidFill>
                  <a:schemeClr val="bg1"/>
                </a:solidFill>
                <a:latin typeface="微软雅黑" panose="020B0503020204020204" pitchFamily="34" charset="-122"/>
                <a:ea typeface="微软雅黑" panose="020B0503020204020204" pitchFamily="34" charset="-122"/>
              </a:rPr>
              <a:t>延迟</a:t>
            </a:r>
            <a:r>
              <a:rPr lang="en-US" altLang="zh-CN" sz="2000" b="1" dirty="0">
                <a:solidFill>
                  <a:schemeClr val="bg1"/>
                </a:solidFill>
                <a:latin typeface="微软雅黑" panose="020B0503020204020204" pitchFamily="34" charset="-122"/>
                <a:ea typeface="微软雅黑" panose="020B0503020204020204" pitchFamily="34" charset="-122"/>
              </a:rPr>
              <a:t>200</a:t>
            </a:r>
            <a:r>
              <a:rPr lang="zh-CN" altLang="en-US" sz="2000" b="1" dirty="0">
                <a:solidFill>
                  <a:schemeClr val="bg1"/>
                </a:solidFill>
                <a:latin typeface="微软雅黑" panose="020B0503020204020204" pitchFamily="34" charset="-122"/>
                <a:ea typeface="微软雅黑" panose="020B0503020204020204" pitchFamily="34" charset="-122"/>
              </a:rPr>
              <a:t>个单位时间</a:t>
            </a:r>
            <a:endParaRPr lang="en-US" altLang="zh-CN" sz="2000" b="1" dirty="0">
              <a:solidFill>
                <a:schemeClr val="bg1"/>
              </a:solidFill>
              <a:latin typeface="微软雅黑" panose="020B0503020204020204" pitchFamily="34" charset="-122"/>
              <a:ea typeface="微软雅黑" panose="020B0503020204020204" pitchFamily="34" charset="-122"/>
            </a:endParaRPr>
          </a:p>
          <a:p>
            <a:r>
              <a:rPr lang="zh-CN" altLang="en-US" sz="2000" b="1" dirty="0">
                <a:solidFill>
                  <a:schemeClr val="bg1"/>
                </a:solidFill>
                <a:latin typeface="微软雅黑" panose="020B0503020204020204" pitchFamily="34" charset="-122"/>
                <a:ea typeface="微软雅黑" panose="020B0503020204020204" pitchFamily="34" charset="-122"/>
              </a:rPr>
              <a:t>触发事件</a:t>
            </a:r>
            <a:r>
              <a:rPr lang="en-US" altLang="zh-CN" sz="2000" b="1" dirty="0" err="1">
                <a:solidFill>
                  <a:schemeClr val="bg1"/>
                </a:solidFill>
                <a:latin typeface="微软雅黑" panose="020B0503020204020204" pitchFamily="34" charset="-122"/>
                <a:ea typeface="微软雅黑" panose="020B0503020204020204" pitchFamily="34" charset="-122"/>
              </a:rPr>
              <a:t>end_first_pass</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3" name="箭头: 下 12">
            <a:extLst>
              <a:ext uri="{FF2B5EF4-FFF2-40B4-BE49-F238E27FC236}">
                <a16:creationId xmlns:a16="http://schemas.microsoft.com/office/drawing/2014/main" id="{E8CAFD22-D7A2-9A9B-392D-DEC661F2406E}"/>
              </a:ext>
            </a:extLst>
          </p:cNvPr>
          <p:cNvSpPr/>
          <p:nvPr/>
        </p:nvSpPr>
        <p:spPr>
          <a:xfrm rot="7157725">
            <a:off x="5658759" y="4760113"/>
            <a:ext cx="153857" cy="1175016"/>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14008165"/>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354" y="228285"/>
            <a:ext cx="225016" cy="5866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6434" tIns="48217" rIns="96434" bIns="48217" rtlCol="0" anchor="ctr"/>
          <a:lstStyle/>
          <a:p>
            <a:pPr algn="ctr" defTabSz="964278"/>
            <a:endParaRPr lang="zh-CN" altLang="en-US" sz="1969">
              <a:solidFill>
                <a:srgbClr val="E7E6E6">
                  <a:lumMod val="50000"/>
                </a:srgbClr>
              </a:solidFill>
              <a:ea typeface="微软雅黑" panose="020B0503020204020204" pitchFamily="34" charset="-122"/>
              <a:cs typeface="+mn-ea"/>
              <a:sym typeface="+mn-lt"/>
            </a:endParaRPr>
          </a:p>
        </p:txBody>
      </p:sp>
      <p:sp>
        <p:nvSpPr>
          <p:cNvPr id="26" name="文本框 25"/>
          <p:cNvSpPr txBox="1"/>
          <p:nvPr/>
        </p:nvSpPr>
        <p:spPr>
          <a:xfrm>
            <a:off x="392023" y="266575"/>
            <a:ext cx="2154436" cy="369332"/>
          </a:xfrm>
          <a:prstGeom prst="rect">
            <a:avLst/>
          </a:prstGeom>
          <a:noFill/>
        </p:spPr>
        <p:txBody>
          <a:bodyPr wrap="none" lIns="0" tIns="0" rIns="0" bIns="0" rtlCol="0">
            <a:spAutoFit/>
          </a:bodyPr>
          <a:lstStyle/>
          <a:p>
            <a:pPr defTabSz="964278"/>
            <a:r>
              <a:rPr lang="zh-CN" altLang="en-US" sz="2400" dirty="0">
                <a:solidFill>
                  <a:schemeClr val="bg1">
                    <a:lumMod val="65000"/>
                  </a:schemeClr>
                </a:solidFill>
                <a:latin typeface="微软雅黑" panose="020B0503020204020204" pitchFamily="34" charset="-122"/>
                <a:ea typeface="微软雅黑" panose="020B0503020204020204" pitchFamily="34" charset="-122"/>
                <a:cs typeface="+mn-ea"/>
                <a:sym typeface="+mn-lt"/>
              </a:rPr>
              <a:t>用户定义的原语</a:t>
            </a:r>
          </a:p>
        </p:txBody>
      </p:sp>
      <p:pic>
        <p:nvPicPr>
          <p:cNvPr id="63" name="图片 62">
            <a:extLst>
              <a:ext uri="{FF2B5EF4-FFF2-40B4-BE49-F238E27FC236}">
                <a16:creationId xmlns:a16="http://schemas.microsoft.com/office/drawing/2014/main" id="{6C9EF9C1-4496-484C-B88E-AFBBEB35C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55218" y="0"/>
            <a:ext cx="1397428" cy="1384077"/>
          </a:xfrm>
          <a:prstGeom prst="rect">
            <a:avLst/>
          </a:prstGeom>
        </p:spPr>
      </p:pic>
      <p:sp>
        <p:nvSpPr>
          <p:cNvPr id="9" name="文本框 8">
            <a:extLst>
              <a:ext uri="{FF2B5EF4-FFF2-40B4-BE49-F238E27FC236}">
                <a16:creationId xmlns:a16="http://schemas.microsoft.com/office/drawing/2014/main" id="{0143ACA3-37C7-4744-E4DF-60570AE3F44A}"/>
              </a:ext>
            </a:extLst>
          </p:cNvPr>
          <p:cNvSpPr txBox="1"/>
          <p:nvPr/>
        </p:nvSpPr>
        <p:spPr>
          <a:xfrm>
            <a:off x="0" y="1093456"/>
            <a:ext cx="11829975" cy="1689052"/>
          </a:xfrm>
          <a:prstGeom prst="rect">
            <a:avLst/>
          </a:prstGeom>
          <a:noFill/>
        </p:spPr>
        <p:txBody>
          <a:bodyPr wrap="square">
            <a:spAutoFit/>
          </a:body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可以利用</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UDP</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User Defined Primitives</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）来定义有自己特色的用于仿真的基本逻辑元件模块并建立相应的原语库。</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UDP</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模块的结构与一般模块类似，只是不用</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module</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而改用</a:t>
            </a:r>
            <a:r>
              <a:rPr kumimoji="0" lang="en-US" altLang="zh-CN"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primitive</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关键词开始，不用</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endmodule</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而改用</a:t>
            </a:r>
            <a:r>
              <a:rPr kumimoji="0" lang="en-US" altLang="zh-CN" sz="2400" b="1" i="0" u="none" strike="noStrike" kern="1200" cap="none" spc="0" normalizeH="0" baseline="0" noProof="0" dirty="0" err="1">
                <a:ln>
                  <a:noFill/>
                </a:ln>
                <a:solidFill>
                  <a:srgbClr val="003366"/>
                </a:solidFill>
                <a:effectLst/>
                <a:uLnTx/>
                <a:uFillTx/>
                <a:latin typeface="微软雅黑" panose="020B0503020204020204" pitchFamily="34" charset="-122"/>
                <a:ea typeface="微软雅黑" panose="020B0503020204020204" pitchFamily="34" charset="-122"/>
                <a:cs typeface="+mn-ea"/>
              </a:rPr>
              <a:t>endprimitive</a:t>
            </a:r>
            <a:r>
              <a:rPr kumimoji="0" lang="zh-CN" altLang="en-US" sz="2400" b="1" i="0" u="none" strike="noStrike" kern="120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cs typeface="+mn-ea"/>
              </a:rPr>
              <a:t>关键词结束。</a:t>
            </a:r>
          </a:p>
        </p:txBody>
      </p:sp>
      <p:sp>
        <p:nvSpPr>
          <p:cNvPr id="10" name="文本框 9">
            <a:extLst>
              <a:ext uri="{FF2B5EF4-FFF2-40B4-BE49-F238E27FC236}">
                <a16:creationId xmlns:a16="http://schemas.microsoft.com/office/drawing/2014/main" id="{9DC7BBC7-A1EB-C8A9-8E54-6153464B4667}"/>
              </a:ext>
            </a:extLst>
          </p:cNvPr>
          <p:cNvSpPr txBox="1"/>
          <p:nvPr/>
        </p:nvSpPr>
        <p:spPr>
          <a:xfrm>
            <a:off x="59483" y="2782508"/>
            <a:ext cx="12739784" cy="3905043"/>
          </a:xfrm>
          <a:prstGeom prst="rect">
            <a:avLst/>
          </a:prstGeom>
          <a:noFill/>
        </p:spPr>
        <p:txBody>
          <a:bodyPr wrap="square">
            <a:spAutoFit/>
          </a:bodyPr>
          <a:lstStyle/>
          <a:p>
            <a:pPr algn="just">
              <a:lnSpc>
                <a:spcPct val="150000"/>
              </a:lnSpc>
              <a:defRPr/>
            </a:pPr>
            <a:r>
              <a:rPr lang="zh-CN" altLang="en-US" sz="2400" b="1" dirty="0">
                <a:solidFill>
                  <a:srgbClr val="FF0000"/>
                </a:solidFill>
                <a:latin typeface="微软雅黑" panose="020B0503020204020204" pitchFamily="34" charset="-122"/>
                <a:ea typeface="微软雅黑" panose="020B0503020204020204" pitchFamily="34" charset="-122"/>
                <a:cs typeface="+mn-ea"/>
              </a:rPr>
              <a:t>注意点：</a:t>
            </a:r>
          </a:p>
          <a:p>
            <a:pPr marL="342900" indent="-342900" algn="just">
              <a:lnSpc>
                <a:spcPct val="150000"/>
              </a:lnSpc>
              <a:buFont typeface="Wingdings" panose="05000000000000000000" pitchFamily="2" charset="2"/>
              <a:buChar char="Ø"/>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UDP</a:t>
            </a:r>
            <a:r>
              <a:rPr lang="zh-CN" altLang="en-US" sz="2400" b="1" dirty="0">
                <a:solidFill>
                  <a:srgbClr val="003366"/>
                </a:solidFill>
                <a:latin typeface="微软雅黑" panose="020B0503020204020204" pitchFamily="34" charset="-122"/>
                <a:ea typeface="微软雅黑" panose="020B0503020204020204" pitchFamily="34" charset="-122"/>
                <a:cs typeface="+mn-ea"/>
              </a:rPr>
              <a:t>只能有一个输出端，而且必定是端口说明列表的第一项。</a:t>
            </a:r>
          </a:p>
          <a:p>
            <a:pPr marL="342900" indent="-342900" algn="just">
              <a:lnSpc>
                <a:spcPct val="150000"/>
              </a:lnSpc>
              <a:buFont typeface="Wingdings" panose="05000000000000000000" pitchFamily="2" charset="2"/>
              <a:buChar char="Ø"/>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UDP</a:t>
            </a:r>
            <a:r>
              <a:rPr lang="zh-CN" altLang="en-US" sz="2400" b="1" dirty="0">
                <a:solidFill>
                  <a:srgbClr val="003366"/>
                </a:solidFill>
                <a:latin typeface="微软雅黑" panose="020B0503020204020204" pitchFamily="34" charset="-122"/>
                <a:ea typeface="微软雅黑" panose="020B0503020204020204" pitchFamily="34" charset="-122"/>
                <a:cs typeface="+mn-ea"/>
              </a:rPr>
              <a:t>可以有多个输入端，最多允许有</a:t>
            </a:r>
            <a:r>
              <a:rPr lang="en-US" altLang="zh-CN" sz="2400" b="1" dirty="0">
                <a:solidFill>
                  <a:srgbClr val="003366"/>
                </a:solidFill>
                <a:latin typeface="微软雅黑" panose="020B0503020204020204" pitchFamily="34" charset="-122"/>
                <a:ea typeface="微软雅黑" panose="020B0503020204020204" pitchFamily="34" charset="-122"/>
                <a:cs typeface="+mn-ea"/>
              </a:rPr>
              <a:t>10</a:t>
            </a:r>
            <a:r>
              <a:rPr lang="zh-CN" altLang="en-US" sz="2400" b="1" dirty="0">
                <a:solidFill>
                  <a:srgbClr val="003366"/>
                </a:solidFill>
                <a:latin typeface="微软雅黑" panose="020B0503020204020204" pitchFamily="34" charset="-122"/>
                <a:ea typeface="微软雅黑" panose="020B0503020204020204" pitchFamily="34" charset="-122"/>
                <a:cs typeface="+mn-ea"/>
              </a:rPr>
              <a:t>个输入端。</a:t>
            </a:r>
          </a:p>
          <a:p>
            <a:pPr marL="342900" indent="-342900" algn="just">
              <a:lnSpc>
                <a:spcPct val="150000"/>
              </a:lnSpc>
              <a:buFont typeface="Wingdings" panose="05000000000000000000" pitchFamily="2" charset="2"/>
              <a:buChar char="Ø"/>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UDP</a:t>
            </a:r>
            <a:r>
              <a:rPr lang="zh-CN" altLang="en-US" sz="2400" b="1" dirty="0">
                <a:solidFill>
                  <a:srgbClr val="003366"/>
                </a:solidFill>
                <a:latin typeface="微软雅黑" panose="020B0503020204020204" pitchFamily="34" charset="-122"/>
                <a:ea typeface="微软雅黑" panose="020B0503020204020204" pitchFamily="34" charset="-122"/>
                <a:cs typeface="+mn-ea"/>
              </a:rPr>
              <a:t>所有端口变量必须是标量，也就是必须是</a:t>
            </a:r>
            <a:r>
              <a:rPr lang="en-US" altLang="zh-CN" sz="2400" b="1" dirty="0">
                <a:solidFill>
                  <a:srgbClr val="003366"/>
                </a:solidFill>
                <a:latin typeface="微软雅黑" panose="020B0503020204020204" pitchFamily="34" charset="-122"/>
                <a:ea typeface="微软雅黑" panose="020B0503020204020204" pitchFamily="34" charset="-122"/>
                <a:cs typeface="+mn-ea"/>
              </a:rPr>
              <a:t>1</a:t>
            </a:r>
            <a:r>
              <a:rPr lang="zh-CN" altLang="en-US" sz="2400" b="1" dirty="0">
                <a:solidFill>
                  <a:srgbClr val="003366"/>
                </a:solidFill>
                <a:latin typeface="微软雅黑" panose="020B0503020204020204" pitchFamily="34" charset="-122"/>
                <a:ea typeface="微软雅黑" panose="020B0503020204020204" pitchFamily="34" charset="-122"/>
                <a:cs typeface="+mn-ea"/>
              </a:rPr>
              <a:t>位的。</a:t>
            </a:r>
          </a:p>
          <a:p>
            <a:pPr marL="342900" indent="-342900" algn="just">
              <a:lnSpc>
                <a:spcPct val="150000"/>
              </a:lnSpc>
              <a:buFont typeface="Wingdings" panose="05000000000000000000" pitchFamily="2" charset="2"/>
              <a:buChar char="Ø"/>
              <a:defRPr/>
            </a:pPr>
            <a:r>
              <a:rPr lang="zh-CN" altLang="en-US" sz="2400" b="1" dirty="0">
                <a:solidFill>
                  <a:srgbClr val="003366"/>
                </a:solidFill>
                <a:latin typeface="微软雅黑" panose="020B0503020204020204" pitchFamily="34" charset="-122"/>
                <a:ea typeface="微软雅黑" panose="020B0503020204020204" pitchFamily="34" charset="-122"/>
                <a:cs typeface="+mn-ea"/>
              </a:rPr>
              <a:t>在</a:t>
            </a:r>
            <a:r>
              <a:rPr lang="en-US" altLang="zh-CN" sz="2400" b="1" dirty="0">
                <a:solidFill>
                  <a:srgbClr val="003366"/>
                </a:solidFill>
                <a:latin typeface="微软雅黑" panose="020B0503020204020204" pitchFamily="34" charset="-122"/>
                <a:ea typeface="微软雅黑" panose="020B0503020204020204" pitchFamily="34" charset="-122"/>
                <a:cs typeface="+mn-ea"/>
              </a:rPr>
              <a:t>UDP</a:t>
            </a:r>
            <a:r>
              <a:rPr lang="zh-CN" altLang="en-US" sz="2400" b="1" dirty="0">
                <a:solidFill>
                  <a:srgbClr val="003366"/>
                </a:solidFill>
                <a:latin typeface="微软雅黑" panose="020B0503020204020204" pitchFamily="34" charset="-122"/>
                <a:ea typeface="微软雅黑" panose="020B0503020204020204" pitchFamily="34" charset="-122"/>
                <a:cs typeface="+mn-ea"/>
              </a:rPr>
              <a:t>的真值表项中，只允许出现</a:t>
            </a:r>
            <a:r>
              <a:rPr lang="en-US" altLang="zh-CN" sz="2400" b="1" dirty="0">
                <a:solidFill>
                  <a:srgbClr val="003366"/>
                </a:solidFill>
                <a:latin typeface="微软雅黑" panose="020B0503020204020204" pitchFamily="34" charset="-122"/>
                <a:ea typeface="微软雅黑" panose="020B0503020204020204" pitchFamily="34" charset="-122"/>
                <a:cs typeface="+mn-ea"/>
              </a:rPr>
              <a:t>0</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1</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X</a:t>
            </a:r>
            <a:r>
              <a:rPr lang="zh-CN" altLang="en-US" sz="2400" b="1" dirty="0">
                <a:solidFill>
                  <a:srgbClr val="003366"/>
                </a:solidFill>
                <a:latin typeface="微软雅黑" panose="020B0503020204020204" pitchFamily="34" charset="-122"/>
                <a:ea typeface="微软雅黑" panose="020B0503020204020204" pitchFamily="34" charset="-122"/>
                <a:cs typeface="+mn-ea"/>
              </a:rPr>
              <a:t>三种逻辑值，高阻值状态</a:t>
            </a:r>
            <a:r>
              <a:rPr lang="en-US" altLang="zh-CN" sz="2400" b="1" dirty="0">
                <a:solidFill>
                  <a:srgbClr val="003366"/>
                </a:solidFill>
                <a:latin typeface="微软雅黑" panose="020B0503020204020204" pitchFamily="34" charset="-122"/>
                <a:ea typeface="微软雅黑" panose="020B0503020204020204" pitchFamily="34" charset="-122"/>
                <a:cs typeface="+mn-ea"/>
              </a:rPr>
              <a:t>Z</a:t>
            </a:r>
            <a:r>
              <a:rPr lang="zh-CN" altLang="en-US" sz="2400" b="1" dirty="0">
                <a:solidFill>
                  <a:srgbClr val="003366"/>
                </a:solidFill>
                <a:latin typeface="微软雅黑" panose="020B0503020204020204" pitchFamily="34" charset="-122"/>
                <a:ea typeface="微软雅黑" panose="020B0503020204020204" pitchFamily="34" charset="-122"/>
                <a:cs typeface="+mn-ea"/>
              </a:rPr>
              <a:t>是不允许出现的。</a:t>
            </a:r>
          </a:p>
          <a:p>
            <a:pPr marL="342900" indent="-342900" algn="just">
              <a:lnSpc>
                <a:spcPct val="150000"/>
              </a:lnSpc>
              <a:buFont typeface="Wingdings" panose="05000000000000000000" pitchFamily="2" charset="2"/>
              <a:buChar char="Ø"/>
              <a:defRPr/>
            </a:pPr>
            <a:r>
              <a:rPr lang="zh-CN" altLang="en-US" sz="2400" b="1" dirty="0">
                <a:solidFill>
                  <a:srgbClr val="003366"/>
                </a:solidFill>
                <a:latin typeface="微软雅黑" panose="020B0503020204020204" pitchFamily="34" charset="-122"/>
                <a:ea typeface="微软雅黑" panose="020B0503020204020204" pitchFamily="34" charset="-122"/>
                <a:cs typeface="+mn-ea"/>
              </a:rPr>
              <a:t>只有输出端才可以被定义为寄存器类型变量。</a:t>
            </a:r>
          </a:p>
          <a:p>
            <a:pPr marL="342900" indent="-342900" algn="just">
              <a:lnSpc>
                <a:spcPct val="150000"/>
              </a:lnSpc>
              <a:buFont typeface="Wingdings" panose="05000000000000000000" pitchFamily="2" charset="2"/>
              <a:buChar char="Ø"/>
              <a:defRPr/>
            </a:pPr>
            <a:r>
              <a:rPr lang="en-US" altLang="zh-CN" sz="2400" b="1" dirty="0">
                <a:solidFill>
                  <a:srgbClr val="003366"/>
                </a:solidFill>
                <a:latin typeface="微软雅黑" panose="020B0503020204020204" pitchFamily="34" charset="-122"/>
                <a:ea typeface="微软雅黑" panose="020B0503020204020204" pitchFamily="34" charset="-122"/>
                <a:cs typeface="+mn-ea"/>
              </a:rPr>
              <a:t>initial</a:t>
            </a:r>
            <a:r>
              <a:rPr lang="zh-CN" altLang="en-US" sz="2400" b="1" dirty="0">
                <a:solidFill>
                  <a:srgbClr val="003366"/>
                </a:solidFill>
                <a:latin typeface="微软雅黑" panose="020B0503020204020204" pitchFamily="34" charset="-122"/>
                <a:ea typeface="微软雅黑" panose="020B0503020204020204" pitchFamily="34" charset="-122"/>
                <a:cs typeface="+mn-ea"/>
              </a:rPr>
              <a:t>语句用于为时序电路内部寄存器赋初值，只允许赋</a:t>
            </a:r>
            <a:r>
              <a:rPr lang="en-US" altLang="zh-CN" sz="2400" b="1" dirty="0">
                <a:solidFill>
                  <a:srgbClr val="003366"/>
                </a:solidFill>
                <a:latin typeface="微软雅黑" panose="020B0503020204020204" pitchFamily="34" charset="-122"/>
                <a:ea typeface="微软雅黑" panose="020B0503020204020204" pitchFamily="34" charset="-122"/>
                <a:cs typeface="+mn-ea"/>
              </a:rPr>
              <a:t>0</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1</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r>
              <a:rPr lang="en-US" altLang="zh-CN" sz="2400" b="1" dirty="0">
                <a:solidFill>
                  <a:srgbClr val="003366"/>
                </a:solidFill>
                <a:latin typeface="微软雅黑" panose="020B0503020204020204" pitchFamily="34" charset="-122"/>
                <a:ea typeface="微软雅黑" panose="020B0503020204020204" pitchFamily="34" charset="-122"/>
                <a:cs typeface="+mn-ea"/>
              </a:rPr>
              <a:t>X</a:t>
            </a:r>
            <a:r>
              <a:rPr lang="zh-CN" altLang="en-US" sz="2400" b="1" dirty="0">
                <a:solidFill>
                  <a:srgbClr val="003366"/>
                </a:solidFill>
                <a:latin typeface="微软雅黑" panose="020B0503020204020204" pitchFamily="34" charset="-122"/>
                <a:ea typeface="微软雅黑" panose="020B0503020204020204" pitchFamily="34" charset="-122"/>
                <a:cs typeface="+mn-ea"/>
              </a:rPr>
              <a:t>三种逻辑值，缺省值为</a:t>
            </a:r>
            <a:r>
              <a:rPr lang="en-US" altLang="zh-CN" sz="2400" b="1" dirty="0">
                <a:solidFill>
                  <a:srgbClr val="003366"/>
                </a:solidFill>
                <a:latin typeface="微软雅黑" panose="020B0503020204020204" pitchFamily="34" charset="-122"/>
                <a:ea typeface="微软雅黑" panose="020B0503020204020204" pitchFamily="34" charset="-122"/>
                <a:cs typeface="+mn-ea"/>
              </a:rPr>
              <a:t>X</a:t>
            </a:r>
            <a:r>
              <a:rPr lang="zh-CN" altLang="en-US" sz="2400" b="1" dirty="0">
                <a:solidFill>
                  <a:srgbClr val="003366"/>
                </a:solidFill>
                <a:latin typeface="微软雅黑" panose="020B0503020204020204" pitchFamily="34" charset="-122"/>
                <a:ea typeface="微软雅黑" panose="020B0503020204020204" pitchFamily="34" charset="-122"/>
                <a:cs typeface="+mn-ea"/>
              </a:rPr>
              <a:t>。</a:t>
            </a:r>
          </a:p>
        </p:txBody>
      </p:sp>
    </p:spTree>
    <p:extLst>
      <p:ext uri="{BB962C8B-B14F-4D97-AF65-F5344CB8AC3E}">
        <p14:creationId xmlns:p14="http://schemas.microsoft.com/office/powerpoint/2010/main" val="2319881879"/>
      </p:ext>
    </p:extLst>
  </p:cSld>
  <p:clrMapOvr>
    <a:masterClrMapping/>
  </p:clrMapOvr>
  <mc:AlternateContent xmlns:mc="http://schemas.openxmlformats.org/markup-compatibility/2006" xmlns:p14="http://schemas.microsoft.com/office/powerpoint/2010/main">
    <mc:Choice Requires="p14">
      <p:transition spd="slow" p14:dur="1200" advTm="4000">
        <p14:prism/>
      </p:transition>
    </mc:Choice>
    <mc:Fallback xmlns="">
      <p:transition spd="slow" advTm="400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bt031.pptx"/>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heme/theme1.xml><?xml version="1.0" encoding="utf-8"?>
<a:theme xmlns:a="http://schemas.openxmlformats.org/drawingml/2006/main" name="第一PPT，www.1ppt.com">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1597</Words>
  <Application>Microsoft Office PowerPoint</Application>
  <PresentationFormat>自定义</PresentationFormat>
  <Paragraphs>150</Paragraphs>
  <Slides>15</Slides>
  <Notes>15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微软雅黑</vt:lpstr>
      <vt:lpstr>Agency FB</vt:lpstr>
      <vt:lpstr>Arial</vt:lpstr>
      <vt:lpstr>Calibri</vt:lpstr>
      <vt:lpstr>Calibri Light</vt:lpstr>
      <vt:lpstr>Impact</vt:lpstr>
      <vt:lpstr>Wingdings</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2016-09-26T19:01:29Z</dcterms:created>
  <dcterms:modified xsi:type="dcterms:W3CDTF">2022-05-08T15:47:39Z</dcterms:modified>
</cp:coreProperties>
</file>