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 id="2147483666" r:id="rId3"/>
  </p:sldMasterIdLst>
  <p:notesMasterIdLst>
    <p:notesMasterId r:id="rId6"/>
  </p:notesMasterIdLst>
  <p:sldIdLst>
    <p:sldId id="256" r:id="rId4"/>
    <p:sldId id="1273" r:id="rId5"/>
    <p:sldId id="687" r:id="rId7"/>
    <p:sldId id="1275" r:id="rId8"/>
    <p:sldId id="257" r:id="rId9"/>
    <p:sldId id="1278" r:id="rId10"/>
    <p:sldId id="1280" r:id="rId11"/>
    <p:sldId id="1281" r:id="rId12"/>
    <p:sldId id="842" r:id="rId13"/>
    <p:sldId id="691" r:id="rId14"/>
    <p:sldId id="1285" r:id="rId15"/>
    <p:sldId id="693" r:id="rId16"/>
    <p:sldId id="694" r:id="rId17"/>
    <p:sldId id="695" r:id="rId18"/>
    <p:sldId id="696" r:id="rId19"/>
    <p:sldId id="697" r:id="rId20"/>
    <p:sldId id="699" r:id="rId21"/>
    <p:sldId id="701" r:id="rId22"/>
    <p:sldId id="703" r:id="rId23"/>
    <p:sldId id="705" r:id="rId24"/>
    <p:sldId id="1293" r:id="rId25"/>
    <p:sldId id="707" r:id="rId26"/>
    <p:sldId id="1418" r:id="rId27"/>
    <p:sldId id="729" r:id="rId28"/>
    <p:sldId id="730" r:id="rId29"/>
    <p:sldId id="709" r:id="rId30"/>
    <p:sldId id="1287" r:id="rId31"/>
    <p:sldId id="715" r:id="rId32"/>
    <p:sldId id="716" r:id="rId33"/>
    <p:sldId id="717" r:id="rId34"/>
    <p:sldId id="718" r:id="rId35"/>
    <p:sldId id="711" r:id="rId36"/>
    <p:sldId id="713" r:id="rId37"/>
    <p:sldId id="714" r:id="rId38"/>
    <p:sldId id="720" r:id="rId39"/>
    <p:sldId id="721" r:id="rId40"/>
    <p:sldId id="722" r:id="rId41"/>
    <p:sldId id="723" r:id="rId42"/>
    <p:sldId id="724" r:id="rId43"/>
    <p:sldId id="726" r:id="rId44"/>
    <p:sldId id="727" r:id="rId45"/>
    <p:sldId id="728" r:id="rId46"/>
    <p:sldId id="1541" r:id="rId47"/>
    <p:sldId id="1542" r:id="rId48"/>
    <p:sldId id="1543" r:id="rId49"/>
    <p:sldId id="843" r:id="rId50"/>
    <p:sldId id="833" r:id="rId51"/>
    <p:sldId id="731" r:id="rId52"/>
    <p:sldId id="732" r:id="rId53"/>
    <p:sldId id="1270" r:id="rId54"/>
    <p:sldId id="734" r:id="rId55"/>
    <p:sldId id="737" r:id="rId56"/>
    <p:sldId id="835" r:id="rId57"/>
    <p:sldId id="741" r:id="rId58"/>
    <p:sldId id="836" r:id="rId59"/>
    <p:sldId id="1271" r:id="rId60"/>
    <p:sldId id="750" r:id="rId61"/>
    <p:sldId id="751" r:id="rId62"/>
    <p:sldId id="752" r:id="rId63"/>
    <p:sldId id="753" r:id="rId64"/>
    <p:sldId id="754" r:id="rId65"/>
    <p:sldId id="755" r:id="rId66"/>
    <p:sldId id="757" r:id="rId67"/>
    <p:sldId id="839" r:id="rId68"/>
    <p:sldId id="1544" r:id="rId69"/>
    <p:sldId id="1545" r:id="rId70"/>
    <p:sldId id="1546" r:id="rId71"/>
    <p:sldId id="1547" r:id="rId72"/>
    <p:sldId id="1548" r:id="rId73"/>
    <p:sldId id="1549" r:id="rId74"/>
    <p:sldId id="1550" r:id="rId75"/>
    <p:sldId id="844" r:id="rId76"/>
    <p:sldId id="778" r:id="rId77"/>
    <p:sldId id="779" r:id="rId78"/>
    <p:sldId id="780" r:id="rId79"/>
    <p:sldId id="781" r:id="rId80"/>
    <p:sldId id="783" r:id="rId81"/>
    <p:sldId id="785" r:id="rId82"/>
    <p:sldId id="845" r:id="rId83"/>
    <p:sldId id="787" r:id="rId84"/>
    <p:sldId id="788" r:id="rId85"/>
    <p:sldId id="789" r:id="rId86"/>
    <p:sldId id="846" r:id="rId87"/>
    <p:sldId id="791" r:id="rId88"/>
    <p:sldId id="792" r:id="rId89"/>
    <p:sldId id="793" r:id="rId90"/>
    <p:sldId id="794" r:id="rId91"/>
    <p:sldId id="847" r:id="rId92"/>
    <p:sldId id="796" r:id="rId93"/>
    <p:sldId id="795" r:id="rId94"/>
    <p:sldId id="800" r:id="rId95"/>
    <p:sldId id="802" r:id="rId96"/>
    <p:sldId id="1553" r:id="rId97"/>
    <p:sldId id="1671" r:id="rId98"/>
    <p:sldId id="803" r:id="rId99"/>
    <p:sldId id="852" r:id="rId100"/>
    <p:sldId id="850" r:id="rId101"/>
    <p:sldId id="853" r:id="rId102"/>
    <p:sldId id="806" r:id="rId103"/>
    <p:sldId id="854" r:id="rId104"/>
    <p:sldId id="807" r:id="rId105"/>
    <p:sldId id="808" r:id="rId106"/>
    <p:sldId id="861" r:id="rId107"/>
    <p:sldId id="814" r:id="rId108"/>
    <p:sldId id="815" r:id="rId109"/>
    <p:sldId id="1552" r:id="rId110"/>
    <p:sldId id="816" r:id="rId111"/>
    <p:sldId id="820" r:id="rId112"/>
    <p:sldId id="1672" r:id="rId113"/>
    <p:sldId id="822" r:id="rId114"/>
    <p:sldId id="823" r:id="rId115"/>
    <p:sldId id="824" r:id="rId116"/>
    <p:sldId id="1551" r:id="rId117"/>
    <p:sldId id="828" r:id="rId118"/>
    <p:sldId id="829" r:id="rId119"/>
    <p:sldId id="862" r:id="rId120"/>
    <p:sldId id="1554" r:id="rId121"/>
    <p:sldId id="1555" r:id="rId122"/>
    <p:sldId id="1673" r:id="rId123"/>
    <p:sldId id="1674" r:id="rId124"/>
    <p:sldId id="1675" r:id="rId125"/>
    <p:sldId id="1676" r:id="rId126"/>
    <p:sldId id="1677" r:id="rId127"/>
    <p:sldId id="1678" r:id="rId128"/>
    <p:sldId id="1679" r:id="rId129"/>
    <p:sldId id="1556" r:id="rId130"/>
    <p:sldId id="1557" r:id="rId131"/>
    <p:sldId id="1417" r:id="rId132"/>
    <p:sldId id="1558" r:id="rId133"/>
    <p:sldId id="1559" r:id="rId134"/>
    <p:sldId id="1560" r:id="rId135"/>
    <p:sldId id="1562" r:id="rId136"/>
    <p:sldId id="1561" r:id="rId137"/>
    <p:sldId id="1668" r:id="rId138"/>
    <p:sldId id="1269" r:id="rId139"/>
  </p:sldIdLst>
  <p:sldSz cx="12198350" cy="6859270"/>
  <p:notesSz cx="6858000" cy="9144000"/>
  <p:custDataLst>
    <p:tags r:id="rId143"/>
  </p:custDataLst>
  <p:defaultText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5" userDrawn="1">
          <p15:clr>
            <a:srgbClr val="A4A3A4"/>
          </p15:clr>
        </p15:guide>
        <p15:guide id="2" pos="2880" userDrawn="1">
          <p15:clr>
            <a:srgbClr val="A4A3A4"/>
          </p15:clr>
        </p15:guide>
        <p15:guide id="3" orient="horz" pos="2883" userDrawn="1">
          <p15:clr>
            <a:srgbClr val="A4A3A4"/>
          </p15:clr>
        </p15:guide>
        <p15:guide id="4" pos="38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1157AB"/>
    <a:srgbClr val="FDBF00"/>
    <a:srgbClr val="64C448"/>
    <a:srgbClr val="3333FF"/>
    <a:srgbClr val="FFFFFF"/>
    <a:srgbClr val="74B836"/>
    <a:srgbClr val="FFFF00"/>
    <a:srgbClr val="1A8AB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915" autoAdjust="0"/>
    <p:restoredTop sz="71798" autoAdjust="0"/>
  </p:normalViewPr>
  <p:slideViewPr>
    <p:cSldViewPr showGuides="1">
      <p:cViewPr varScale="1">
        <p:scale>
          <a:sx n="116" d="100"/>
          <a:sy n="116" d="100"/>
        </p:scale>
        <p:origin x="-120" y="-174"/>
      </p:cViewPr>
      <p:guideLst>
        <p:guide orient="horz" pos="2165"/>
        <p:guide pos="2880"/>
        <p:guide orient="horz" pos="2883"/>
        <p:guide pos="38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3" Type="http://schemas.openxmlformats.org/officeDocument/2006/relationships/tags" Target="tags/tag82.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5202F-7878-4E07-BECC-B3FF5D4B8C9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9A62E-562E-489C-A724-CD843F364A0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11E0A72-C847-4021-8371-AEE5D4844C4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11E0A72-C847-4021-8371-AEE5D4844C4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en-US" altLang="zh-CN" b="1" dirty="0">
              <a:solidFill>
                <a:srgbClr val="000000"/>
              </a:solidFill>
              <a:latin typeface="+mn-ea"/>
            </a:endParaRPr>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endParaRPr lang="zh-CN" altLang="en-US" b="1" dirty="0">
              <a:solidFill>
                <a:srgbClr val="000000"/>
              </a:solidFill>
              <a:latin typeface="+mn-ea"/>
            </a:endParaRPr>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ABE0094-04D6-4896-97AE-1CBD06BCED11}"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ABE0094-04D6-4896-97AE-1CBD06BCED11}"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A129180-F651-47F7-9DBA-59BBF301379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推广序偶的思想ꎬ 可以定义任意 ｎ 个元素的有序序列ꎮ</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B8F8B49-C7D3-4FBF-964C-A6FC1C820583}"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3A5655F-9F4F-44EF-9175-D8D99F9526A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2E8DA26-B44C-4240-8833-86642FC6902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A13FB93-A230-458B-BBFF-5474CB0B7358}"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212CC71-3B4D-4D46-9778-E552C5EAA08B}"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34819" name="Rectangle 2"/>
          <p:cNvSpPr>
            <a:spLocks noGrp="1" noRot="1" noChangeAspect="1" noChangeArrowheads="1" noTextEdit="1"/>
          </p:cNvSpPr>
          <p:nvPr>
            <p:ph type="sldImg"/>
          </p:nvPr>
        </p:nvSpPr>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5D24817-5426-4391-BB6E-5D340DD8E2C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0F952D9-88D9-43FE-B9B7-696BBAC8C88B}"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57BD155-0E84-4303-A64D-882751E3590C}"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835" rtl="0" eaLnBrk="1" fontAlgn="auto" latinLnBrk="0" hangingPunct="1">
              <a:lnSpc>
                <a:spcPct val="100000"/>
              </a:lnSpc>
              <a:spcBef>
                <a:spcPts val="0"/>
              </a:spcBef>
              <a:spcAft>
                <a:spcPts val="0"/>
              </a:spcAft>
              <a:buClrTx/>
              <a:buSzTx/>
              <a:buFontTx/>
              <a:buNone/>
              <a:defRPr/>
            </a:pPr>
            <a:fld id="{EB2A8ED0-2FA0-4BFA-A7EF-C36D2E8B3322}"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7940539-51DA-42A4-A75E-516152C53B6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7940539-51DA-42A4-A75E-516152C53B6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7940539-51DA-42A4-A75E-516152C53B6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001E54C-C1B7-4589-8E8D-B840759A8351}"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001E54C-C1B7-4589-8E8D-B840759A8351}"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848074C-E0C2-4BAD-AE1B-02456099B13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F4B370B-395C-4276-A77A-C82642DE9B9B}"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6FF2170-3423-45F0-ADB2-14038BCF188F}"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AE08998-6AAB-4DEC-89D3-DB32A617A7C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B2AB7DB-E534-4D53-BE39-123422611435}"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80023CF-1660-4F5E-9E42-DDDFD0596E1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CE47421-F212-49B0-8F6F-60D8A5B2526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2399C78-E96D-4477-B9B8-F014A7BB2A5F}"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3A0CCC2-1A38-4C3E-A829-59B281F2D218}"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6C2B762D-6F50-4160-B193-4616561F0FC5}"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9FAAB0C-610D-4FFB-AD62-459D27DACDE7}"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420C9AD-E5A2-44D4-906A-2654B462A4C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6B711BB-B87C-4473-B5F9-02B792F8BB1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7E3C5DB-0B4B-418B-A507-7FB56BE8FB3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A3BC0AF-A3E6-43FA-95DD-CF4645827EC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A3BC0AF-A3E6-43FA-95DD-CF4645827EC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AB65DDC0-1E35-42FA-B60C-8D2EA9CABE48}"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假设关系</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表示城市之间的直达航线关系，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表示城市之间的直达公路路线关系。如果</a:t>
            </a:r>
            <a:r>
              <a:rPr lang="en-US" altLang="zh-CN" sz="1200" kern="1200" dirty="0">
                <a:solidFill>
                  <a:schemeClr val="tx1"/>
                </a:solidFill>
                <a:effectLst/>
                <a:latin typeface="+mn-lt"/>
                <a:ea typeface="+mn-ea"/>
                <a:cs typeface="+mn-cs"/>
              </a:rPr>
              <a:t>&lt;a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b&gt;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c&gt;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，那么</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之间存在怎样的关系？又如何表示这样的关系呢？</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显然，集合的基本运算已经没有办法解决上述问题，为此引入一种新的运算—复合运算。</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1219835" rtl="0" eaLnBrk="1" fontAlgn="auto" latinLnBrk="0" hangingPunct="1">
              <a:lnSpc>
                <a:spcPct val="100000"/>
              </a:lnSpc>
              <a:spcBef>
                <a:spcPts val="0"/>
              </a:spcBef>
              <a:spcAft>
                <a:spcPts val="0"/>
              </a:spcAft>
              <a:buClrTx/>
              <a:buSzTx/>
              <a:buFontTx/>
              <a:buNone/>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835" rtl="0" eaLnBrk="1" fontAlgn="auto" latinLnBrk="0" hangingPunct="1">
              <a:lnSpc>
                <a:spcPct val="100000"/>
              </a:lnSpc>
              <a:spcBef>
                <a:spcPts val="0"/>
              </a:spcBef>
              <a:spcAft>
                <a:spcPts val="0"/>
              </a:spcAft>
              <a:buClrTx/>
              <a:buSzTx/>
              <a:buFontTx/>
              <a:buNone/>
              <a:defRPr/>
            </a:pPr>
            <a:fld id="{9F89E359-939C-4F3E-8FBC-E0E8A595C2EF}"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835" rtl="0" eaLnBrk="1" fontAlgn="auto" latinLnBrk="0" hangingPunct="1">
              <a:lnSpc>
                <a:spcPct val="100000"/>
              </a:lnSpc>
              <a:spcBef>
                <a:spcPts val="0"/>
              </a:spcBef>
              <a:spcAft>
                <a:spcPts val="0"/>
              </a:spcAft>
              <a:buClrTx/>
              <a:buSzTx/>
              <a:buFontTx/>
              <a:buNone/>
              <a:defRPr/>
            </a:pPr>
            <a:fld id="{E5A4C8D7-23CE-467D-B27A-A5DCDE487B6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835" rtl="0" eaLnBrk="1" fontAlgn="auto" latinLnBrk="0" hangingPunct="1">
              <a:lnSpc>
                <a:spcPct val="100000"/>
              </a:lnSpc>
              <a:spcBef>
                <a:spcPts val="0"/>
              </a:spcBef>
              <a:spcAft>
                <a:spcPts val="0"/>
              </a:spcAft>
              <a:buClrTx/>
              <a:buSzTx/>
              <a:buFontTx/>
              <a:buNone/>
              <a:defRPr/>
            </a:pPr>
            <a:fld id="{E5A4C8D7-23CE-467D-B27A-A5DCDE487B6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835" rtl="0" eaLnBrk="1" fontAlgn="auto" latinLnBrk="0" hangingPunct="1">
              <a:lnSpc>
                <a:spcPct val="100000"/>
              </a:lnSpc>
              <a:spcBef>
                <a:spcPts val="0"/>
              </a:spcBef>
              <a:spcAft>
                <a:spcPts val="0"/>
              </a:spcAft>
              <a:buClrTx/>
              <a:buSzTx/>
              <a:buFontTx/>
              <a:buNone/>
              <a:defRPr/>
            </a:pPr>
            <a:fld id="{9D879E05-F9BB-4E0E-8591-B8C6F842D3D1}"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marR="0" lvl="0" indent="0" algn="r" defTabSz="1219835" rtl="0" eaLnBrk="1" fontAlgn="auto" latinLnBrk="0" hangingPunct="1">
              <a:lnSpc>
                <a:spcPct val="100000"/>
              </a:lnSpc>
              <a:spcBef>
                <a:spcPts val="0"/>
              </a:spcBef>
              <a:spcAft>
                <a:spcPts val="0"/>
              </a:spcAft>
              <a:buClrTx/>
              <a:buSzTx/>
              <a:buFontTx/>
              <a:buNone/>
              <a:defRPr/>
            </a:pPr>
            <a:fld id="{95379DC1-7EB0-4EA1-B4E6-0FBA3BDE6AB7}"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489B523-7C6F-4FAB-8DA2-CBDE83E195AE}"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F32696-4320-4CDA-BFA6-DBE5739FBD7F}"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47459" name="Rectangle 2"/>
          <p:cNvSpPr>
            <a:spLocks noGrp="1" noRot="1" noChangeAspect="1" noChangeArrowheads="1" noTextEdit="1"/>
          </p:cNvSpPr>
          <p:nvPr>
            <p:ph type="sldImg"/>
          </p:nvPr>
        </p:nvSpPr>
        <p:spPr/>
      </p:sp>
      <p:sp>
        <p:nvSpPr>
          <p:cNvPr id="147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9AB43E8-2C74-4C7D-B5AE-9F5BEC8A9165}"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2A8DD30-7187-431A-BB1F-43A269FC05A0}"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B8A9103-A495-44D0-ACFD-DD1503FABE5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9DB1A00-BF27-4053-885F-EB9BC5E970B0}"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3EA770D-883B-4CBC-9FD8-C1F04F28DAC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97635" name="Rectangle 2"/>
          <p:cNvSpPr>
            <a:spLocks noGrp="1" noRot="1" noChangeAspect="1" noChangeArrowheads="1" noTextEdit="1"/>
          </p:cNvSpPr>
          <p:nvPr>
            <p:ph type="sldImg"/>
          </p:nvPr>
        </p:nvSpPr>
        <p:spPr/>
      </p:sp>
      <p:sp>
        <p:nvSpPr>
          <p:cNvPr id="197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7F39AF5-A360-4269-BB23-1654F87F8E65}"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199683" name="Rectangle 2"/>
          <p:cNvSpPr>
            <a:spLocks noGrp="1" noRot="1" noChangeAspect="1" noChangeArrowheads="1" noTextEdit="1"/>
          </p:cNvSpPr>
          <p:nvPr>
            <p:ph type="sldImg"/>
          </p:nvPr>
        </p:nvSpPr>
        <p:spPr/>
      </p:sp>
      <p:sp>
        <p:nvSpPr>
          <p:cNvPr id="199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AE50E2C-C327-46AB-AB94-90588863AEF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01731" name="Rectangle 2"/>
          <p:cNvSpPr>
            <a:spLocks noGrp="1" noRot="1" noChangeAspect="1" noChangeArrowheads="1" noTextEdit="1"/>
          </p:cNvSpPr>
          <p:nvPr>
            <p:ph type="sldImg"/>
          </p:nvPr>
        </p:nvSpPr>
        <p:spPr/>
      </p:sp>
      <p:sp>
        <p:nvSpPr>
          <p:cNvPr id="201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3F40C186-F906-42EE-8099-61E8518D97F7}"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A299C2E-3BF7-4185-A2AF-45362FA6A3AC}"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11971" name="Rectangle 2"/>
          <p:cNvSpPr>
            <a:spLocks noGrp="1" noRot="1" noChangeAspect="1" noChangeArrowheads="1" noTextEdit="1"/>
          </p:cNvSpPr>
          <p:nvPr>
            <p:ph type="sldImg"/>
          </p:nvPr>
        </p:nvSpPr>
        <p:spPr/>
      </p:sp>
      <p:sp>
        <p:nvSpPr>
          <p:cNvPr id="211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21ED583-FA5E-4D72-91F8-407CDC92A888}"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16067" name="Rectangle 2"/>
          <p:cNvSpPr>
            <a:spLocks noGrp="1" noRot="1" noChangeAspect="1" noChangeArrowheads="1" noTextEdit="1"/>
          </p:cNvSpPr>
          <p:nvPr>
            <p:ph type="sldImg"/>
          </p:nvPr>
        </p:nvSpPr>
        <p:spPr/>
      </p:sp>
      <p:sp>
        <p:nvSpPr>
          <p:cNvPr id="216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17A217F-DCCB-409A-9837-EFE0BCDFF39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18115" name="Rectangle 2"/>
          <p:cNvSpPr>
            <a:spLocks noGrp="1" noRot="1" noChangeAspect="1" noChangeArrowheads="1" noTextEdit="1"/>
          </p:cNvSpPr>
          <p:nvPr>
            <p:ph type="sldImg"/>
          </p:nvPr>
        </p:nvSpPr>
        <p:spPr/>
      </p:sp>
      <p:sp>
        <p:nvSpPr>
          <p:cNvPr id="218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71355B9-8CB4-406A-961D-5EBC446633E9}"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20163" name="Rectangle 2"/>
          <p:cNvSpPr>
            <a:spLocks noGrp="1" noRot="1" noChangeAspect="1" noChangeArrowheads="1" noTextEdit="1"/>
          </p:cNvSpPr>
          <p:nvPr>
            <p:ph type="sldImg"/>
          </p:nvPr>
        </p:nvSpPr>
        <p:spPr/>
      </p:sp>
      <p:sp>
        <p:nvSpPr>
          <p:cNvPr id="2201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8C5102AE-418B-4330-BE2C-2336874A1D5B}"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24259" name="Rectangle 2"/>
          <p:cNvSpPr>
            <a:spLocks noGrp="1" noRot="1" noChangeAspect="1" noChangeArrowheads="1" noTextEdit="1"/>
          </p:cNvSpPr>
          <p:nvPr>
            <p:ph type="sldImg"/>
          </p:nvPr>
        </p:nvSpPr>
        <p:spPr/>
      </p:sp>
      <p:sp>
        <p:nvSpPr>
          <p:cNvPr id="2242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6F48181D-9CD3-4D7C-BA9A-5B438815A66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26307" name="Rectangle 2"/>
          <p:cNvSpPr>
            <a:spLocks noGrp="1" noRot="1" noChangeAspect="1" noChangeArrowheads="1" noTextEdit="1"/>
          </p:cNvSpPr>
          <p:nvPr>
            <p:ph type="sldImg"/>
          </p:nvPr>
        </p:nvSpPr>
        <p:spPr/>
      </p:sp>
      <p:sp>
        <p:nvSpPr>
          <p:cNvPr id="2263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60460AA6-1434-423E-9923-657796878AF3}"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28355" name="Rectangle 2"/>
          <p:cNvSpPr>
            <a:spLocks noGrp="1" noRot="1" noChangeAspect="1" noChangeArrowheads="1" noTextEdit="1"/>
          </p:cNvSpPr>
          <p:nvPr>
            <p:ph type="sldImg"/>
          </p:nvPr>
        </p:nvSpPr>
        <p:spPr/>
      </p:sp>
      <p:sp>
        <p:nvSpPr>
          <p:cNvPr id="228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08E2BC9F-D1BB-450F-B829-DB966A90825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CE9D4813-CA97-411B-B037-91953FE155FE}"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33475" name="Rectangle 2"/>
          <p:cNvSpPr>
            <a:spLocks noGrp="1" noRot="1" noChangeAspect="1" noChangeArrowheads="1" noTextEdit="1"/>
          </p:cNvSpPr>
          <p:nvPr>
            <p:ph type="sldImg"/>
          </p:nvPr>
        </p:nvSpPr>
        <p:spPr/>
      </p:sp>
      <p:sp>
        <p:nvSpPr>
          <p:cNvPr id="2334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BC1CAB5-EC42-4CDF-9D2F-2320B4B8C9F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31427" name="Rectangle 2"/>
          <p:cNvSpPr>
            <a:spLocks noGrp="1" noRot="1" noChangeAspect="1" noChangeArrowheads="1" noTextEdit="1"/>
          </p:cNvSpPr>
          <p:nvPr>
            <p:ph type="sldImg"/>
          </p:nvPr>
        </p:nvSpPr>
        <p:spPr/>
      </p:sp>
      <p:sp>
        <p:nvSpPr>
          <p:cNvPr id="231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65A1D1C-B9A8-4DB4-A3FB-78792EB40A8F}"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41667" name="Rectangle 2"/>
          <p:cNvSpPr>
            <a:spLocks noGrp="1" noRot="1" noChangeAspect="1" noChangeArrowheads="1" noTextEdit="1"/>
          </p:cNvSpPr>
          <p:nvPr>
            <p:ph type="sldImg"/>
          </p:nvPr>
        </p:nvSpPr>
        <p:spPr/>
      </p:sp>
      <p:sp>
        <p:nvSpPr>
          <p:cNvPr id="241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99164AAA-93B6-41D0-AF24-2D3FC7FA271C}"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44739" name="Rectangle 2"/>
          <p:cNvSpPr>
            <a:spLocks noGrp="1" noRot="1" noChangeAspect="1" noChangeArrowheads="1" noTextEdit="1"/>
          </p:cNvSpPr>
          <p:nvPr>
            <p:ph type="sldImg"/>
          </p:nvPr>
        </p:nvSpPr>
        <p:spPr/>
      </p:sp>
      <p:sp>
        <p:nvSpPr>
          <p:cNvPr id="2447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4BFFA54-0B9C-4131-9A8D-CB42EEBA4A0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37571" name="Rectangle 2"/>
          <p:cNvSpPr>
            <a:spLocks noGrp="1" noRot="1" noChangeAspect="1" noChangeArrowheads="1" noTextEdit="1"/>
          </p:cNvSpPr>
          <p:nvPr>
            <p:ph type="sldImg"/>
          </p:nvPr>
        </p:nvSpPr>
        <p:spPr/>
      </p:sp>
      <p:sp>
        <p:nvSpPr>
          <p:cNvPr id="237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7E7C928-623F-4F6B-AD2C-45B7679A37B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49859" name="Rectangle 2"/>
          <p:cNvSpPr>
            <a:spLocks noGrp="1" noRot="1" noChangeAspect="1" noChangeArrowheads="1" noTextEdit="1"/>
          </p:cNvSpPr>
          <p:nvPr>
            <p:ph type="sldImg"/>
          </p:nvPr>
        </p:nvSpPr>
        <p:spPr/>
      </p:sp>
      <p:sp>
        <p:nvSpPr>
          <p:cNvPr id="2498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D690C38-8663-4128-901C-9C5EB53E2AEE}"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51907" name="Rectangle 2"/>
          <p:cNvSpPr>
            <a:spLocks noGrp="1" noRot="1" noChangeAspect="1" noChangeArrowheads="1" noTextEdit="1"/>
          </p:cNvSpPr>
          <p:nvPr>
            <p:ph type="sldImg"/>
          </p:nvPr>
        </p:nvSpPr>
        <p:spPr/>
      </p:sp>
      <p:sp>
        <p:nvSpPr>
          <p:cNvPr id="251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D690C38-8663-4128-901C-9C5EB53E2AEE}"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51907" name="Rectangle 2"/>
          <p:cNvSpPr>
            <a:spLocks noGrp="1" noRot="1" noChangeAspect="1" noChangeArrowheads="1" noTextEdit="1"/>
          </p:cNvSpPr>
          <p:nvPr>
            <p:ph type="sldImg"/>
          </p:nvPr>
        </p:nvSpPr>
        <p:spPr/>
      </p:sp>
      <p:sp>
        <p:nvSpPr>
          <p:cNvPr id="251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DC2EAD63-0504-4866-B9E7-B40FD3A3686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53955" name="Rectangle 2"/>
          <p:cNvSpPr>
            <a:spLocks noGrp="1" noRot="1" noChangeAspect="1" noChangeArrowheads="1" noTextEdit="1"/>
          </p:cNvSpPr>
          <p:nvPr>
            <p:ph type="sldImg"/>
          </p:nvPr>
        </p:nvSpPr>
        <p:spPr/>
      </p:sp>
      <p:sp>
        <p:nvSpPr>
          <p:cNvPr id="253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D13D16-58F9-4463-A228-97B54174813D}"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F5AF794A-15F2-44F9-8135-5AD2ECEEBB46}"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68291" name="Rectangle 2"/>
          <p:cNvSpPr>
            <a:spLocks noGrp="1" noRot="1" noChangeAspect="1" noChangeArrowheads="1" noTextEdit="1"/>
          </p:cNvSpPr>
          <p:nvPr>
            <p:ph type="sldImg"/>
          </p:nvPr>
        </p:nvSpPr>
        <p:spPr/>
      </p:sp>
      <p:sp>
        <p:nvSpPr>
          <p:cNvPr id="268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531AB3DD-2300-4347-B48A-939769CE9BB2}"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70339" name="Rectangle 2"/>
          <p:cNvSpPr>
            <a:spLocks noGrp="1" noRot="1" noChangeAspect="1" noChangeArrowheads="1" noTextEdit="1"/>
          </p:cNvSpPr>
          <p:nvPr>
            <p:ph type="sldImg"/>
          </p:nvPr>
        </p:nvSpPr>
        <p:spPr/>
      </p:sp>
      <p:sp>
        <p:nvSpPr>
          <p:cNvPr id="270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1462D039-5C18-4ECA-9A10-749038BDCC23}"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78531" name="Rectangle 2"/>
          <p:cNvSpPr>
            <a:spLocks noGrp="1" noRot="1" noChangeAspect="1" noChangeArrowheads="1" noTextEdit="1"/>
          </p:cNvSpPr>
          <p:nvPr>
            <p:ph type="sldImg"/>
          </p:nvPr>
        </p:nvSpPr>
        <p:spPr/>
      </p:sp>
      <p:sp>
        <p:nvSpPr>
          <p:cNvPr id="278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6796198-DDE2-43FD-9686-E1AF3B135EDB}"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80579" name="Rectangle 2"/>
          <p:cNvSpPr>
            <a:spLocks noGrp="1" noRot="1" noChangeAspect="1" noChangeArrowheads="1" noTextEdit="1"/>
          </p:cNvSpPr>
          <p:nvPr>
            <p:ph type="sldImg"/>
          </p:nvPr>
        </p:nvSpPr>
        <p:spPr/>
      </p:sp>
      <p:sp>
        <p:nvSpPr>
          <p:cNvPr id="280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EF707240-20B1-4D97-8790-8ECFBE76B049}"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82627" name="Rectangle 2"/>
          <p:cNvSpPr>
            <a:spLocks noGrp="1" noRot="1" noChangeAspect="1" noChangeArrowheads="1" noTextEdit="1"/>
          </p:cNvSpPr>
          <p:nvPr>
            <p:ph type="sldImg"/>
          </p:nvPr>
        </p:nvSpPr>
        <p:spPr/>
      </p:sp>
      <p:sp>
        <p:nvSpPr>
          <p:cNvPr id="282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7AE8AED0-2CAF-4309-91FF-73184957F7CB}"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84675" name="Rectangle 2"/>
          <p:cNvSpPr>
            <a:spLocks noGrp="1" noRot="1" noChangeAspect="1" noChangeArrowheads="1" noTextEdit="1"/>
          </p:cNvSpPr>
          <p:nvPr>
            <p:ph type="sldImg"/>
          </p:nvPr>
        </p:nvSpPr>
        <p:spPr/>
      </p:sp>
      <p:sp>
        <p:nvSpPr>
          <p:cNvPr id="284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47E23702-495D-447D-9500-7DC1229408D1}"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86723" name="Rectangle 2"/>
          <p:cNvSpPr>
            <a:spLocks noGrp="1" noRot="1" noChangeAspect="1" noChangeArrowheads="1" noTextEdit="1"/>
          </p:cNvSpPr>
          <p:nvPr>
            <p:ph type="sldImg"/>
          </p:nvPr>
        </p:nvSpPr>
        <p:spPr/>
      </p:sp>
      <p:sp>
        <p:nvSpPr>
          <p:cNvPr id="286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2FB3034E-4446-454C-BC48-8EAA53EE6741}"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94915" name="Rectangle 2"/>
          <p:cNvSpPr>
            <a:spLocks noGrp="1" noRot="1" noChangeAspect="1" noChangeArrowheads="1" noTextEdit="1"/>
          </p:cNvSpPr>
          <p:nvPr>
            <p:ph type="sldImg"/>
          </p:nvPr>
        </p:nvSpPr>
        <p:spPr/>
      </p:sp>
      <p:sp>
        <p:nvSpPr>
          <p:cNvPr id="294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p:sp>
      <p:sp>
        <p:nvSpPr>
          <p:cNvPr id="296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0000"/>
                </a:solidFill>
                <a:latin typeface="黑体" panose="02010609060101010101" pitchFamily="49" charset="-122"/>
                <a:ea typeface="黑体" panose="02010609060101010101" pitchFamily="49" charset="-122"/>
              </a:defRPr>
            </a:lvl1pPr>
            <a:lvl2pPr marL="742950" indent="-285750">
              <a:defRPr sz="3200">
                <a:solidFill>
                  <a:srgbClr val="FF0000"/>
                </a:solidFill>
                <a:latin typeface="黑体" panose="02010609060101010101" pitchFamily="49" charset="-122"/>
                <a:ea typeface="黑体" panose="02010609060101010101" pitchFamily="49" charset="-122"/>
              </a:defRPr>
            </a:lvl2pPr>
            <a:lvl3pPr marL="1143000" indent="-228600">
              <a:defRPr sz="3200">
                <a:solidFill>
                  <a:srgbClr val="FF0000"/>
                </a:solidFill>
                <a:latin typeface="黑体" panose="02010609060101010101" pitchFamily="49" charset="-122"/>
                <a:ea typeface="黑体" panose="02010609060101010101" pitchFamily="49" charset="-122"/>
              </a:defRPr>
            </a:lvl3pPr>
            <a:lvl4pPr marL="1600200" indent="-228600">
              <a:defRPr sz="3200">
                <a:solidFill>
                  <a:srgbClr val="FF0000"/>
                </a:solidFill>
                <a:latin typeface="黑体" panose="02010609060101010101" pitchFamily="49" charset="-122"/>
                <a:ea typeface="黑体" panose="02010609060101010101" pitchFamily="49" charset="-122"/>
              </a:defRPr>
            </a:lvl4pPr>
            <a:lvl5pPr marL="2057400" indent="-22860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fld id="{BED7D0D3-B40E-49E4-B657-94BA513A4FA4}" type="slidenum">
              <a:rPr lang="zh-CN" altLang="en-US" sz="1200" smtClean="0">
                <a:solidFill>
                  <a:schemeClr val="tx1"/>
                </a:solidFill>
                <a:latin typeface="Arial" panose="020B0604020202020204" pitchFamily="34" charset="0"/>
                <a:ea typeface="宋体" panose="02010600030101010101" pitchFamily="2" charset="-122"/>
              </a:rPr>
            </a:fld>
            <a:endParaRPr lang="en-US" altLang="zh-CN" sz="1200">
              <a:solidFill>
                <a:schemeClr val="tx1"/>
              </a:solidFill>
              <a:latin typeface="Arial" panose="020B0604020202020204" pitchFamily="34" charset="0"/>
              <a:ea typeface="宋体" panose="02010600030101010101" pitchFamily="2" charset="-122"/>
            </a:endParaRPr>
          </a:p>
        </p:txBody>
      </p:sp>
      <p:sp>
        <p:nvSpPr>
          <p:cNvPr id="296963" name="Rectangle 2"/>
          <p:cNvSpPr>
            <a:spLocks noGrp="1" noRot="1" noChangeAspect="1" noChangeArrowheads="1" noTextEdit="1"/>
          </p:cNvSpPr>
          <p:nvPr>
            <p:ph type="sldImg"/>
          </p:nvPr>
        </p:nvSpPr>
        <p:spPr/>
      </p:sp>
      <p:sp>
        <p:nvSpPr>
          <p:cNvPr id="296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39A62E-562E-489C-A724-CD843F364A0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endParaRPr lang="en-US" dirty="0"/>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835"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9270" indent="0" algn="ctr">
              <a:buNone/>
              <a:defRPr>
                <a:solidFill>
                  <a:schemeClr val="tx1">
                    <a:tint val="75000"/>
                  </a:schemeClr>
                </a:solidFill>
              </a:defRPr>
            </a:lvl6pPr>
            <a:lvl7pPr marL="3658870" indent="0" algn="ctr">
              <a:buNone/>
              <a:defRPr>
                <a:solidFill>
                  <a:schemeClr val="tx1">
                    <a:tint val="75000"/>
                  </a:schemeClr>
                </a:solidFill>
              </a:defRPr>
            </a:lvl7pPr>
            <a:lvl8pPr marL="4268470" indent="0" algn="ctr">
              <a:buNone/>
              <a:defRPr>
                <a:solidFill>
                  <a:schemeClr val="tx1">
                    <a:tint val="75000"/>
                  </a:schemeClr>
                </a:solidFill>
              </a:defRPr>
            </a:lvl8pPr>
            <a:lvl9pPr marL="4878705"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a:xfrm>
            <a:off x="9343051" y="8535194"/>
            <a:ext cx="2846282" cy="486946"/>
          </a:xfrm>
          <a:prstGeom prst="rect">
            <a:avLst/>
          </a:prstGeom>
        </p:spPr>
        <p:txBody>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endParaRPr lang="en-US" dirty="0"/>
          </a:p>
        </p:txBody>
      </p:sp>
      <p:sp>
        <p:nvSpPr>
          <p:cNvPr id="3" name="Content Placeholder 2"/>
          <p:cNvSpPr>
            <a:spLocks noGrp="1"/>
          </p:cNvSpPr>
          <p:nvPr>
            <p:ph idx="1"/>
          </p:nvPr>
        </p:nvSpPr>
        <p:spPr>
          <a:xfrm>
            <a:off x="609918" y="1143795"/>
            <a:ext cx="10978515" cy="5029200"/>
          </a:xfrm>
          <a:prstGeom prst="rect">
            <a:avLst/>
          </a:prstGeom>
        </p:spPr>
        <p:txBody>
          <a:bodyPr/>
          <a:lstStyle>
            <a:lvl1pPr marL="457200" indent="-457200">
              <a:lnSpc>
                <a:spcPct val="120000"/>
              </a:lnSpc>
              <a:buSzPct val="80000"/>
              <a:buFont typeface="Wingdings" panose="05000000000000000000"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endParaRPr lang="en-US" dirty="0"/>
          </a:p>
        </p:txBody>
      </p:sp>
      <p:sp>
        <p:nvSpPr>
          <p:cNvPr id="3" name="Content Placeholder 2"/>
          <p:cNvSpPr>
            <a:spLocks noGrp="1"/>
          </p:cNvSpPr>
          <p:nvPr>
            <p:ph idx="1"/>
          </p:nvPr>
        </p:nvSpPr>
        <p:spPr>
          <a:xfrm>
            <a:off x="609918" y="1600994"/>
            <a:ext cx="10978515" cy="4572000"/>
          </a:xfrm>
          <a:prstGeom prst="rect">
            <a:avLst/>
          </a:prstGeom>
        </p:spPr>
        <p:txBody>
          <a:bodyPr/>
          <a:lstStyle>
            <a:lvl1pPr marL="457200" indent="-457200">
              <a:lnSpc>
                <a:spcPct val="120000"/>
              </a:lnSpc>
              <a:buSzPct val="80000"/>
              <a:buFont typeface="Wingdings" panose="05000000000000000000"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
        <p:nvSpPr>
          <p:cNvPr id="7" name="Content Placeholder 2"/>
          <p:cNvSpPr>
            <a:spLocks noGrp="1"/>
          </p:cNvSpPr>
          <p:nvPr>
            <p:ph idx="13"/>
          </p:nvPr>
        </p:nvSpPr>
        <p:spPr>
          <a:xfrm>
            <a:off x="841375" y="984137"/>
            <a:ext cx="10747058" cy="464458"/>
          </a:xfrm>
          <a:prstGeom prst="rect">
            <a:avLst/>
          </a:prstGeom>
        </p:spPr>
        <p:txBody>
          <a:bodyPr/>
          <a:lstStyle>
            <a:lvl1pPr marL="0" indent="0">
              <a:lnSpc>
                <a:spcPct val="120000"/>
              </a:lnSpc>
              <a:buSzPct val="80000"/>
              <a:buFont typeface="Wingdings" panose="05000000000000000000" pitchFamily="2" charset="2"/>
              <a:buNone/>
              <a:defRPr b="0">
                <a:solidFill>
                  <a:schemeClr val="tx1">
                    <a:lumMod val="95000"/>
                    <a:lumOff val="5000"/>
                  </a:schemeClr>
                </a:solidFill>
              </a:defRPr>
            </a:lvl1pPr>
          </a:lstStyle>
          <a:p>
            <a:pPr lvl="0"/>
            <a:r>
              <a:rPr lang="en-US" dirty="0"/>
              <a:t>Click to edit Master text styles</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09917" y="8477096"/>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endParaRPr lang="en-US"/>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endParaRPr lang="en-US"/>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609917" y="8477096"/>
            <a:ext cx="2846282" cy="486946"/>
          </a:xfrm>
          <a:prstGeom prst="rect">
            <a:avLst/>
          </a:prstGeom>
        </p:spPr>
        <p:txBody>
          <a:bodyPr/>
          <a:lstStyle/>
          <a:p>
            <a:endParaRPr lang="en-US" dirty="0"/>
          </a:p>
        </p:txBody>
      </p:sp>
      <p:sp>
        <p:nvSpPr>
          <p:cNvPr id="8" name="Footer Placeholder 7"/>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endParaRPr lang="en-US" dirty="0"/>
          </a:p>
        </p:txBody>
      </p:sp>
      <p:sp>
        <p:nvSpPr>
          <p:cNvPr id="3" name="Footer Placeholder 2"/>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endParaRPr lang="en-US"/>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endParaRPr lang="en-US"/>
          </a:p>
        </p:txBody>
      </p:sp>
      <p:sp>
        <p:nvSpPr>
          <p:cNvPr id="5" name="Date Placeholder 4"/>
          <p:cNvSpPr>
            <a:spLocks noGrp="1"/>
          </p:cNvSpPr>
          <p:nvPr>
            <p:ph type="dt" sz="half" idx="10"/>
          </p:nvPr>
        </p:nvSpPr>
        <p:spPr>
          <a:xfrm>
            <a:off x="609917" y="8477096"/>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endParaRPr lang="en-US"/>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endParaRPr lang="en-US"/>
          </a:p>
        </p:txBody>
      </p:sp>
      <p:sp>
        <p:nvSpPr>
          <p:cNvPr id="5" name="Date Placeholder 4"/>
          <p:cNvSpPr>
            <a:spLocks noGrp="1"/>
          </p:cNvSpPr>
          <p:nvPr>
            <p:ph type="dt" sz="half" idx="10"/>
          </p:nvPr>
        </p:nvSpPr>
        <p:spPr>
          <a:xfrm>
            <a:off x="609917" y="8477096"/>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2" y="552578"/>
            <a:ext cx="10758267" cy="585924"/>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15342" y="1341749"/>
            <a:ext cx="5277481" cy="29994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96128" y="1341749"/>
            <a:ext cx="5277481" cy="29994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5"/>
          <p:cNvSpPr>
            <a:spLocks noGrp="1" noChangeArrowheads="1"/>
          </p:cNvSpPr>
          <p:nvPr>
            <p:ph type="dt" sz="half" idx="10"/>
          </p:nvPr>
        </p:nvSpPr>
        <p:spPr/>
        <p:txBody>
          <a:bodyPr/>
          <a:lstStyle>
            <a:lvl1pPr>
              <a:defRPr/>
            </a:lvl1pPr>
          </a:lstStyle>
          <a:p>
            <a:pPr>
              <a:defRPr/>
            </a:pPr>
            <a:endParaRPr lang="en-US" altLang="zh-CN" dirty="0"/>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2" y="552578"/>
            <a:ext cx="10758267" cy="585924"/>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15342" y="1341749"/>
            <a:ext cx="5277481" cy="29994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296128" y="1341749"/>
            <a:ext cx="5277481" cy="142272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296128" y="2916914"/>
            <a:ext cx="5277481" cy="142431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5"/>
          <p:cNvSpPr>
            <a:spLocks noGrp="1" noChangeArrowheads="1"/>
          </p:cNvSpPr>
          <p:nvPr>
            <p:ph type="dt" sz="half" idx="10"/>
          </p:nvPr>
        </p:nvSpPr>
        <p:spPr/>
        <p:txBody>
          <a:bodyPr/>
          <a:lstStyle>
            <a:lvl1pPr>
              <a:defRPr/>
            </a:lvl1pPr>
          </a:lstStyle>
          <a:p>
            <a:pPr>
              <a:defRPr/>
            </a:pPr>
            <a:endParaRPr lang="en-US" altLang="zh-CN" dirty="0"/>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15342" y="552578"/>
            <a:ext cx="10758267" cy="378865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15"/>
          <p:cNvSpPr>
            <a:spLocks noGrp="1" noChangeArrowheads="1"/>
          </p:cNvSpPr>
          <p:nvPr>
            <p:ph type="dt" sz="half" idx="10"/>
          </p:nvPr>
        </p:nvSpPr>
        <p:spPr/>
        <p:txBody>
          <a:bodyPr/>
          <a:lstStyle>
            <a:lvl1pPr>
              <a:defRPr/>
            </a:lvl1pPr>
          </a:lstStyle>
          <a:p>
            <a:pPr>
              <a:defRPr/>
            </a:pPr>
            <a:endParaRPr lang="en-US" altLang="zh-CN"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761982" y="260708"/>
            <a:ext cx="10147125" cy="1143265"/>
          </a:xfrm>
        </p:spPr>
        <p:txBody>
          <a:bodyPr/>
          <a:lstStyle/>
          <a:p>
            <a:r>
              <a:rPr lang="zh-CN" altLang="en-US" dirty="0"/>
              <a:t>单击此处编辑母版标题样式</a:t>
            </a:r>
            <a:endParaRPr lang="zh-CN" altLang="en-US" dirty="0"/>
          </a:p>
        </p:txBody>
      </p:sp>
      <p:sp>
        <p:nvSpPr>
          <p:cNvPr id="8" name="文本占位符 7"/>
          <p:cNvSpPr>
            <a:spLocks noGrp="1"/>
          </p:cNvSpPr>
          <p:nvPr>
            <p:ph type="body" sz="quarter" idx="13"/>
          </p:nvPr>
        </p:nvSpPr>
        <p:spPr>
          <a:xfrm>
            <a:off x="1200777" y="1629177"/>
            <a:ext cx="10758100" cy="5185777"/>
          </a:xfrm>
        </p:spPr>
        <p:txBody>
          <a:bodyPr/>
          <a:lstStyle>
            <a:lvl2pPr indent="-544195">
              <a:defRPr/>
            </a:lvl2pPr>
            <a:lvl3pPr indent="0">
              <a:defRPr/>
            </a:lvl3pPr>
            <a:lvl4pPr indent="0">
              <a:defRPr/>
            </a:lvl4pPr>
            <a:lvl5pPr indent="0">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2" name="竖排内容占位符 11"/>
          <p:cNvSpPr>
            <a:spLocks noGrp="1"/>
          </p:cNvSpPr>
          <p:nvPr>
            <p:ph orient="vert" sz="quarter" idx="14"/>
          </p:nvPr>
        </p:nvSpPr>
        <p:spPr>
          <a:xfrm>
            <a:off x="47253" y="1629177"/>
            <a:ext cx="1056767" cy="5113752"/>
          </a:xfrm>
        </p:spPr>
        <p:txBody>
          <a:bodyPr vert="eaVert"/>
          <a:lstStyle>
            <a:lvl1pPr marL="0" indent="0" algn="l">
              <a:lnSpc>
                <a:spcPct val="100000"/>
              </a:lnSpc>
              <a:spcBef>
                <a:spcPts val="0"/>
              </a:spcBef>
              <a:buNone/>
              <a:defRPr kumimoji="1" lang="zh-CN" altLang="en-US" sz="5200" b="1" i="0" baseline="0" dirty="0" smtClean="0">
                <a:solidFill>
                  <a:srgbClr val="000099"/>
                </a:solidFill>
                <a:latin typeface="Calibri Bold" charset="0"/>
                <a:ea typeface="华文隶书" panose="02010800040101010101" charset="-122"/>
                <a:cs typeface="+mn-cs"/>
              </a:defRPr>
            </a:lvl1pPr>
          </a:lstStyle>
          <a:p>
            <a:pPr lvl="0"/>
            <a:r>
              <a:rPr lang="zh-CN" altLang="en-US" dirty="0"/>
              <a:t>单击此处编辑母版文本样式</a:t>
            </a:r>
            <a:endParaRPr lang="zh-CN" altLang="en-US" dirty="0"/>
          </a:p>
        </p:txBody>
      </p:sp>
      <p:sp>
        <p:nvSpPr>
          <p:cNvPr id="20" name="文本占位符 19"/>
          <p:cNvSpPr>
            <a:spLocks noGrp="1"/>
          </p:cNvSpPr>
          <p:nvPr>
            <p:ph type="body" sz="quarter" idx="15"/>
          </p:nvPr>
        </p:nvSpPr>
        <p:spPr>
          <a:xfrm>
            <a:off x="239474" y="293462"/>
            <a:ext cx="1440910" cy="1008345"/>
          </a:xfrm>
        </p:spPr>
        <p:txBody>
          <a:bodyPr anchor="ctr"/>
          <a:lstStyle>
            <a:lvl1pPr marL="0" indent="0" algn="ctr" fontAlgn="ctr">
              <a:lnSpc>
                <a:spcPct val="100000"/>
              </a:lnSpc>
              <a:spcBef>
                <a:spcPts val="0"/>
              </a:spcBef>
              <a:buNone/>
              <a:defRPr>
                <a:solidFill>
                  <a:srgbClr val="000099"/>
                </a:solidFill>
              </a:defRPr>
            </a:lvl1pPr>
          </a:lstStyle>
          <a:p>
            <a:pPr lvl="0"/>
            <a:endParaRPr lang="zh-CN" altLang="en-US" dirty="0"/>
          </a:p>
        </p:txBody>
      </p:sp>
      <p:pic>
        <p:nvPicPr>
          <p:cNvPr id="14" name="图片 13"/>
          <p:cNvPicPr>
            <a:picLocks noChangeAspect="1"/>
          </p:cNvPicPr>
          <p:nvPr userDrawn="1"/>
        </p:nvPicPr>
        <p:blipFill>
          <a:blip r:embed="rId2" cstate="print">
            <a:alphaModFix amt="23000"/>
            <a:extLst>
              <a:ext uri="{28A0092B-C50C-407E-A947-70E740481C1C}">
                <a14:useLocalDpi xmlns:a14="http://schemas.microsoft.com/office/drawing/2010/main" val="0"/>
              </a:ext>
            </a:extLst>
          </a:blip>
          <a:stretch>
            <a:fillRect/>
          </a:stretch>
        </p:blipFill>
        <p:spPr>
          <a:xfrm>
            <a:off x="8212510" y="1347742"/>
            <a:ext cx="4130150" cy="209028"/>
          </a:xfrm>
          <a:prstGeom prst="rect">
            <a:avLst/>
          </a:prstGeom>
        </p:spPr>
      </p:pic>
      <p:pic>
        <p:nvPicPr>
          <p:cNvPr id="16" name="图片 15"/>
          <p:cNvPicPr>
            <a:picLocks noChangeAspect="1"/>
          </p:cNvPicPr>
          <p:nvPr userDrawn="1"/>
        </p:nvPicPr>
        <p:blipFill>
          <a:blip r:embed="rId2" cstate="print">
            <a:alphaModFix amt="24000"/>
            <a:extLst>
              <a:ext uri="{28A0092B-C50C-407E-A947-70E740481C1C}">
                <a14:useLocalDpi xmlns:a14="http://schemas.microsoft.com/office/drawing/2010/main" val="0"/>
              </a:ext>
            </a:extLst>
          </a:blip>
          <a:stretch>
            <a:fillRect/>
          </a:stretch>
        </p:blipFill>
        <p:spPr>
          <a:xfrm>
            <a:off x="4370542" y="1347742"/>
            <a:ext cx="4130150" cy="209028"/>
          </a:xfrm>
          <a:prstGeom prst="rect">
            <a:avLst/>
          </a:prstGeom>
        </p:spPr>
      </p:pic>
      <p:grpSp>
        <p:nvGrpSpPr>
          <p:cNvPr id="5" name="组 10"/>
          <p:cNvGrpSpPr>
            <a:grpSpLocks noChangeAspect="1"/>
          </p:cNvGrpSpPr>
          <p:nvPr userDrawn="1"/>
        </p:nvGrpSpPr>
        <p:grpSpPr>
          <a:xfrm>
            <a:off x="1055417" y="1449719"/>
            <a:ext cx="254518" cy="5437259"/>
            <a:chOff x="738076" y="-315208"/>
            <a:chExt cx="252720" cy="7200592"/>
          </a:xfrm>
        </p:grpSpPr>
        <p:pic>
          <p:nvPicPr>
            <p:cNvPr id="17" name="图片 16"/>
            <p:cNvPicPr>
              <a:picLocks noChangeAspect="1"/>
            </p:cNvPicPr>
            <p:nvPr userDrawn="1"/>
          </p:nvPicPr>
          <p:blipFill>
            <a:blip r:embed="rId3" cstate="print">
              <a:alphaModFix amt="24000"/>
              <a:extLst>
                <a:ext uri="{28A0092B-C50C-407E-A947-70E740481C1C}">
                  <a14:useLocalDpi xmlns:a14="http://schemas.microsoft.com/office/drawing/2010/main" val="0"/>
                </a:ext>
              </a:extLst>
            </a:blip>
            <a:stretch>
              <a:fillRect/>
            </a:stretch>
          </p:blipFill>
          <p:spPr>
            <a:xfrm rot="5400000">
              <a:off x="-1007564" y="4887024"/>
              <a:ext cx="3744000" cy="252720"/>
            </a:xfrm>
            <a:prstGeom prst="rect">
              <a:avLst/>
            </a:prstGeom>
          </p:spPr>
        </p:pic>
        <p:pic>
          <p:nvPicPr>
            <p:cNvPr id="18" name="图片 17"/>
            <p:cNvPicPr>
              <a:picLocks noChangeAspect="1"/>
            </p:cNvPicPr>
            <p:nvPr userDrawn="1"/>
          </p:nvPicPr>
          <p:blipFill>
            <a:blip r:embed="rId3" cstate="print">
              <a:alphaModFix amt="24000"/>
              <a:extLst>
                <a:ext uri="{28A0092B-C50C-407E-A947-70E740481C1C}">
                  <a14:useLocalDpi xmlns:a14="http://schemas.microsoft.com/office/drawing/2010/main" val="0"/>
                </a:ext>
              </a:extLst>
            </a:blip>
            <a:stretch>
              <a:fillRect/>
            </a:stretch>
          </p:blipFill>
          <p:spPr>
            <a:xfrm rot="5400000">
              <a:off x="-1007564" y="1430432"/>
              <a:ext cx="3744000" cy="252720"/>
            </a:xfrm>
            <a:prstGeom prst="rect">
              <a:avLst/>
            </a:prstGeom>
          </p:spPr>
        </p:pic>
      </p:grpSp>
      <p:pic>
        <p:nvPicPr>
          <p:cNvPr id="21" name="图片 20"/>
          <p:cNvPicPr>
            <a:picLocks noChangeAspect="1"/>
          </p:cNvPicPr>
          <p:nvPr userDrawn="1"/>
        </p:nvPicPr>
        <p:blipFill>
          <a:blip r:embed="rId2" cstate="print">
            <a:alphaModFix amt="24000"/>
            <a:extLst>
              <a:ext uri="{28A0092B-C50C-407E-A947-70E740481C1C}">
                <a14:useLocalDpi xmlns:a14="http://schemas.microsoft.com/office/drawing/2010/main" val="0"/>
              </a:ext>
            </a:extLst>
          </a:blip>
          <a:stretch>
            <a:fillRect/>
          </a:stretch>
        </p:blipFill>
        <p:spPr>
          <a:xfrm>
            <a:off x="2064627" y="1348124"/>
            <a:ext cx="4130150" cy="209028"/>
          </a:xfrm>
          <a:prstGeom prst="rect">
            <a:avLst/>
          </a:prstGeom>
        </p:spPr>
      </p:pic>
      <p:pic>
        <p:nvPicPr>
          <p:cNvPr id="3" name="图片 2"/>
          <p:cNvPicPr>
            <a:picLocks noChangeAspect="1"/>
          </p:cNvPicPr>
          <p:nvPr userDrawn="1"/>
        </p:nvPicPr>
        <p:blipFill>
          <a:blip r:embed="rId4" cstate="print">
            <a:alphaModFix amt="32000"/>
            <a:extLst>
              <a:ext uri="{28A0092B-C50C-407E-A947-70E740481C1C}">
                <a14:useLocalDpi xmlns:a14="http://schemas.microsoft.com/office/drawing/2010/main" val="0"/>
              </a:ext>
            </a:extLst>
          </a:blip>
          <a:stretch>
            <a:fillRect/>
          </a:stretch>
        </p:blipFill>
        <p:spPr>
          <a:xfrm>
            <a:off x="9749481" y="5302435"/>
            <a:ext cx="2360857" cy="1527426"/>
          </a:xfrm>
          <a:prstGeom prst="rect">
            <a:avLst/>
          </a:prstGeom>
        </p:spPr>
      </p:pic>
      <p:sp>
        <p:nvSpPr>
          <p:cNvPr id="19" name="Rectangle 6"/>
          <p:cNvSpPr>
            <a:spLocks noGrp="1" noChangeArrowheads="1"/>
          </p:cNvSpPr>
          <p:nvPr>
            <p:ph type="sldNum" sz="quarter" idx="4"/>
          </p:nvPr>
        </p:nvSpPr>
        <p:spPr bwMode="auto">
          <a:xfrm>
            <a:off x="11382512" y="6526855"/>
            <a:ext cx="815838" cy="332733"/>
          </a:xfrm>
          <a:prstGeom prst="rect">
            <a:avLst/>
          </a:prstGeom>
          <a:noFill/>
          <a:ln>
            <a:noFill/>
          </a:ln>
          <a:effectLst/>
        </p:spPr>
        <p:txBody>
          <a:bodyPr vert="horz" wrap="square" lIns="108896" tIns="54448" rIns="108896" bIns="54448" numCol="1" anchor="t" anchorCtr="0" compatLnSpc="1"/>
          <a:lstStyle>
            <a:lvl1pPr algn="r" eaLnBrk="1" hangingPunct="1">
              <a:spcBef>
                <a:spcPct val="0"/>
              </a:spcBef>
              <a:defRPr sz="1700" smtClean="0"/>
            </a:lvl1pPr>
          </a:lstStyle>
          <a:p>
            <a:pPr>
              <a:defRPr/>
            </a:pPr>
            <a:fld id="{F37ECD3A-A07E-F94E-BA38-E1841CA883D1}" type="slidenum">
              <a:rPr lang="en-US" altLang="zh-CN" smtClean="0"/>
            </a:fld>
            <a:endParaRPr lang="en-US" alt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761982" y="260708"/>
            <a:ext cx="10147125" cy="1143265"/>
          </a:xfrm>
        </p:spPr>
        <p:txBody>
          <a:bodyPr/>
          <a:lstStyle/>
          <a:p>
            <a:r>
              <a:rPr lang="zh-CN" altLang="en-US" dirty="0"/>
              <a:t>单击此处编辑母版标题样式</a:t>
            </a:r>
            <a:endParaRPr lang="zh-CN" altLang="en-US" dirty="0"/>
          </a:p>
        </p:txBody>
      </p:sp>
      <p:sp>
        <p:nvSpPr>
          <p:cNvPr id="8" name="文本占位符 7"/>
          <p:cNvSpPr>
            <a:spLocks noGrp="1"/>
          </p:cNvSpPr>
          <p:nvPr>
            <p:ph type="body" sz="quarter" idx="13"/>
          </p:nvPr>
        </p:nvSpPr>
        <p:spPr>
          <a:xfrm>
            <a:off x="1200777" y="1629177"/>
            <a:ext cx="10758100" cy="5185777"/>
          </a:xfrm>
        </p:spPr>
        <p:txBody>
          <a:bodyPr/>
          <a:lstStyle>
            <a:lvl2pPr indent="-544195">
              <a:defRPr/>
            </a:lvl2pPr>
            <a:lvl3pPr indent="0">
              <a:defRPr/>
            </a:lvl3pPr>
            <a:lvl4pPr indent="0">
              <a:defRPr/>
            </a:lvl4pPr>
            <a:lvl5pPr indent="0">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2" name="竖排内容占位符 11"/>
          <p:cNvSpPr>
            <a:spLocks noGrp="1"/>
          </p:cNvSpPr>
          <p:nvPr>
            <p:ph orient="vert" sz="quarter" idx="14"/>
          </p:nvPr>
        </p:nvSpPr>
        <p:spPr>
          <a:xfrm>
            <a:off x="47253" y="1629177"/>
            <a:ext cx="1056767" cy="5113752"/>
          </a:xfrm>
        </p:spPr>
        <p:txBody>
          <a:bodyPr vert="eaVert"/>
          <a:lstStyle>
            <a:lvl1pPr marL="0" indent="0" algn="l">
              <a:lnSpc>
                <a:spcPct val="100000"/>
              </a:lnSpc>
              <a:spcBef>
                <a:spcPts val="0"/>
              </a:spcBef>
              <a:buNone/>
              <a:defRPr kumimoji="1" lang="zh-CN" altLang="en-US" sz="5200" b="1" i="0" baseline="0" dirty="0" smtClean="0">
                <a:solidFill>
                  <a:srgbClr val="000099"/>
                </a:solidFill>
                <a:latin typeface="Calibri Bold" charset="0"/>
                <a:ea typeface="华文隶书" panose="02010800040101010101" charset="-122"/>
                <a:cs typeface="+mn-cs"/>
              </a:defRPr>
            </a:lvl1pPr>
          </a:lstStyle>
          <a:p>
            <a:pPr lvl="0"/>
            <a:r>
              <a:rPr lang="zh-CN" altLang="en-US" dirty="0"/>
              <a:t>单击此处编辑母版文本样式</a:t>
            </a:r>
            <a:endParaRPr lang="zh-CN" altLang="en-US" dirty="0"/>
          </a:p>
        </p:txBody>
      </p:sp>
      <p:sp>
        <p:nvSpPr>
          <p:cNvPr id="20" name="文本占位符 19"/>
          <p:cNvSpPr>
            <a:spLocks noGrp="1"/>
          </p:cNvSpPr>
          <p:nvPr>
            <p:ph type="body" sz="quarter" idx="15"/>
          </p:nvPr>
        </p:nvSpPr>
        <p:spPr>
          <a:xfrm>
            <a:off x="239474" y="293462"/>
            <a:ext cx="1440910" cy="1008345"/>
          </a:xfrm>
        </p:spPr>
        <p:txBody>
          <a:bodyPr anchor="ctr"/>
          <a:lstStyle>
            <a:lvl1pPr marL="0" indent="0" algn="ctr" fontAlgn="ctr">
              <a:lnSpc>
                <a:spcPct val="100000"/>
              </a:lnSpc>
              <a:spcBef>
                <a:spcPts val="0"/>
              </a:spcBef>
              <a:buNone/>
              <a:defRPr>
                <a:solidFill>
                  <a:srgbClr val="000099"/>
                </a:solidFill>
              </a:defRPr>
            </a:lvl1pPr>
          </a:lstStyle>
          <a:p>
            <a:pPr lvl="0"/>
            <a:endParaRPr lang="zh-CN" altLang="en-US" dirty="0"/>
          </a:p>
        </p:txBody>
      </p:sp>
      <p:pic>
        <p:nvPicPr>
          <p:cNvPr id="14" name="图片 13"/>
          <p:cNvPicPr>
            <a:picLocks noChangeAspect="1"/>
          </p:cNvPicPr>
          <p:nvPr userDrawn="1"/>
        </p:nvPicPr>
        <p:blipFill>
          <a:blip r:embed="rId2" cstate="print">
            <a:alphaModFix amt="23000"/>
            <a:extLst>
              <a:ext uri="{28A0092B-C50C-407E-A947-70E740481C1C}">
                <a14:useLocalDpi xmlns:a14="http://schemas.microsoft.com/office/drawing/2010/main" val="0"/>
              </a:ext>
            </a:extLst>
          </a:blip>
          <a:stretch>
            <a:fillRect/>
          </a:stretch>
        </p:blipFill>
        <p:spPr>
          <a:xfrm>
            <a:off x="8212510" y="1347742"/>
            <a:ext cx="4130150" cy="209028"/>
          </a:xfrm>
          <a:prstGeom prst="rect">
            <a:avLst/>
          </a:prstGeom>
        </p:spPr>
      </p:pic>
      <p:pic>
        <p:nvPicPr>
          <p:cNvPr id="16" name="图片 15"/>
          <p:cNvPicPr>
            <a:picLocks noChangeAspect="1"/>
          </p:cNvPicPr>
          <p:nvPr userDrawn="1"/>
        </p:nvPicPr>
        <p:blipFill>
          <a:blip r:embed="rId2" cstate="print">
            <a:alphaModFix amt="24000"/>
            <a:extLst>
              <a:ext uri="{28A0092B-C50C-407E-A947-70E740481C1C}">
                <a14:useLocalDpi xmlns:a14="http://schemas.microsoft.com/office/drawing/2010/main" val="0"/>
              </a:ext>
            </a:extLst>
          </a:blip>
          <a:stretch>
            <a:fillRect/>
          </a:stretch>
        </p:blipFill>
        <p:spPr>
          <a:xfrm>
            <a:off x="4370542" y="1347742"/>
            <a:ext cx="4130150" cy="209028"/>
          </a:xfrm>
          <a:prstGeom prst="rect">
            <a:avLst/>
          </a:prstGeom>
        </p:spPr>
      </p:pic>
      <p:grpSp>
        <p:nvGrpSpPr>
          <p:cNvPr id="3" name="组 10"/>
          <p:cNvGrpSpPr>
            <a:grpSpLocks noChangeAspect="1"/>
          </p:cNvGrpSpPr>
          <p:nvPr userDrawn="1"/>
        </p:nvGrpSpPr>
        <p:grpSpPr>
          <a:xfrm>
            <a:off x="1055417" y="1449719"/>
            <a:ext cx="254518" cy="5437259"/>
            <a:chOff x="738076" y="-315208"/>
            <a:chExt cx="252720" cy="7200592"/>
          </a:xfrm>
        </p:grpSpPr>
        <p:pic>
          <p:nvPicPr>
            <p:cNvPr id="17" name="图片 16"/>
            <p:cNvPicPr>
              <a:picLocks noChangeAspect="1"/>
            </p:cNvPicPr>
            <p:nvPr userDrawn="1"/>
          </p:nvPicPr>
          <p:blipFill>
            <a:blip r:embed="rId3" cstate="print">
              <a:alphaModFix amt="24000"/>
              <a:extLst>
                <a:ext uri="{28A0092B-C50C-407E-A947-70E740481C1C}">
                  <a14:useLocalDpi xmlns:a14="http://schemas.microsoft.com/office/drawing/2010/main" val="0"/>
                </a:ext>
              </a:extLst>
            </a:blip>
            <a:stretch>
              <a:fillRect/>
            </a:stretch>
          </p:blipFill>
          <p:spPr>
            <a:xfrm rot="5400000">
              <a:off x="-1007564" y="4887024"/>
              <a:ext cx="3744000" cy="252720"/>
            </a:xfrm>
            <a:prstGeom prst="rect">
              <a:avLst/>
            </a:prstGeom>
          </p:spPr>
        </p:pic>
        <p:pic>
          <p:nvPicPr>
            <p:cNvPr id="18" name="图片 17"/>
            <p:cNvPicPr>
              <a:picLocks noChangeAspect="1"/>
            </p:cNvPicPr>
            <p:nvPr userDrawn="1"/>
          </p:nvPicPr>
          <p:blipFill>
            <a:blip r:embed="rId3" cstate="print">
              <a:alphaModFix amt="24000"/>
              <a:extLst>
                <a:ext uri="{28A0092B-C50C-407E-A947-70E740481C1C}">
                  <a14:useLocalDpi xmlns:a14="http://schemas.microsoft.com/office/drawing/2010/main" val="0"/>
                </a:ext>
              </a:extLst>
            </a:blip>
            <a:stretch>
              <a:fillRect/>
            </a:stretch>
          </p:blipFill>
          <p:spPr>
            <a:xfrm rot="5400000">
              <a:off x="-1007564" y="1430432"/>
              <a:ext cx="3744000" cy="252720"/>
            </a:xfrm>
            <a:prstGeom prst="rect">
              <a:avLst/>
            </a:prstGeom>
          </p:spPr>
        </p:pic>
      </p:grpSp>
      <p:pic>
        <p:nvPicPr>
          <p:cNvPr id="21" name="图片 20"/>
          <p:cNvPicPr>
            <a:picLocks noChangeAspect="1"/>
          </p:cNvPicPr>
          <p:nvPr userDrawn="1"/>
        </p:nvPicPr>
        <p:blipFill>
          <a:blip r:embed="rId2" cstate="print">
            <a:alphaModFix amt="24000"/>
            <a:extLst>
              <a:ext uri="{28A0092B-C50C-407E-A947-70E740481C1C}">
                <a14:useLocalDpi xmlns:a14="http://schemas.microsoft.com/office/drawing/2010/main" val="0"/>
              </a:ext>
            </a:extLst>
          </a:blip>
          <a:stretch>
            <a:fillRect/>
          </a:stretch>
        </p:blipFill>
        <p:spPr>
          <a:xfrm>
            <a:off x="2064627" y="1348124"/>
            <a:ext cx="4130150" cy="209028"/>
          </a:xfrm>
          <a:prstGeom prst="rect">
            <a:avLst/>
          </a:prstGeom>
        </p:spPr>
      </p:pic>
      <p:sp>
        <p:nvSpPr>
          <p:cNvPr id="19" name="Rectangle 6"/>
          <p:cNvSpPr>
            <a:spLocks noGrp="1" noChangeArrowheads="1"/>
          </p:cNvSpPr>
          <p:nvPr>
            <p:ph type="sldNum" sz="quarter" idx="4"/>
          </p:nvPr>
        </p:nvSpPr>
        <p:spPr bwMode="auto">
          <a:xfrm>
            <a:off x="11382512" y="6526855"/>
            <a:ext cx="815838" cy="332733"/>
          </a:xfrm>
          <a:prstGeom prst="rect">
            <a:avLst/>
          </a:prstGeom>
          <a:noFill/>
          <a:ln>
            <a:noFill/>
          </a:ln>
          <a:effectLst/>
        </p:spPr>
        <p:txBody>
          <a:bodyPr vert="horz" wrap="square" lIns="108896" tIns="54448" rIns="108896" bIns="54448" numCol="1" anchor="t" anchorCtr="0" compatLnSpc="1"/>
          <a:lstStyle>
            <a:lvl1pPr algn="r" eaLnBrk="1" hangingPunct="1">
              <a:spcBef>
                <a:spcPct val="0"/>
              </a:spcBef>
              <a:defRPr sz="1700" smtClean="0"/>
            </a:lvl1pPr>
          </a:lstStyle>
          <a:p>
            <a:pPr>
              <a:defRPr/>
            </a:pPr>
            <a:fld id="{F37ECD3A-A07E-F94E-BA38-E1841CA883D1}" type="slidenum">
              <a:rPr lang="en-US" altLang="zh-CN" smtClean="0"/>
            </a:fld>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527656" y="260708"/>
            <a:ext cx="11143038" cy="6266147"/>
          </a:xfrm>
        </p:spPr>
        <p:txBody>
          <a:bodyPr anchor="ct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6"/>
          <p:cNvSpPr>
            <a:spLocks noGrp="1" noChangeArrowheads="1"/>
          </p:cNvSpPr>
          <p:nvPr>
            <p:ph type="sldNum" sz="quarter" idx="4"/>
          </p:nvPr>
        </p:nvSpPr>
        <p:spPr bwMode="auto">
          <a:xfrm>
            <a:off x="11382512" y="6526855"/>
            <a:ext cx="815838" cy="332733"/>
          </a:xfrm>
          <a:prstGeom prst="rect">
            <a:avLst/>
          </a:prstGeom>
          <a:noFill/>
          <a:ln>
            <a:noFill/>
          </a:ln>
          <a:effectLst/>
        </p:spPr>
        <p:txBody>
          <a:bodyPr vert="horz" wrap="square" lIns="108896" tIns="54448" rIns="108896" bIns="54448" numCol="1" anchor="t" anchorCtr="0" compatLnSpc="1"/>
          <a:lstStyle>
            <a:lvl1pPr algn="r" eaLnBrk="1" hangingPunct="1">
              <a:spcBef>
                <a:spcPct val="0"/>
              </a:spcBef>
              <a:defRPr sz="1700" smtClean="0"/>
            </a:lvl1pPr>
          </a:lstStyle>
          <a:p>
            <a:pPr>
              <a:defRPr/>
            </a:pPr>
            <a:fld id="{F37ECD3A-A07E-F94E-BA38-E1841CA883D1}" type="slidenum">
              <a:rPr lang="en-US" altLang="zh-CN" smtClean="0"/>
            </a:fld>
            <a:endParaRPr lang="en-US" altLang="zh-C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6"/>
            <a:ext cx="10368598" cy="1960487"/>
          </a:xfrm>
          <a:prstGeom prst="rect">
            <a:avLst/>
          </a:prstGeom>
        </p:spPr>
        <p:txBody>
          <a:bodyPr/>
          <a:lstStyle/>
          <a:p>
            <a:r>
              <a:rPr lang="en-US" dirty="0"/>
              <a:t>Click to edit Master title style</a:t>
            </a:r>
            <a:endParaRPr lang="en-US" dirty="0"/>
          </a:p>
        </p:txBody>
      </p:sp>
      <p:sp>
        <p:nvSpPr>
          <p:cNvPr id="3" name="Subtitle 2"/>
          <p:cNvSpPr>
            <a:spLocks noGrp="1"/>
          </p:cNvSpPr>
          <p:nvPr>
            <p:ph type="subTitle" idx="1"/>
          </p:nvPr>
        </p:nvSpPr>
        <p:spPr>
          <a:xfrm>
            <a:off x="1829754" y="5182801"/>
            <a:ext cx="8538845" cy="2337341"/>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a:xfrm>
            <a:off x="9343051" y="8535194"/>
            <a:ext cx="2846282" cy="486946"/>
          </a:xfrm>
          <a:prstGeom prst="rect">
            <a:avLst/>
          </a:prstGeom>
        </p:spPr>
        <p:txBody>
          <a:bodyPr/>
          <a:lstStyle/>
          <a:p>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1" y="352425"/>
            <a:ext cx="5334000" cy="429419"/>
          </a:xfrm>
          <a:prstGeom prst="rect">
            <a:avLst/>
          </a:prstGeom>
        </p:spPr>
        <p:txBody>
          <a:bodyPr/>
          <a:lstStyle/>
          <a:p>
            <a:r>
              <a:rPr lang="en-US" dirty="0"/>
              <a:t>Click to edit Master title style</a:t>
            </a:r>
            <a:endParaRPr lang="en-US" dirty="0"/>
          </a:p>
        </p:txBody>
      </p:sp>
      <p:sp>
        <p:nvSpPr>
          <p:cNvPr id="3" name="Content Placeholder 2"/>
          <p:cNvSpPr>
            <a:spLocks noGrp="1"/>
          </p:cNvSpPr>
          <p:nvPr>
            <p:ph idx="1"/>
          </p:nvPr>
        </p:nvSpPr>
        <p:spPr>
          <a:xfrm>
            <a:off x="609919" y="1143795"/>
            <a:ext cx="10978515" cy="5029200"/>
          </a:xfrm>
          <a:prstGeom prst="rect">
            <a:avLst/>
          </a:prstGeom>
        </p:spPr>
        <p:txBody>
          <a:bodyPr/>
          <a:lstStyle>
            <a:lvl1pPr marL="457200" indent="-457200">
              <a:lnSpc>
                <a:spcPct val="120000"/>
              </a:lnSpc>
              <a:buSzPct val="80000"/>
              <a:buFont typeface="Wingdings" panose="05000000000000000000"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1" y="362744"/>
            <a:ext cx="6581775" cy="400050"/>
          </a:xfrm>
          <a:prstGeom prst="rect">
            <a:avLst/>
          </a:prstGeom>
        </p:spPr>
        <p:txBody>
          <a:bodyPr/>
          <a:lstStyle/>
          <a:p>
            <a:r>
              <a:rPr lang="en-US" dirty="0"/>
              <a:t>Click to edit Master title style</a:t>
            </a:r>
            <a:endParaRPr lang="en-US" dirty="0"/>
          </a:p>
        </p:txBody>
      </p:sp>
      <p:sp>
        <p:nvSpPr>
          <p:cNvPr id="3" name="Content Placeholder 2"/>
          <p:cNvSpPr>
            <a:spLocks noGrp="1"/>
          </p:cNvSpPr>
          <p:nvPr>
            <p:ph idx="1"/>
          </p:nvPr>
        </p:nvSpPr>
        <p:spPr>
          <a:xfrm>
            <a:off x="609919" y="1600994"/>
            <a:ext cx="10978515" cy="4572000"/>
          </a:xfrm>
          <a:prstGeom prst="rect">
            <a:avLst/>
          </a:prstGeom>
        </p:spPr>
        <p:txBody>
          <a:bodyPr/>
          <a:lstStyle>
            <a:lvl1pPr marL="457200" indent="-457200">
              <a:lnSpc>
                <a:spcPct val="120000"/>
              </a:lnSpc>
              <a:buSzPct val="80000"/>
              <a:buFont typeface="Wingdings" panose="05000000000000000000" pitchFamily="2" charset="2"/>
              <a:buChar char="l"/>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
        <p:nvSpPr>
          <p:cNvPr id="7" name="Content Placeholder 2"/>
          <p:cNvSpPr>
            <a:spLocks noGrp="1"/>
          </p:cNvSpPr>
          <p:nvPr>
            <p:ph idx="13"/>
          </p:nvPr>
        </p:nvSpPr>
        <p:spPr>
          <a:xfrm>
            <a:off x="841375" y="984137"/>
            <a:ext cx="10747058" cy="464458"/>
          </a:xfrm>
          <a:prstGeom prst="rect">
            <a:avLst/>
          </a:prstGeom>
        </p:spPr>
        <p:txBody>
          <a:bodyPr/>
          <a:lstStyle>
            <a:lvl1pPr marL="0" indent="0">
              <a:lnSpc>
                <a:spcPct val="120000"/>
              </a:lnSpc>
              <a:buSzPct val="80000"/>
              <a:buFont typeface="Wingdings" panose="05000000000000000000" pitchFamily="2" charset="2"/>
              <a:buNone/>
              <a:defRPr b="0">
                <a:solidFill>
                  <a:schemeClr val="tx1">
                    <a:lumMod val="95000"/>
                    <a:lumOff val="5000"/>
                  </a:schemeClr>
                </a:solidFill>
              </a:defRPr>
            </a:lvl1pPr>
          </a:lstStyle>
          <a:p>
            <a:pPr lvl="0"/>
            <a:r>
              <a:rPr lang="en-US" dirty="0"/>
              <a:t>Click to edit Master text styles</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5"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28" tIns="60963" rIns="121928" bIns="60963" rtlCol="0" anchor="ctr"/>
          <a:lstStyle/>
          <a:p>
            <a:pPr algn="ctr"/>
            <a:endParaRPr lang="zh-CN" altLang="en-US" sz="1800"/>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00829"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09917" y="8477097"/>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919" y="2047291"/>
            <a:ext cx="5389723" cy="853214"/>
          </a:xfrm>
          <a:prstGeom prst="rect">
            <a:avLst/>
          </a:prstGeo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en-US"/>
              <a:t>Click to edit Master text styles</a:t>
            </a:r>
            <a:endParaRPr lang="en-US"/>
          </a:p>
        </p:txBody>
      </p:sp>
      <p:sp>
        <p:nvSpPr>
          <p:cNvPr id="4" name="Content Placeholder 3"/>
          <p:cNvSpPr>
            <a:spLocks noGrp="1"/>
          </p:cNvSpPr>
          <p:nvPr>
            <p:ph sz="half" idx="2"/>
          </p:nvPr>
        </p:nvSpPr>
        <p:spPr>
          <a:xfrm>
            <a:off x="609919"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en-US"/>
              <a:t>Click to edit Master text styles</a:t>
            </a:r>
            <a:endParaRPr lang="en-US"/>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609917" y="8477097"/>
            <a:ext cx="2846282" cy="486946"/>
          </a:xfrm>
          <a:prstGeom prst="rect">
            <a:avLst/>
          </a:prstGeom>
        </p:spPr>
        <p:txBody>
          <a:bodyPr/>
          <a:lstStyle/>
          <a:p>
            <a:endParaRPr lang="en-US" dirty="0"/>
          </a:p>
        </p:txBody>
      </p:sp>
      <p:sp>
        <p:nvSpPr>
          <p:cNvPr id="8" name="Footer Placeholder 7"/>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7"/>
            <a:ext cx="2846282" cy="486946"/>
          </a:xfrm>
          <a:prstGeom prst="rect">
            <a:avLst/>
          </a:prstGeom>
        </p:spPr>
        <p:txBody>
          <a:bodyPr/>
          <a:lstStyle/>
          <a:p>
            <a:endParaRPr lang="en-US" dirty="0"/>
          </a:p>
        </p:txBody>
      </p:sp>
      <p:sp>
        <p:nvSpPr>
          <p:cNvPr id="3" name="Footer Placeholder 2"/>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9" y="364151"/>
            <a:ext cx="4013173" cy="1549759"/>
          </a:xfrm>
          <a:prstGeom prst="rect">
            <a:avLst/>
          </a:prstGeom>
        </p:spPr>
        <p:txBody>
          <a:bodyPr anchor="b"/>
          <a:lstStyle>
            <a:lvl1pPr algn="l">
              <a:defRPr sz="2700" b="1"/>
            </a:lvl1pPr>
          </a:lstStyle>
          <a:p>
            <a:r>
              <a:rPr lang="en-US"/>
              <a:t>Click to edit Master title style</a:t>
            </a:r>
            <a:endParaRPr lang="en-US"/>
          </a:p>
        </p:txBody>
      </p:sp>
      <p:sp>
        <p:nvSpPr>
          <p:cNvPr id="3" name="Content Placeholder 2"/>
          <p:cNvSpPr>
            <a:spLocks noGrp="1"/>
          </p:cNvSpPr>
          <p:nvPr>
            <p:ph idx="1"/>
          </p:nvPr>
        </p:nvSpPr>
        <p:spPr>
          <a:xfrm>
            <a:off x="4769216" y="364153"/>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919" y="1913911"/>
            <a:ext cx="4013173" cy="6256199"/>
          </a:xfrm>
          <a:prstGeom prst="rect">
            <a:avLst/>
          </a:prstGeom>
        </p:spPr>
        <p:txBody>
          <a:bodyPr/>
          <a:lstStyle>
            <a:lvl1pPr marL="0" indent="0">
              <a:buNone/>
              <a:defRPr sz="1900"/>
            </a:lvl1pPr>
            <a:lvl2pPr marL="609600" indent="0">
              <a:buNone/>
              <a:defRPr sz="1600"/>
            </a:lvl2pPr>
            <a:lvl3pPr marL="1219200" indent="0">
              <a:buNone/>
              <a:defRPr sz="1300"/>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Click to edit Master text styles</a:t>
            </a:r>
            <a:endParaRPr lang="en-US"/>
          </a:p>
        </p:txBody>
      </p:sp>
      <p:sp>
        <p:nvSpPr>
          <p:cNvPr id="5" name="Date Placeholder 4"/>
          <p:cNvSpPr>
            <a:spLocks noGrp="1"/>
          </p:cNvSpPr>
          <p:nvPr>
            <p:ph type="dt" sz="half" idx="10"/>
          </p:nvPr>
        </p:nvSpPr>
        <p:spPr>
          <a:xfrm>
            <a:off x="609917" y="8477097"/>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3"/>
            <a:ext cx="7319010" cy="755826"/>
          </a:xfrm>
          <a:prstGeom prst="rect">
            <a:avLst/>
          </a:prstGeom>
        </p:spPr>
        <p:txBody>
          <a:bodyPr anchor="b"/>
          <a:lstStyle>
            <a:lvl1pPr algn="l">
              <a:defRPr sz="2700" b="1"/>
            </a:lvl1pPr>
          </a:lstStyle>
          <a:p>
            <a:r>
              <a:rPr lang="en-US"/>
              <a:t>Click to edit Master title style</a:t>
            </a:r>
            <a:endParaRPr lang="en-US"/>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600" indent="0">
              <a:buNone/>
              <a:defRPr sz="3700"/>
            </a:lvl2pPr>
            <a:lvl3pPr marL="1219200" indent="0">
              <a:buNone/>
              <a:defRPr sz="3200"/>
            </a:lvl3pPr>
            <a:lvl4pPr marL="1828800" indent="0">
              <a:buNone/>
              <a:defRPr sz="2700"/>
            </a:lvl4pPr>
            <a:lvl5pPr marL="2438400" indent="0">
              <a:buNone/>
              <a:defRPr sz="2700"/>
            </a:lvl5pPr>
            <a:lvl6pPr marL="3048000" indent="0">
              <a:buNone/>
              <a:defRPr sz="2700"/>
            </a:lvl6pPr>
            <a:lvl7pPr marL="3657600" indent="0">
              <a:buNone/>
              <a:defRPr sz="2700"/>
            </a:lvl7pPr>
            <a:lvl8pPr marL="4267200" indent="0">
              <a:buNone/>
              <a:defRPr sz="2700"/>
            </a:lvl8pPr>
            <a:lvl9pPr marL="4876800"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600" indent="0">
              <a:buNone/>
              <a:defRPr sz="1600"/>
            </a:lvl2pPr>
            <a:lvl3pPr marL="1219200" indent="0">
              <a:buNone/>
              <a:defRPr sz="1300"/>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Click to edit Master text styles</a:t>
            </a:r>
            <a:endParaRPr lang="en-US"/>
          </a:p>
        </p:txBody>
      </p:sp>
      <p:sp>
        <p:nvSpPr>
          <p:cNvPr id="5" name="Date Placeholder 4"/>
          <p:cNvSpPr>
            <a:spLocks noGrp="1"/>
          </p:cNvSpPr>
          <p:nvPr>
            <p:ph type="dt" sz="half" idx="10"/>
          </p:nvPr>
        </p:nvSpPr>
        <p:spPr>
          <a:xfrm>
            <a:off x="609917" y="8477097"/>
            <a:ext cx="2846282" cy="486946"/>
          </a:xfrm>
          <a:prstGeom prst="rect">
            <a:avLst/>
          </a:prstGeom>
        </p:spPr>
        <p:txBody>
          <a:bodyPr/>
          <a:lstStyle/>
          <a:p>
            <a:endParaRPr lang="en-US" dirty="0"/>
          </a:p>
        </p:txBody>
      </p:sp>
      <p:sp>
        <p:nvSpPr>
          <p:cNvPr id="6" name="Footer Placeholder 5"/>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609919" y="2134095"/>
            <a:ext cx="10978515" cy="603601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5" y="366269"/>
            <a:ext cx="2744629" cy="780384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09917" y="8477097"/>
            <a:ext cx="2846282" cy="486946"/>
          </a:xfrm>
          <a:prstGeom prst="rect">
            <a:avLst/>
          </a:prstGeom>
        </p:spPr>
        <p:txBody>
          <a:bodyPr/>
          <a:lstStyle/>
          <a:p>
            <a:endParaRPr lang="en-US" dirty="0"/>
          </a:p>
        </p:txBody>
      </p:sp>
      <p:sp>
        <p:nvSpPr>
          <p:cNvPr id="5" name="Footer Placeholder 4"/>
          <p:cNvSpPr>
            <a:spLocks noGrp="1"/>
          </p:cNvSpPr>
          <p:nvPr>
            <p:ph type="ftr" sz="quarter" idx="11"/>
          </p:nvPr>
        </p:nvSpPr>
        <p:spPr>
          <a:xfrm>
            <a:off x="4167771" y="8477097"/>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7"/>
            <a:ext cx="2846282" cy="486946"/>
          </a:xfrm>
          <a:prstGeom prst="rect">
            <a:avLst/>
          </a:prstGeom>
        </p:spPr>
        <p:txBody>
          <a:bodyPr/>
          <a:lstStyle/>
          <a:p>
            <a:fld id="{B6F15528-21DE-4FAA-801E-634DDDAF4B2B}" type="slidenum">
              <a:rPr lang="en-US" smtClean="0"/>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3" y="552578"/>
            <a:ext cx="10758267" cy="585924"/>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15343" y="1341750"/>
            <a:ext cx="5277481" cy="29994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96129" y="1341750"/>
            <a:ext cx="5277481" cy="29994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5"/>
          <p:cNvSpPr>
            <a:spLocks noGrp="1" noChangeArrowheads="1"/>
          </p:cNvSpPr>
          <p:nvPr>
            <p:ph type="dt" sz="half" idx="10"/>
          </p:nvPr>
        </p:nvSpPr>
        <p:spPr/>
        <p:txBody>
          <a:bodyPr/>
          <a:lstStyle>
            <a:lvl1pPr>
              <a:defRPr/>
            </a:lvl1pPr>
          </a:lstStyle>
          <a:p>
            <a:pPr>
              <a:defRPr/>
            </a:pPr>
            <a:endParaRPr lang="en-US" altLang="zh-CN"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5343" y="552578"/>
            <a:ext cx="10758267" cy="585924"/>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15343" y="1341750"/>
            <a:ext cx="5277481" cy="29994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296129" y="1341750"/>
            <a:ext cx="5277481" cy="142272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296129" y="2916915"/>
            <a:ext cx="5277481" cy="142431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5"/>
          <p:cNvSpPr>
            <a:spLocks noGrp="1" noChangeArrowheads="1"/>
          </p:cNvSpPr>
          <p:nvPr>
            <p:ph type="dt" sz="half" idx="10"/>
          </p:nvPr>
        </p:nvSpPr>
        <p:spPr/>
        <p:txBody>
          <a:bodyPr/>
          <a:lstStyle>
            <a:lvl1pPr>
              <a:defRPr/>
            </a:lvl1pPr>
          </a:lstStyle>
          <a:p>
            <a:pPr>
              <a:defRPr/>
            </a:pPr>
            <a:endParaRPr lang="en-US" altLang="zh-CN"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15343" y="552578"/>
            <a:ext cx="10758267" cy="378865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15"/>
          <p:cNvSpPr>
            <a:spLocks noGrp="1" noChangeArrowheads="1"/>
          </p:cNvSpPr>
          <p:nvPr>
            <p:ph type="dt" sz="half" idx="10"/>
          </p:nvPr>
        </p:nvSpPr>
        <p:spPr/>
        <p:txBody>
          <a:bodyPr/>
          <a:lstStyle>
            <a:lvl1pPr>
              <a:defRPr/>
            </a:lvl1pPr>
          </a:lstStyle>
          <a:p>
            <a:pPr>
              <a:defRPr/>
            </a:pPr>
            <a:endParaRPr lang="en-US" altLang="zh-CN" dirty="0"/>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5" Type="http://schemas.openxmlformats.org/officeDocument/2006/relationships/theme" Target="../theme/theme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fld>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pitchFamily="34" charset="-122"/>
                <a:ea typeface="微软雅黑" panose="020B0503020204020204" pitchFamily="34" charset="-122"/>
              </a:rPr>
              <a:t>第 </a:t>
            </a:r>
            <a:r>
              <a:rPr lang="en-US" altLang="zh-CN" sz="2000" b="1">
                <a:latin typeface="微软雅黑" panose="020B0503020204020204" pitchFamily="34" charset="-122"/>
                <a:ea typeface="微软雅黑" panose="020B0503020204020204" pitchFamily="34" charset="-122"/>
              </a:rPr>
              <a:t>4</a:t>
            </a:r>
            <a:r>
              <a:rPr lang="zh-CN" altLang="en-US" sz="2000" b="1">
                <a:latin typeface="微软雅黑" panose="020B0503020204020204" pitchFamily="34" charset="-122"/>
                <a:ea typeface="微软雅黑" panose="020B0503020204020204" pitchFamily="34" charset="-122"/>
              </a:rPr>
              <a:t>章   二</a:t>
            </a:r>
            <a:r>
              <a:rPr lang="zh-CN" altLang="en-US" sz="2000" b="1" dirty="0">
                <a:latin typeface="微软雅黑" panose="020B0503020204020204" pitchFamily="34" charset="-122"/>
                <a:ea typeface="微软雅黑" panose="020B0503020204020204" pitchFamily="34" charset="-122"/>
              </a:rPr>
              <a:t>元关系</a:t>
            </a:r>
            <a:endParaRPr lang="zh-CN" altLang="en-US" sz="2000" b="1" dirty="0">
              <a:latin typeface="微软雅黑" panose="020B0503020204020204" pitchFamily="34" charset="-122"/>
              <a:ea typeface="微软雅黑" panose="020B0503020204020204" pitchFamily="34" charset="-122"/>
            </a:endParaRP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endParaRPr lang="en-US" dirty="0"/>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1219835" rtl="0" eaLnBrk="1" latinLnBrk="0" hangingPunct="1">
        <a:spcBef>
          <a:spcPct val="0"/>
        </a:spcBef>
        <a:buNone/>
        <a:defRPr sz="2200" b="1" kern="1200">
          <a:solidFill>
            <a:schemeClr val="bg1"/>
          </a:solidFill>
          <a:latin typeface="+mn-ea"/>
          <a:ea typeface="+mn-ea"/>
          <a:cs typeface="+mj-cs"/>
        </a:defRPr>
      </a:lvl1pPr>
    </p:titleStyle>
    <p:body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609522" y="1143795"/>
            <a:ext cx="10971372" cy="5000369"/>
          </a:xfrm>
          <a:prstGeom prst="rect">
            <a:avLst/>
          </a:prstGeom>
        </p:spPr>
        <p:txBody>
          <a:bodyPr vert="horz" lIns="121917" tIns="60958" rIns="121917" bIns="60958"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p>
            <a:pPr lvl="0" algn="ctr"/>
            <a:endParaRPr lang="zh-CN" altLang="en-US" sz="1800"/>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椭圆 25"/>
          <p:cNvSpPr/>
          <p:nvPr userDrawn="1"/>
        </p:nvSpPr>
        <p:spPr>
          <a:xfrm>
            <a:off x="11280775" y="330108"/>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0" dirty="0">
              <a:latin typeface="微软雅黑" panose="020B0503020204020204" pitchFamily="34" charset="-122"/>
              <a:ea typeface="微软雅黑" panose="020B0503020204020204" pitchFamily="34" charset="-122"/>
            </a:endParaRPr>
          </a:p>
        </p:txBody>
      </p:sp>
      <p:sp>
        <p:nvSpPr>
          <p:cNvPr id="27" name="TextBox 15"/>
          <p:cNvSpPr txBox="1"/>
          <p:nvPr userDrawn="1"/>
        </p:nvSpPr>
        <p:spPr>
          <a:xfrm>
            <a:off x="11283363"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fld>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pitchFamily="34" charset="-122"/>
                <a:ea typeface="微软雅黑" panose="020B0503020204020204" pitchFamily="34" charset="-122"/>
              </a:rPr>
              <a:t>第 </a:t>
            </a:r>
            <a:r>
              <a:rPr lang="en-US" altLang="zh-CN" sz="2000" b="1">
                <a:latin typeface="微软雅黑" panose="020B0503020204020204" pitchFamily="34" charset="-122"/>
                <a:ea typeface="微软雅黑" panose="020B0503020204020204" pitchFamily="34" charset="-122"/>
              </a:rPr>
              <a:t>4</a:t>
            </a:r>
            <a:r>
              <a:rPr lang="zh-CN" altLang="en-US" sz="2000" b="1">
                <a:latin typeface="微软雅黑" panose="020B0503020204020204" pitchFamily="34" charset="-122"/>
                <a:ea typeface="微软雅黑" panose="020B0503020204020204" pitchFamily="34" charset="-122"/>
              </a:rPr>
              <a:t>章   二</a:t>
            </a:r>
            <a:r>
              <a:rPr lang="zh-CN" altLang="en-US" sz="2000" b="1" dirty="0">
                <a:latin typeface="微软雅黑" panose="020B0503020204020204" pitchFamily="34" charset="-122"/>
                <a:ea typeface="微软雅黑" panose="020B0503020204020204" pitchFamily="34" charset="-122"/>
              </a:rPr>
              <a:t>元关系</a:t>
            </a:r>
            <a:endParaRPr lang="zh-CN" altLang="en-US" sz="2000" b="1" dirty="0">
              <a:latin typeface="微软雅黑" panose="020B0503020204020204" pitchFamily="34" charset="-122"/>
              <a:ea typeface="微软雅黑" panose="020B0503020204020204" pitchFamily="34" charset="-122"/>
            </a:endParaRP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endParaRPr lang="en-US" dirty="0"/>
          </a:p>
        </p:txBody>
      </p:sp>
      <p:sp>
        <p:nvSpPr>
          <p:cNvPr id="40" name="等腰三角形 39">
            <a:hlinkClick r:id="" action="ppaction://hlinkshowjump?jump=previousslide"/>
          </p:cNvPr>
          <p:cNvSpPr/>
          <p:nvPr userDrawn="1"/>
        </p:nvSpPr>
        <p:spPr>
          <a:xfrm rot="5400000" flipH="1">
            <a:off x="38541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p:hf sldNum="0" hdr="0" ftr="0" dt="0"/>
  <p:txStyles>
    <p:titleStyle>
      <a:lvl1pPr algn="l" defTabSz="1219200" rtl="0" eaLnBrk="1" latinLnBrk="0" hangingPunct="1">
        <a:spcBef>
          <a:spcPct val="0"/>
        </a:spcBef>
        <a:buNone/>
        <a:defRPr sz="2200" b="1" kern="1200">
          <a:solidFill>
            <a:schemeClr val="bg1"/>
          </a:solidFill>
          <a:latin typeface="+mn-ea"/>
          <a:ea typeface="+mn-ea"/>
          <a:cs typeface="+mj-cs"/>
        </a:defRPr>
      </a:lvl1pPr>
    </p:titleStyle>
    <p:bodyStyle>
      <a:lvl1pPr marL="457200" indent="-457200" algn="l" defTabSz="1219200"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0600" indent="-381000" algn="l" defTabSz="1219200"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tags" Target="../tags/tag3.xml"/><Relationship Id="rId2" Type="http://schemas.openxmlformats.org/officeDocument/2006/relationships/image" Target="../media/image6.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tags" Target="../tags/tag5.xml"/><Relationship Id="rId2" Type="http://schemas.openxmlformats.org/officeDocument/2006/relationships/image" Target="../media/image9.jpe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29.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19.wmf"/><Relationship Id="rId7" Type="http://schemas.openxmlformats.org/officeDocument/2006/relationships/oleObject" Target="../embeddings/oleObject5.bin"/><Relationship Id="rId6" Type="http://schemas.openxmlformats.org/officeDocument/2006/relationships/image" Target="../media/image18.wmf"/><Relationship Id="rId5" Type="http://schemas.openxmlformats.org/officeDocument/2006/relationships/oleObject" Target="../embeddings/oleObject4.bin"/><Relationship Id="rId4" Type="http://schemas.openxmlformats.org/officeDocument/2006/relationships/image" Target="../media/image17.wmf"/><Relationship Id="rId3" Type="http://schemas.openxmlformats.org/officeDocument/2006/relationships/oleObject" Target="../embeddings/oleObject3.bin"/><Relationship Id="rId2" Type="http://schemas.openxmlformats.org/officeDocument/2006/relationships/image" Target="../media/image16.wmf"/><Relationship Id="rId16" Type="http://schemas.openxmlformats.org/officeDocument/2006/relationships/notesSlide" Target="../notesSlides/notesSlide34.xml"/><Relationship Id="rId15" Type="http://schemas.openxmlformats.org/officeDocument/2006/relationships/vmlDrawing" Target="../drawings/vmlDrawing2.vml"/><Relationship Id="rId14" Type="http://schemas.openxmlformats.org/officeDocument/2006/relationships/slideLayout" Target="../slideLayouts/slideLayout2.xml"/><Relationship Id="rId13" Type="http://schemas.openxmlformats.org/officeDocument/2006/relationships/tags" Target="../tags/tag30.xml"/><Relationship Id="rId12" Type="http://schemas.openxmlformats.org/officeDocument/2006/relationships/image" Target="../media/image21.emf"/><Relationship Id="rId11" Type="http://schemas.openxmlformats.org/officeDocument/2006/relationships/oleObject" Target="../embeddings/oleObject7.bin"/><Relationship Id="rId10" Type="http://schemas.openxmlformats.org/officeDocument/2006/relationships/image" Target="../media/image20.emf"/><Relationship Id="rId1"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tags" Target="../tags/tag32.xml"/><Relationship Id="rId4" Type="http://schemas.openxmlformats.org/officeDocument/2006/relationships/image" Target="../media/image23.wmf"/><Relationship Id="rId3" Type="http://schemas.openxmlformats.org/officeDocument/2006/relationships/oleObject" Target="../embeddings/oleObject9.bin"/><Relationship Id="rId2" Type="http://schemas.openxmlformats.org/officeDocument/2006/relationships/image" Target="../media/image22.wmf"/><Relationship Id="rId1"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vmlDrawing" Target="../drawings/vmlDrawing4.vml"/><Relationship Id="rId6" Type="http://schemas.openxmlformats.org/officeDocument/2006/relationships/slideLayout" Target="../slideLayouts/slideLayout12.xml"/><Relationship Id="rId5" Type="http://schemas.openxmlformats.org/officeDocument/2006/relationships/tags" Target="../tags/tag33.xml"/><Relationship Id="rId4" Type="http://schemas.openxmlformats.org/officeDocument/2006/relationships/image" Target="../media/image25.wmf"/><Relationship Id="rId3" Type="http://schemas.openxmlformats.org/officeDocument/2006/relationships/oleObject" Target="../embeddings/oleObject11.bin"/><Relationship Id="rId2" Type="http://schemas.openxmlformats.org/officeDocument/2006/relationships/image" Target="../media/image24.wmf"/><Relationship Id="rId1" Type="http://schemas.openxmlformats.org/officeDocument/2006/relationships/oleObject" Target="../embeddings/oleObject10.bin"/></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38.xml"/><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14.bin"/><Relationship Id="rId4" Type="http://schemas.openxmlformats.org/officeDocument/2006/relationships/image" Target="../media/image27.wmf"/><Relationship Id="rId3" Type="http://schemas.openxmlformats.org/officeDocument/2006/relationships/oleObject" Target="../embeddings/oleObject13.bin"/><Relationship Id="rId2" Type="http://schemas.openxmlformats.org/officeDocument/2006/relationships/image" Target="../media/image26.wmf"/><Relationship Id="rId1" Type="http://schemas.openxmlformats.org/officeDocument/2006/relationships/oleObject" Target="../embeddings/oleObject12.bin"/></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tags" Target="../tags/tag34.xml"/><Relationship Id="rId4" Type="http://schemas.openxmlformats.org/officeDocument/2006/relationships/image" Target="../media/image30.wmf"/><Relationship Id="rId3" Type="http://schemas.openxmlformats.org/officeDocument/2006/relationships/oleObject" Target="../embeddings/oleObject16.bin"/><Relationship Id="rId2" Type="http://schemas.openxmlformats.org/officeDocument/2006/relationships/image" Target="../media/image29.wmf"/><Relationship Id="rId1" Type="http://schemas.openxmlformats.org/officeDocument/2006/relationships/oleObject" Target="../embeddings/oleObject15.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3.xml"/><Relationship Id="rId4" Type="http://schemas.openxmlformats.org/officeDocument/2006/relationships/tags" Target="../tags/tag36.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3.xml"/><Relationship Id="rId2" Type="http://schemas.openxmlformats.org/officeDocument/2006/relationships/tags" Target="../tags/tag37.xml"/><Relationship Id="rId1" Type="http://schemas.openxmlformats.org/officeDocument/2006/relationships/image" Target="../media/image3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9.xml"/><Relationship Id="rId1" Type="http://schemas.openxmlformats.org/officeDocument/2006/relationships/tags" Target="../tags/tag3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9.xml"/><Relationship Id="rId1" Type="http://schemas.openxmlformats.org/officeDocument/2006/relationships/tags" Target="../tags/tag3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9.xml"/><Relationship Id="rId1" Type="http://schemas.openxmlformats.org/officeDocument/2006/relationships/tags" Target="../tags/tag40.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9.xml"/><Relationship Id="rId2" Type="http://schemas.openxmlformats.org/officeDocument/2006/relationships/tags" Target="../tags/tag41.xml"/><Relationship Id="rId1" Type="http://schemas.openxmlformats.org/officeDocument/2006/relationships/image" Target="../media/image11.pn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vmlDrawing" Target="../drawings/vmlDrawing7.vml"/><Relationship Id="rId4" Type="http://schemas.openxmlformats.org/officeDocument/2006/relationships/slideLayout" Target="../slideLayouts/slideLayout19.xml"/><Relationship Id="rId3" Type="http://schemas.openxmlformats.org/officeDocument/2006/relationships/tags" Target="../tags/tag42.xml"/><Relationship Id="rId2" Type="http://schemas.openxmlformats.org/officeDocument/2006/relationships/image" Target="../media/image35.wmf"/><Relationship Id="rId1" Type="http://schemas.openxmlformats.org/officeDocument/2006/relationships/oleObject" Target="../embeddings/oleObject17.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4.xml"/><Relationship Id="rId1" Type="http://schemas.openxmlformats.org/officeDocument/2006/relationships/tags" Target="../tags/tag4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tags" Target="../tags/tag46.xml"/><Relationship Id="rId2" Type="http://schemas.openxmlformats.org/officeDocument/2006/relationships/image" Target="../media/image36.emf"/><Relationship Id="rId1" Type="http://schemas.openxmlformats.org/officeDocument/2006/relationships/oleObject" Target="../embeddings/oleObject18.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vmlDrawing" Target="../drawings/vmlDrawing9.vml"/><Relationship Id="rId4" Type="http://schemas.openxmlformats.org/officeDocument/2006/relationships/slideLayout" Target="../slideLayouts/slideLayout14.xml"/><Relationship Id="rId3" Type="http://schemas.openxmlformats.org/officeDocument/2006/relationships/tags" Target="../tags/tag49.xml"/><Relationship Id="rId2" Type="http://schemas.openxmlformats.org/officeDocument/2006/relationships/image" Target="../media/image37.wmf"/><Relationship Id="rId1" Type="http://schemas.openxmlformats.org/officeDocument/2006/relationships/oleObject" Target="../embeddings/oleObject19.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39.wmf"/><Relationship Id="rId3" Type="http://schemas.openxmlformats.org/officeDocument/2006/relationships/oleObject" Target="../embeddings/oleObject21.bin"/><Relationship Id="rId2" Type="http://schemas.openxmlformats.org/officeDocument/2006/relationships/image" Target="../media/image38.wmf"/><Relationship Id="rId1" Type="http://schemas.openxmlformats.org/officeDocument/2006/relationships/oleObject" Target="../embeddings/oleObject20.bin"/></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41.wmf"/><Relationship Id="rId3" Type="http://schemas.openxmlformats.org/officeDocument/2006/relationships/oleObject" Target="../embeddings/oleObject23.bin"/><Relationship Id="rId2" Type="http://schemas.openxmlformats.org/officeDocument/2006/relationships/image" Target="../media/image40.wmf"/><Relationship Id="rId1" Type="http://schemas.openxmlformats.org/officeDocument/2006/relationships/oleObject" Target="../embeddings/oleObject22.bin"/></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24.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image" Target="../media/image44.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2.xml"/><Relationship Id="rId2" Type="http://schemas.openxmlformats.org/officeDocument/2006/relationships/tags" Target="../tags/tag51.xml"/><Relationship Id="rId1" Type="http://schemas.openxmlformats.org/officeDocument/2006/relationships/image" Target="../media/image45.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image" Target="../media/image46.png"/></Relationships>
</file>

<file path=ppt/slides/_rels/slide76.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13.xml"/><Relationship Id="rId7" Type="http://schemas.openxmlformats.org/officeDocument/2006/relationships/tags" Target="../tags/tag53.xml"/><Relationship Id="rId6" Type="http://schemas.openxmlformats.org/officeDocument/2006/relationships/image" Target="../media/image49.wmf"/><Relationship Id="rId5" Type="http://schemas.openxmlformats.org/officeDocument/2006/relationships/oleObject" Target="../embeddings/oleObject27.bin"/><Relationship Id="rId4" Type="http://schemas.openxmlformats.org/officeDocument/2006/relationships/image" Target="../media/image48.wmf"/><Relationship Id="rId3" Type="http://schemas.openxmlformats.org/officeDocument/2006/relationships/oleObject" Target="../embeddings/oleObject26.bin"/><Relationship Id="rId2" Type="http://schemas.openxmlformats.org/officeDocument/2006/relationships/image" Target="../media/image47.wmf"/><Relationship Id="rId10" Type="http://schemas.openxmlformats.org/officeDocument/2006/relationships/notesSlide" Target="../notesSlides/notesSlide61.xml"/><Relationship Id="rId1" Type="http://schemas.openxmlformats.org/officeDocument/2006/relationships/oleObject" Target="../embeddings/oleObject25.bin"/></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image" Target="../media/image50.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image" Target="../media/image51.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2.xml"/><Relationship Id="rId1" Type="http://schemas.openxmlformats.org/officeDocument/2006/relationships/tags" Target="../tags/tag56.xml"/></Relationships>
</file>

<file path=ppt/slides/_rels/slide82.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image" Target="../media/image56.wmf"/><Relationship Id="rId7" Type="http://schemas.openxmlformats.org/officeDocument/2006/relationships/oleObject" Target="../embeddings/oleObject31.bin"/><Relationship Id="rId6" Type="http://schemas.openxmlformats.org/officeDocument/2006/relationships/image" Target="../media/image55.wmf"/><Relationship Id="rId5" Type="http://schemas.openxmlformats.org/officeDocument/2006/relationships/oleObject" Target="../embeddings/oleObject30.bin"/><Relationship Id="rId4" Type="http://schemas.openxmlformats.org/officeDocument/2006/relationships/image" Target="../media/image54.wmf"/><Relationship Id="rId3" Type="http://schemas.openxmlformats.org/officeDocument/2006/relationships/oleObject" Target="../embeddings/oleObject29.bin"/><Relationship Id="rId2" Type="http://schemas.openxmlformats.org/officeDocument/2006/relationships/image" Target="../media/image53.wmf"/><Relationship Id="rId12" Type="http://schemas.openxmlformats.org/officeDocument/2006/relationships/notesSlide" Target="../notesSlides/notesSlide67.xml"/><Relationship Id="rId11" Type="http://schemas.openxmlformats.org/officeDocument/2006/relationships/vmlDrawing" Target="../drawings/vmlDrawing14.vml"/><Relationship Id="rId10" Type="http://schemas.openxmlformats.org/officeDocument/2006/relationships/slideLayout" Target="../slideLayouts/slideLayout2.xml"/><Relationship Id="rId1" Type="http://schemas.openxmlformats.org/officeDocument/2006/relationships/oleObject" Target="../embeddings/oleObject28.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2.xml"/><Relationship Id="rId2" Type="http://schemas.openxmlformats.org/officeDocument/2006/relationships/tags" Target="../tags/tag58.xml"/><Relationship Id="rId1" Type="http://schemas.openxmlformats.org/officeDocument/2006/relationships/image" Target="../media/image58.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image" Target="../media/image59.png"/></Relationships>
</file>

<file path=ppt/slides/_rels/slide87.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image" Target="../media/image63.wmf"/><Relationship Id="rId7" Type="http://schemas.openxmlformats.org/officeDocument/2006/relationships/oleObject" Target="../embeddings/oleObject35.bin"/><Relationship Id="rId6" Type="http://schemas.openxmlformats.org/officeDocument/2006/relationships/image" Target="../media/image62.wmf"/><Relationship Id="rId5" Type="http://schemas.openxmlformats.org/officeDocument/2006/relationships/oleObject" Target="../embeddings/oleObject34.bin"/><Relationship Id="rId4" Type="http://schemas.openxmlformats.org/officeDocument/2006/relationships/image" Target="../media/image61.wmf"/><Relationship Id="rId3" Type="http://schemas.openxmlformats.org/officeDocument/2006/relationships/oleObject" Target="../embeddings/oleObject33.bin"/><Relationship Id="rId2" Type="http://schemas.openxmlformats.org/officeDocument/2006/relationships/image" Target="../media/image60.wmf"/><Relationship Id="rId12" Type="http://schemas.openxmlformats.org/officeDocument/2006/relationships/notesSlide" Target="../notesSlides/notesSlide72.xml"/><Relationship Id="rId11" Type="http://schemas.openxmlformats.org/officeDocument/2006/relationships/vmlDrawing" Target="../drawings/vmlDrawing15.vml"/><Relationship Id="rId10" Type="http://schemas.openxmlformats.org/officeDocument/2006/relationships/slideLayout" Target="../slideLayouts/slideLayout2.xml"/><Relationship Id="rId1" Type="http://schemas.openxmlformats.org/officeDocument/2006/relationships/oleObject" Target="../embeddings/oleObject32.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image" Target="../media/image65.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image" Target="../media/image66.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image" Target="../media/image69.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71.png"/></Relationships>
</file>

<file path=ppt/slides/_rels/slide101.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image" Target="../media/image73.png"/><Relationship Id="rId1" Type="http://schemas.openxmlformats.org/officeDocument/2006/relationships/image" Target="../media/image72.png"/></Relationships>
</file>

<file path=ppt/slides/_rels/slide102.xml.rels><?xml version="1.0" encoding="UTF-8" standalone="yes"?>
<Relationships xmlns="http://schemas.openxmlformats.org/package/2006/relationships"><Relationship Id="rId5" Type="http://schemas.openxmlformats.org/officeDocument/2006/relationships/notesSlide" Target="../notesSlides/notesSlide85.xml"/><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75.png"/><Relationship Id="rId1" Type="http://schemas.openxmlformats.org/officeDocument/2006/relationships/image" Target="../media/image74.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90.xml"/><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77.png"/><Relationship Id="rId1" Type="http://schemas.openxmlformats.org/officeDocument/2006/relationships/image" Target="../media/image76.png"/></Relationships>
</file>

<file path=ppt/slides/_rels/slide109.xml.rels><?xml version="1.0" encoding="UTF-8" standalone="yes"?>
<Relationships xmlns="http://schemas.openxmlformats.org/package/2006/relationships"><Relationship Id="rId6" Type="http://schemas.openxmlformats.org/officeDocument/2006/relationships/notesSlide" Target="../notesSlides/notesSlide91.xml"/><Relationship Id="rId5" Type="http://schemas.openxmlformats.org/officeDocument/2006/relationships/slideLayout" Target="../slideLayouts/slideLayout2.xml"/><Relationship Id="rId4" Type="http://schemas.openxmlformats.org/officeDocument/2006/relationships/tags" Target="../tags/tag75.xml"/><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7.xml"/><Relationship Id="rId1" Type="http://schemas.openxmlformats.org/officeDocument/2006/relationships/tags" Target="../tags/tag79.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856" y="-76200"/>
            <a:ext cx="12198350" cy="6859588"/>
          </a:xfrm>
          <a:prstGeom prst="rect">
            <a:avLst/>
          </a:prstGeom>
        </p:spPr>
      </p:pic>
      <p:sp>
        <p:nvSpPr>
          <p:cNvPr id="17" name="TextBox 16"/>
          <p:cNvSpPr txBox="1"/>
          <p:nvPr/>
        </p:nvSpPr>
        <p:spPr>
          <a:xfrm>
            <a:off x="3901096" y="2310557"/>
            <a:ext cx="4560279" cy="492485"/>
          </a:xfrm>
          <a:prstGeom prst="rect">
            <a:avLst/>
          </a:prstGeom>
          <a:noFill/>
        </p:spPr>
        <p:txBody>
          <a:bodyPr wrap="square" lIns="121963" tIns="60981" rIns="121963" bIns="60981" rtlCol="0">
            <a:spAutoFit/>
          </a:bodyPr>
          <a:lstStyle/>
          <a:p>
            <a:r>
              <a:rPr lang="en-US" altLang="zh-CN" dirty="0">
                <a:solidFill>
                  <a:schemeClr val="bg1"/>
                </a:solidFill>
                <a:latin typeface="+mn-ea"/>
              </a:rPr>
              <a:t>《</a:t>
            </a:r>
            <a:r>
              <a:rPr lang="zh-CN" altLang="en-US" dirty="0">
                <a:solidFill>
                  <a:schemeClr val="bg1"/>
                </a:solidFill>
                <a:latin typeface="+mn-ea"/>
              </a:rPr>
              <a:t>离散数学</a:t>
            </a:r>
            <a:r>
              <a:rPr lang="en-US" altLang="zh-CN" dirty="0">
                <a:solidFill>
                  <a:schemeClr val="bg1"/>
                </a:solidFill>
                <a:latin typeface="+mn-ea"/>
              </a:rPr>
              <a:t>》</a:t>
            </a:r>
            <a:endParaRPr lang="zh-CN" altLang="en-US" dirty="0">
              <a:solidFill>
                <a:schemeClr val="bg1"/>
              </a:solidFill>
              <a:latin typeface="+mn-ea"/>
            </a:endParaRPr>
          </a:p>
        </p:txBody>
      </p:sp>
      <p:sp>
        <p:nvSpPr>
          <p:cNvPr id="18" name="TextBox 17"/>
          <p:cNvSpPr txBox="1"/>
          <p:nvPr/>
        </p:nvSpPr>
        <p:spPr>
          <a:xfrm>
            <a:off x="4117975" y="1116654"/>
            <a:ext cx="2076056" cy="861817"/>
          </a:xfrm>
          <a:prstGeom prst="rect">
            <a:avLst/>
          </a:prstGeom>
          <a:solidFill>
            <a:srgbClr val="28A7E1"/>
          </a:solidFill>
        </p:spPr>
        <p:txBody>
          <a:bodyPr wrap="square" lIns="121963" tIns="60981" rIns="121963" bIns="60981" rtlCol="0">
            <a:spAutoFit/>
          </a:bodyPr>
          <a:lstStyle/>
          <a:p>
            <a:r>
              <a:rPr lang="zh-CN" altLang="en-US" sz="4800">
                <a:solidFill>
                  <a:schemeClr val="bg1"/>
                </a:solidFill>
                <a:latin typeface="+mn-ea"/>
              </a:rPr>
              <a:t>第四章 </a:t>
            </a:r>
            <a:endParaRPr lang="zh-CN" altLang="en-US" sz="4800" dirty="0">
              <a:solidFill>
                <a:schemeClr val="bg1"/>
              </a:solidFill>
              <a:latin typeface="+mn-ea"/>
            </a:endParaRPr>
          </a:p>
        </p:txBody>
      </p:sp>
      <p:sp>
        <p:nvSpPr>
          <p:cNvPr id="19" name="TextBox 18"/>
          <p:cNvSpPr txBox="1"/>
          <p:nvPr/>
        </p:nvSpPr>
        <p:spPr>
          <a:xfrm>
            <a:off x="6254750" y="1369060"/>
            <a:ext cx="3875405" cy="614045"/>
          </a:xfrm>
          <a:prstGeom prst="rect">
            <a:avLst/>
          </a:prstGeom>
          <a:noFill/>
        </p:spPr>
        <p:txBody>
          <a:bodyPr wrap="square" lIns="121963" tIns="60981" rIns="121963" bIns="60981" rtlCol="0">
            <a:spAutoFit/>
          </a:bodyPr>
          <a:lstStyle/>
          <a:p>
            <a:r>
              <a:rPr lang="zh-CN" altLang="en-US" sz="3200" dirty="0">
                <a:solidFill>
                  <a:schemeClr val="bg1"/>
                </a:solidFill>
                <a:latin typeface="+mn-ea"/>
              </a:rPr>
              <a:t>二元关系和函数</a:t>
            </a:r>
            <a:endParaRPr lang="zh-CN" altLang="en-US" sz="3200" dirty="0">
              <a:solidFill>
                <a:schemeClr val="bg1"/>
              </a:solidFill>
              <a:latin typeface="+mn-ea"/>
            </a:endParaRP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5794375" y="2861109"/>
            <a:ext cx="3200400" cy="492485"/>
          </a:xfrm>
          <a:prstGeom prst="rect">
            <a:avLst/>
          </a:prstGeom>
          <a:noFill/>
        </p:spPr>
        <p:txBody>
          <a:bodyPr wrap="square" lIns="121963" tIns="60981" rIns="121963" bIns="60981" rtlCol="0">
            <a:spAutoFit/>
          </a:bodyPr>
          <a:lstStyle/>
          <a:p>
            <a:r>
              <a:rPr lang="en-US" altLang="zh-CN">
                <a:solidFill>
                  <a:schemeClr val="bg1"/>
                </a:solidFill>
                <a:latin typeface="+mn-ea"/>
              </a:rPr>
              <a:t> </a:t>
            </a:r>
            <a:r>
              <a:rPr lang="en-US" altLang="zh-CN" sz="180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5748656" y="2975515"/>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1372394"/>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2157134"/>
            <a:ext cx="1231106" cy="677130"/>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a:p>
            <a:pPr>
              <a:lnSpc>
                <a:spcPts val="2400"/>
              </a:lnSpc>
            </a:pP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2769989" cy="369353"/>
          </a:xfrm>
          <a:prstGeom prst="rect">
            <a:avLst/>
          </a:prstGeom>
          <a:noFill/>
        </p:spPr>
        <p:txBody>
          <a:bodyPr wrap="none" lIns="0" tIns="0" rIns="0" bIns="60981" rtlCol="0">
            <a:spAutoFit/>
          </a:bodyPr>
          <a:lstStyle/>
          <a:p>
            <a:pPr lvl="0">
              <a:lnSpc>
                <a:spcPts val="2400"/>
              </a:lnSpc>
            </a:pPr>
            <a:r>
              <a:rPr lang="zh-CN" altLang="en-US" b="1" dirty="0">
                <a:solidFill>
                  <a:prstClr val="white"/>
                </a:solidFill>
                <a:latin typeface="Microsoft YaHei UI" panose="020B0503020204020204" pitchFamily="18" charset="-122"/>
                <a:cs typeface="Microsoft YaHei UI" panose="020B0503020204020204" pitchFamily="18" charset="-122"/>
              </a:rPr>
              <a:t>本章导读及学习要求</a:t>
            </a:r>
            <a:endParaRPr lang="zh-CN" altLang="en-US" b="1" dirty="0">
              <a:solidFill>
                <a:prstClr val="white"/>
              </a:solidFill>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98937"/>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704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p:spPr>
        <p:txBody>
          <a:bodyPr wrap="none" lIns="0" tIns="0" rIns="0" bIns="60981" rtlCol="0">
            <a:spAutoFit/>
          </a:bodyPr>
          <a:lstStyle/>
          <a:p>
            <a:pPr>
              <a:lnSpc>
                <a:spcPts val="2400"/>
              </a:lnSpc>
            </a:pPr>
            <a:r>
              <a:rPr lang="en-US" altLang="zh-CN" b="1">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800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gn="l">
              <a:lnSpc>
                <a:spcPts val="2400"/>
              </a:lnSpc>
            </a:pPr>
            <a:r>
              <a:rPr lang="zh-CN" altLang="en-US" b="1" dirty="0" smtClean="0">
                <a:latin typeface="Microsoft YaHei UI" panose="020B0503020204020204" pitchFamily="18" charset="-122"/>
                <a:cs typeface="Microsoft YaHei UI" panose="020B0503020204020204" pitchFamily="18" charset="-122"/>
                <a:sym typeface="+mn-ea"/>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dirty="0"/>
              <a:t>本章导读</a:t>
            </a:r>
            <a:endParaRPr lang="zh-CN" altLang="en-US" dirty="0"/>
          </a:p>
        </p:txBody>
      </p:sp>
      <p:sp>
        <p:nvSpPr>
          <p:cNvPr id="1347587" name="Rectangle 3"/>
          <p:cNvSpPr>
            <a:spLocks noGrp="1" noChangeArrowheads="1"/>
          </p:cNvSpPr>
          <p:nvPr>
            <p:ph type="body" idx="1"/>
          </p:nvPr>
        </p:nvSpPr>
        <p:spPr>
          <a:xfrm>
            <a:off x="460375" y="1408653"/>
            <a:ext cx="10436225" cy="4042282"/>
          </a:xfrm>
        </p:spPr>
        <p:txBody>
          <a:bodyPr>
            <a:noAutofit/>
          </a:bodyPr>
          <a:lstStyle/>
          <a:p>
            <a:pPr marL="0" indent="0">
              <a:lnSpc>
                <a:spcPct val="150000"/>
              </a:lnSpc>
              <a:buNone/>
            </a:pPr>
            <a:r>
              <a:rPr lang="zh-CN" altLang="en-US" dirty="0"/>
              <a:t>  关系理论</a:t>
            </a:r>
            <a:r>
              <a:rPr lang="zh-CN" altLang="en-US"/>
              <a:t>历史悠久，</a:t>
            </a:r>
            <a:r>
              <a:rPr lang="zh-CN" altLang="en-US">
                <a:solidFill>
                  <a:srgbClr val="0000FF"/>
                </a:solidFill>
              </a:rPr>
              <a:t>与</a:t>
            </a:r>
            <a:r>
              <a:rPr lang="zh-CN" altLang="en-US" dirty="0">
                <a:solidFill>
                  <a:srgbClr val="0000FF"/>
                </a:solidFill>
              </a:rPr>
              <a:t>集合论、数理逻辑、组合学、图论和布尔代数</a:t>
            </a:r>
            <a:r>
              <a:rPr lang="zh-CN" altLang="en-US" dirty="0"/>
              <a:t>都有</a:t>
            </a:r>
            <a:endParaRPr lang="en-US" altLang="zh-CN" dirty="0"/>
          </a:p>
          <a:p>
            <a:pPr marL="0" indent="0">
              <a:lnSpc>
                <a:spcPct val="150000"/>
              </a:lnSpc>
              <a:buNone/>
            </a:pPr>
            <a:r>
              <a:rPr lang="en-US" altLang="zh-CN" dirty="0"/>
              <a:t>  </a:t>
            </a:r>
            <a:r>
              <a:rPr lang="zh-CN" altLang="en-US" dirty="0"/>
              <a:t>密切联系。</a:t>
            </a:r>
            <a:endParaRPr lang="en-US" altLang="zh-CN" dirty="0"/>
          </a:p>
          <a:p>
            <a:pPr marL="0" indent="0">
              <a:lnSpc>
                <a:spcPct val="150000"/>
              </a:lnSpc>
              <a:buNone/>
            </a:pPr>
            <a:endParaRPr lang="zh-CN" altLang="en-US" dirty="0"/>
          </a:p>
          <a:p>
            <a:pPr marL="0" indent="0">
              <a:lnSpc>
                <a:spcPct val="150000"/>
              </a:lnSpc>
              <a:buNone/>
            </a:pPr>
            <a:r>
              <a:rPr lang="zh-CN" altLang="en-US" dirty="0"/>
              <a:t>  关系是</a:t>
            </a:r>
            <a:r>
              <a:rPr lang="zh-CN" altLang="en-US" dirty="0">
                <a:solidFill>
                  <a:srgbClr val="0000FF"/>
                </a:solidFill>
              </a:rPr>
              <a:t>日常生活以及数学</a:t>
            </a:r>
            <a:r>
              <a:rPr lang="zh-CN" altLang="en-US" dirty="0"/>
              <a:t>中的一个基本概念。例如：</a:t>
            </a:r>
            <a:endParaRPr lang="en-US" altLang="zh-CN" dirty="0"/>
          </a:p>
          <a:p>
            <a:pPr marL="360045" indent="0">
              <a:lnSpc>
                <a:spcPct val="150000"/>
              </a:lnSpc>
              <a:buFont typeface="Wingdings" panose="05000000000000000000" pitchFamily="2" charset="2"/>
              <a:buChar char="u"/>
            </a:pPr>
            <a:r>
              <a:rPr lang="zh-CN" altLang="en-US" dirty="0"/>
              <a:t> 父子关系、兄妹关系、师生关系、商品与用户的关系等</a:t>
            </a:r>
            <a:endParaRPr lang="en-US" altLang="zh-CN" dirty="0"/>
          </a:p>
          <a:p>
            <a:pPr marL="360045" indent="0">
              <a:lnSpc>
                <a:spcPct val="150000"/>
              </a:lnSpc>
              <a:buFont typeface="Wingdings" panose="05000000000000000000" pitchFamily="2" charset="2"/>
              <a:buChar char="u"/>
            </a:pPr>
            <a:r>
              <a:rPr lang="zh-CN" altLang="en-US" dirty="0"/>
              <a:t> 相等关系、图形的相似全等关系、集合的包含关系等</a:t>
            </a:r>
            <a:endParaRPr lang="en-US" altLang="zh-CN" dirty="0"/>
          </a:p>
          <a:p>
            <a:pPr marL="0" indent="0">
              <a:lnSpc>
                <a:spcPct val="150000"/>
              </a:lnSpc>
              <a:buNone/>
            </a:pPr>
            <a:r>
              <a:rPr lang="zh-CN" altLang="en-US" dirty="0"/>
              <a:t>  </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47587">
                                            <p:txEl>
                                              <p:pRg st="3" end="3"/>
                                            </p:txEl>
                                          </p:spTgt>
                                        </p:tgtEl>
                                        <p:attrNameLst>
                                          <p:attrName>style.visibility</p:attrName>
                                        </p:attrNameLst>
                                      </p:cBhvr>
                                      <p:to>
                                        <p:strVal val="visible"/>
                                      </p:to>
                                    </p:set>
                                    <p:anim calcmode="lin" valueType="num">
                                      <p:cBhvr additive="base">
                                        <p:cTn id="7" dur="500" fill="hold"/>
                                        <p:tgtEl>
                                          <p:spTgt spid="134758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47587">
                                            <p:txEl>
                                              <p:pRg st="4" end="4"/>
                                            </p:txEl>
                                          </p:spTgt>
                                        </p:tgtEl>
                                        <p:attrNameLst>
                                          <p:attrName>style.visibility</p:attrName>
                                        </p:attrNameLst>
                                      </p:cBhvr>
                                      <p:to>
                                        <p:strVal val="visible"/>
                                      </p:to>
                                    </p:set>
                                    <p:anim calcmode="lin" valueType="num">
                                      <p:cBhvr additive="base">
                                        <p:cTn id="13" dur="500" fill="hold"/>
                                        <p:tgtEl>
                                          <p:spTgt spid="134758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47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47587">
                                            <p:txEl>
                                              <p:pRg st="5" end="5"/>
                                            </p:txEl>
                                          </p:spTgt>
                                        </p:tgtEl>
                                        <p:attrNameLst>
                                          <p:attrName>style.visibility</p:attrName>
                                        </p:attrNameLst>
                                      </p:cBhvr>
                                      <p:to>
                                        <p:strVal val="visible"/>
                                      </p:to>
                                    </p:set>
                                    <p:anim calcmode="lin" valueType="num">
                                      <p:cBhvr additive="base">
                                        <p:cTn id="19" dur="500" fill="hold"/>
                                        <p:tgtEl>
                                          <p:spTgt spid="134758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475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47587">
                                            <p:txEl>
                                              <p:pRg st="6" end="6"/>
                                            </p:txEl>
                                          </p:spTgt>
                                        </p:tgtEl>
                                        <p:attrNameLst>
                                          <p:attrName>style.visibility</p:attrName>
                                        </p:attrNameLst>
                                      </p:cBhvr>
                                      <p:to>
                                        <p:strVal val="visible"/>
                                      </p:to>
                                    </p:set>
                                    <p:anim calcmode="lin" valueType="num">
                                      <p:cBhvr additive="base">
                                        <p:cTn id="25" dur="500" fill="hold"/>
                                        <p:tgtEl>
                                          <p:spTgt spid="134758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475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758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a:t>本章导读</a:t>
            </a:r>
            <a:endParaRPr lang="zh-CN" altLang="en-US" dirty="0"/>
          </a:p>
        </p:txBody>
      </p:sp>
      <p:sp>
        <p:nvSpPr>
          <p:cNvPr id="1347587" name="Rectangle 3"/>
          <p:cNvSpPr>
            <a:spLocks noGrp="1" noChangeArrowheads="1"/>
          </p:cNvSpPr>
          <p:nvPr>
            <p:ph type="body" idx="1"/>
          </p:nvPr>
        </p:nvSpPr>
        <p:spPr>
          <a:xfrm>
            <a:off x="536575" y="991394"/>
            <a:ext cx="10668000" cy="5262276"/>
          </a:xfrm>
        </p:spPr>
        <p:txBody>
          <a:bodyPr>
            <a:noAutofit/>
          </a:bodyPr>
          <a:lstStyle/>
          <a:p>
            <a:pPr marL="0" indent="0">
              <a:lnSpc>
                <a:spcPct val="200000"/>
              </a:lnSpc>
              <a:buNone/>
            </a:pPr>
            <a:r>
              <a:rPr lang="zh-CN" altLang="en-US" dirty="0">
                <a:solidFill>
                  <a:srgbClr val="3333FF"/>
                </a:solidFill>
              </a:rPr>
              <a:t>关系理论被广泛地应用于计算机科学与技术</a:t>
            </a:r>
            <a:endParaRPr lang="en-US" altLang="zh-CN" dirty="0">
              <a:solidFill>
                <a:srgbClr val="3333FF"/>
              </a:solidFill>
            </a:endParaRPr>
          </a:p>
          <a:p>
            <a:pPr indent="0">
              <a:lnSpc>
                <a:spcPct val="200000"/>
              </a:lnSpc>
              <a:buFont typeface="Wingdings" panose="05000000000000000000" pitchFamily="2" charset="2"/>
              <a:buChar char="u"/>
            </a:pPr>
            <a:r>
              <a:rPr lang="zh-CN" altLang="en-US" dirty="0"/>
              <a:t> 计算机程序的输入、输出关系</a:t>
            </a:r>
            <a:endParaRPr lang="en-US" altLang="zh-CN" dirty="0"/>
          </a:p>
          <a:p>
            <a:pPr indent="0">
              <a:lnSpc>
                <a:spcPct val="200000"/>
              </a:lnSpc>
              <a:buFont typeface="Wingdings" panose="05000000000000000000" pitchFamily="2" charset="2"/>
              <a:buChar char="u"/>
            </a:pPr>
            <a:r>
              <a:rPr lang="en-US" altLang="zh-CN" dirty="0"/>
              <a:t> </a:t>
            </a:r>
            <a:r>
              <a:rPr lang="zh-CN" altLang="en-US" dirty="0"/>
              <a:t>以关系为核心的关系数据库</a:t>
            </a:r>
            <a:endParaRPr lang="en-US" altLang="zh-CN" dirty="0"/>
          </a:p>
          <a:p>
            <a:pPr indent="0">
              <a:lnSpc>
                <a:spcPct val="200000"/>
              </a:lnSpc>
              <a:buFont typeface="Wingdings" panose="05000000000000000000" pitchFamily="2" charset="2"/>
              <a:buChar char="u"/>
            </a:pPr>
            <a:r>
              <a:rPr lang="zh-CN" altLang="en-US" dirty="0"/>
              <a:t> 用于分析编程语言的句法</a:t>
            </a:r>
            <a:endParaRPr lang="en-US" altLang="zh-CN" dirty="0"/>
          </a:p>
          <a:p>
            <a:pPr indent="0">
              <a:lnSpc>
                <a:spcPct val="200000"/>
              </a:lnSpc>
              <a:buFont typeface="Wingdings" panose="05000000000000000000" pitchFamily="2" charset="2"/>
              <a:buChar char="u"/>
            </a:pPr>
            <a:r>
              <a:rPr lang="zh-CN" altLang="en-US" dirty="0"/>
              <a:t> 表示信息之间的联系以实现信息检索</a:t>
            </a:r>
            <a:endParaRPr lang="en-US" altLang="zh-CN" dirty="0"/>
          </a:p>
          <a:p>
            <a:pPr indent="0">
              <a:lnSpc>
                <a:spcPct val="200000"/>
              </a:lnSpc>
              <a:buFont typeface="Wingdings" panose="05000000000000000000" pitchFamily="2" charset="2"/>
              <a:buChar char="u"/>
            </a:pPr>
            <a:r>
              <a:rPr lang="zh-CN" altLang="en-US" dirty="0"/>
              <a:t> 关系理念也是数据结构、情报检索、数据库、算法分析、计算机理论等计算机学科的数学工具</a:t>
            </a:r>
            <a:endParaRPr lang="zh-CN" altLang="en-US" dirty="0"/>
          </a:p>
        </p:txBody>
      </p:sp>
      <p:sp>
        <p:nvSpPr>
          <p:cNvPr id="2" name="流程图: 可选过程 1"/>
          <p:cNvSpPr/>
          <p:nvPr/>
        </p:nvSpPr>
        <p:spPr>
          <a:xfrm>
            <a:off x="6480175" y="1677194"/>
            <a:ext cx="5554865" cy="2743200"/>
          </a:xfrm>
          <a:prstGeom prst="flowChartAlternateProcess">
            <a:avLst/>
          </a:prstGeom>
          <a:solidFill>
            <a:srgbClr val="1157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b="1" dirty="0"/>
              <a:t>在某种</a:t>
            </a:r>
            <a:r>
              <a:rPr lang="zh-CN" altLang="en-US" b="1"/>
              <a:t>意义下，</a:t>
            </a:r>
            <a:r>
              <a:rPr lang="zh-CN" altLang="en-US" b="1">
                <a:solidFill>
                  <a:srgbClr val="FFFF00"/>
                </a:solidFill>
              </a:rPr>
              <a:t>关系</a:t>
            </a:r>
            <a:r>
              <a:rPr lang="zh-CN" altLang="en-US" b="1" dirty="0">
                <a:solidFill>
                  <a:srgbClr val="FFFF00"/>
                </a:solidFill>
              </a:rPr>
              <a:t>可以理解为有联系的一些对象相互之间的比较行为。</a:t>
            </a:r>
            <a:r>
              <a:rPr lang="zh-CN" altLang="en-US" b="1" dirty="0"/>
              <a:t>而根据比较结果来执行不同任务的能力是计算机最重要的属性之一。</a:t>
            </a:r>
            <a:endParaRPr lang="zh-CN" altLang="en-US"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47587">
                                            <p:txEl>
                                              <p:pRg st="1" end="1"/>
                                            </p:txEl>
                                          </p:spTgt>
                                        </p:tgtEl>
                                        <p:attrNameLst>
                                          <p:attrName>style.visibility</p:attrName>
                                        </p:attrNameLst>
                                      </p:cBhvr>
                                      <p:to>
                                        <p:strVal val="visible"/>
                                      </p:to>
                                    </p:set>
                                    <p:anim calcmode="lin" valueType="num">
                                      <p:cBhvr additive="base">
                                        <p:cTn id="7" dur="500" fill="hold"/>
                                        <p:tgtEl>
                                          <p:spTgt spid="13475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7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47587">
                                            <p:txEl>
                                              <p:pRg st="2" end="2"/>
                                            </p:txEl>
                                          </p:spTgt>
                                        </p:tgtEl>
                                        <p:attrNameLst>
                                          <p:attrName>style.visibility</p:attrName>
                                        </p:attrNameLst>
                                      </p:cBhvr>
                                      <p:to>
                                        <p:strVal val="visible"/>
                                      </p:to>
                                    </p:set>
                                    <p:anim calcmode="lin" valueType="num">
                                      <p:cBhvr additive="base">
                                        <p:cTn id="13" dur="500" fill="hold"/>
                                        <p:tgtEl>
                                          <p:spTgt spid="13475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47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47587">
                                            <p:txEl>
                                              <p:pRg st="3" end="3"/>
                                            </p:txEl>
                                          </p:spTgt>
                                        </p:tgtEl>
                                        <p:attrNameLst>
                                          <p:attrName>style.visibility</p:attrName>
                                        </p:attrNameLst>
                                      </p:cBhvr>
                                      <p:to>
                                        <p:strVal val="visible"/>
                                      </p:to>
                                    </p:set>
                                    <p:anim calcmode="lin" valueType="num">
                                      <p:cBhvr additive="base">
                                        <p:cTn id="19" dur="500" fill="hold"/>
                                        <p:tgtEl>
                                          <p:spTgt spid="13475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4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47587">
                                            <p:txEl>
                                              <p:pRg st="4" end="4"/>
                                            </p:txEl>
                                          </p:spTgt>
                                        </p:tgtEl>
                                        <p:attrNameLst>
                                          <p:attrName>style.visibility</p:attrName>
                                        </p:attrNameLst>
                                      </p:cBhvr>
                                      <p:to>
                                        <p:strVal val="visible"/>
                                      </p:to>
                                    </p:set>
                                    <p:anim calcmode="lin" valueType="num">
                                      <p:cBhvr additive="base">
                                        <p:cTn id="25" dur="500" fill="hold"/>
                                        <p:tgtEl>
                                          <p:spTgt spid="13475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47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47587">
                                            <p:txEl>
                                              <p:pRg st="5" end="5"/>
                                            </p:txEl>
                                          </p:spTgt>
                                        </p:tgtEl>
                                        <p:attrNameLst>
                                          <p:attrName>style.visibility</p:attrName>
                                        </p:attrNameLst>
                                      </p:cBhvr>
                                      <p:to>
                                        <p:strVal val="visible"/>
                                      </p:to>
                                    </p:set>
                                    <p:anim calcmode="lin" valueType="num">
                                      <p:cBhvr additive="base">
                                        <p:cTn id="31" dur="500" fill="hold"/>
                                        <p:tgtEl>
                                          <p:spTgt spid="13475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475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fltVal val="0"/>
                                          </p:val>
                                        </p:tav>
                                        <p:tav tm="100000">
                                          <p:val>
                                            <p:strVal val="#ppt_h"/>
                                          </p:val>
                                        </p:tav>
                                      </p:tavLst>
                                    </p:anim>
                                    <p:animEffect transition="in" filter="fad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7587" grpId="0" uiExpand="1" build="p"/>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2071685"/>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2157134"/>
            <a:ext cx="1231106" cy="677130"/>
          </a:xfrm>
          <a:prstGeom prst="rect">
            <a:avLst/>
          </a:prstGeom>
          <a:noFill/>
        </p:spPr>
        <p:txBody>
          <a:bodyPr wrap="none" lIns="0" tIns="0" rIns="0" bIns="60981" rtlCol="0">
            <a:spAutoFit/>
          </a:bodyPr>
          <a:lstStyle/>
          <a:p>
            <a:pPr>
              <a:lnSpc>
                <a:spcPts val="2400"/>
              </a:lnSpc>
            </a:pPr>
            <a:r>
              <a:rPr lang="zh-CN" altLang="en-US" b="1" dirty="0">
                <a:solidFill>
                  <a:schemeClr val="bg1"/>
                </a:solidFill>
                <a:latin typeface="Microsoft YaHei UI" panose="020B0503020204020204" pitchFamily="18" charset="-122"/>
                <a:cs typeface="Microsoft YaHei UI" panose="020B0503020204020204" pitchFamily="18" charset="-122"/>
              </a:rPr>
              <a:t>历史人物</a:t>
            </a:r>
            <a:endParaRPr lang="zh-CN" altLang="en-US" b="1" dirty="0">
              <a:solidFill>
                <a:schemeClr val="bg1"/>
              </a:solidFill>
              <a:latin typeface="Microsoft YaHei UI" panose="020B0503020204020204" pitchFamily="18" charset="-122"/>
              <a:cs typeface="Microsoft YaHei UI" panose="020B0503020204020204" pitchFamily="18" charset="-122"/>
            </a:endParaRPr>
          </a:p>
          <a:p>
            <a:pPr>
              <a:lnSpc>
                <a:spcPts val="2400"/>
              </a:lnSpc>
            </a:pPr>
            <a:endParaRPr lang="zh-CN" altLang="en-US" b="1" dirty="0">
              <a:solidFill>
                <a:schemeClr val="bg1"/>
              </a:solidFill>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2769989" cy="369353"/>
          </a:xfrm>
          <a:prstGeom prst="rect">
            <a:avLst/>
          </a:prstGeom>
          <a:noFill/>
        </p:spPr>
        <p:txBody>
          <a:bodyPr wrap="none" lIns="0" tIns="0" rIns="0" bIns="60981" rtlCol="0">
            <a:spAutoFit/>
          </a:bodyPr>
          <a:lstStyle/>
          <a:p>
            <a:pPr lvl="0">
              <a:lnSpc>
                <a:spcPts val="2400"/>
              </a:lnSpc>
            </a:pPr>
            <a:r>
              <a:rPr lang="zh-CN" altLang="en-US" b="1" dirty="0">
                <a:latin typeface="Microsoft YaHei UI" panose="020B0503020204020204" pitchFamily="18" charset="-122"/>
                <a:cs typeface="Microsoft YaHei UI" panose="020B0503020204020204" pitchFamily="18" charset="-122"/>
              </a:rPr>
              <a:t>本章导读及学习要求</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98937"/>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704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p:spPr>
        <p:txBody>
          <a:bodyPr wrap="none" lIns="0" tIns="0" rIns="0" bIns="60981" rtlCol="0">
            <a:spAutoFit/>
          </a:bodyPr>
          <a:lstStyle/>
          <a:p>
            <a:pPr>
              <a:lnSpc>
                <a:spcPts val="2400"/>
              </a:lnSpc>
            </a:pPr>
            <a:r>
              <a:rPr lang="en-US" altLang="zh-CN" b="1">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800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gn="l">
              <a:lnSpc>
                <a:spcPts val="2400"/>
              </a:lnSpc>
            </a:pPr>
            <a:r>
              <a:rPr lang="zh-CN" altLang="en-US" b="1" dirty="0" smtClean="0">
                <a:latin typeface="Microsoft YaHei UI" panose="020B0503020204020204" pitchFamily="18" charset="-122"/>
                <a:cs typeface="Microsoft YaHei UI" panose="020B0503020204020204" pitchFamily="18" charset="-122"/>
                <a:sym typeface="+mn-ea"/>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25916" y="4953794"/>
            <a:ext cx="2882198" cy="1689052"/>
          </a:xfrm>
          <a:prstGeom prst="rect">
            <a:avLst/>
          </a:prstGeom>
        </p:spPr>
        <p:txBody>
          <a:bodyPr wrap="square">
            <a:spAutoFit/>
          </a:bodyPr>
          <a:lstStyle/>
          <a:p>
            <a:pPr algn="ctr">
              <a:lnSpc>
                <a:spcPct val="150000"/>
              </a:lnSpc>
            </a:pPr>
            <a:r>
              <a:rPr lang="zh-CN" altLang="en-US" b="1" dirty="0">
                <a:latin typeface="+mn-ea"/>
                <a:cs typeface="Times New Roman" panose="02020603050405020304" pitchFamily="18" charset="0"/>
              </a:rPr>
              <a:t>英国计算机科学家   关系数据库之父</a:t>
            </a:r>
            <a:endParaRPr lang="en-US" altLang="zh-CN" b="1" dirty="0">
              <a:latin typeface="+mn-ea"/>
              <a:cs typeface="Times New Roman" panose="02020603050405020304" pitchFamily="18" charset="0"/>
            </a:endParaRPr>
          </a:p>
          <a:p>
            <a:pPr algn="ctr">
              <a:lnSpc>
                <a:spcPct val="150000"/>
              </a:lnSpc>
            </a:pPr>
            <a:r>
              <a:rPr lang="zh-CN" altLang="en-US" b="1" dirty="0">
                <a:latin typeface="+mn-ea"/>
                <a:cs typeface="Times New Roman" panose="02020603050405020304" pitchFamily="18" charset="0"/>
              </a:rPr>
              <a:t>图灵奖获得者</a:t>
            </a:r>
            <a:endParaRPr lang="zh-CN" altLang="en-US" b="1" dirty="0">
              <a:latin typeface="+mn-ea"/>
              <a:cs typeface="Times New Roman" panose="02020603050405020304" pitchFamily="18" charset="0"/>
            </a:endParaRPr>
          </a:p>
        </p:txBody>
      </p:sp>
      <p:sp>
        <p:nvSpPr>
          <p:cNvPr id="5" name="矩形 4"/>
          <p:cNvSpPr/>
          <p:nvPr/>
        </p:nvSpPr>
        <p:spPr>
          <a:xfrm>
            <a:off x="4194175" y="1417516"/>
            <a:ext cx="7696200" cy="3351046"/>
          </a:xfrm>
          <a:prstGeom prst="rect">
            <a:avLst/>
          </a:prstGeom>
        </p:spPr>
        <p:txBody>
          <a:bodyPr wrap="square">
            <a:spAutoFit/>
          </a:bodyPr>
          <a:lstStyle/>
          <a:p>
            <a:pPr>
              <a:lnSpc>
                <a:spcPct val="150000"/>
              </a:lnSpc>
            </a:pPr>
            <a:r>
              <a:rPr lang="en-US" altLang="zh-CN" b="1" dirty="0">
                <a:solidFill>
                  <a:srgbClr val="000000"/>
                </a:solidFill>
                <a:latin typeface="+mn-ea"/>
              </a:rPr>
              <a:t>1942</a:t>
            </a:r>
            <a:r>
              <a:rPr lang="zh-CN" altLang="en-US" b="1" dirty="0">
                <a:solidFill>
                  <a:srgbClr val="000000"/>
                </a:solidFill>
                <a:latin typeface="+mn-ea"/>
              </a:rPr>
              <a:t>年</a:t>
            </a:r>
            <a:r>
              <a:rPr lang="en-US" altLang="zh-CN" b="1" dirty="0">
                <a:solidFill>
                  <a:srgbClr val="000000"/>
                </a:solidFill>
                <a:latin typeface="+mn-ea"/>
              </a:rPr>
              <a:t>-1945</a:t>
            </a:r>
            <a:r>
              <a:rPr lang="zh-CN" altLang="en-US" b="1" dirty="0">
                <a:solidFill>
                  <a:srgbClr val="000000"/>
                </a:solidFill>
                <a:latin typeface="+mn-ea"/>
              </a:rPr>
              <a:t>年，以空军机长身份参加第二次世界大战</a:t>
            </a:r>
            <a:endParaRPr lang="en-US" altLang="zh-CN" b="1" dirty="0">
              <a:solidFill>
                <a:srgbClr val="000000"/>
              </a:solidFill>
              <a:latin typeface="+mn-ea"/>
            </a:endParaRPr>
          </a:p>
          <a:p>
            <a:pPr>
              <a:lnSpc>
                <a:spcPct val="150000"/>
              </a:lnSpc>
            </a:pPr>
            <a:r>
              <a:rPr lang="en-US" altLang="zh-CN" b="1" dirty="0">
                <a:solidFill>
                  <a:srgbClr val="000000"/>
                </a:solidFill>
                <a:latin typeface="+mn-ea"/>
              </a:rPr>
              <a:t>1948</a:t>
            </a:r>
            <a:r>
              <a:rPr lang="zh-CN" altLang="en-US" b="1" dirty="0">
                <a:solidFill>
                  <a:srgbClr val="000000"/>
                </a:solidFill>
                <a:latin typeface="+mn-ea"/>
              </a:rPr>
              <a:t>年，在牛津大学获得数学学士和硕士学位后，成为</a:t>
            </a:r>
            <a:endParaRPr lang="en-US" altLang="zh-CN" b="1" dirty="0">
              <a:solidFill>
                <a:srgbClr val="000000"/>
              </a:solidFill>
              <a:latin typeface="+mn-ea"/>
            </a:endParaRPr>
          </a:p>
          <a:p>
            <a:pPr>
              <a:lnSpc>
                <a:spcPct val="150000"/>
              </a:lnSpc>
            </a:pPr>
            <a:r>
              <a:rPr lang="en-US" altLang="zh-CN" b="1" dirty="0">
                <a:solidFill>
                  <a:srgbClr val="000000"/>
                </a:solidFill>
                <a:latin typeface="+mn-ea"/>
              </a:rPr>
              <a:t>        IBM</a:t>
            </a:r>
            <a:r>
              <a:rPr lang="zh-CN" altLang="en-US" b="1" dirty="0">
                <a:solidFill>
                  <a:srgbClr val="000000"/>
                </a:solidFill>
                <a:latin typeface="+mn-ea"/>
              </a:rPr>
              <a:t>的一名数学程序员</a:t>
            </a:r>
            <a:endParaRPr lang="en-US" altLang="zh-CN" b="1" dirty="0">
              <a:solidFill>
                <a:srgbClr val="000000"/>
              </a:solidFill>
              <a:latin typeface="+mn-ea"/>
            </a:endParaRPr>
          </a:p>
          <a:p>
            <a:pPr>
              <a:lnSpc>
                <a:spcPct val="150000"/>
              </a:lnSpc>
            </a:pPr>
            <a:r>
              <a:rPr lang="en-US" altLang="zh-CN" b="1" dirty="0">
                <a:solidFill>
                  <a:srgbClr val="000000"/>
                </a:solidFill>
                <a:latin typeface="+mn-ea"/>
              </a:rPr>
              <a:t>1957</a:t>
            </a:r>
            <a:r>
              <a:rPr lang="zh-CN" altLang="en-US" b="1" dirty="0">
                <a:solidFill>
                  <a:srgbClr val="000000"/>
                </a:solidFill>
                <a:latin typeface="+mn-ea"/>
              </a:rPr>
              <a:t>年，在</a:t>
            </a:r>
            <a:r>
              <a:rPr lang="en-US" altLang="zh-CN" b="1" dirty="0">
                <a:solidFill>
                  <a:srgbClr val="000000"/>
                </a:solidFill>
                <a:latin typeface="+mn-ea"/>
              </a:rPr>
              <a:t>IBM</a:t>
            </a:r>
            <a:r>
              <a:rPr lang="zh-CN" altLang="en-US" b="1" dirty="0">
                <a:solidFill>
                  <a:srgbClr val="000000"/>
                </a:solidFill>
                <a:latin typeface="+mn-ea"/>
              </a:rPr>
              <a:t>阿尔马登研究中心参加了 </a:t>
            </a:r>
            <a:r>
              <a:rPr lang="en-US" altLang="zh-CN" b="1" dirty="0">
                <a:solidFill>
                  <a:srgbClr val="000000"/>
                </a:solidFill>
                <a:latin typeface="+mn-ea"/>
              </a:rPr>
              <a:t>IBM </a:t>
            </a:r>
            <a:r>
              <a:rPr lang="zh-CN" altLang="en-US" b="1" dirty="0">
                <a:solidFill>
                  <a:srgbClr val="000000"/>
                </a:solidFill>
                <a:latin typeface="+mn-ea"/>
              </a:rPr>
              <a:t>第一台科学计算机</a:t>
            </a:r>
            <a:r>
              <a:rPr lang="en-US" altLang="zh-CN" b="1" dirty="0">
                <a:solidFill>
                  <a:srgbClr val="000000"/>
                </a:solidFill>
                <a:latin typeface="+mn-ea"/>
              </a:rPr>
              <a:t>701</a:t>
            </a:r>
            <a:r>
              <a:rPr lang="zh-CN" altLang="en-US" b="1" dirty="0">
                <a:solidFill>
                  <a:srgbClr val="000000"/>
                </a:solidFill>
                <a:latin typeface="+mn-ea"/>
              </a:rPr>
              <a:t>及第一台大型晶体管计算机 </a:t>
            </a:r>
            <a:r>
              <a:rPr lang="en-US" altLang="zh-CN" b="1" dirty="0">
                <a:solidFill>
                  <a:srgbClr val="000000"/>
                </a:solidFill>
                <a:latin typeface="+mn-ea"/>
              </a:rPr>
              <a:t>STRETCH </a:t>
            </a:r>
            <a:r>
              <a:rPr lang="zh-CN" altLang="en-US" b="1" dirty="0">
                <a:solidFill>
                  <a:srgbClr val="000000"/>
                </a:solidFill>
                <a:latin typeface="+mn-ea"/>
              </a:rPr>
              <a:t>的逻辑设计</a:t>
            </a:r>
            <a:r>
              <a:rPr lang="en-US" altLang="zh-CN" b="1" dirty="0">
                <a:solidFill>
                  <a:srgbClr val="000000"/>
                </a:solidFill>
                <a:latin typeface="+mn-ea"/>
              </a:rPr>
              <a:t> </a:t>
            </a:r>
            <a:endParaRPr lang="en-US" altLang="zh-CN" b="1" dirty="0">
              <a:solidFill>
                <a:srgbClr val="000000"/>
              </a:solidFill>
              <a:latin typeface="+mn-ea"/>
            </a:endParaRPr>
          </a:p>
        </p:txBody>
      </p:sp>
      <p:grpSp>
        <p:nvGrpSpPr>
          <p:cNvPr id="11" name="组合 10"/>
          <p:cNvGrpSpPr/>
          <p:nvPr/>
        </p:nvGrpSpPr>
        <p:grpSpPr>
          <a:xfrm>
            <a:off x="772942" y="362834"/>
            <a:ext cx="5305686" cy="399960"/>
            <a:chOff x="772942" y="362834"/>
            <a:chExt cx="5305686" cy="399960"/>
          </a:xfrm>
        </p:grpSpPr>
        <p:sp>
          <p:nvSpPr>
            <p:cNvPr id="1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kern="1200">
                  <a:solidFill>
                    <a:schemeClr val="bg1"/>
                  </a:solidFill>
                  <a:latin typeface="+mj-lt"/>
                  <a:ea typeface="+mj-ea"/>
                  <a:cs typeface="+mj-cs"/>
                </a:defRPr>
              </a:lvl1pPr>
            </a:lstStyle>
            <a:p>
              <a:r>
                <a:rPr lang="en-US" altLang="zh-CN" b="1" dirty="0">
                  <a:latin typeface="+mn-ea"/>
                  <a:ea typeface="+mn-ea"/>
                </a:rPr>
                <a:t>   </a:t>
              </a:r>
              <a:r>
                <a:rPr lang="zh-CN" altLang="en-US" b="1" dirty="0">
                  <a:latin typeface="+mn-ea"/>
                  <a:ea typeface="+mn-ea"/>
                </a:rPr>
                <a:t>历史人物</a:t>
              </a:r>
              <a:r>
                <a:rPr lang="en-US" altLang="zh-CN" b="1" dirty="0">
                  <a:latin typeface="+mn-ea"/>
                  <a:ea typeface="+mn-ea"/>
                </a:rPr>
                <a:t>-</a:t>
              </a:r>
              <a:r>
                <a:rPr lang="zh-CN" altLang="en-US" b="1" dirty="0">
                  <a:latin typeface="+mn-ea"/>
                  <a:ea typeface="+mn-ea"/>
                </a:rPr>
                <a:t>科德（</a:t>
              </a:r>
              <a:r>
                <a:rPr lang="en-US" altLang="zh-CN" b="1" dirty="0">
                  <a:latin typeface="+mn-ea"/>
                  <a:ea typeface="+mn-ea"/>
                </a:rPr>
                <a:t>Codd</a:t>
              </a:r>
              <a:r>
                <a:rPr lang="zh-CN" altLang="en-US" b="1" dirty="0">
                  <a:latin typeface="+mn-ea"/>
                  <a:ea typeface="+mn-ea"/>
                </a:rPr>
                <a:t>）</a:t>
              </a:r>
              <a:endParaRPr lang="zh-CN" altLang="en-US" b="1" dirty="0">
                <a:latin typeface="+mn-ea"/>
                <a:ea typeface="+mn-ea"/>
              </a:endParaRPr>
            </a:p>
          </p:txBody>
        </p:sp>
        <p:sp>
          <p:nvSpPr>
            <p:cNvPr id="13" name="等腰三角形 12"/>
            <p:cNvSpPr/>
            <p:nvPr/>
          </p:nvSpPr>
          <p:spPr>
            <a:xfrm>
              <a:off x="772942" y="389028"/>
              <a:ext cx="304800" cy="26709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pic>
        <p:nvPicPr>
          <p:cNvPr id="9" name="imgPicture" descr="https://gss0.bdstatic.com/-4o3dSag_xI4khGkpoWK1HF6hhy/baike/w%3D268/sign=d14aef1d22a446237ecaa264a0237246/b7003af33a87e9508942660b12385343fbf2b404.jpg"/>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58557" y="1417516"/>
            <a:ext cx="2949557" cy="3474727"/>
          </a:xfrm>
          <a:prstGeom prst="rect">
            <a:avLst/>
          </a:prstGeom>
          <a:noFill/>
          <a:ln>
            <a:noFill/>
          </a:ln>
        </p:spPr>
      </p:pic>
      <p:pic>
        <p:nvPicPr>
          <p:cNvPr id="10" name="Picture 4" descr="https://gimg2.baidu.com/image_search/src=http%3A%2F%2Fwww.west263.com%2Finfo%2Fupimg%2Fallimg%2F150817%2F1P2143393-3.jpg&amp;refer=http%3A%2F%2Fwww.west263.com&amp;app=2002&amp;size=f9999,10000&amp;q=a80&amp;n=0&amp;g=0n&amp;fmt=jpeg?sec=1644588387&amp;t=dcb4a4bf49be30613759c82fa33067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37525" y="4203822"/>
            <a:ext cx="3752850" cy="24765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0" dur="500"/>
                                        <p:tgtEl>
                                          <p:spTgt spid="5">
                                            <p:txEl>
                                              <p:pRg st="3" end="3"/>
                                            </p:txEl>
                                          </p:spTgt>
                                        </p:tgtEl>
                                      </p:cBhvr>
                                    </p:animEffect>
                                  </p:childTnLst>
                                </p:cTn>
                              </p:par>
                              <p:par>
                                <p:cTn id="21" presetID="53" presetClass="entr" presetSubtype="16"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fltVal val="0"/>
                                          </p:val>
                                        </p:tav>
                                        <p:tav tm="100000">
                                          <p:val>
                                            <p:strVal val="#ppt_w"/>
                                          </p:val>
                                        </p:tav>
                                      </p:tavLst>
                                    </p:anim>
                                    <p:anim calcmode="lin" valueType="num">
                                      <p:cBhvr>
                                        <p:cTn id="24" dur="500" fill="hold"/>
                                        <p:tgtEl>
                                          <p:spTgt spid="10"/>
                                        </p:tgtEl>
                                        <p:attrNameLst>
                                          <p:attrName>ppt_h</p:attrName>
                                        </p:attrNameLst>
                                      </p:cBhvr>
                                      <p:tavLst>
                                        <p:tav tm="0">
                                          <p:val>
                                            <p:fltVal val="0"/>
                                          </p:val>
                                        </p:tav>
                                        <p:tav tm="100000">
                                          <p:val>
                                            <p:strVal val="#ppt_h"/>
                                          </p:val>
                                        </p:tav>
                                      </p:tavLst>
                                    </p:anim>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546070" y="1802822"/>
            <a:ext cx="6480175" cy="1689052"/>
          </a:xfrm>
          <a:prstGeom prst="rect">
            <a:avLst/>
          </a:prstGeom>
        </p:spPr>
        <p:txBody>
          <a:bodyPr wrap="square">
            <a:spAutoFit/>
          </a:bodyPr>
          <a:lstStyle/>
          <a:p>
            <a:pPr marL="342900" indent="-342900">
              <a:lnSpc>
                <a:spcPct val="150000"/>
              </a:lnSpc>
              <a:buFont typeface="Wingdings" panose="05000000000000000000" pitchFamily="2" charset="2"/>
              <a:buChar char="u"/>
            </a:pPr>
            <a:r>
              <a:rPr lang="en-US" altLang="zh-CN" b="1" dirty="0">
                <a:solidFill>
                  <a:srgbClr val="000000"/>
                </a:solidFill>
                <a:latin typeface="+mn-ea"/>
              </a:rPr>
              <a:t>1963</a:t>
            </a:r>
            <a:r>
              <a:rPr lang="zh-CN" altLang="zh-CN" b="1" dirty="0">
                <a:solidFill>
                  <a:srgbClr val="000000"/>
                </a:solidFill>
                <a:latin typeface="+mn-ea"/>
              </a:rPr>
              <a:t>年获得计算机与通信专业硕土学位</a:t>
            </a:r>
            <a:endParaRPr lang="en-US" altLang="zh-CN" b="1" dirty="0">
              <a:solidFill>
                <a:srgbClr val="000000"/>
              </a:solidFill>
              <a:latin typeface="+mn-ea"/>
            </a:endParaRPr>
          </a:p>
          <a:p>
            <a:pPr marL="342900" indent="-342900">
              <a:lnSpc>
                <a:spcPct val="150000"/>
              </a:lnSpc>
              <a:buFont typeface="Wingdings" panose="05000000000000000000" pitchFamily="2" charset="2"/>
              <a:buChar char="u"/>
            </a:pPr>
            <a:r>
              <a:rPr lang="en-US" altLang="zh-CN" b="1" dirty="0">
                <a:solidFill>
                  <a:srgbClr val="000000"/>
                </a:solidFill>
                <a:latin typeface="+mn-ea"/>
              </a:rPr>
              <a:t>1965</a:t>
            </a:r>
            <a:r>
              <a:rPr lang="zh-CN" altLang="zh-CN" b="1" dirty="0">
                <a:solidFill>
                  <a:srgbClr val="000000"/>
                </a:solidFill>
                <a:latin typeface="+mn-ea"/>
              </a:rPr>
              <a:t>年获得计算机与通信专业博土学位</a:t>
            </a:r>
            <a:endParaRPr lang="en-US" altLang="zh-CN" b="1" dirty="0">
              <a:solidFill>
                <a:srgbClr val="000000"/>
              </a:solidFill>
              <a:latin typeface="+mn-ea"/>
            </a:endParaRPr>
          </a:p>
          <a:p>
            <a:pPr marL="342900" indent="-342900">
              <a:lnSpc>
                <a:spcPct val="150000"/>
              </a:lnSpc>
              <a:buFont typeface="Wingdings" panose="05000000000000000000" pitchFamily="2" charset="2"/>
              <a:buChar char="u"/>
            </a:pPr>
            <a:r>
              <a:rPr lang="en-US" altLang="zh-CN" b="1" dirty="0">
                <a:solidFill>
                  <a:srgbClr val="000000"/>
                </a:solidFill>
                <a:latin typeface="+mn-ea"/>
              </a:rPr>
              <a:t>1970</a:t>
            </a:r>
            <a:r>
              <a:rPr lang="zh-CN" altLang="zh-CN" b="1" dirty="0">
                <a:solidFill>
                  <a:srgbClr val="000000"/>
                </a:solidFill>
                <a:latin typeface="+mn-ea"/>
              </a:rPr>
              <a:t>年，科德首次提出了数据库的关系模型</a:t>
            </a:r>
            <a:endParaRPr lang="zh-CN" altLang="en-US" b="1" dirty="0">
              <a:solidFill>
                <a:srgbClr val="000000"/>
              </a:solidFill>
              <a:latin typeface="+mn-ea"/>
            </a:endParaRPr>
          </a:p>
        </p:txBody>
      </p:sp>
      <p:grpSp>
        <p:nvGrpSpPr>
          <p:cNvPr id="11" name="组合 10"/>
          <p:cNvGrpSpPr/>
          <p:nvPr/>
        </p:nvGrpSpPr>
        <p:grpSpPr>
          <a:xfrm>
            <a:off x="772942" y="362834"/>
            <a:ext cx="5305686" cy="399960"/>
            <a:chOff x="772942" y="362834"/>
            <a:chExt cx="5305686" cy="399960"/>
          </a:xfrm>
        </p:grpSpPr>
        <p:sp>
          <p:nvSpPr>
            <p:cNvPr id="1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kern="1200">
                  <a:solidFill>
                    <a:schemeClr val="bg1"/>
                  </a:solidFill>
                  <a:latin typeface="+mj-lt"/>
                  <a:ea typeface="+mj-ea"/>
                  <a:cs typeface="+mj-cs"/>
                </a:defRPr>
              </a:lvl1pPr>
            </a:lstStyle>
            <a:p>
              <a:r>
                <a:rPr lang="en-US" altLang="zh-CN" b="1" dirty="0">
                  <a:latin typeface="+mn-ea"/>
                  <a:ea typeface="+mn-ea"/>
                </a:rPr>
                <a:t>   </a:t>
              </a:r>
              <a:r>
                <a:rPr lang="zh-CN" altLang="en-US" b="1" dirty="0">
                  <a:latin typeface="+mn-ea"/>
                  <a:ea typeface="+mn-ea"/>
                </a:rPr>
                <a:t>历史人物</a:t>
              </a:r>
              <a:r>
                <a:rPr lang="en-US" altLang="zh-CN" b="1" dirty="0">
                  <a:latin typeface="+mn-ea"/>
                  <a:ea typeface="+mn-ea"/>
                </a:rPr>
                <a:t>-</a:t>
              </a:r>
              <a:r>
                <a:rPr lang="zh-CN" altLang="en-US" b="1" dirty="0">
                  <a:latin typeface="+mn-ea"/>
                  <a:ea typeface="+mn-ea"/>
                </a:rPr>
                <a:t>科德</a:t>
              </a:r>
              <a:endParaRPr lang="zh-CN" altLang="en-US" b="1" dirty="0">
                <a:latin typeface="+mn-ea"/>
                <a:ea typeface="+mn-ea"/>
              </a:endParaRPr>
            </a:p>
          </p:txBody>
        </p:sp>
        <p:sp>
          <p:nvSpPr>
            <p:cNvPr id="13" name="等腰三角形 12"/>
            <p:cNvSpPr/>
            <p:nvPr/>
          </p:nvSpPr>
          <p:spPr>
            <a:xfrm>
              <a:off x="772942" y="389028"/>
              <a:ext cx="304800" cy="26709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sp>
        <p:nvSpPr>
          <p:cNvPr id="8" name="矩形 7"/>
          <p:cNvSpPr/>
          <p:nvPr/>
        </p:nvSpPr>
        <p:spPr>
          <a:xfrm>
            <a:off x="5870575" y="3692187"/>
            <a:ext cx="4343400" cy="2797048"/>
          </a:xfrm>
          <a:prstGeom prst="rect">
            <a:avLst/>
          </a:prstGeom>
        </p:spPr>
        <p:txBody>
          <a:bodyPr wrap="square">
            <a:spAutoFit/>
          </a:bodyPr>
          <a:lstStyle/>
          <a:p>
            <a:pPr>
              <a:lnSpc>
                <a:spcPct val="150000"/>
              </a:lnSpc>
            </a:pPr>
            <a:endParaRPr lang="en-US" altLang="zh-CN" b="1" dirty="0">
              <a:solidFill>
                <a:srgbClr val="0000CC"/>
              </a:solidFill>
              <a:latin typeface="+mn-ea"/>
              <a:cs typeface="Times New Roman" panose="02020603050405020304" pitchFamily="18" charset="0"/>
            </a:endParaRPr>
          </a:p>
          <a:p>
            <a:pPr>
              <a:lnSpc>
                <a:spcPct val="150000"/>
              </a:lnSpc>
            </a:pPr>
            <a:r>
              <a:rPr lang="zh-CN" altLang="en-US" b="1" dirty="0">
                <a:solidFill>
                  <a:srgbClr val="0000CC"/>
                </a:solidFill>
                <a:latin typeface="+mn-ea"/>
                <a:cs typeface="Times New Roman" panose="02020603050405020304" pitchFamily="18" charset="0"/>
              </a:rPr>
              <a:t>主要贡献</a:t>
            </a:r>
            <a:endParaRPr lang="en-US" altLang="zh-CN" b="1" dirty="0">
              <a:solidFill>
                <a:srgbClr val="0000CC"/>
              </a:solidFill>
              <a:latin typeface="+mn-ea"/>
              <a:cs typeface="Times New Roman" panose="02020603050405020304" pitchFamily="18" charset="0"/>
            </a:endParaRPr>
          </a:p>
          <a:p>
            <a:pPr marL="342900" indent="-342900">
              <a:lnSpc>
                <a:spcPct val="150000"/>
              </a:lnSpc>
              <a:buFont typeface="Wingdings" panose="05000000000000000000" pitchFamily="2" charset="2"/>
              <a:buChar char="u"/>
            </a:pPr>
            <a:r>
              <a:rPr lang="en-US" altLang="zh-CN" b="1" dirty="0">
                <a:latin typeface="+mn-ea"/>
                <a:cs typeface="Times New Roman" panose="02020603050405020304" pitchFamily="18" charset="0"/>
              </a:rPr>
              <a:t>1</a:t>
            </a:r>
            <a:r>
              <a:rPr lang="zh-CN" altLang="en-US" b="1" dirty="0">
                <a:latin typeface="+mn-ea"/>
                <a:cs typeface="Times New Roman" panose="02020603050405020304" pitchFamily="18" charset="0"/>
              </a:rPr>
              <a:t>、科德十二定律</a:t>
            </a:r>
            <a:endParaRPr lang="zh-CN" altLang="en-US" b="1" dirty="0">
              <a:latin typeface="+mn-ea"/>
              <a:cs typeface="Times New Roman" panose="02020603050405020304" pitchFamily="18" charset="0"/>
            </a:endParaRPr>
          </a:p>
          <a:p>
            <a:pPr marL="342900" indent="-342900">
              <a:lnSpc>
                <a:spcPct val="150000"/>
              </a:lnSpc>
              <a:buFont typeface="Wingdings" panose="05000000000000000000" pitchFamily="2" charset="2"/>
              <a:buChar char="u"/>
            </a:pPr>
            <a:r>
              <a:rPr lang="en-US" altLang="zh-CN" b="1" dirty="0">
                <a:latin typeface="+mn-ea"/>
                <a:cs typeface="Times New Roman" panose="02020603050405020304" pitchFamily="18" charset="0"/>
              </a:rPr>
              <a:t>2</a:t>
            </a:r>
            <a:r>
              <a:rPr lang="zh-CN" altLang="en-US" b="1" dirty="0">
                <a:latin typeface="+mn-ea"/>
                <a:cs typeface="Times New Roman" panose="02020603050405020304" pitchFamily="18" charset="0"/>
              </a:rPr>
              <a:t>、科德 </a:t>
            </a:r>
            <a:r>
              <a:rPr lang="en-US" altLang="zh-CN" b="1" dirty="0">
                <a:latin typeface="+mn-ea"/>
                <a:cs typeface="Times New Roman" panose="02020603050405020304" pitchFamily="18" charset="0"/>
              </a:rPr>
              <a:t>cellular </a:t>
            </a:r>
            <a:r>
              <a:rPr lang="zh-CN" altLang="en-US" b="1" dirty="0">
                <a:latin typeface="+mn-ea"/>
                <a:cs typeface="Times New Roman" panose="02020603050405020304" pitchFamily="18" charset="0"/>
              </a:rPr>
              <a:t>机器人</a:t>
            </a:r>
            <a:endParaRPr lang="zh-CN" altLang="en-US" b="1" dirty="0">
              <a:latin typeface="+mn-ea"/>
              <a:cs typeface="Times New Roman" panose="02020603050405020304" pitchFamily="18" charset="0"/>
            </a:endParaRPr>
          </a:p>
          <a:p>
            <a:pPr marL="342900" indent="-342900">
              <a:lnSpc>
                <a:spcPct val="150000"/>
              </a:lnSpc>
              <a:buFont typeface="Wingdings" panose="05000000000000000000" pitchFamily="2" charset="2"/>
              <a:buChar char="u"/>
            </a:pPr>
            <a:r>
              <a:rPr lang="en-US" altLang="zh-CN" b="1" dirty="0">
                <a:latin typeface="+mn-ea"/>
                <a:cs typeface="Times New Roman" panose="02020603050405020304" pitchFamily="18" charset="0"/>
              </a:rPr>
              <a:t>3</a:t>
            </a:r>
            <a:r>
              <a:rPr lang="zh-CN" altLang="en-US" b="1" dirty="0">
                <a:latin typeface="+mn-ea"/>
                <a:cs typeface="Times New Roman" panose="02020603050405020304" pitchFamily="18" charset="0"/>
              </a:rPr>
              <a:t>、数据库正规化</a:t>
            </a:r>
            <a:endParaRPr lang="zh-CN" altLang="en-US" b="1" dirty="0">
              <a:latin typeface="+mn-ea"/>
              <a:cs typeface="Times New Roman" panose="02020603050405020304" pitchFamily="18" charset="0"/>
            </a:endParaRPr>
          </a:p>
        </p:txBody>
      </p:sp>
      <p:pic>
        <p:nvPicPr>
          <p:cNvPr id="4" name="图片 3"/>
          <p:cNvPicPr>
            <a:picLocks noChangeAspect="1"/>
          </p:cNvPicPr>
          <p:nvPr/>
        </p:nvPicPr>
        <p:blipFill>
          <a:blip r:embed="rId1" cstate="print"/>
          <a:stretch>
            <a:fillRect/>
          </a:stretch>
        </p:blipFill>
        <p:spPr>
          <a:xfrm>
            <a:off x="307975" y="1163421"/>
            <a:ext cx="5238095" cy="5333333"/>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Effect transition="in" filter="randombar(horizontal)">
                                      <p:cBhvr>
                                        <p:cTn id="25" dur="500"/>
                                        <p:tgtEl>
                                          <p:spTgt spid="8">
                                            <p:txEl>
                                              <p:pRg st="1" end="1"/>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randombar(horizontal)">
                                      <p:cBhvr>
                                        <p:cTn id="28" dur="500"/>
                                        <p:tgtEl>
                                          <p:spTgt spid="8">
                                            <p:txEl>
                                              <p:pRg st="2" end="2"/>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Effect transition="in" filter="randombar(horizontal)">
                                      <p:cBhvr>
                                        <p:cTn id="31" dur="500"/>
                                        <p:tgtEl>
                                          <p:spTgt spid="8">
                                            <p:txEl>
                                              <p:pRg st="3" end="3"/>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8">
                                            <p:txEl>
                                              <p:pRg st="4" end="4"/>
                                            </p:txEl>
                                          </p:spTgt>
                                        </p:tgtEl>
                                        <p:attrNameLst>
                                          <p:attrName>style.visibility</p:attrName>
                                        </p:attrNameLst>
                                      </p:cBhvr>
                                      <p:to>
                                        <p:strVal val="visible"/>
                                      </p:to>
                                    </p:set>
                                    <p:animEffect transition="in" filter="randombar(horizontal)">
                                      <p:cBhvr>
                                        <p:cTn id="34"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stretch>
            <a:fillRect/>
          </a:stretch>
        </p:blipFill>
        <p:spPr>
          <a:xfrm>
            <a:off x="8616950" y="3429794"/>
            <a:ext cx="3429000" cy="3180522"/>
          </a:xfrm>
          <a:prstGeom prst="rect">
            <a:avLst/>
          </a:prstGeom>
        </p:spPr>
      </p:pic>
      <p:sp>
        <p:nvSpPr>
          <p:cNvPr id="2" name="矩形 1"/>
          <p:cNvSpPr/>
          <p:nvPr/>
        </p:nvSpPr>
        <p:spPr>
          <a:xfrm>
            <a:off x="783784" y="4523698"/>
            <a:ext cx="2613311" cy="1135054"/>
          </a:xfrm>
          <a:prstGeom prst="rect">
            <a:avLst/>
          </a:prstGeom>
        </p:spPr>
        <p:txBody>
          <a:bodyPr wrap="square">
            <a:spAutoFit/>
          </a:bodyPr>
          <a:lstStyle/>
          <a:p>
            <a:pPr algn="ctr">
              <a:lnSpc>
                <a:spcPct val="150000"/>
              </a:lnSpc>
            </a:pPr>
            <a:r>
              <a:rPr lang="zh-CN" altLang="en-US" b="1" dirty="0">
                <a:latin typeface="+mn-ea"/>
                <a:cs typeface="Times New Roman" panose="02020603050405020304" pitchFamily="18" charset="0"/>
              </a:rPr>
              <a:t>法国哲学家         数学家 物理学家</a:t>
            </a:r>
            <a:endParaRPr lang="en-US" altLang="zh-CN" b="1" dirty="0">
              <a:latin typeface="+mn-ea"/>
              <a:cs typeface="Times New Roman" panose="02020603050405020304" pitchFamily="18" charset="0"/>
            </a:endParaRPr>
          </a:p>
        </p:txBody>
      </p:sp>
      <p:sp>
        <p:nvSpPr>
          <p:cNvPr id="5" name="矩形 4"/>
          <p:cNvSpPr/>
          <p:nvPr/>
        </p:nvSpPr>
        <p:spPr>
          <a:xfrm>
            <a:off x="4891147" y="1290061"/>
            <a:ext cx="6291753" cy="2242409"/>
          </a:xfrm>
          <a:prstGeom prst="rect">
            <a:avLst/>
          </a:prstGeom>
        </p:spPr>
        <p:txBody>
          <a:bodyPr wrap="square">
            <a:spAutoFit/>
          </a:bodyPr>
          <a:lstStyle/>
          <a:p>
            <a:pPr>
              <a:lnSpc>
                <a:spcPct val="150000"/>
              </a:lnSpc>
            </a:pPr>
            <a:r>
              <a:rPr lang="en-US" altLang="zh-CN" b="1">
                <a:latin typeface="+mn-ea"/>
              </a:rPr>
              <a:t>1613</a:t>
            </a:r>
            <a:r>
              <a:rPr lang="zh-CN" altLang="zh-CN" b="1">
                <a:latin typeface="+mn-ea"/>
              </a:rPr>
              <a:t>年</a:t>
            </a:r>
            <a:r>
              <a:rPr lang="zh-CN" altLang="en-US" b="1">
                <a:latin typeface="+mn-ea"/>
              </a:rPr>
              <a:t>，</a:t>
            </a:r>
            <a:r>
              <a:rPr lang="zh-CN" altLang="zh-CN" b="1">
                <a:latin typeface="+mn-ea"/>
              </a:rPr>
              <a:t>在</a:t>
            </a:r>
            <a:r>
              <a:rPr lang="zh-CN" altLang="zh-CN" b="1" dirty="0">
                <a:latin typeface="+mn-ea"/>
              </a:rPr>
              <a:t>普依托大学学习法律与医学</a:t>
            </a:r>
            <a:endParaRPr lang="en-US" altLang="zh-CN" b="1" dirty="0">
              <a:latin typeface="+mn-ea"/>
            </a:endParaRPr>
          </a:p>
          <a:p>
            <a:pPr>
              <a:lnSpc>
                <a:spcPct val="150000"/>
              </a:lnSpc>
            </a:pPr>
            <a:r>
              <a:rPr lang="en-US" altLang="zh-CN" b="1">
                <a:latin typeface="+mn-ea"/>
              </a:rPr>
              <a:t>1618</a:t>
            </a:r>
            <a:r>
              <a:rPr lang="zh-CN" altLang="zh-CN" b="1">
                <a:latin typeface="+mn-ea"/>
              </a:rPr>
              <a:t>年</a:t>
            </a:r>
            <a:r>
              <a:rPr lang="zh-CN" altLang="en-US" b="1">
                <a:latin typeface="+mn-ea"/>
              </a:rPr>
              <a:t>，</a:t>
            </a:r>
            <a:r>
              <a:rPr lang="zh-CN" altLang="zh-CN" b="1">
                <a:latin typeface="+mn-ea"/>
              </a:rPr>
              <a:t>在荷兰入伍，随军</a:t>
            </a:r>
            <a:r>
              <a:rPr lang="zh-CN" altLang="zh-CN" b="1" dirty="0">
                <a:latin typeface="+mn-ea"/>
              </a:rPr>
              <a:t>远游</a:t>
            </a:r>
            <a:endParaRPr lang="en-US" altLang="zh-CN" b="1" dirty="0">
              <a:latin typeface="+mn-ea"/>
            </a:endParaRPr>
          </a:p>
          <a:p>
            <a:pPr>
              <a:lnSpc>
                <a:spcPct val="150000"/>
              </a:lnSpc>
            </a:pPr>
            <a:r>
              <a:rPr lang="en-US" altLang="zh-CN" b="1" dirty="0">
                <a:latin typeface="+mn-ea"/>
              </a:rPr>
              <a:t>1622</a:t>
            </a:r>
            <a:r>
              <a:rPr lang="zh-CN" altLang="zh-CN" b="1">
                <a:latin typeface="+mn-ea"/>
              </a:rPr>
              <a:t>年</a:t>
            </a:r>
            <a:r>
              <a:rPr lang="zh-CN" altLang="en-US" b="1">
                <a:latin typeface="+mn-ea"/>
              </a:rPr>
              <a:t>开始</a:t>
            </a:r>
            <a:r>
              <a:rPr lang="zh-CN" altLang="zh-CN" b="1">
                <a:latin typeface="+mn-ea"/>
              </a:rPr>
              <a:t>，用</a:t>
            </a:r>
            <a:r>
              <a:rPr lang="en-US" altLang="zh-CN" b="1" dirty="0">
                <a:latin typeface="+mn-ea"/>
              </a:rPr>
              <a:t>4</a:t>
            </a:r>
            <a:r>
              <a:rPr lang="zh-CN" altLang="zh-CN" b="1" dirty="0">
                <a:latin typeface="+mn-ea"/>
              </a:rPr>
              <a:t>年时间游历欧洲</a:t>
            </a:r>
            <a:endParaRPr lang="en-US" altLang="zh-CN" b="1" dirty="0">
              <a:latin typeface="+mn-ea"/>
            </a:endParaRPr>
          </a:p>
          <a:p>
            <a:pPr>
              <a:lnSpc>
                <a:spcPct val="150000"/>
              </a:lnSpc>
            </a:pPr>
            <a:r>
              <a:rPr lang="en-US" altLang="zh-CN" b="1" dirty="0">
                <a:latin typeface="+mn-ea"/>
              </a:rPr>
              <a:t>1628</a:t>
            </a:r>
            <a:r>
              <a:rPr lang="zh-CN" altLang="zh-CN" b="1" dirty="0">
                <a:latin typeface="+mn-ea"/>
              </a:rPr>
              <a:t>年</a:t>
            </a:r>
            <a:r>
              <a:rPr lang="zh-CN" altLang="zh-CN" b="1">
                <a:latin typeface="+mn-ea"/>
              </a:rPr>
              <a:t>移居荷兰，</a:t>
            </a:r>
            <a:r>
              <a:rPr lang="zh-CN" altLang="en-US" b="1">
                <a:latin typeface="+mn-ea"/>
              </a:rPr>
              <a:t>开始</a:t>
            </a:r>
            <a:r>
              <a:rPr lang="zh-CN" altLang="zh-CN" b="1" dirty="0">
                <a:latin typeface="+mn-ea"/>
              </a:rPr>
              <a:t>专心致力于哲学研究</a:t>
            </a:r>
            <a:endParaRPr lang="en-US" altLang="zh-CN" b="1" dirty="0">
              <a:solidFill>
                <a:srgbClr val="000000"/>
              </a:solidFill>
              <a:latin typeface="+mn-ea"/>
            </a:endParaRPr>
          </a:p>
        </p:txBody>
      </p:sp>
      <p:grpSp>
        <p:nvGrpSpPr>
          <p:cNvPr id="11" name="组合 10"/>
          <p:cNvGrpSpPr/>
          <p:nvPr/>
        </p:nvGrpSpPr>
        <p:grpSpPr>
          <a:xfrm>
            <a:off x="772942" y="362834"/>
            <a:ext cx="5305686" cy="399960"/>
            <a:chOff x="772942" y="362834"/>
            <a:chExt cx="5305686" cy="399960"/>
          </a:xfrm>
        </p:grpSpPr>
        <p:sp>
          <p:nvSpPr>
            <p:cNvPr id="1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kern="1200">
                  <a:solidFill>
                    <a:schemeClr val="bg1"/>
                  </a:solidFill>
                  <a:latin typeface="+mj-lt"/>
                  <a:ea typeface="+mj-ea"/>
                  <a:cs typeface="+mj-cs"/>
                </a:defRPr>
              </a:lvl1pPr>
            </a:lstStyle>
            <a:p>
              <a:r>
                <a:rPr lang="en-US" altLang="zh-CN" b="1" dirty="0">
                  <a:latin typeface="+mn-ea"/>
                  <a:ea typeface="+mn-ea"/>
                </a:rPr>
                <a:t>   </a:t>
              </a:r>
              <a:r>
                <a:rPr lang="zh-CN" altLang="en-US" b="1" dirty="0">
                  <a:latin typeface="+mn-ea"/>
                  <a:ea typeface="+mn-ea"/>
                </a:rPr>
                <a:t>历史人物</a:t>
              </a:r>
              <a:r>
                <a:rPr lang="en-US" altLang="zh-CN" b="1" dirty="0">
                  <a:latin typeface="+mn-ea"/>
                  <a:ea typeface="+mn-ea"/>
                </a:rPr>
                <a:t>-</a:t>
              </a:r>
              <a:r>
                <a:rPr lang="zh-CN" altLang="en-US" b="1" dirty="0">
                  <a:latin typeface="+mn-ea"/>
                  <a:ea typeface="+mn-ea"/>
                </a:rPr>
                <a:t>笛卡尔</a:t>
              </a:r>
              <a:endParaRPr lang="zh-CN" altLang="en-US" b="1" dirty="0">
                <a:latin typeface="+mn-ea"/>
                <a:ea typeface="+mn-ea"/>
              </a:endParaRPr>
            </a:p>
          </p:txBody>
        </p:sp>
        <p:sp>
          <p:nvSpPr>
            <p:cNvPr id="13" name="等腰三角形 12"/>
            <p:cNvSpPr/>
            <p:nvPr/>
          </p:nvSpPr>
          <p:spPr>
            <a:xfrm>
              <a:off x="772942" y="389028"/>
              <a:ext cx="304800" cy="26709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pic>
        <p:nvPicPr>
          <p:cNvPr id="15" name="Picture 2" descr="https://gimg2.baidu.com/image_search/src=http%3A%2F%2Finews.gtimg.com%2Fnewsapp_bt%2F0%2F10290738330%2F1000.jpg&amp;refer=http%3A%2F%2Finews.gtimg.com&amp;app=2002&amp;size=f9999,10000&amp;q=a80&amp;n=0&amp;g=0n&amp;fmt=jpeg?sec=1644589043&amp;t=2674e2b6926215305a1ec946c39bef0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328" y="1296194"/>
            <a:ext cx="3810000" cy="2545080"/>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p:nvSpPr>
        <p:spPr>
          <a:xfrm>
            <a:off x="772942" y="5766997"/>
            <a:ext cx="2613311" cy="581057"/>
          </a:xfrm>
          <a:prstGeom prst="rect">
            <a:avLst/>
          </a:prstGeom>
        </p:spPr>
        <p:txBody>
          <a:bodyPr wrap="square">
            <a:spAutoFit/>
          </a:bodyPr>
          <a:lstStyle/>
          <a:p>
            <a:pPr algn="ctr">
              <a:lnSpc>
                <a:spcPct val="150000"/>
              </a:lnSpc>
            </a:pPr>
            <a:r>
              <a:rPr lang="zh-CN" altLang="en-US" b="1" dirty="0">
                <a:solidFill>
                  <a:srgbClr val="3333FF"/>
                </a:solidFill>
                <a:latin typeface="+mn-ea"/>
                <a:cs typeface="Times New Roman" panose="02020603050405020304" pitchFamily="18" charset="0"/>
              </a:rPr>
              <a:t>解析几何之父</a:t>
            </a:r>
            <a:endParaRPr lang="en-US" altLang="zh-CN" b="1" dirty="0">
              <a:latin typeface="+mn-ea"/>
              <a:cs typeface="Times New Roman" panose="02020603050405020304" pitchFamily="18" charset="0"/>
            </a:endParaRPr>
          </a:p>
        </p:txBody>
      </p:sp>
      <p:sp>
        <p:nvSpPr>
          <p:cNvPr id="6" name="波形 5"/>
          <p:cNvSpPr/>
          <p:nvPr/>
        </p:nvSpPr>
        <p:spPr>
          <a:xfrm>
            <a:off x="3966535" y="4481347"/>
            <a:ext cx="4224185" cy="1980971"/>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几何图形是直观的，而代数方程是抽象的，能不能把几何图形与代数方程结合起来</a:t>
            </a:r>
            <a:endParaRPr lang="zh-CN" altLang="en-US" sz="3600" b="1" dirty="0">
              <a:solidFill>
                <a:srgbClr val="FFFF00"/>
              </a:solidFill>
            </a:endParaRPr>
          </a:p>
        </p:txBody>
      </p:sp>
      <p:sp>
        <p:nvSpPr>
          <p:cNvPr id="7" name="矩形 6"/>
          <p:cNvSpPr/>
          <p:nvPr/>
        </p:nvSpPr>
        <p:spPr>
          <a:xfrm>
            <a:off x="4550306" y="4383339"/>
            <a:ext cx="1210588" cy="707886"/>
          </a:xfrm>
          <a:prstGeom prst="rect">
            <a:avLst/>
          </a:prstGeom>
        </p:spPr>
        <p:txBody>
          <a:bodyPr wrap="none">
            <a:spAutoFit/>
          </a:bodyPr>
          <a:lstStyle/>
          <a:p>
            <a:r>
              <a:rPr lang="zh-CN" altLang="en-US" sz="4000" b="1" dirty="0">
                <a:solidFill>
                  <a:srgbClr val="C00000"/>
                </a:solidFill>
              </a:rPr>
              <a:t>？？</a:t>
            </a:r>
            <a:endParaRPr lang="zh-CN" altLang="en-US" sz="4000" dirty="0">
              <a:solidFill>
                <a:srgbClr val="C00000"/>
              </a:solidFill>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heel(1)">
                                      <p:cBhvr>
                                        <p:cTn id="27" dur="2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80">
                                          <p:stCondLst>
                                            <p:cond delay="0"/>
                                          </p:stCondLst>
                                        </p:cTn>
                                        <p:tgtEl>
                                          <p:spTgt spid="7"/>
                                        </p:tgtEl>
                                      </p:cBhvr>
                                    </p:animEffect>
                                    <p:anim calcmode="lin" valueType="num">
                                      <p:cBhvr>
                                        <p:cTn id="33"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8" dur="26">
                                          <p:stCondLst>
                                            <p:cond delay="650"/>
                                          </p:stCondLst>
                                        </p:cTn>
                                        <p:tgtEl>
                                          <p:spTgt spid="7"/>
                                        </p:tgtEl>
                                      </p:cBhvr>
                                      <p:to x="100000" y="60000"/>
                                    </p:animScale>
                                    <p:animScale>
                                      <p:cBhvr>
                                        <p:cTn id="39" dur="166" decel="50000">
                                          <p:stCondLst>
                                            <p:cond delay="676"/>
                                          </p:stCondLst>
                                        </p:cTn>
                                        <p:tgtEl>
                                          <p:spTgt spid="7"/>
                                        </p:tgtEl>
                                      </p:cBhvr>
                                      <p:to x="100000" y="100000"/>
                                    </p:animScale>
                                    <p:animScale>
                                      <p:cBhvr>
                                        <p:cTn id="40" dur="26">
                                          <p:stCondLst>
                                            <p:cond delay="1312"/>
                                          </p:stCondLst>
                                        </p:cTn>
                                        <p:tgtEl>
                                          <p:spTgt spid="7"/>
                                        </p:tgtEl>
                                      </p:cBhvr>
                                      <p:to x="100000" y="80000"/>
                                    </p:animScale>
                                    <p:animScale>
                                      <p:cBhvr>
                                        <p:cTn id="41" dur="166" decel="50000">
                                          <p:stCondLst>
                                            <p:cond delay="1338"/>
                                          </p:stCondLst>
                                        </p:cTn>
                                        <p:tgtEl>
                                          <p:spTgt spid="7"/>
                                        </p:tgtEl>
                                      </p:cBhvr>
                                      <p:to x="100000" y="100000"/>
                                    </p:animScale>
                                    <p:animScale>
                                      <p:cBhvr>
                                        <p:cTn id="42" dur="26">
                                          <p:stCondLst>
                                            <p:cond delay="1642"/>
                                          </p:stCondLst>
                                        </p:cTn>
                                        <p:tgtEl>
                                          <p:spTgt spid="7"/>
                                        </p:tgtEl>
                                      </p:cBhvr>
                                      <p:to x="100000" y="90000"/>
                                    </p:animScale>
                                    <p:animScale>
                                      <p:cBhvr>
                                        <p:cTn id="43" dur="166" decel="50000">
                                          <p:stCondLst>
                                            <p:cond delay="1668"/>
                                          </p:stCondLst>
                                        </p:cTn>
                                        <p:tgtEl>
                                          <p:spTgt spid="7"/>
                                        </p:tgtEl>
                                      </p:cBhvr>
                                      <p:to x="100000" y="100000"/>
                                    </p:animScale>
                                    <p:animScale>
                                      <p:cBhvr>
                                        <p:cTn id="44" dur="26">
                                          <p:stCondLst>
                                            <p:cond delay="1808"/>
                                          </p:stCondLst>
                                        </p:cTn>
                                        <p:tgtEl>
                                          <p:spTgt spid="7"/>
                                        </p:tgtEl>
                                      </p:cBhvr>
                                      <p:to x="100000" y="95000"/>
                                    </p:animScale>
                                    <p:animScale>
                                      <p:cBhvr>
                                        <p:cTn id="45" dur="166" decel="50000">
                                          <p:stCondLst>
                                            <p:cond delay="1834"/>
                                          </p:stCondLst>
                                        </p:cTn>
                                        <p:tgtEl>
                                          <p:spTgt spid="7"/>
                                        </p:tgtEl>
                                      </p:cBhvr>
                                      <p:to x="100000" y="100000"/>
                                    </p:animScale>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heel(1)">
                                      <p:cBhvr>
                                        <p:cTn id="50" dur="20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circle(in)">
                                      <p:cBhvr>
                                        <p:cTn id="55"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2619114"/>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学习要求</a:t>
            </a: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0"/>
              </a:lnSpc>
            </a:pPr>
            <a:r>
              <a:rPr lang="zh-CN" altLang="en-US" b="1" dirty="0">
                <a:solidFill>
                  <a:schemeClr val="bg1"/>
                </a:solidFill>
                <a:latin typeface="Microsoft YaHei UI" panose="020B0503020204020204" pitchFamily="18" charset="-122"/>
                <a:cs typeface="Microsoft YaHei UI" panose="020B0503020204020204" pitchFamily="18" charset="-122"/>
              </a:rPr>
              <a:t>二元关系及其表示</a:t>
            </a:r>
            <a:endParaRPr lang="zh-CN" altLang="en-US" b="1" dirty="0">
              <a:solidFill>
                <a:schemeClr val="bg1"/>
              </a:solidFill>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704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800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a:t>
            </a:r>
            <a:r>
              <a:rPr lang="en-US" altLang="zh-CN" b="1" dirty="0">
                <a:solidFill>
                  <a:schemeClr val="bg1"/>
                </a:solidFill>
                <a:latin typeface="Microsoft YaHei UI" panose="020B0503020204020204" pitchFamily="18" charset="-122"/>
                <a:cs typeface="Microsoft YaHei UI" panose="020B0503020204020204" pitchFamily="18" charset="-122"/>
              </a:rPr>
              <a:t>4.1</a:t>
            </a:r>
            <a:endParaRPr lang="en-US" altLang="zh-CN" b="1" dirty="0">
              <a:solidFill>
                <a:schemeClr val="bg1"/>
              </a:solidFill>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gn="l">
              <a:lnSpc>
                <a:spcPts val="2400"/>
              </a:lnSpc>
            </a:pPr>
            <a:r>
              <a:rPr lang="zh-CN" altLang="en-US" b="1" dirty="0" smtClean="0">
                <a:latin typeface="Microsoft YaHei UI" panose="020B0503020204020204" pitchFamily="18" charset="-122"/>
                <a:cs typeface="Microsoft YaHei UI" panose="020B0503020204020204" pitchFamily="18" charset="-122"/>
                <a:sym typeface="+mn-ea"/>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a:t>问题引入</a:t>
            </a:r>
            <a:endParaRPr lang="zh-CN" altLang="en-US" dirty="0"/>
          </a:p>
        </p:txBody>
      </p:sp>
      <p:sp>
        <p:nvSpPr>
          <p:cNvPr id="1357828" name="Rectangle 4"/>
          <p:cNvSpPr>
            <a:spLocks noChangeArrowheads="1"/>
          </p:cNvSpPr>
          <p:nvPr/>
        </p:nvSpPr>
        <p:spPr bwMode="auto">
          <a:xfrm>
            <a:off x="1527175" y="1344682"/>
            <a:ext cx="5030334" cy="3516098"/>
          </a:xfrm>
          <a:prstGeom prst="rect">
            <a:avLst/>
          </a:prstGeom>
          <a:noFill/>
          <a:ln w="9525">
            <a:noFill/>
            <a:miter lim="800000"/>
          </a:ln>
          <a:effectLst/>
        </p:spPr>
        <p:txBody>
          <a:bodyPr wrap="square" lIns="36008" tIns="36008" rIns="36008" bIns="36008">
            <a:spAutoFit/>
          </a:bodyPr>
          <a:lstStyle/>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noProof="1">
                <a:solidFill>
                  <a:srgbClr val="000000"/>
                </a:solidFill>
                <a:latin typeface="+mn-ea"/>
              </a:rPr>
              <a:t>上，下</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noProof="1">
                <a:solidFill>
                  <a:srgbClr val="000000"/>
                </a:solidFill>
                <a:latin typeface="+mn-ea"/>
              </a:rPr>
              <a:t>左，右</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zh-CN" b="1" noProof="1">
                <a:solidFill>
                  <a:srgbClr val="000000"/>
                </a:solidFill>
                <a:latin typeface="+mn-ea"/>
              </a:rPr>
              <a:t>3&lt;4</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noProof="1">
                <a:solidFill>
                  <a:srgbClr val="000000"/>
                </a:solidFill>
                <a:latin typeface="+mn-ea"/>
              </a:rPr>
              <a:t>中国的首都是北京</a:t>
            </a:r>
            <a:endParaRPr kumimoji="1" lang="en-US" altLang="zh-CN" b="1" noProof="1">
              <a:solidFill>
                <a:srgbClr val="000000"/>
              </a:solidFill>
              <a:latin typeface="+mn-ea"/>
            </a:endParaRPr>
          </a:p>
          <a:p>
            <a:pPr marL="342900" indent="-342900" algn="just">
              <a:lnSpc>
                <a:spcPct val="150000"/>
              </a:lnSpc>
              <a:spcBef>
                <a:spcPct val="50000"/>
              </a:spcBef>
              <a:buClr>
                <a:srgbClr val="3333FF"/>
              </a:buClr>
              <a:buFont typeface="Wingdings" panose="05000000000000000000" pitchFamily="2" charset="2"/>
              <a:buChar char="Ø"/>
              <a:defRPr/>
            </a:pPr>
            <a:r>
              <a:rPr kumimoji="1" lang="zh-CN" altLang="en-US" b="1" dirty="0">
                <a:solidFill>
                  <a:srgbClr val="000000"/>
                </a:solidFill>
                <a:latin typeface="+mn-ea"/>
              </a:rPr>
              <a:t>平面上一个点的横、纵坐标等</a:t>
            </a:r>
            <a:endParaRPr kumimoji="1" lang="zh-CN" altLang="en-US" b="1" dirty="0">
              <a:solidFill>
                <a:srgbClr val="000000"/>
              </a:solidFill>
              <a:latin typeface="+mn-ea"/>
            </a:endParaRPr>
          </a:p>
        </p:txBody>
      </p:sp>
      <p:grpSp>
        <p:nvGrpSpPr>
          <p:cNvPr id="8" name="组合 7"/>
          <p:cNvGrpSpPr/>
          <p:nvPr/>
        </p:nvGrpSpPr>
        <p:grpSpPr>
          <a:xfrm>
            <a:off x="1234881" y="5334794"/>
            <a:ext cx="8077200" cy="1111312"/>
            <a:chOff x="536575" y="5446914"/>
            <a:chExt cx="8077200" cy="1111312"/>
          </a:xfrm>
        </p:grpSpPr>
        <p:sp>
          <p:nvSpPr>
            <p:cNvPr id="11" name="AutoShape 5"/>
            <p:cNvSpPr>
              <a:spLocks noChangeArrowheads="1"/>
            </p:cNvSpPr>
            <p:nvPr/>
          </p:nvSpPr>
          <p:spPr bwMode="auto">
            <a:xfrm>
              <a:off x="536575" y="5446914"/>
              <a:ext cx="8077200" cy="1111312"/>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endParaRPr lang="zh-CN" altLang="en-US" sz="2400" dirty="0">
                <a:solidFill>
                  <a:srgbClr val="3333FF"/>
                </a:solidFill>
              </a:endParaRPr>
            </a:p>
          </p:txBody>
        </p:sp>
        <p:sp>
          <p:nvSpPr>
            <p:cNvPr id="10" name="Rectangle 4"/>
            <p:cNvSpPr>
              <a:spLocks noChangeArrowheads="1"/>
            </p:cNvSpPr>
            <p:nvPr/>
          </p:nvSpPr>
          <p:spPr bwMode="auto">
            <a:xfrm>
              <a:off x="774700" y="5721849"/>
              <a:ext cx="7772400" cy="561443"/>
            </a:xfrm>
            <a:prstGeom prst="rect">
              <a:avLst/>
            </a:prstGeom>
            <a:noFill/>
            <a:ln w="9525">
              <a:noFill/>
              <a:miter lim="800000"/>
            </a:ln>
            <a:effectLst/>
          </p:spPr>
          <p:txBody>
            <a:bodyPr wrap="square" lIns="36008" tIns="36008" rIns="36008" bIns="36008">
              <a:spAutoFit/>
            </a:bodyPr>
            <a:lstStyle/>
            <a:p>
              <a:pPr algn="just">
                <a:lnSpc>
                  <a:spcPct val="150000"/>
                </a:lnSpc>
                <a:spcBef>
                  <a:spcPct val="50000"/>
                </a:spcBef>
                <a:buClr>
                  <a:srgbClr val="00FF00"/>
                </a:buClr>
                <a:defRPr/>
              </a:pPr>
              <a:r>
                <a:rPr kumimoji="1" lang="zh-CN" altLang="en-US" b="1" dirty="0">
                  <a:solidFill>
                    <a:srgbClr val="3333FF"/>
                  </a:solidFill>
                  <a:effectLst>
                    <a:outerShdw blurRad="38100" dist="38100" dir="2700000" algn="tl">
                      <a:srgbClr val="000000">
                        <a:alpha val="43137"/>
                      </a:srgbClr>
                    </a:outerShdw>
                  </a:effectLst>
                  <a:latin typeface="+mn-ea"/>
                </a:rPr>
                <a:t>特征：成对出现</a:t>
              </a:r>
              <a:r>
                <a:rPr kumimoji="1" lang="zh-CN" altLang="en-US" b="1" dirty="0">
                  <a:solidFill>
                    <a:srgbClr val="C00000"/>
                  </a:solidFill>
                  <a:effectLst>
                    <a:outerShdw blurRad="38100" dist="38100" dir="2700000" algn="tl">
                      <a:srgbClr val="000000">
                        <a:alpha val="43137"/>
                      </a:srgbClr>
                    </a:outerShdw>
                  </a:effectLst>
                  <a:latin typeface="+mn-ea"/>
                </a:rPr>
                <a:t>且</a:t>
              </a:r>
              <a:r>
                <a:rPr kumimoji="1" lang="zh-CN" altLang="en-US" b="1" dirty="0">
                  <a:solidFill>
                    <a:srgbClr val="3333FF"/>
                  </a:solidFill>
                  <a:effectLst>
                    <a:outerShdw blurRad="38100" dist="38100" dir="2700000" algn="tl">
                      <a:srgbClr val="000000">
                        <a:alpha val="43137"/>
                      </a:srgbClr>
                    </a:outerShdw>
                  </a:effectLst>
                  <a:latin typeface="+mn-ea"/>
                </a:rPr>
                <a:t>具有一定的顺序</a:t>
              </a:r>
              <a:endParaRPr kumimoji="1" lang="zh-CN" altLang="en-US" b="1" dirty="0">
                <a:solidFill>
                  <a:srgbClr val="3333FF"/>
                </a:solidFill>
                <a:effectLst>
                  <a:outerShdw blurRad="38100" dist="38100" dir="2700000" algn="tl">
                    <a:srgbClr val="000000">
                      <a:alpha val="43137"/>
                    </a:srgbClr>
                  </a:outerShdw>
                </a:effectLst>
                <a:latin typeface="+mn-ea"/>
              </a:endParaRPr>
            </a:p>
          </p:txBody>
        </p:sp>
      </p:grpSp>
      <p:sp>
        <p:nvSpPr>
          <p:cNvPr id="9" name="爆炸形: 14 pt  8"/>
          <p:cNvSpPr/>
          <p:nvPr/>
        </p:nvSpPr>
        <p:spPr>
          <a:xfrm>
            <a:off x="5502081" y="2180729"/>
            <a:ext cx="3810000" cy="16764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序偶</a:t>
            </a:r>
            <a:endParaRPr lang="zh-CN" altLang="en-US" b="1"/>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7828">
                                            <p:txEl>
                                              <p:pRg st="0" end="0"/>
                                            </p:txEl>
                                          </p:spTgt>
                                        </p:tgtEl>
                                        <p:attrNameLst>
                                          <p:attrName>style.visibility</p:attrName>
                                        </p:attrNameLst>
                                      </p:cBhvr>
                                      <p:to>
                                        <p:strVal val="visible"/>
                                      </p:to>
                                    </p:set>
                                    <p:anim calcmode="lin" valueType="num">
                                      <p:cBhvr additive="base">
                                        <p:cTn id="7" dur="500" fill="hold"/>
                                        <p:tgtEl>
                                          <p:spTgt spid="13578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578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57828">
                                            <p:txEl>
                                              <p:pRg st="1" end="1"/>
                                            </p:txEl>
                                          </p:spTgt>
                                        </p:tgtEl>
                                        <p:attrNameLst>
                                          <p:attrName>style.visibility</p:attrName>
                                        </p:attrNameLst>
                                      </p:cBhvr>
                                      <p:to>
                                        <p:strVal val="visible"/>
                                      </p:to>
                                    </p:set>
                                    <p:anim calcmode="lin" valueType="num">
                                      <p:cBhvr additive="base">
                                        <p:cTn id="13" dur="500" fill="hold"/>
                                        <p:tgtEl>
                                          <p:spTgt spid="135782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5782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57828">
                                            <p:txEl>
                                              <p:pRg st="2" end="2"/>
                                            </p:txEl>
                                          </p:spTgt>
                                        </p:tgtEl>
                                        <p:attrNameLst>
                                          <p:attrName>style.visibility</p:attrName>
                                        </p:attrNameLst>
                                      </p:cBhvr>
                                      <p:to>
                                        <p:strVal val="visible"/>
                                      </p:to>
                                    </p:set>
                                    <p:anim calcmode="lin" valueType="num">
                                      <p:cBhvr additive="base">
                                        <p:cTn id="19" dur="500" fill="hold"/>
                                        <p:tgtEl>
                                          <p:spTgt spid="135782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5782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57828">
                                            <p:txEl>
                                              <p:pRg st="3" end="3"/>
                                            </p:txEl>
                                          </p:spTgt>
                                        </p:tgtEl>
                                        <p:attrNameLst>
                                          <p:attrName>style.visibility</p:attrName>
                                        </p:attrNameLst>
                                      </p:cBhvr>
                                      <p:to>
                                        <p:strVal val="visible"/>
                                      </p:to>
                                    </p:set>
                                    <p:anim calcmode="lin" valueType="num">
                                      <p:cBhvr additive="base">
                                        <p:cTn id="25" dur="500" fill="hold"/>
                                        <p:tgtEl>
                                          <p:spTgt spid="135782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5782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57828">
                                            <p:txEl>
                                              <p:pRg st="4" end="4"/>
                                            </p:txEl>
                                          </p:spTgt>
                                        </p:tgtEl>
                                        <p:attrNameLst>
                                          <p:attrName>style.visibility</p:attrName>
                                        </p:attrNameLst>
                                      </p:cBhvr>
                                      <p:to>
                                        <p:strVal val="visible"/>
                                      </p:to>
                                    </p:set>
                                    <p:anim calcmode="lin" valueType="num">
                                      <p:cBhvr additive="base">
                                        <p:cTn id="31" dur="500" fill="hold"/>
                                        <p:tgtEl>
                                          <p:spTgt spid="135782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5782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randombar(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45"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000"/>
                                        <p:tgtEl>
                                          <p:spTgt spid="9"/>
                                        </p:tgtEl>
                                      </p:cBhvr>
                                    </p:animEffect>
                                    <p:anim calcmode="lin" valueType="num">
                                      <p:cBhvr>
                                        <p:cTn id="43" dur="2000" fill="hold"/>
                                        <p:tgtEl>
                                          <p:spTgt spid="9"/>
                                        </p:tgtEl>
                                        <p:attrNameLst>
                                          <p:attrName>ppt_w</p:attrName>
                                        </p:attrNameLst>
                                      </p:cBhvr>
                                      <p:tavLst>
                                        <p:tav tm="0" fmla="#ppt_w*sin(2.5*pi*$)">
                                          <p:val>
                                            <p:fltVal val="0"/>
                                          </p:val>
                                        </p:tav>
                                        <p:tav tm="100000">
                                          <p:val>
                                            <p:fltVal val="1"/>
                                          </p:val>
                                        </p:tav>
                                      </p:tavLst>
                                    </p:anim>
                                    <p:anim calcmode="lin" valueType="num">
                                      <p:cBhvr>
                                        <p:cTn id="44" dur="2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7828" grpId="0" autoUpdateAnimBg="0" build="p"/>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zh-CN" altLang="en-US" dirty="0"/>
              <a:t>序偶的定义</a:t>
            </a:r>
            <a:endParaRPr lang="zh-CN" altLang="en-US" dirty="0"/>
          </a:p>
        </p:txBody>
      </p:sp>
      <p:sp>
        <p:nvSpPr>
          <p:cNvPr id="1357828" name="Rectangle 4"/>
          <p:cNvSpPr>
            <a:spLocks noChangeArrowheads="1"/>
          </p:cNvSpPr>
          <p:nvPr/>
        </p:nvSpPr>
        <p:spPr bwMode="auto">
          <a:xfrm>
            <a:off x="231775" y="1143794"/>
            <a:ext cx="11279868" cy="1669438"/>
          </a:xfrm>
          <a:prstGeom prst="rect">
            <a:avLst/>
          </a:prstGeom>
          <a:noFill/>
          <a:ln w="9525">
            <a:noFill/>
            <a:miter lim="800000"/>
          </a:ln>
          <a:effectLst/>
        </p:spPr>
        <p:txBody>
          <a:bodyPr wrap="square" lIns="36008" tIns="36008" rIns="36008" bIns="36008">
            <a:spAutoFit/>
          </a:bodyPr>
          <a:lstStyle/>
          <a:p>
            <a:pPr marL="342900" indent="-342900" algn="just">
              <a:lnSpc>
                <a:spcPct val="150000"/>
              </a:lnSpc>
              <a:spcBef>
                <a:spcPct val="50000"/>
              </a:spcBef>
              <a:buClr>
                <a:srgbClr val="00FF00"/>
              </a:buClr>
              <a:buFont typeface="Wingdings" panose="05000000000000000000" pitchFamily="2" charset="2"/>
              <a:buChar char="§"/>
              <a:defRPr/>
            </a:pPr>
            <a:r>
              <a:rPr kumimoji="1" lang="zh-CN" altLang="en-US" b="1" dirty="0">
                <a:solidFill>
                  <a:srgbClr val="C00000"/>
                </a:solidFill>
                <a:effectLst>
                  <a:outerShdw blurRad="38100" dist="38100" dir="2700000" algn="tl">
                    <a:srgbClr val="000000"/>
                  </a:outerShdw>
                </a:effectLst>
                <a:latin typeface="+mn-ea"/>
              </a:rPr>
              <a:t>定义</a:t>
            </a:r>
            <a:r>
              <a:rPr kumimoji="1" lang="en-US" altLang="zh-CN" b="1" dirty="0">
                <a:solidFill>
                  <a:srgbClr val="C00000"/>
                </a:solidFill>
                <a:effectLst>
                  <a:outerShdw blurRad="38100" dist="38100" dir="2700000" algn="tl">
                    <a:srgbClr val="000000"/>
                  </a:outerShdw>
                </a:effectLst>
                <a:latin typeface="+mn-ea"/>
              </a:rPr>
              <a:t>4.1</a:t>
            </a:r>
            <a:r>
              <a:rPr kumimoji="1" lang="zh-CN" altLang="en-US" b="1" dirty="0">
                <a:latin typeface="+mn-ea"/>
              </a:rPr>
              <a:t>　</a:t>
            </a:r>
            <a:r>
              <a:rPr kumimoji="1" lang="zh-CN" altLang="en-US" b="1" dirty="0">
                <a:solidFill>
                  <a:srgbClr val="000000"/>
                </a:solidFill>
                <a:latin typeface="+mn-ea"/>
              </a:rPr>
              <a:t>由两个</a:t>
            </a:r>
            <a:r>
              <a:rPr kumimoji="1" lang="zh-CN" altLang="en-US" b="1">
                <a:solidFill>
                  <a:srgbClr val="000000"/>
                </a:solidFill>
                <a:latin typeface="+mn-ea"/>
              </a:rPr>
              <a:t>元素</a:t>
            </a:r>
            <a:r>
              <a:rPr kumimoji="1" lang="en-US" altLang="zh-CN" b="1">
                <a:solidFill>
                  <a:srgbClr val="000000"/>
                </a:solidFill>
                <a:latin typeface="+mn-ea"/>
              </a:rPr>
              <a:t>x</a:t>
            </a:r>
            <a:r>
              <a:rPr kumimoji="1" lang="zh-CN" altLang="en-US" b="1">
                <a:solidFill>
                  <a:srgbClr val="000000"/>
                </a:solidFill>
                <a:latin typeface="+mn-ea"/>
              </a:rPr>
              <a:t>，</a:t>
            </a:r>
            <a:r>
              <a:rPr kumimoji="1" lang="en-US" altLang="zh-CN" b="1">
                <a:solidFill>
                  <a:srgbClr val="000000"/>
                </a:solidFill>
                <a:latin typeface="+mn-ea"/>
              </a:rPr>
              <a:t>y</a:t>
            </a:r>
            <a:r>
              <a:rPr kumimoji="1" lang="zh-CN" altLang="en-US" b="1" dirty="0">
                <a:solidFill>
                  <a:srgbClr val="000000"/>
                </a:solidFill>
                <a:latin typeface="+mn-ea"/>
              </a:rPr>
              <a:t>按照一定的次序组成的二元组被称为</a:t>
            </a:r>
            <a:r>
              <a:rPr kumimoji="1" lang="zh-CN" altLang="en-US" b="1" dirty="0">
                <a:solidFill>
                  <a:srgbClr val="3333FF"/>
                </a:solidFill>
                <a:latin typeface="+mn-ea"/>
              </a:rPr>
              <a:t>有</a:t>
            </a:r>
            <a:r>
              <a:rPr kumimoji="1" lang="zh-CN" altLang="en-US" b="1">
                <a:solidFill>
                  <a:srgbClr val="3333FF"/>
                </a:solidFill>
                <a:latin typeface="+mn-ea"/>
              </a:rPr>
              <a:t>序偶对</a:t>
            </a:r>
            <a:r>
              <a:rPr kumimoji="1" lang="zh-CN" altLang="en-US" b="1">
                <a:solidFill>
                  <a:srgbClr val="000000"/>
                </a:solidFill>
                <a:latin typeface="+mn-ea"/>
              </a:rPr>
              <a:t>，简称</a:t>
            </a:r>
            <a:r>
              <a:rPr kumimoji="1" lang="zh-CN" altLang="en-US" b="1" dirty="0">
                <a:solidFill>
                  <a:srgbClr val="3333FF"/>
                </a:solidFill>
                <a:latin typeface="+mn-ea"/>
              </a:rPr>
              <a:t>序偶</a:t>
            </a:r>
            <a:r>
              <a:rPr kumimoji="1" lang="en-US" altLang="zh-CN" b="1" dirty="0">
                <a:solidFill>
                  <a:srgbClr val="000000"/>
                </a:solidFill>
                <a:latin typeface="+mn-ea"/>
              </a:rPr>
              <a:t>(Ordered </a:t>
            </a:r>
            <a:r>
              <a:rPr kumimoji="1" lang="en-US" altLang="zh-CN" b="1">
                <a:solidFill>
                  <a:srgbClr val="000000"/>
                </a:solidFill>
                <a:latin typeface="+mn-ea"/>
              </a:rPr>
              <a:t>Couple)</a:t>
            </a:r>
            <a:r>
              <a:rPr kumimoji="1" lang="zh-CN" altLang="en-US" b="1">
                <a:solidFill>
                  <a:srgbClr val="000000"/>
                </a:solidFill>
                <a:latin typeface="+mn-ea"/>
              </a:rPr>
              <a:t>，</a:t>
            </a:r>
            <a:r>
              <a:rPr kumimoji="1" lang="zh-CN" altLang="en-US" b="1">
                <a:solidFill>
                  <a:srgbClr val="3333FF"/>
                </a:solidFill>
                <a:latin typeface="+mn-ea"/>
              </a:rPr>
              <a:t>记</a:t>
            </a:r>
            <a:r>
              <a:rPr kumimoji="1" lang="zh-CN" altLang="en-US" b="1" dirty="0">
                <a:solidFill>
                  <a:srgbClr val="3333FF"/>
                </a:solidFill>
                <a:latin typeface="+mn-ea"/>
              </a:rPr>
              <a:t>作</a:t>
            </a:r>
            <a:r>
              <a:rPr kumimoji="1" lang="en-US" altLang="zh-CN" b="1">
                <a:solidFill>
                  <a:srgbClr val="3333FF"/>
                </a:solidFill>
                <a:latin typeface="+mn-ea"/>
              </a:rPr>
              <a:t>&lt;x,y&gt;</a:t>
            </a:r>
            <a:r>
              <a:rPr kumimoji="1" lang="zh-CN" altLang="en-US" b="1">
                <a:solidFill>
                  <a:srgbClr val="000000"/>
                </a:solidFill>
                <a:latin typeface="+mn-ea"/>
              </a:rPr>
              <a:t>，其中，称</a:t>
            </a:r>
            <a:r>
              <a:rPr kumimoji="1" lang="en-US" altLang="zh-CN" b="1" dirty="0">
                <a:solidFill>
                  <a:srgbClr val="000000"/>
                </a:solidFill>
                <a:latin typeface="+mn-ea"/>
              </a:rPr>
              <a:t>x</a:t>
            </a:r>
            <a:r>
              <a:rPr kumimoji="1" lang="zh-CN" altLang="en-US" b="1" dirty="0">
                <a:solidFill>
                  <a:srgbClr val="000000"/>
                </a:solidFill>
                <a:latin typeface="+mn-ea"/>
              </a:rPr>
              <a:t>为</a:t>
            </a:r>
            <a:r>
              <a:rPr kumimoji="1" lang="en-US" altLang="zh-CN" b="1">
                <a:solidFill>
                  <a:srgbClr val="000000"/>
                </a:solidFill>
                <a:latin typeface="+mn-ea"/>
              </a:rPr>
              <a:t>&lt;x,y</a:t>
            </a:r>
            <a:r>
              <a:rPr kumimoji="1" lang="en-US" altLang="zh-CN" b="1" dirty="0">
                <a:solidFill>
                  <a:srgbClr val="000000"/>
                </a:solidFill>
                <a:latin typeface="+mn-ea"/>
              </a:rPr>
              <a:t>&gt;</a:t>
            </a:r>
            <a:r>
              <a:rPr kumimoji="1" lang="zh-CN" altLang="en-US" b="1" dirty="0">
                <a:solidFill>
                  <a:srgbClr val="000000"/>
                </a:solidFill>
                <a:latin typeface="+mn-ea"/>
              </a:rPr>
              <a:t>的</a:t>
            </a:r>
            <a:r>
              <a:rPr kumimoji="1" lang="zh-CN" altLang="en-US" b="1">
                <a:solidFill>
                  <a:srgbClr val="000000"/>
                </a:solidFill>
                <a:latin typeface="+mn-ea"/>
              </a:rPr>
              <a:t>第一元素，</a:t>
            </a:r>
            <a:r>
              <a:rPr kumimoji="1" lang="en-US" altLang="zh-CN" b="1">
                <a:solidFill>
                  <a:srgbClr val="000000"/>
                </a:solidFill>
                <a:latin typeface="+mn-ea"/>
              </a:rPr>
              <a:t>y</a:t>
            </a:r>
            <a:r>
              <a:rPr kumimoji="1" lang="zh-CN" altLang="en-US" b="1" dirty="0">
                <a:solidFill>
                  <a:srgbClr val="000000"/>
                </a:solidFill>
                <a:latin typeface="+mn-ea"/>
              </a:rPr>
              <a:t>为</a:t>
            </a:r>
            <a:r>
              <a:rPr kumimoji="1" lang="en-US" altLang="zh-CN" b="1">
                <a:solidFill>
                  <a:srgbClr val="000000"/>
                </a:solidFill>
                <a:latin typeface="+mn-ea"/>
              </a:rPr>
              <a:t>&lt;x,y</a:t>
            </a:r>
            <a:r>
              <a:rPr kumimoji="1" lang="en-US" altLang="zh-CN" b="1" dirty="0">
                <a:solidFill>
                  <a:srgbClr val="000000"/>
                </a:solidFill>
                <a:latin typeface="+mn-ea"/>
              </a:rPr>
              <a:t>&gt;</a:t>
            </a:r>
            <a:r>
              <a:rPr kumimoji="1" lang="zh-CN" altLang="en-US" b="1" dirty="0">
                <a:solidFill>
                  <a:srgbClr val="000000"/>
                </a:solidFill>
                <a:latin typeface="+mn-ea"/>
              </a:rPr>
              <a:t>的第二元素。</a:t>
            </a:r>
            <a:endParaRPr kumimoji="1" lang="zh-CN" altLang="en-US" b="1" dirty="0">
              <a:solidFill>
                <a:srgbClr val="000000"/>
              </a:solidFill>
              <a:latin typeface="+mn-ea"/>
            </a:endParaRPr>
          </a:p>
        </p:txBody>
      </p:sp>
      <p:sp>
        <p:nvSpPr>
          <p:cNvPr id="6" name="Rectangle 3"/>
          <p:cNvSpPr txBox="1">
            <a:spLocks noChangeArrowheads="1"/>
          </p:cNvSpPr>
          <p:nvPr/>
        </p:nvSpPr>
        <p:spPr>
          <a:xfrm>
            <a:off x="536575" y="3147985"/>
            <a:ext cx="9677400" cy="1515472"/>
          </a:xfrm>
          <a:prstGeom prst="rect">
            <a:avLst/>
          </a:prstGeom>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lumMod val="75000"/>
                    <a:lumOff val="25000"/>
                  </a:schemeClr>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spcBef>
                <a:spcPts val="1200"/>
              </a:spcBef>
              <a:buNone/>
            </a:pPr>
            <a:r>
              <a:rPr lang="zh-CN" altLang="en-US" dirty="0">
                <a:solidFill>
                  <a:schemeClr val="tx1"/>
                </a:solidFill>
              </a:rPr>
              <a:t>例如：</a:t>
            </a:r>
            <a:r>
              <a:rPr lang="zh-CN" altLang="zh-CN" dirty="0">
                <a:solidFill>
                  <a:schemeClr val="tx1"/>
                </a:solidFill>
              </a:rPr>
              <a:t>中国的首都是北京</a:t>
            </a:r>
            <a:r>
              <a:rPr lang="en-US" altLang="zh-CN" dirty="0">
                <a:solidFill>
                  <a:schemeClr val="tx1"/>
                </a:solidFill>
              </a:rPr>
              <a:t> </a:t>
            </a:r>
            <a:r>
              <a:rPr lang="zh-CN" altLang="en-US" dirty="0">
                <a:solidFill>
                  <a:schemeClr val="tx1"/>
                </a:solidFill>
              </a:rPr>
              <a:t>的序偶表示为：</a:t>
            </a:r>
            <a:endParaRPr lang="zh-CN" altLang="en-US" dirty="0">
              <a:solidFill>
                <a:schemeClr val="tx1"/>
              </a:solidFill>
            </a:endParaRPr>
          </a:p>
          <a:p>
            <a:pPr marL="0" indent="0">
              <a:lnSpc>
                <a:spcPct val="150000"/>
              </a:lnSpc>
              <a:spcBef>
                <a:spcPts val="1200"/>
              </a:spcBef>
              <a:buNone/>
            </a:pPr>
            <a:r>
              <a:rPr lang="zh-CN" altLang="en-US" dirty="0">
                <a:solidFill>
                  <a:schemeClr val="tx1"/>
                </a:solidFill>
              </a:rPr>
              <a:t>          李玲是李华的女儿 的序偶表示为：</a:t>
            </a:r>
            <a:endParaRPr lang="zh-CN" altLang="en-US" dirty="0">
              <a:solidFill>
                <a:schemeClr val="tx1"/>
              </a:solidFill>
            </a:endParaRPr>
          </a:p>
          <a:p>
            <a:pPr marL="0" indent="0">
              <a:lnSpc>
                <a:spcPct val="150000"/>
              </a:lnSpc>
              <a:spcBef>
                <a:spcPts val="1200"/>
              </a:spcBef>
              <a:buFont typeface="Wingdings" panose="05000000000000000000" pitchFamily="2" charset="2"/>
              <a:buNone/>
            </a:pPr>
            <a:endParaRPr lang="zh-CN" altLang="en-US" dirty="0">
              <a:solidFill>
                <a:schemeClr val="tx1"/>
              </a:solidFill>
            </a:endParaRPr>
          </a:p>
        </p:txBody>
      </p:sp>
      <p:sp>
        <p:nvSpPr>
          <p:cNvPr id="7" name="Rectangle 4"/>
          <p:cNvSpPr>
            <a:spLocks noChangeArrowheads="1"/>
          </p:cNvSpPr>
          <p:nvPr/>
        </p:nvSpPr>
        <p:spPr bwMode="auto">
          <a:xfrm>
            <a:off x="6364061" y="3839035"/>
            <a:ext cx="2362200"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ts val="1200"/>
              </a:spcBef>
              <a:buNone/>
            </a:pPr>
            <a:r>
              <a:rPr lang="en-US" altLang="zh-CN" sz="2400">
                <a:solidFill>
                  <a:srgbClr val="7030A0"/>
                </a:solidFill>
                <a:latin typeface="+mn-ea"/>
                <a:ea typeface="+mn-ea"/>
              </a:rPr>
              <a:t>&lt;</a:t>
            </a:r>
            <a:r>
              <a:rPr lang="zh-CN" altLang="en-US" sz="2400">
                <a:solidFill>
                  <a:srgbClr val="7030A0"/>
                </a:solidFill>
                <a:latin typeface="+mn-ea"/>
                <a:ea typeface="+mn-ea"/>
              </a:rPr>
              <a:t>李玲</a:t>
            </a:r>
            <a:r>
              <a:rPr lang="zh-CN" altLang="zh-CN" sz="2400" b="0">
                <a:solidFill>
                  <a:srgbClr val="7030A0"/>
                </a:solidFill>
                <a:latin typeface="Arial" panose="020B0604020202020204"/>
                <a:ea typeface="微软雅黑" panose="020B0503020204020204" pitchFamily="34" charset="-122"/>
              </a:rPr>
              <a:t>，</a:t>
            </a:r>
            <a:r>
              <a:rPr lang="zh-CN" altLang="en-US" sz="2400">
                <a:solidFill>
                  <a:srgbClr val="7030A0"/>
                </a:solidFill>
                <a:latin typeface="+mn-ea"/>
                <a:ea typeface="+mn-ea"/>
              </a:rPr>
              <a:t>李华</a:t>
            </a:r>
            <a:r>
              <a:rPr lang="en-US" altLang="zh-CN" sz="2400" dirty="0">
                <a:solidFill>
                  <a:srgbClr val="7030A0"/>
                </a:solidFill>
                <a:latin typeface="+mn-ea"/>
                <a:ea typeface="+mn-ea"/>
              </a:rPr>
              <a:t>&gt;</a:t>
            </a:r>
            <a:endParaRPr lang="zh-CN" altLang="en-US" sz="2400" dirty="0">
              <a:solidFill>
                <a:srgbClr val="7030A0"/>
              </a:solidFill>
              <a:latin typeface="+mn-ea"/>
              <a:ea typeface="+mn-ea"/>
            </a:endParaRPr>
          </a:p>
        </p:txBody>
      </p:sp>
      <p:sp>
        <p:nvSpPr>
          <p:cNvPr id="2" name="矩形 1"/>
          <p:cNvSpPr/>
          <p:nvPr/>
        </p:nvSpPr>
        <p:spPr>
          <a:xfrm>
            <a:off x="6364061" y="3286715"/>
            <a:ext cx="2082621" cy="461665"/>
          </a:xfrm>
          <a:prstGeom prst="rect">
            <a:avLst/>
          </a:prstGeom>
        </p:spPr>
        <p:txBody>
          <a:bodyPr wrap="none">
            <a:spAutoFit/>
          </a:bodyPr>
          <a:lstStyle/>
          <a:p>
            <a:r>
              <a:rPr lang="en-US" altLang="zh-CN" b="1">
                <a:solidFill>
                  <a:srgbClr val="7030A0"/>
                </a:solidFill>
              </a:rPr>
              <a:t>&lt;</a:t>
            </a:r>
            <a:r>
              <a:rPr lang="zh-CN" altLang="zh-CN" b="1">
                <a:solidFill>
                  <a:srgbClr val="7030A0"/>
                </a:solidFill>
              </a:rPr>
              <a:t>中国</a:t>
            </a:r>
            <a:r>
              <a:rPr lang="zh-CN" altLang="zh-CN">
                <a:solidFill>
                  <a:srgbClr val="7030A0"/>
                </a:solidFill>
              </a:rPr>
              <a:t>，</a:t>
            </a:r>
            <a:r>
              <a:rPr lang="zh-CN" altLang="zh-CN" b="1">
                <a:solidFill>
                  <a:srgbClr val="7030A0"/>
                </a:solidFill>
              </a:rPr>
              <a:t>北京</a:t>
            </a:r>
            <a:r>
              <a:rPr lang="en-US" altLang="zh-CN" b="1" dirty="0">
                <a:solidFill>
                  <a:srgbClr val="7030A0"/>
                </a:solidFill>
              </a:rPr>
              <a:t>&gt;</a:t>
            </a:r>
            <a:endParaRPr lang="zh-CN" altLang="en-US" b="1" dirty="0">
              <a:solidFill>
                <a:srgbClr val="7030A0"/>
              </a:solidFill>
            </a:endParaRPr>
          </a:p>
        </p:txBody>
      </p:sp>
      <p:sp>
        <p:nvSpPr>
          <p:cNvPr id="10" name="Rectangle 4"/>
          <p:cNvSpPr>
            <a:spLocks noChangeArrowheads="1"/>
          </p:cNvSpPr>
          <p:nvPr/>
        </p:nvSpPr>
        <p:spPr bwMode="auto">
          <a:xfrm>
            <a:off x="536575" y="4998210"/>
            <a:ext cx="11430000" cy="1567872"/>
          </a:xfrm>
          <a:prstGeom prst="rect">
            <a:avLst/>
          </a:prstGeom>
          <a:solidFill>
            <a:schemeClr val="accent5">
              <a:lumMod val="40000"/>
              <a:lumOff val="60000"/>
            </a:schemeClr>
          </a:solidFill>
          <a:ln>
            <a:noFill/>
          </a:ln>
        </p:spPr>
        <p:txBody>
          <a:bodyPr wrap="square" lIns="36008" tIns="36008" rIns="36008"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indent="0" algn="l" eaLnBrk="1" hangingPunct="1">
              <a:lnSpc>
                <a:spcPct val="140000"/>
              </a:lnSpc>
              <a:spcBef>
                <a:spcPct val="0"/>
              </a:spcBef>
              <a:buClr>
                <a:srgbClr val="800080"/>
              </a:buClr>
              <a:buNone/>
            </a:pPr>
            <a:r>
              <a:rPr kumimoji="1" lang="zh-CN" altLang="en-US" sz="2400" dirty="0">
                <a:solidFill>
                  <a:srgbClr val="C00000"/>
                </a:solidFill>
                <a:latin typeface="+mn-ea"/>
                <a:ea typeface="+mn-ea"/>
              </a:rPr>
              <a:t>注意： </a:t>
            </a:r>
            <a:r>
              <a:rPr kumimoji="1" lang="zh-CN" altLang="en-US" sz="2400" dirty="0">
                <a:latin typeface="+mn-ea"/>
                <a:ea typeface="+mn-ea"/>
              </a:rPr>
              <a:t>（</a:t>
            </a:r>
            <a:r>
              <a:rPr kumimoji="1" lang="en-US" altLang="zh-CN" sz="2400" dirty="0">
                <a:latin typeface="+mn-ea"/>
                <a:ea typeface="+mn-ea"/>
              </a:rPr>
              <a:t>1</a:t>
            </a:r>
            <a:r>
              <a:rPr kumimoji="1" lang="zh-CN" altLang="en-US" sz="2400" dirty="0">
                <a:latin typeface="+mn-ea"/>
                <a:ea typeface="+mn-ea"/>
              </a:rPr>
              <a:t>）序偶可以看作是具有两个元素的集合。</a:t>
            </a:r>
            <a:endParaRPr kumimoji="1" lang="zh-CN" altLang="en-US" sz="2400" dirty="0">
              <a:latin typeface="+mn-ea"/>
              <a:ea typeface="+mn-ea"/>
            </a:endParaRPr>
          </a:p>
          <a:p>
            <a:pPr marL="0" indent="0" algn="l" eaLnBrk="1" hangingPunct="1">
              <a:lnSpc>
                <a:spcPct val="140000"/>
              </a:lnSpc>
              <a:spcBef>
                <a:spcPct val="0"/>
              </a:spcBef>
              <a:buClr>
                <a:srgbClr val="800080"/>
              </a:buClr>
              <a:buNone/>
            </a:pPr>
            <a:r>
              <a:rPr kumimoji="1" lang="zh-CN" altLang="en-US" sz="2400" dirty="0">
                <a:latin typeface="+mn-ea"/>
                <a:ea typeface="+mn-ea"/>
              </a:rPr>
              <a:t>           （</a:t>
            </a:r>
            <a:r>
              <a:rPr kumimoji="1" lang="en-US" altLang="zh-CN" sz="2400" dirty="0">
                <a:latin typeface="+mn-ea"/>
                <a:ea typeface="+mn-ea"/>
              </a:rPr>
              <a:t>2</a:t>
            </a:r>
            <a:r>
              <a:rPr kumimoji="1" lang="zh-CN" altLang="en-US" sz="2400" dirty="0">
                <a:latin typeface="+mn-ea"/>
                <a:ea typeface="+mn-ea"/>
              </a:rPr>
              <a:t>）序偶中的两个元素具有</a:t>
            </a:r>
            <a:r>
              <a:rPr kumimoji="1" lang="zh-CN" altLang="en-US" sz="2400" dirty="0">
                <a:solidFill>
                  <a:srgbClr val="0000FF"/>
                </a:solidFill>
                <a:latin typeface="+mn-ea"/>
                <a:ea typeface="+mn-ea"/>
              </a:rPr>
              <a:t>确定的次序</a:t>
            </a:r>
            <a:endParaRPr kumimoji="1" lang="en-US" altLang="zh-CN" sz="2400" dirty="0">
              <a:solidFill>
                <a:schemeClr val="tx1"/>
              </a:solidFill>
              <a:latin typeface="+mn-ea"/>
              <a:ea typeface="+mn-ea"/>
            </a:endParaRPr>
          </a:p>
          <a:p>
            <a:pPr marL="0" indent="0" algn="l" eaLnBrk="1" hangingPunct="1">
              <a:lnSpc>
                <a:spcPct val="140000"/>
              </a:lnSpc>
              <a:spcBef>
                <a:spcPct val="0"/>
              </a:spcBef>
              <a:buClr>
                <a:srgbClr val="800080"/>
              </a:buClr>
              <a:buNone/>
            </a:pPr>
            <a:r>
              <a:rPr kumimoji="1" lang="zh-CN" altLang="en-US" sz="2400" dirty="0">
                <a:latin typeface="+mn-ea"/>
                <a:ea typeface="+mn-ea"/>
              </a:rPr>
              <a:t>                    即</a:t>
            </a:r>
            <a:r>
              <a:rPr kumimoji="1" lang="zh-CN" altLang="en-US" sz="2400" noProof="1">
                <a:latin typeface="+mn-ea"/>
                <a:ea typeface="+mn-ea"/>
              </a:rPr>
              <a:t>&lt;</a:t>
            </a:r>
            <a:r>
              <a:rPr kumimoji="1" lang="en-US" altLang="en-US" sz="2400" dirty="0" err="1">
                <a:latin typeface="+mn-ea"/>
                <a:ea typeface="+mn-ea"/>
              </a:rPr>
              <a:t>a,b</a:t>
            </a:r>
            <a:r>
              <a:rPr kumimoji="1" lang="en-US" altLang="zh-CN" sz="2400" dirty="0">
                <a:latin typeface="+mn-ea"/>
                <a:ea typeface="+mn-ea"/>
              </a:rPr>
              <a:t>&gt;</a:t>
            </a:r>
            <a:r>
              <a:rPr kumimoji="1" lang="en-US" altLang="zh-CN" sz="2400" noProof="1">
                <a:solidFill>
                  <a:srgbClr val="FF0000"/>
                </a:solidFill>
                <a:latin typeface="+mn-ea"/>
                <a:ea typeface="+mn-ea"/>
              </a:rPr>
              <a:t>≠</a:t>
            </a:r>
            <a:r>
              <a:rPr kumimoji="1" lang="en-US" altLang="en-US" sz="2400" noProof="1">
                <a:latin typeface="+mn-ea"/>
                <a:ea typeface="+mn-ea"/>
              </a:rPr>
              <a:t>&lt;</a:t>
            </a:r>
            <a:r>
              <a:rPr kumimoji="1" lang="en-US" altLang="zh-CN" sz="2400" noProof="1">
                <a:latin typeface="+mn-ea"/>
                <a:ea typeface="+mn-ea"/>
              </a:rPr>
              <a:t>b</a:t>
            </a:r>
            <a:r>
              <a:rPr kumimoji="1" lang="en-US" altLang="en-US" sz="2400" dirty="0">
                <a:latin typeface="+mn-ea"/>
                <a:ea typeface="+mn-ea"/>
              </a:rPr>
              <a:t>,a</a:t>
            </a:r>
            <a:r>
              <a:rPr kumimoji="1" lang="en-US" altLang="zh-CN" sz="2400" dirty="0">
                <a:latin typeface="+mn-ea"/>
                <a:ea typeface="+mn-ea"/>
              </a:rPr>
              <a:t>&gt;，</a:t>
            </a:r>
            <a:r>
              <a:rPr kumimoji="1" lang="zh-CN" altLang="zh-CN" sz="2400" dirty="0">
                <a:solidFill>
                  <a:srgbClr val="FF0000"/>
                </a:solidFill>
                <a:latin typeface="+mn-ea"/>
                <a:ea typeface="+mn-ea"/>
              </a:rPr>
              <a:t>但</a:t>
            </a:r>
            <a:r>
              <a:rPr kumimoji="1" lang="en-US" altLang="zh-CN" sz="2400" dirty="0">
                <a:latin typeface="+mn-ea"/>
                <a:ea typeface="+mn-ea"/>
              </a:rPr>
              <a:t>{</a:t>
            </a:r>
            <a:r>
              <a:rPr kumimoji="1" lang="en-US" altLang="zh-CN" sz="2400" dirty="0" err="1">
                <a:latin typeface="+mn-ea"/>
                <a:ea typeface="+mn-ea"/>
              </a:rPr>
              <a:t>a,b</a:t>
            </a:r>
            <a:r>
              <a:rPr kumimoji="1" lang="en-US" altLang="zh-CN" sz="2400" dirty="0">
                <a:latin typeface="+mn-ea"/>
                <a:ea typeface="+mn-ea"/>
              </a:rPr>
              <a:t>}={</a:t>
            </a:r>
            <a:r>
              <a:rPr kumimoji="1" lang="en-US" altLang="zh-CN" sz="2400" dirty="0" err="1">
                <a:latin typeface="+mn-ea"/>
                <a:ea typeface="+mn-ea"/>
              </a:rPr>
              <a:t>b,a</a:t>
            </a:r>
            <a:r>
              <a:rPr kumimoji="1" lang="en-US" altLang="zh-CN" sz="2400" dirty="0">
                <a:latin typeface="+mn-ea"/>
                <a:ea typeface="+mn-ea"/>
              </a:rPr>
              <a:t>}</a:t>
            </a:r>
            <a:r>
              <a:rPr kumimoji="1" lang="zh-CN" altLang="en-US" sz="2400" dirty="0">
                <a:latin typeface="+mn-ea"/>
                <a:ea typeface="+mn-ea"/>
              </a:rPr>
              <a:t>。</a:t>
            </a:r>
            <a:endParaRPr kumimoji="1" lang="zh-CN" altLang="en-US" sz="2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7828">
                                            <p:txEl>
                                              <p:pRg st="0" end="0"/>
                                            </p:txEl>
                                          </p:spTgt>
                                        </p:tgtEl>
                                        <p:attrNameLst>
                                          <p:attrName>style.visibility</p:attrName>
                                        </p:attrNameLst>
                                      </p:cBhvr>
                                      <p:to>
                                        <p:strVal val="visible"/>
                                      </p:to>
                                    </p:set>
                                    <p:anim calcmode="lin" valueType="num">
                                      <p:cBhvr additive="base">
                                        <p:cTn id="7" dur="500" fill="hold"/>
                                        <p:tgtEl>
                                          <p:spTgt spid="13578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578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 calcmode="lin" valueType="num">
                                      <p:cBhvr additive="base">
                                        <p:cTn id="26"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diamond(in)">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7828" grpId="0" autoUpdateAnimBg="0" build="p"/>
      <p:bldP spid="6" grpId="0" uiExpand="1" build="p"/>
      <p:bldP spid="7" grpId="0" build="p"/>
      <p:bldP spid="2"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993775" y="305594"/>
            <a:ext cx="7621764" cy="585924"/>
          </a:xfrm>
        </p:spPr>
        <p:txBody>
          <a:bodyPr/>
          <a:lstStyle/>
          <a:p>
            <a:pPr eaLnBrk="1" hangingPunct="1"/>
            <a:r>
              <a:rPr kumimoji="1" lang="zh-CN" altLang="en-US" dirty="0"/>
              <a:t>序偶相等</a:t>
            </a:r>
            <a:endParaRPr kumimoji="1" lang="zh-CN" altLang="en-US" dirty="0"/>
          </a:p>
        </p:txBody>
      </p:sp>
      <p:sp>
        <p:nvSpPr>
          <p:cNvPr id="1361923" name="Rectangle 3"/>
          <p:cNvSpPr>
            <a:spLocks noGrp="1" noChangeArrowheads="1"/>
          </p:cNvSpPr>
          <p:nvPr>
            <p:ph type="body" idx="1"/>
          </p:nvPr>
        </p:nvSpPr>
        <p:spPr>
          <a:xfrm>
            <a:off x="384175" y="1448594"/>
            <a:ext cx="11158414" cy="1375093"/>
          </a:xfrm>
        </p:spPr>
        <p:txBody>
          <a:bodyPr/>
          <a:lstStyle/>
          <a:p>
            <a:pPr marL="0" indent="0">
              <a:lnSpc>
                <a:spcPct val="140000"/>
              </a:lnSpc>
              <a:buNone/>
            </a:pPr>
            <a:r>
              <a:rPr lang="zh-CN" altLang="zh-CN" dirty="0">
                <a:solidFill>
                  <a:srgbClr val="C00000"/>
                </a:solidFill>
              </a:rPr>
              <a:t>定义</a:t>
            </a:r>
            <a:r>
              <a:rPr lang="en-US" altLang="zh-CN" dirty="0">
                <a:solidFill>
                  <a:srgbClr val="C00000"/>
                </a:solidFill>
              </a:rPr>
              <a:t>4.2 </a:t>
            </a:r>
            <a:r>
              <a:rPr lang="zh-CN" altLang="en-US" dirty="0"/>
              <a:t>给定序偶</a:t>
            </a:r>
            <a:r>
              <a:rPr lang="en-US" altLang="zh-CN" dirty="0"/>
              <a:t>&lt;</a:t>
            </a:r>
            <a:r>
              <a:rPr lang="en-US" altLang="zh-CN" dirty="0" err="1"/>
              <a:t>a,b</a:t>
            </a:r>
            <a:r>
              <a:rPr lang="en-US" altLang="zh-CN" dirty="0"/>
              <a:t>&gt;</a:t>
            </a:r>
            <a:r>
              <a:rPr lang="zh-CN" altLang="en-US" dirty="0"/>
              <a:t>和</a:t>
            </a:r>
            <a:r>
              <a:rPr lang="en-US" altLang="zh-CN" dirty="0"/>
              <a:t>&lt;</a:t>
            </a:r>
            <a:r>
              <a:rPr lang="en-US" altLang="zh-CN" dirty="0" err="1"/>
              <a:t>c,d</a:t>
            </a:r>
            <a:r>
              <a:rPr lang="en-US" altLang="zh-CN" dirty="0"/>
              <a:t>&gt;</a:t>
            </a:r>
            <a:r>
              <a:rPr lang="zh-CN" altLang="en-US" dirty="0"/>
              <a:t>，</a:t>
            </a:r>
            <a:endParaRPr lang="zh-CN" altLang="en-US" dirty="0"/>
          </a:p>
          <a:p>
            <a:pPr marL="0" indent="0" algn="ctr">
              <a:lnSpc>
                <a:spcPct val="140000"/>
              </a:lnSpc>
              <a:buNone/>
            </a:pPr>
            <a:r>
              <a:rPr lang="en-US" altLang="zh-CN" dirty="0"/>
              <a:t>&lt;</a:t>
            </a:r>
            <a:r>
              <a:rPr lang="en-US" altLang="zh-CN" dirty="0" err="1"/>
              <a:t>a,b</a:t>
            </a:r>
            <a:r>
              <a:rPr lang="en-US" altLang="zh-CN" dirty="0"/>
              <a:t>&gt;=&lt;</a:t>
            </a:r>
            <a:r>
              <a:rPr lang="en-US" altLang="zh-CN" dirty="0" err="1"/>
              <a:t>c,d</a:t>
            </a:r>
            <a:r>
              <a:rPr lang="en-US" altLang="zh-CN" dirty="0"/>
              <a:t>&gt; </a:t>
            </a:r>
            <a:r>
              <a:rPr lang="en-US" altLang="zh-CN" dirty="0">
                <a:solidFill>
                  <a:srgbClr val="0000FF"/>
                </a:solidFill>
                <a:latin typeface="MS UI Gothic" panose="020B0600070205080204" pitchFamily="34" charset="-128"/>
                <a:ea typeface="MS UI Gothic" panose="020B0600070205080204" pitchFamily="34" charset="-128"/>
              </a:rPr>
              <a:t>⇔</a:t>
            </a:r>
            <a:r>
              <a:rPr lang="en-US" altLang="zh-CN" dirty="0">
                <a:latin typeface="MS UI Gothic" panose="020B0600070205080204" pitchFamily="34" charset="-128"/>
                <a:ea typeface="MS UI Gothic" panose="020B0600070205080204" pitchFamily="34" charset="-128"/>
              </a:rPr>
              <a:t> </a:t>
            </a:r>
            <a:r>
              <a:rPr lang="en-US" altLang="zh-CN" dirty="0"/>
              <a:t>a=c</a:t>
            </a:r>
            <a:r>
              <a:rPr lang="zh-CN" altLang="en-US" dirty="0"/>
              <a:t>且</a:t>
            </a:r>
            <a:r>
              <a:rPr lang="en-US" altLang="zh-CN" dirty="0"/>
              <a:t>b=d</a:t>
            </a:r>
            <a:r>
              <a:rPr lang="zh-CN" altLang="en-US" dirty="0"/>
              <a:t>。</a:t>
            </a:r>
            <a:endParaRPr lang="zh-CN" altLang="en-US" dirty="0"/>
          </a:p>
        </p:txBody>
      </p:sp>
      <p:sp>
        <p:nvSpPr>
          <p:cNvPr id="2" name="矩形 1"/>
          <p:cNvSpPr/>
          <p:nvPr/>
        </p:nvSpPr>
        <p:spPr>
          <a:xfrm>
            <a:off x="384175" y="2972594"/>
            <a:ext cx="10744200" cy="581057"/>
          </a:xfrm>
          <a:prstGeom prst="rect">
            <a:avLst/>
          </a:prstGeom>
        </p:spPr>
        <p:txBody>
          <a:bodyPr wrap="square">
            <a:spAutoFit/>
          </a:bodyPr>
          <a:lstStyle/>
          <a:p>
            <a:pPr>
              <a:lnSpc>
                <a:spcPct val="150000"/>
              </a:lnSpc>
            </a:pPr>
            <a:r>
              <a:rPr lang="zh-CN" altLang="en-US" b="1" dirty="0">
                <a:solidFill>
                  <a:srgbClr val="C00000"/>
                </a:solidFill>
                <a:latin typeface="+mn-ea"/>
              </a:rPr>
              <a:t>例</a:t>
            </a:r>
            <a:r>
              <a:rPr lang="en-US" altLang="zh-CN" b="1" dirty="0">
                <a:solidFill>
                  <a:srgbClr val="C00000"/>
                </a:solidFill>
                <a:latin typeface="+mn-ea"/>
              </a:rPr>
              <a:t>4.1  </a:t>
            </a:r>
            <a:r>
              <a:rPr lang="en-US" altLang="zh-CN" b="1" dirty="0">
                <a:latin typeface="+mn-ea"/>
              </a:rPr>
              <a:t>x</a:t>
            </a:r>
            <a:r>
              <a:rPr lang="zh-CN" altLang="en-US" b="1" dirty="0">
                <a:latin typeface="+mn-ea"/>
              </a:rPr>
              <a:t>，</a:t>
            </a:r>
            <a:r>
              <a:rPr lang="en-US" altLang="zh-CN" b="1" dirty="0">
                <a:latin typeface="+mn-ea"/>
              </a:rPr>
              <a:t>y</a:t>
            </a:r>
            <a:r>
              <a:rPr lang="zh-CN" altLang="en-US" b="1" dirty="0">
                <a:latin typeface="+mn-ea"/>
              </a:rPr>
              <a:t>取何值时，序偶</a:t>
            </a:r>
            <a:r>
              <a:rPr lang="en-US" altLang="zh-CN" b="1" dirty="0">
                <a:latin typeface="+mn-ea"/>
              </a:rPr>
              <a:t>&lt;x+y,4&gt;</a:t>
            </a:r>
            <a:r>
              <a:rPr lang="zh-CN" altLang="en-US" b="1" dirty="0">
                <a:latin typeface="+mn-ea"/>
              </a:rPr>
              <a:t>与</a:t>
            </a:r>
            <a:r>
              <a:rPr lang="en-US" altLang="zh-CN" b="1" dirty="0">
                <a:latin typeface="+mn-ea"/>
              </a:rPr>
              <a:t>&lt;5,2x-y&gt;</a:t>
            </a:r>
            <a:r>
              <a:rPr lang="zh-CN" altLang="en-US" b="1" dirty="0">
                <a:latin typeface="+mn-ea"/>
              </a:rPr>
              <a:t>相等？</a:t>
            </a:r>
            <a:endParaRPr lang="zh-CN" altLang="en-US" b="1" dirty="0">
              <a:latin typeface="+mn-ea"/>
            </a:endParaRPr>
          </a:p>
        </p:txBody>
      </p:sp>
      <p:grpSp>
        <p:nvGrpSpPr>
          <p:cNvPr id="5" name="组合 4"/>
          <p:cNvGrpSpPr/>
          <p:nvPr/>
        </p:nvGrpSpPr>
        <p:grpSpPr>
          <a:xfrm>
            <a:off x="441171" y="3517605"/>
            <a:ext cx="5581804" cy="1689052"/>
            <a:chOff x="441171" y="3517605"/>
            <a:chExt cx="5581804" cy="1689052"/>
          </a:xfrm>
        </p:grpSpPr>
        <p:sp>
          <p:nvSpPr>
            <p:cNvPr id="9" name="矩形 8"/>
            <p:cNvSpPr/>
            <p:nvPr/>
          </p:nvSpPr>
          <p:spPr>
            <a:xfrm>
              <a:off x="441171" y="3517605"/>
              <a:ext cx="5581804" cy="1689052"/>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根据定义</a:t>
              </a:r>
              <a:r>
                <a:rPr lang="en-US" altLang="zh-CN" b="1" dirty="0">
                  <a:latin typeface="+mn-ea"/>
                </a:rPr>
                <a:t>4.2</a:t>
              </a:r>
              <a:r>
                <a:rPr lang="zh-CN" altLang="en-US" b="1" dirty="0">
                  <a:latin typeface="+mn-ea"/>
                </a:rPr>
                <a:t>，有</a:t>
              </a:r>
              <a:endParaRPr lang="en-US" altLang="zh-CN" b="1" dirty="0">
                <a:latin typeface="+mn-ea"/>
              </a:endParaRPr>
            </a:p>
            <a:p>
              <a:pPr>
                <a:lnSpc>
                  <a:spcPct val="150000"/>
                </a:lnSpc>
              </a:pPr>
              <a:r>
                <a:rPr lang="en-US" altLang="zh-CN" b="1" dirty="0">
                  <a:latin typeface="+mn-ea"/>
                </a:rPr>
                <a:t>           </a:t>
              </a:r>
              <a:r>
                <a:rPr lang="en-US" altLang="zh-CN" b="1" dirty="0" err="1">
                  <a:latin typeface="+mn-ea"/>
                </a:rPr>
                <a:t>x+y</a:t>
              </a:r>
              <a:r>
                <a:rPr lang="zh-CN" altLang="en-US" b="1" dirty="0">
                  <a:latin typeface="+mn-ea"/>
                </a:rPr>
                <a:t>＝</a:t>
              </a:r>
              <a:r>
                <a:rPr lang="en-US" altLang="zh-CN" b="1" dirty="0">
                  <a:latin typeface="+mn-ea"/>
                </a:rPr>
                <a:t>5</a:t>
              </a:r>
              <a:endParaRPr lang="en-US" altLang="zh-CN" b="1" dirty="0">
                <a:latin typeface="+mn-ea"/>
              </a:endParaRPr>
            </a:p>
            <a:p>
              <a:pPr>
                <a:lnSpc>
                  <a:spcPct val="150000"/>
                </a:lnSpc>
              </a:pPr>
              <a:r>
                <a:rPr lang="en-US" altLang="zh-CN" b="1" dirty="0">
                  <a:latin typeface="+mn-ea"/>
                </a:rPr>
                <a:t>           2x-y</a:t>
              </a:r>
              <a:r>
                <a:rPr lang="zh-CN" altLang="en-US" b="1" dirty="0">
                  <a:latin typeface="+mn-ea"/>
                </a:rPr>
                <a:t>＝</a:t>
              </a:r>
              <a:r>
                <a:rPr lang="en-US" altLang="zh-CN" b="1" dirty="0">
                  <a:latin typeface="+mn-ea"/>
                </a:rPr>
                <a:t>4</a:t>
              </a:r>
              <a:endParaRPr lang="en-US" altLang="zh-CN" b="1" dirty="0">
                <a:latin typeface="+mn-ea"/>
              </a:endParaRPr>
            </a:p>
          </p:txBody>
        </p:sp>
        <p:sp>
          <p:nvSpPr>
            <p:cNvPr id="4" name="左大括号 3"/>
            <p:cNvSpPr/>
            <p:nvPr/>
          </p:nvSpPr>
          <p:spPr>
            <a:xfrm>
              <a:off x="1086600" y="4362131"/>
              <a:ext cx="304800" cy="757913"/>
            </a:xfrm>
            <a:prstGeom prst="leftBrace">
              <a:avLst/>
            </a:prstGeom>
            <a:ln w="5080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grpSp>
      <p:sp>
        <p:nvSpPr>
          <p:cNvPr id="8" name="矩形 7"/>
          <p:cNvSpPr/>
          <p:nvPr/>
        </p:nvSpPr>
        <p:spPr>
          <a:xfrm>
            <a:off x="441171" y="5258594"/>
            <a:ext cx="8477404" cy="1135054"/>
          </a:xfrm>
          <a:prstGeom prst="rect">
            <a:avLst/>
          </a:prstGeom>
        </p:spPr>
        <p:txBody>
          <a:bodyPr wrap="square">
            <a:spAutoFit/>
          </a:bodyPr>
          <a:lstStyle/>
          <a:p>
            <a:pPr>
              <a:lnSpc>
                <a:spcPct val="150000"/>
              </a:lnSpc>
            </a:pPr>
            <a:r>
              <a:rPr lang="zh-CN" altLang="en-US" b="1" dirty="0">
                <a:latin typeface="+mn-ea"/>
              </a:rPr>
              <a:t>解此二元一次方程组得</a:t>
            </a:r>
            <a:r>
              <a:rPr lang="en-US" altLang="zh-CN" b="1" dirty="0">
                <a:latin typeface="+mn-ea"/>
              </a:rPr>
              <a:t>x=3</a:t>
            </a:r>
            <a:r>
              <a:rPr lang="zh-CN" altLang="en-US" b="1" dirty="0">
                <a:latin typeface="+mn-ea"/>
              </a:rPr>
              <a:t>，</a:t>
            </a:r>
            <a:r>
              <a:rPr lang="en-US" altLang="zh-CN" b="1" dirty="0">
                <a:latin typeface="+mn-ea"/>
              </a:rPr>
              <a:t>y=2</a:t>
            </a:r>
            <a:r>
              <a:rPr lang="zh-CN" altLang="en-US" b="1" dirty="0">
                <a:latin typeface="+mn-ea"/>
              </a:rPr>
              <a:t>。</a:t>
            </a:r>
            <a:endParaRPr lang="en-US" altLang="zh-CN" b="1" dirty="0">
              <a:latin typeface="+mn-ea"/>
            </a:endParaRPr>
          </a:p>
          <a:p>
            <a:pPr>
              <a:lnSpc>
                <a:spcPct val="150000"/>
              </a:lnSpc>
            </a:pPr>
            <a:r>
              <a:rPr lang="zh-CN" altLang="en-US" b="1" dirty="0">
                <a:latin typeface="+mn-ea"/>
              </a:rPr>
              <a:t>即当</a:t>
            </a:r>
            <a:r>
              <a:rPr lang="en-US" altLang="zh-CN" b="1" dirty="0">
                <a:latin typeface="+mn-ea"/>
              </a:rPr>
              <a:t>x=3</a:t>
            </a:r>
            <a:r>
              <a:rPr lang="zh-CN" altLang="en-US" b="1" dirty="0">
                <a:latin typeface="+mn-ea"/>
              </a:rPr>
              <a:t>，</a:t>
            </a:r>
            <a:r>
              <a:rPr lang="en-US" altLang="zh-CN" b="1" dirty="0">
                <a:latin typeface="+mn-ea"/>
              </a:rPr>
              <a:t>y=2</a:t>
            </a:r>
            <a:r>
              <a:rPr lang="zh-CN" altLang="en-US" b="1" dirty="0">
                <a:latin typeface="+mn-ea"/>
              </a:rPr>
              <a:t>时，序偶</a:t>
            </a:r>
            <a:r>
              <a:rPr lang="en-US" altLang="zh-CN" b="1" dirty="0">
                <a:latin typeface="+mn-ea"/>
              </a:rPr>
              <a:t>&lt;</a:t>
            </a:r>
            <a:r>
              <a:rPr lang="en-US" altLang="zh-CN" b="1" dirty="0" err="1">
                <a:latin typeface="+mn-ea"/>
              </a:rPr>
              <a:t>x+y</a:t>
            </a:r>
            <a:r>
              <a:rPr lang="zh-CN" altLang="en-US" b="1" dirty="0">
                <a:latin typeface="+mn-ea"/>
              </a:rPr>
              <a:t>，</a:t>
            </a:r>
            <a:r>
              <a:rPr lang="en-US" altLang="zh-CN" b="1" dirty="0">
                <a:latin typeface="+mn-ea"/>
              </a:rPr>
              <a:t>4&gt;</a:t>
            </a:r>
            <a:r>
              <a:rPr lang="zh-CN" altLang="en-US" b="1" dirty="0">
                <a:latin typeface="+mn-ea"/>
              </a:rPr>
              <a:t>与</a:t>
            </a:r>
            <a:r>
              <a:rPr lang="en-US" altLang="zh-CN" b="1" dirty="0">
                <a:latin typeface="+mn-ea"/>
              </a:rPr>
              <a:t>&lt;5</a:t>
            </a:r>
            <a:r>
              <a:rPr lang="zh-CN" altLang="en-US" b="1" dirty="0">
                <a:latin typeface="+mn-ea"/>
              </a:rPr>
              <a:t>，</a:t>
            </a:r>
            <a:r>
              <a:rPr lang="en-US" altLang="zh-CN" b="1" dirty="0">
                <a:latin typeface="+mn-ea"/>
              </a:rPr>
              <a:t>2x-y&gt;</a:t>
            </a:r>
            <a:r>
              <a:rPr lang="zh-CN" altLang="en-US" b="1" dirty="0">
                <a:latin typeface="+mn-ea"/>
              </a:rPr>
              <a:t>相等。</a:t>
            </a:r>
            <a:endParaRPr lang="zh-CN" altLang="en-US" b="1" dirty="0">
              <a:latin typeface="+mn-ea"/>
            </a:endParaRPr>
          </a:p>
        </p:txBody>
      </p:sp>
    </p:spTree>
    <p:custDataLst>
      <p:tags r:id="rId1"/>
    </p:custData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1923">
                                            <p:txEl>
                                              <p:pRg st="0" end="0"/>
                                            </p:txEl>
                                          </p:spTgt>
                                        </p:tgtEl>
                                        <p:attrNameLst>
                                          <p:attrName>style.visibility</p:attrName>
                                        </p:attrNameLst>
                                      </p:cBhvr>
                                      <p:to>
                                        <p:strVal val="visible"/>
                                      </p:to>
                                    </p:set>
                                    <p:anim calcmode="lin" valueType="num">
                                      <p:cBhvr additive="base">
                                        <p:cTn id="7" dur="500" fill="hold"/>
                                        <p:tgtEl>
                                          <p:spTgt spid="1361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6192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361923">
                                            <p:txEl>
                                              <p:pRg st="1" end="1"/>
                                            </p:txEl>
                                          </p:spTgt>
                                        </p:tgtEl>
                                        <p:attrNameLst>
                                          <p:attrName>style.visibility</p:attrName>
                                        </p:attrNameLst>
                                      </p:cBhvr>
                                      <p:to>
                                        <p:strVal val="visible"/>
                                      </p:to>
                                    </p:set>
                                    <p:anim calcmode="lin" valueType="num">
                                      <p:cBhvr additive="base">
                                        <p:cTn id="12" dur="500" fill="hold"/>
                                        <p:tgtEl>
                                          <p:spTgt spid="136192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361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wheel(1)">
                                      <p:cBhvr>
                                        <p:cTn id="18" dur="2000"/>
                                        <p:tgtEl>
                                          <p:spTgt spid="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23" grpId="0" autoUpdateAnimBg="0" build="p"/>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3975" name="Rectangle 7"/>
          <p:cNvSpPr>
            <a:spLocks noChangeArrowheads="1"/>
          </p:cNvSpPr>
          <p:nvPr/>
        </p:nvSpPr>
        <p:spPr bwMode="auto">
          <a:xfrm>
            <a:off x="7178845" y="3416678"/>
            <a:ext cx="464820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buNone/>
            </a:pPr>
            <a:r>
              <a:rPr lang="en-US" altLang="zh-CN" sz="2400" dirty="0">
                <a:solidFill>
                  <a:srgbClr val="3333FF"/>
                </a:solidFill>
                <a:latin typeface="+mn-ea"/>
                <a:ea typeface="+mn-ea"/>
              </a:rPr>
              <a:t>&lt;</a:t>
            </a:r>
            <a:r>
              <a:rPr lang="zh-CN" altLang="en-US" sz="2400" dirty="0">
                <a:solidFill>
                  <a:srgbClr val="3333FF"/>
                </a:solidFill>
                <a:latin typeface="+mn-ea"/>
                <a:ea typeface="+mn-ea"/>
              </a:rPr>
              <a:t>中国</a:t>
            </a:r>
            <a:r>
              <a:rPr lang="en-US" altLang="zh-CN" sz="2400" dirty="0">
                <a:solidFill>
                  <a:srgbClr val="3333FF"/>
                </a:solidFill>
                <a:latin typeface="+mn-ea"/>
                <a:ea typeface="+mn-ea"/>
              </a:rPr>
              <a:t>,</a:t>
            </a:r>
            <a:r>
              <a:rPr lang="zh-CN" altLang="zh-CN" sz="2400" dirty="0">
                <a:solidFill>
                  <a:srgbClr val="3333FF"/>
                </a:solidFill>
                <a:latin typeface="+mn-ea"/>
                <a:ea typeface="+mn-ea"/>
              </a:rPr>
              <a:t>北京</a:t>
            </a:r>
            <a:r>
              <a:rPr lang="zh-CN" altLang="en-US" sz="2400" dirty="0">
                <a:solidFill>
                  <a:srgbClr val="3333FF"/>
                </a:solidFill>
                <a:latin typeface="+mn-ea"/>
                <a:ea typeface="+mn-ea"/>
              </a:rPr>
              <a:t>，</a:t>
            </a:r>
            <a:r>
              <a:rPr lang="zh-CN" altLang="zh-CN" sz="2400" dirty="0">
                <a:solidFill>
                  <a:srgbClr val="3333FF"/>
                </a:solidFill>
                <a:latin typeface="+mn-ea"/>
                <a:ea typeface="+mn-ea"/>
              </a:rPr>
              <a:t>天安门广场</a:t>
            </a:r>
            <a:r>
              <a:rPr lang="en-US" altLang="zh-CN" sz="2400" dirty="0">
                <a:solidFill>
                  <a:srgbClr val="3333FF"/>
                </a:solidFill>
                <a:latin typeface="+mn-ea"/>
                <a:ea typeface="+mn-ea"/>
              </a:rPr>
              <a:t>&gt;</a:t>
            </a:r>
            <a:endParaRPr lang="en-US" altLang="zh-CN" sz="2400" dirty="0">
              <a:solidFill>
                <a:srgbClr val="3333FF"/>
              </a:solidFill>
              <a:latin typeface="+mn-ea"/>
              <a:ea typeface="+mn-ea"/>
            </a:endParaRPr>
          </a:p>
        </p:txBody>
      </p:sp>
      <p:sp>
        <p:nvSpPr>
          <p:cNvPr id="1363974" name="Rectangle 6"/>
          <p:cNvSpPr>
            <a:spLocks noChangeArrowheads="1"/>
          </p:cNvSpPr>
          <p:nvPr/>
        </p:nvSpPr>
        <p:spPr bwMode="auto">
          <a:xfrm>
            <a:off x="397905" y="4513009"/>
            <a:ext cx="10855456" cy="111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
                <a:srgbClr val="3333FF"/>
              </a:buClr>
              <a:buFont typeface="Wingdings" panose="05000000000000000000" pitchFamily="2" charset="2"/>
              <a:buChar char="Ø"/>
            </a:pPr>
            <a:r>
              <a:rPr kumimoji="1" lang="zh-CN" altLang="en-US" sz="2400" dirty="0">
                <a:latin typeface="+mn-ea"/>
                <a:ea typeface="+mn-ea"/>
              </a:rPr>
              <a:t>给定</a:t>
            </a:r>
            <a:r>
              <a:rPr kumimoji="1" lang="en-US" altLang="zh-CN" sz="2400" dirty="0">
                <a:latin typeface="+mn-ea"/>
                <a:ea typeface="+mn-ea"/>
              </a:rPr>
              <a:t>n</a:t>
            </a:r>
            <a:r>
              <a:rPr kumimoji="1" lang="zh-CN" altLang="en-US" sz="2400" dirty="0">
                <a:latin typeface="+mn-ea"/>
                <a:ea typeface="+mn-ea"/>
              </a:rPr>
              <a:t>重有序组</a:t>
            </a:r>
            <a:r>
              <a:rPr kumimoji="1" lang="en-US" altLang="zh-CN" sz="2400" dirty="0">
                <a:latin typeface="+mn-ea"/>
                <a:ea typeface="+mn-ea"/>
              </a:rPr>
              <a:t>&lt;a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2</a:t>
            </a:r>
            <a:r>
              <a:rPr kumimoji="1" lang="en-US" altLang="zh-CN" sz="2400" dirty="0">
                <a:latin typeface="+mn-ea"/>
                <a:ea typeface="+mn-ea"/>
              </a:rPr>
              <a:t>,…,a</a:t>
            </a:r>
            <a:r>
              <a:rPr kumimoji="1" lang="en-US" altLang="zh-CN" sz="2400" baseline="-25000" dirty="0">
                <a:latin typeface="+mn-ea"/>
                <a:ea typeface="+mn-ea"/>
              </a:rPr>
              <a:t>n</a:t>
            </a:r>
            <a:r>
              <a:rPr kumimoji="1" lang="en-US" altLang="zh-CN" sz="2400" dirty="0">
                <a:latin typeface="+mn-ea"/>
                <a:ea typeface="+mn-ea"/>
              </a:rPr>
              <a:t>&gt;</a:t>
            </a:r>
            <a:r>
              <a:rPr kumimoji="1" lang="zh-CN" altLang="en-US" sz="2400" dirty="0">
                <a:latin typeface="+mn-ea"/>
                <a:ea typeface="+mn-ea"/>
              </a:rPr>
              <a:t>和</a:t>
            </a:r>
            <a:r>
              <a:rPr kumimoji="1" lang="en-US" altLang="zh-CN" sz="2400" dirty="0">
                <a:latin typeface="+mn-ea"/>
                <a:ea typeface="+mn-ea"/>
              </a:rPr>
              <a:t>&lt;b</a:t>
            </a:r>
            <a:r>
              <a:rPr kumimoji="1" lang="en-US" altLang="zh-CN" sz="2400" baseline="-25000" dirty="0">
                <a:latin typeface="+mn-ea"/>
                <a:ea typeface="+mn-ea"/>
              </a:rPr>
              <a:t>1</a:t>
            </a:r>
            <a:r>
              <a:rPr kumimoji="1" lang="en-US" altLang="zh-CN" sz="2400" dirty="0">
                <a:latin typeface="+mn-ea"/>
                <a:ea typeface="+mn-ea"/>
              </a:rPr>
              <a:t>,b</a:t>
            </a:r>
            <a:r>
              <a:rPr kumimoji="1" lang="en-US" altLang="zh-CN" sz="2400" baseline="-25000" dirty="0">
                <a:latin typeface="+mn-ea"/>
                <a:ea typeface="+mn-ea"/>
              </a:rPr>
              <a:t>2</a:t>
            </a:r>
            <a:r>
              <a:rPr kumimoji="1" lang="en-US" altLang="zh-CN" sz="2400" dirty="0">
                <a:latin typeface="+mn-ea"/>
                <a:ea typeface="+mn-ea"/>
              </a:rPr>
              <a:t>,…,b</a:t>
            </a:r>
            <a:r>
              <a:rPr kumimoji="1" lang="en-US" altLang="zh-CN" sz="2400" baseline="-25000" dirty="0">
                <a:latin typeface="+mn-ea"/>
                <a:ea typeface="+mn-ea"/>
              </a:rPr>
              <a:t>n</a:t>
            </a:r>
            <a:r>
              <a:rPr kumimoji="1" lang="en-US" altLang="zh-CN" sz="2400" dirty="0">
                <a:latin typeface="+mn-ea"/>
                <a:ea typeface="+mn-ea"/>
              </a:rPr>
              <a:t>&gt;</a:t>
            </a:r>
            <a:r>
              <a:rPr kumimoji="1" lang="zh-CN" altLang="en-US" sz="2400" dirty="0">
                <a:latin typeface="+mn-ea"/>
                <a:ea typeface="+mn-ea"/>
              </a:rPr>
              <a:t>。</a:t>
            </a:r>
            <a:endParaRPr kumimoji="1" lang="zh-CN" altLang="en-US" sz="2400" dirty="0">
              <a:latin typeface="+mn-ea"/>
              <a:ea typeface="+mn-ea"/>
            </a:endParaRPr>
          </a:p>
          <a:p>
            <a:pPr algn="ctr" eaLnBrk="1" hangingPunct="1">
              <a:lnSpc>
                <a:spcPct val="150000"/>
              </a:lnSpc>
              <a:spcBef>
                <a:spcPct val="0"/>
              </a:spcBef>
              <a:buClr>
                <a:srgbClr val="3333FF"/>
              </a:buClr>
              <a:buFont typeface="Wingdings" panose="05000000000000000000" pitchFamily="2" charset="2"/>
              <a:buChar char="Ø"/>
            </a:pPr>
            <a:r>
              <a:rPr kumimoji="1" lang="en-US" altLang="zh-CN" sz="2400" dirty="0">
                <a:solidFill>
                  <a:srgbClr val="0000FF"/>
                </a:solidFill>
                <a:latin typeface="+mn-ea"/>
                <a:ea typeface="+mn-ea"/>
              </a:rPr>
              <a:t>&lt;a</a:t>
            </a:r>
            <a:r>
              <a:rPr kumimoji="1" lang="en-US" altLang="zh-CN" sz="2400" baseline="-25000" dirty="0">
                <a:solidFill>
                  <a:srgbClr val="0000FF"/>
                </a:solidFill>
                <a:latin typeface="+mn-ea"/>
                <a:ea typeface="+mn-ea"/>
              </a:rPr>
              <a:t>1</a:t>
            </a:r>
            <a:r>
              <a:rPr kumimoji="1" lang="en-US" altLang="zh-CN" sz="2400" dirty="0">
                <a:solidFill>
                  <a:srgbClr val="0000FF"/>
                </a:solidFill>
                <a:latin typeface="+mn-ea"/>
                <a:ea typeface="+mn-ea"/>
              </a:rPr>
              <a:t>,a</a:t>
            </a:r>
            <a:r>
              <a:rPr kumimoji="1" lang="en-US" altLang="zh-CN" sz="2400" baseline="-25000" dirty="0">
                <a:solidFill>
                  <a:srgbClr val="0000FF"/>
                </a:solidFill>
                <a:latin typeface="+mn-ea"/>
                <a:ea typeface="+mn-ea"/>
              </a:rPr>
              <a:t>2</a:t>
            </a:r>
            <a:r>
              <a:rPr kumimoji="1" lang="en-US" altLang="zh-CN" sz="2400" dirty="0">
                <a:solidFill>
                  <a:srgbClr val="0000FF"/>
                </a:solidFill>
                <a:latin typeface="+mn-ea"/>
                <a:ea typeface="+mn-ea"/>
              </a:rPr>
              <a:t>,…,a</a:t>
            </a:r>
            <a:r>
              <a:rPr kumimoji="1" lang="en-US" altLang="zh-CN" sz="2400" baseline="-25000" dirty="0">
                <a:solidFill>
                  <a:srgbClr val="0000FF"/>
                </a:solidFill>
                <a:latin typeface="+mn-ea"/>
                <a:ea typeface="+mn-ea"/>
              </a:rPr>
              <a:t>n</a:t>
            </a:r>
            <a:r>
              <a:rPr kumimoji="1" lang="en-US" altLang="zh-CN" sz="2400" dirty="0">
                <a:solidFill>
                  <a:srgbClr val="0000FF"/>
                </a:solidFill>
                <a:latin typeface="+mn-ea"/>
                <a:ea typeface="+mn-ea"/>
              </a:rPr>
              <a:t>&gt;=&lt;b</a:t>
            </a:r>
            <a:r>
              <a:rPr kumimoji="1" lang="en-US" altLang="zh-CN" sz="2400" baseline="-25000" dirty="0">
                <a:solidFill>
                  <a:srgbClr val="0000FF"/>
                </a:solidFill>
                <a:latin typeface="+mn-ea"/>
                <a:ea typeface="+mn-ea"/>
              </a:rPr>
              <a:t>1</a:t>
            </a:r>
            <a:r>
              <a:rPr kumimoji="1" lang="en-US" altLang="zh-CN" sz="2400" dirty="0">
                <a:solidFill>
                  <a:srgbClr val="0000FF"/>
                </a:solidFill>
                <a:latin typeface="+mn-ea"/>
                <a:ea typeface="+mn-ea"/>
              </a:rPr>
              <a:t>,b</a:t>
            </a:r>
            <a:r>
              <a:rPr kumimoji="1" lang="en-US" altLang="zh-CN" sz="2400" baseline="-25000" dirty="0">
                <a:solidFill>
                  <a:srgbClr val="0000FF"/>
                </a:solidFill>
                <a:latin typeface="+mn-ea"/>
                <a:ea typeface="+mn-ea"/>
              </a:rPr>
              <a:t>2</a:t>
            </a:r>
            <a:r>
              <a:rPr kumimoji="1" lang="en-US" altLang="zh-CN" sz="2400" dirty="0">
                <a:solidFill>
                  <a:srgbClr val="0000FF"/>
                </a:solidFill>
                <a:latin typeface="+mn-ea"/>
                <a:ea typeface="+mn-ea"/>
              </a:rPr>
              <a:t>,…,b</a:t>
            </a:r>
            <a:r>
              <a:rPr kumimoji="1" lang="en-US" altLang="zh-CN" sz="2400" baseline="-25000" dirty="0">
                <a:solidFill>
                  <a:srgbClr val="0000FF"/>
                </a:solidFill>
                <a:latin typeface="+mn-ea"/>
                <a:ea typeface="+mn-ea"/>
              </a:rPr>
              <a:t>n</a:t>
            </a:r>
            <a:r>
              <a:rPr kumimoji="1" lang="en-US" altLang="zh-CN" sz="2400" dirty="0">
                <a:solidFill>
                  <a:srgbClr val="0000FF"/>
                </a:solidFill>
                <a:latin typeface="+mn-ea"/>
                <a:ea typeface="+mn-ea"/>
              </a:rPr>
              <a:t>&gt;</a:t>
            </a:r>
            <a:r>
              <a:rPr lang="en-US" altLang="zh-CN" sz="2400" dirty="0">
                <a:solidFill>
                  <a:srgbClr val="C00000"/>
                </a:solidFill>
                <a:latin typeface="+mn-ea"/>
                <a:ea typeface="+mn-ea"/>
              </a:rPr>
              <a:t>⇔</a:t>
            </a:r>
            <a:r>
              <a:rPr kumimoji="1" lang="en-US" altLang="zh-CN" sz="2400" dirty="0">
                <a:solidFill>
                  <a:srgbClr val="0000FF"/>
                </a:solidFill>
                <a:latin typeface="+mn-ea"/>
                <a:ea typeface="+mn-ea"/>
              </a:rPr>
              <a:t>a</a:t>
            </a:r>
            <a:r>
              <a:rPr kumimoji="1" lang="en-US" altLang="zh-CN" sz="2400" baseline="-25000" dirty="0">
                <a:solidFill>
                  <a:srgbClr val="0000FF"/>
                </a:solidFill>
                <a:latin typeface="+mn-ea"/>
                <a:ea typeface="+mn-ea"/>
              </a:rPr>
              <a:t>i</a:t>
            </a:r>
            <a:r>
              <a:rPr kumimoji="1" lang="en-US" altLang="zh-CN" sz="2400" dirty="0">
                <a:solidFill>
                  <a:srgbClr val="0000FF"/>
                </a:solidFill>
                <a:latin typeface="+mn-ea"/>
                <a:ea typeface="+mn-ea"/>
              </a:rPr>
              <a:t>=b</a:t>
            </a:r>
            <a:r>
              <a:rPr kumimoji="1" lang="en-US" altLang="zh-CN" sz="2400" baseline="-25000" dirty="0">
                <a:solidFill>
                  <a:srgbClr val="0000FF"/>
                </a:solidFill>
                <a:latin typeface="+mn-ea"/>
                <a:ea typeface="+mn-ea"/>
              </a:rPr>
              <a:t>i</a:t>
            </a:r>
            <a:r>
              <a:rPr kumimoji="1" lang="en-US" altLang="zh-CN" sz="2400" dirty="0">
                <a:solidFill>
                  <a:srgbClr val="0000FF"/>
                </a:solidFill>
                <a:latin typeface="+mn-ea"/>
                <a:ea typeface="+mn-ea"/>
              </a:rPr>
              <a:t>(</a:t>
            </a:r>
            <a:r>
              <a:rPr kumimoji="1" lang="en-US" altLang="zh-CN" sz="2400" dirty="0" err="1">
                <a:solidFill>
                  <a:srgbClr val="0000FF"/>
                </a:solidFill>
                <a:latin typeface="+mn-ea"/>
                <a:ea typeface="+mn-ea"/>
              </a:rPr>
              <a:t>i</a:t>
            </a:r>
            <a:r>
              <a:rPr kumimoji="1" lang="en-US" altLang="zh-CN" sz="2400" dirty="0">
                <a:solidFill>
                  <a:srgbClr val="0000FF"/>
                </a:solidFill>
                <a:latin typeface="+mn-ea"/>
                <a:ea typeface="+mn-ea"/>
              </a:rPr>
              <a:t>=1,2,…,n)</a:t>
            </a:r>
            <a:endParaRPr kumimoji="1" lang="zh-CN" altLang="zh-CN" sz="2400" dirty="0">
              <a:solidFill>
                <a:srgbClr val="0000FF"/>
              </a:solidFill>
              <a:latin typeface="+mn-ea"/>
              <a:ea typeface="+mn-ea"/>
            </a:endParaRPr>
          </a:p>
        </p:txBody>
      </p:sp>
      <p:sp>
        <p:nvSpPr>
          <p:cNvPr id="23557"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序偶思想的推广</a:t>
            </a:r>
            <a:endParaRPr lang="zh-CN" altLang="en-US" dirty="0">
              <a:latin typeface="宋体" panose="02010600030101010101" pitchFamily="2" charset="-122"/>
            </a:endParaRPr>
          </a:p>
        </p:txBody>
      </p:sp>
      <p:sp>
        <p:nvSpPr>
          <p:cNvPr id="1363971" name="Rectangle 3"/>
          <p:cNvSpPr>
            <a:spLocks noChangeArrowheads="1"/>
          </p:cNvSpPr>
          <p:nvPr/>
        </p:nvSpPr>
        <p:spPr bwMode="auto">
          <a:xfrm>
            <a:off x="378105" y="1847619"/>
            <a:ext cx="11436070" cy="111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342900" indent="-342900" eaLnBrk="1" hangingPunct="1">
              <a:lnSpc>
                <a:spcPct val="150000"/>
              </a:lnSpc>
              <a:spcBef>
                <a:spcPct val="50000"/>
              </a:spcBef>
              <a:buClr>
                <a:srgbClr val="3333FF"/>
              </a:buClr>
              <a:buFont typeface="Wingdings" panose="05000000000000000000" pitchFamily="2" charset="2"/>
              <a:buChar char="Ø"/>
            </a:pPr>
            <a:r>
              <a:rPr kumimoji="1" lang="zh-CN" altLang="en-US" sz="2400" noProof="1">
                <a:latin typeface="+mn-ea"/>
                <a:ea typeface="+mn-ea"/>
              </a:rPr>
              <a:t> 由</a:t>
            </a:r>
            <a:r>
              <a:rPr kumimoji="1" lang="en-US" altLang="zh-CN" sz="2400" dirty="0">
                <a:latin typeface="+mn-ea"/>
                <a:ea typeface="+mn-ea"/>
              </a:rPr>
              <a:t>n</a:t>
            </a:r>
            <a:r>
              <a:rPr kumimoji="1" lang="zh-CN" altLang="en-US" sz="2400" noProof="1">
                <a:latin typeface="+mn-ea"/>
                <a:ea typeface="+mn-ea"/>
              </a:rPr>
              <a:t>个元素</a:t>
            </a:r>
            <a:r>
              <a:rPr kumimoji="1" lang="en-US" altLang="zh-CN" sz="2400" noProof="1">
                <a:latin typeface="+mn-ea"/>
                <a:ea typeface="+mn-ea"/>
              </a:rPr>
              <a: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2</a:t>
            </a:r>
            <a:r>
              <a:rPr kumimoji="1" lang="en-US" altLang="zh-CN" sz="2400" dirty="0">
                <a:latin typeface="+mn-ea"/>
                <a:ea typeface="+mn-ea"/>
              </a:rPr>
              <a:t>,a</a:t>
            </a:r>
            <a:r>
              <a:rPr kumimoji="1" lang="en-US" altLang="zh-CN" sz="2400" baseline="-25000" dirty="0">
                <a:latin typeface="+mn-ea"/>
                <a:ea typeface="+mn-ea"/>
              </a:rPr>
              <a:t>3</a:t>
            </a:r>
            <a:r>
              <a:rPr kumimoji="1" lang="en-US" altLang="zh-CN" sz="2400" dirty="0">
                <a:latin typeface="+mn-ea"/>
                <a:ea typeface="+mn-ea"/>
              </a:rPr>
              <a:t>,…,a</a:t>
            </a:r>
            <a:r>
              <a:rPr kumimoji="1" lang="en-US" altLang="zh-CN" sz="2400" baseline="-25000" dirty="0">
                <a:latin typeface="+mn-ea"/>
                <a:ea typeface="+mn-ea"/>
              </a:rPr>
              <a:t>n</a:t>
            </a:r>
            <a:r>
              <a:rPr kumimoji="1" lang="zh-CN" altLang="en-US" sz="2400" dirty="0">
                <a:latin typeface="+mn-ea"/>
                <a:ea typeface="+mn-ea"/>
              </a:rPr>
              <a:t>按照一定次序组成的</a:t>
            </a:r>
            <a:r>
              <a:rPr kumimoji="1" lang="en-US" altLang="zh-CN" sz="2400" dirty="0">
                <a:latin typeface="+mn-ea"/>
                <a:ea typeface="+mn-ea"/>
              </a:rPr>
              <a:t>n</a:t>
            </a:r>
            <a:r>
              <a:rPr kumimoji="1" lang="zh-CN" altLang="en-US" sz="2400" dirty="0">
                <a:latin typeface="+mn-ea"/>
                <a:ea typeface="+mn-ea"/>
              </a:rPr>
              <a:t>元组称为</a:t>
            </a:r>
            <a:r>
              <a:rPr kumimoji="1" lang="en-US" altLang="zh-CN" sz="2400" dirty="0">
                <a:solidFill>
                  <a:srgbClr val="0000CC"/>
                </a:solidFill>
                <a:latin typeface="+mn-ea"/>
                <a:ea typeface="+mn-ea"/>
              </a:rPr>
              <a:t>n</a:t>
            </a:r>
            <a:r>
              <a:rPr kumimoji="1" lang="zh-CN" altLang="en-US" sz="2400" dirty="0">
                <a:solidFill>
                  <a:srgbClr val="0000CC"/>
                </a:solidFill>
                <a:latin typeface="+mn-ea"/>
                <a:ea typeface="+mn-ea"/>
              </a:rPr>
              <a:t>重有序组</a:t>
            </a:r>
            <a:r>
              <a:rPr kumimoji="1" lang="en-US" altLang="zh-CN" sz="2400" dirty="0">
                <a:solidFill>
                  <a:srgbClr val="3333FF"/>
                </a:solidFill>
                <a:latin typeface="+mn-ea"/>
                <a:ea typeface="+mn-ea"/>
              </a:rPr>
              <a:t>(n-</a:t>
            </a:r>
            <a:endParaRPr kumimoji="1" lang="en-US" altLang="zh-CN" sz="2400" dirty="0">
              <a:solidFill>
                <a:srgbClr val="3333FF"/>
              </a:solidFill>
              <a:latin typeface="+mn-ea"/>
              <a:ea typeface="+mn-ea"/>
            </a:endParaRPr>
          </a:p>
          <a:p>
            <a:pPr eaLnBrk="1" hangingPunct="1">
              <a:lnSpc>
                <a:spcPct val="150000"/>
              </a:lnSpc>
              <a:spcBef>
                <a:spcPts val="0"/>
              </a:spcBef>
              <a:buClr>
                <a:srgbClr val="3333FF"/>
              </a:buClr>
              <a:buNone/>
            </a:pPr>
            <a:r>
              <a:rPr kumimoji="1" lang="en-US" altLang="zh-CN" sz="2400" dirty="0">
                <a:solidFill>
                  <a:srgbClr val="3333FF"/>
                </a:solidFill>
                <a:latin typeface="+mn-ea"/>
                <a:ea typeface="+mn-ea"/>
              </a:rPr>
              <a:t>     Type Vector)</a:t>
            </a:r>
            <a:r>
              <a:rPr kumimoji="1" lang="zh-CN" altLang="en-US" sz="2400" dirty="0">
                <a:solidFill>
                  <a:schemeClr val="tx1"/>
                </a:solidFill>
                <a:latin typeface="+mn-ea"/>
                <a:ea typeface="+mn-ea"/>
              </a:rPr>
              <a:t>，</a:t>
            </a:r>
            <a:r>
              <a:rPr kumimoji="1" lang="zh-CN" altLang="en-US" sz="2400" dirty="0">
                <a:latin typeface="+mn-ea"/>
                <a:ea typeface="+mn-ea"/>
              </a:rPr>
              <a:t>记作：</a:t>
            </a:r>
            <a:r>
              <a:rPr kumimoji="1" lang="en-US" altLang="zh-CN" sz="2400" dirty="0">
                <a:latin typeface="+mn-ea"/>
                <a:ea typeface="+mn-ea"/>
              </a:rPr>
              <a:t>&lt;a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n</a:t>
            </a:r>
            <a:r>
              <a:rPr kumimoji="1" lang="en-US" altLang="zh-CN" sz="2400" dirty="0">
                <a:latin typeface="+mn-ea"/>
                <a:ea typeface="+mn-ea"/>
              </a:rPr>
              <a:t>&gt;</a:t>
            </a:r>
            <a:endParaRPr kumimoji="1" lang="zh-CN" altLang="en-US" sz="2400" dirty="0">
              <a:latin typeface="+mn-ea"/>
              <a:ea typeface="+mn-ea"/>
            </a:endParaRPr>
          </a:p>
        </p:txBody>
      </p:sp>
      <p:sp>
        <p:nvSpPr>
          <p:cNvPr id="1363972" name="Rectangle 4"/>
          <p:cNvSpPr>
            <a:spLocks noGrp="1" noChangeArrowheads="1"/>
          </p:cNvSpPr>
          <p:nvPr>
            <p:ph type="body" idx="1"/>
          </p:nvPr>
        </p:nvSpPr>
        <p:spPr>
          <a:xfrm>
            <a:off x="370600" y="3414932"/>
            <a:ext cx="4273270" cy="646205"/>
          </a:xfrm>
        </p:spPr>
        <p:txBody>
          <a:bodyPr>
            <a:normAutofit/>
          </a:bodyPr>
          <a:lstStyle/>
          <a:p>
            <a:pPr marL="0" indent="0">
              <a:buNone/>
              <a:defRPr/>
            </a:pPr>
            <a:r>
              <a:rPr lang="zh-CN" altLang="en-US" dirty="0">
                <a:solidFill>
                  <a:srgbClr val="C00000"/>
                </a:solidFill>
              </a:rPr>
              <a:t>例如</a:t>
            </a:r>
            <a:r>
              <a:rPr lang="zh-CN" altLang="en-US" dirty="0">
                <a:solidFill>
                  <a:srgbClr val="FF0000"/>
                </a:solidFill>
              </a:rPr>
              <a:t>     </a:t>
            </a:r>
            <a:r>
              <a:rPr lang="zh-CN" altLang="zh-CN" dirty="0"/>
              <a:t>中国北京天安门广场</a:t>
            </a:r>
            <a:endParaRPr lang="zh-CN" altLang="en-US" dirty="0"/>
          </a:p>
        </p:txBody>
      </p:sp>
      <p:sp>
        <p:nvSpPr>
          <p:cNvPr id="2" name="矩形 1"/>
          <p:cNvSpPr/>
          <p:nvPr/>
        </p:nvSpPr>
        <p:spPr>
          <a:xfrm>
            <a:off x="4227642" y="3347883"/>
            <a:ext cx="3126177" cy="580415"/>
          </a:xfrm>
          <a:prstGeom prst="rect">
            <a:avLst/>
          </a:prstGeom>
        </p:spPr>
        <p:txBody>
          <a:bodyPr wrap="none">
            <a:spAutoFit/>
          </a:bodyPr>
          <a:lstStyle/>
          <a:p>
            <a:pPr>
              <a:lnSpc>
                <a:spcPct val="150000"/>
              </a:lnSpc>
              <a:spcBef>
                <a:spcPts val="1200"/>
              </a:spcBef>
            </a:pPr>
            <a:r>
              <a:rPr lang="zh-CN" altLang="en-US" b="1" dirty="0">
                <a:latin typeface="+mn-ea"/>
              </a:rPr>
              <a:t>的</a:t>
            </a:r>
            <a:r>
              <a:rPr lang="en-US" altLang="zh-CN" b="1" dirty="0">
                <a:latin typeface="+mn-ea"/>
              </a:rPr>
              <a:t>3</a:t>
            </a:r>
            <a:r>
              <a:rPr lang="zh-CN" altLang="en-US" b="1" dirty="0">
                <a:latin typeface="+mn-ea"/>
              </a:rPr>
              <a:t>重有序组表示为：</a:t>
            </a:r>
            <a:endParaRPr lang="zh-CN" altLang="en-US" b="1" dirty="0">
              <a:latin typeface="+mn-ea"/>
            </a:endParaRPr>
          </a:p>
        </p:txBody>
      </p:sp>
      <p:sp>
        <p:nvSpPr>
          <p:cNvPr id="3" name="矩形 2"/>
          <p:cNvSpPr/>
          <p:nvPr/>
        </p:nvSpPr>
        <p:spPr>
          <a:xfrm>
            <a:off x="350800" y="1127333"/>
            <a:ext cx="1842171" cy="523220"/>
          </a:xfrm>
          <a:prstGeom prst="rect">
            <a:avLst/>
          </a:prstGeom>
        </p:spPr>
        <p:txBody>
          <a:bodyPr wrap="none">
            <a:spAutoFit/>
          </a:bodyPr>
          <a:lstStyle/>
          <a:p>
            <a:r>
              <a:rPr kumimoji="1" lang="en-US" altLang="zh-CN" sz="2800" b="1" dirty="0">
                <a:solidFill>
                  <a:srgbClr val="0000CC"/>
                </a:solidFill>
                <a:latin typeface="+mn-ea"/>
              </a:rPr>
              <a:t>n</a:t>
            </a:r>
            <a:r>
              <a:rPr kumimoji="1" lang="zh-CN" altLang="en-US" sz="2800" b="1" dirty="0">
                <a:solidFill>
                  <a:srgbClr val="0000CC"/>
                </a:solidFill>
                <a:latin typeface="+mn-ea"/>
              </a:rPr>
              <a:t>重有序组</a:t>
            </a:r>
            <a:endParaRPr lang="zh-CN" altLang="en-US" b="1"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3971"/>
                                        </p:tgtEl>
                                        <p:attrNameLst>
                                          <p:attrName>style.visibility</p:attrName>
                                        </p:attrNameLst>
                                      </p:cBhvr>
                                      <p:to>
                                        <p:strVal val="visible"/>
                                      </p:to>
                                    </p:set>
                                    <p:anim calcmode="lin" valueType="num">
                                      <p:cBhvr additive="base">
                                        <p:cTn id="7" dur="500" fill="hold"/>
                                        <p:tgtEl>
                                          <p:spTgt spid="1363971"/>
                                        </p:tgtEl>
                                        <p:attrNameLst>
                                          <p:attrName>ppt_x</p:attrName>
                                        </p:attrNameLst>
                                      </p:cBhvr>
                                      <p:tavLst>
                                        <p:tav tm="0">
                                          <p:val>
                                            <p:strVal val="0-#ppt_w/2"/>
                                          </p:val>
                                        </p:tav>
                                        <p:tav tm="100000">
                                          <p:val>
                                            <p:strVal val="#ppt_x"/>
                                          </p:val>
                                        </p:tav>
                                      </p:tavLst>
                                    </p:anim>
                                    <p:anim calcmode="lin" valueType="num">
                                      <p:cBhvr additive="base">
                                        <p:cTn id="8" dur="500" fill="hold"/>
                                        <p:tgtEl>
                                          <p:spTgt spid="13639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63972">
                                            <p:txEl>
                                              <p:pRg st="0" end="0"/>
                                            </p:txEl>
                                          </p:spTgt>
                                        </p:tgtEl>
                                        <p:attrNameLst>
                                          <p:attrName>style.visibility</p:attrName>
                                        </p:attrNameLst>
                                      </p:cBhvr>
                                      <p:to>
                                        <p:strVal val="visible"/>
                                      </p:to>
                                    </p:set>
                                    <p:anim calcmode="lin" valueType="num">
                                      <p:cBhvr additive="base">
                                        <p:cTn id="13" dur="500" fill="hold"/>
                                        <p:tgtEl>
                                          <p:spTgt spid="136397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639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63975">
                                            <p:txEl>
                                              <p:pRg st="0" end="0"/>
                                            </p:txEl>
                                          </p:spTgt>
                                        </p:tgtEl>
                                        <p:attrNameLst>
                                          <p:attrName>style.visibility</p:attrName>
                                        </p:attrNameLst>
                                      </p:cBhvr>
                                      <p:to>
                                        <p:strVal val="visible"/>
                                      </p:to>
                                    </p:set>
                                    <p:anim calcmode="lin" valueType="num">
                                      <p:cBhvr additive="base">
                                        <p:cTn id="24" dur="500" fill="hold"/>
                                        <p:tgtEl>
                                          <p:spTgt spid="1363975">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63975">
                                            <p:txEl>
                                              <p:pRg st="0" end="0"/>
                                            </p:txEl>
                                          </p:spTgt>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1363974">
                                            <p:txEl>
                                              <p:pRg st="0" end="0"/>
                                            </p:txEl>
                                          </p:spTgt>
                                        </p:tgtEl>
                                        <p:attrNameLst>
                                          <p:attrName>style.visibility</p:attrName>
                                        </p:attrNameLst>
                                      </p:cBhvr>
                                      <p:to>
                                        <p:strVal val="visible"/>
                                      </p:to>
                                    </p:set>
                                    <p:anim calcmode="lin" valueType="num">
                                      <p:cBhvr additive="base">
                                        <p:cTn id="29" dur="500" fill="hold"/>
                                        <p:tgtEl>
                                          <p:spTgt spid="136397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63974">
                                            <p:txEl>
                                              <p:pRg st="0" end="0"/>
                                            </p:txEl>
                                          </p:spTgt>
                                        </p:tgtEl>
                                        <p:attrNameLst>
                                          <p:attrName>ppt_y</p:attrName>
                                        </p:attrNameLst>
                                      </p:cBhvr>
                                      <p:tavLst>
                                        <p:tav tm="0">
                                          <p:val>
                                            <p:strVal val="1+#ppt_h/2"/>
                                          </p:val>
                                        </p:tav>
                                        <p:tav tm="100000">
                                          <p:val>
                                            <p:strVal val="#ppt_y"/>
                                          </p:val>
                                        </p:tav>
                                      </p:tavLst>
                                    </p:anim>
                                  </p:childTnLst>
                                </p:cTn>
                              </p:par>
                            </p:childTnLst>
                          </p:cTn>
                        </p:par>
                        <p:par>
                          <p:cTn id="31" fill="hold">
                            <p:stCondLst>
                              <p:cond delay="1000"/>
                            </p:stCondLst>
                            <p:childTnLst>
                              <p:par>
                                <p:cTn id="32" presetID="2" presetClass="entr" presetSubtype="4" fill="hold" grpId="0" nodeType="afterEffect">
                                  <p:stCondLst>
                                    <p:cond delay="0"/>
                                  </p:stCondLst>
                                  <p:childTnLst>
                                    <p:set>
                                      <p:cBhvr>
                                        <p:cTn id="33" dur="1" fill="hold">
                                          <p:stCondLst>
                                            <p:cond delay="0"/>
                                          </p:stCondLst>
                                        </p:cTn>
                                        <p:tgtEl>
                                          <p:spTgt spid="1363974">
                                            <p:txEl>
                                              <p:pRg st="1" end="1"/>
                                            </p:txEl>
                                          </p:spTgt>
                                        </p:tgtEl>
                                        <p:attrNameLst>
                                          <p:attrName>style.visibility</p:attrName>
                                        </p:attrNameLst>
                                      </p:cBhvr>
                                      <p:to>
                                        <p:strVal val="visible"/>
                                      </p:to>
                                    </p:set>
                                    <p:anim calcmode="lin" valueType="num">
                                      <p:cBhvr additive="base">
                                        <p:cTn id="34" dur="500" fill="hold"/>
                                        <p:tgtEl>
                                          <p:spTgt spid="1363974">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6397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3975" grpId="0" build="p"/>
      <p:bldP spid="1363974" grpId="0" build="p"/>
      <p:bldP spid="1363971" grpId="0" autoUpdateAnimBg="0"/>
      <p:bldP spid="1363972"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noProof="1">
                <a:latin typeface="宋体" panose="02010600030101010101" pitchFamily="2" charset="-122"/>
              </a:rPr>
              <a:t>笛卡尔乘积</a:t>
            </a:r>
            <a:endParaRPr lang="zh-CN" altLang="en-US">
              <a:latin typeface="宋体" panose="02010600030101010101" pitchFamily="2" charset="-122"/>
            </a:endParaRPr>
          </a:p>
        </p:txBody>
      </p:sp>
      <p:sp>
        <p:nvSpPr>
          <p:cNvPr id="1366019" name="Rectangle 3"/>
          <p:cNvSpPr>
            <a:spLocks noChangeArrowheads="1"/>
          </p:cNvSpPr>
          <p:nvPr/>
        </p:nvSpPr>
        <p:spPr bwMode="auto">
          <a:xfrm>
            <a:off x="476280" y="1067594"/>
            <a:ext cx="11506200" cy="174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ct val="0"/>
              </a:spcBef>
              <a:buClr>
                <a:srgbClr val="00FF00"/>
              </a:buClr>
              <a:buFont typeface="Wingdings" panose="05000000000000000000" pitchFamily="2" charset="2"/>
              <a:buNone/>
            </a:pPr>
            <a:r>
              <a:rPr kumimoji="1" lang="zh-CN" altLang="en-US" sz="2400" dirty="0">
                <a:solidFill>
                  <a:srgbClr val="C00000"/>
                </a:solidFill>
                <a:latin typeface="+mn-ea"/>
                <a:ea typeface="+mn-ea"/>
              </a:rPr>
              <a:t>定义</a:t>
            </a:r>
            <a:r>
              <a:rPr kumimoji="1" lang="en-US" altLang="zh-CN" sz="2400" dirty="0">
                <a:solidFill>
                  <a:srgbClr val="C00000"/>
                </a:solidFill>
                <a:latin typeface="+mn-ea"/>
                <a:ea typeface="+mn-ea"/>
              </a:rPr>
              <a:t>4.3 </a:t>
            </a:r>
            <a:r>
              <a:rPr kumimoji="1" lang="zh-CN" altLang="en-US" sz="2400" dirty="0">
                <a:latin typeface="+mn-ea"/>
                <a:ea typeface="+mn-ea"/>
              </a:rPr>
              <a:t>设</a:t>
            </a:r>
            <a:r>
              <a:rPr kumimoji="1" lang="en-US" altLang="zh-CN" sz="2400" dirty="0">
                <a:latin typeface="+mn-ea"/>
                <a:ea typeface="+mn-ea"/>
              </a:rPr>
              <a:t>A</a:t>
            </a:r>
            <a:r>
              <a:rPr kumimoji="1" lang="zh-CN" altLang="en-US" sz="2400" dirty="0">
                <a:latin typeface="+mn-ea"/>
                <a:ea typeface="+mn-ea"/>
              </a:rPr>
              <a:t>，</a:t>
            </a:r>
            <a:r>
              <a:rPr kumimoji="1" lang="en-US" altLang="zh-CN" sz="2400" dirty="0">
                <a:latin typeface="+mn-ea"/>
                <a:ea typeface="+mn-ea"/>
              </a:rPr>
              <a:t>B</a:t>
            </a:r>
            <a:r>
              <a:rPr kumimoji="1" lang="zh-CN" altLang="en-US" sz="2400" dirty="0">
                <a:latin typeface="+mn-ea"/>
                <a:ea typeface="+mn-ea"/>
              </a:rPr>
              <a:t>是两个集合，称集合：</a:t>
            </a:r>
            <a:endParaRPr kumimoji="1" lang="zh-CN" altLang="en-US" sz="2400" dirty="0">
              <a:latin typeface="+mn-ea"/>
              <a:ea typeface="+mn-ea"/>
            </a:endParaRPr>
          </a:p>
          <a:p>
            <a:pPr algn="ctr" eaLnBrk="1" hangingPunct="1">
              <a:lnSpc>
                <a:spcPct val="150000"/>
              </a:lnSpc>
              <a:buClr>
                <a:srgbClr val="00FF00"/>
              </a:buClr>
              <a:buFont typeface="Wingdings" panose="05000000000000000000" pitchFamily="2" charset="2"/>
              <a:buNone/>
            </a:pPr>
            <a:r>
              <a:rPr kumimoji="1" lang="en-US" altLang="zh-CN" sz="2400" dirty="0">
                <a:solidFill>
                  <a:srgbClr val="0000CC"/>
                </a:solidFill>
                <a:latin typeface="+mn-ea"/>
                <a:ea typeface="+mn-ea"/>
              </a:rPr>
              <a:t>A×B</a:t>
            </a: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{&lt;</a:t>
            </a:r>
            <a:r>
              <a:rPr kumimoji="1" lang="en-US" altLang="zh-CN" sz="2400" dirty="0" err="1">
                <a:solidFill>
                  <a:srgbClr val="0000CC"/>
                </a:solidFill>
                <a:latin typeface="+mn-ea"/>
                <a:ea typeface="+mn-ea"/>
              </a:rPr>
              <a:t>x,y</a:t>
            </a:r>
            <a:r>
              <a:rPr kumimoji="1" lang="en-US" altLang="zh-CN" sz="2400" dirty="0">
                <a:solidFill>
                  <a:srgbClr val="0000CC"/>
                </a:solidFill>
                <a:latin typeface="+mn-ea"/>
                <a:ea typeface="+mn-ea"/>
              </a:rPr>
              <a:t>&gt;|x∈</a:t>
            </a:r>
            <a:r>
              <a:rPr kumimoji="1" lang="en-US" altLang="zh-CN" sz="2400" noProof="1">
                <a:solidFill>
                  <a:srgbClr val="0000CC"/>
                </a:solidFill>
                <a:latin typeface="+mn-ea"/>
                <a:ea typeface="+mn-ea"/>
              </a:rPr>
              <a:t>A∧y</a:t>
            </a:r>
            <a:r>
              <a:rPr kumimoji="1" lang="en-US" altLang="zh-CN" sz="2400" dirty="0">
                <a:solidFill>
                  <a:srgbClr val="0000CC"/>
                </a:solidFill>
                <a:latin typeface="+mn-ea"/>
                <a:ea typeface="+mn-ea"/>
              </a:rPr>
              <a:t>∈</a:t>
            </a:r>
            <a:r>
              <a:rPr kumimoji="1" lang="en-US" altLang="zh-CN" sz="2400" noProof="1">
                <a:solidFill>
                  <a:srgbClr val="0000CC"/>
                </a:solidFill>
                <a:latin typeface="+mn-ea"/>
                <a:ea typeface="+mn-ea"/>
              </a:rPr>
              <a:t>B}                      </a:t>
            </a:r>
            <a:r>
              <a:rPr kumimoji="1" lang="zh-CN" altLang="en-US" sz="2400" noProof="1">
                <a:solidFill>
                  <a:srgbClr val="0000CC"/>
                </a:solidFill>
                <a:latin typeface="+mn-ea"/>
                <a:ea typeface="+mn-ea"/>
              </a:rPr>
              <a:t>（</a:t>
            </a:r>
            <a:r>
              <a:rPr kumimoji="1" lang="en-US" altLang="zh-CN" sz="2400" noProof="1">
                <a:solidFill>
                  <a:srgbClr val="0000CC"/>
                </a:solidFill>
                <a:latin typeface="+mn-ea"/>
                <a:ea typeface="+mn-ea"/>
              </a:rPr>
              <a:t>4-1</a:t>
            </a:r>
            <a:r>
              <a:rPr kumimoji="1" lang="zh-CN" altLang="en-US" sz="2400" noProof="1">
                <a:solidFill>
                  <a:srgbClr val="0000CC"/>
                </a:solidFill>
                <a:latin typeface="+mn-ea"/>
                <a:ea typeface="+mn-ea"/>
              </a:rPr>
              <a:t>）</a:t>
            </a:r>
            <a:endParaRPr kumimoji="1" lang="en-US" altLang="zh-CN" sz="2400" dirty="0">
              <a:solidFill>
                <a:srgbClr val="0000CC"/>
              </a:solidFill>
              <a:latin typeface="+mn-ea"/>
              <a:ea typeface="+mn-ea"/>
            </a:endParaRPr>
          </a:p>
          <a:p>
            <a:pPr algn="l">
              <a:lnSpc>
                <a:spcPct val="150000"/>
              </a:lnSpc>
              <a:spcBef>
                <a:spcPct val="0"/>
              </a:spcBef>
              <a:buClr>
                <a:srgbClr val="00FF00"/>
              </a:buClr>
              <a:buNone/>
            </a:pPr>
            <a:r>
              <a:rPr kumimoji="1" lang="zh-CN" altLang="en-US" sz="2400" noProof="1">
                <a:latin typeface="+mn-ea"/>
                <a:ea typeface="+mn-ea"/>
              </a:rPr>
              <a:t>为</a:t>
            </a:r>
            <a:r>
              <a:rPr kumimoji="1" lang="en-US" altLang="zh-CN" sz="2400" dirty="0" err="1">
                <a:latin typeface="+mn-ea"/>
                <a:ea typeface="+mn-ea"/>
              </a:rPr>
              <a:t>集合</a:t>
            </a:r>
            <a:r>
              <a:rPr kumimoji="1" lang="en-US" altLang="zh-CN" sz="2400" noProof="1">
                <a:latin typeface="+mn-ea"/>
                <a:ea typeface="+mn-ea"/>
              </a:rPr>
              <a:t>A</a:t>
            </a:r>
            <a:r>
              <a:rPr kumimoji="1" lang="zh-CN" altLang="en-US" sz="2400" dirty="0">
                <a:latin typeface="+mn-ea"/>
                <a:ea typeface="+mn-ea"/>
              </a:rPr>
              <a:t>与</a:t>
            </a:r>
            <a:r>
              <a:rPr kumimoji="1" lang="en-US" altLang="zh-CN" sz="2400" noProof="1">
                <a:latin typeface="+mn-ea"/>
                <a:ea typeface="+mn-ea"/>
              </a:rPr>
              <a:t>B</a:t>
            </a:r>
            <a:r>
              <a:rPr kumimoji="1" lang="zh-CN" altLang="en-US" sz="2400" noProof="1">
                <a:latin typeface="+mn-ea"/>
                <a:ea typeface="+mn-ea"/>
              </a:rPr>
              <a:t>的</a:t>
            </a:r>
            <a:r>
              <a:rPr kumimoji="1" lang="zh-CN" altLang="en-US" sz="2400" noProof="1">
                <a:solidFill>
                  <a:srgbClr val="3333FF"/>
                </a:solidFill>
                <a:latin typeface="+mn-ea"/>
                <a:ea typeface="+mn-ea"/>
              </a:rPr>
              <a:t>笛卡尔积</a:t>
            </a:r>
            <a:r>
              <a:rPr kumimoji="1" lang="es-ES" altLang="zh-CN" sz="2400" dirty="0">
                <a:latin typeface="+mn-ea"/>
                <a:ea typeface="+mn-ea"/>
              </a:rPr>
              <a:t>(</a:t>
            </a:r>
            <a:r>
              <a:rPr kumimoji="1" lang="en-US" altLang="zh-CN" sz="2400" dirty="0">
                <a:latin typeface="+mn-ea"/>
                <a:ea typeface="+mn-ea"/>
              </a:rPr>
              <a:t>Cartesian </a:t>
            </a:r>
            <a:r>
              <a:rPr kumimoji="1" lang="es-ES" altLang="zh-CN" sz="2400" dirty="0">
                <a:latin typeface="+mn-ea"/>
                <a:ea typeface="+mn-ea"/>
              </a:rPr>
              <a:t>Product)</a:t>
            </a:r>
            <a:r>
              <a:rPr kumimoji="1" lang="zh-CN" altLang="en-US" sz="2400" dirty="0">
                <a:latin typeface="+mn-ea"/>
                <a:ea typeface="+mn-ea"/>
              </a:rPr>
              <a:t>。</a:t>
            </a:r>
            <a:endParaRPr kumimoji="1" lang="zh-CN" altLang="zh-CN" sz="2400" noProof="1">
              <a:solidFill>
                <a:srgbClr val="FF0000"/>
              </a:solidFill>
              <a:latin typeface="+mn-ea"/>
              <a:ea typeface="+mn-ea"/>
            </a:endParaRPr>
          </a:p>
        </p:txBody>
      </p:sp>
      <mc:AlternateContent xmlns:mc="http://schemas.openxmlformats.org/markup-compatibility/2006">
        <mc:Choice xmlns:a14="http://schemas.microsoft.com/office/drawing/2010/main" Requires="a14">
          <p:sp>
            <p:nvSpPr>
              <p:cNvPr id="1366020" name="Rectangle 4"/>
              <p:cNvSpPr>
                <a:spLocks noChangeArrowheads="1"/>
              </p:cNvSpPr>
              <p:nvPr/>
            </p:nvSpPr>
            <p:spPr bwMode="auto">
              <a:xfrm>
                <a:off x="476280" y="3277394"/>
                <a:ext cx="11506200" cy="3415445"/>
              </a:xfrm>
              <a:prstGeom prst="rect">
                <a:avLst/>
              </a:prstGeom>
              <a:solidFill>
                <a:srgbClr val="1157AB"/>
              </a:solidFill>
              <a:ln>
                <a:noFill/>
              </a:ln>
            </p:spPr>
            <p:txBody>
              <a:bodyPr anchor="ct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kumimoji="1" lang="zh-CN" altLang="en-US" sz="2400" dirty="0">
                    <a:solidFill>
                      <a:schemeClr val="bg1"/>
                    </a:solidFill>
                    <a:latin typeface="+mn-ea"/>
                    <a:ea typeface="+mn-ea"/>
                  </a:rPr>
                  <a:t>注意</a:t>
                </a:r>
                <a:r>
                  <a:rPr kumimoji="1" lang="en-US" altLang="zh-CN" sz="2400" dirty="0">
                    <a:solidFill>
                      <a:schemeClr val="bg1"/>
                    </a:solidFill>
                    <a:latin typeface="+mn-ea"/>
                    <a:ea typeface="+mn-ea"/>
                  </a:rPr>
                  <a:t>—</a:t>
                </a:r>
                <a:r>
                  <a:rPr kumimoji="1" lang="zh-CN" altLang="en-US" sz="2400" dirty="0">
                    <a:solidFill>
                      <a:schemeClr val="bg1"/>
                    </a:solidFill>
                    <a:latin typeface="+mn-ea"/>
                    <a:ea typeface="+mn-ea"/>
                  </a:rPr>
                  <a:t>笛卡尔积的计算及性质</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1</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A</a:t>
                </a:r>
                <a:r>
                  <a:rPr kumimoji="1" lang="zh-CN" altLang="en-US" sz="2400" dirty="0">
                    <a:solidFill>
                      <a:schemeClr val="bg1"/>
                    </a:solidFill>
                    <a:latin typeface="+mn-ea"/>
                    <a:ea typeface="+mn-ea"/>
                  </a:rPr>
                  <a:t>与</a:t>
                </a:r>
                <a:r>
                  <a:rPr kumimoji="1" lang="en-US" altLang="zh-CN" sz="2400" dirty="0">
                    <a:solidFill>
                      <a:schemeClr val="bg1"/>
                    </a:solidFill>
                    <a:latin typeface="+mn-ea"/>
                    <a:ea typeface="+mn-ea"/>
                  </a:rPr>
                  <a:t>B</a:t>
                </a:r>
                <a:r>
                  <a:rPr kumimoji="1" lang="zh-CN" altLang="en-US" sz="2400" dirty="0">
                    <a:solidFill>
                      <a:schemeClr val="bg1"/>
                    </a:solidFill>
                    <a:latin typeface="+mn-ea"/>
                    <a:ea typeface="+mn-ea"/>
                  </a:rPr>
                  <a:t>的笛卡尔积是</a:t>
                </a:r>
                <a:r>
                  <a:rPr kumimoji="1" lang="zh-CN" altLang="en-US" sz="2400" dirty="0">
                    <a:solidFill>
                      <a:srgbClr val="FF0000"/>
                    </a:solidFill>
                    <a:latin typeface="+mn-ea"/>
                    <a:ea typeface="+mn-ea"/>
                  </a:rPr>
                  <a:t>以序偶为元素</a:t>
                </a:r>
                <a:r>
                  <a:rPr kumimoji="1" lang="zh-CN" altLang="en-US" sz="2400" dirty="0">
                    <a:solidFill>
                      <a:schemeClr val="bg1"/>
                    </a:solidFill>
                    <a:latin typeface="+mn-ea"/>
                    <a:ea typeface="+mn-ea"/>
                  </a:rPr>
                  <a:t>的集合</a:t>
                </a:r>
                <a:r>
                  <a:rPr kumimoji="1" lang="en-US" altLang="zh-CN" sz="2400" dirty="0">
                    <a:solidFill>
                      <a:schemeClr val="bg1"/>
                    </a:solidFill>
                    <a:latin typeface="+mn-ea"/>
                    <a:ea typeface="+mn-ea"/>
                  </a:rPr>
                  <a:t>.</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2</a:t>
                </a:r>
                <a:r>
                  <a:rPr kumimoji="1" lang="zh-CN" altLang="en-US" sz="2400" dirty="0">
                    <a:solidFill>
                      <a:schemeClr val="bg1"/>
                    </a:solidFill>
                    <a:latin typeface="+mn-ea"/>
                    <a:ea typeface="+mn-ea"/>
                  </a:rPr>
                  <a:t>）序偶的第一元素遍历</a:t>
                </a:r>
                <a:r>
                  <a:rPr kumimoji="1" lang="en-US" altLang="zh-CN" sz="2400" dirty="0">
                    <a:solidFill>
                      <a:schemeClr val="bg1"/>
                    </a:solidFill>
                    <a:latin typeface="+mn-ea"/>
                    <a:ea typeface="+mn-ea"/>
                  </a:rPr>
                  <a:t>A</a:t>
                </a:r>
                <a:r>
                  <a:rPr kumimoji="1" lang="zh-CN" altLang="en-US" sz="2400" dirty="0">
                    <a:solidFill>
                      <a:schemeClr val="bg1"/>
                    </a:solidFill>
                    <a:latin typeface="+mn-ea"/>
                    <a:ea typeface="+mn-ea"/>
                  </a:rPr>
                  <a:t>中的元素，第二元素遍历</a:t>
                </a:r>
                <a:r>
                  <a:rPr kumimoji="1" lang="en-US" altLang="zh-CN" sz="2400" dirty="0">
                    <a:solidFill>
                      <a:schemeClr val="bg1"/>
                    </a:solidFill>
                    <a:latin typeface="+mn-ea"/>
                    <a:ea typeface="+mn-ea"/>
                  </a:rPr>
                  <a:t>B</a:t>
                </a:r>
                <a:r>
                  <a:rPr kumimoji="1" lang="zh-CN" altLang="en-US" sz="2400" dirty="0">
                    <a:solidFill>
                      <a:schemeClr val="bg1"/>
                    </a:solidFill>
                    <a:latin typeface="+mn-ea"/>
                    <a:ea typeface="+mn-ea"/>
                  </a:rPr>
                  <a:t>中的元素</a:t>
                </a:r>
                <a:r>
                  <a:rPr kumimoji="1" lang="en-US" altLang="zh-CN" sz="2400" dirty="0">
                    <a:solidFill>
                      <a:schemeClr val="bg1"/>
                    </a:solidFill>
                    <a:latin typeface="+mn-ea"/>
                    <a:ea typeface="+mn-ea"/>
                  </a:rPr>
                  <a:t>.</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3</a:t>
                </a:r>
                <a:r>
                  <a:rPr kumimoji="1" lang="zh-CN" altLang="en-US" sz="2400" dirty="0">
                    <a:solidFill>
                      <a:schemeClr val="bg1"/>
                    </a:solidFill>
                    <a:latin typeface="+mn-ea"/>
                    <a:ea typeface="+mn-ea"/>
                  </a:rPr>
                  <a:t>）当集合</a:t>
                </a:r>
                <a:r>
                  <a:rPr kumimoji="1" lang="en-US" altLang="zh-CN" sz="2400" dirty="0">
                    <a:solidFill>
                      <a:schemeClr val="bg1"/>
                    </a:solidFill>
                    <a:latin typeface="+mn-ea"/>
                    <a:ea typeface="+mn-ea"/>
                  </a:rPr>
                  <a:t>A</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B</a:t>
                </a:r>
                <a:r>
                  <a:rPr kumimoji="1" lang="zh-CN" altLang="en-US" sz="2400" dirty="0">
                    <a:solidFill>
                      <a:schemeClr val="bg1"/>
                    </a:solidFill>
                    <a:latin typeface="+mn-ea"/>
                    <a:ea typeface="+mn-ea"/>
                  </a:rPr>
                  <a:t>都是有限集时，</a:t>
                </a:r>
                <a:r>
                  <a:rPr kumimoji="1" lang="en-US" altLang="zh-CN" sz="2400" dirty="0">
                    <a:solidFill>
                      <a:schemeClr val="bg1"/>
                    </a:solidFill>
                    <a:latin typeface="+mn-ea"/>
                    <a:ea typeface="+mn-ea"/>
                  </a:rPr>
                  <a:t>|A×B|</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|B×A|</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|A|×|B|.</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4</a:t>
                </a:r>
                <a:r>
                  <a:rPr kumimoji="1" lang="zh-CN" altLang="en-US" sz="2400" dirty="0">
                    <a:solidFill>
                      <a:schemeClr val="bg1"/>
                    </a:solidFill>
                    <a:latin typeface="+mn-ea"/>
                    <a:ea typeface="+mn-ea"/>
                  </a:rPr>
                  <a:t>）两个集合的笛卡尔积不满足交换律</a:t>
                </a:r>
                <a:r>
                  <a:rPr kumimoji="1" lang="en-US" altLang="zh-CN" sz="2400" dirty="0">
                    <a:solidFill>
                      <a:schemeClr val="bg1"/>
                    </a:solidFill>
                    <a:latin typeface="+mn-ea"/>
                    <a:ea typeface="+mn-ea"/>
                  </a:rPr>
                  <a:t>.</a:t>
                </a:r>
                <a:endParaRPr kumimoji="1" lang="zh-CN" altLang="en-US" sz="2400" dirty="0">
                  <a:solidFill>
                    <a:schemeClr val="bg1"/>
                  </a:solidFill>
                  <a:latin typeface="+mn-ea"/>
                  <a:ea typeface="+mn-ea"/>
                </a:endParaRPr>
              </a:p>
              <a:p>
                <a:pPr algn="l">
                  <a:lnSpc>
                    <a:spcPct val="150000"/>
                  </a:lnSpc>
                  <a:spcBef>
                    <a:spcPct val="0"/>
                  </a:spcBef>
                  <a:buClrTx/>
                  <a:buNone/>
                </a:pP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5</a:t>
                </a:r>
                <a:r>
                  <a:rPr kumimoji="1" lang="zh-CN" altLang="en-US" sz="2400" dirty="0">
                    <a:solidFill>
                      <a:schemeClr val="bg1"/>
                    </a:solidFill>
                    <a:latin typeface="+mn-ea"/>
                    <a:ea typeface="+mn-ea"/>
                  </a:rPr>
                  <a:t>）</a:t>
                </a:r>
                <a:r>
                  <a:rPr kumimoji="1" lang="en-US" altLang="zh-CN" sz="2400" dirty="0">
                    <a:solidFill>
                      <a:schemeClr val="bg1"/>
                    </a:solidFill>
                    <a:latin typeface="Arial" panose="020B0604020202020204" pitchFamily="34" charset="0"/>
                  </a:rPr>
                  <a:t>A×B=Φ</a:t>
                </a:r>
                <a14:m>
                  <m:oMath xmlns:m="http://schemas.openxmlformats.org/officeDocument/2006/math">
                    <m:r>
                      <a:rPr kumimoji="1" lang="en-US" altLang="zh-CN" sz="2400" i="1" smtClean="0">
                        <a:solidFill>
                          <a:schemeClr val="bg1"/>
                        </a:solidFill>
                        <a:latin typeface="Cambria Math" panose="02040503050406030204" pitchFamily="18" charset="0"/>
                        <a:ea typeface="Cambria Math" panose="02040503050406030204" pitchFamily="18" charset="0"/>
                      </a:rPr>
                      <m:t>⟺</m:t>
                    </m:r>
                  </m:oMath>
                </a14:m>
                <a:r>
                  <a:rPr kumimoji="1" lang="en-US" altLang="zh-CN" sz="2400" dirty="0">
                    <a:solidFill>
                      <a:schemeClr val="bg1"/>
                    </a:solidFill>
                    <a:latin typeface="Arial" panose="020B0604020202020204" pitchFamily="34" charset="0"/>
                  </a:rPr>
                  <a:t>A=Φ</a:t>
                </a:r>
                <a:r>
                  <a:rPr kumimoji="1" lang="zh-CN" altLang="en-US" sz="2400" dirty="0">
                    <a:solidFill>
                      <a:schemeClr val="bg1"/>
                    </a:solidFill>
                    <a:latin typeface="Arial" panose="020B0604020202020204" pitchFamily="34" charset="0"/>
                  </a:rPr>
                  <a:t>或者</a:t>
                </a:r>
                <a:r>
                  <a:rPr kumimoji="1" lang="en-US" altLang="zh-CN" sz="2400" dirty="0">
                    <a:solidFill>
                      <a:schemeClr val="bg1"/>
                    </a:solidFill>
                    <a:latin typeface="Arial" panose="020B0604020202020204" pitchFamily="34" charset="0"/>
                  </a:rPr>
                  <a:t>B=Φ</a:t>
                </a:r>
                <a:r>
                  <a:rPr kumimoji="1" lang="zh-CN" altLang="en-US" sz="2400" dirty="0">
                    <a:solidFill>
                      <a:schemeClr val="bg1"/>
                    </a:solidFill>
                    <a:latin typeface="+mn-ea"/>
                    <a:ea typeface="+mn-ea"/>
                  </a:rPr>
                  <a:t>。</a:t>
                </a:r>
                <a:endParaRPr kumimoji="1" lang="zh-CN" altLang="en-US" sz="2400" dirty="0">
                  <a:solidFill>
                    <a:schemeClr val="bg1"/>
                  </a:solidFill>
                  <a:latin typeface="+mn-ea"/>
                  <a:ea typeface="+mn-ea"/>
                </a:endParaRPr>
              </a:p>
            </p:txBody>
          </p:sp>
        </mc:Choice>
        <mc:Fallback>
          <p:sp>
            <p:nvSpPr>
              <p:cNvPr id="1366020" name="Rectangle 4"/>
              <p:cNvSpPr>
                <a:spLocks noRot="1" noChangeAspect="1" noMove="1" noResize="1" noEditPoints="1" noAdjustHandles="1" noChangeArrowheads="1" noChangeShapeType="1" noTextEdit="1"/>
              </p:cNvSpPr>
              <p:nvPr/>
            </p:nvSpPr>
            <p:spPr bwMode="auto">
              <a:xfrm>
                <a:off x="476280" y="3277394"/>
                <a:ext cx="11506200" cy="3415445"/>
              </a:xfrm>
              <a:prstGeom prst="rect">
                <a:avLst/>
              </a:prstGeom>
              <a:blipFill rotWithShape="1">
                <a:blip r:embed="rId1"/>
                <a:stretch>
                  <a:fillRect t="-5" b="17"/>
                </a:stretch>
              </a:blipFill>
              <a:ln>
                <a:noFill/>
              </a:ln>
            </p:spPr>
            <p:txBody>
              <a:bodyPr/>
              <a:lstStyle/>
              <a:p>
                <a:r>
                  <a:rPr lang="zh-CN" altLang="en-US">
                    <a:noFill/>
                  </a:rPr>
                  <a:t> </a:t>
                </a:r>
              </a:p>
            </p:txBody>
          </p:sp>
        </mc:Fallback>
      </mc:AlternateContent>
    </p:spTree>
    <p:custDataLst>
      <p:tags r:id="rId2"/>
    </p:custData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66019">
                                            <p:txEl>
                                              <p:pRg st="0" end="0"/>
                                            </p:txEl>
                                          </p:spTgt>
                                        </p:tgtEl>
                                        <p:attrNameLst>
                                          <p:attrName>style.visibility</p:attrName>
                                        </p:attrNameLst>
                                      </p:cBhvr>
                                      <p:to>
                                        <p:strVal val="visible"/>
                                      </p:to>
                                    </p:set>
                                    <p:animEffect transition="in" filter="wipe(up)">
                                      <p:cBhvr>
                                        <p:cTn id="7" dur="500"/>
                                        <p:tgtEl>
                                          <p:spTgt spid="1366019">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366019">
                                            <p:txEl>
                                              <p:pRg st="1" end="1"/>
                                            </p:txEl>
                                          </p:spTgt>
                                        </p:tgtEl>
                                        <p:attrNameLst>
                                          <p:attrName>style.visibility</p:attrName>
                                        </p:attrNameLst>
                                      </p:cBhvr>
                                      <p:to>
                                        <p:strVal val="visible"/>
                                      </p:to>
                                    </p:set>
                                    <p:animEffect transition="in" filter="wipe(up)">
                                      <p:cBhvr>
                                        <p:cTn id="11" dur="500"/>
                                        <p:tgtEl>
                                          <p:spTgt spid="1366019">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66019">
                                            <p:txEl>
                                              <p:pRg st="2" end="2"/>
                                            </p:txEl>
                                          </p:spTgt>
                                        </p:tgtEl>
                                        <p:attrNameLst>
                                          <p:attrName>style.visibility</p:attrName>
                                        </p:attrNameLst>
                                      </p:cBhvr>
                                      <p:to>
                                        <p:strVal val="visible"/>
                                      </p:to>
                                    </p:set>
                                    <p:animEffect transition="in" filter="wipe(up)">
                                      <p:cBhvr>
                                        <p:cTn id="15" dur="500"/>
                                        <p:tgtEl>
                                          <p:spTgt spid="136601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1366020"/>
                                        </p:tgtEl>
                                        <p:attrNameLst>
                                          <p:attrName>style.visibility</p:attrName>
                                        </p:attrNameLst>
                                      </p:cBhvr>
                                      <p:to>
                                        <p:strVal val="visible"/>
                                      </p:to>
                                    </p:set>
                                    <p:animEffect transition="in" filter="circle(in)">
                                      <p:cBhvr>
                                        <p:cTn id="20" dur="2000"/>
                                        <p:tgtEl>
                                          <p:spTgt spid="1366020"/>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366020">
                                            <p:txEl>
                                              <p:pRg st="1" end="1"/>
                                            </p:txEl>
                                          </p:spTgt>
                                        </p:tgtEl>
                                        <p:attrNameLst>
                                          <p:attrName>style.visibility</p:attrName>
                                        </p:attrNameLst>
                                      </p:cBhvr>
                                      <p:to>
                                        <p:strVal val="visible"/>
                                      </p:to>
                                    </p:set>
                                    <p:animEffect transition="in" filter="circle(in)">
                                      <p:cBhvr>
                                        <p:cTn id="25" dur="2000"/>
                                        <p:tgtEl>
                                          <p:spTgt spid="1366020">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66020">
                                            <p:txEl>
                                              <p:pRg st="2" end="2"/>
                                            </p:txEl>
                                          </p:spTgt>
                                        </p:tgtEl>
                                        <p:attrNameLst>
                                          <p:attrName>style.visibility</p:attrName>
                                        </p:attrNameLst>
                                      </p:cBhvr>
                                      <p:to>
                                        <p:strVal val="visible"/>
                                      </p:to>
                                    </p:set>
                                    <p:animEffect transition="in" filter="fade">
                                      <p:cBhvr>
                                        <p:cTn id="30" dur="500"/>
                                        <p:tgtEl>
                                          <p:spTgt spid="136602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66020">
                                            <p:txEl>
                                              <p:pRg st="3" end="3"/>
                                            </p:txEl>
                                          </p:spTgt>
                                        </p:tgtEl>
                                        <p:attrNameLst>
                                          <p:attrName>style.visibility</p:attrName>
                                        </p:attrNameLst>
                                      </p:cBhvr>
                                      <p:to>
                                        <p:strVal val="visible"/>
                                      </p:to>
                                    </p:set>
                                    <p:anim calcmode="lin" valueType="num">
                                      <p:cBhvr additive="base">
                                        <p:cTn id="35" dur="500" fill="hold"/>
                                        <p:tgtEl>
                                          <p:spTgt spid="1366020">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660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366020">
                                            <p:txEl>
                                              <p:pRg st="4" end="4"/>
                                            </p:txEl>
                                          </p:spTgt>
                                        </p:tgtEl>
                                        <p:attrNameLst>
                                          <p:attrName>style.visibility</p:attrName>
                                        </p:attrNameLst>
                                      </p:cBhvr>
                                      <p:to>
                                        <p:strVal val="visible"/>
                                      </p:to>
                                    </p:set>
                                    <p:anim calcmode="lin" valueType="num">
                                      <p:cBhvr additive="base">
                                        <p:cTn id="41" dur="500" fill="hold"/>
                                        <p:tgtEl>
                                          <p:spTgt spid="1366020">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6602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66020">
                                            <p:txEl>
                                              <p:pRg st="5" end="5"/>
                                            </p:txEl>
                                          </p:spTgt>
                                        </p:tgtEl>
                                        <p:attrNameLst>
                                          <p:attrName>style.visibility</p:attrName>
                                        </p:attrNameLst>
                                      </p:cBhvr>
                                      <p:to>
                                        <p:strVal val="visible"/>
                                      </p:to>
                                    </p:set>
                                    <p:animEffect transition="in" filter="fade">
                                      <p:cBhvr>
                                        <p:cTn id="47" dur="500"/>
                                        <p:tgtEl>
                                          <p:spTgt spid="13660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6019" grpId="0" autoUpdateAnimBg="0" build="p"/>
      <p:bldP spid="1366020"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zh-CN" altLang="en-US" dirty="0"/>
              <a:t>实例</a:t>
            </a:r>
            <a:endParaRPr lang="zh-CN" altLang="en-US" dirty="0"/>
          </a:p>
        </p:txBody>
      </p:sp>
      <p:sp>
        <p:nvSpPr>
          <p:cNvPr id="1368067" name="Rectangle 3"/>
          <p:cNvSpPr>
            <a:spLocks noGrp="1" noChangeArrowheads="1"/>
          </p:cNvSpPr>
          <p:nvPr>
            <p:ph type="body" idx="1"/>
          </p:nvPr>
        </p:nvSpPr>
        <p:spPr>
          <a:xfrm>
            <a:off x="239712" y="1010678"/>
            <a:ext cx="11737975" cy="4838232"/>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  </a:t>
            </a:r>
            <a:r>
              <a:rPr lang="zh-CN" altLang="en-US" dirty="0"/>
              <a:t>设</a:t>
            </a:r>
            <a:r>
              <a:rPr lang="en-US" altLang="zh-CN" dirty="0"/>
              <a:t>A</a:t>
            </a:r>
            <a:r>
              <a:rPr lang="zh-CN" altLang="en-US" dirty="0"/>
              <a:t>＝</a:t>
            </a:r>
            <a:r>
              <a:rPr lang="en-US" altLang="zh-CN" dirty="0"/>
              <a:t>{a}</a:t>
            </a:r>
            <a:r>
              <a:rPr lang="zh-CN" altLang="en-US" dirty="0"/>
              <a:t>，</a:t>
            </a:r>
            <a:r>
              <a:rPr lang="en-US" altLang="zh-CN" dirty="0"/>
              <a:t>B</a:t>
            </a:r>
            <a:r>
              <a:rPr lang="zh-CN" altLang="en-US" dirty="0"/>
              <a:t>＝</a:t>
            </a:r>
            <a:r>
              <a:rPr lang="en-US" altLang="zh-CN" dirty="0"/>
              <a:t>P(A)</a:t>
            </a:r>
            <a:r>
              <a:rPr lang="zh-CN" altLang="en-US" dirty="0"/>
              <a:t>，</a:t>
            </a:r>
            <a:r>
              <a:rPr lang="en-US" altLang="zh-CN" dirty="0"/>
              <a:t>C=Φ</a:t>
            </a:r>
            <a:r>
              <a:rPr lang="zh-CN" altLang="en-US" dirty="0"/>
              <a:t>，</a:t>
            </a:r>
            <a:r>
              <a:rPr lang="en-US" altLang="zh-CN" dirty="0"/>
              <a:t>D={0,1,4}</a:t>
            </a:r>
            <a:r>
              <a:rPr lang="zh-CN" altLang="en-US" dirty="0"/>
              <a:t>，请分别写出下列笛卡儿积中的元素。</a:t>
            </a:r>
            <a:endParaRPr lang="zh-CN" altLang="en-US" dirty="0"/>
          </a:p>
          <a:p>
            <a:pPr marL="0" indent="0">
              <a:lnSpc>
                <a:spcPct val="150000"/>
              </a:lnSpc>
              <a:buNone/>
            </a:pPr>
            <a:r>
              <a:rPr lang="zh-CN" altLang="en-US" dirty="0"/>
              <a:t>（</a:t>
            </a:r>
            <a:r>
              <a:rPr lang="en-US" altLang="zh-CN" dirty="0"/>
              <a:t>1</a:t>
            </a:r>
            <a:r>
              <a:rPr lang="zh-CN" altLang="en-US" dirty="0"/>
              <a:t>）</a:t>
            </a:r>
            <a:r>
              <a:rPr lang="en-US" altLang="zh-CN" dirty="0"/>
              <a:t>A×B</a:t>
            </a:r>
            <a:r>
              <a:rPr lang="zh-CN" altLang="en-US" dirty="0"/>
              <a:t>，</a:t>
            </a:r>
            <a:r>
              <a:rPr lang="en-US" altLang="zh-CN" dirty="0"/>
              <a:t>B×A</a:t>
            </a:r>
            <a:r>
              <a:rPr lang="zh-CN" altLang="en-US" dirty="0"/>
              <a:t>。</a:t>
            </a:r>
            <a:endParaRPr lang="en-US" altLang="zh-CN" dirty="0"/>
          </a:p>
          <a:p>
            <a:pPr marL="0" indent="0">
              <a:lnSpc>
                <a:spcPct val="150000"/>
              </a:lnSpc>
              <a:buNone/>
            </a:pPr>
            <a:r>
              <a:rPr lang="zh-CN" altLang="en-US" dirty="0"/>
              <a:t>（</a:t>
            </a:r>
            <a:r>
              <a:rPr lang="en-US" altLang="zh-CN" dirty="0"/>
              <a:t>2</a:t>
            </a:r>
            <a:r>
              <a:rPr lang="zh-CN" altLang="en-US" dirty="0"/>
              <a:t>）</a:t>
            </a:r>
            <a:r>
              <a:rPr lang="en-US" altLang="zh-CN" dirty="0"/>
              <a:t>A×C</a:t>
            </a:r>
            <a:r>
              <a:rPr lang="zh-CN" altLang="en-US" dirty="0"/>
              <a:t>，</a:t>
            </a:r>
            <a:r>
              <a:rPr lang="en-US" altLang="zh-CN" dirty="0"/>
              <a:t>C×A</a:t>
            </a:r>
            <a:r>
              <a:rPr lang="zh-CN" altLang="en-US" dirty="0"/>
              <a:t>。</a:t>
            </a:r>
            <a:endParaRPr lang="zh-CN" altLang="pt-BR" dirty="0"/>
          </a:p>
          <a:p>
            <a:pPr marL="0" indent="0">
              <a:lnSpc>
                <a:spcPct val="150000"/>
              </a:lnSpc>
              <a:buNone/>
            </a:pPr>
            <a:r>
              <a:rPr lang="zh-CN" altLang="pt-BR" dirty="0"/>
              <a:t>（</a:t>
            </a:r>
            <a:r>
              <a:rPr lang="pt-BR" altLang="zh-CN" dirty="0"/>
              <a:t>3</a:t>
            </a:r>
            <a:r>
              <a:rPr lang="zh-CN" altLang="pt-BR" dirty="0"/>
              <a:t>）</a:t>
            </a:r>
            <a:r>
              <a:rPr lang="pt-BR" altLang="zh-CN" dirty="0"/>
              <a:t>A×(B×D)</a:t>
            </a:r>
            <a:r>
              <a:rPr lang="zh-CN" altLang="pt-BR" dirty="0"/>
              <a:t>，</a:t>
            </a:r>
            <a:r>
              <a:rPr lang="pt-BR" altLang="zh-CN" dirty="0"/>
              <a:t>(A×B)×D</a:t>
            </a:r>
            <a:r>
              <a:rPr lang="zh-CN" altLang="pt-BR" dirty="0"/>
              <a:t>。</a:t>
            </a:r>
            <a:endParaRPr lang="zh-CN" altLang="pt-BR" dirty="0"/>
          </a:p>
          <a:p>
            <a:pPr marL="0" indent="0">
              <a:lnSpc>
                <a:spcPct val="150000"/>
              </a:lnSpc>
              <a:spcBef>
                <a:spcPct val="50000"/>
              </a:spcBef>
              <a:buNone/>
            </a:pPr>
            <a:r>
              <a:rPr lang="zh-CN" altLang="en-US" dirty="0">
                <a:solidFill>
                  <a:srgbClr val="C00000"/>
                </a:solidFill>
              </a:rPr>
              <a:t>解 </a:t>
            </a:r>
            <a:r>
              <a:rPr lang="zh-CN" altLang="en-US" dirty="0">
                <a:solidFill>
                  <a:srgbClr val="FF0000"/>
                </a:solidFill>
              </a:rPr>
              <a:t> </a:t>
            </a:r>
            <a:r>
              <a:rPr lang="en-US" altLang="zh-CN" dirty="0"/>
              <a:t>B=P(A)={Φ</a:t>
            </a:r>
            <a:r>
              <a:rPr lang="zh-CN" altLang="en-US" dirty="0"/>
              <a:t>，</a:t>
            </a:r>
            <a:r>
              <a:rPr lang="en-US" altLang="zh-CN" dirty="0"/>
              <a:t>{a}}</a:t>
            </a:r>
            <a:r>
              <a:rPr lang="zh-CN" altLang="en-US" dirty="0"/>
              <a:t>，根据式（</a:t>
            </a:r>
            <a:r>
              <a:rPr lang="en-US" altLang="zh-CN" dirty="0"/>
              <a:t>4-1</a:t>
            </a:r>
            <a:r>
              <a:rPr lang="zh-CN" altLang="en-US" dirty="0"/>
              <a:t>），有</a:t>
            </a:r>
            <a:endParaRPr lang="zh-CN" altLang="en-US" dirty="0"/>
          </a:p>
          <a:p>
            <a:pPr marL="0" indent="0">
              <a:lnSpc>
                <a:spcPct val="150000"/>
              </a:lnSpc>
              <a:buNone/>
            </a:pPr>
            <a:r>
              <a:rPr lang="zh-CN" altLang="en-US" dirty="0"/>
              <a:t>（</a:t>
            </a:r>
            <a:r>
              <a:rPr lang="en-US" altLang="zh-CN" dirty="0"/>
              <a:t>1</a:t>
            </a:r>
            <a:r>
              <a:rPr lang="zh-CN" altLang="en-US" dirty="0"/>
              <a:t>）</a:t>
            </a:r>
            <a:r>
              <a:rPr lang="en-US" altLang="zh-CN" dirty="0"/>
              <a:t>A×B</a:t>
            </a:r>
            <a:r>
              <a:rPr lang="zh-CN" altLang="en-US" dirty="0"/>
              <a:t>＝</a:t>
            </a:r>
            <a:r>
              <a:rPr lang="en-US" altLang="zh-CN" dirty="0"/>
              <a:t>{&lt;a</a:t>
            </a:r>
            <a:r>
              <a:rPr lang="zh-CN" altLang="en-US" dirty="0"/>
              <a:t>，</a:t>
            </a:r>
            <a:r>
              <a:rPr lang="en-US" altLang="zh-CN" dirty="0"/>
              <a:t>Φ&gt;</a:t>
            </a:r>
            <a:r>
              <a:rPr lang="zh-CN" altLang="en-US" dirty="0"/>
              <a:t>，</a:t>
            </a:r>
            <a:r>
              <a:rPr lang="en-US" altLang="zh-CN" dirty="0"/>
              <a:t>&lt;a</a:t>
            </a:r>
            <a:r>
              <a:rPr lang="zh-CN" altLang="en-US" dirty="0"/>
              <a:t>，</a:t>
            </a:r>
            <a:r>
              <a:rPr lang="en-US" altLang="zh-CN" dirty="0"/>
              <a:t>{a}&gt;}</a:t>
            </a:r>
            <a:endParaRPr lang="en-US" altLang="zh-CN" dirty="0"/>
          </a:p>
          <a:p>
            <a:pPr marL="0" indent="0">
              <a:lnSpc>
                <a:spcPct val="150000"/>
              </a:lnSpc>
              <a:buNone/>
            </a:pPr>
            <a:r>
              <a:rPr lang="en-US" altLang="zh-CN" dirty="0"/>
              <a:t>        B×A</a:t>
            </a:r>
            <a:r>
              <a:rPr lang="zh-CN" altLang="en-US" dirty="0"/>
              <a:t>＝</a:t>
            </a:r>
            <a:r>
              <a:rPr lang="en-US" altLang="zh-CN" dirty="0"/>
              <a:t>{&lt;Φ</a:t>
            </a:r>
            <a:r>
              <a:rPr lang="zh-CN" altLang="en-US" dirty="0"/>
              <a:t>，</a:t>
            </a:r>
            <a:r>
              <a:rPr lang="en-US" altLang="zh-CN" dirty="0"/>
              <a:t>a&gt;</a:t>
            </a:r>
            <a:r>
              <a:rPr lang="zh-CN" altLang="en-US" dirty="0"/>
              <a:t>，</a:t>
            </a:r>
            <a:r>
              <a:rPr lang="en-US" altLang="zh-CN" dirty="0"/>
              <a:t>&lt;{a}</a:t>
            </a:r>
            <a:r>
              <a:rPr lang="zh-CN" altLang="en-US" dirty="0"/>
              <a:t>，</a:t>
            </a:r>
            <a:r>
              <a:rPr lang="en-US" altLang="zh-CN" dirty="0"/>
              <a:t>a&gt;}</a:t>
            </a:r>
            <a:endParaRPr lang="zh-CN" altLang="pt-BR" dirty="0"/>
          </a:p>
          <a:p>
            <a:pPr marL="0" indent="0">
              <a:lnSpc>
                <a:spcPct val="150000"/>
              </a:lnSpc>
              <a:buNone/>
            </a:pPr>
            <a:r>
              <a:rPr lang="zh-CN" altLang="pt-BR" dirty="0"/>
              <a:t>（</a:t>
            </a:r>
            <a:r>
              <a:rPr lang="pt-BR" altLang="zh-CN" dirty="0"/>
              <a:t>2</a:t>
            </a:r>
            <a:r>
              <a:rPr lang="zh-CN" altLang="pt-BR" dirty="0"/>
              <a:t>）</a:t>
            </a:r>
            <a:r>
              <a:rPr lang="pt-BR" altLang="zh-CN" dirty="0"/>
              <a:t>A×C=</a:t>
            </a:r>
            <a:r>
              <a:rPr lang="en-US" altLang="zh-CN" dirty="0"/>
              <a:t>Φ</a:t>
            </a:r>
            <a:r>
              <a:rPr lang="zh-CN" altLang="pt-BR" dirty="0"/>
              <a:t>，</a:t>
            </a:r>
            <a:r>
              <a:rPr lang="pt-BR" altLang="zh-CN" dirty="0"/>
              <a:t>C×A=</a:t>
            </a:r>
            <a:r>
              <a:rPr lang="en-US" altLang="zh-CN" dirty="0"/>
              <a:t>Φ</a:t>
            </a:r>
            <a:endParaRPr lang="zh-CN" altLang="en-US" dirty="0"/>
          </a:p>
        </p:txBody>
      </p:sp>
      <p:sp>
        <p:nvSpPr>
          <p:cNvPr id="6" name="思想气泡: 云 5"/>
          <p:cNvSpPr/>
          <p:nvPr/>
        </p:nvSpPr>
        <p:spPr>
          <a:xfrm>
            <a:off x="7165975" y="3393739"/>
            <a:ext cx="3276600" cy="1219200"/>
          </a:xfrm>
          <a:prstGeom prst="cloudCallout">
            <a:avLst>
              <a:gd name="adj1" fmla="val -102963"/>
              <a:gd name="adj2" fmla="val 54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交换律不成立</a:t>
            </a:r>
            <a:endParaRPr lang="zh-CN" altLang="en-US"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8067">
                                            <p:txEl>
                                              <p:pRg st="0" end="0"/>
                                            </p:txEl>
                                          </p:spTgt>
                                        </p:tgtEl>
                                        <p:attrNameLst>
                                          <p:attrName>style.visibility</p:attrName>
                                        </p:attrNameLst>
                                      </p:cBhvr>
                                      <p:to>
                                        <p:strVal val="visible"/>
                                      </p:to>
                                    </p:set>
                                    <p:anim calcmode="lin" valueType="num">
                                      <p:cBhvr additive="base">
                                        <p:cTn id="7" dur="500" fill="hold"/>
                                        <p:tgtEl>
                                          <p:spTgt spid="1368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806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68067">
                                            <p:txEl>
                                              <p:pRg st="1" end="1"/>
                                            </p:txEl>
                                          </p:spTgt>
                                        </p:tgtEl>
                                        <p:attrNameLst>
                                          <p:attrName>style.visibility</p:attrName>
                                        </p:attrNameLst>
                                      </p:cBhvr>
                                      <p:to>
                                        <p:strVal val="visible"/>
                                      </p:to>
                                    </p:set>
                                    <p:anim calcmode="lin" valueType="num">
                                      <p:cBhvr additive="base">
                                        <p:cTn id="12" dur="500" fill="hold"/>
                                        <p:tgtEl>
                                          <p:spTgt spid="13680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6806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68067">
                                            <p:txEl>
                                              <p:pRg st="2" end="2"/>
                                            </p:txEl>
                                          </p:spTgt>
                                        </p:tgtEl>
                                        <p:attrNameLst>
                                          <p:attrName>style.visibility</p:attrName>
                                        </p:attrNameLst>
                                      </p:cBhvr>
                                      <p:to>
                                        <p:strVal val="visible"/>
                                      </p:to>
                                    </p:set>
                                    <p:anim calcmode="lin" valueType="num">
                                      <p:cBhvr additive="base">
                                        <p:cTn id="17" dur="500" fill="hold"/>
                                        <p:tgtEl>
                                          <p:spTgt spid="13680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68067">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68067">
                                            <p:txEl>
                                              <p:pRg st="3" end="3"/>
                                            </p:txEl>
                                          </p:spTgt>
                                        </p:tgtEl>
                                        <p:attrNameLst>
                                          <p:attrName>style.visibility</p:attrName>
                                        </p:attrNameLst>
                                      </p:cBhvr>
                                      <p:to>
                                        <p:strVal val="visible"/>
                                      </p:to>
                                    </p:set>
                                    <p:anim calcmode="lin" valueType="num">
                                      <p:cBhvr additive="base">
                                        <p:cTn id="22" dur="500" fill="hold"/>
                                        <p:tgtEl>
                                          <p:spTgt spid="136806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68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68067">
                                            <p:txEl>
                                              <p:pRg st="4" end="4"/>
                                            </p:txEl>
                                          </p:spTgt>
                                        </p:tgtEl>
                                        <p:attrNameLst>
                                          <p:attrName>style.visibility</p:attrName>
                                        </p:attrNameLst>
                                      </p:cBhvr>
                                      <p:to>
                                        <p:strVal val="visible"/>
                                      </p:to>
                                    </p:set>
                                    <p:anim calcmode="lin" valueType="num">
                                      <p:cBhvr additive="base">
                                        <p:cTn id="28" dur="500" fill="hold"/>
                                        <p:tgtEl>
                                          <p:spTgt spid="136806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3680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368067">
                                            <p:txEl>
                                              <p:pRg st="5" end="5"/>
                                            </p:txEl>
                                          </p:spTgt>
                                        </p:tgtEl>
                                        <p:attrNameLst>
                                          <p:attrName>style.visibility</p:attrName>
                                        </p:attrNameLst>
                                      </p:cBhvr>
                                      <p:to>
                                        <p:strVal val="visible"/>
                                      </p:to>
                                    </p:set>
                                    <p:anim calcmode="lin" valueType="num">
                                      <p:cBhvr additive="base">
                                        <p:cTn id="34" dur="500" fill="hold"/>
                                        <p:tgtEl>
                                          <p:spTgt spid="1368067">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680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68067">
                                            <p:txEl>
                                              <p:pRg st="6" end="6"/>
                                            </p:txEl>
                                          </p:spTgt>
                                        </p:tgtEl>
                                        <p:attrNameLst>
                                          <p:attrName>style.visibility</p:attrName>
                                        </p:attrNameLst>
                                      </p:cBhvr>
                                      <p:to>
                                        <p:strVal val="visible"/>
                                      </p:to>
                                    </p:set>
                                    <p:anim calcmode="lin" valueType="num">
                                      <p:cBhvr additive="base">
                                        <p:cTn id="40" dur="500" fill="hold"/>
                                        <p:tgtEl>
                                          <p:spTgt spid="1368067">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3680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368067">
                                            <p:txEl>
                                              <p:pRg st="7" end="7"/>
                                            </p:txEl>
                                          </p:spTgt>
                                        </p:tgtEl>
                                        <p:attrNameLst>
                                          <p:attrName>style.visibility</p:attrName>
                                        </p:attrNameLst>
                                      </p:cBhvr>
                                      <p:to>
                                        <p:strVal val="visible"/>
                                      </p:to>
                                    </p:set>
                                    <p:anim calcmode="lin" valueType="num">
                                      <p:cBhvr additive="base">
                                        <p:cTn id="46" dur="500" fill="hold"/>
                                        <p:tgtEl>
                                          <p:spTgt spid="1368067">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3680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80">
                                          <p:stCondLst>
                                            <p:cond delay="0"/>
                                          </p:stCondLst>
                                        </p:cTn>
                                        <p:tgtEl>
                                          <p:spTgt spid="6"/>
                                        </p:tgtEl>
                                      </p:cBhvr>
                                    </p:animEffect>
                                    <p:anim calcmode="lin" valueType="num">
                                      <p:cBhvr>
                                        <p:cTn id="53"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8" dur="26">
                                          <p:stCondLst>
                                            <p:cond delay="650"/>
                                          </p:stCondLst>
                                        </p:cTn>
                                        <p:tgtEl>
                                          <p:spTgt spid="6"/>
                                        </p:tgtEl>
                                      </p:cBhvr>
                                      <p:to x="100000" y="60000"/>
                                    </p:animScale>
                                    <p:animScale>
                                      <p:cBhvr>
                                        <p:cTn id="59" dur="166" decel="50000">
                                          <p:stCondLst>
                                            <p:cond delay="676"/>
                                          </p:stCondLst>
                                        </p:cTn>
                                        <p:tgtEl>
                                          <p:spTgt spid="6"/>
                                        </p:tgtEl>
                                      </p:cBhvr>
                                      <p:to x="100000" y="100000"/>
                                    </p:animScale>
                                    <p:animScale>
                                      <p:cBhvr>
                                        <p:cTn id="60" dur="26">
                                          <p:stCondLst>
                                            <p:cond delay="1312"/>
                                          </p:stCondLst>
                                        </p:cTn>
                                        <p:tgtEl>
                                          <p:spTgt spid="6"/>
                                        </p:tgtEl>
                                      </p:cBhvr>
                                      <p:to x="100000" y="80000"/>
                                    </p:animScale>
                                    <p:animScale>
                                      <p:cBhvr>
                                        <p:cTn id="61" dur="166" decel="50000">
                                          <p:stCondLst>
                                            <p:cond delay="1338"/>
                                          </p:stCondLst>
                                        </p:cTn>
                                        <p:tgtEl>
                                          <p:spTgt spid="6"/>
                                        </p:tgtEl>
                                      </p:cBhvr>
                                      <p:to x="100000" y="100000"/>
                                    </p:animScale>
                                    <p:animScale>
                                      <p:cBhvr>
                                        <p:cTn id="62" dur="26">
                                          <p:stCondLst>
                                            <p:cond delay="1642"/>
                                          </p:stCondLst>
                                        </p:cTn>
                                        <p:tgtEl>
                                          <p:spTgt spid="6"/>
                                        </p:tgtEl>
                                      </p:cBhvr>
                                      <p:to x="100000" y="90000"/>
                                    </p:animScale>
                                    <p:animScale>
                                      <p:cBhvr>
                                        <p:cTn id="63" dur="166" decel="50000">
                                          <p:stCondLst>
                                            <p:cond delay="1668"/>
                                          </p:stCondLst>
                                        </p:cTn>
                                        <p:tgtEl>
                                          <p:spTgt spid="6"/>
                                        </p:tgtEl>
                                      </p:cBhvr>
                                      <p:to x="100000" y="100000"/>
                                    </p:animScale>
                                    <p:animScale>
                                      <p:cBhvr>
                                        <p:cTn id="64" dur="26">
                                          <p:stCondLst>
                                            <p:cond delay="1808"/>
                                          </p:stCondLst>
                                        </p:cTn>
                                        <p:tgtEl>
                                          <p:spTgt spid="6"/>
                                        </p:tgtEl>
                                      </p:cBhvr>
                                      <p:to x="100000" y="95000"/>
                                    </p:animScale>
                                    <p:animScale>
                                      <p:cBhvr>
                                        <p:cTn id="65"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067" grpId="0" build="p"/>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a:t>实例（续）</a:t>
            </a:r>
            <a:endParaRPr lang="zh-CN" altLang="en-US" dirty="0"/>
          </a:p>
        </p:txBody>
      </p:sp>
      <p:sp>
        <p:nvSpPr>
          <p:cNvPr id="1370115" name="Rectangle 3"/>
          <p:cNvSpPr>
            <a:spLocks noGrp="1" noChangeArrowheads="1"/>
          </p:cNvSpPr>
          <p:nvPr>
            <p:ph type="body" idx="1"/>
          </p:nvPr>
        </p:nvSpPr>
        <p:spPr>
          <a:xfrm>
            <a:off x="231775" y="1219994"/>
            <a:ext cx="11582400" cy="4495800"/>
          </a:xfrm>
        </p:spPr>
        <p:txBody>
          <a:bodyPr>
            <a:normAutofit lnSpcReduction="10000"/>
          </a:bodyPr>
          <a:lstStyle/>
          <a:p>
            <a:pPr marL="0" indent="0">
              <a:lnSpc>
                <a:spcPct val="150000"/>
              </a:lnSpc>
              <a:buNone/>
            </a:pPr>
            <a:r>
              <a:rPr lang="zh-CN" altLang="pt-BR" dirty="0"/>
              <a:t>（</a:t>
            </a:r>
            <a:r>
              <a:rPr lang="pt-BR" altLang="zh-CN" dirty="0"/>
              <a:t>3</a:t>
            </a:r>
            <a:r>
              <a:rPr lang="zh-CN" altLang="pt-BR" dirty="0"/>
              <a:t>）因为</a:t>
            </a:r>
            <a:endParaRPr lang="en-US" altLang="zh-CN" dirty="0"/>
          </a:p>
          <a:p>
            <a:pPr marL="0" indent="0" algn="ctr">
              <a:lnSpc>
                <a:spcPct val="150000"/>
              </a:lnSpc>
              <a:buNone/>
            </a:pPr>
            <a:r>
              <a:rPr lang="pt-BR" altLang="zh-CN" dirty="0"/>
              <a:t>      B×D</a:t>
            </a:r>
            <a:r>
              <a:rPr lang="zh-CN" altLang="pt-BR" dirty="0"/>
              <a:t>＝</a:t>
            </a:r>
            <a:r>
              <a:rPr lang="pt-BR" altLang="zh-CN" dirty="0"/>
              <a:t>{&lt;</a:t>
            </a:r>
            <a:r>
              <a:rPr lang="en-US" altLang="zh-CN" dirty="0"/>
              <a:t> Φ</a:t>
            </a:r>
            <a:r>
              <a:rPr lang="zh-CN" altLang="pt-BR" dirty="0"/>
              <a:t>，</a:t>
            </a:r>
            <a:r>
              <a:rPr lang="pt-BR" altLang="zh-CN" dirty="0"/>
              <a:t>0&gt;</a:t>
            </a:r>
            <a:r>
              <a:rPr lang="zh-CN" altLang="pt-BR" dirty="0"/>
              <a:t>，</a:t>
            </a:r>
            <a:r>
              <a:rPr lang="pt-BR" altLang="zh-CN" dirty="0"/>
              <a:t>&lt;</a:t>
            </a:r>
            <a:r>
              <a:rPr lang="en-US" altLang="zh-CN" dirty="0"/>
              <a:t>Φ</a:t>
            </a:r>
            <a:r>
              <a:rPr lang="zh-CN" altLang="pt-BR" dirty="0"/>
              <a:t>，</a:t>
            </a:r>
            <a:r>
              <a:rPr lang="pt-BR" altLang="zh-CN" dirty="0"/>
              <a:t>1&gt;</a:t>
            </a:r>
            <a:r>
              <a:rPr lang="zh-CN" altLang="pt-BR" dirty="0"/>
              <a:t>，</a:t>
            </a:r>
            <a:r>
              <a:rPr lang="pt-BR" altLang="zh-CN" dirty="0"/>
              <a:t>&lt;</a:t>
            </a:r>
            <a:r>
              <a:rPr lang="en-US" altLang="zh-CN" dirty="0"/>
              <a:t>Φ</a:t>
            </a:r>
            <a:r>
              <a:rPr lang="zh-CN" altLang="pt-BR" dirty="0"/>
              <a:t>，</a:t>
            </a:r>
            <a:r>
              <a:rPr lang="pt-BR" altLang="zh-CN" dirty="0"/>
              <a:t>4&gt;</a:t>
            </a:r>
            <a:r>
              <a:rPr lang="zh-CN" altLang="pt-BR" dirty="0"/>
              <a:t>，</a:t>
            </a:r>
            <a:r>
              <a:rPr lang="pt-BR" altLang="zh-CN" dirty="0"/>
              <a:t>&lt;{a}</a:t>
            </a:r>
            <a:r>
              <a:rPr lang="zh-CN" altLang="pt-BR" dirty="0"/>
              <a:t>，</a:t>
            </a:r>
            <a:r>
              <a:rPr lang="pt-BR" altLang="zh-CN" dirty="0"/>
              <a:t>0&gt;</a:t>
            </a:r>
            <a:r>
              <a:rPr lang="zh-CN" altLang="pt-BR" dirty="0"/>
              <a:t>，</a:t>
            </a:r>
            <a:r>
              <a:rPr lang="pt-BR" altLang="zh-CN" dirty="0"/>
              <a:t>&lt;{a}</a:t>
            </a:r>
            <a:r>
              <a:rPr lang="zh-CN" altLang="pt-BR" dirty="0"/>
              <a:t>，</a:t>
            </a:r>
            <a:r>
              <a:rPr lang="pt-BR" altLang="zh-CN" dirty="0"/>
              <a:t>1&gt;</a:t>
            </a:r>
            <a:r>
              <a:rPr lang="zh-CN" altLang="pt-BR" dirty="0"/>
              <a:t>，</a:t>
            </a:r>
            <a:r>
              <a:rPr lang="pt-BR" altLang="zh-CN" dirty="0"/>
              <a:t>&lt;{a}</a:t>
            </a:r>
            <a:r>
              <a:rPr lang="zh-CN" altLang="pt-BR" dirty="0"/>
              <a:t>，</a:t>
            </a:r>
            <a:r>
              <a:rPr lang="pt-BR" altLang="zh-CN" dirty="0"/>
              <a:t>4&gt;}</a:t>
            </a:r>
            <a:endParaRPr lang="en-US" altLang="zh-CN" dirty="0"/>
          </a:p>
          <a:p>
            <a:pPr marL="0" indent="0">
              <a:lnSpc>
                <a:spcPct val="150000"/>
              </a:lnSpc>
              <a:buNone/>
            </a:pPr>
            <a:r>
              <a:rPr lang="zh-CN" altLang="en-US" dirty="0"/>
              <a:t>所以</a:t>
            </a:r>
            <a:endParaRPr lang="en-US" altLang="zh-CN" dirty="0"/>
          </a:p>
          <a:p>
            <a:pPr marL="0" indent="0">
              <a:lnSpc>
                <a:spcPct val="150000"/>
              </a:lnSpc>
              <a:buNone/>
            </a:pPr>
            <a:r>
              <a:rPr lang="pt-BR" altLang="zh-CN" dirty="0"/>
              <a:t>       A×(B×D)</a:t>
            </a:r>
            <a:r>
              <a:rPr lang="zh-CN" altLang="pt-BR" dirty="0"/>
              <a:t>＝</a:t>
            </a:r>
            <a:r>
              <a:rPr lang="pt-BR" altLang="zh-CN" dirty="0"/>
              <a:t>{&lt;a</a:t>
            </a:r>
            <a:r>
              <a:rPr lang="zh-CN" altLang="pt-BR" dirty="0"/>
              <a:t>，</a:t>
            </a:r>
            <a:r>
              <a:rPr lang="pt-BR" altLang="zh-CN" dirty="0"/>
              <a:t>&lt;</a:t>
            </a:r>
            <a:r>
              <a:rPr lang="en-US" altLang="zh-CN" dirty="0"/>
              <a:t>Φ</a:t>
            </a:r>
            <a:r>
              <a:rPr lang="zh-CN" altLang="pt-BR" dirty="0"/>
              <a:t>，</a:t>
            </a:r>
            <a:r>
              <a:rPr lang="pt-BR" altLang="zh-CN" dirty="0"/>
              <a:t>0&gt;&gt;</a:t>
            </a:r>
            <a:r>
              <a:rPr lang="zh-CN" altLang="pt-BR" dirty="0"/>
              <a:t>，</a:t>
            </a:r>
            <a:r>
              <a:rPr lang="pt-BR" altLang="zh-CN" dirty="0"/>
              <a:t>&lt;a</a:t>
            </a:r>
            <a:r>
              <a:rPr lang="zh-CN" altLang="pt-BR" dirty="0"/>
              <a:t>，</a:t>
            </a:r>
            <a:r>
              <a:rPr lang="pt-BR" altLang="zh-CN" dirty="0"/>
              <a:t>&lt;</a:t>
            </a:r>
            <a:r>
              <a:rPr lang="en-US" altLang="zh-CN" dirty="0"/>
              <a:t>Φ</a:t>
            </a:r>
            <a:r>
              <a:rPr lang="zh-CN" altLang="pt-BR" dirty="0"/>
              <a:t>，</a:t>
            </a:r>
            <a:r>
              <a:rPr lang="pt-BR" altLang="zh-CN" dirty="0"/>
              <a:t>1&gt;&gt;</a:t>
            </a:r>
            <a:r>
              <a:rPr lang="zh-CN" altLang="pt-BR" dirty="0"/>
              <a:t>，</a:t>
            </a:r>
            <a:r>
              <a:rPr lang="pt-BR" altLang="zh-CN" dirty="0"/>
              <a:t>&lt;a</a:t>
            </a:r>
            <a:r>
              <a:rPr lang="zh-CN" altLang="pt-BR" dirty="0"/>
              <a:t>，</a:t>
            </a:r>
            <a:r>
              <a:rPr lang="pt-BR" altLang="zh-CN" dirty="0"/>
              <a:t>&lt;</a:t>
            </a:r>
            <a:r>
              <a:rPr lang="en-US" altLang="zh-CN" dirty="0"/>
              <a:t>Φ</a:t>
            </a:r>
            <a:r>
              <a:rPr lang="zh-CN" altLang="pt-BR" dirty="0"/>
              <a:t>，</a:t>
            </a:r>
            <a:r>
              <a:rPr lang="pt-BR" altLang="zh-CN" dirty="0"/>
              <a:t>4&gt;&gt;</a:t>
            </a:r>
            <a:r>
              <a:rPr lang="zh-CN" altLang="pt-BR" dirty="0"/>
              <a:t>，</a:t>
            </a:r>
            <a:endParaRPr lang="en-US" altLang="zh-CN" dirty="0"/>
          </a:p>
          <a:p>
            <a:pPr marL="0" indent="0">
              <a:lnSpc>
                <a:spcPct val="150000"/>
              </a:lnSpc>
              <a:buNone/>
            </a:pPr>
            <a:r>
              <a:rPr lang="en-US" altLang="zh-CN" dirty="0"/>
              <a:t>                   </a:t>
            </a:r>
            <a:r>
              <a:rPr lang="pt-BR" altLang="zh-CN" dirty="0"/>
              <a:t>&lt;a</a:t>
            </a:r>
            <a:r>
              <a:rPr lang="zh-CN" altLang="pt-BR" dirty="0"/>
              <a:t>，</a:t>
            </a:r>
            <a:r>
              <a:rPr lang="pt-BR" altLang="zh-CN" dirty="0"/>
              <a:t>&lt;{a}</a:t>
            </a:r>
            <a:r>
              <a:rPr lang="zh-CN" altLang="pt-BR" dirty="0"/>
              <a:t>，</a:t>
            </a:r>
            <a:r>
              <a:rPr lang="pt-BR" altLang="zh-CN" dirty="0"/>
              <a:t>0&gt;&gt;</a:t>
            </a:r>
            <a:r>
              <a:rPr lang="zh-CN" altLang="pt-BR" dirty="0"/>
              <a:t>，</a:t>
            </a:r>
            <a:r>
              <a:rPr lang="pt-BR" altLang="zh-CN" dirty="0"/>
              <a:t>&lt;a</a:t>
            </a:r>
            <a:r>
              <a:rPr lang="zh-CN" altLang="pt-BR" dirty="0"/>
              <a:t>，</a:t>
            </a:r>
            <a:r>
              <a:rPr lang="pt-BR" altLang="zh-CN" dirty="0"/>
              <a:t>&lt;{a}</a:t>
            </a:r>
            <a:r>
              <a:rPr lang="zh-CN" altLang="pt-BR" dirty="0"/>
              <a:t>，</a:t>
            </a:r>
            <a:r>
              <a:rPr lang="pt-BR" altLang="zh-CN" dirty="0"/>
              <a:t>1&gt;&gt;</a:t>
            </a:r>
            <a:r>
              <a:rPr lang="zh-CN" altLang="pt-BR" dirty="0"/>
              <a:t>，</a:t>
            </a:r>
            <a:r>
              <a:rPr lang="pt-BR" altLang="zh-CN" dirty="0"/>
              <a:t>&lt;a</a:t>
            </a:r>
            <a:r>
              <a:rPr lang="zh-CN" altLang="pt-BR" dirty="0"/>
              <a:t>，</a:t>
            </a:r>
            <a:r>
              <a:rPr lang="pt-BR" altLang="zh-CN" dirty="0"/>
              <a:t>&lt;{a}</a:t>
            </a:r>
            <a:r>
              <a:rPr lang="zh-CN" altLang="pt-BR" dirty="0"/>
              <a:t>，</a:t>
            </a:r>
            <a:r>
              <a:rPr lang="pt-BR" altLang="zh-CN" dirty="0"/>
              <a:t>4&gt;&gt;}</a:t>
            </a:r>
            <a:endParaRPr lang="zh-CN" altLang="pt-BR" dirty="0"/>
          </a:p>
          <a:p>
            <a:pPr marL="0" indent="0">
              <a:lnSpc>
                <a:spcPct val="150000"/>
              </a:lnSpc>
              <a:buNone/>
            </a:pPr>
            <a:r>
              <a:rPr lang="zh-CN" altLang="en-US" dirty="0"/>
              <a:t>同理</a:t>
            </a:r>
            <a:endParaRPr lang="en-US" altLang="zh-CN" dirty="0"/>
          </a:p>
          <a:p>
            <a:pPr marL="0" indent="0">
              <a:lnSpc>
                <a:spcPct val="150000"/>
              </a:lnSpc>
              <a:buNone/>
            </a:pPr>
            <a:r>
              <a:rPr lang="en-US" altLang="zh-CN" dirty="0"/>
              <a:t>        (</a:t>
            </a:r>
            <a:r>
              <a:rPr lang="pt-BR" altLang="zh-CN" dirty="0"/>
              <a:t>A×B)×D</a:t>
            </a:r>
            <a:r>
              <a:rPr lang="zh-CN" altLang="pt-BR" dirty="0"/>
              <a:t>＝</a:t>
            </a:r>
            <a:r>
              <a:rPr lang="pt-BR" altLang="zh-CN" dirty="0"/>
              <a:t>{&lt;&lt;a</a:t>
            </a:r>
            <a:r>
              <a:rPr lang="zh-CN" altLang="pt-BR" dirty="0"/>
              <a:t>，</a:t>
            </a:r>
            <a:r>
              <a:rPr lang="en-US" altLang="zh-CN" dirty="0"/>
              <a:t>Φ</a:t>
            </a:r>
            <a:r>
              <a:rPr lang="pt-BR" altLang="zh-CN" dirty="0"/>
              <a:t>&gt;</a:t>
            </a:r>
            <a:r>
              <a:rPr lang="zh-CN" altLang="pt-BR" dirty="0"/>
              <a:t>，</a:t>
            </a:r>
            <a:r>
              <a:rPr lang="pt-BR" altLang="zh-CN" dirty="0"/>
              <a:t>0&gt;</a:t>
            </a:r>
            <a:r>
              <a:rPr lang="zh-CN" altLang="pt-BR" dirty="0"/>
              <a:t>，</a:t>
            </a:r>
            <a:r>
              <a:rPr lang="pt-BR" altLang="zh-CN" dirty="0"/>
              <a:t>&lt;&lt;a</a:t>
            </a:r>
            <a:r>
              <a:rPr lang="zh-CN" altLang="pt-BR" dirty="0"/>
              <a:t>，</a:t>
            </a:r>
            <a:r>
              <a:rPr lang="en-US" altLang="zh-CN" dirty="0"/>
              <a:t>Φ</a:t>
            </a:r>
            <a:r>
              <a:rPr lang="pt-BR" altLang="zh-CN" dirty="0"/>
              <a:t>&gt;</a:t>
            </a:r>
            <a:r>
              <a:rPr lang="zh-CN" altLang="pt-BR" dirty="0"/>
              <a:t>，</a:t>
            </a:r>
            <a:r>
              <a:rPr lang="pt-BR" altLang="zh-CN" dirty="0"/>
              <a:t>1&gt;</a:t>
            </a:r>
            <a:r>
              <a:rPr lang="zh-CN" altLang="pt-BR" dirty="0"/>
              <a:t>，</a:t>
            </a:r>
            <a:r>
              <a:rPr lang="pt-BR" altLang="zh-CN" dirty="0"/>
              <a:t>&lt;&lt;a</a:t>
            </a:r>
            <a:r>
              <a:rPr lang="zh-CN" altLang="pt-BR" dirty="0"/>
              <a:t>，</a:t>
            </a:r>
            <a:r>
              <a:rPr lang="en-US" altLang="zh-CN" dirty="0"/>
              <a:t>Φ</a:t>
            </a:r>
            <a:r>
              <a:rPr lang="pt-BR" altLang="zh-CN" dirty="0"/>
              <a:t>&gt;</a:t>
            </a:r>
            <a:r>
              <a:rPr lang="zh-CN" altLang="pt-BR" dirty="0"/>
              <a:t>，</a:t>
            </a:r>
            <a:r>
              <a:rPr lang="pt-BR" altLang="zh-CN" dirty="0"/>
              <a:t>4&gt;</a:t>
            </a:r>
            <a:r>
              <a:rPr lang="zh-CN" altLang="pt-BR" dirty="0"/>
              <a:t>，</a:t>
            </a:r>
            <a:endParaRPr lang="en-US" altLang="zh-CN" dirty="0"/>
          </a:p>
          <a:p>
            <a:pPr marL="0" indent="0">
              <a:lnSpc>
                <a:spcPct val="150000"/>
              </a:lnSpc>
              <a:buNone/>
            </a:pPr>
            <a:r>
              <a:rPr lang="en-US" altLang="zh-CN" dirty="0"/>
              <a:t>                   </a:t>
            </a:r>
            <a:r>
              <a:rPr lang="pt-BR" altLang="zh-CN" dirty="0"/>
              <a:t>&lt;&lt;a</a:t>
            </a:r>
            <a:r>
              <a:rPr lang="zh-CN" altLang="pt-BR" dirty="0"/>
              <a:t>，</a:t>
            </a:r>
            <a:r>
              <a:rPr lang="pt-BR" altLang="zh-CN" dirty="0"/>
              <a:t>{a}&gt;</a:t>
            </a:r>
            <a:r>
              <a:rPr lang="zh-CN" altLang="pt-BR" dirty="0"/>
              <a:t>，</a:t>
            </a:r>
            <a:r>
              <a:rPr lang="pt-BR" altLang="zh-CN" dirty="0"/>
              <a:t>0&gt;</a:t>
            </a:r>
            <a:r>
              <a:rPr lang="zh-CN" altLang="pt-BR" dirty="0"/>
              <a:t>，</a:t>
            </a:r>
            <a:r>
              <a:rPr lang="pt-BR" altLang="zh-CN" dirty="0"/>
              <a:t>&lt;&lt;a</a:t>
            </a:r>
            <a:r>
              <a:rPr lang="zh-CN" altLang="pt-BR" dirty="0"/>
              <a:t>，</a:t>
            </a:r>
            <a:r>
              <a:rPr lang="pt-BR" altLang="zh-CN" dirty="0"/>
              <a:t>{a}&gt;</a:t>
            </a:r>
            <a:r>
              <a:rPr lang="zh-CN" altLang="pt-BR" dirty="0"/>
              <a:t>，</a:t>
            </a:r>
            <a:r>
              <a:rPr lang="pt-BR" altLang="zh-CN" dirty="0"/>
              <a:t>1&gt;</a:t>
            </a:r>
            <a:r>
              <a:rPr lang="zh-CN" altLang="pt-BR" dirty="0"/>
              <a:t>，</a:t>
            </a:r>
            <a:r>
              <a:rPr lang="pt-BR" altLang="zh-CN" dirty="0"/>
              <a:t>&lt;&lt;a</a:t>
            </a:r>
            <a:r>
              <a:rPr lang="zh-CN" altLang="pt-BR" dirty="0"/>
              <a:t>，</a:t>
            </a:r>
            <a:r>
              <a:rPr lang="pt-BR" altLang="zh-CN" dirty="0"/>
              <a:t>{a}&gt;</a:t>
            </a:r>
            <a:r>
              <a:rPr lang="zh-CN" altLang="pt-BR" dirty="0"/>
              <a:t>，</a:t>
            </a:r>
            <a:r>
              <a:rPr lang="pt-BR" altLang="zh-CN" dirty="0"/>
              <a:t>4&gt;}</a:t>
            </a:r>
            <a:endParaRPr lang="zh-CN" altLang="pt-BR" dirty="0"/>
          </a:p>
        </p:txBody>
      </p:sp>
      <p:sp>
        <p:nvSpPr>
          <p:cNvPr id="4" name="思想气泡: 云 3"/>
          <p:cNvSpPr/>
          <p:nvPr/>
        </p:nvSpPr>
        <p:spPr>
          <a:xfrm>
            <a:off x="8080375" y="2248694"/>
            <a:ext cx="3276600" cy="1219200"/>
          </a:xfrm>
          <a:prstGeom prst="cloudCallout">
            <a:avLst>
              <a:gd name="adj1" fmla="val -53238"/>
              <a:gd name="adj2" fmla="val 1388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结合律不成立</a:t>
            </a:r>
            <a:endParaRPr lang="zh-CN" altLang="en-US"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0115">
                                            <p:txEl>
                                              <p:pRg st="0" end="0"/>
                                            </p:txEl>
                                          </p:spTgt>
                                        </p:tgtEl>
                                        <p:attrNameLst>
                                          <p:attrName>style.visibility</p:attrName>
                                        </p:attrNameLst>
                                      </p:cBhvr>
                                      <p:to>
                                        <p:strVal val="visible"/>
                                      </p:to>
                                    </p:set>
                                    <p:anim calcmode="lin" valueType="num">
                                      <p:cBhvr additive="base">
                                        <p:cTn id="7" dur="500" fill="hold"/>
                                        <p:tgtEl>
                                          <p:spTgt spid="1370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0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0115">
                                            <p:txEl>
                                              <p:pRg st="1" end="1"/>
                                            </p:txEl>
                                          </p:spTgt>
                                        </p:tgtEl>
                                        <p:attrNameLst>
                                          <p:attrName>style.visibility</p:attrName>
                                        </p:attrNameLst>
                                      </p:cBhvr>
                                      <p:to>
                                        <p:strVal val="visible"/>
                                      </p:to>
                                    </p:set>
                                    <p:anim calcmode="lin" valueType="num">
                                      <p:cBhvr additive="base">
                                        <p:cTn id="13" dur="500" fill="hold"/>
                                        <p:tgtEl>
                                          <p:spTgt spid="1370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0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0115">
                                            <p:txEl>
                                              <p:pRg st="2" end="2"/>
                                            </p:txEl>
                                          </p:spTgt>
                                        </p:tgtEl>
                                        <p:attrNameLst>
                                          <p:attrName>style.visibility</p:attrName>
                                        </p:attrNameLst>
                                      </p:cBhvr>
                                      <p:to>
                                        <p:strVal val="visible"/>
                                      </p:to>
                                    </p:set>
                                    <p:anim calcmode="lin" valueType="num">
                                      <p:cBhvr additive="base">
                                        <p:cTn id="19" dur="500" fill="hold"/>
                                        <p:tgtEl>
                                          <p:spTgt spid="1370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01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0115">
                                            <p:txEl>
                                              <p:pRg st="3" end="3"/>
                                            </p:txEl>
                                          </p:spTgt>
                                        </p:tgtEl>
                                        <p:attrNameLst>
                                          <p:attrName>style.visibility</p:attrName>
                                        </p:attrNameLst>
                                      </p:cBhvr>
                                      <p:to>
                                        <p:strVal val="visible"/>
                                      </p:to>
                                    </p:set>
                                    <p:anim calcmode="lin" valueType="num">
                                      <p:cBhvr additive="base">
                                        <p:cTn id="25" dur="500" fill="hold"/>
                                        <p:tgtEl>
                                          <p:spTgt spid="13701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011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70115">
                                            <p:txEl>
                                              <p:pRg st="4" end="4"/>
                                            </p:txEl>
                                          </p:spTgt>
                                        </p:tgtEl>
                                        <p:attrNameLst>
                                          <p:attrName>style.visibility</p:attrName>
                                        </p:attrNameLst>
                                      </p:cBhvr>
                                      <p:to>
                                        <p:strVal val="visible"/>
                                      </p:to>
                                    </p:set>
                                    <p:anim calcmode="lin" valueType="num">
                                      <p:cBhvr additive="base">
                                        <p:cTn id="29" dur="500" fill="hold"/>
                                        <p:tgtEl>
                                          <p:spTgt spid="137011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701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70115">
                                            <p:txEl>
                                              <p:pRg st="5" end="5"/>
                                            </p:txEl>
                                          </p:spTgt>
                                        </p:tgtEl>
                                        <p:attrNameLst>
                                          <p:attrName>style.visibility</p:attrName>
                                        </p:attrNameLst>
                                      </p:cBhvr>
                                      <p:to>
                                        <p:strVal val="visible"/>
                                      </p:to>
                                    </p:set>
                                    <p:anim calcmode="lin" valueType="num">
                                      <p:cBhvr additive="base">
                                        <p:cTn id="35" dur="500" fill="hold"/>
                                        <p:tgtEl>
                                          <p:spTgt spid="137011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701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70115">
                                            <p:txEl>
                                              <p:pRg st="6" end="6"/>
                                            </p:txEl>
                                          </p:spTgt>
                                        </p:tgtEl>
                                        <p:attrNameLst>
                                          <p:attrName>style.visibility</p:attrName>
                                        </p:attrNameLst>
                                      </p:cBhvr>
                                      <p:to>
                                        <p:strVal val="visible"/>
                                      </p:to>
                                    </p:set>
                                    <p:anim calcmode="lin" valueType="num">
                                      <p:cBhvr additive="base">
                                        <p:cTn id="41" dur="500" fill="hold"/>
                                        <p:tgtEl>
                                          <p:spTgt spid="137011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70115">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70115">
                                            <p:txEl>
                                              <p:pRg st="7" end="7"/>
                                            </p:txEl>
                                          </p:spTgt>
                                        </p:tgtEl>
                                        <p:attrNameLst>
                                          <p:attrName>style.visibility</p:attrName>
                                        </p:attrNameLst>
                                      </p:cBhvr>
                                      <p:to>
                                        <p:strVal val="visible"/>
                                      </p:to>
                                    </p:set>
                                    <p:anim calcmode="lin" valueType="num">
                                      <p:cBhvr additive="base">
                                        <p:cTn id="45" dur="500" fill="hold"/>
                                        <p:tgtEl>
                                          <p:spTgt spid="137011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701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down)">
                                      <p:cBhvr>
                                        <p:cTn id="51" dur="580">
                                          <p:stCondLst>
                                            <p:cond delay="0"/>
                                          </p:stCondLst>
                                        </p:cTn>
                                        <p:tgtEl>
                                          <p:spTgt spid="4"/>
                                        </p:tgtEl>
                                      </p:cBhvr>
                                    </p:animEffect>
                                    <p:anim calcmode="lin" valueType="num">
                                      <p:cBhvr>
                                        <p:cTn id="5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57" dur="26">
                                          <p:stCondLst>
                                            <p:cond delay="650"/>
                                          </p:stCondLst>
                                        </p:cTn>
                                        <p:tgtEl>
                                          <p:spTgt spid="4"/>
                                        </p:tgtEl>
                                      </p:cBhvr>
                                      <p:to x="100000" y="60000"/>
                                    </p:animScale>
                                    <p:animScale>
                                      <p:cBhvr>
                                        <p:cTn id="58" dur="166" decel="50000">
                                          <p:stCondLst>
                                            <p:cond delay="676"/>
                                          </p:stCondLst>
                                        </p:cTn>
                                        <p:tgtEl>
                                          <p:spTgt spid="4"/>
                                        </p:tgtEl>
                                      </p:cBhvr>
                                      <p:to x="100000" y="100000"/>
                                    </p:animScale>
                                    <p:animScale>
                                      <p:cBhvr>
                                        <p:cTn id="59" dur="26">
                                          <p:stCondLst>
                                            <p:cond delay="1312"/>
                                          </p:stCondLst>
                                        </p:cTn>
                                        <p:tgtEl>
                                          <p:spTgt spid="4"/>
                                        </p:tgtEl>
                                      </p:cBhvr>
                                      <p:to x="100000" y="80000"/>
                                    </p:animScale>
                                    <p:animScale>
                                      <p:cBhvr>
                                        <p:cTn id="60" dur="166" decel="50000">
                                          <p:stCondLst>
                                            <p:cond delay="1338"/>
                                          </p:stCondLst>
                                        </p:cTn>
                                        <p:tgtEl>
                                          <p:spTgt spid="4"/>
                                        </p:tgtEl>
                                      </p:cBhvr>
                                      <p:to x="100000" y="100000"/>
                                    </p:animScale>
                                    <p:animScale>
                                      <p:cBhvr>
                                        <p:cTn id="61" dur="26">
                                          <p:stCondLst>
                                            <p:cond delay="1642"/>
                                          </p:stCondLst>
                                        </p:cTn>
                                        <p:tgtEl>
                                          <p:spTgt spid="4"/>
                                        </p:tgtEl>
                                      </p:cBhvr>
                                      <p:to x="100000" y="90000"/>
                                    </p:animScale>
                                    <p:animScale>
                                      <p:cBhvr>
                                        <p:cTn id="62" dur="166" decel="50000">
                                          <p:stCondLst>
                                            <p:cond delay="1668"/>
                                          </p:stCondLst>
                                        </p:cTn>
                                        <p:tgtEl>
                                          <p:spTgt spid="4"/>
                                        </p:tgtEl>
                                      </p:cBhvr>
                                      <p:to x="100000" y="100000"/>
                                    </p:animScale>
                                    <p:animScale>
                                      <p:cBhvr>
                                        <p:cTn id="63" dur="26">
                                          <p:stCondLst>
                                            <p:cond delay="1808"/>
                                          </p:stCondLst>
                                        </p:cTn>
                                        <p:tgtEl>
                                          <p:spTgt spid="4"/>
                                        </p:tgtEl>
                                      </p:cBhvr>
                                      <p:to x="100000" y="95000"/>
                                    </p:animScale>
                                    <p:animScale>
                                      <p:cBhvr>
                                        <p:cTn id="6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0115" grpId="0" uiExpand="1" build="p"/>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10" name="Rectangle 2"/>
          <p:cNvSpPr>
            <a:spLocks noChangeArrowheads="1"/>
          </p:cNvSpPr>
          <p:nvPr/>
        </p:nvSpPr>
        <p:spPr bwMode="auto">
          <a:xfrm>
            <a:off x="1822394" y="6088695"/>
            <a:ext cx="58052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rgbClr val="FF0000"/>
                </a:solidFill>
                <a:latin typeface="+mn-ea"/>
                <a:ea typeface="+mn-ea"/>
              </a:rPr>
              <a:t>集合相等</a:t>
            </a:r>
            <a:r>
              <a:rPr lang="zh-CN" altLang="en-US" sz="2400" dirty="0">
                <a:solidFill>
                  <a:srgbClr val="0000CC"/>
                </a:solidFill>
                <a:latin typeface="+mn-ea"/>
                <a:ea typeface="+mn-ea"/>
                <a:sym typeface="Symbol" panose="05050102010706020507" pitchFamily="18" charset="2"/>
              </a:rPr>
              <a:t></a:t>
            </a:r>
            <a:r>
              <a:rPr lang="zh-CN" altLang="en-US" sz="2400" dirty="0">
                <a:solidFill>
                  <a:srgbClr val="FF0000"/>
                </a:solidFill>
                <a:latin typeface="+mn-ea"/>
                <a:ea typeface="+mn-ea"/>
              </a:rPr>
              <a:t>两个集合互相包含</a:t>
            </a:r>
            <a:endParaRPr lang="zh-CN" altLang="en-US" sz="2400" dirty="0">
              <a:solidFill>
                <a:srgbClr val="FF0000"/>
              </a:solidFill>
              <a:latin typeface="+mn-ea"/>
              <a:ea typeface="+mn-ea"/>
            </a:endParaRPr>
          </a:p>
        </p:txBody>
      </p:sp>
      <p:sp>
        <p:nvSpPr>
          <p:cNvPr id="1374211" name="Rectangle 3"/>
          <p:cNvSpPr>
            <a:spLocks noChangeArrowheads="1"/>
          </p:cNvSpPr>
          <p:nvPr/>
        </p:nvSpPr>
        <p:spPr bwMode="auto">
          <a:xfrm>
            <a:off x="1822394" y="5542469"/>
            <a:ext cx="59672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rgbClr val="0000CC"/>
                </a:solidFill>
                <a:latin typeface="+mn-ea"/>
                <a:ea typeface="+mn-ea"/>
              </a:rPr>
              <a:t>等式成立</a:t>
            </a:r>
            <a:r>
              <a:rPr lang="zh-CN" altLang="en-US" sz="2400" dirty="0">
                <a:solidFill>
                  <a:srgbClr val="FF0000"/>
                </a:solidFill>
                <a:latin typeface="+mn-ea"/>
                <a:ea typeface="+mn-ea"/>
                <a:sym typeface="Symbol" panose="05050102010706020507" pitchFamily="18" charset="2"/>
              </a:rPr>
              <a:t></a:t>
            </a:r>
            <a:r>
              <a:rPr lang="zh-CN" altLang="en-US" sz="2400" dirty="0">
                <a:solidFill>
                  <a:srgbClr val="0000CC"/>
                </a:solidFill>
                <a:latin typeface="+mn-ea"/>
                <a:ea typeface="+mn-ea"/>
              </a:rPr>
              <a:t>两个集合相等</a:t>
            </a:r>
            <a:endParaRPr lang="zh-CN" altLang="en-US" sz="2400" dirty="0">
              <a:solidFill>
                <a:srgbClr val="0000CC"/>
              </a:solidFill>
              <a:latin typeface="+mn-ea"/>
              <a:ea typeface="+mn-ea"/>
            </a:endParaRPr>
          </a:p>
        </p:txBody>
      </p:sp>
      <p:sp>
        <p:nvSpPr>
          <p:cNvPr id="33797" name="Rectangle 4"/>
          <p:cNvSpPr>
            <a:spLocks noGrp="1" noChangeArrowheads="1"/>
          </p:cNvSpPr>
          <p:nvPr>
            <p:ph type="title"/>
          </p:nvPr>
        </p:nvSpPr>
        <p:spPr/>
        <p:txBody>
          <a:bodyPr/>
          <a:lstStyle/>
          <a:p>
            <a:pPr eaLnBrk="1" hangingPunct="1"/>
            <a:r>
              <a:rPr lang="zh-CN" altLang="en-US" dirty="0">
                <a:latin typeface="Arial" panose="020B0604020202020204" pitchFamily="34" charset="0"/>
              </a:rPr>
              <a:t>定理</a:t>
            </a:r>
            <a:r>
              <a:rPr lang="en-US" altLang="zh-CN" dirty="0">
                <a:latin typeface="Arial" panose="020B0604020202020204" pitchFamily="34" charset="0"/>
              </a:rPr>
              <a:t>4.1</a:t>
            </a:r>
            <a:endParaRPr lang="zh-CN" altLang="en-US" dirty="0">
              <a:latin typeface="Arial" panose="020B0604020202020204" pitchFamily="34" charset="0"/>
            </a:endParaRPr>
          </a:p>
        </p:txBody>
      </p:sp>
      <p:sp>
        <p:nvSpPr>
          <p:cNvPr id="33798" name="Rectangle 5"/>
          <p:cNvSpPr>
            <a:spLocks noGrp="1" noChangeArrowheads="1"/>
          </p:cNvSpPr>
          <p:nvPr>
            <p:ph type="body" idx="1"/>
          </p:nvPr>
        </p:nvSpPr>
        <p:spPr>
          <a:xfrm>
            <a:off x="770948" y="1081337"/>
            <a:ext cx="10281227" cy="2999481"/>
          </a:xfrm>
        </p:spPr>
        <p:txBody>
          <a:bodyPr/>
          <a:lstStyle/>
          <a:p>
            <a:pPr marL="0" indent="0">
              <a:lnSpc>
                <a:spcPct val="150000"/>
              </a:lnSpc>
              <a:buNone/>
            </a:pPr>
            <a:r>
              <a:rPr lang="zh-CN" altLang="en-US" dirty="0">
                <a:solidFill>
                  <a:srgbClr val="C00000"/>
                </a:solidFill>
              </a:rPr>
              <a:t>定理</a:t>
            </a:r>
            <a:r>
              <a:rPr lang="en-US" altLang="zh-CN" dirty="0">
                <a:solidFill>
                  <a:srgbClr val="C00000"/>
                </a:solidFill>
              </a:rPr>
              <a:t>4.1  </a:t>
            </a:r>
            <a:r>
              <a:rPr lang="zh-CN" altLang="en-US" dirty="0">
                <a:solidFill>
                  <a:schemeClr val="tx1"/>
                </a:solidFill>
              </a:rPr>
              <a:t>设</a:t>
            </a:r>
            <a:r>
              <a:rPr lang="en-US" altLang="zh-CN" dirty="0">
                <a:solidFill>
                  <a:schemeClr val="tx1"/>
                </a:solidFill>
              </a:rPr>
              <a:t>A,B,C</a:t>
            </a:r>
            <a:r>
              <a:rPr lang="zh-CN" altLang="en-US" dirty="0">
                <a:solidFill>
                  <a:schemeClr val="tx1"/>
                </a:solidFill>
              </a:rPr>
              <a:t>是任意三个集合，则</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a:t>
            </a:r>
            <a:r>
              <a:rPr lang="en-US" altLang="zh-CN" dirty="0">
                <a:solidFill>
                  <a:schemeClr val="tx1"/>
                </a:solidFill>
              </a:rPr>
              <a:t>A×(B∪C)=(A×B)∪(A×C)</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a:solidFill>
                  <a:schemeClr val="tx1"/>
                </a:solidFill>
              </a:rPr>
              <a:t>(B∪C)×A=(B×A)∪(C×A)</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3</a:t>
            </a:r>
            <a:r>
              <a:rPr lang="zh-CN" altLang="en-US" dirty="0">
                <a:solidFill>
                  <a:schemeClr val="tx1"/>
                </a:solidFill>
              </a:rPr>
              <a:t>）</a:t>
            </a:r>
            <a:r>
              <a:rPr lang="en-US" altLang="zh-CN" dirty="0">
                <a:solidFill>
                  <a:schemeClr val="tx1"/>
                </a:solidFill>
              </a:rPr>
              <a:t>A×(B∩C)=(A×B)∩(A×C)</a:t>
            </a:r>
            <a:endParaRPr lang="zh-CN" altLang="en-US" dirty="0">
              <a:solidFill>
                <a:schemeClr val="tx1"/>
              </a:solidFill>
            </a:endParaRPr>
          </a:p>
          <a:p>
            <a:pPr marL="0" indent="0">
              <a:lnSpc>
                <a:spcPct val="150000"/>
              </a:lnSpc>
              <a:buNone/>
            </a:pPr>
            <a:r>
              <a:rPr lang="zh-CN" altLang="en-US" dirty="0">
                <a:solidFill>
                  <a:schemeClr val="tx1"/>
                </a:solidFill>
              </a:rPr>
              <a:t>（</a:t>
            </a:r>
            <a:r>
              <a:rPr lang="en-US" altLang="zh-CN" dirty="0">
                <a:solidFill>
                  <a:schemeClr val="tx1"/>
                </a:solidFill>
              </a:rPr>
              <a:t>4</a:t>
            </a:r>
            <a:r>
              <a:rPr lang="zh-CN" altLang="en-US" dirty="0">
                <a:solidFill>
                  <a:schemeClr val="tx1"/>
                </a:solidFill>
              </a:rPr>
              <a:t>）</a:t>
            </a:r>
            <a:r>
              <a:rPr lang="en-US" altLang="zh-CN" dirty="0">
                <a:solidFill>
                  <a:schemeClr val="tx1"/>
                </a:solidFill>
              </a:rPr>
              <a:t>(B∩C)×A=(B×A)∩(C×A)</a:t>
            </a:r>
            <a:endParaRPr lang="zh-CN" altLang="en-US" dirty="0">
              <a:solidFill>
                <a:schemeClr val="tx1"/>
              </a:solidFill>
            </a:endParaRPr>
          </a:p>
        </p:txBody>
      </p:sp>
      <p:sp>
        <p:nvSpPr>
          <p:cNvPr id="1374214" name="Rectangle 6"/>
          <p:cNvSpPr>
            <a:spLocks noChangeArrowheads="1"/>
          </p:cNvSpPr>
          <p:nvPr/>
        </p:nvSpPr>
        <p:spPr bwMode="auto">
          <a:xfrm>
            <a:off x="1018969" y="4136776"/>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a:solidFill>
                  <a:srgbClr val="FF0000"/>
                </a:solidFill>
                <a:latin typeface="+mn-ea"/>
                <a:ea typeface="+mn-ea"/>
              </a:rPr>
              <a:t>分析</a:t>
            </a:r>
            <a:endParaRPr lang="zh-CN" altLang="en-US" sz="2400">
              <a:solidFill>
                <a:srgbClr val="FF0000"/>
              </a:solidFill>
              <a:latin typeface="+mn-ea"/>
              <a:ea typeface="+mn-ea"/>
            </a:endParaRPr>
          </a:p>
        </p:txBody>
      </p:sp>
      <p:sp>
        <p:nvSpPr>
          <p:cNvPr id="1374215" name="Rectangle 7"/>
          <p:cNvSpPr>
            <a:spLocks noChangeArrowheads="1"/>
          </p:cNvSpPr>
          <p:nvPr/>
        </p:nvSpPr>
        <p:spPr bwMode="auto">
          <a:xfrm>
            <a:off x="1908175" y="4149479"/>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latin typeface="+mn-ea"/>
                <a:ea typeface="+mn-ea"/>
              </a:rPr>
              <a:t>待证等式两端都是集合</a:t>
            </a:r>
            <a:endParaRPr lang="zh-CN" altLang="en-US" sz="2400" dirty="0">
              <a:latin typeface="+mn-ea"/>
              <a:ea typeface="+mn-ea"/>
            </a:endParaRPr>
          </a:p>
        </p:txBody>
      </p:sp>
      <p:sp>
        <p:nvSpPr>
          <p:cNvPr id="2" name="矩形 1"/>
          <p:cNvSpPr/>
          <p:nvPr/>
        </p:nvSpPr>
        <p:spPr>
          <a:xfrm>
            <a:off x="1814936" y="4852846"/>
            <a:ext cx="8494633" cy="461665"/>
          </a:xfrm>
          <a:prstGeom prst="rect">
            <a:avLst/>
          </a:prstGeom>
        </p:spPr>
        <p:txBody>
          <a:bodyPr wrap="none">
            <a:spAutoFit/>
          </a:bodyPr>
          <a:lstStyle/>
          <a:p>
            <a:r>
              <a:rPr lang="zh-CN" altLang="en-US" b="1" dirty="0">
                <a:latin typeface="+mn-ea"/>
              </a:rPr>
              <a:t>于是利用</a:t>
            </a:r>
            <a:r>
              <a:rPr lang="zh-CN" altLang="en-US" b="1" dirty="0">
                <a:solidFill>
                  <a:srgbClr val="FF0000"/>
                </a:solidFill>
                <a:latin typeface="+mn-ea"/>
              </a:rPr>
              <a:t>集合与集合关系的判定与证明方法</a:t>
            </a:r>
            <a:r>
              <a:rPr lang="zh-CN" altLang="en-US" b="1" dirty="0">
                <a:latin typeface="+mn-ea"/>
              </a:rPr>
              <a:t>，直接证明即可。</a:t>
            </a:r>
            <a:endParaRPr lang="zh-CN" altLang="en-US" b="1" dirty="0"/>
          </a:p>
        </p:txBody>
      </p:sp>
      <p:grpSp>
        <p:nvGrpSpPr>
          <p:cNvPr id="5" name="组合 4"/>
          <p:cNvGrpSpPr/>
          <p:nvPr/>
        </p:nvGrpSpPr>
        <p:grpSpPr>
          <a:xfrm>
            <a:off x="6535110" y="5568916"/>
            <a:ext cx="5410200" cy="1178844"/>
            <a:chOff x="6251575" y="4642255"/>
            <a:chExt cx="5410200" cy="1178844"/>
          </a:xfrm>
        </p:grpSpPr>
        <p:sp>
          <p:nvSpPr>
            <p:cNvPr id="4" name="波形 3"/>
            <p:cNvSpPr/>
            <p:nvPr/>
          </p:nvSpPr>
          <p:spPr>
            <a:xfrm>
              <a:off x="6251575" y="4642255"/>
              <a:ext cx="5410200" cy="1178844"/>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矩形 2"/>
                <p:cNvSpPr/>
                <p:nvPr/>
              </p:nvSpPr>
              <p:spPr>
                <a:xfrm>
                  <a:off x="6327775" y="4941822"/>
                  <a:ext cx="5257800" cy="579710"/>
                </a:xfrm>
                <a:prstGeom prst="rect">
                  <a:avLst/>
                </a:prstGeom>
                <a:solidFill>
                  <a:srgbClr val="74B836"/>
                </a:solidFill>
              </p:spPr>
              <p:txBody>
                <a:bodyPr wrap="square">
                  <a:spAutoFit/>
                </a:bodyPr>
                <a:lstStyle/>
                <a:p>
                  <a:pPr>
                    <a:lnSpc>
                      <a:spcPct val="150000"/>
                    </a:lnSpc>
                  </a:pPr>
                  <a:r>
                    <a:rPr lang="en-US" altLang="zh-CN" b="1" dirty="0">
                      <a:latin typeface="+mn-ea"/>
                    </a:rPr>
                    <a:t>B</a:t>
                  </a:r>
                  <a:r>
                    <a:rPr kumimoji="1" lang="zh-CN" altLang="en-US" b="1" dirty="0">
                      <a:latin typeface="+mn-ea"/>
                      <a:sym typeface="Symbol" panose="05050102010706020507" pitchFamily="18" charset="2"/>
                    </a:rPr>
                    <a:t> </a:t>
                  </a:r>
                  <a:r>
                    <a:rPr kumimoji="1" lang="en-US" altLang="zh-CN" b="1" dirty="0">
                      <a:latin typeface="+mn-ea"/>
                      <a:sym typeface="Symbol" panose="05050102010706020507" pitchFamily="18" charset="2"/>
                    </a:rPr>
                    <a:t>A</a:t>
                  </a:r>
                  <a:r>
                    <a:rPr lang="zh-CN" altLang="en-US" b="1" dirty="0">
                      <a:latin typeface="+mn-ea"/>
                    </a:rPr>
                    <a:t> </a:t>
                  </a:r>
                  <a:r>
                    <a:rPr lang="zh-CN" altLang="en-US" b="1" dirty="0">
                      <a:latin typeface="+mn-ea"/>
                      <a:sym typeface="Symbol" panose="05050102010706020507" pitchFamily="18" charset="2"/>
                    </a:rPr>
                    <a:t></a:t>
                  </a:r>
                  <a:r>
                    <a:rPr lang="zh-CN" altLang="en-US" b="1" dirty="0">
                      <a:latin typeface="+mn-ea"/>
                    </a:rPr>
                    <a:t>对</a:t>
                  </a:r>
                  <a14:m>
                    <m:oMath xmlns:m="http://schemas.openxmlformats.org/officeDocument/2006/math">
                      <m:r>
                        <a:rPr lang="zh-CN" altLang="en-US" b="1" i="1" smtClean="0">
                          <a:latin typeface="Cambria Math" panose="02040503050406030204" pitchFamily="18" charset="0"/>
                        </a:rPr>
                        <m:t>∀</m:t>
                      </m:r>
                    </m:oMath>
                  </a14:m>
                  <a:r>
                    <a:rPr lang="en-US" altLang="zh-CN" b="1">
                      <a:latin typeface="+mn-ea"/>
                    </a:rPr>
                    <a:t>x </a:t>
                  </a:r>
                  <a:r>
                    <a:rPr lang="zh-CN" altLang="en-US" b="1">
                      <a:latin typeface="+mn-ea"/>
                    </a:rPr>
                    <a:t>，如果</a:t>
                  </a:r>
                  <a:r>
                    <a:rPr lang="en-US" altLang="zh-CN" b="1" dirty="0" err="1">
                      <a:latin typeface="+mn-ea"/>
                    </a:rPr>
                    <a:t>x</a:t>
                  </a:r>
                  <a:r>
                    <a:rPr lang="en-US" altLang="zh-CN" b="1" err="1">
                      <a:latin typeface="+mn-ea"/>
                    </a:rPr>
                    <a:t>∈</a:t>
                  </a:r>
                  <a:r>
                    <a:rPr lang="en-US" altLang="zh-CN" b="1">
                      <a:latin typeface="+mn-ea"/>
                    </a:rPr>
                    <a:t>B</a:t>
                  </a:r>
                  <a:r>
                    <a:rPr lang="zh-CN" altLang="en-US" b="1">
                      <a:latin typeface="+mn-ea"/>
                    </a:rPr>
                    <a:t>，则</a:t>
                  </a:r>
                  <a:r>
                    <a:rPr lang="en-US" altLang="zh-CN" b="1" dirty="0" err="1">
                      <a:latin typeface="+mn-ea"/>
                    </a:rPr>
                    <a:t>x∈A</a:t>
                  </a:r>
                  <a:r>
                    <a:rPr lang="zh-CN" altLang="en-US" b="1" dirty="0">
                      <a:latin typeface="+mn-ea"/>
                    </a:rPr>
                    <a:t> 。</a:t>
                  </a:r>
                  <a:endParaRPr lang="zh-CN" altLang="en-US" b="1" dirty="0">
                    <a:latin typeface="+mn-ea"/>
                  </a:endParaRPr>
                </a:p>
              </p:txBody>
            </p:sp>
          </mc:Choice>
          <mc:Fallback>
            <p:sp>
              <p:nvSpPr>
                <p:cNvPr id="3" name="矩形 2"/>
                <p:cNvSpPr>
                  <a:spLocks noRot="1" noChangeAspect="1" noMove="1" noResize="1" noEditPoints="1" noAdjustHandles="1" noChangeArrowheads="1" noChangeShapeType="1" noTextEdit="1"/>
                </p:cNvSpPr>
                <p:nvPr/>
              </p:nvSpPr>
              <p:spPr>
                <a:xfrm>
                  <a:off x="6327775" y="4941822"/>
                  <a:ext cx="5257800" cy="579710"/>
                </a:xfrm>
                <a:prstGeom prst="rect">
                  <a:avLst/>
                </a:prstGeom>
                <a:blipFill rotWithShape="1">
                  <a:blip r:embed="rId1"/>
                </a:blipFill>
              </p:spPr>
              <p:txBody>
                <a:bodyPr/>
                <a:lstStyle/>
                <a:p>
                  <a:r>
                    <a:rPr lang="zh-CN" altLang="en-US">
                      <a:noFill/>
                    </a:rPr>
                    <a:t> </a:t>
                  </a:r>
                </a:p>
              </p:txBody>
            </p:sp>
          </mc:Fallback>
        </mc:AlternateContent>
      </p:gr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4214"/>
                                        </p:tgtEl>
                                        <p:attrNameLst>
                                          <p:attrName>style.visibility</p:attrName>
                                        </p:attrNameLst>
                                      </p:cBhvr>
                                      <p:to>
                                        <p:strVal val="visible"/>
                                      </p:to>
                                    </p:set>
                                    <p:anim calcmode="lin" valueType="num">
                                      <p:cBhvr additive="base">
                                        <p:cTn id="7" dur="500" fill="hold"/>
                                        <p:tgtEl>
                                          <p:spTgt spid="1374214"/>
                                        </p:tgtEl>
                                        <p:attrNameLst>
                                          <p:attrName>ppt_x</p:attrName>
                                        </p:attrNameLst>
                                      </p:cBhvr>
                                      <p:tavLst>
                                        <p:tav tm="0">
                                          <p:val>
                                            <p:strVal val="#ppt_x"/>
                                          </p:val>
                                        </p:tav>
                                        <p:tav tm="100000">
                                          <p:val>
                                            <p:strVal val="#ppt_x"/>
                                          </p:val>
                                        </p:tav>
                                      </p:tavLst>
                                    </p:anim>
                                    <p:anim calcmode="lin" valueType="num">
                                      <p:cBhvr additive="base">
                                        <p:cTn id="8" dur="500" fill="hold"/>
                                        <p:tgtEl>
                                          <p:spTgt spid="13742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74215"/>
                                        </p:tgtEl>
                                        <p:attrNameLst>
                                          <p:attrName>style.visibility</p:attrName>
                                        </p:attrNameLst>
                                      </p:cBhvr>
                                      <p:to>
                                        <p:strVal val="visible"/>
                                      </p:to>
                                    </p:set>
                                    <p:anim calcmode="lin" valueType="num">
                                      <p:cBhvr additive="base">
                                        <p:cTn id="11" dur="500" fill="hold"/>
                                        <p:tgtEl>
                                          <p:spTgt spid="1374215"/>
                                        </p:tgtEl>
                                        <p:attrNameLst>
                                          <p:attrName>ppt_x</p:attrName>
                                        </p:attrNameLst>
                                      </p:cBhvr>
                                      <p:tavLst>
                                        <p:tav tm="0">
                                          <p:val>
                                            <p:strVal val="#ppt_x"/>
                                          </p:val>
                                        </p:tav>
                                        <p:tav tm="100000">
                                          <p:val>
                                            <p:strVal val="#ppt_x"/>
                                          </p:val>
                                        </p:tav>
                                      </p:tavLst>
                                    </p:anim>
                                    <p:anim calcmode="lin" valueType="num">
                                      <p:cBhvr additive="base">
                                        <p:cTn id="12" dur="500" fill="hold"/>
                                        <p:tgtEl>
                                          <p:spTgt spid="13742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74211"/>
                                        </p:tgtEl>
                                        <p:attrNameLst>
                                          <p:attrName>style.visibility</p:attrName>
                                        </p:attrNameLst>
                                      </p:cBhvr>
                                      <p:to>
                                        <p:strVal val="visible"/>
                                      </p:to>
                                    </p:set>
                                    <p:anim calcmode="lin" valueType="num">
                                      <p:cBhvr additive="base">
                                        <p:cTn id="22" dur="500" fill="hold"/>
                                        <p:tgtEl>
                                          <p:spTgt spid="1374211"/>
                                        </p:tgtEl>
                                        <p:attrNameLst>
                                          <p:attrName>ppt_x</p:attrName>
                                        </p:attrNameLst>
                                      </p:cBhvr>
                                      <p:tavLst>
                                        <p:tav tm="0">
                                          <p:val>
                                            <p:strVal val="#ppt_x"/>
                                          </p:val>
                                        </p:tav>
                                        <p:tav tm="100000">
                                          <p:val>
                                            <p:strVal val="#ppt_x"/>
                                          </p:val>
                                        </p:tav>
                                      </p:tavLst>
                                    </p:anim>
                                    <p:anim calcmode="lin" valueType="num">
                                      <p:cBhvr additive="base">
                                        <p:cTn id="23" dur="500" fill="hold"/>
                                        <p:tgtEl>
                                          <p:spTgt spid="137421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74210"/>
                                        </p:tgtEl>
                                        <p:attrNameLst>
                                          <p:attrName>style.visibility</p:attrName>
                                        </p:attrNameLst>
                                      </p:cBhvr>
                                      <p:to>
                                        <p:strVal val="visible"/>
                                      </p:to>
                                    </p:set>
                                    <p:anim calcmode="lin" valueType="num">
                                      <p:cBhvr additive="base">
                                        <p:cTn id="28" dur="500" fill="hold"/>
                                        <p:tgtEl>
                                          <p:spTgt spid="1374210"/>
                                        </p:tgtEl>
                                        <p:attrNameLst>
                                          <p:attrName>ppt_x</p:attrName>
                                        </p:attrNameLst>
                                      </p:cBhvr>
                                      <p:tavLst>
                                        <p:tav tm="0">
                                          <p:val>
                                            <p:strVal val="#ppt_x"/>
                                          </p:val>
                                        </p:tav>
                                        <p:tav tm="100000">
                                          <p:val>
                                            <p:strVal val="#ppt_x"/>
                                          </p:val>
                                        </p:tav>
                                      </p:tavLst>
                                    </p:anim>
                                    <p:anim calcmode="lin" valueType="num">
                                      <p:cBhvr additive="base">
                                        <p:cTn id="29" dur="500" fill="hold"/>
                                        <p:tgtEl>
                                          <p:spTgt spid="13742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1000" fill="hold"/>
                                        <p:tgtEl>
                                          <p:spTgt spid="5"/>
                                        </p:tgtEl>
                                        <p:attrNameLst>
                                          <p:attrName>ppt_w</p:attrName>
                                        </p:attrNameLst>
                                      </p:cBhvr>
                                      <p:tavLst>
                                        <p:tav tm="0">
                                          <p:val>
                                            <p:fltVal val="0"/>
                                          </p:val>
                                        </p:tav>
                                        <p:tav tm="100000">
                                          <p:val>
                                            <p:strVal val="#ppt_w"/>
                                          </p:val>
                                        </p:tav>
                                      </p:tavLst>
                                    </p:anim>
                                    <p:anim calcmode="lin" valueType="num">
                                      <p:cBhvr>
                                        <p:cTn id="35" dur="1000" fill="hold"/>
                                        <p:tgtEl>
                                          <p:spTgt spid="5"/>
                                        </p:tgtEl>
                                        <p:attrNameLst>
                                          <p:attrName>ppt_h</p:attrName>
                                        </p:attrNameLst>
                                      </p:cBhvr>
                                      <p:tavLst>
                                        <p:tav tm="0">
                                          <p:val>
                                            <p:fltVal val="0"/>
                                          </p:val>
                                        </p:tav>
                                        <p:tav tm="100000">
                                          <p:val>
                                            <p:strVal val="#ppt_h"/>
                                          </p:val>
                                        </p:tav>
                                      </p:tavLst>
                                    </p:anim>
                                    <p:anim calcmode="lin" valueType="num">
                                      <p:cBhvr>
                                        <p:cTn id="36" dur="1000" fill="hold"/>
                                        <p:tgtEl>
                                          <p:spTgt spid="5"/>
                                        </p:tgtEl>
                                        <p:attrNameLst>
                                          <p:attrName>style.rotation</p:attrName>
                                        </p:attrNameLst>
                                      </p:cBhvr>
                                      <p:tavLst>
                                        <p:tav tm="0">
                                          <p:val>
                                            <p:fltVal val="90"/>
                                          </p:val>
                                        </p:tav>
                                        <p:tav tm="100000">
                                          <p:val>
                                            <p:fltVal val="0"/>
                                          </p:val>
                                        </p:tav>
                                      </p:tavLst>
                                    </p:anim>
                                    <p:animEffect transition="in" filter="fade">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210" grpId="0"/>
      <p:bldP spid="1374211" grpId="0"/>
      <p:bldP spid="1374214" grpId="0"/>
      <p:bldP spid="1374215"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zh-CN" altLang="en-US" dirty="0"/>
              <a:t>定理</a:t>
            </a:r>
            <a:r>
              <a:rPr lang="en-US" altLang="zh-CN" dirty="0"/>
              <a:t>4.1 </a:t>
            </a:r>
            <a:r>
              <a:rPr lang="zh-CN" altLang="en-US" dirty="0"/>
              <a:t>证明</a:t>
            </a:r>
            <a:endParaRPr lang="zh-CN" altLang="en-US" dirty="0"/>
          </a:p>
        </p:txBody>
      </p:sp>
      <mc:AlternateContent xmlns:mc="http://schemas.openxmlformats.org/markup-compatibility/2006">
        <mc:Choice xmlns:a14="http://schemas.microsoft.com/office/drawing/2010/main" Requires="a14">
          <p:sp>
            <p:nvSpPr>
              <p:cNvPr id="1378307" name="Rectangle 3"/>
              <p:cNvSpPr>
                <a:spLocks noGrp="1" noChangeArrowheads="1"/>
              </p:cNvSpPr>
              <p:nvPr>
                <p:ph type="body" idx="1"/>
              </p:nvPr>
            </p:nvSpPr>
            <p:spPr>
              <a:xfrm>
                <a:off x="460375" y="1067594"/>
                <a:ext cx="8361622" cy="4724400"/>
              </a:xfrm>
            </p:spPr>
            <p:txBody>
              <a:bodyPr>
                <a:normAutofit/>
              </a:bodyPr>
              <a:lstStyle/>
              <a:p>
                <a:pPr marL="0" indent="0">
                  <a:lnSpc>
                    <a:spcPct val="150000"/>
                  </a:lnSpc>
                  <a:buNone/>
                </a:pPr>
                <a:r>
                  <a:rPr lang="zh-CN" altLang="en-US" dirty="0"/>
                  <a:t>证明（</a:t>
                </a:r>
                <a:r>
                  <a:rPr lang="en-US" altLang="zh-CN" dirty="0"/>
                  <a:t>1</a:t>
                </a:r>
                <a:r>
                  <a:rPr lang="zh-CN" altLang="en-US" dirty="0"/>
                  <a:t>） </a:t>
                </a:r>
                <a14:m>
                  <m:oMath xmlns:m="http://schemas.openxmlformats.org/officeDocument/2006/math">
                    <m:r>
                      <a:rPr lang="zh-CN" altLang="en-US" i="1">
                        <a:latin typeface="Cambria Math" panose="02040503050406030204" pitchFamily="18" charset="0"/>
                      </a:rPr>
                      <m:t>∀ </m:t>
                    </m:r>
                  </m:oMath>
                </a14:m>
                <a:r>
                  <a:rPr lang="en-US" altLang="zh-CN" dirty="0"/>
                  <a:t>&lt;</a:t>
                </a:r>
                <a:r>
                  <a:rPr lang="en-US" altLang="zh-CN" dirty="0" err="1"/>
                  <a:t>x,y</a:t>
                </a:r>
                <a:r>
                  <a:rPr lang="en-US" altLang="zh-CN" dirty="0"/>
                  <a:t>&gt;</a:t>
                </a:r>
                <a:endParaRPr lang="en-US" altLang="zh-CN" dirty="0"/>
              </a:p>
              <a:p>
                <a:pPr marL="0" indent="0">
                  <a:lnSpc>
                    <a:spcPct val="150000"/>
                  </a:lnSpc>
                  <a:buNone/>
                </a:pPr>
                <a:r>
                  <a:rPr lang="en-US" altLang="zh-CN" dirty="0"/>
                  <a:t>             &lt;</a:t>
                </a:r>
                <a:r>
                  <a:rPr lang="en-US" altLang="zh-CN" dirty="0" err="1"/>
                  <a:t>x,y</a:t>
                </a:r>
                <a:r>
                  <a:rPr lang="en-US" altLang="zh-CN" dirty="0"/>
                  <a:t>&gt; ∈A×(B∪C)</a:t>
                </a:r>
                <a:endParaRPr lang="zh-CN" altLang="en-US" dirty="0"/>
              </a:p>
              <a:p>
                <a:pPr marL="0" indent="0">
                  <a:lnSpc>
                    <a:spcPct val="150000"/>
                  </a:lnSpc>
                  <a:buNone/>
                </a:pPr>
                <a:r>
                  <a:rPr lang="zh-CN" altLang="en-US" dirty="0">
                    <a:solidFill>
                      <a:srgbClr val="0000CC"/>
                    </a:solidFill>
                    <a:sym typeface="Symbol" panose="05050102010706020507" pitchFamily="18" charset="2"/>
                  </a:rPr>
                  <a:t>          </a:t>
                </a:r>
                <a:r>
                  <a:rPr lang="en-US" altLang="zh-CN" dirty="0" err="1"/>
                  <a:t>x∈A</a:t>
                </a:r>
                <a:r>
                  <a:rPr kumimoji="1" lang="en-US" altLang="zh-CN" noProof="1"/>
                  <a:t>∧</a:t>
                </a:r>
                <a:r>
                  <a:rPr lang="en-US" altLang="zh-CN" dirty="0" err="1"/>
                  <a:t>y∈B∪C</a:t>
                </a:r>
                <a:r>
                  <a:rPr lang="en-US" altLang="zh-CN" dirty="0"/>
                  <a:t>       </a:t>
                </a:r>
                <a:endParaRPr lang="en-US" altLang="zh-CN" dirty="0"/>
              </a:p>
              <a:p>
                <a:pPr marL="0" indent="0">
                  <a:lnSpc>
                    <a:spcPct val="150000"/>
                  </a:lnSpc>
                  <a:buNone/>
                </a:pPr>
                <a:r>
                  <a:rPr lang="zh-CN" altLang="en-US" dirty="0">
                    <a:solidFill>
                      <a:srgbClr val="0000CC"/>
                    </a:solidFill>
                    <a:sym typeface="Symbol" panose="05050102010706020507" pitchFamily="18" charset="2"/>
                  </a:rPr>
                  <a:t>          </a:t>
                </a:r>
                <a:r>
                  <a:rPr lang="en-US" altLang="zh-CN" dirty="0" err="1"/>
                  <a:t>x∈A</a:t>
                </a:r>
                <a:r>
                  <a:rPr kumimoji="1" lang="en-US" altLang="zh-CN" noProof="1"/>
                  <a:t>∧(</a:t>
                </a:r>
                <a:r>
                  <a:rPr lang="en-US" altLang="zh-CN" dirty="0" err="1"/>
                  <a:t>y∈B</a:t>
                </a:r>
                <a:r>
                  <a:rPr kumimoji="1" lang="en-US" altLang="en-US" noProof="1"/>
                  <a:t>∨</a:t>
                </a:r>
                <a:r>
                  <a:rPr lang="en-US" altLang="zh-CN" dirty="0" err="1"/>
                  <a:t>y∈C</a:t>
                </a:r>
                <a:r>
                  <a:rPr lang="en-US" altLang="zh-CN" dirty="0"/>
                  <a:t>)</a:t>
                </a:r>
                <a:endParaRPr lang="zh-CN" altLang="en-US" dirty="0"/>
              </a:p>
              <a:p>
                <a:pPr marL="0" indent="0">
                  <a:lnSpc>
                    <a:spcPct val="150000"/>
                  </a:lnSpc>
                  <a:buNone/>
                </a:pPr>
                <a:r>
                  <a:rPr lang="zh-CN" altLang="en-US" dirty="0">
                    <a:solidFill>
                      <a:srgbClr val="0000CC"/>
                    </a:solidFill>
                    <a:sym typeface="Symbol" panose="05050102010706020507" pitchFamily="18" charset="2"/>
                  </a:rPr>
                  <a:t>          </a:t>
                </a:r>
                <a:r>
                  <a:rPr lang="en-US" altLang="zh-CN" dirty="0">
                    <a:solidFill>
                      <a:srgbClr val="0000CC"/>
                    </a:solidFill>
                    <a:sym typeface="Symbol" panose="05050102010706020507" pitchFamily="18" charset="2"/>
                  </a:rPr>
                  <a:t>(</a:t>
                </a:r>
                <a:r>
                  <a:rPr lang="en-US" altLang="zh-CN" dirty="0" err="1"/>
                  <a:t>x∈A</a:t>
                </a:r>
                <a:r>
                  <a:rPr kumimoji="1" lang="en-US" altLang="zh-CN" noProof="1"/>
                  <a:t>∧</a:t>
                </a:r>
                <a:r>
                  <a:rPr lang="en-US" altLang="zh-CN" dirty="0" err="1"/>
                  <a:t>y∈B</a:t>
                </a:r>
                <a:r>
                  <a:rPr lang="en-US" altLang="zh-CN" dirty="0"/>
                  <a:t>)</a:t>
                </a:r>
                <a:r>
                  <a:rPr kumimoji="1" lang="en-US" altLang="en-US" noProof="1"/>
                  <a:t>∨(</a:t>
                </a:r>
                <a:r>
                  <a:rPr lang="en-US" altLang="zh-CN" dirty="0" err="1"/>
                  <a:t>x∈A</a:t>
                </a:r>
                <a:r>
                  <a:rPr kumimoji="1" lang="en-US" altLang="zh-CN" noProof="1"/>
                  <a:t>∧</a:t>
                </a:r>
                <a:r>
                  <a:rPr lang="en-US" altLang="zh-CN" dirty="0" err="1"/>
                  <a:t>y∈C</a:t>
                </a:r>
                <a:r>
                  <a:rPr lang="en-US" altLang="zh-CN" dirty="0"/>
                  <a:t>)</a:t>
                </a:r>
                <a:endParaRPr lang="zh-CN" altLang="en-US" dirty="0"/>
              </a:p>
              <a:p>
                <a:pPr marL="0" indent="0">
                  <a:lnSpc>
                    <a:spcPct val="150000"/>
                  </a:lnSpc>
                  <a:buNone/>
                </a:pPr>
                <a:r>
                  <a:rPr lang="zh-CN" altLang="en-US" dirty="0">
                    <a:solidFill>
                      <a:srgbClr val="0000CC"/>
                    </a:solidFill>
                    <a:sym typeface="Symbol" panose="05050102010706020507" pitchFamily="18" charset="2"/>
                  </a:rPr>
                  <a:t>         </a:t>
                </a:r>
                <a:r>
                  <a:rPr lang="en-US" altLang="zh-CN" dirty="0"/>
                  <a:t>&lt;</a:t>
                </a:r>
                <a:r>
                  <a:rPr lang="en-US" altLang="zh-CN" dirty="0" err="1"/>
                  <a:t>x,y</a:t>
                </a:r>
                <a:r>
                  <a:rPr lang="en-US" altLang="zh-CN" dirty="0"/>
                  <a:t>&gt;∈A×B</a:t>
                </a:r>
                <a:r>
                  <a:rPr kumimoji="1" lang="en-US" altLang="en-US" noProof="1"/>
                  <a:t>∨</a:t>
                </a:r>
                <a:r>
                  <a:rPr lang="en-US" altLang="zh-CN" dirty="0"/>
                  <a:t>&lt;</a:t>
                </a:r>
                <a:r>
                  <a:rPr lang="en-US" altLang="zh-CN" dirty="0" err="1"/>
                  <a:t>x,y</a:t>
                </a:r>
                <a:r>
                  <a:rPr lang="en-US" altLang="zh-CN" dirty="0"/>
                  <a:t>&gt;∈A×C</a:t>
                </a:r>
                <a:endParaRPr lang="zh-CN" altLang="en-US" dirty="0"/>
              </a:p>
              <a:p>
                <a:pPr marL="0" indent="0">
                  <a:lnSpc>
                    <a:spcPct val="150000"/>
                  </a:lnSpc>
                  <a:buNone/>
                </a:pPr>
                <a:r>
                  <a:rPr lang="zh-CN" altLang="en-US" dirty="0">
                    <a:solidFill>
                      <a:srgbClr val="0000CC"/>
                    </a:solidFill>
                    <a:sym typeface="Symbol" panose="05050102010706020507" pitchFamily="18" charset="2"/>
                  </a:rPr>
                  <a:t>         </a:t>
                </a:r>
                <a:r>
                  <a:rPr lang="en-US" altLang="zh-CN" dirty="0"/>
                  <a:t>&lt;</a:t>
                </a:r>
                <a:r>
                  <a:rPr lang="en-US" altLang="zh-CN" dirty="0" err="1"/>
                  <a:t>x,y</a:t>
                </a:r>
                <a:r>
                  <a:rPr lang="en-US" altLang="zh-CN" dirty="0"/>
                  <a:t>&gt;∈(A×B)∪(A×C)</a:t>
                </a:r>
                <a:r>
                  <a:rPr lang="zh-CN" altLang="en-US" dirty="0"/>
                  <a:t>，</a:t>
                </a:r>
                <a:endParaRPr lang="zh-CN" altLang="en-US" dirty="0"/>
              </a:p>
              <a:p>
                <a:pPr marL="0" indent="0">
                  <a:lnSpc>
                    <a:spcPct val="150000"/>
                  </a:lnSpc>
                  <a:buNone/>
                </a:pPr>
                <a:r>
                  <a:rPr lang="zh-CN" altLang="en-US" dirty="0">
                    <a:solidFill>
                      <a:srgbClr val="0000CC"/>
                    </a:solidFill>
                    <a:sym typeface="Symbol" panose="05050102010706020507" pitchFamily="18" charset="2"/>
                  </a:rPr>
                  <a:t>       于是有 </a:t>
                </a:r>
                <a:r>
                  <a:rPr lang="en-US" altLang="zh-CN" dirty="0"/>
                  <a:t>A×(B∪C)=(A×B)∪(A×C)</a:t>
                </a:r>
                <a:r>
                  <a:rPr lang="zh-CN" altLang="en-US" dirty="0"/>
                  <a:t>。</a:t>
                </a:r>
                <a:endParaRPr lang="zh-CN" altLang="en-US" dirty="0"/>
              </a:p>
            </p:txBody>
          </p:sp>
        </mc:Choice>
        <mc:Fallback>
          <p:sp>
            <p:nvSpPr>
              <p:cNvPr id="1378307" name="Rectangle 3"/>
              <p:cNvSpPr>
                <a:spLocks noRot="1" noChangeAspect="1" noMove="1" noResize="1" noEditPoints="1" noAdjustHandles="1" noChangeArrowheads="1" noChangeShapeType="1" noTextEdit="1"/>
              </p:cNvSpPr>
              <p:nvPr>
                <p:ph type="body" idx="1"/>
              </p:nvPr>
            </p:nvSpPr>
            <p:spPr>
              <a:xfrm>
                <a:off x="460375" y="1067594"/>
                <a:ext cx="8361622" cy="4724400"/>
              </a:xfrm>
              <a:blipFill rotWithShape="1">
                <a:blip r:embed="rId1"/>
                <a:stretch>
                  <a:fillRect t="-3" r="7" b="3"/>
                </a:stretch>
              </a:blipFill>
            </p:spPr>
            <p:txBody>
              <a:bodyPr/>
              <a:lstStyle/>
              <a:p>
                <a:r>
                  <a:rPr lang="zh-CN" altLang="en-US">
                    <a:noFill/>
                  </a:rPr>
                  <a:t> </a:t>
                </a:r>
              </a:p>
            </p:txBody>
          </p:sp>
        </mc:Fallback>
      </mc:AlternateContent>
      <p:sp>
        <p:nvSpPr>
          <p:cNvPr id="2" name="矩形 1"/>
          <p:cNvSpPr/>
          <p:nvPr/>
        </p:nvSpPr>
        <p:spPr>
          <a:xfrm>
            <a:off x="6158494" y="2325756"/>
            <a:ext cx="2339102" cy="461665"/>
          </a:xfrm>
          <a:prstGeom prst="rect">
            <a:avLst/>
          </a:prstGeom>
        </p:spPr>
        <p:txBody>
          <a:bodyPr wrap="none">
            <a:spAutoFit/>
          </a:bodyPr>
          <a:lstStyle/>
          <a:p>
            <a:r>
              <a:rPr lang="zh-CN" altLang="en-US" b="1" dirty="0">
                <a:solidFill>
                  <a:srgbClr val="0000CC"/>
                </a:solidFill>
              </a:rPr>
              <a:t>笛卡儿积</a:t>
            </a:r>
            <a:r>
              <a:rPr lang="zh-CN" altLang="en-US" b="1" dirty="0"/>
              <a:t>的定义</a:t>
            </a:r>
            <a:endParaRPr lang="zh-CN" altLang="en-US" b="1" dirty="0"/>
          </a:p>
        </p:txBody>
      </p:sp>
      <p:sp>
        <p:nvSpPr>
          <p:cNvPr id="3" name="矩形 2"/>
          <p:cNvSpPr/>
          <p:nvPr/>
        </p:nvSpPr>
        <p:spPr>
          <a:xfrm>
            <a:off x="6175119" y="2868379"/>
            <a:ext cx="1723549" cy="461665"/>
          </a:xfrm>
          <a:prstGeom prst="rect">
            <a:avLst/>
          </a:prstGeom>
        </p:spPr>
        <p:txBody>
          <a:bodyPr wrap="none">
            <a:spAutoFit/>
          </a:bodyPr>
          <a:lstStyle/>
          <a:p>
            <a:r>
              <a:rPr lang="zh-CN" altLang="en-US" b="1" dirty="0">
                <a:solidFill>
                  <a:srgbClr val="FF0000"/>
                </a:solidFill>
              </a:rPr>
              <a:t>并运算</a:t>
            </a:r>
            <a:r>
              <a:rPr lang="zh-CN" altLang="en-US" b="1" dirty="0"/>
              <a:t>定义</a:t>
            </a:r>
            <a:endParaRPr lang="zh-CN" altLang="en-US" b="1" dirty="0"/>
          </a:p>
        </p:txBody>
      </p:sp>
      <p:sp>
        <p:nvSpPr>
          <p:cNvPr id="6" name="矩形 5"/>
          <p:cNvSpPr/>
          <p:nvPr/>
        </p:nvSpPr>
        <p:spPr>
          <a:xfrm>
            <a:off x="6175119" y="3464529"/>
            <a:ext cx="1107996" cy="461665"/>
          </a:xfrm>
          <a:prstGeom prst="rect">
            <a:avLst/>
          </a:prstGeom>
        </p:spPr>
        <p:txBody>
          <a:bodyPr wrap="none">
            <a:spAutoFit/>
          </a:bodyPr>
          <a:lstStyle/>
          <a:p>
            <a:r>
              <a:rPr lang="zh-CN" altLang="en-US" b="1" dirty="0">
                <a:solidFill>
                  <a:srgbClr val="7030A0"/>
                </a:solidFill>
              </a:rPr>
              <a:t>分配律</a:t>
            </a:r>
            <a:endParaRPr lang="zh-CN" altLang="en-US" b="1" dirty="0">
              <a:solidFill>
                <a:srgbClr val="7030A0"/>
              </a:solidFill>
            </a:endParaRPr>
          </a:p>
        </p:txBody>
      </p:sp>
      <p:sp>
        <p:nvSpPr>
          <p:cNvPr id="7" name="矩形 6"/>
          <p:cNvSpPr/>
          <p:nvPr/>
        </p:nvSpPr>
        <p:spPr>
          <a:xfrm>
            <a:off x="6175119" y="4495619"/>
            <a:ext cx="1723549" cy="461665"/>
          </a:xfrm>
          <a:prstGeom prst="rect">
            <a:avLst/>
          </a:prstGeom>
        </p:spPr>
        <p:txBody>
          <a:bodyPr wrap="none">
            <a:spAutoFit/>
          </a:bodyPr>
          <a:lstStyle/>
          <a:p>
            <a:r>
              <a:rPr lang="zh-CN" altLang="en-US" b="1" dirty="0">
                <a:solidFill>
                  <a:srgbClr val="FF0000"/>
                </a:solidFill>
              </a:rPr>
              <a:t>并运算</a:t>
            </a:r>
            <a:r>
              <a:rPr lang="zh-CN" altLang="en-US" b="1" dirty="0"/>
              <a:t>定义</a:t>
            </a:r>
            <a:endParaRPr lang="zh-CN" altLang="en-US" b="1" dirty="0"/>
          </a:p>
        </p:txBody>
      </p:sp>
      <p:sp>
        <p:nvSpPr>
          <p:cNvPr id="8" name="矩形 7"/>
          <p:cNvSpPr/>
          <p:nvPr/>
        </p:nvSpPr>
        <p:spPr>
          <a:xfrm>
            <a:off x="6158494" y="3981112"/>
            <a:ext cx="2339102" cy="461665"/>
          </a:xfrm>
          <a:prstGeom prst="rect">
            <a:avLst/>
          </a:prstGeom>
        </p:spPr>
        <p:txBody>
          <a:bodyPr wrap="none">
            <a:spAutoFit/>
          </a:bodyPr>
          <a:lstStyle/>
          <a:p>
            <a:r>
              <a:rPr lang="zh-CN" altLang="en-US" b="1" dirty="0">
                <a:solidFill>
                  <a:srgbClr val="0000CC"/>
                </a:solidFill>
              </a:rPr>
              <a:t>笛卡儿积</a:t>
            </a:r>
            <a:r>
              <a:rPr lang="zh-CN" altLang="en-US" b="1" dirty="0"/>
              <a:t>的定义</a:t>
            </a:r>
            <a:endParaRPr lang="zh-CN" altLang="en-US" b="1" dirty="0"/>
          </a:p>
        </p:txBody>
      </p:sp>
      <p:sp>
        <p:nvSpPr>
          <p:cNvPr id="4" name="矩形 3"/>
          <p:cNvSpPr/>
          <p:nvPr/>
        </p:nvSpPr>
        <p:spPr>
          <a:xfrm>
            <a:off x="776277" y="5891980"/>
            <a:ext cx="6099175" cy="461665"/>
          </a:xfrm>
          <a:prstGeom prst="rect">
            <a:avLst/>
          </a:prstGeom>
        </p:spPr>
        <p:txBody>
          <a:bodyPr>
            <a:spAutoFit/>
          </a:bodyPr>
          <a:lstStyle/>
          <a:p>
            <a:r>
              <a:rPr lang="zh-CN" altLang="en-US" b="1" dirty="0"/>
              <a:t>（</a:t>
            </a:r>
            <a:r>
              <a:rPr lang="en-US" altLang="zh-CN" b="1" dirty="0"/>
              <a:t>2</a:t>
            </a:r>
            <a:r>
              <a:rPr lang="zh-CN" altLang="en-US" b="1" dirty="0"/>
              <a:t>）、（</a:t>
            </a:r>
            <a:r>
              <a:rPr lang="en-US" altLang="zh-CN" b="1" dirty="0"/>
              <a:t>3</a:t>
            </a:r>
            <a:r>
              <a:rPr lang="zh-CN" altLang="en-US" b="1" dirty="0"/>
              <a:t>）和（</a:t>
            </a:r>
            <a:r>
              <a:rPr lang="en-US" altLang="zh-CN" b="1" dirty="0"/>
              <a:t>4</a:t>
            </a:r>
            <a:r>
              <a:rPr lang="zh-CN" altLang="en-US" b="1" dirty="0"/>
              <a:t>）的证明 略</a:t>
            </a:r>
            <a:r>
              <a:rPr lang="zh-CN" altLang="en-US" dirty="0"/>
              <a:t>。</a:t>
            </a:r>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8307">
                                            <p:txEl>
                                              <p:pRg st="0" end="0"/>
                                            </p:txEl>
                                          </p:spTgt>
                                        </p:tgtEl>
                                        <p:attrNameLst>
                                          <p:attrName>style.visibility</p:attrName>
                                        </p:attrNameLst>
                                      </p:cBhvr>
                                      <p:to>
                                        <p:strVal val="visible"/>
                                      </p:to>
                                    </p:set>
                                    <p:anim calcmode="lin" valueType="num">
                                      <p:cBhvr additive="base">
                                        <p:cTn id="7" dur="500" fill="hold"/>
                                        <p:tgtEl>
                                          <p:spTgt spid="137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8307">
                                            <p:txEl>
                                              <p:pRg st="1" end="1"/>
                                            </p:txEl>
                                          </p:spTgt>
                                        </p:tgtEl>
                                        <p:attrNameLst>
                                          <p:attrName>style.visibility</p:attrName>
                                        </p:attrNameLst>
                                      </p:cBhvr>
                                      <p:to>
                                        <p:strVal val="visible"/>
                                      </p:to>
                                    </p:set>
                                    <p:anim calcmode="lin" valueType="num">
                                      <p:cBhvr additive="base">
                                        <p:cTn id="13" dur="500" fill="hold"/>
                                        <p:tgtEl>
                                          <p:spTgt spid="13783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8307">
                                            <p:txEl>
                                              <p:pRg st="2" end="2"/>
                                            </p:txEl>
                                          </p:spTgt>
                                        </p:tgtEl>
                                        <p:attrNameLst>
                                          <p:attrName>style.visibility</p:attrName>
                                        </p:attrNameLst>
                                      </p:cBhvr>
                                      <p:to>
                                        <p:strVal val="visible"/>
                                      </p:to>
                                    </p:set>
                                    <p:anim calcmode="lin" valueType="num">
                                      <p:cBhvr additive="base">
                                        <p:cTn id="19" dur="500" fill="hold"/>
                                        <p:tgtEl>
                                          <p:spTgt spid="13783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83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78307">
                                            <p:txEl>
                                              <p:pRg st="3" end="3"/>
                                            </p:txEl>
                                          </p:spTgt>
                                        </p:tgtEl>
                                        <p:attrNameLst>
                                          <p:attrName>style.visibility</p:attrName>
                                        </p:attrNameLst>
                                      </p:cBhvr>
                                      <p:to>
                                        <p:strVal val="visible"/>
                                      </p:to>
                                    </p:set>
                                    <p:anim calcmode="lin" valueType="num">
                                      <p:cBhvr additive="base">
                                        <p:cTn id="43" dur="500" fill="hold"/>
                                        <p:tgtEl>
                                          <p:spTgt spid="1378307">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783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80">
                                          <p:stCondLst>
                                            <p:cond delay="0"/>
                                          </p:stCondLst>
                                        </p:cTn>
                                        <p:tgtEl>
                                          <p:spTgt spid="3"/>
                                        </p:tgtEl>
                                      </p:cBhvr>
                                    </p:animEffect>
                                    <p:anim calcmode="lin" valueType="num">
                                      <p:cBhvr>
                                        <p:cTn id="5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55" dur="26">
                                          <p:stCondLst>
                                            <p:cond delay="650"/>
                                          </p:stCondLst>
                                        </p:cTn>
                                        <p:tgtEl>
                                          <p:spTgt spid="3"/>
                                        </p:tgtEl>
                                      </p:cBhvr>
                                      <p:to x="100000" y="60000"/>
                                    </p:animScale>
                                    <p:animScale>
                                      <p:cBhvr>
                                        <p:cTn id="56" dur="166" decel="50000">
                                          <p:stCondLst>
                                            <p:cond delay="676"/>
                                          </p:stCondLst>
                                        </p:cTn>
                                        <p:tgtEl>
                                          <p:spTgt spid="3"/>
                                        </p:tgtEl>
                                      </p:cBhvr>
                                      <p:to x="100000" y="100000"/>
                                    </p:animScale>
                                    <p:animScale>
                                      <p:cBhvr>
                                        <p:cTn id="57" dur="26">
                                          <p:stCondLst>
                                            <p:cond delay="1312"/>
                                          </p:stCondLst>
                                        </p:cTn>
                                        <p:tgtEl>
                                          <p:spTgt spid="3"/>
                                        </p:tgtEl>
                                      </p:cBhvr>
                                      <p:to x="100000" y="80000"/>
                                    </p:animScale>
                                    <p:animScale>
                                      <p:cBhvr>
                                        <p:cTn id="58" dur="166" decel="50000">
                                          <p:stCondLst>
                                            <p:cond delay="1338"/>
                                          </p:stCondLst>
                                        </p:cTn>
                                        <p:tgtEl>
                                          <p:spTgt spid="3"/>
                                        </p:tgtEl>
                                      </p:cBhvr>
                                      <p:to x="100000" y="100000"/>
                                    </p:animScale>
                                    <p:animScale>
                                      <p:cBhvr>
                                        <p:cTn id="59" dur="26">
                                          <p:stCondLst>
                                            <p:cond delay="1642"/>
                                          </p:stCondLst>
                                        </p:cTn>
                                        <p:tgtEl>
                                          <p:spTgt spid="3"/>
                                        </p:tgtEl>
                                      </p:cBhvr>
                                      <p:to x="100000" y="90000"/>
                                    </p:animScale>
                                    <p:animScale>
                                      <p:cBhvr>
                                        <p:cTn id="60" dur="166" decel="50000">
                                          <p:stCondLst>
                                            <p:cond delay="1668"/>
                                          </p:stCondLst>
                                        </p:cTn>
                                        <p:tgtEl>
                                          <p:spTgt spid="3"/>
                                        </p:tgtEl>
                                      </p:cBhvr>
                                      <p:to x="100000" y="100000"/>
                                    </p:animScale>
                                    <p:animScale>
                                      <p:cBhvr>
                                        <p:cTn id="61" dur="26">
                                          <p:stCondLst>
                                            <p:cond delay="1808"/>
                                          </p:stCondLst>
                                        </p:cTn>
                                        <p:tgtEl>
                                          <p:spTgt spid="3"/>
                                        </p:tgtEl>
                                      </p:cBhvr>
                                      <p:to x="100000" y="95000"/>
                                    </p:animScale>
                                    <p:animScale>
                                      <p:cBhvr>
                                        <p:cTn id="62" dur="166" decel="50000">
                                          <p:stCondLst>
                                            <p:cond delay="1834"/>
                                          </p:stCondLst>
                                        </p:cTn>
                                        <p:tgtEl>
                                          <p:spTgt spid="3"/>
                                        </p:tgtEl>
                                      </p:cBhvr>
                                      <p:to x="100000" y="100000"/>
                                    </p:animScale>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78307">
                                            <p:txEl>
                                              <p:pRg st="4" end="4"/>
                                            </p:txEl>
                                          </p:spTgt>
                                        </p:tgtEl>
                                        <p:attrNameLst>
                                          <p:attrName>style.visibility</p:attrName>
                                        </p:attrNameLst>
                                      </p:cBhvr>
                                      <p:to>
                                        <p:strVal val="visible"/>
                                      </p:to>
                                    </p:set>
                                    <p:anim calcmode="lin" valueType="num">
                                      <p:cBhvr additive="base">
                                        <p:cTn id="67" dur="500" fill="hold"/>
                                        <p:tgtEl>
                                          <p:spTgt spid="1378307">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783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6" presetClass="entr" presetSubtype="0" fill="hold" grpId="0" nodeType="click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wipe(down)">
                                      <p:cBhvr>
                                        <p:cTn id="73" dur="580">
                                          <p:stCondLst>
                                            <p:cond delay="0"/>
                                          </p:stCondLst>
                                        </p:cTn>
                                        <p:tgtEl>
                                          <p:spTgt spid="6"/>
                                        </p:tgtEl>
                                      </p:cBhvr>
                                    </p:animEffect>
                                    <p:anim calcmode="lin" valueType="num">
                                      <p:cBhvr>
                                        <p:cTn id="7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79" dur="26">
                                          <p:stCondLst>
                                            <p:cond delay="650"/>
                                          </p:stCondLst>
                                        </p:cTn>
                                        <p:tgtEl>
                                          <p:spTgt spid="6"/>
                                        </p:tgtEl>
                                      </p:cBhvr>
                                      <p:to x="100000" y="60000"/>
                                    </p:animScale>
                                    <p:animScale>
                                      <p:cBhvr>
                                        <p:cTn id="80" dur="166" decel="50000">
                                          <p:stCondLst>
                                            <p:cond delay="676"/>
                                          </p:stCondLst>
                                        </p:cTn>
                                        <p:tgtEl>
                                          <p:spTgt spid="6"/>
                                        </p:tgtEl>
                                      </p:cBhvr>
                                      <p:to x="100000" y="100000"/>
                                    </p:animScale>
                                    <p:animScale>
                                      <p:cBhvr>
                                        <p:cTn id="81" dur="26">
                                          <p:stCondLst>
                                            <p:cond delay="1312"/>
                                          </p:stCondLst>
                                        </p:cTn>
                                        <p:tgtEl>
                                          <p:spTgt spid="6"/>
                                        </p:tgtEl>
                                      </p:cBhvr>
                                      <p:to x="100000" y="80000"/>
                                    </p:animScale>
                                    <p:animScale>
                                      <p:cBhvr>
                                        <p:cTn id="82" dur="166" decel="50000">
                                          <p:stCondLst>
                                            <p:cond delay="1338"/>
                                          </p:stCondLst>
                                        </p:cTn>
                                        <p:tgtEl>
                                          <p:spTgt spid="6"/>
                                        </p:tgtEl>
                                      </p:cBhvr>
                                      <p:to x="100000" y="100000"/>
                                    </p:animScale>
                                    <p:animScale>
                                      <p:cBhvr>
                                        <p:cTn id="83" dur="26">
                                          <p:stCondLst>
                                            <p:cond delay="1642"/>
                                          </p:stCondLst>
                                        </p:cTn>
                                        <p:tgtEl>
                                          <p:spTgt spid="6"/>
                                        </p:tgtEl>
                                      </p:cBhvr>
                                      <p:to x="100000" y="90000"/>
                                    </p:animScale>
                                    <p:animScale>
                                      <p:cBhvr>
                                        <p:cTn id="84" dur="166" decel="50000">
                                          <p:stCondLst>
                                            <p:cond delay="1668"/>
                                          </p:stCondLst>
                                        </p:cTn>
                                        <p:tgtEl>
                                          <p:spTgt spid="6"/>
                                        </p:tgtEl>
                                      </p:cBhvr>
                                      <p:to x="100000" y="100000"/>
                                    </p:animScale>
                                    <p:animScale>
                                      <p:cBhvr>
                                        <p:cTn id="85" dur="26">
                                          <p:stCondLst>
                                            <p:cond delay="1808"/>
                                          </p:stCondLst>
                                        </p:cTn>
                                        <p:tgtEl>
                                          <p:spTgt spid="6"/>
                                        </p:tgtEl>
                                      </p:cBhvr>
                                      <p:to x="100000" y="95000"/>
                                    </p:animScale>
                                    <p:animScale>
                                      <p:cBhvr>
                                        <p:cTn id="86" dur="166" decel="50000">
                                          <p:stCondLst>
                                            <p:cond delay="1834"/>
                                          </p:stCondLst>
                                        </p:cTn>
                                        <p:tgtEl>
                                          <p:spTgt spid="6"/>
                                        </p:tgtEl>
                                      </p:cBhvr>
                                      <p:to x="100000" y="100000"/>
                                    </p:animScale>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378307">
                                            <p:txEl>
                                              <p:pRg st="5" end="5"/>
                                            </p:txEl>
                                          </p:spTgt>
                                        </p:tgtEl>
                                        <p:attrNameLst>
                                          <p:attrName>style.visibility</p:attrName>
                                        </p:attrNameLst>
                                      </p:cBhvr>
                                      <p:to>
                                        <p:strVal val="visible"/>
                                      </p:to>
                                    </p:set>
                                    <p:anim calcmode="lin" valueType="num">
                                      <p:cBhvr additive="base">
                                        <p:cTn id="91" dur="500" fill="hold"/>
                                        <p:tgtEl>
                                          <p:spTgt spid="1378307">
                                            <p:txEl>
                                              <p:pRg st="5" end="5"/>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3783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down)">
                                      <p:cBhvr>
                                        <p:cTn id="97" dur="580">
                                          <p:stCondLst>
                                            <p:cond delay="0"/>
                                          </p:stCondLst>
                                        </p:cTn>
                                        <p:tgtEl>
                                          <p:spTgt spid="8"/>
                                        </p:tgtEl>
                                      </p:cBhvr>
                                    </p:animEffect>
                                    <p:anim calcmode="lin" valueType="num">
                                      <p:cBhvr>
                                        <p:cTn id="9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03" dur="26">
                                          <p:stCondLst>
                                            <p:cond delay="650"/>
                                          </p:stCondLst>
                                        </p:cTn>
                                        <p:tgtEl>
                                          <p:spTgt spid="8"/>
                                        </p:tgtEl>
                                      </p:cBhvr>
                                      <p:to x="100000" y="60000"/>
                                    </p:animScale>
                                    <p:animScale>
                                      <p:cBhvr>
                                        <p:cTn id="104" dur="166" decel="50000">
                                          <p:stCondLst>
                                            <p:cond delay="676"/>
                                          </p:stCondLst>
                                        </p:cTn>
                                        <p:tgtEl>
                                          <p:spTgt spid="8"/>
                                        </p:tgtEl>
                                      </p:cBhvr>
                                      <p:to x="100000" y="100000"/>
                                    </p:animScale>
                                    <p:animScale>
                                      <p:cBhvr>
                                        <p:cTn id="105" dur="26">
                                          <p:stCondLst>
                                            <p:cond delay="1312"/>
                                          </p:stCondLst>
                                        </p:cTn>
                                        <p:tgtEl>
                                          <p:spTgt spid="8"/>
                                        </p:tgtEl>
                                      </p:cBhvr>
                                      <p:to x="100000" y="80000"/>
                                    </p:animScale>
                                    <p:animScale>
                                      <p:cBhvr>
                                        <p:cTn id="106" dur="166" decel="50000">
                                          <p:stCondLst>
                                            <p:cond delay="1338"/>
                                          </p:stCondLst>
                                        </p:cTn>
                                        <p:tgtEl>
                                          <p:spTgt spid="8"/>
                                        </p:tgtEl>
                                      </p:cBhvr>
                                      <p:to x="100000" y="100000"/>
                                    </p:animScale>
                                    <p:animScale>
                                      <p:cBhvr>
                                        <p:cTn id="107" dur="26">
                                          <p:stCondLst>
                                            <p:cond delay="1642"/>
                                          </p:stCondLst>
                                        </p:cTn>
                                        <p:tgtEl>
                                          <p:spTgt spid="8"/>
                                        </p:tgtEl>
                                      </p:cBhvr>
                                      <p:to x="100000" y="90000"/>
                                    </p:animScale>
                                    <p:animScale>
                                      <p:cBhvr>
                                        <p:cTn id="108" dur="166" decel="50000">
                                          <p:stCondLst>
                                            <p:cond delay="1668"/>
                                          </p:stCondLst>
                                        </p:cTn>
                                        <p:tgtEl>
                                          <p:spTgt spid="8"/>
                                        </p:tgtEl>
                                      </p:cBhvr>
                                      <p:to x="100000" y="100000"/>
                                    </p:animScale>
                                    <p:animScale>
                                      <p:cBhvr>
                                        <p:cTn id="109" dur="26">
                                          <p:stCondLst>
                                            <p:cond delay="1808"/>
                                          </p:stCondLst>
                                        </p:cTn>
                                        <p:tgtEl>
                                          <p:spTgt spid="8"/>
                                        </p:tgtEl>
                                      </p:cBhvr>
                                      <p:to x="100000" y="95000"/>
                                    </p:animScale>
                                    <p:animScale>
                                      <p:cBhvr>
                                        <p:cTn id="110" dur="166" decel="50000">
                                          <p:stCondLst>
                                            <p:cond delay="1834"/>
                                          </p:stCondLst>
                                        </p:cTn>
                                        <p:tgtEl>
                                          <p:spTgt spid="8"/>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378307">
                                            <p:txEl>
                                              <p:pRg st="6" end="6"/>
                                            </p:txEl>
                                          </p:spTgt>
                                        </p:tgtEl>
                                        <p:attrNameLst>
                                          <p:attrName>style.visibility</p:attrName>
                                        </p:attrNameLst>
                                      </p:cBhvr>
                                      <p:to>
                                        <p:strVal val="visible"/>
                                      </p:to>
                                    </p:set>
                                    <p:anim calcmode="lin" valueType="num">
                                      <p:cBhvr additive="base">
                                        <p:cTn id="115" dur="500" fill="hold"/>
                                        <p:tgtEl>
                                          <p:spTgt spid="1378307">
                                            <p:txEl>
                                              <p:pRg st="6" end="6"/>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3783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5" presetClass="entr" presetSubtype="0" fill="hold" grpId="0" nodeType="clickEffect">
                                  <p:stCondLst>
                                    <p:cond delay="0"/>
                                  </p:stCondLst>
                                  <p:childTnLst>
                                    <p:set>
                                      <p:cBhvr>
                                        <p:cTn id="120" dur="1" fill="hold">
                                          <p:stCondLst>
                                            <p:cond delay="0"/>
                                          </p:stCondLst>
                                        </p:cTn>
                                        <p:tgtEl>
                                          <p:spTgt spid="7"/>
                                        </p:tgtEl>
                                        <p:attrNameLst>
                                          <p:attrName>style.visibility</p:attrName>
                                        </p:attrNameLst>
                                      </p:cBhvr>
                                      <p:to>
                                        <p:strVal val="visible"/>
                                      </p:to>
                                    </p:set>
                                    <p:animEffect transition="in" filter="fade">
                                      <p:cBhvr>
                                        <p:cTn id="121" dur="2000"/>
                                        <p:tgtEl>
                                          <p:spTgt spid="7"/>
                                        </p:tgtEl>
                                      </p:cBhvr>
                                    </p:animEffect>
                                    <p:anim calcmode="lin" valueType="num">
                                      <p:cBhvr>
                                        <p:cTn id="122" dur="2000" fill="hold"/>
                                        <p:tgtEl>
                                          <p:spTgt spid="7"/>
                                        </p:tgtEl>
                                        <p:attrNameLst>
                                          <p:attrName>ppt_w</p:attrName>
                                        </p:attrNameLst>
                                      </p:cBhvr>
                                      <p:tavLst>
                                        <p:tav tm="0" fmla="#ppt_w*sin(2.5*pi*$)">
                                          <p:val>
                                            <p:fltVal val="0"/>
                                          </p:val>
                                        </p:tav>
                                        <p:tav tm="100000">
                                          <p:val>
                                            <p:fltVal val="1"/>
                                          </p:val>
                                        </p:tav>
                                      </p:tavLst>
                                    </p:anim>
                                    <p:anim calcmode="lin" valueType="num">
                                      <p:cBhvr>
                                        <p:cTn id="123"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1378307">
                                            <p:txEl>
                                              <p:pRg st="7" end="7"/>
                                            </p:txEl>
                                          </p:spTgt>
                                        </p:tgtEl>
                                        <p:attrNameLst>
                                          <p:attrName>style.visibility</p:attrName>
                                        </p:attrNameLst>
                                      </p:cBhvr>
                                      <p:to>
                                        <p:strVal val="visible"/>
                                      </p:to>
                                    </p:set>
                                    <p:anim calcmode="lin" valueType="num">
                                      <p:cBhvr additive="base">
                                        <p:cTn id="128" dur="500" fill="hold"/>
                                        <p:tgtEl>
                                          <p:spTgt spid="1378307">
                                            <p:txEl>
                                              <p:pRg st="7" end="7"/>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13783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uiExpand="1" build="p"/>
      <p:bldP spid="2" grpId="0"/>
      <p:bldP spid="3" grpId="0"/>
      <p:bldP spid="6" grpId="0"/>
      <p:bldP spid="7" grpId="0"/>
      <p:bldP spid="8"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zh-CN" altLang="en-US" dirty="0"/>
              <a:t>定理</a:t>
            </a:r>
            <a:r>
              <a:rPr lang="en-US" altLang="zh-CN" dirty="0"/>
              <a:t>4.2</a:t>
            </a:r>
            <a:endParaRPr lang="zh-CN" altLang="en-US" dirty="0"/>
          </a:p>
        </p:txBody>
      </p:sp>
      <p:sp>
        <p:nvSpPr>
          <p:cNvPr id="1382403" name="Rectangle 3"/>
          <p:cNvSpPr>
            <a:spLocks noGrp="1" noChangeArrowheads="1"/>
          </p:cNvSpPr>
          <p:nvPr>
            <p:ph type="body" idx="1"/>
          </p:nvPr>
        </p:nvSpPr>
        <p:spPr>
          <a:xfrm>
            <a:off x="384175" y="1143794"/>
            <a:ext cx="10073697" cy="2856574"/>
          </a:xfrm>
        </p:spPr>
        <p:txBody>
          <a:bodyPr>
            <a:normAutofit lnSpcReduction="10000"/>
          </a:bodyPr>
          <a:lstStyle/>
          <a:p>
            <a:pPr marL="0" indent="0">
              <a:lnSpc>
                <a:spcPct val="150000"/>
              </a:lnSpc>
              <a:buNone/>
            </a:pPr>
            <a:r>
              <a:rPr lang="zh-CN" altLang="en-US" dirty="0">
                <a:solidFill>
                  <a:srgbClr val="C00000"/>
                </a:solidFill>
              </a:rPr>
              <a:t>定理</a:t>
            </a:r>
            <a:r>
              <a:rPr lang="en-US" altLang="zh-CN" dirty="0">
                <a:solidFill>
                  <a:srgbClr val="C00000"/>
                </a:solidFill>
              </a:rPr>
              <a:t>4.2 </a:t>
            </a:r>
            <a:r>
              <a:rPr lang="zh-CN" altLang="en-US" dirty="0"/>
              <a:t>设</a:t>
            </a:r>
            <a:r>
              <a:rPr lang="en-US" altLang="zh-CN" dirty="0"/>
              <a:t>A,B,C,D</a:t>
            </a:r>
            <a:r>
              <a:rPr lang="zh-CN" altLang="en-US" dirty="0"/>
              <a:t>是任意四个非空集合，则</a:t>
            </a:r>
            <a:endParaRPr lang="zh-CN" altLang="en-US" dirty="0"/>
          </a:p>
          <a:p>
            <a:pPr marL="0" indent="0" algn="ctr">
              <a:lnSpc>
                <a:spcPct val="150000"/>
              </a:lnSpc>
              <a:buNone/>
            </a:pPr>
            <a:r>
              <a:rPr lang="en-US" altLang="zh-CN" dirty="0"/>
              <a:t>A×B</a:t>
            </a:r>
            <a:r>
              <a:rPr kumimoji="1" lang="zh-CN" altLang="en-US" dirty="0">
                <a:sym typeface="Symbol" panose="05050102010706020507" pitchFamily="18" charset="2"/>
              </a:rPr>
              <a:t></a:t>
            </a:r>
            <a:r>
              <a:rPr lang="en-US" altLang="zh-CN" dirty="0"/>
              <a:t>C×D </a:t>
            </a:r>
            <a:r>
              <a:rPr lang="zh-CN" altLang="en-US" dirty="0">
                <a:sym typeface="Symbol" panose="05050102010706020507" pitchFamily="18" charset="2"/>
              </a:rPr>
              <a:t> </a:t>
            </a:r>
            <a:r>
              <a:rPr lang="en-US" altLang="zh-CN" dirty="0"/>
              <a:t>A</a:t>
            </a:r>
            <a:r>
              <a:rPr kumimoji="1" lang="zh-CN" altLang="en-US" dirty="0">
                <a:sym typeface="Symbol" panose="05050102010706020507" pitchFamily="18" charset="2"/>
              </a:rPr>
              <a:t></a:t>
            </a:r>
            <a:r>
              <a:rPr lang="en-US" altLang="zh-CN" dirty="0"/>
              <a:t>C</a:t>
            </a:r>
            <a:r>
              <a:rPr lang="zh-CN" altLang="en-US" dirty="0"/>
              <a:t>，</a:t>
            </a:r>
            <a:r>
              <a:rPr lang="en-US" altLang="zh-CN" dirty="0"/>
              <a:t>B</a:t>
            </a:r>
            <a:r>
              <a:rPr kumimoji="1" lang="zh-CN" altLang="en-US" dirty="0">
                <a:sym typeface="Symbol" panose="05050102010706020507" pitchFamily="18" charset="2"/>
              </a:rPr>
              <a:t></a:t>
            </a:r>
            <a:r>
              <a:rPr lang="en-US" altLang="zh-CN" dirty="0"/>
              <a:t>D</a:t>
            </a:r>
            <a:r>
              <a:rPr lang="zh-CN" altLang="en-US" dirty="0"/>
              <a:t>。</a:t>
            </a:r>
            <a:endParaRPr lang="zh-CN" altLang="en-US" dirty="0"/>
          </a:p>
          <a:p>
            <a:pPr marL="0" indent="0">
              <a:lnSpc>
                <a:spcPct val="150000"/>
              </a:lnSpc>
              <a:buNone/>
            </a:pPr>
            <a:r>
              <a:rPr lang="zh-CN" altLang="en-US" dirty="0">
                <a:solidFill>
                  <a:srgbClr val="0000CC"/>
                </a:solidFill>
              </a:rPr>
              <a:t>证明 </a:t>
            </a:r>
            <a:r>
              <a:rPr lang="zh-CN" altLang="en-US" dirty="0">
                <a:solidFill>
                  <a:srgbClr val="C00000"/>
                </a:solidFill>
              </a:rPr>
              <a:t>充分性</a:t>
            </a:r>
            <a:r>
              <a:rPr lang="en-US" altLang="zh-CN" dirty="0">
                <a:solidFill>
                  <a:srgbClr val="C00000"/>
                </a:solidFill>
              </a:rPr>
              <a:t>(</a:t>
            </a:r>
            <a:r>
              <a:rPr lang="zh-CN" altLang="en-US" dirty="0">
                <a:solidFill>
                  <a:srgbClr val="C00000"/>
                </a:solidFill>
                <a:sym typeface="Symbol" panose="05050102010706020507" pitchFamily="18" charset="2"/>
              </a:rPr>
              <a:t></a:t>
            </a:r>
            <a:r>
              <a:rPr lang="en-US" altLang="zh-CN" dirty="0">
                <a:solidFill>
                  <a:srgbClr val="C00000"/>
                </a:solidFill>
              </a:rPr>
              <a:t>)</a:t>
            </a:r>
            <a:r>
              <a:rPr lang="zh-CN" altLang="en-US" dirty="0">
                <a:solidFill>
                  <a:srgbClr val="C00000"/>
                </a:solidFill>
              </a:rPr>
              <a:t>：</a:t>
            </a:r>
            <a:endParaRPr lang="zh-CN" altLang="en-US" dirty="0">
              <a:solidFill>
                <a:srgbClr val="C00000"/>
              </a:solidFill>
            </a:endParaRPr>
          </a:p>
          <a:p>
            <a:pPr marL="0" indent="0">
              <a:lnSpc>
                <a:spcPct val="150000"/>
              </a:lnSpc>
              <a:buNone/>
            </a:pPr>
            <a:r>
              <a:rPr lang="en-US" altLang="zh-CN" dirty="0"/>
              <a:t>&lt;</a:t>
            </a:r>
            <a:r>
              <a:rPr lang="en-US" altLang="zh-CN" dirty="0" err="1"/>
              <a:t>x,y</a:t>
            </a:r>
            <a:r>
              <a:rPr lang="en-US" altLang="zh-CN" dirty="0"/>
              <a:t>&gt;</a:t>
            </a:r>
            <a:endParaRPr lang="en-US" altLang="zh-CN" dirty="0"/>
          </a:p>
          <a:p>
            <a:pPr marL="0" indent="0">
              <a:lnSpc>
                <a:spcPct val="150000"/>
              </a:lnSpc>
              <a:buNone/>
            </a:pPr>
            <a:r>
              <a:rPr lang="en-US" altLang="zh-CN" dirty="0"/>
              <a:t>&lt;</a:t>
            </a:r>
            <a:r>
              <a:rPr lang="en-US" altLang="zh-CN" dirty="0" err="1"/>
              <a:t>x,y</a:t>
            </a:r>
            <a:r>
              <a:rPr lang="en-US" altLang="zh-CN" dirty="0"/>
              <a:t>&gt; ∈A×B</a:t>
            </a:r>
            <a:r>
              <a:rPr lang="en-US" altLang="zh-CN" dirty="0">
                <a:solidFill>
                  <a:srgbClr val="FF0000"/>
                </a:solidFill>
                <a:sym typeface="Symbol" panose="05050102010706020507" pitchFamily="18" charset="2"/>
              </a:rPr>
              <a:t> </a:t>
            </a:r>
            <a:r>
              <a:rPr lang="en-US" altLang="zh-CN" dirty="0">
                <a:solidFill>
                  <a:srgbClr val="C00000"/>
                </a:solidFill>
                <a:sym typeface="Symbol" panose="05050102010706020507" pitchFamily="18" charset="2"/>
              </a:rPr>
              <a:t></a:t>
            </a:r>
            <a:r>
              <a:rPr lang="en-US" altLang="zh-CN" dirty="0">
                <a:solidFill>
                  <a:srgbClr val="FF0000"/>
                </a:solidFill>
                <a:sym typeface="Symbol" panose="05050102010706020507" pitchFamily="18" charset="2"/>
              </a:rPr>
              <a:t> </a:t>
            </a:r>
            <a:endParaRPr lang="en-US" altLang="zh-CN" dirty="0">
              <a:solidFill>
                <a:srgbClr val="FF0000"/>
              </a:solidFill>
              <a:sym typeface="Symbol" panose="05050102010706020507" pitchFamily="18" charset="2"/>
            </a:endParaRPr>
          </a:p>
        </p:txBody>
      </p:sp>
      <p:sp>
        <p:nvSpPr>
          <p:cNvPr id="41989" name="Rectangle 4"/>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6" name="矩形 5"/>
          <p:cNvSpPr/>
          <p:nvPr/>
        </p:nvSpPr>
        <p:spPr>
          <a:xfrm>
            <a:off x="2920335" y="3429794"/>
            <a:ext cx="2874040" cy="461665"/>
          </a:xfrm>
          <a:prstGeom prst="rect">
            <a:avLst/>
          </a:prstGeom>
        </p:spPr>
        <p:txBody>
          <a:bodyPr>
            <a:spAutoFit/>
          </a:bodyPr>
          <a:lstStyle/>
          <a:p>
            <a:pPr eaLnBrk="1" hangingPunct="1">
              <a:defRPr/>
            </a:pPr>
            <a:r>
              <a:rPr lang="en-US" altLang="zh-CN" b="1" kern="0" dirty="0" err="1">
                <a:solidFill>
                  <a:srgbClr val="000000"/>
                </a:solidFill>
                <a:latin typeface="+mn-ea"/>
              </a:rPr>
              <a:t>x∈</a:t>
            </a:r>
            <a:r>
              <a:rPr lang="en-US" altLang="zh-CN" b="1" kern="0" dirty="0" err="1">
                <a:latin typeface="+mn-ea"/>
              </a:rPr>
              <a:t>A</a:t>
            </a:r>
            <a:r>
              <a:rPr kumimoji="1" lang="en-US" altLang="zh-CN" b="1" noProof="1">
                <a:latin typeface="+mn-ea"/>
              </a:rPr>
              <a:t>∧</a:t>
            </a:r>
            <a:r>
              <a:rPr lang="en-US" altLang="zh-CN" b="1" kern="0" dirty="0" err="1">
                <a:solidFill>
                  <a:srgbClr val="000000"/>
                </a:solidFill>
                <a:latin typeface="+mn-ea"/>
              </a:rPr>
              <a:t>y∈B</a:t>
            </a:r>
            <a:endParaRPr lang="zh-CN" altLang="en-US" b="1" dirty="0">
              <a:latin typeface="+mn-ea"/>
            </a:endParaRPr>
          </a:p>
        </p:txBody>
      </p:sp>
      <p:sp>
        <p:nvSpPr>
          <p:cNvPr id="7" name="矩形 6"/>
          <p:cNvSpPr/>
          <p:nvPr/>
        </p:nvSpPr>
        <p:spPr>
          <a:xfrm>
            <a:off x="2920335" y="4009335"/>
            <a:ext cx="2266966" cy="461665"/>
          </a:xfrm>
          <a:prstGeom prst="rect">
            <a:avLst/>
          </a:prstGeom>
        </p:spPr>
        <p:txBody>
          <a:bodyPr wrap="square">
            <a:spAutoFit/>
          </a:bodyPr>
          <a:lstStyle/>
          <a:p>
            <a:pPr>
              <a:defRPr/>
            </a:pPr>
            <a:r>
              <a:rPr lang="en-US" altLang="zh-CN" b="1" kern="0" dirty="0" err="1">
                <a:solidFill>
                  <a:srgbClr val="000000"/>
                </a:solidFill>
                <a:latin typeface="+mn-ea"/>
              </a:rPr>
              <a:t>x∈C</a:t>
            </a:r>
            <a:r>
              <a:rPr kumimoji="1" lang="en-US" altLang="zh-CN" b="1" noProof="1">
                <a:latin typeface="+mn-ea"/>
              </a:rPr>
              <a:t>∧</a:t>
            </a:r>
            <a:r>
              <a:rPr lang="en-US" altLang="zh-CN" b="1" kern="0" dirty="0" err="1">
                <a:solidFill>
                  <a:srgbClr val="000000"/>
                </a:solidFill>
                <a:latin typeface="+mn-ea"/>
              </a:rPr>
              <a:t>y∈D</a:t>
            </a:r>
            <a:endParaRPr lang="zh-CN" altLang="en-US" b="1" dirty="0">
              <a:latin typeface="+mn-ea"/>
            </a:endParaRPr>
          </a:p>
        </p:txBody>
      </p:sp>
      <p:sp>
        <p:nvSpPr>
          <p:cNvPr id="8" name="矩形 7"/>
          <p:cNvSpPr/>
          <p:nvPr/>
        </p:nvSpPr>
        <p:spPr>
          <a:xfrm>
            <a:off x="566696" y="5264701"/>
            <a:ext cx="2782757" cy="461665"/>
          </a:xfrm>
          <a:prstGeom prst="rect">
            <a:avLst/>
          </a:prstGeom>
        </p:spPr>
        <p:txBody>
          <a:bodyPr wrap="square">
            <a:spAutoFit/>
          </a:bodyPr>
          <a:lstStyle/>
          <a:p>
            <a:pPr>
              <a:defRPr/>
            </a:pPr>
            <a:r>
              <a:rPr lang="en-US" altLang="zh-CN" b="1" dirty="0">
                <a:solidFill>
                  <a:srgbClr val="C00000"/>
                </a:solidFill>
                <a:latin typeface="+mn-ea"/>
                <a:sym typeface="Symbol" panose="05050102010706020507" pitchFamily="18" charset="2"/>
              </a:rPr>
              <a:t></a:t>
            </a:r>
            <a:r>
              <a:rPr lang="en-US" altLang="zh-CN" b="1" kern="0" dirty="0">
                <a:solidFill>
                  <a:srgbClr val="000000"/>
                </a:solidFill>
                <a:latin typeface="+mn-ea"/>
              </a:rPr>
              <a:t>A×B</a:t>
            </a:r>
            <a:r>
              <a:rPr kumimoji="1" lang="zh-CN" altLang="en-US" b="1" kern="0" dirty="0">
                <a:latin typeface="+mn-ea"/>
                <a:sym typeface="Symbol" panose="05050102010706020507" pitchFamily="18" charset="2"/>
              </a:rPr>
              <a:t></a:t>
            </a:r>
            <a:r>
              <a:rPr lang="en-US" altLang="zh-CN" b="1" kern="0" dirty="0">
                <a:solidFill>
                  <a:srgbClr val="000000"/>
                </a:solidFill>
                <a:latin typeface="+mn-ea"/>
              </a:rPr>
              <a:t>C×D</a:t>
            </a:r>
            <a:endParaRPr lang="zh-CN" altLang="en-US" b="1" dirty="0">
              <a:latin typeface="+mn-ea"/>
            </a:endParaRPr>
          </a:p>
        </p:txBody>
      </p:sp>
      <p:sp>
        <p:nvSpPr>
          <p:cNvPr id="2" name="矩形 1"/>
          <p:cNvSpPr/>
          <p:nvPr/>
        </p:nvSpPr>
        <p:spPr>
          <a:xfrm>
            <a:off x="536575" y="3932574"/>
            <a:ext cx="2514599" cy="579710"/>
          </a:xfrm>
          <a:prstGeom prst="rect">
            <a:avLst/>
          </a:prstGeom>
        </p:spPr>
        <p:txBody>
          <a:bodyPr wrap="square">
            <a:spAutoFit/>
          </a:bodyPr>
          <a:lstStyle/>
          <a:p>
            <a:pPr>
              <a:lnSpc>
                <a:spcPct val="150000"/>
              </a:lnSpc>
            </a:pPr>
            <a:r>
              <a:rPr lang="en-US" altLang="zh-CN" b="1" dirty="0">
                <a:latin typeface="+mn-ea"/>
              </a:rPr>
              <a:t>A</a:t>
            </a:r>
            <a:r>
              <a:rPr kumimoji="1" lang="zh-CN" altLang="en-US" b="1" dirty="0">
                <a:latin typeface="+mn-ea"/>
                <a:sym typeface="Symbol" panose="05050102010706020507" pitchFamily="18" charset="2"/>
              </a:rPr>
              <a:t></a:t>
            </a:r>
            <a:r>
              <a:rPr lang="en-US" altLang="zh-CN" b="1" dirty="0">
                <a:latin typeface="+mn-ea"/>
              </a:rPr>
              <a:t>C</a:t>
            </a:r>
            <a:r>
              <a:rPr lang="zh-CN" altLang="en-US" b="1" dirty="0">
                <a:latin typeface="+mn-ea"/>
              </a:rPr>
              <a:t>，</a:t>
            </a:r>
            <a:r>
              <a:rPr lang="en-US" altLang="zh-CN" b="1" dirty="0">
                <a:latin typeface="+mn-ea"/>
              </a:rPr>
              <a:t>B</a:t>
            </a:r>
            <a:r>
              <a:rPr kumimoji="1" lang="zh-CN" altLang="en-US" b="1" dirty="0">
                <a:latin typeface="+mn-ea"/>
                <a:sym typeface="Symbol" panose="05050102010706020507" pitchFamily="18" charset="2"/>
              </a:rPr>
              <a:t></a:t>
            </a:r>
            <a:r>
              <a:rPr lang="en-US" altLang="zh-CN" b="1" dirty="0">
                <a:latin typeface="+mn-ea"/>
              </a:rPr>
              <a:t>D</a:t>
            </a:r>
            <a:r>
              <a:rPr lang="en-US" altLang="zh-CN" b="1" dirty="0">
                <a:latin typeface="+mn-ea"/>
                <a:sym typeface="Symbol" panose="05050102010706020507" pitchFamily="18" charset="2"/>
              </a:rPr>
              <a:t>    </a:t>
            </a:r>
            <a:r>
              <a:rPr lang="en-US" altLang="zh-CN" b="1" dirty="0">
                <a:solidFill>
                  <a:srgbClr val="C00000"/>
                </a:solidFill>
                <a:latin typeface="+mn-ea"/>
                <a:sym typeface="Symbol" panose="05050102010706020507" pitchFamily="18" charset="2"/>
              </a:rPr>
              <a:t></a:t>
            </a:r>
            <a:endParaRPr lang="zh-CN" altLang="en-US" b="1" dirty="0">
              <a:solidFill>
                <a:srgbClr val="C00000"/>
              </a:solidFill>
              <a:latin typeface="+mn-ea"/>
            </a:endParaRPr>
          </a:p>
        </p:txBody>
      </p:sp>
      <p:sp>
        <p:nvSpPr>
          <p:cNvPr id="4" name="矩形 3"/>
          <p:cNvSpPr/>
          <p:nvPr/>
        </p:nvSpPr>
        <p:spPr>
          <a:xfrm>
            <a:off x="573218" y="4520237"/>
            <a:ext cx="2483372" cy="579710"/>
          </a:xfrm>
          <a:prstGeom prst="rect">
            <a:avLst/>
          </a:prstGeom>
        </p:spPr>
        <p:txBody>
          <a:bodyPr wrap="none">
            <a:spAutoFit/>
          </a:bodyPr>
          <a:lstStyle/>
          <a:p>
            <a:pPr>
              <a:lnSpc>
                <a:spcPct val="150000"/>
              </a:lnSpc>
            </a:pPr>
            <a:r>
              <a:rPr lang="en-US" altLang="zh-CN" b="1" dirty="0">
                <a:solidFill>
                  <a:srgbClr val="C00000"/>
                </a:solidFill>
                <a:latin typeface="+mn-ea"/>
                <a:sym typeface="Symbol" panose="05050102010706020507" pitchFamily="18" charset="2"/>
              </a:rPr>
              <a:t></a:t>
            </a:r>
            <a:r>
              <a:rPr lang="en-US" altLang="zh-CN" b="1" dirty="0">
                <a:solidFill>
                  <a:srgbClr val="FF0000"/>
                </a:solidFill>
                <a:latin typeface="+mn-ea"/>
                <a:sym typeface="Symbol" panose="05050102010706020507" pitchFamily="18" charset="2"/>
              </a:rPr>
              <a:t> </a:t>
            </a:r>
            <a:r>
              <a:rPr lang="en-US" altLang="zh-CN" b="1" dirty="0">
                <a:latin typeface="+mn-ea"/>
              </a:rPr>
              <a:t>&lt;</a:t>
            </a:r>
            <a:r>
              <a:rPr lang="en-US" altLang="zh-CN" b="1" dirty="0" err="1">
                <a:latin typeface="+mn-ea"/>
              </a:rPr>
              <a:t>x,y</a:t>
            </a:r>
            <a:r>
              <a:rPr lang="en-US" altLang="zh-CN" b="1" dirty="0">
                <a:latin typeface="+mn-ea"/>
              </a:rPr>
              <a:t>&gt;∈C×D</a:t>
            </a:r>
            <a:endParaRPr lang="zh-CN" altLang="en-US" b="1" dirty="0">
              <a:latin typeface="+mn-ea"/>
            </a:endParaRPr>
          </a:p>
        </p:txBody>
      </p:sp>
      <mc:AlternateContent xmlns:mc="http://schemas.openxmlformats.org/markup-compatibility/2006">
        <mc:Choice xmlns:a14="http://schemas.microsoft.com/office/drawing/2010/main" Requires="a14">
          <p:sp>
            <p:nvSpPr>
              <p:cNvPr id="12" name="Rectangle 3"/>
              <p:cNvSpPr txBox="1">
                <a:spLocks noChangeArrowheads="1"/>
              </p:cNvSpPr>
              <p:nvPr/>
            </p:nvSpPr>
            <p:spPr>
              <a:xfrm>
                <a:off x="5355738" y="2272722"/>
                <a:ext cx="3972845" cy="2081412"/>
              </a:xfrm>
              <a:prstGeom prst="rect">
                <a:avLst/>
              </a:prstGeom>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lumMod val="75000"/>
                        <a:lumOff val="25000"/>
                      </a:schemeClr>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dirty="0">
                    <a:solidFill>
                      <a:srgbClr val="C00000"/>
                    </a:solidFill>
                  </a:rPr>
                  <a:t>必要性</a:t>
                </a:r>
                <a:r>
                  <a:rPr lang="en-US" altLang="zh-CN" dirty="0">
                    <a:solidFill>
                      <a:srgbClr val="C00000"/>
                    </a:solidFill>
                  </a:rPr>
                  <a:t>(</a:t>
                </a:r>
                <a:r>
                  <a:rPr lang="en-US" altLang="zh-CN" dirty="0">
                    <a:solidFill>
                      <a:srgbClr val="C00000"/>
                    </a:solidFill>
                    <a:sym typeface="Symbol" panose="05050102010706020507" pitchFamily="18" charset="2"/>
                  </a:rPr>
                  <a:t></a:t>
                </a:r>
                <a:r>
                  <a:rPr lang="en-US" altLang="zh-CN" dirty="0">
                    <a:solidFill>
                      <a:srgbClr val="C00000"/>
                    </a:solidFill>
                  </a:rPr>
                  <a:t>)</a:t>
                </a:r>
                <a:r>
                  <a:rPr lang="zh-CN" altLang="en-US" dirty="0">
                    <a:solidFill>
                      <a:srgbClr val="C00000"/>
                    </a:solidFill>
                  </a:rPr>
                  <a:t>：</a:t>
                </a:r>
                <a:endParaRPr lang="zh-CN" altLang="en-US" dirty="0">
                  <a:solidFill>
                    <a:srgbClr val="C00000"/>
                  </a:solidFill>
                </a:endParaRPr>
              </a:p>
              <a:p>
                <a:pPr marL="0" indent="0">
                  <a:lnSpc>
                    <a:spcPct val="150000"/>
                  </a:lnSpc>
                  <a:buNone/>
                </a:pPr>
                <a14:m>
                  <m:oMath xmlns:m="http://schemas.openxmlformats.org/officeDocument/2006/math">
                    <m:r>
                      <a:rPr lang="zh-CN" altLang="en-US" b="1" i="1" smtClean="0">
                        <a:solidFill>
                          <a:schemeClr val="tx1"/>
                        </a:solidFill>
                        <a:latin typeface="Cambria Math" panose="02040503050406030204" pitchFamily="18" charset="0"/>
                      </a:rPr>
                      <m:t>∀ </m:t>
                    </m:r>
                  </m:oMath>
                </a14:m>
                <a:r>
                  <a:rPr lang="en-US" altLang="zh-CN" dirty="0">
                    <a:solidFill>
                      <a:schemeClr val="tx1"/>
                    </a:solidFill>
                  </a:rPr>
                  <a:t>x</a:t>
                </a:r>
                <a:r>
                  <a:rPr lang="zh-CN" altLang="en-US" dirty="0">
                    <a:solidFill>
                      <a:schemeClr val="tx1"/>
                    </a:solidFill>
                  </a:rPr>
                  <a:t>， </a:t>
                </a:r>
                <a14:m>
                  <m:oMath xmlns:m="http://schemas.openxmlformats.org/officeDocument/2006/math">
                    <m:r>
                      <a:rPr lang="zh-CN" altLang="en-US" b="1" i="1" smtClean="0">
                        <a:solidFill>
                          <a:schemeClr val="tx1"/>
                        </a:solidFill>
                        <a:latin typeface="Cambria Math" panose="02040503050406030204" pitchFamily="18" charset="0"/>
                      </a:rPr>
                      <m:t>∀ </m:t>
                    </m:r>
                  </m:oMath>
                </a14:m>
                <a:r>
                  <a:rPr lang="en-US" altLang="zh-CN" dirty="0">
                    <a:solidFill>
                      <a:schemeClr val="tx1"/>
                    </a:solidFill>
                  </a:rPr>
                  <a:t>y</a:t>
                </a:r>
                <a:endParaRPr lang="en-US" altLang="zh-CN" dirty="0">
                  <a:solidFill>
                    <a:schemeClr val="tx1"/>
                  </a:solidFill>
                </a:endParaRPr>
              </a:p>
              <a:p>
                <a:pPr marL="0" indent="0">
                  <a:lnSpc>
                    <a:spcPct val="150000"/>
                  </a:lnSpc>
                  <a:buNone/>
                </a:pPr>
                <a:r>
                  <a:rPr lang="en-US" altLang="zh-CN" dirty="0" err="1">
                    <a:solidFill>
                      <a:schemeClr val="tx1"/>
                    </a:solidFill>
                  </a:rPr>
                  <a:t>x∈A</a:t>
                </a:r>
                <a:r>
                  <a:rPr lang="zh-CN" altLang="en-US" dirty="0">
                    <a:solidFill>
                      <a:schemeClr val="tx1"/>
                    </a:solidFill>
                  </a:rPr>
                  <a:t>，</a:t>
                </a:r>
                <a:r>
                  <a:rPr lang="en-US" altLang="zh-CN" dirty="0" err="1">
                    <a:solidFill>
                      <a:schemeClr val="tx1"/>
                    </a:solidFill>
                  </a:rPr>
                  <a:t>y∈B</a:t>
                </a:r>
                <a:r>
                  <a:rPr lang="en-US" altLang="zh-CN" dirty="0">
                    <a:solidFill>
                      <a:schemeClr val="tx1"/>
                    </a:solidFill>
                    <a:sym typeface="Symbol" panose="05050102010706020507" pitchFamily="18" charset="2"/>
                  </a:rPr>
                  <a:t> </a:t>
                </a:r>
                <a:r>
                  <a:rPr lang="en-US" altLang="zh-CN" dirty="0">
                    <a:solidFill>
                      <a:srgbClr val="C00000"/>
                    </a:solidFill>
                    <a:sym typeface="Symbol" panose="05050102010706020507" pitchFamily="18" charset="2"/>
                  </a:rPr>
                  <a:t></a:t>
                </a:r>
                <a:endParaRPr lang="zh-CN" altLang="en-US" dirty="0">
                  <a:solidFill>
                    <a:srgbClr val="C00000"/>
                  </a:solidFill>
                </a:endParaRPr>
              </a:p>
              <a:p>
                <a:pPr marL="0" indent="0" algn="ctr">
                  <a:lnSpc>
                    <a:spcPct val="150000"/>
                  </a:lnSpc>
                  <a:buNone/>
                </a:pPr>
                <a:endParaRPr lang="en-US" altLang="zh-CN" dirty="0">
                  <a:solidFill>
                    <a:srgbClr val="C00000"/>
                  </a:solidFill>
                  <a:sym typeface="Symbol" panose="05050102010706020507" pitchFamily="18" charset="2"/>
                </a:endParaRPr>
              </a:p>
            </p:txBody>
          </p:sp>
        </mc:Choice>
        <mc:Fallback>
          <p:sp>
            <p:nvSpPr>
              <p:cNvPr id="12" name="Rectangle 3"/>
              <p:cNvSpPr txBox="1">
                <a:spLocks noRot="1" noChangeAspect="1" noMove="1" noResize="1" noEditPoints="1" noAdjustHandles="1" noChangeArrowheads="1" noChangeShapeType="1" noTextEdit="1"/>
              </p:cNvSpPr>
              <p:nvPr/>
            </p:nvSpPr>
            <p:spPr>
              <a:xfrm>
                <a:off x="5355738" y="2272722"/>
                <a:ext cx="3972845" cy="2081412"/>
              </a:xfrm>
              <a:prstGeom prst="rect">
                <a:avLst/>
              </a:prstGeom>
              <a:blipFill rotWithShape="1">
                <a:blip r:embed="rId1"/>
                <a:stretch>
                  <a:fillRect l="-4" t="-3" r="11" b="-8332"/>
                </a:stretch>
              </a:blipFill>
            </p:spPr>
            <p:txBody>
              <a:bodyPr/>
              <a:lstStyle/>
              <a:p>
                <a:r>
                  <a:rPr lang="zh-CN" altLang="en-US">
                    <a:noFill/>
                  </a:rPr>
                  <a:t> </a:t>
                </a:r>
              </a:p>
            </p:txBody>
          </p:sp>
        </mc:Fallback>
      </mc:AlternateContent>
      <p:sp>
        <p:nvSpPr>
          <p:cNvPr id="13" name="矩形 12"/>
          <p:cNvSpPr/>
          <p:nvPr/>
        </p:nvSpPr>
        <p:spPr>
          <a:xfrm>
            <a:off x="7683754" y="3518320"/>
            <a:ext cx="2732720" cy="461665"/>
          </a:xfrm>
          <a:prstGeom prst="rect">
            <a:avLst/>
          </a:prstGeom>
        </p:spPr>
        <p:txBody>
          <a:bodyPr>
            <a:spAutoFit/>
          </a:bodyPr>
          <a:lstStyle/>
          <a:p>
            <a:pPr eaLnBrk="1" hangingPunct="1">
              <a:defRPr/>
            </a:pPr>
            <a:r>
              <a:rPr lang="en-US" altLang="zh-CN" b="1" kern="0" dirty="0">
                <a:solidFill>
                  <a:srgbClr val="000000"/>
                </a:solidFill>
                <a:latin typeface="+mn-ea"/>
              </a:rPr>
              <a:t>&lt;</a:t>
            </a:r>
            <a:r>
              <a:rPr lang="en-US" altLang="zh-CN" b="1" kern="0" dirty="0" err="1">
                <a:solidFill>
                  <a:srgbClr val="000000"/>
                </a:solidFill>
                <a:latin typeface="+mn-ea"/>
              </a:rPr>
              <a:t>x,y</a:t>
            </a:r>
            <a:r>
              <a:rPr lang="en-US" altLang="zh-CN" b="1" kern="0" dirty="0">
                <a:solidFill>
                  <a:srgbClr val="000000"/>
                </a:solidFill>
                <a:latin typeface="+mn-ea"/>
              </a:rPr>
              <a:t>&gt;∈A×B</a:t>
            </a:r>
            <a:endParaRPr lang="zh-CN" altLang="en-US" b="1" dirty="0">
              <a:latin typeface="+mn-ea"/>
            </a:endParaRPr>
          </a:p>
        </p:txBody>
      </p:sp>
      <p:sp>
        <p:nvSpPr>
          <p:cNvPr id="14" name="矩形 13"/>
          <p:cNvSpPr/>
          <p:nvPr/>
        </p:nvSpPr>
        <p:spPr>
          <a:xfrm>
            <a:off x="7683754" y="4155017"/>
            <a:ext cx="3050294" cy="461665"/>
          </a:xfrm>
          <a:prstGeom prst="rect">
            <a:avLst/>
          </a:prstGeom>
        </p:spPr>
        <p:txBody>
          <a:bodyPr>
            <a:spAutoFit/>
          </a:bodyPr>
          <a:lstStyle/>
          <a:p>
            <a:pPr eaLnBrk="1" hangingPunct="1">
              <a:defRPr/>
            </a:pPr>
            <a:r>
              <a:rPr lang="en-US" altLang="zh-CN" b="1" kern="0" dirty="0">
                <a:solidFill>
                  <a:srgbClr val="000000"/>
                </a:solidFill>
                <a:latin typeface="+mn-ea"/>
              </a:rPr>
              <a:t>&lt;</a:t>
            </a:r>
            <a:r>
              <a:rPr lang="en-US" altLang="zh-CN" b="1" kern="0" dirty="0" err="1">
                <a:solidFill>
                  <a:srgbClr val="000000"/>
                </a:solidFill>
                <a:latin typeface="+mn-ea"/>
              </a:rPr>
              <a:t>x,y</a:t>
            </a:r>
            <a:r>
              <a:rPr lang="en-US" altLang="zh-CN" b="1" kern="0" dirty="0">
                <a:solidFill>
                  <a:srgbClr val="000000"/>
                </a:solidFill>
                <a:latin typeface="+mn-ea"/>
              </a:rPr>
              <a:t>&gt;∈C×D</a:t>
            </a:r>
            <a:endParaRPr lang="zh-CN" altLang="en-US" b="1" dirty="0">
              <a:latin typeface="+mn-ea"/>
            </a:endParaRPr>
          </a:p>
        </p:txBody>
      </p:sp>
      <p:sp>
        <p:nvSpPr>
          <p:cNvPr id="15" name="矩形 14"/>
          <p:cNvSpPr/>
          <p:nvPr/>
        </p:nvSpPr>
        <p:spPr>
          <a:xfrm>
            <a:off x="5448623" y="4704198"/>
            <a:ext cx="3558412" cy="461665"/>
          </a:xfrm>
          <a:prstGeom prst="rect">
            <a:avLst/>
          </a:prstGeom>
        </p:spPr>
        <p:txBody>
          <a:bodyPr>
            <a:spAutoFit/>
          </a:bodyPr>
          <a:lstStyle/>
          <a:p>
            <a:pPr>
              <a:defRPr/>
            </a:pPr>
            <a:r>
              <a:rPr lang="en-US" altLang="zh-CN" b="1" dirty="0">
                <a:solidFill>
                  <a:srgbClr val="C00000"/>
                </a:solidFill>
                <a:latin typeface="+mn-ea"/>
                <a:sym typeface="Symbol" panose="05050102010706020507" pitchFamily="18" charset="2"/>
              </a:rPr>
              <a:t></a:t>
            </a:r>
            <a:r>
              <a:rPr lang="en-US" altLang="zh-CN" b="1" dirty="0">
                <a:solidFill>
                  <a:srgbClr val="FF0000"/>
                </a:solidFill>
                <a:latin typeface="+mn-ea"/>
                <a:sym typeface="Symbol" panose="05050102010706020507" pitchFamily="18" charset="2"/>
              </a:rPr>
              <a:t> </a:t>
            </a:r>
            <a:r>
              <a:rPr lang="en-US" altLang="zh-CN" b="1" kern="0" dirty="0" err="1">
                <a:solidFill>
                  <a:srgbClr val="000000"/>
                </a:solidFill>
                <a:latin typeface="+mn-ea"/>
              </a:rPr>
              <a:t>x∈</a:t>
            </a:r>
            <a:r>
              <a:rPr lang="en-US" altLang="zh-CN" b="1" kern="0" dirty="0" err="1">
                <a:latin typeface="+mn-ea"/>
              </a:rPr>
              <a:t>C</a:t>
            </a:r>
            <a:r>
              <a:rPr kumimoji="1" lang="en-US" altLang="zh-CN" b="1" noProof="1">
                <a:latin typeface="+mn-ea"/>
              </a:rPr>
              <a:t>∧</a:t>
            </a:r>
            <a:r>
              <a:rPr lang="en-US" altLang="zh-CN" b="1" kern="0" dirty="0" err="1">
                <a:solidFill>
                  <a:srgbClr val="000000"/>
                </a:solidFill>
                <a:latin typeface="+mn-ea"/>
              </a:rPr>
              <a:t>y∈D</a:t>
            </a:r>
            <a:endParaRPr lang="zh-CN" altLang="en-US" b="1" dirty="0">
              <a:latin typeface="+mn-ea"/>
            </a:endParaRPr>
          </a:p>
        </p:txBody>
      </p:sp>
      <p:sp>
        <p:nvSpPr>
          <p:cNvPr id="5" name="矩形 4"/>
          <p:cNvSpPr/>
          <p:nvPr/>
        </p:nvSpPr>
        <p:spPr>
          <a:xfrm>
            <a:off x="5429220" y="5280373"/>
            <a:ext cx="2218876" cy="461665"/>
          </a:xfrm>
          <a:prstGeom prst="rect">
            <a:avLst/>
          </a:prstGeom>
        </p:spPr>
        <p:txBody>
          <a:bodyPr wrap="none">
            <a:spAutoFit/>
          </a:bodyPr>
          <a:lstStyle/>
          <a:p>
            <a:pPr algn="ctr"/>
            <a:r>
              <a:rPr lang="en-US" altLang="zh-CN" b="1" dirty="0">
                <a:solidFill>
                  <a:srgbClr val="C00000"/>
                </a:solidFill>
                <a:latin typeface="+mn-ea"/>
                <a:sym typeface="Symbol" panose="05050102010706020507" pitchFamily="18" charset="2"/>
              </a:rPr>
              <a:t></a:t>
            </a:r>
            <a:r>
              <a:rPr lang="en-US" altLang="zh-CN" b="1" dirty="0">
                <a:solidFill>
                  <a:srgbClr val="FF0000"/>
                </a:solidFill>
                <a:latin typeface="+mn-ea"/>
                <a:sym typeface="Symbol" panose="05050102010706020507" pitchFamily="18" charset="2"/>
              </a:rPr>
              <a:t> </a:t>
            </a:r>
            <a:r>
              <a:rPr lang="en-US" altLang="zh-CN" b="1" dirty="0">
                <a:latin typeface="+mn-ea"/>
              </a:rPr>
              <a:t>A</a:t>
            </a:r>
            <a:r>
              <a:rPr kumimoji="1" lang="zh-CN" altLang="en-US" b="1" dirty="0">
                <a:latin typeface="+mn-ea"/>
                <a:sym typeface="Symbol" panose="05050102010706020507" pitchFamily="18" charset="2"/>
              </a:rPr>
              <a:t></a:t>
            </a:r>
            <a:r>
              <a:rPr lang="en-US" altLang="zh-CN" b="1" dirty="0">
                <a:latin typeface="+mn-ea"/>
              </a:rPr>
              <a:t>C</a:t>
            </a:r>
            <a:r>
              <a:rPr lang="zh-CN" altLang="en-US" b="1" dirty="0">
                <a:latin typeface="+mn-ea"/>
              </a:rPr>
              <a:t>，</a:t>
            </a:r>
            <a:r>
              <a:rPr lang="en-US" altLang="zh-CN" b="1" dirty="0">
                <a:latin typeface="+mn-ea"/>
              </a:rPr>
              <a:t>B</a:t>
            </a:r>
            <a:r>
              <a:rPr kumimoji="1" lang="zh-CN" altLang="en-US" b="1" dirty="0">
                <a:latin typeface="+mn-ea"/>
                <a:sym typeface="Symbol" panose="05050102010706020507" pitchFamily="18" charset="2"/>
              </a:rPr>
              <a:t></a:t>
            </a:r>
            <a:r>
              <a:rPr lang="en-US" altLang="zh-CN" b="1" dirty="0">
                <a:latin typeface="+mn-ea"/>
              </a:rPr>
              <a:t>D</a:t>
            </a:r>
            <a:endParaRPr lang="zh-CN" altLang="en-US" b="1" dirty="0">
              <a:latin typeface="+mn-ea"/>
            </a:endParaRPr>
          </a:p>
        </p:txBody>
      </p:sp>
      <p:sp>
        <p:nvSpPr>
          <p:cNvPr id="9" name="矩形 8"/>
          <p:cNvSpPr/>
          <p:nvPr/>
        </p:nvSpPr>
        <p:spPr>
          <a:xfrm>
            <a:off x="384175" y="6055535"/>
            <a:ext cx="3262432" cy="461665"/>
          </a:xfrm>
          <a:prstGeom prst="rect">
            <a:avLst/>
          </a:prstGeom>
        </p:spPr>
        <p:txBody>
          <a:bodyPr wrap="none">
            <a:spAutoFit/>
          </a:bodyPr>
          <a:lstStyle/>
          <a:p>
            <a:r>
              <a:rPr lang="zh-CN" altLang="en-US" b="1">
                <a:latin typeface="+mn-ea"/>
              </a:rPr>
              <a:t>综上所述，定理</a:t>
            </a:r>
            <a:r>
              <a:rPr lang="zh-CN" altLang="en-US" b="1" dirty="0">
                <a:latin typeface="+mn-ea"/>
              </a:rPr>
              <a:t>成立。</a:t>
            </a:r>
            <a:endParaRPr lang="zh-CN" altLang="en-US" b="1" dirty="0">
              <a:latin typeface="+mn-ea"/>
            </a:endParaRPr>
          </a:p>
        </p:txBody>
      </p:sp>
      <p:sp>
        <p:nvSpPr>
          <p:cNvPr id="11" name="矩形 10"/>
          <p:cNvSpPr/>
          <p:nvPr/>
        </p:nvSpPr>
        <p:spPr>
          <a:xfrm>
            <a:off x="5404734" y="4036915"/>
            <a:ext cx="2159566" cy="579710"/>
          </a:xfrm>
          <a:prstGeom prst="rect">
            <a:avLst/>
          </a:prstGeom>
        </p:spPr>
        <p:txBody>
          <a:bodyPr wrap="none">
            <a:spAutoFit/>
          </a:bodyPr>
          <a:lstStyle/>
          <a:p>
            <a:pPr>
              <a:lnSpc>
                <a:spcPct val="150000"/>
              </a:lnSpc>
            </a:pPr>
            <a:r>
              <a:rPr lang="en-US" altLang="zh-CN" b="1" dirty="0">
                <a:latin typeface="+mn-ea"/>
              </a:rPr>
              <a:t>A×B</a:t>
            </a:r>
            <a:r>
              <a:rPr kumimoji="1" lang="zh-CN" altLang="en-US" b="1" dirty="0">
                <a:latin typeface="+mn-ea"/>
                <a:sym typeface="Symbol" panose="05050102010706020507" pitchFamily="18" charset="2"/>
              </a:rPr>
              <a:t></a:t>
            </a:r>
            <a:r>
              <a:rPr lang="en-US" altLang="zh-CN" b="1" dirty="0">
                <a:latin typeface="+mn-ea"/>
              </a:rPr>
              <a:t>C×D</a:t>
            </a:r>
            <a:r>
              <a:rPr lang="en-US" altLang="zh-CN" b="1" dirty="0">
                <a:solidFill>
                  <a:srgbClr val="FF0000"/>
                </a:solidFill>
                <a:latin typeface="+mn-ea"/>
                <a:sym typeface="Symbol" panose="05050102010706020507" pitchFamily="18" charset="2"/>
              </a:rPr>
              <a:t> </a:t>
            </a:r>
            <a:r>
              <a:rPr lang="en-US" altLang="zh-CN" b="1" dirty="0">
                <a:solidFill>
                  <a:srgbClr val="C00000"/>
                </a:solidFill>
                <a:latin typeface="+mn-ea"/>
                <a:sym typeface="Symbol" panose="05050102010706020507" pitchFamily="18" charset="2"/>
              </a:rPr>
              <a:t></a:t>
            </a:r>
            <a:endParaRPr lang="zh-CN" altLang="en-US" b="1" dirty="0">
              <a:solidFill>
                <a:srgbClr val="C00000"/>
              </a:solidFill>
              <a:latin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2403">
                                            <p:txEl>
                                              <p:pRg st="2" end="2"/>
                                            </p:txEl>
                                          </p:spTgt>
                                        </p:tgtEl>
                                        <p:attrNameLst>
                                          <p:attrName>style.visibility</p:attrName>
                                        </p:attrNameLst>
                                      </p:cBhvr>
                                      <p:to>
                                        <p:strVal val="visible"/>
                                      </p:to>
                                    </p:set>
                                    <p:anim calcmode="lin" valueType="num">
                                      <p:cBhvr additive="base">
                                        <p:cTn id="7" dur="500" fill="hold"/>
                                        <p:tgtEl>
                                          <p:spTgt spid="138240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24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2403">
                                            <p:txEl>
                                              <p:pRg st="3" end="3"/>
                                            </p:txEl>
                                          </p:spTgt>
                                        </p:tgtEl>
                                        <p:attrNameLst>
                                          <p:attrName>style.visibility</p:attrName>
                                        </p:attrNameLst>
                                      </p:cBhvr>
                                      <p:to>
                                        <p:strVal val="visible"/>
                                      </p:to>
                                    </p:set>
                                    <p:anim calcmode="lin" valueType="num">
                                      <p:cBhvr additive="base">
                                        <p:cTn id="13" dur="500" fill="hold"/>
                                        <p:tgtEl>
                                          <p:spTgt spid="138240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24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2403">
                                            <p:txEl>
                                              <p:pRg st="4" end="4"/>
                                            </p:txEl>
                                          </p:spTgt>
                                        </p:tgtEl>
                                        <p:attrNameLst>
                                          <p:attrName>style.visibility</p:attrName>
                                        </p:attrNameLst>
                                      </p:cBhvr>
                                      <p:to>
                                        <p:strVal val="visible"/>
                                      </p:to>
                                    </p:set>
                                    <p:anim calcmode="lin" valueType="num">
                                      <p:cBhvr additive="base">
                                        <p:cTn id="19" dur="500" fill="hold"/>
                                        <p:tgtEl>
                                          <p:spTgt spid="13824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24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heel(1)">
                                      <p:cBhvr>
                                        <p:cTn id="31" dur="20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fltVal val="0"/>
                                          </p:val>
                                        </p:tav>
                                        <p:tav tm="100000">
                                          <p:val>
                                            <p:strVal val="#ppt_h"/>
                                          </p:val>
                                        </p:tav>
                                      </p:tavLst>
                                    </p:anim>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2" presetClass="entr" presetSubtype="4" fill="hold" grpId="0" nodeType="afterEffect">
                                  <p:stCondLst>
                                    <p:cond delay="0"/>
                                  </p:stCondLst>
                                  <p:childTnLst>
                                    <p:set>
                                      <p:cBhvr>
                                        <p:cTn id="53" dur="1" fill="hold">
                                          <p:stCondLst>
                                            <p:cond delay="0"/>
                                          </p:stCondLst>
                                        </p:cTn>
                                        <p:tgtEl>
                                          <p:spTgt spid="12">
                                            <p:txEl>
                                              <p:pRg st="0" end="0"/>
                                            </p:txEl>
                                          </p:spTgt>
                                        </p:tgtEl>
                                        <p:attrNameLst>
                                          <p:attrName>style.visibility</p:attrName>
                                        </p:attrNameLst>
                                      </p:cBhvr>
                                      <p:to>
                                        <p:strVal val="visible"/>
                                      </p:to>
                                    </p:set>
                                    <p:anim calcmode="lin" valueType="num">
                                      <p:cBhvr additive="base">
                                        <p:cTn id="54"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56" fill="hold">
                            <p:stCondLst>
                              <p:cond delay="1000"/>
                            </p:stCondLst>
                            <p:childTnLst>
                              <p:par>
                                <p:cTn id="57" presetID="2" presetClass="entr" presetSubtype="4" fill="hold" grpId="0" nodeType="afterEffect">
                                  <p:stCondLst>
                                    <p:cond delay="0"/>
                                  </p:stCondLst>
                                  <p:childTnLst>
                                    <p:set>
                                      <p:cBhvr>
                                        <p:cTn id="58" dur="1" fill="hold">
                                          <p:stCondLst>
                                            <p:cond delay="0"/>
                                          </p:stCondLst>
                                        </p:cTn>
                                        <p:tgtEl>
                                          <p:spTgt spid="12">
                                            <p:txEl>
                                              <p:pRg st="1" end="1"/>
                                            </p:txEl>
                                          </p:spTgt>
                                        </p:tgtEl>
                                        <p:attrNameLst>
                                          <p:attrName>style.visibility</p:attrName>
                                        </p:attrNameLst>
                                      </p:cBhvr>
                                      <p:to>
                                        <p:strVal val="visible"/>
                                      </p:to>
                                    </p:set>
                                    <p:anim calcmode="lin" valueType="num">
                                      <p:cBhvr additive="base">
                                        <p:cTn id="59"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par>
                          <p:cTn id="61" fill="hold">
                            <p:stCondLst>
                              <p:cond delay="1500"/>
                            </p:stCondLst>
                            <p:childTnLst>
                              <p:par>
                                <p:cTn id="62" presetID="2" presetClass="entr" presetSubtype="4" fill="hold" grpId="0" nodeType="afterEffect">
                                  <p:stCondLst>
                                    <p:cond delay="0"/>
                                  </p:stCondLst>
                                  <p:childTnLst>
                                    <p:set>
                                      <p:cBhvr>
                                        <p:cTn id="63" dur="1" fill="hold">
                                          <p:stCondLst>
                                            <p:cond delay="0"/>
                                          </p:stCondLst>
                                        </p:cTn>
                                        <p:tgtEl>
                                          <p:spTgt spid="12">
                                            <p:txEl>
                                              <p:pRg st="2" end="2"/>
                                            </p:txEl>
                                          </p:spTgt>
                                        </p:tgtEl>
                                        <p:attrNameLst>
                                          <p:attrName>style.visibility</p:attrName>
                                        </p:attrNameLst>
                                      </p:cBhvr>
                                      <p:to>
                                        <p:strVal val="visible"/>
                                      </p:to>
                                    </p:set>
                                    <p:anim calcmode="lin" valueType="num">
                                      <p:cBhvr additive="base">
                                        <p:cTn id="64"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additive="base">
                                        <p:cTn id="70" dur="500" fill="hold"/>
                                        <p:tgtEl>
                                          <p:spTgt spid="13"/>
                                        </p:tgtEl>
                                        <p:attrNameLst>
                                          <p:attrName>ppt_x</p:attrName>
                                        </p:attrNameLst>
                                      </p:cBhvr>
                                      <p:tavLst>
                                        <p:tav tm="0">
                                          <p:val>
                                            <p:strVal val="#ppt_x"/>
                                          </p:val>
                                        </p:tav>
                                        <p:tav tm="100000">
                                          <p:val>
                                            <p:strVal val="#ppt_x"/>
                                          </p:val>
                                        </p:tav>
                                      </p:tavLst>
                                    </p:anim>
                                    <p:anim calcmode="lin" valueType="num">
                                      <p:cBhvr additive="base">
                                        <p:cTn id="7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 calcmode="lin" valueType="num">
                                      <p:cBhvr additive="base">
                                        <p:cTn id="83" dur="500" fill="hold"/>
                                        <p:tgtEl>
                                          <p:spTgt spid="14"/>
                                        </p:tgtEl>
                                        <p:attrNameLst>
                                          <p:attrName>ppt_x</p:attrName>
                                        </p:attrNameLst>
                                      </p:cBhvr>
                                      <p:tavLst>
                                        <p:tav tm="0">
                                          <p:val>
                                            <p:strVal val="#ppt_x"/>
                                          </p:val>
                                        </p:tav>
                                        <p:tav tm="100000">
                                          <p:val>
                                            <p:strVal val="#ppt_x"/>
                                          </p:val>
                                        </p:tav>
                                      </p:tavLst>
                                    </p:anim>
                                    <p:anim calcmode="lin" valueType="num">
                                      <p:cBhvr additive="base">
                                        <p:cTn id="8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additive="base">
                                        <p:cTn id="89" dur="500" fill="hold"/>
                                        <p:tgtEl>
                                          <p:spTgt spid="15"/>
                                        </p:tgtEl>
                                        <p:attrNameLst>
                                          <p:attrName>ppt_x</p:attrName>
                                        </p:attrNameLst>
                                      </p:cBhvr>
                                      <p:tavLst>
                                        <p:tav tm="0">
                                          <p:val>
                                            <p:strVal val="#ppt_x"/>
                                          </p:val>
                                        </p:tav>
                                        <p:tav tm="100000">
                                          <p:val>
                                            <p:strVal val="#ppt_x"/>
                                          </p:val>
                                        </p:tav>
                                      </p:tavLst>
                                    </p:anim>
                                    <p:anim calcmode="lin" valueType="num">
                                      <p:cBhvr additive="base">
                                        <p:cTn id="9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6" presetClass="entr" presetSubtype="0" fill="hold" grpId="0" nodeType="clickEffect">
                                  <p:stCondLst>
                                    <p:cond delay="0"/>
                                  </p:stCondLst>
                                  <p:childTnLst>
                                    <p:set>
                                      <p:cBhvr>
                                        <p:cTn id="94" dur="1" fill="hold">
                                          <p:stCondLst>
                                            <p:cond delay="0"/>
                                          </p:stCondLst>
                                        </p:cTn>
                                        <p:tgtEl>
                                          <p:spTgt spid="5"/>
                                        </p:tgtEl>
                                        <p:attrNameLst>
                                          <p:attrName>style.visibility</p:attrName>
                                        </p:attrNameLst>
                                      </p:cBhvr>
                                      <p:to>
                                        <p:strVal val="visible"/>
                                      </p:to>
                                    </p:set>
                                    <p:animEffect transition="in" filter="wipe(down)">
                                      <p:cBhvr>
                                        <p:cTn id="95" dur="580">
                                          <p:stCondLst>
                                            <p:cond delay="0"/>
                                          </p:stCondLst>
                                        </p:cTn>
                                        <p:tgtEl>
                                          <p:spTgt spid="5"/>
                                        </p:tgtEl>
                                      </p:cBhvr>
                                    </p:animEffect>
                                    <p:anim calcmode="lin" valueType="num">
                                      <p:cBhvr>
                                        <p:cTn id="9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9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9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0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01" dur="26">
                                          <p:stCondLst>
                                            <p:cond delay="650"/>
                                          </p:stCondLst>
                                        </p:cTn>
                                        <p:tgtEl>
                                          <p:spTgt spid="5"/>
                                        </p:tgtEl>
                                      </p:cBhvr>
                                      <p:to x="100000" y="60000"/>
                                    </p:animScale>
                                    <p:animScale>
                                      <p:cBhvr>
                                        <p:cTn id="102" dur="166" decel="50000">
                                          <p:stCondLst>
                                            <p:cond delay="676"/>
                                          </p:stCondLst>
                                        </p:cTn>
                                        <p:tgtEl>
                                          <p:spTgt spid="5"/>
                                        </p:tgtEl>
                                      </p:cBhvr>
                                      <p:to x="100000" y="100000"/>
                                    </p:animScale>
                                    <p:animScale>
                                      <p:cBhvr>
                                        <p:cTn id="103" dur="26">
                                          <p:stCondLst>
                                            <p:cond delay="1312"/>
                                          </p:stCondLst>
                                        </p:cTn>
                                        <p:tgtEl>
                                          <p:spTgt spid="5"/>
                                        </p:tgtEl>
                                      </p:cBhvr>
                                      <p:to x="100000" y="80000"/>
                                    </p:animScale>
                                    <p:animScale>
                                      <p:cBhvr>
                                        <p:cTn id="104" dur="166" decel="50000">
                                          <p:stCondLst>
                                            <p:cond delay="1338"/>
                                          </p:stCondLst>
                                        </p:cTn>
                                        <p:tgtEl>
                                          <p:spTgt spid="5"/>
                                        </p:tgtEl>
                                      </p:cBhvr>
                                      <p:to x="100000" y="100000"/>
                                    </p:animScale>
                                    <p:animScale>
                                      <p:cBhvr>
                                        <p:cTn id="105" dur="26">
                                          <p:stCondLst>
                                            <p:cond delay="1642"/>
                                          </p:stCondLst>
                                        </p:cTn>
                                        <p:tgtEl>
                                          <p:spTgt spid="5"/>
                                        </p:tgtEl>
                                      </p:cBhvr>
                                      <p:to x="100000" y="90000"/>
                                    </p:animScale>
                                    <p:animScale>
                                      <p:cBhvr>
                                        <p:cTn id="106" dur="166" decel="50000">
                                          <p:stCondLst>
                                            <p:cond delay="1668"/>
                                          </p:stCondLst>
                                        </p:cTn>
                                        <p:tgtEl>
                                          <p:spTgt spid="5"/>
                                        </p:tgtEl>
                                      </p:cBhvr>
                                      <p:to x="100000" y="100000"/>
                                    </p:animScale>
                                    <p:animScale>
                                      <p:cBhvr>
                                        <p:cTn id="107" dur="26">
                                          <p:stCondLst>
                                            <p:cond delay="1808"/>
                                          </p:stCondLst>
                                        </p:cTn>
                                        <p:tgtEl>
                                          <p:spTgt spid="5"/>
                                        </p:tgtEl>
                                      </p:cBhvr>
                                      <p:to x="100000" y="95000"/>
                                    </p:animScale>
                                    <p:animScale>
                                      <p:cBhvr>
                                        <p:cTn id="108" dur="166" decel="50000">
                                          <p:stCondLst>
                                            <p:cond delay="1834"/>
                                          </p:stCondLst>
                                        </p:cTn>
                                        <p:tgtEl>
                                          <p:spTgt spid="5"/>
                                        </p:tgtEl>
                                      </p:cBhvr>
                                      <p:to x="100000" y="100000"/>
                                    </p:animScale>
                                  </p:childTnLst>
                                </p:cTn>
                              </p:par>
                            </p:childTnLst>
                          </p:cTn>
                        </p:par>
                      </p:childTnLst>
                    </p:cTn>
                  </p:par>
                  <p:par>
                    <p:cTn id="109" fill="hold">
                      <p:stCondLst>
                        <p:cond delay="indefinite"/>
                      </p:stCondLst>
                      <p:childTnLst>
                        <p:par>
                          <p:cTn id="110" fill="hold">
                            <p:stCondLst>
                              <p:cond delay="0"/>
                            </p:stCondLst>
                            <p:childTnLst>
                              <p:par>
                                <p:cTn id="111" presetID="14" presetClass="entr" presetSubtype="10" fill="hold" grpId="0" nodeType="click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randombar(horizontal)">
                                      <p:cBhvr>
                                        <p:cTn id="1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uiExpand="1" build="p"/>
      <p:bldP spid="6" grpId="0"/>
      <p:bldP spid="7" grpId="0"/>
      <p:bldP spid="8" grpId="0"/>
      <p:bldP spid="2" grpId="0"/>
      <p:bldP spid="4" grpId="0"/>
      <p:bldP spid="12" grpId="0" build="p"/>
      <p:bldP spid="13" grpId="0"/>
      <p:bldP spid="14" grpId="0"/>
      <p:bldP spid="15" grpId="0"/>
      <p:bldP spid="5" grpId="0"/>
      <p:bldP spid="9"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dirty="0"/>
              <a:t>笛卡尔积的推广</a:t>
            </a:r>
            <a:endParaRPr lang="zh-CN" altLang="en-US" dirty="0"/>
          </a:p>
        </p:txBody>
      </p:sp>
      <p:sp>
        <p:nvSpPr>
          <p:cNvPr id="1386499" name="Rectangle 3"/>
          <p:cNvSpPr>
            <a:spLocks noGrp="1" noChangeArrowheads="1"/>
          </p:cNvSpPr>
          <p:nvPr>
            <p:ph type="body" idx="1"/>
          </p:nvPr>
        </p:nvSpPr>
        <p:spPr>
          <a:xfrm>
            <a:off x="371032" y="1677195"/>
            <a:ext cx="11201400" cy="2590800"/>
          </a:xfrm>
        </p:spPr>
        <p:txBody>
          <a:bodyPr/>
          <a:lstStyle/>
          <a:p>
            <a:pPr marL="0" indent="0">
              <a:lnSpc>
                <a:spcPct val="150000"/>
              </a:lnSpc>
              <a:buNone/>
            </a:pPr>
            <a:r>
              <a:rPr lang="zh-CN" altLang="en-US" dirty="0">
                <a:solidFill>
                  <a:srgbClr val="C00000"/>
                </a:solidFill>
              </a:rPr>
              <a:t>定义</a:t>
            </a:r>
            <a:r>
              <a:rPr lang="en-US" altLang="zh-CN" dirty="0">
                <a:solidFill>
                  <a:srgbClr val="C00000"/>
                </a:solidFill>
              </a:rPr>
              <a:t>4.4  </a:t>
            </a:r>
            <a:r>
              <a:rPr lang="zh-CN" altLang="en-US" dirty="0"/>
              <a:t>设</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zh-CN" altLang="en-US" dirty="0"/>
              <a:t>是</a:t>
            </a:r>
            <a:r>
              <a:rPr lang="en-US" altLang="zh-CN" dirty="0"/>
              <a:t>n</a:t>
            </a:r>
            <a:r>
              <a:rPr lang="zh-CN" altLang="en-US" dirty="0"/>
              <a:t>个集合，称</a:t>
            </a:r>
            <a:endParaRPr lang="zh-CN" altLang="en-US" dirty="0"/>
          </a:p>
          <a:p>
            <a:pPr marL="0" indent="0" algn="ctr">
              <a:lnSpc>
                <a:spcPct val="150000"/>
              </a:lnSpc>
              <a:buNone/>
            </a:pP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  </a:t>
            </a:r>
            <a:r>
              <a:rPr lang="en-US" altLang="zh-CN" dirty="0"/>
              <a:t>={&lt;a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&gt;|(</a:t>
            </a:r>
            <a:r>
              <a:rPr lang="en-US" altLang="zh-CN" dirty="0" err="1"/>
              <a:t>a</a:t>
            </a:r>
            <a:r>
              <a:rPr lang="en-US" altLang="zh-CN" baseline="-25000" dirty="0" err="1"/>
              <a:t>i</a:t>
            </a:r>
            <a:r>
              <a:rPr lang="en-US" altLang="zh-CN" dirty="0" err="1"/>
              <a:t>∈A</a:t>
            </a:r>
            <a:r>
              <a:rPr lang="en-US" altLang="zh-CN" baseline="-25000" dirty="0" err="1"/>
              <a:t>i</a:t>
            </a:r>
            <a:r>
              <a:rPr lang="en-US" altLang="zh-CN" dirty="0"/>
              <a:t>)∧</a:t>
            </a:r>
            <a:r>
              <a:rPr lang="en-US" altLang="zh-CN" dirty="0" err="1"/>
              <a:t>i</a:t>
            </a:r>
            <a:r>
              <a:rPr lang="en-US" altLang="zh-CN" dirty="0"/>
              <a:t>∈{1,2,3,</a:t>
            </a:r>
            <a:r>
              <a:rPr lang="en-US" altLang="zh-CN" dirty="0">
                <a:latin typeface="宋体" panose="02010600030101010101" pitchFamily="2" charset="-122"/>
              </a:rPr>
              <a:t>…</a:t>
            </a:r>
            <a:r>
              <a:rPr lang="en-US" altLang="zh-CN" dirty="0"/>
              <a:t>,n}}            </a:t>
            </a:r>
            <a:r>
              <a:rPr lang="zh-CN" altLang="en-US" dirty="0"/>
              <a:t>（</a:t>
            </a:r>
            <a:r>
              <a:rPr lang="en-US" altLang="zh-CN" dirty="0"/>
              <a:t>4-2</a:t>
            </a:r>
            <a:r>
              <a:rPr lang="zh-CN" altLang="en-US" dirty="0"/>
              <a:t>）</a:t>
            </a:r>
            <a:endParaRPr lang="en-US" altLang="zh-CN" dirty="0"/>
          </a:p>
          <a:p>
            <a:pPr marL="0" indent="0">
              <a:lnSpc>
                <a:spcPct val="150000"/>
              </a:lnSpc>
              <a:buNone/>
            </a:pPr>
            <a:r>
              <a:rPr lang="zh-CN" altLang="en-US" dirty="0"/>
              <a:t>为集合</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zh-CN" altLang="en-US" dirty="0"/>
              <a:t>的</a:t>
            </a:r>
            <a:r>
              <a:rPr lang="zh-CN" altLang="en-US" dirty="0">
                <a:solidFill>
                  <a:srgbClr val="0000CC"/>
                </a:solidFill>
              </a:rPr>
              <a:t>笛卡儿积</a:t>
            </a:r>
            <a:r>
              <a:rPr lang="en-US" altLang="zh-CN" dirty="0">
                <a:solidFill>
                  <a:srgbClr val="0000CC"/>
                </a:solidFill>
              </a:rPr>
              <a:t>(</a:t>
            </a:r>
            <a:r>
              <a:rPr lang="en-US" altLang="zh-CN" dirty="0"/>
              <a:t>Descartes  Product)</a:t>
            </a:r>
            <a:endParaRPr lang="zh-CN" altLang="en-US" dirty="0"/>
          </a:p>
          <a:p>
            <a:pPr marL="0" indent="0">
              <a:lnSpc>
                <a:spcPct val="150000"/>
              </a:lnSpc>
              <a:spcBef>
                <a:spcPct val="50000"/>
              </a:spcBef>
              <a:buNone/>
            </a:pPr>
            <a:r>
              <a:rPr lang="zh-CN" altLang="en-US" dirty="0"/>
              <a:t>当</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=A</a:t>
            </a:r>
            <a:r>
              <a:rPr lang="zh-CN" altLang="en-US" dirty="0"/>
              <a:t>时，有</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=A</a:t>
            </a:r>
            <a:r>
              <a:rPr lang="en-US" altLang="zh-CN" baseline="30000" dirty="0"/>
              <a:t>n</a:t>
            </a:r>
            <a:r>
              <a:rPr lang="zh-CN" altLang="en-US" dirty="0"/>
              <a:t>。</a:t>
            </a:r>
            <a:endParaRPr lang="zh-CN" altLang="en-US" dirty="0"/>
          </a:p>
        </p:txBody>
      </p:sp>
      <p:sp>
        <p:nvSpPr>
          <p:cNvPr id="4" name="Rectangle 3"/>
          <p:cNvSpPr txBox="1">
            <a:spLocks noChangeArrowheads="1"/>
          </p:cNvSpPr>
          <p:nvPr/>
        </p:nvSpPr>
        <p:spPr>
          <a:xfrm>
            <a:off x="373173" y="4344194"/>
            <a:ext cx="11201400" cy="838199"/>
          </a:xfrm>
          <a:prstGeom prst="rect">
            <a:avLst/>
          </a:prstGeom>
          <a:solidFill>
            <a:srgbClr val="1157AB"/>
          </a:solidFill>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spcBef>
                <a:spcPct val="50000"/>
              </a:spcBef>
              <a:buFont typeface="Wingdings" panose="05000000000000000000" pitchFamily="2" charset="2"/>
              <a:buNone/>
            </a:pPr>
            <a:r>
              <a:rPr lang="zh-CN" altLang="en-US" dirty="0">
                <a:solidFill>
                  <a:schemeClr val="bg1"/>
                </a:solidFill>
              </a:rPr>
              <a:t>注意： 当集合</a:t>
            </a:r>
            <a:r>
              <a:rPr lang="en-US" altLang="zh-CN" dirty="0">
                <a:solidFill>
                  <a:schemeClr val="bg1"/>
                </a:solidFill>
              </a:rPr>
              <a:t>A</a:t>
            </a:r>
            <a:r>
              <a:rPr lang="en-US" altLang="zh-CN" baseline="-25000" dirty="0">
                <a:solidFill>
                  <a:schemeClr val="bg1"/>
                </a:solidFill>
              </a:rPr>
              <a:t>1</a:t>
            </a:r>
            <a:r>
              <a:rPr lang="en-US" altLang="zh-CN" dirty="0">
                <a:solidFill>
                  <a:schemeClr val="bg1"/>
                </a:solidFill>
              </a:rPr>
              <a:t>,A</a:t>
            </a:r>
            <a:r>
              <a:rPr lang="en-US" altLang="zh-CN" baseline="-25000" dirty="0">
                <a:solidFill>
                  <a:schemeClr val="bg1"/>
                </a:solidFill>
              </a:rPr>
              <a:t>2</a:t>
            </a:r>
            <a:r>
              <a:rPr lang="en-US" altLang="zh-CN" dirty="0">
                <a:solidFill>
                  <a:schemeClr val="bg1"/>
                </a:solidFill>
              </a:rPr>
              <a:t>,</a:t>
            </a:r>
            <a:r>
              <a:rPr lang="en-US" altLang="zh-CN" dirty="0">
                <a:solidFill>
                  <a:schemeClr val="bg1"/>
                </a:solidFill>
                <a:latin typeface="宋体" panose="02010600030101010101" pitchFamily="2" charset="-122"/>
              </a:rPr>
              <a:t>…</a:t>
            </a:r>
            <a:r>
              <a:rPr lang="en-US" altLang="zh-CN" dirty="0">
                <a:solidFill>
                  <a:schemeClr val="bg1"/>
                </a:solidFill>
              </a:rPr>
              <a:t>,A</a:t>
            </a:r>
            <a:r>
              <a:rPr lang="en-US" altLang="zh-CN" baseline="-25000" dirty="0">
                <a:solidFill>
                  <a:schemeClr val="bg1"/>
                </a:solidFill>
              </a:rPr>
              <a:t>n</a:t>
            </a:r>
            <a:r>
              <a:rPr lang="zh-CN" altLang="en-US" dirty="0">
                <a:solidFill>
                  <a:schemeClr val="bg1"/>
                </a:solidFill>
              </a:rPr>
              <a:t>都是有限集时，</a:t>
            </a:r>
            <a:r>
              <a:rPr lang="en-US" altLang="zh-CN" dirty="0">
                <a:solidFill>
                  <a:schemeClr val="bg1"/>
                </a:solidFill>
              </a:rPr>
              <a:t>|A</a:t>
            </a:r>
            <a:r>
              <a:rPr lang="en-US" altLang="zh-CN" baseline="-25000" dirty="0">
                <a:solidFill>
                  <a:schemeClr val="bg1"/>
                </a:solidFill>
              </a:rPr>
              <a:t>1</a:t>
            </a:r>
            <a:r>
              <a:rPr lang="en-US" altLang="zh-CN" dirty="0">
                <a:solidFill>
                  <a:schemeClr val="bg1"/>
                </a:solidFill>
              </a:rPr>
              <a:t>×A</a:t>
            </a:r>
            <a:r>
              <a:rPr lang="en-US" altLang="zh-CN" baseline="-25000" dirty="0">
                <a:solidFill>
                  <a:schemeClr val="bg1"/>
                </a:solidFill>
              </a:rPr>
              <a:t>2</a:t>
            </a:r>
            <a:r>
              <a:rPr lang="en-US" altLang="zh-CN" dirty="0">
                <a:solidFill>
                  <a:schemeClr val="bg1"/>
                </a:solidFill>
              </a:rPr>
              <a:t>×</a:t>
            </a:r>
            <a:r>
              <a:rPr lang="en-US" altLang="zh-CN" dirty="0">
                <a:solidFill>
                  <a:schemeClr val="bg1"/>
                </a:solidFill>
                <a:latin typeface="宋体" panose="02010600030101010101" pitchFamily="2" charset="-122"/>
              </a:rPr>
              <a:t>…</a:t>
            </a:r>
            <a:r>
              <a:rPr lang="en-US" altLang="zh-CN" dirty="0">
                <a:solidFill>
                  <a:schemeClr val="bg1"/>
                </a:solidFill>
              </a:rPr>
              <a:t>×A</a:t>
            </a:r>
            <a:r>
              <a:rPr lang="en-US" altLang="zh-CN" baseline="-25000" dirty="0">
                <a:solidFill>
                  <a:schemeClr val="bg1"/>
                </a:solidFill>
              </a:rPr>
              <a:t>n</a:t>
            </a:r>
            <a:r>
              <a:rPr lang="en-US" altLang="zh-CN" dirty="0">
                <a:solidFill>
                  <a:schemeClr val="bg1"/>
                </a:solidFill>
              </a:rPr>
              <a:t>|=|A</a:t>
            </a:r>
            <a:r>
              <a:rPr lang="en-US" altLang="zh-CN" baseline="-25000" dirty="0">
                <a:solidFill>
                  <a:schemeClr val="bg1"/>
                </a:solidFill>
              </a:rPr>
              <a:t>1</a:t>
            </a:r>
            <a:r>
              <a:rPr lang="en-US" altLang="zh-CN" dirty="0">
                <a:solidFill>
                  <a:schemeClr val="bg1"/>
                </a:solidFill>
              </a:rPr>
              <a:t>|×|A</a:t>
            </a:r>
            <a:r>
              <a:rPr lang="en-US" altLang="zh-CN" baseline="-25000" dirty="0">
                <a:solidFill>
                  <a:schemeClr val="bg1"/>
                </a:solidFill>
              </a:rPr>
              <a:t>2</a:t>
            </a:r>
            <a:r>
              <a:rPr lang="en-US" altLang="zh-CN" dirty="0">
                <a:solidFill>
                  <a:schemeClr val="bg1"/>
                </a:solidFill>
              </a:rPr>
              <a:t>|×</a:t>
            </a:r>
            <a:r>
              <a:rPr lang="en-US" altLang="zh-CN" dirty="0">
                <a:solidFill>
                  <a:schemeClr val="bg1"/>
                </a:solidFill>
                <a:latin typeface="宋体" panose="02010600030101010101" pitchFamily="2" charset="-122"/>
              </a:rPr>
              <a:t>…</a:t>
            </a:r>
            <a:r>
              <a:rPr lang="en-US" altLang="zh-CN" dirty="0">
                <a:solidFill>
                  <a:schemeClr val="bg1"/>
                </a:solidFill>
              </a:rPr>
              <a:t>×|A</a:t>
            </a:r>
            <a:r>
              <a:rPr lang="en-US" altLang="zh-CN" baseline="-25000" dirty="0">
                <a:solidFill>
                  <a:schemeClr val="bg1"/>
                </a:solidFill>
              </a:rPr>
              <a:t>n</a:t>
            </a:r>
            <a:r>
              <a:rPr lang="en-US" altLang="zh-CN" dirty="0">
                <a:solidFill>
                  <a:schemeClr val="bg1"/>
                </a:solidFill>
              </a:rPr>
              <a:t>|</a:t>
            </a:r>
            <a:r>
              <a:rPr lang="zh-CN" altLang="en-US" dirty="0">
                <a:solidFill>
                  <a:schemeClr val="bg1"/>
                </a:solidFill>
              </a:rPr>
              <a:t>。</a:t>
            </a:r>
            <a:endParaRPr lang="zh-CN" altLang="en-US" dirty="0">
              <a:solidFill>
                <a:schemeClr val="bg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6499">
                                            <p:txEl>
                                              <p:pRg st="0" end="0"/>
                                            </p:txEl>
                                          </p:spTgt>
                                        </p:tgtEl>
                                        <p:attrNameLst>
                                          <p:attrName>style.visibility</p:attrName>
                                        </p:attrNameLst>
                                      </p:cBhvr>
                                      <p:to>
                                        <p:strVal val="visible"/>
                                      </p:to>
                                    </p:set>
                                    <p:anim calcmode="lin" valueType="num">
                                      <p:cBhvr additive="base">
                                        <p:cTn id="7" dur="500" fill="hold"/>
                                        <p:tgtEl>
                                          <p:spTgt spid="13864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64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6499">
                                            <p:txEl>
                                              <p:pRg st="1" end="1"/>
                                            </p:txEl>
                                          </p:spTgt>
                                        </p:tgtEl>
                                        <p:attrNameLst>
                                          <p:attrName>style.visibility</p:attrName>
                                        </p:attrNameLst>
                                      </p:cBhvr>
                                      <p:to>
                                        <p:strVal val="visible"/>
                                      </p:to>
                                    </p:set>
                                    <p:anim calcmode="lin" valueType="num">
                                      <p:cBhvr additive="base">
                                        <p:cTn id="13" dur="500" fill="hold"/>
                                        <p:tgtEl>
                                          <p:spTgt spid="13864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64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6499">
                                            <p:txEl>
                                              <p:pRg st="2" end="2"/>
                                            </p:txEl>
                                          </p:spTgt>
                                        </p:tgtEl>
                                        <p:attrNameLst>
                                          <p:attrName>style.visibility</p:attrName>
                                        </p:attrNameLst>
                                      </p:cBhvr>
                                      <p:to>
                                        <p:strVal val="visible"/>
                                      </p:to>
                                    </p:set>
                                    <p:anim calcmode="lin" valueType="num">
                                      <p:cBhvr additive="base">
                                        <p:cTn id="19" dur="500" fill="hold"/>
                                        <p:tgtEl>
                                          <p:spTgt spid="13864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64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86499">
                                            <p:txEl>
                                              <p:pRg st="3" end="3"/>
                                            </p:txEl>
                                          </p:spTgt>
                                        </p:tgtEl>
                                        <p:attrNameLst>
                                          <p:attrName>style.visibility</p:attrName>
                                        </p:attrNameLst>
                                      </p:cBhvr>
                                      <p:to>
                                        <p:strVal val="visible"/>
                                      </p:to>
                                    </p:set>
                                    <p:anim calcmode="lin" valueType="num">
                                      <p:cBhvr additive="base">
                                        <p:cTn id="25" dur="500" fill="hold"/>
                                        <p:tgtEl>
                                          <p:spTgt spid="13864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864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bg/>
                                          </p:spTgt>
                                        </p:tgtEl>
                                        <p:attrNameLst>
                                          <p:attrName>style.visibility</p:attrName>
                                        </p:attrNameLst>
                                      </p:cBhvr>
                                      <p:to>
                                        <p:strVal val="visible"/>
                                      </p:to>
                                    </p:set>
                                    <p:anim calcmode="lin" valueType="num">
                                      <p:cBhvr additive="base">
                                        <p:cTn id="31" dur="500" fill="hold"/>
                                        <p:tgtEl>
                                          <p:spTgt spid="4">
                                            <p:bg/>
                                          </p:spTgt>
                                        </p:tgtEl>
                                        <p:attrNameLst>
                                          <p:attrName>ppt_x</p:attrName>
                                        </p:attrNameLst>
                                      </p:cBhvr>
                                      <p:tavLst>
                                        <p:tav tm="0">
                                          <p:val>
                                            <p:strVal val="#ppt_x"/>
                                          </p:val>
                                        </p:tav>
                                        <p:tav tm="100000">
                                          <p:val>
                                            <p:strVal val="#ppt_x"/>
                                          </p:val>
                                        </p:tav>
                                      </p:tavLst>
                                    </p:anim>
                                    <p:anim calcmode="lin" valueType="num">
                                      <p:cBhvr additive="base">
                                        <p:cTn id="32" dur="500" fill="hold"/>
                                        <p:tgtEl>
                                          <p:spTgt spid="4">
                                            <p:bg/>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 calcmode="lin" valueType="num">
                                      <p:cBhvr additive="base">
                                        <p:cTn id="3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6499" grpId="0" build="p"/>
      <p:bldP spid="4" grpId="0" animBg="1" uiExpand="1"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ChangeArrowheads="1"/>
          </p:cNvSpPr>
          <p:nvPr/>
        </p:nvSpPr>
        <p:spPr bwMode="auto">
          <a:xfrm>
            <a:off x="841375" y="302208"/>
            <a:ext cx="1201233" cy="46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1219835" rtl="0" eaLnBrk="1" fontAlgn="auto" latinLnBrk="0" hangingPunct="1">
              <a:lnSpc>
                <a:spcPct val="130000"/>
              </a:lnSpc>
              <a:spcBef>
                <a:spcPct val="0"/>
              </a:spcBef>
              <a:spcAft>
                <a:spcPts val="0"/>
              </a:spcAft>
              <a:buClr>
                <a:srgbClr val="996633"/>
              </a:buClr>
              <a:buSzTx/>
              <a:buFont typeface="Wingdings" panose="05000000000000000000" pitchFamily="2" charset="2"/>
              <a:buNone/>
              <a:defRPr/>
            </a:pPr>
            <a:r>
              <a:rPr kumimoji="0" lang="zh-CN" altLang="en-US" sz="2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问题引入</a:t>
            </a:r>
            <a:endParaRPr kumimoji="0" lang="zh-CN" altLang="en-US" sz="2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90595" name="Rectangle 3"/>
          <p:cNvSpPr>
            <a:spLocks noGrp="1" noChangeArrowheads="1"/>
          </p:cNvSpPr>
          <p:nvPr>
            <p:ph type="body" idx="1"/>
          </p:nvPr>
        </p:nvSpPr>
        <p:spPr>
          <a:xfrm>
            <a:off x="398156" y="1108838"/>
            <a:ext cx="11339817" cy="1246414"/>
          </a:xfrm>
        </p:spPr>
        <p:txBody>
          <a:bodyPr/>
          <a:lstStyle/>
          <a:p>
            <a:pPr marL="0" indent="0">
              <a:lnSpc>
                <a:spcPct val="150000"/>
              </a:lnSpc>
              <a:buNone/>
            </a:pPr>
            <a:r>
              <a:rPr lang="zh-CN" altLang="en-US" dirty="0">
                <a:solidFill>
                  <a:srgbClr val="C00000"/>
                </a:solidFill>
              </a:rPr>
              <a:t>问题：</a:t>
            </a:r>
            <a:r>
              <a:rPr lang="zh-CN" altLang="zh-CN" dirty="0">
                <a:solidFill>
                  <a:schemeClr val="tx1"/>
                </a:solidFill>
              </a:rPr>
              <a:t>设</a:t>
            </a:r>
            <a:r>
              <a:rPr lang="en-US" altLang="zh-CN" dirty="0">
                <a:solidFill>
                  <a:schemeClr val="tx1"/>
                </a:solidFill>
              </a:rPr>
              <a:t>A</a:t>
            </a:r>
            <a:r>
              <a:rPr lang="zh-CN" altLang="zh-CN" dirty="0">
                <a:solidFill>
                  <a:schemeClr val="tx1"/>
                </a:solidFill>
              </a:rPr>
              <a:t>＝</a:t>
            </a:r>
            <a:r>
              <a:rPr lang="en-US" altLang="zh-CN" dirty="0">
                <a:solidFill>
                  <a:schemeClr val="tx1"/>
                </a:solidFill>
              </a:rPr>
              <a:t>{1</a:t>
            </a:r>
            <a:r>
              <a:rPr lang="zh-CN" altLang="zh-CN" dirty="0">
                <a:solidFill>
                  <a:schemeClr val="tx1"/>
                </a:solidFill>
              </a:rPr>
              <a:t>，</a:t>
            </a:r>
            <a:r>
              <a:rPr lang="en-US" altLang="zh-CN" dirty="0">
                <a:solidFill>
                  <a:schemeClr val="tx1"/>
                </a:solidFill>
              </a:rPr>
              <a:t>4}</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{a</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R</a:t>
            </a:r>
            <a:r>
              <a:rPr lang="zh-CN" altLang="zh-CN" dirty="0">
                <a:solidFill>
                  <a:schemeClr val="tx1"/>
                </a:solidFill>
              </a:rPr>
              <a:t>＝</a:t>
            </a:r>
            <a:r>
              <a:rPr lang="en-US" altLang="zh-CN" dirty="0">
                <a:solidFill>
                  <a:schemeClr val="tx1"/>
                </a:solidFill>
              </a:rPr>
              <a:t>{&lt;1</a:t>
            </a:r>
            <a:r>
              <a:rPr lang="zh-CN" altLang="zh-CN" dirty="0">
                <a:solidFill>
                  <a:schemeClr val="tx1"/>
                </a:solidFill>
              </a:rPr>
              <a:t>，</a:t>
            </a:r>
            <a:r>
              <a:rPr lang="en-US" altLang="zh-CN" dirty="0">
                <a:solidFill>
                  <a:schemeClr val="tx1"/>
                </a:solidFill>
              </a:rPr>
              <a:t>a&gt;</a:t>
            </a:r>
            <a:r>
              <a:rPr lang="zh-CN" altLang="zh-CN" dirty="0">
                <a:solidFill>
                  <a:schemeClr val="tx1"/>
                </a:solidFill>
              </a:rPr>
              <a:t>，</a:t>
            </a:r>
            <a:r>
              <a:rPr lang="en-US" altLang="zh-CN" dirty="0">
                <a:solidFill>
                  <a:schemeClr val="tx1"/>
                </a:solidFill>
              </a:rPr>
              <a:t>&lt;1</a:t>
            </a:r>
            <a:r>
              <a:rPr lang="zh-CN" altLang="zh-CN" dirty="0">
                <a:solidFill>
                  <a:schemeClr val="tx1"/>
                </a:solidFill>
              </a:rPr>
              <a:t>，</a:t>
            </a:r>
            <a:r>
              <a:rPr lang="en-US" altLang="zh-CN" dirty="0">
                <a:solidFill>
                  <a:schemeClr val="tx1"/>
                </a:solidFill>
              </a:rPr>
              <a:t>b&gt;</a:t>
            </a:r>
            <a:r>
              <a:rPr lang="zh-CN" altLang="zh-CN" dirty="0">
                <a:solidFill>
                  <a:schemeClr val="tx1"/>
                </a:solidFill>
              </a:rPr>
              <a:t>，</a:t>
            </a:r>
            <a:r>
              <a:rPr lang="en-US" altLang="zh-CN" dirty="0">
                <a:solidFill>
                  <a:schemeClr val="tx1"/>
                </a:solidFill>
              </a:rPr>
              <a:t>&lt;4</a:t>
            </a:r>
            <a:r>
              <a:rPr lang="zh-CN" altLang="zh-CN" dirty="0">
                <a:solidFill>
                  <a:schemeClr val="tx1"/>
                </a:solidFill>
              </a:rPr>
              <a:t>，</a:t>
            </a:r>
            <a:r>
              <a:rPr lang="en-US" altLang="zh-CN" dirty="0">
                <a:solidFill>
                  <a:schemeClr val="tx1"/>
                </a:solidFill>
              </a:rPr>
              <a:t>b&gt;}</a:t>
            </a:r>
            <a:r>
              <a:rPr lang="zh-CN" altLang="zh-CN" dirty="0">
                <a:solidFill>
                  <a:schemeClr val="tx1"/>
                </a:solidFill>
              </a:rPr>
              <a:t>，</a:t>
            </a:r>
            <a:endParaRPr lang="en-US" altLang="zh-CN" dirty="0">
              <a:solidFill>
                <a:schemeClr val="tx1"/>
              </a:solidFill>
            </a:endParaRPr>
          </a:p>
          <a:p>
            <a:pPr marL="0" indent="0">
              <a:lnSpc>
                <a:spcPct val="150000"/>
              </a:lnSpc>
              <a:buNone/>
            </a:pPr>
            <a:r>
              <a:rPr lang="zh-CN" altLang="zh-CN" dirty="0">
                <a:solidFill>
                  <a:schemeClr val="tx1"/>
                </a:solidFill>
              </a:rPr>
              <a:t>则</a:t>
            </a:r>
            <a:r>
              <a:rPr lang="en-US" altLang="zh-CN" dirty="0">
                <a:solidFill>
                  <a:schemeClr val="tx1"/>
                </a:solidFill>
              </a:rPr>
              <a:t>R</a:t>
            </a:r>
            <a:r>
              <a:rPr lang="zh-CN" altLang="zh-CN" dirty="0">
                <a:solidFill>
                  <a:schemeClr val="tx1"/>
                </a:solidFill>
              </a:rPr>
              <a:t>与</a:t>
            </a:r>
            <a:r>
              <a:rPr lang="en-US" altLang="zh-CN" dirty="0">
                <a:solidFill>
                  <a:schemeClr val="tx1"/>
                </a:solidFill>
              </a:rPr>
              <a:t>A×B</a:t>
            </a:r>
            <a:r>
              <a:rPr lang="zh-CN" altLang="zh-CN" dirty="0">
                <a:solidFill>
                  <a:schemeClr val="tx1"/>
                </a:solidFill>
              </a:rPr>
              <a:t>具有怎样的关系呢？</a:t>
            </a:r>
            <a:endParaRPr lang="zh-CN" altLang="zh-CN" dirty="0">
              <a:solidFill>
                <a:schemeClr val="tx1"/>
              </a:solidFill>
            </a:endParaRPr>
          </a:p>
          <a:p>
            <a:pPr marL="0" indent="0">
              <a:lnSpc>
                <a:spcPct val="150000"/>
              </a:lnSpc>
              <a:buNone/>
            </a:pPr>
            <a:endParaRPr lang="zh-CN" altLang="en-US" dirty="0">
              <a:solidFill>
                <a:schemeClr val="tx1"/>
              </a:solidFill>
            </a:endParaRPr>
          </a:p>
        </p:txBody>
      </p:sp>
      <p:sp>
        <p:nvSpPr>
          <p:cNvPr id="4" name="矩形 3"/>
          <p:cNvSpPr/>
          <p:nvPr/>
        </p:nvSpPr>
        <p:spPr>
          <a:xfrm>
            <a:off x="398156" y="2915202"/>
            <a:ext cx="8153400" cy="461665"/>
          </a:xfrm>
          <a:prstGeom prst="rect">
            <a:avLst/>
          </a:prstGeom>
        </p:spPr>
        <p:txBody>
          <a:bodyPr wrap="square">
            <a:spAutoFit/>
          </a:bodyPr>
          <a:lstStyle/>
          <a:p>
            <a:pPr marL="0" marR="0" lvl="0" indent="0" algn="l" defTabSz="1219835" rtl="0" eaLnBrk="1" fontAlgn="auto" latinLnBrk="0" hangingPunct="1">
              <a:lnSpc>
                <a:spcPct val="100000"/>
              </a:lnSpc>
              <a:spcBef>
                <a:spcPts val="0"/>
              </a:spcBef>
              <a:spcAft>
                <a:spcPts val="0"/>
              </a:spcAft>
              <a:buClrTx/>
              <a:buSzTx/>
              <a:buFontTx/>
              <a:buNone/>
              <a:defRPr/>
            </a:pPr>
            <a:r>
              <a:rPr kumimoji="0" lang="zh-CN" altLang="zh-CN"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因为</a:t>
            </a:r>
            <a:r>
              <a:rPr kumimoji="0" lang="en-US" altLang="zh-CN"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A×B</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={&lt;1</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a&gt;</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&lt;4</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a&gt;</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&lt;1</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b&gt;</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&lt;4</a:t>
            </a:r>
            <a:r>
              <a:rPr kumimoji="0" lang="zh-CN"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en-US" altLang="zh-CN"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395069" y="4267994"/>
            <a:ext cx="2093843" cy="461665"/>
          </a:xfrm>
          <a:prstGeom prst="rect">
            <a:avLst/>
          </a:prstGeom>
        </p:spPr>
        <p:txBody>
          <a:bodyPr wrap="none">
            <a:spAutoFit/>
          </a:bodyPr>
          <a:lstStyle/>
          <a:p>
            <a:pPr marL="0" marR="0" lvl="0" indent="0" algn="l" defTabSz="121983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所以</a:t>
            </a:r>
            <a:r>
              <a:rPr kumimoji="0" lang="en-US" altLang="zh-CN"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 </a:t>
            </a:r>
            <a:r>
              <a:rPr kumimoji="0" lang="zh-CN" altLang="en-US"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A×B</a:t>
            </a:r>
            <a:endPar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37" name="思想气泡: 云 36"/>
          <p:cNvSpPr/>
          <p:nvPr/>
        </p:nvSpPr>
        <p:spPr>
          <a:xfrm>
            <a:off x="612775" y="5141150"/>
            <a:ext cx="3657600" cy="1219200"/>
          </a:xfrm>
          <a:prstGeom prst="cloudCallout">
            <a:avLst>
              <a:gd name="adj1" fmla="val -13661"/>
              <a:gd name="adj2" fmla="val -927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R</a:t>
            </a:r>
            <a:r>
              <a:rPr kumimoji="0" lang="zh-CN" altLang="en-US"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是</a:t>
            </a:r>
            <a:r>
              <a:rPr kumimoji="0" lang="en-US" altLang="zh-CN"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A×B</a:t>
            </a:r>
            <a:r>
              <a:rPr kumimoji="0" lang="zh-CN" altLang="en-US"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的子集</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8" name="思想气泡: 云 37"/>
          <p:cNvSpPr/>
          <p:nvPr/>
        </p:nvSpPr>
        <p:spPr>
          <a:xfrm>
            <a:off x="3660775" y="4075541"/>
            <a:ext cx="7924800" cy="1219200"/>
          </a:xfrm>
          <a:prstGeom prst="cloudCallout">
            <a:avLst>
              <a:gd name="adj1" fmla="val -67633"/>
              <a:gd name="adj2" fmla="val -172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新名称：</a:t>
            </a:r>
            <a:r>
              <a:rPr kumimoji="0" lang="en-US" altLang="zh-CN"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R</a:t>
            </a:r>
            <a:r>
              <a:rPr kumimoji="0" lang="zh-CN" altLang="en-US"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是</a:t>
            </a:r>
            <a:r>
              <a:rPr kumimoji="0" lang="en-US" altLang="zh-CN"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到</a:t>
            </a:r>
            <a:r>
              <a:rPr kumimoji="0" lang="en-US" altLang="zh-CN"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r>
              <a:rPr kumimoji="0" lang="zh-CN" altLang="en-US" sz="2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的一个</a:t>
            </a:r>
            <a:r>
              <a:rPr kumimoji="0" lang="zh-CN" altLang="en-US" sz="2400" b="1" i="0" u="none" strike="noStrike" kern="1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二元关系</a:t>
            </a:r>
            <a:endParaRPr kumimoji="0" lang="zh-CN" altLang="en-US" sz="2400" b="1" i="0" u="none" strike="noStrike" kern="1200" cap="none" spc="0" normalizeH="0" baseline="0" noProof="0" dirty="0">
              <a:ln>
                <a:noFill/>
              </a:ln>
              <a:solidFill>
                <a:srgbClr val="FFFF00"/>
              </a:solidFill>
              <a:effectLst/>
              <a:uLnTx/>
              <a:uFillTx/>
              <a:latin typeface="Arial" panose="020B0604020202020204"/>
              <a:ea typeface="微软雅黑" panose="020B0503020204020204" pitchFamily="34"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000"/>
                                        <p:tgtEl>
                                          <p:spTgt spid="5"/>
                                        </p:tgtEl>
                                      </p:cBhvr>
                                    </p:animEffect>
                                    <p:anim calcmode="lin" valueType="num">
                                      <p:cBhvr>
                                        <p:cTn id="15" dur="2000" fill="hold"/>
                                        <p:tgtEl>
                                          <p:spTgt spid="5"/>
                                        </p:tgtEl>
                                        <p:attrNameLst>
                                          <p:attrName>ppt_w</p:attrName>
                                        </p:attrNameLst>
                                      </p:cBhvr>
                                      <p:tavLst>
                                        <p:tav tm="0" fmla="#ppt_w*sin(2.5*pi*$)">
                                          <p:val>
                                            <p:fltVal val="0"/>
                                          </p:val>
                                        </p:tav>
                                        <p:tav tm="100000">
                                          <p:val>
                                            <p:fltVal val="1"/>
                                          </p:val>
                                        </p:tav>
                                      </p:tavLst>
                                    </p:anim>
                                    <p:anim calcmode="lin" valueType="num">
                                      <p:cBhvr>
                                        <p:cTn id="16"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down)">
                                      <p:cBhvr>
                                        <p:cTn id="21" dur="580">
                                          <p:stCondLst>
                                            <p:cond delay="0"/>
                                          </p:stCondLst>
                                        </p:cTn>
                                        <p:tgtEl>
                                          <p:spTgt spid="37"/>
                                        </p:tgtEl>
                                      </p:cBhvr>
                                    </p:animEffect>
                                    <p:anim calcmode="lin" valueType="num">
                                      <p:cBhvr>
                                        <p:cTn id="22"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27" dur="26">
                                          <p:stCondLst>
                                            <p:cond delay="650"/>
                                          </p:stCondLst>
                                        </p:cTn>
                                        <p:tgtEl>
                                          <p:spTgt spid="37"/>
                                        </p:tgtEl>
                                      </p:cBhvr>
                                      <p:to x="100000" y="60000"/>
                                    </p:animScale>
                                    <p:animScale>
                                      <p:cBhvr>
                                        <p:cTn id="28" dur="166" decel="50000">
                                          <p:stCondLst>
                                            <p:cond delay="676"/>
                                          </p:stCondLst>
                                        </p:cTn>
                                        <p:tgtEl>
                                          <p:spTgt spid="37"/>
                                        </p:tgtEl>
                                      </p:cBhvr>
                                      <p:to x="100000" y="100000"/>
                                    </p:animScale>
                                    <p:animScale>
                                      <p:cBhvr>
                                        <p:cTn id="29" dur="26">
                                          <p:stCondLst>
                                            <p:cond delay="1312"/>
                                          </p:stCondLst>
                                        </p:cTn>
                                        <p:tgtEl>
                                          <p:spTgt spid="37"/>
                                        </p:tgtEl>
                                      </p:cBhvr>
                                      <p:to x="100000" y="80000"/>
                                    </p:animScale>
                                    <p:animScale>
                                      <p:cBhvr>
                                        <p:cTn id="30" dur="166" decel="50000">
                                          <p:stCondLst>
                                            <p:cond delay="1338"/>
                                          </p:stCondLst>
                                        </p:cTn>
                                        <p:tgtEl>
                                          <p:spTgt spid="37"/>
                                        </p:tgtEl>
                                      </p:cBhvr>
                                      <p:to x="100000" y="100000"/>
                                    </p:animScale>
                                    <p:animScale>
                                      <p:cBhvr>
                                        <p:cTn id="31" dur="26">
                                          <p:stCondLst>
                                            <p:cond delay="1642"/>
                                          </p:stCondLst>
                                        </p:cTn>
                                        <p:tgtEl>
                                          <p:spTgt spid="37"/>
                                        </p:tgtEl>
                                      </p:cBhvr>
                                      <p:to x="100000" y="90000"/>
                                    </p:animScale>
                                    <p:animScale>
                                      <p:cBhvr>
                                        <p:cTn id="32" dur="166" decel="50000">
                                          <p:stCondLst>
                                            <p:cond delay="1668"/>
                                          </p:stCondLst>
                                        </p:cTn>
                                        <p:tgtEl>
                                          <p:spTgt spid="37"/>
                                        </p:tgtEl>
                                      </p:cBhvr>
                                      <p:to x="100000" y="100000"/>
                                    </p:animScale>
                                    <p:animScale>
                                      <p:cBhvr>
                                        <p:cTn id="33" dur="26">
                                          <p:stCondLst>
                                            <p:cond delay="1808"/>
                                          </p:stCondLst>
                                        </p:cTn>
                                        <p:tgtEl>
                                          <p:spTgt spid="37"/>
                                        </p:tgtEl>
                                      </p:cBhvr>
                                      <p:to x="100000" y="95000"/>
                                    </p:animScale>
                                    <p:animScale>
                                      <p:cBhvr>
                                        <p:cTn id="34" dur="166" decel="50000">
                                          <p:stCondLst>
                                            <p:cond delay="1834"/>
                                          </p:stCondLst>
                                        </p:cTn>
                                        <p:tgtEl>
                                          <p:spTgt spid="37"/>
                                        </p:tgtEl>
                                      </p:cBhvr>
                                      <p:to x="100000" y="100000"/>
                                    </p:animScale>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down)">
                                      <p:cBhvr>
                                        <p:cTn id="39" dur="580">
                                          <p:stCondLst>
                                            <p:cond delay="0"/>
                                          </p:stCondLst>
                                        </p:cTn>
                                        <p:tgtEl>
                                          <p:spTgt spid="38"/>
                                        </p:tgtEl>
                                      </p:cBhvr>
                                    </p:animEffect>
                                    <p:anim calcmode="lin" valueType="num">
                                      <p:cBhvr>
                                        <p:cTn id="40"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45" dur="26">
                                          <p:stCondLst>
                                            <p:cond delay="650"/>
                                          </p:stCondLst>
                                        </p:cTn>
                                        <p:tgtEl>
                                          <p:spTgt spid="38"/>
                                        </p:tgtEl>
                                      </p:cBhvr>
                                      <p:to x="100000" y="60000"/>
                                    </p:animScale>
                                    <p:animScale>
                                      <p:cBhvr>
                                        <p:cTn id="46" dur="166" decel="50000">
                                          <p:stCondLst>
                                            <p:cond delay="676"/>
                                          </p:stCondLst>
                                        </p:cTn>
                                        <p:tgtEl>
                                          <p:spTgt spid="38"/>
                                        </p:tgtEl>
                                      </p:cBhvr>
                                      <p:to x="100000" y="100000"/>
                                    </p:animScale>
                                    <p:animScale>
                                      <p:cBhvr>
                                        <p:cTn id="47" dur="26">
                                          <p:stCondLst>
                                            <p:cond delay="1312"/>
                                          </p:stCondLst>
                                        </p:cTn>
                                        <p:tgtEl>
                                          <p:spTgt spid="38"/>
                                        </p:tgtEl>
                                      </p:cBhvr>
                                      <p:to x="100000" y="80000"/>
                                    </p:animScale>
                                    <p:animScale>
                                      <p:cBhvr>
                                        <p:cTn id="48" dur="166" decel="50000">
                                          <p:stCondLst>
                                            <p:cond delay="1338"/>
                                          </p:stCondLst>
                                        </p:cTn>
                                        <p:tgtEl>
                                          <p:spTgt spid="38"/>
                                        </p:tgtEl>
                                      </p:cBhvr>
                                      <p:to x="100000" y="100000"/>
                                    </p:animScale>
                                    <p:animScale>
                                      <p:cBhvr>
                                        <p:cTn id="49" dur="26">
                                          <p:stCondLst>
                                            <p:cond delay="1642"/>
                                          </p:stCondLst>
                                        </p:cTn>
                                        <p:tgtEl>
                                          <p:spTgt spid="38"/>
                                        </p:tgtEl>
                                      </p:cBhvr>
                                      <p:to x="100000" y="90000"/>
                                    </p:animScale>
                                    <p:animScale>
                                      <p:cBhvr>
                                        <p:cTn id="50" dur="166" decel="50000">
                                          <p:stCondLst>
                                            <p:cond delay="1668"/>
                                          </p:stCondLst>
                                        </p:cTn>
                                        <p:tgtEl>
                                          <p:spTgt spid="38"/>
                                        </p:tgtEl>
                                      </p:cBhvr>
                                      <p:to x="100000" y="100000"/>
                                    </p:animScale>
                                    <p:animScale>
                                      <p:cBhvr>
                                        <p:cTn id="51" dur="26">
                                          <p:stCondLst>
                                            <p:cond delay="1808"/>
                                          </p:stCondLst>
                                        </p:cTn>
                                        <p:tgtEl>
                                          <p:spTgt spid="38"/>
                                        </p:tgtEl>
                                      </p:cBhvr>
                                      <p:to x="100000" y="95000"/>
                                    </p:animScale>
                                    <p:animScale>
                                      <p:cBhvr>
                                        <p:cTn id="52" dur="166" decel="50000">
                                          <p:stCondLst>
                                            <p:cond delay="1834"/>
                                          </p:stCondLst>
                                        </p:cTn>
                                        <p:tgtEl>
                                          <p:spTgt spid="3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7" grpId="0" animBg="1"/>
      <p:bldP spid="38"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42" name="Rectangle 2"/>
          <p:cNvSpPr>
            <a:spLocks noGrp="1" noChangeArrowheads="1"/>
          </p:cNvSpPr>
          <p:nvPr>
            <p:ph type="body" idx="1"/>
          </p:nvPr>
        </p:nvSpPr>
        <p:spPr>
          <a:xfrm>
            <a:off x="384175" y="1102286"/>
            <a:ext cx="11430000" cy="2327508"/>
          </a:xfrm>
        </p:spPr>
        <p:txBody>
          <a:bodyPr>
            <a:normAutofit/>
          </a:bodyPr>
          <a:lstStyle/>
          <a:p>
            <a:pPr marL="0" indent="0">
              <a:lnSpc>
                <a:spcPct val="150000"/>
              </a:lnSpc>
              <a:buNone/>
            </a:pPr>
            <a:r>
              <a:rPr lang="zh-CN" altLang="en-US" dirty="0">
                <a:solidFill>
                  <a:srgbClr val="C00000"/>
                </a:solidFill>
              </a:rPr>
              <a:t>定义</a:t>
            </a:r>
            <a:r>
              <a:rPr lang="en-US" altLang="zh-CN" dirty="0">
                <a:solidFill>
                  <a:srgbClr val="C00000"/>
                </a:solidFill>
              </a:rPr>
              <a:t>4.5 </a:t>
            </a:r>
            <a:r>
              <a:rPr lang="zh-CN" altLang="en-US" dirty="0"/>
              <a:t>设</a:t>
            </a:r>
            <a:r>
              <a:rPr lang="en-US" altLang="zh-CN" dirty="0"/>
              <a:t>A,B</a:t>
            </a:r>
            <a:r>
              <a:rPr lang="zh-CN" altLang="en-US" dirty="0"/>
              <a:t>为两个非空集合，称</a:t>
            </a:r>
            <a:r>
              <a:rPr lang="en-US" altLang="zh-CN" dirty="0"/>
              <a:t>A×B</a:t>
            </a:r>
            <a:r>
              <a:rPr lang="zh-CN" altLang="en-US" dirty="0"/>
              <a:t>的任何子集</a:t>
            </a:r>
            <a:r>
              <a:rPr lang="en-US" altLang="zh-CN" dirty="0"/>
              <a:t>R</a:t>
            </a:r>
            <a:r>
              <a:rPr lang="zh-CN" altLang="en-US" dirty="0"/>
              <a:t>为</a:t>
            </a:r>
            <a:r>
              <a:rPr lang="zh-CN" altLang="en-US" dirty="0">
                <a:solidFill>
                  <a:srgbClr val="FF0000"/>
                </a:solidFill>
              </a:rPr>
              <a:t>从</a:t>
            </a:r>
            <a:r>
              <a:rPr lang="en-US" altLang="zh-CN" dirty="0">
                <a:solidFill>
                  <a:srgbClr val="FF0000"/>
                </a:solidFill>
              </a:rPr>
              <a:t>A</a:t>
            </a:r>
            <a:r>
              <a:rPr lang="zh-CN" altLang="en-US" dirty="0">
                <a:solidFill>
                  <a:srgbClr val="FF0000"/>
                </a:solidFill>
              </a:rPr>
              <a:t>到</a:t>
            </a:r>
            <a:r>
              <a:rPr lang="en-US" altLang="zh-CN" dirty="0">
                <a:solidFill>
                  <a:srgbClr val="FF0000"/>
                </a:solidFill>
              </a:rPr>
              <a:t>B</a:t>
            </a:r>
            <a:r>
              <a:rPr lang="zh-CN" altLang="en-US" dirty="0">
                <a:solidFill>
                  <a:srgbClr val="FF0000"/>
                </a:solidFill>
              </a:rPr>
              <a:t>的二元关系</a:t>
            </a:r>
            <a:r>
              <a:rPr lang="zh-CN" altLang="en-US" dirty="0"/>
              <a:t>，简称 </a:t>
            </a:r>
            <a:endParaRPr lang="en-US" altLang="zh-CN" dirty="0"/>
          </a:p>
          <a:p>
            <a:pPr marL="0" indent="0">
              <a:lnSpc>
                <a:spcPct val="150000"/>
              </a:lnSpc>
              <a:buNone/>
            </a:pPr>
            <a:r>
              <a:rPr lang="en-US" altLang="zh-CN" dirty="0"/>
              <a:t>             </a:t>
            </a:r>
            <a:r>
              <a:rPr lang="zh-CN" altLang="en-US" dirty="0"/>
              <a:t>关系</a:t>
            </a:r>
            <a:r>
              <a:rPr lang="en-US" altLang="zh-CN" dirty="0"/>
              <a:t>(Relation)</a:t>
            </a:r>
            <a:r>
              <a:rPr lang="zh-CN" altLang="en-US" dirty="0"/>
              <a:t>，</a:t>
            </a:r>
            <a:r>
              <a:rPr lang="zh-CN" altLang="zh-CN" dirty="0"/>
              <a:t>记作</a:t>
            </a:r>
            <a:r>
              <a:rPr lang="en-US" altLang="zh-CN" dirty="0"/>
              <a:t>R</a:t>
            </a:r>
            <a:r>
              <a:rPr lang="zh-CN" altLang="zh-CN" dirty="0"/>
              <a:t>：</a:t>
            </a:r>
            <a:r>
              <a:rPr lang="en-US" altLang="zh-CN" dirty="0"/>
              <a:t>A→B</a:t>
            </a:r>
            <a:r>
              <a:rPr lang="zh-CN" altLang="zh-CN" dirty="0"/>
              <a:t>；</a:t>
            </a:r>
            <a:endParaRPr lang="en-US" altLang="zh-CN" dirty="0"/>
          </a:p>
          <a:p>
            <a:pPr marL="0" indent="0">
              <a:lnSpc>
                <a:spcPct val="150000"/>
              </a:lnSpc>
              <a:buNone/>
            </a:pPr>
            <a:r>
              <a:rPr lang="zh-CN" altLang="en-US" dirty="0"/>
              <a:t>            如</a:t>
            </a:r>
            <a:r>
              <a:rPr lang="en-US" altLang="zh-CN" dirty="0"/>
              <a:t>A</a:t>
            </a:r>
            <a:r>
              <a:rPr lang="zh-CN" altLang="en-US" dirty="0"/>
              <a:t>＝</a:t>
            </a:r>
            <a:r>
              <a:rPr lang="en-US" altLang="zh-CN" dirty="0"/>
              <a:t>B</a:t>
            </a:r>
            <a:r>
              <a:rPr lang="zh-CN" altLang="en-US" dirty="0"/>
              <a:t>，则称</a:t>
            </a:r>
            <a:r>
              <a:rPr lang="en-US" altLang="zh-CN" dirty="0"/>
              <a:t>R</a:t>
            </a:r>
            <a:r>
              <a:rPr lang="zh-CN" altLang="en-US" dirty="0"/>
              <a:t>为</a:t>
            </a:r>
            <a:r>
              <a:rPr lang="en-US" altLang="zh-CN" dirty="0">
                <a:solidFill>
                  <a:srgbClr val="FF0000"/>
                </a:solidFill>
              </a:rPr>
              <a:t>A</a:t>
            </a:r>
            <a:r>
              <a:rPr lang="zh-CN" altLang="en-US" dirty="0">
                <a:solidFill>
                  <a:srgbClr val="FF0000"/>
                </a:solidFill>
              </a:rPr>
              <a:t>上的二元关系，</a:t>
            </a:r>
            <a:r>
              <a:rPr lang="zh-CN" altLang="zh-CN" dirty="0"/>
              <a:t>记作</a:t>
            </a:r>
            <a:r>
              <a:rPr lang="en-US" altLang="zh-CN" dirty="0"/>
              <a:t>R</a:t>
            </a:r>
            <a:r>
              <a:rPr lang="zh-CN" altLang="zh-CN" dirty="0"/>
              <a:t>：</a:t>
            </a:r>
            <a:r>
              <a:rPr lang="en-US" altLang="zh-CN" dirty="0"/>
              <a:t>A→A</a:t>
            </a:r>
            <a:r>
              <a:rPr lang="zh-CN" altLang="en-US" dirty="0"/>
              <a:t>。   </a:t>
            </a:r>
            <a:endParaRPr lang="zh-CN" altLang="en-US" dirty="0"/>
          </a:p>
        </p:txBody>
      </p:sp>
      <p:sp>
        <p:nvSpPr>
          <p:cNvPr id="50180" name="Rectangle 3"/>
          <p:cNvSpPr>
            <a:spLocks noGrp="1" noChangeArrowheads="1"/>
          </p:cNvSpPr>
          <p:nvPr>
            <p:ph type="title"/>
          </p:nvPr>
        </p:nvSpPr>
        <p:spPr/>
        <p:txBody>
          <a:bodyPr/>
          <a:lstStyle/>
          <a:p>
            <a:r>
              <a:rPr lang="zh-CN" altLang="en-US" dirty="0"/>
              <a:t>二元关系的定义</a:t>
            </a:r>
            <a:endParaRPr lang="zh-CN" altLang="en-US" dirty="0"/>
          </a:p>
        </p:txBody>
      </p:sp>
      <p:sp>
        <p:nvSpPr>
          <p:cNvPr id="6" name="Text Box 556"/>
          <p:cNvSpPr txBox="1">
            <a:spLocks noChangeArrowheads="1"/>
          </p:cNvSpPr>
          <p:nvPr/>
        </p:nvSpPr>
        <p:spPr bwMode="auto">
          <a:xfrm>
            <a:off x="571327" y="4420394"/>
            <a:ext cx="10903296" cy="1944688"/>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effectLst/>
                <a:latin typeface="+mn-ea"/>
                <a:cs typeface="宋体" panose="02010600030101010101" pitchFamily="2" charset="-122"/>
              </a:rPr>
              <a:t>解题小贴士—</a:t>
            </a:r>
            <a:r>
              <a:rPr lang="zh-CN" b="1" kern="100" dirty="0">
                <a:solidFill>
                  <a:srgbClr val="3333FF"/>
                </a:solidFill>
                <a:effectLst/>
                <a:latin typeface="+mn-ea"/>
                <a:cs typeface="宋体" panose="02010600030101010101" pitchFamily="2" charset="-122"/>
              </a:rPr>
              <a:t>给定集合是否为从</a:t>
            </a:r>
            <a:r>
              <a:rPr lang="en-US" b="1" kern="100" dirty="0">
                <a:solidFill>
                  <a:srgbClr val="3333FF"/>
                </a:solidFill>
                <a:effectLst/>
                <a:latin typeface="+mn-ea"/>
                <a:cs typeface="宋体" panose="02010600030101010101" pitchFamily="2" charset="-122"/>
              </a:rPr>
              <a:t>A</a:t>
            </a:r>
            <a:r>
              <a:rPr lang="zh-CN" b="1" kern="100" dirty="0">
                <a:solidFill>
                  <a:srgbClr val="3333FF"/>
                </a:solidFill>
                <a:effectLst/>
                <a:latin typeface="+mn-ea"/>
                <a:cs typeface="宋体" panose="02010600030101010101" pitchFamily="2" charset="-122"/>
              </a:rPr>
              <a:t>到</a:t>
            </a:r>
            <a:r>
              <a:rPr lang="en-US" b="1" kern="100" dirty="0">
                <a:solidFill>
                  <a:srgbClr val="3333FF"/>
                </a:solidFill>
                <a:effectLst/>
                <a:latin typeface="+mn-ea"/>
                <a:cs typeface="宋体" panose="02010600030101010101" pitchFamily="2" charset="-122"/>
              </a:rPr>
              <a:t>B</a:t>
            </a:r>
            <a:r>
              <a:rPr lang="zh-CN" b="1" kern="100" dirty="0">
                <a:solidFill>
                  <a:srgbClr val="3333FF"/>
                </a:solidFill>
                <a:effectLst/>
                <a:latin typeface="+mn-ea"/>
                <a:cs typeface="宋体" panose="02010600030101010101" pitchFamily="2" charset="-122"/>
              </a:rPr>
              <a:t>的一个关系的判断方法</a:t>
            </a:r>
            <a:endParaRPr lang="zh-CN" b="1" kern="100" dirty="0">
              <a:solidFill>
                <a:srgbClr val="3333FF"/>
              </a:solidFill>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）计算</a:t>
            </a:r>
            <a:r>
              <a:rPr lang="en-US" b="1" kern="100" dirty="0">
                <a:effectLst/>
                <a:latin typeface="+mn-ea"/>
                <a:cs typeface="宋体" panose="02010600030101010101" pitchFamily="2" charset="-122"/>
              </a:rPr>
              <a:t>A×B</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2</a:t>
            </a:r>
            <a:r>
              <a:rPr lang="zh-CN" b="1" kern="0" dirty="0">
                <a:effectLst/>
                <a:latin typeface="+mn-ea"/>
                <a:cs typeface="宋体" panose="02010600030101010101" pitchFamily="2" charset="-122"/>
              </a:rPr>
              <a:t>）判断给定集合是否为</a:t>
            </a:r>
            <a:r>
              <a:rPr lang="en-US" b="1" kern="100" dirty="0">
                <a:effectLst/>
                <a:latin typeface="+mn-ea"/>
                <a:cs typeface="宋体" panose="02010600030101010101" pitchFamily="2" charset="-122"/>
              </a:rPr>
              <a:t>A×B</a:t>
            </a:r>
            <a:r>
              <a:rPr lang="zh-CN" b="1" kern="100" dirty="0">
                <a:effectLst/>
                <a:latin typeface="+mn-ea"/>
                <a:cs typeface="宋体" panose="02010600030101010101" pitchFamily="2" charset="-122"/>
              </a:rPr>
              <a:t>的子集。</a:t>
            </a:r>
            <a:endParaRPr lang="zh-CN" b="1" kern="100" dirty="0">
              <a:effectLst/>
              <a:latin typeface="+mn-ea"/>
              <a:cs typeface="宋体" panose="02010600030101010101" pitchFamily="2" charset="-122"/>
            </a:endParaRPr>
          </a:p>
        </p:txBody>
      </p:sp>
      <p:sp>
        <p:nvSpPr>
          <p:cNvPr id="7" name="Rectangle 2"/>
          <p:cNvSpPr txBox="1">
            <a:spLocks noChangeArrowheads="1"/>
          </p:cNvSpPr>
          <p:nvPr/>
        </p:nvSpPr>
        <p:spPr>
          <a:xfrm>
            <a:off x="1450975" y="2842723"/>
            <a:ext cx="10210800" cy="1447800"/>
          </a:xfrm>
          <a:prstGeom prst="rect">
            <a:avLst/>
          </a:prstGeom>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lumMod val="75000"/>
                    <a:lumOff val="25000"/>
                  </a:schemeClr>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kumimoji="1" lang="zh-CN" altLang="en-US" dirty="0"/>
              <a:t>若</a:t>
            </a:r>
            <a:r>
              <a:rPr kumimoji="1" lang="en-US" altLang="zh-CN" dirty="0">
                <a:solidFill>
                  <a:srgbClr val="0000CC"/>
                </a:solidFill>
              </a:rPr>
              <a:t>&lt;x,y&gt;∈</a:t>
            </a:r>
            <a:r>
              <a:rPr kumimoji="1" lang="en-US" altLang="zh-CN" noProof="1">
                <a:solidFill>
                  <a:srgbClr val="0000CC"/>
                </a:solidFill>
              </a:rPr>
              <a:t>R</a:t>
            </a:r>
            <a:r>
              <a:rPr kumimoji="1" lang="en-US" altLang="zh-CN" noProof="1">
                <a:solidFill>
                  <a:schemeClr val="tx1"/>
                </a:solidFill>
              </a:rPr>
              <a:t>，</a:t>
            </a:r>
            <a:r>
              <a:rPr kumimoji="1" lang="zh-CN" altLang="en-US" dirty="0"/>
              <a:t>则记为</a:t>
            </a:r>
            <a:r>
              <a:rPr kumimoji="1" lang="en-US" altLang="zh-CN" noProof="1">
                <a:solidFill>
                  <a:srgbClr val="FF0000"/>
                </a:solidFill>
              </a:rPr>
              <a:t>xRy</a:t>
            </a:r>
            <a:r>
              <a:rPr kumimoji="1" lang="en-US" altLang="zh-CN" noProof="1">
                <a:solidFill>
                  <a:schemeClr val="tx1"/>
                </a:solidFill>
              </a:rPr>
              <a:t>，</a:t>
            </a:r>
            <a:r>
              <a:rPr kumimoji="1" lang="zh-CN" altLang="en-US" noProof="1"/>
              <a:t>读作</a:t>
            </a:r>
            <a:r>
              <a:rPr kumimoji="1" lang="zh-CN" altLang="en-US" noProof="1">
                <a:solidFill>
                  <a:srgbClr val="0000CC"/>
                </a:solidFill>
                <a:latin typeface="宋体" panose="02010600030101010101" pitchFamily="2" charset="-122"/>
              </a:rPr>
              <a:t>“</a:t>
            </a:r>
            <a:r>
              <a:rPr kumimoji="1" lang="en-US" altLang="zh-CN" noProof="1">
                <a:solidFill>
                  <a:srgbClr val="0000CC"/>
                </a:solidFill>
              </a:rPr>
              <a:t>x</a:t>
            </a:r>
            <a:r>
              <a:rPr kumimoji="1" lang="zh-CN" altLang="en-US" noProof="1">
                <a:solidFill>
                  <a:srgbClr val="0000CC"/>
                </a:solidFill>
              </a:rPr>
              <a:t>对</a:t>
            </a:r>
            <a:r>
              <a:rPr kumimoji="1" lang="en-US" altLang="zh-CN" noProof="1">
                <a:solidFill>
                  <a:srgbClr val="0000CC"/>
                </a:solidFill>
              </a:rPr>
              <a:t>y</a:t>
            </a:r>
            <a:r>
              <a:rPr kumimoji="1" lang="zh-CN" altLang="en-US" noProof="1">
                <a:solidFill>
                  <a:srgbClr val="0000CC"/>
                </a:solidFill>
              </a:rPr>
              <a:t>有关系</a:t>
            </a:r>
            <a:r>
              <a:rPr kumimoji="1" lang="en-US" altLang="zh-CN" noProof="1">
                <a:solidFill>
                  <a:srgbClr val="0000CC"/>
                </a:solidFill>
              </a:rPr>
              <a:t>R</a:t>
            </a:r>
            <a:r>
              <a:rPr kumimoji="1" lang="en-US" altLang="zh-CN" noProof="1">
                <a:solidFill>
                  <a:srgbClr val="0000CC"/>
                </a:solidFill>
                <a:latin typeface="宋体" panose="02010600030101010101" pitchFamily="2" charset="-122"/>
              </a:rPr>
              <a:t>”</a:t>
            </a:r>
            <a:r>
              <a:rPr kumimoji="1" lang="zh-CN" altLang="en-US" dirty="0">
                <a:solidFill>
                  <a:schemeClr val="tx1"/>
                </a:solidFill>
              </a:rPr>
              <a:t>；</a:t>
            </a:r>
            <a:endParaRPr kumimoji="1" lang="zh-CN" altLang="en-US" dirty="0">
              <a:solidFill>
                <a:schemeClr val="tx1"/>
              </a:solidFill>
            </a:endParaRPr>
          </a:p>
          <a:p>
            <a:pPr marL="0" indent="0">
              <a:lnSpc>
                <a:spcPct val="150000"/>
              </a:lnSpc>
              <a:buFont typeface="Wingdings" panose="05000000000000000000" pitchFamily="2" charset="2"/>
              <a:buNone/>
            </a:pPr>
            <a:r>
              <a:rPr kumimoji="1" lang="en-US" altLang="zh-CN" dirty="0"/>
              <a:t>若</a:t>
            </a:r>
            <a:r>
              <a:rPr kumimoji="1" lang="en-US" altLang="en-US" noProof="1">
                <a:solidFill>
                  <a:srgbClr val="0000CC"/>
                </a:solidFill>
              </a:rPr>
              <a:t>&lt;</a:t>
            </a:r>
            <a:r>
              <a:rPr kumimoji="1" lang="en-US" altLang="zh-CN" noProof="1">
                <a:solidFill>
                  <a:srgbClr val="0000CC"/>
                </a:solidFill>
              </a:rPr>
              <a:t>x,y&gt;</a:t>
            </a:r>
            <a:r>
              <a:rPr kumimoji="1" lang="en-US" altLang="zh-CN" dirty="0">
                <a:solidFill>
                  <a:srgbClr val="0000CC"/>
                </a:solidFill>
                <a:sym typeface="Symbol" panose="05050102010706020507" pitchFamily="18" charset="2"/>
              </a:rPr>
              <a:t></a:t>
            </a:r>
            <a:r>
              <a:rPr kumimoji="1" lang="en-US" altLang="zh-CN" noProof="1">
                <a:solidFill>
                  <a:srgbClr val="0000CC"/>
                </a:solidFill>
              </a:rPr>
              <a:t>R</a:t>
            </a:r>
            <a:r>
              <a:rPr kumimoji="1" lang="en-US" altLang="zh-CN" noProof="1">
                <a:solidFill>
                  <a:schemeClr val="tx1"/>
                </a:solidFill>
              </a:rPr>
              <a:t>，</a:t>
            </a:r>
            <a:r>
              <a:rPr kumimoji="1" lang="zh-CN" altLang="en-US" noProof="1"/>
              <a:t>则记为</a:t>
            </a:r>
            <a:r>
              <a:rPr kumimoji="1" lang="en-US" altLang="zh-CN" noProof="1">
                <a:solidFill>
                  <a:srgbClr val="FF0000"/>
                </a:solidFill>
              </a:rPr>
              <a:t>xRy</a:t>
            </a:r>
            <a:r>
              <a:rPr kumimoji="1" lang="en-US" altLang="zh-CN" noProof="1">
                <a:solidFill>
                  <a:schemeClr val="tx1"/>
                </a:solidFill>
              </a:rPr>
              <a:t>，</a:t>
            </a:r>
            <a:r>
              <a:rPr kumimoji="1" lang="zh-CN" altLang="en-US" noProof="1"/>
              <a:t>读作</a:t>
            </a:r>
            <a:r>
              <a:rPr kumimoji="1" lang="zh-CN" altLang="en-US" noProof="1">
                <a:solidFill>
                  <a:srgbClr val="0000CC"/>
                </a:solidFill>
                <a:latin typeface="宋体" panose="02010600030101010101" pitchFamily="2" charset="-122"/>
              </a:rPr>
              <a:t>“</a:t>
            </a:r>
            <a:r>
              <a:rPr kumimoji="1" lang="en-US" altLang="zh-CN" noProof="1">
                <a:solidFill>
                  <a:srgbClr val="0000CC"/>
                </a:solidFill>
              </a:rPr>
              <a:t>x</a:t>
            </a:r>
            <a:r>
              <a:rPr kumimoji="1" lang="zh-CN" altLang="en-US" noProof="1">
                <a:solidFill>
                  <a:srgbClr val="0000CC"/>
                </a:solidFill>
              </a:rPr>
              <a:t>对</a:t>
            </a:r>
            <a:r>
              <a:rPr kumimoji="1" lang="en-US" altLang="zh-CN" noProof="1">
                <a:solidFill>
                  <a:srgbClr val="0000CC"/>
                </a:solidFill>
              </a:rPr>
              <a:t>y</a:t>
            </a:r>
            <a:r>
              <a:rPr kumimoji="1" lang="zh-CN" altLang="en-US" noProof="1">
                <a:solidFill>
                  <a:srgbClr val="0000CC"/>
                </a:solidFill>
              </a:rPr>
              <a:t>没有关系</a:t>
            </a:r>
            <a:r>
              <a:rPr kumimoji="1" lang="en-US" altLang="zh-CN" noProof="1">
                <a:solidFill>
                  <a:srgbClr val="0000CC"/>
                </a:solidFill>
              </a:rPr>
              <a:t>R</a:t>
            </a:r>
            <a:r>
              <a:rPr kumimoji="1" lang="en-US" altLang="zh-CN" noProof="1">
                <a:solidFill>
                  <a:srgbClr val="0000CC"/>
                </a:solidFill>
                <a:latin typeface="宋体" panose="02010600030101010101" pitchFamily="2" charset="-122"/>
              </a:rPr>
              <a:t>”</a:t>
            </a:r>
            <a:r>
              <a:rPr kumimoji="1" lang="en-US" altLang="zh-CN" noProof="1">
                <a:solidFill>
                  <a:srgbClr val="0000CC"/>
                </a:solidFill>
              </a:rPr>
              <a:t>。</a:t>
            </a:r>
            <a:endParaRPr kumimoji="1" lang="zh-CN" altLang="en-US" dirty="0">
              <a:solidFill>
                <a:srgbClr val="0000CC"/>
              </a:solidFill>
            </a:endParaRPr>
          </a:p>
        </p:txBody>
      </p:sp>
      <p:sp>
        <p:nvSpPr>
          <p:cNvPr id="8" name="Line 4"/>
          <p:cNvSpPr>
            <a:spLocks noChangeShapeType="1"/>
          </p:cNvSpPr>
          <p:nvPr/>
        </p:nvSpPr>
        <p:spPr bwMode="auto">
          <a:xfrm flipH="1">
            <a:off x="4601500" y="3592915"/>
            <a:ext cx="228600" cy="327329"/>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92642">
                                            <p:txEl>
                                              <p:pRg st="2" end="2"/>
                                            </p:txEl>
                                          </p:spTgt>
                                        </p:tgtEl>
                                        <p:attrNameLst>
                                          <p:attrName>style.visibility</p:attrName>
                                        </p:attrNameLst>
                                      </p:cBhvr>
                                      <p:to>
                                        <p:strVal val="visible"/>
                                      </p:to>
                                    </p:set>
                                    <p:anim calcmode="lin" valueType="num">
                                      <p:cBhvr additive="base">
                                        <p:cTn id="7" dur="500" fill="hold"/>
                                        <p:tgtEl>
                                          <p:spTgt spid="1392642">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264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circle(in)">
                                      <p:cBhvr>
                                        <p:cTn id="2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42" grpId="0" autoUpdateAnimBg="0" uiExpand="1" build="p"/>
      <p:bldP spid="6" grpId="0" animBg="1"/>
      <p:bldP spid="7" grpId="0" autoUpdateAnimBg="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815342" y="404907"/>
            <a:ext cx="10978515" cy="1371918"/>
          </a:xfrm>
        </p:spPr>
        <p:txBody>
          <a:bodyPr/>
          <a:lstStyle/>
          <a:p>
            <a:pPr eaLnBrk="1" hangingPunct="1"/>
            <a:r>
              <a:rPr lang="zh-CN" altLang="en-US" b="1" smtClean="0"/>
              <a:t>二元关系的定义</a:t>
            </a:r>
            <a:endParaRPr lang="zh-CN" altLang="en-US" b="1" smtClean="0"/>
          </a:p>
        </p:txBody>
      </p:sp>
      <p:grpSp>
        <p:nvGrpSpPr>
          <p:cNvPr id="2" name="Group 7"/>
          <p:cNvGrpSpPr/>
          <p:nvPr/>
        </p:nvGrpSpPr>
        <p:grpSpPr bwMode="auto">
          <a:xfrm>
            <a:off x="814707" y="1522714"/>
            <a:ext cx="10853566" cy="4412682"/>
            <a:chOff x="431" y="826"/>
            <a:chExt cx="5125" cy="2779"/>
          </a:xfrm>
        </p:grpSpPr>
        <p:grpSp>
          <p:nvGrpSpPr>
            <p:cNvPr id="3" name="Group 6"/>
            <p:cNvGrpSpPr/>
            <p:nvPr/>
          </p:nvGrpSpPr>
          <p:grpSpPr bwMode="auto">
            <a:xfrm>
              <a:off x="431" y="826"/>
              <a:ext cx="5125" cy="2480"/>
              <a:chOff x="431" y="826"/>
              <a:chExt cx="5125" cy="2480"/>
            </a:xfrm>
          </p:grpSpPr>
          <p:sp>
            <p:nvSpPr>
              <p:cNvPr id="16391" name="Text Box 3"/>
              <p:cNvSpPr txBox="1">
                <a:spLocks noChangeArrowheads="1"/>
              </p:cNvSpPr>
              <p:nvPr/>
            </p:nvSpPr>
            <p:spPr bwMode="auto">
              <a:xfrm>
                <a:off x="431" y="826"/>
                <a:ext cx="5125" cy="2480"/>
              </a:xfrm>
              <a:prstGeom prst="rect">
                <a:avLst/>
              </a:prstGeom>
              <a:noFill/>
              <a:ln w="9525">
                <a:noFill/>
                <a:miter lim="800000"/>
              </a:ln>
            </p:spPr>
            <p:txBody>
              <a:bodyPr>
                <a:noAutofit/>
              </a:bodyPr>
              <a:lstStyle/>
              <a:p>
                <a:pPr>
                  <a:lnSpc>
                    <a:spcPct val="150000"/>
                  </a:lnSpc>
                </a:pPr>
                <a:r>
                  <a:rPr lang="zh-CN" altLang="en-US" b="1" dirty="0">
                    <a:solidFill>
                      <a:srgbClr val="FF3300"/>
                    </a:solidFill>
                    <a:latin typeface="Times New Roman" panose="02020603050405020304" pitchFamily="18" charset="0"/>
                  </a:rPr>
                  <a:t>描述定义 ：</a:t>
                </a:r>
                <a:r>
                  <a:rPr lang="zh-CN" altLang="en-US" b="1" dirty="0">
                    <a:latin typeface="Times New Roman" panose="02020603050405020304" pitchFamily="18" charset="0"/>
                  </a:rPr>
                  <a:t>如果一个集合满足以下条件之一：</a:t>
                </a:r>
                <a:endParaRPr lang="zh-CN" altLang="en-US" b="1" dirty="0">
                  <a:latin typeface="Times New Roman" panose="02020603050405020304" pitchFamily="18" charset="0"/>
                </a:endParaRPr>
              </a:p>
              <a:p>
                <a:pPr>
                  <a:lnSpc>
                    <a:spcPct val="150000"/>
                  </a:lnSpc>
                </a:pP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）集合非空</a:t>
                </a:r>
                <a:r>
                  <a:rPr lang="en-US" altLang="zh-CN" b="1" dirty="0">
                    <a:latin typeface="Times New Roman" panose="02020603050405020304" pitchFamily="18" charset="0"/>
                  </a:rPr>
                  <a:t>, </a:t>
                </a:r>
                <a:r>
                  <a:rPr lang="zh-CN" altLang="en-US" b="1" dirty="0">
                    <a:latin typeface="Times New Roman" panose="02020603050405020304" pitchFamily="18" charset="0"/>
                  </a:rPr>
                  <a:t>且它的</a:t>
                </a:r>
                <a:r>
                  <a:rPr lang="zh-CN" altLang="en-US" b="1" dirty="0">
                    <a:solidFill>
                      <a:srgbClr val="FF0000"/>
                    </a:solidFill>
                    <a:latin typeface="Times New Roman" panose="02020603050405020304" pitchFamily="18" charset="0"/>
                  </a:rPr>
                  <a:t>元素都是有序对</a:t>
                </a:r>
                <a:endParaRPr lang="zh-CN" altLang="en-US" b="1" dirty="0">
                  <a:latin typeface="Times New Roman" panose="02020603050405020304" pitchFamily="18" charset="0"/>
                </a:endParaRPr>
              </a:p>
              <a:p>
                <a:pPr>
                  <a:lnSpc>
                    <a:spcPct val="150000"/>
                  </a:lnSpc>
                </a:pP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）集合是空集</a:t>
                </a:r>
                <a:endParaRPr lang="zh-CN" altLang="en-US" b="1" dirty="0">
                  <a:latin typeface="Times New Roman" panose="02020603050405020304" pitchFamily="18" charset="0"/>
                </a:endParaRPr>
              </a:p>
              <a:p>
                <a:pPr>
                  <a:lnSpc>
                    <a:spcPct val="150000"/>
                  </a:lnSpc>
                </a:pPr>
                <a:r>
                  <a:rPr lang="zh-CN" altLang="en-US" b="1" dirty="0">
                    <a:latin typeface="Times New Roman" panose="02020603050405020304" pitchFamily="18" charset="0"/>
                  </a:rPr>
                  <a:t>则称该集合为一个</a:t>
                </a:r>
                <a:r>
                  <a:rPr lang="zh-CN" altLang="en-US" b="1" dirty="0">
                    <a:solidFill>
                      <a:srgbClr val="FF3300"/>
                    </a:solidFill>
                    <a:latin typeface="Times New Roman" panose="02020603050405020304" pitchFamily="18" charset="0"/>
                  </a:rPr>
                  <a:t>二元关系</a:t>
                </a:r>
                <a:r>
                  <a:rPr lang="en-US" altLang="zh-CN" b="1" dirty="0">
                    <a:latin typeface="Times New Roman" panose="02020603050405020304" pitchFamily="18" charset="0"/>
                  </a:rPr>
                  <a:t>, </a:t>
                </a:r>
                <a:r>
                  <a:rPr lang="zh-CN" altLang="en-US" b="1" dirty="0">
                    <a:latin typeface="Times New Roman" panose="02020603050405020304" pitchFamily="18" charset="0"/>
                  </a:rPr>
                  <a:t>简称为</a:t>
                </a:r>
                <a:r>
                  <a:rPr lang="zh-CN" altLang="en-US" b="1" dirty="0">
                    <a:solidFill>
                      <a:srgbClr val="FF3300"/>
                    </a:solidFill>
                    <a:latin typeface="Times New Roman" panose="02020603050405020304" pitchFamily="18" charset="0"/>
                  </a:rPr>
                  <a:t>关系</a:t>
                </a:r>
                <a:r>
                  <a:rPr lang="zh-CN" altLang="en-US" b="1" dirty="0">
                    <a:latin typeface="Times New Roman" panose="02020603050405020304" pitchFamily="18" charset="0"/>
                  </a:rPr>
                  <a:t>，记作</a:t>
                </a:r>
                <a:r>
                  <a:rPr lang="en-US" altLang="zh-CN" b="1" i="1" dirty="0">
                    <a:latin typeface="Times New Roman" panose="02020603050405020304" pitchFamily="18" charset="0"/>
                  </a:rPr>
                  <a:t>R</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a:lnSpc>
                    <a:spcPct val="150000"/>
                  </a:lnSpc>
                </a:pPr>
                <a:r>
                  <a:rPr lang="zh-CN" altLang="en-US" b="1" dirty="0">
                    <a:latin typeface="Times New Roman" panose="02020603050405020304" pitchFamily="18" charset="0"/>
                  </a:rPr>
                  <a:t>如</a:t>
                </a:r>
                <a:r>
                  <a:rPr lang="en-US" altLang="zh-CN" b="1" dirty="0">
                    <a:latin typeface="Times New Roman" panose="02020603050405020304" pitchFamily="18" charset="0"/>
                  </a:rPr>
                  <a:t>&lt;</a:t>
                </a:r>
                <a:r>
                  <a:rPr lang="en-US" altLang="zh-CN" b="1" i="1" dirty="0">
                    <a:latin typeface="Times New Roman" panose="02020603050405020304" pitchFamily="18" charset="0"/>
                  </a:rPr>
                  <a:t>x</a:t>
                </a:r>
                <a:r>
                  <a:rPr lang="en-US" altLang="zh-CN" b="1" dirty="0">
                    <a:latin typeface="Times New Roman" panose="02020603050405020304" pitchFamily="18" charset="0"/>
                  </a:rPr>
                  <a:t>,</a:t>
                </a:r>
                <a:r>
                  <a:rPr lang="en-US" altLang="zh-CN" b="1" i="1" dirty="0">
                    <a:latin typeface="Times New Roman" panose="02020603050405020304" pitchFamily="18" charset="0"/>
                  </a:rPr>
                  <a:t>y</a:t>
                </a:r>
                <a:r>
                  <a:rPr lang="en-US" altLang="zh-CN" b="1" dirty="0">
                    <a:latin typeface="Times New Roman" panose="02020603050405020304" pitchFamily="18" charset="0"/>
                  </a:rPr>
                  <a:t>&gt;∈</a:t>
                </a:r>
                <a:r>
                  <a:rPr lang="en-US" altLang="zh-CN" b="1" i="1" dirty="0">
                    <a:latin typeface="Times New Roman" panose="02020603050405020304" pitchFamily="18" charset="0"/>
                  </a:rPr>
                  <a:t>R</a:t>
                </a:r>
                <a:r>
                  <a:rPr lang="en-US" altLang="zh-CN" b="1" dirty="0">
                    <a:latin typeface="Times New Roman" panose="02020603050405020304" pitchFamily="18" charset="0"/>
                  </a:rPr>
                  <a:t>, </a:t>
                </a:r>
                <a:r>
                  <a:rPr lang="zh-CN" altLang="en-US" b="1" dirty="0">
                    <a:latin typeface="Times New Roman" panose="02020603050405020304" pitchFamily="18" charset="0"/>
                  </a:rPr>
                  <a:t>可记作 </a:t>
                </a:r>
                <a:r>
                  <a:rPr lang="en-US" altLang="zh-CN" b="1" i="1" dirty="0">
                    <a:latin typeface="Times New Roman" panose="02020603050405020304" pitchFamily="18" charset="0"/>
                  </a:rPr>
                  <a:t>xRy</a:t>
                </a:r>
                <a:r>
                  <a:rPr lang="zh-CN" altLang="en-US" b="1" dirty="0">
                    <a:latin typeface="Times New Roman" panose="02020603050405020304" pitchFamily="18" charset="0"/>
                  </a:rPr>
                  <a:t>；如果</a:t>
                </a:r>
                <a:r>
                  <a:rPr lang="en-US" altLang="zh-CN" b="1" dirty="0">
                    <a:latin typeface="Times New Roman" panose="02020603050405020304" pitchFamily="18" charset="0"/>
                  </a:rPr>
                  <a:t>&lt;</a:t>
                </a:r>
                <a:r>
                  <a:rPr lang="en-US" altLang="zh-CN" b="1" i="1" dirty="0">
                    <a:latin typeface="Times New Roman" panose="02020603050405020304" pitchFamily="18" charset="0"/>
                  </a:rPr>
                  <a:t>x</a:t>
                </a:r>
                <a:r>
                  <a:rPr lang="en-US" altLang="zh-CN" b="1" dirty="0">
                    <a:latin typeface="Times New Roman" panose="02020603050405020304" pitchFamily="18" charset="0"/>
                  </a:rPr>
                  <a:t>,</a:t>
                </a:r>
                <a:r>
                  <a:rPr lang="en-US" altLang="zh-CN" b="1" i="1" dirty="0">
                    <a:latin typeface="Times New Roman" panose="02020603050405020304" pitchFamily="18" charset="0"/>
                  </a:rPr>
                  <a:t>y</a:t>
                </a:r>
                <a:r>
                  <a:rPr lang="en-US" altLang="zh-CN" b="1" dirty="0">
                    <a:latin typeface="Times New Roman" panose="02020603050405020304" pitchFamily="18" charset="0"/>
                  </a:rPr>
                  <a:t>&gt;</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R</a:t>
                </a:r>
                <a:r>
                  <a:rPr lang="en-US" altLang="zh-CN" b="1" dirty="0">
                    <a:latin typeface="Times New Roman" panose="02020603050405020304" pitchFamily="18" charset="0"/>
                  </a:rPr>
                  <a:t>, </a:t>
                </a:r>
                <a:r>
                  <a:rPr lang="zh-CN" altLang="en-US" b="1" dirty="0">
                    <a:latin typeface="Times New Roman" panose="02020603050405020304" pitchFamily="18" charset="0"/>
                  </a:rPr>
                  <a:t>则记作</a:t>
                </a:r>
                <a:r>
                  <a:rPr lang="en-US" altLang="zh-CN" b="1" i="1" dirty="0">
                    <a:latin typeface="Times New Roman" panose="02020603050405020304" pitchFamily="18" charset="0"/>
                  </a:rPr>
                  <a:t>x   y</a:t>
                </a:r>
                <a:endParaRPr lang="en-US" altLang="zh-CN" b="1" dirty="0">
                  <a:latin typeface="Times New Roman" panose="02020603050405020304" pitchFamily="18" charset="0"/>
                </a:endParaRPr>
              </a:p>
              <a:p>
                <a:pPr>
                  <a:lnSpc>
                    <a:spcPct val="150000"/>
                  </a:lnSpc>
                </a:pPr>
                <a:r>
                  <a:rPr lang="zh-CN" altLang="en-US" b="1" dirty="0">
                    <a:latin typeface="Times New Roman" panose="02020603050405020304" pitchFamily="18" charset="0"/>
                  </a:rPr>
                  <a:t>实例：</a:t>
                </a:r>
                <a:r>
                  <a:rPr lang="en-US" altLang="zh-CN" b="1" i="1" dirty="0">
                    <a:latin typeface="Times New Roman" panose="02020603050405020304" pitchFamily="18" charset="0"/>
                  </a:rPr>
                  <a:t>R</a:t>
                </a:r>
                <a:r>
                  <a:rPr lang="en-US" altLang="zh-CN" b="1" dirty="0">
                    <a:latin typeface="Times New Roman" panose="02020603050405020304" pitchFamily="18" charset="0"/>
                  </a:rPr>
                  <a:t>={&lt;1,2&gt;,&lt;</a:t>
                </a:r>
                <a:r>
                  <a:rPr lang="en-US" altLang="zh-CN" b="1" i="1" dirty="0">
                    <a:latin typeface="Times New Roman" panose="02020603050405020304" pitchFamily="18" charset="0"/>
                  </a:rPr>
                  <a:t>a</a:t>
                </a:r>
                <a:r>
                  <a:rPr lang="en-US" altLang="zh-CN" b="1" dirty="0">
                    <a:latin typeface="Times New Roman" panose="02020603050405020304" pitchFamily="18" charset="0"/>
                  </a:rPr>
                  <a:t>,</a:t>
                </a:r>
                <a:r>
                  <a:rPr lang="en-US" altLang="zh-CN" b="1" i="1" dirty="0">
                    <a:latin typeface="Times New Roman" panose="02020603050405020304" pitchFamily="18" charset="0"/>
                  </a:rPr>
                  <a:t>b</a:t>
                </a:r>
                <a:r>
                  <a:rPr lang="en-US" altLang="zh-CN" b="1" dirty="0">
                    <a:latin typeface="Times New Roman" panose="02020603050405020304" pitchFamily="18" charset="0"/>
                  </a:rPr>
                  <a:t>&gt;}, </a:t>
                </a:r>
                <a:r>
                  <a:rPr lang="en-US" altLang="zh-CN" b="1" i="1" dirty="0">
                    <a:latin typeface="Times New Roman" panose="02020603050405020304" pitchFamily="18" charset="0"/>
                  </a:rPr>
                  <a:t>S</a:t>
                </a:r>
                <a:r>
                  <a:rPr lang="en-US" altLang="zh-CN" b="1" dirty="0">
                    <a:latin typeface="Times New Roman" panose="02020603050405020304" pitchFamily="18" charset="0"/>
                  </a:rPr>
                  <a:t>={&lt;1,2&gt;,</a:t>
                </a:r>
                <a:r>
                  <a:rPr lang="en-US" altLang="zh-CN" b="1" i="1" dirty="0">
                    <a:latin typeface="Times New Roman" panose="02020603050405020304" pitchFamily="18" charset="0"/>
                  </a:rPr>
                  <a:t>a</a:t>
                </a:r>
                <a:r>
                  <a:rPr lang="en-US" altLang="zh-CN" b="1" dirty="0">
                    <a:latin typeface="Times New Roman" panose="02020603050405020304" pitchFamily="18" charset="0"/>
                  </a:rPr>
                  <a:t>,</a:t>
                </a:r>
                <a:r>
                  <a:rPr lang="en-US" altLang="zh-CN" b="1" i="1" dirty="0">
                    <a:latin typeface="Times New Roman" panose="02020603050405020304" pitchFamily="18" charset="0"/>
                  </a:rPr>
                  <a:t>b</a:t>
                </a:r>
                <a:r>
                  <a:rPr lang="en-US" altLang="zh-CN" b="1" dirty="0">
                    <a:latin typeface="Times New Roman" panose="02020603050405020304" pitchFamily="18" charset="0"/>
                  </a:rPr>
                  <a:t>}. </a:t>
                </a:r>
                <a:endParaRPr lang="en-US" altLang="zh-CN" b="1" i="1" dirty="0">
                  <a:latin typeface="Times New Roman" panose="02020603050405020304" pitchFamily="18" charset="0"/>
                </a:endParaRPr>
              </a:p>
              <a:p>
                <a:pPr>
                  <a:lnSpc>
                    <a:spcPct val="150000"/>
                  </a:lnSpc>
                </a:pPr>
                <a:r>
                  <a:rPr lang="en-US" altLang="zh-CN" b="1" i="1" dirty="0">
                    <a:latin typeface="Times New Roman" panose="02020603050405020304" pitchFamily="18" charset="0"/>
                  </a:rPr>
                  <a:t>R</a:t>
                </a:r>
                <a:r>
                  <a:rPr lang="zh-CN" altLang="en-US" b="1" dirty="0">
                    <a:latin typeface="Times New Roman" panose="02020603050405020304" pitchFamily="18" charset="0"/>
                  </a:rPr>
                  <a:t>是二元关系</a:t>
                </a:r>
                <a:r>
                  <a:rPr lang="en-US" altLang="zh-CN" b="1" dirty="0">
                    <a:latin typeface="Times New Roman" panose="02020603050405020304" pitchFamily="18" charset="0"/>
                  </a:rPr>
                  <a:t>, </a:t>
                </a:r>
                <a:r>
                  <a:rPr lang="zh-CN" altLang="en-US" b="1" dirty="0">
                    <a:latin typeface="Times New Roman" panose="02020603050405020304" pitchFamily="18" charset="0"/>
                  </a:rPr>
                  <a:t>当</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a:latin typeface="Times New Roman" panose="02020603050405020304" pitchFamily="18" charset="0"/>
                  </a:rPr>
                  <a:t>b</a:t>
                </a:r>
                <a:r>
                  <a:rPr lang="zh-CN" altLang="en-US" b="1" dirty="0">
                    <a:latin typeface="Times New Roman" panose="02020603050405020304" pitchFamily="18" charset="0"/>
                  </a:rPr>
                  <a:t>不是有序对时，</a:t>
                </a:r>
                <a:r>
                  <a:rPr lang="en-US" altLang="zh-CN" b="1" i="1" dirty="0">
                    <a:latin typeface="Times New Roman" panose="02020603050405020304" pitchFamily="18" charset="0"/>
                  </a:rPr>
                  <a:t>S</a:t>
                </a:r>
                <a:r>
                  <a:rPr lang="zh-CN" altLang="en-US" b="1" dirty="0">
                    <a:latin typeface="Times New Roman" panose="02020603050405020304" pitchFamily="18" charset="0"/>
                  </a:rPr>
                  <a:t>不是二元关系</a:t>
                </a:r>
                <a:endParaRPr lang="zh-CN" altLang="en-US" b="1" dirty="0">
                  <a:latin typeface="Times New Roman" panose="02020603050405020304" pitchFamily="18" charset="0"/>
                </a:endParaRPr>
              </a:p>
              <a:p>
                <a:pPr>
                  <a:lnSpc>
                    <a:spcPct val="150000"/>
                  </a:lnSpc>
                </a:pPr>
                <a:r>
                  <a:rPr lang="zh-CN" altLang="en-US" b="1" dirty="0">
                    <a:latin typeface="Times New Roman" panose="02020603050405020304" pitchFamily="18" charset="0"/>
                  </a:rPr>
                  <a:t>根据上面的记法，可以写 </a:t>
                </a:r>
                <a:r>
                  <a:rPr lang="en-US" altLang="zh-CN" b="1" dirty="0">
                    <a:latin typeface="Times New Roman" panose="02020603050405020304" pitchFamily="18" charset="0"/>
                  </a:rPr>
                  <a:t>1</a:t>
                </a:r>
                <a:r>
                  <a:rPr lang="en-US" altLang="zh-CN" b="1" i="1" dirty="0">
                    <a:latin typeface="Times New Roman" panose="02020603050405020304" pitchFamily="18" charset="0"/>
                  </a:rPr>
                  <a:t>R</a:t>
                </a:r>
                <a:r>
                  <a:rPr lang="en-US" altLang="zh-CN" b="1" dirty="0">
                    <a:latin typeface="Times New Roman" panose="02020603050405020304" pitchFamily="18" charset="0"/>
                  </a:rPr>
                  <a:t>2, </a:t>
                </a:r>
                <a:r>
                  <a:rPr lang="en-US" altLang="zh-CN" b="1" i="1" dirty="0">
                    <a:latin typeface="Times New Roman" panose="02020603050405020304" pitchFamily="18" charset="0"/>
                  </a:rPr>
                  <a:t>aRb</a:t>
                </a:r>
                <a:r>
                  <a:rPr lang="en-US" altLang="zh-CN" b="1" dirty="0">
                    <a:latin typeface="Times New Roman" panose="02020603050405020304" pitchFamily="18" charset="0"/>
                  </a:rPr>
                  <a:t>, </a:t>
                </a:r>
                <a:r>
                  <a:rPr lang="en-US" altLang="zh-CN" b="1" i="1" dirty="0">
                    <a:latin typeface="Times New Roman" panose="02020603050405020304" pitchFamily="18" charset="0"/>
                  </a:rPr>
                  <a:t>a    c </a:t>
                </a:r>
                <a:r>
                  <a:rPr lang="zh-CN" altLang="en-US" b="1" dirty="0">
                    <a:latin typeface="Times New Roman" panose="02020603050405020304" pitchFamily="18" charset="0"/>
                  </a:rPr>
                  <a:t>等</a:t>
                </a:r>
                <a:r>
                  <a:rPr lang="en-US" altLang="zh-CN" b="1" dirty="0">
                    <a:latin typeface="Times New Roman" panose="02020603050405020304" pitchFamily="18" charset="0"/>
                  </a:rPr>
                  <a:t>. </a:t>
                </a:r>
                <a:endParaRPr lang="en-US" altLang="zh-CN" b="1" dirty="0">
                  <a:latin typeface="Times New Roman" panose="02020603050405020304" pitchFamily="18" charset="0"/>
                </a:endParaRPr>
              </a:p>
            </p:txBody>
          </p:sp>
          <p:pic>
            <p:nvPicPr>
              <p:cNvPr id="16392" name="Picture 4"/>
              <p:cNvPicPr>
                <a:picLocks noChangeAspect="1" noChangeArrowheads="1"/>
              </p:cNvPicPr>
              <p:nvPr/>
            </p:nvPicPr>
            <p:blipFill>
              <a:blip r:embed="rId1" cstate="print"/>
              <a:srcRect/>
              <a:stretch>
                <a:fillRect/>
              </a:stretch>
            </p:blipFill>
            <p:spPr bwMode="auto">
              <a:xfrm>
                <a:off x="3502" y="2315"/>
                <a:ext cx="108" cy="271"/>
              </a:xfrm>
              <a:prstGeom prst="rect">
                <a:avLst/>
              </a:prstGeom>
              <a:noFill/>
              <a:ln w="9525">
                <a:noFill/>
                <a:miter lim="800000"/>
                <a:headEnd/>
                <a:tailEnd/>
              </a:ln>
            </p:spPr>
          </p:pic>
        </p:grpSp>
        <p:pic>
          <p:nvPicPr>
            <p:cNvPr id="16390" name="Picture 5"/>
            <p:cNvPicPr>
              <a:picLocks noChangeAspect="1" noChangeArrowheads="1"/>
            </p:cNvPicPr>
            <p:nvPr/>
          </p:nvPicPr>
          <p:blipFill>
            <a:blip r:embed="rId1" cstate="print"/>
            <a:srcRect/>
            <a:stretch>
              <a:fillRect/>
            </a:stretch>
          </p:blipFill>
          <p:spPr bwMode="auto">
            <a:xfrm>
              <a:off x="2782" y="3414"/>
              <a:ext cx="132" cy="191"/>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80" name="Rectangle 3"/>
          <p:cNvSpPr>
            <a:spLocks noGrp="1" noChangeArrowheads="1"/>
          </p:cNvSpPr>
          <p:nvPr>
            <p:ph type="title"/>
          </p:nvPr>
        </p:nvSpPr>
        <p:spPr/>
        <p:txBody>
          <a:bodyPr/>
          <a:lstStyle/>
          <a:p>
            <a:r>
              <a:rPr lang="zh-CN" altLang="en-US" dirty="0"/>
              <a:t>例</a:t>
            </a:r>
            <a:r>
              <a:rPr lang="en-US" altLang="zh-CN" dirty="0"/>
              <a:t>4.3</a:t>
            </a:r>
            <a:endParaRPr lang="zh-CN" altLang="en-US" dirty="0"/>
          </a:p>
        </p:txBody>
      </p:sp>
      <p:sp>
        <p:nvSpPr>
          <p:cNvPr id="5" name="内容占位符 2"/>
          <p:cNvSpPr txBox="1"/>
          <p:nvPr/>
        </p:nvSpPr>
        <p:spPr bwMode="auto">
          <a:xfrm>
            <a:off x="307975" y="1358420"/>
            <a:ext cx="11506200" cy="530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a:buNone/>
            </a:pPr>
            <a:r>
              <a:rPr lang="zh-CN" altLang="zh-CN" dirty="0">
                <a:solidFill>
                  <a:srgbClr val="C00000"/>
                </a:solidFill>
              </a:rPr>
              <a:t>例</a:t>
            </a:r>
            <a:r>
              <a:rPr lang="en-US" altLang="zh-CN" dirty="0">
                <a:solidFill>
                  <a:srgbClr val="C00000"/>
                </a:solidFill>
              </a:rPr>
              <a:t>4.3  </a:t>
            </a:r>
            <a:r>
              <a:rPr lang="zh-CN" altLang="zh-CN" dirty="0"/>
              <a:t>假设</a:t>
            </a:r>
            <a:r>
              <a:rPr lang="en-US" altLang="zh-CN" dirty="0"/>
              <a:t>A</a:t>
            </a:r>
            <a:r>
              <a:rPr lang="zh-CN" altLang="zh-CN" dirty="0"/>
              <a:t>＝</a:t>
            </a:r>
            <a:r>
              <a:rPr lang="en-US" altLang="zh-CN" dirty="0"/>
              <a:t>{1</a:t>
            </a:r>
            <a:r>
              <a:rPr lang="zh-CN" altLang="zh-CN" dirty="0"/>
              <a:t>，</a:t>
            </a:r>
            <a:r>
              <a:rPr lang="en-US" altLang="zh-CN" dirty="0"/>
              <a:t>4}</a:t>
            </a:r>
            <a:r>
              <a:rPr lang="zh-CN" altLang="zh-CN" dirty="0"/>
              <a:t>，</a:t>
            </a:r>
            <a:r>
              <a:rPr lang="en-US" altLang="zh-CN" dirty="0"/>
              <a:t>B</a:t>
            </a:r>
            <a:r>
              <a:rPr lang="zh-CN" altLang="zh-CN" dirty="0"/>
              <a:t>＝</a:t>
            </a:r>
            <a:r>
              <a:rPr lang="en-US" altLang="zh-CN" dirty="0"/>
              <a:t>{a</a:t>
            </a:r>
            <a:r>
              <a:rPr lang="zh-CN" altLang="zh-CN" dirty="0"/>
              <a:t>，</a:t>
            </a:r>
            <a:r>
              <a:rPr lang="en-US" altLang="zh-CN" dirty="0"/>
              <a:t>b}</a:t>
            </a:r>
            <a:r>
              <a:rPr lang="zh-CN" altLang="zh-CN" dirty="0"/>
              <a:t>，试判断下列集合是否为</a:t>
            </a:r>
            <a:r>
              <a:rPr lang="en-US" altLang="zh-CN" dirty="0"/>
              <a:t>A</a:t>
            </a:r>
            <a:r>
              <a:rPr lang="zh-CN" altLang="zh-CN" dirty="0"/>
              <a:t>到</a:t>
            </a:r>
            <a:r>
              <a:rPr lang="en-US" altLang="zh-CN" dirty="0"/>
              <a:t>B</a:t>
            </a:r>
            <a:r>
              <a:rPr lang="zh-CN" altLang="zh-CN" dirty="0"/>
              <a:t>的一个关系。</a:t>
            </a:r>
            <a:endParaRPr lang="zh-CN" altLang="zh-CN" dirty="0"/>
          </a:p>
          <a:p>
            <a:pPr marL="0" indent="0">
              <a:buNone/>
            </a:pPr>
            <a:r>
              <a:rPr lang="zh-CN" altLang="zh-CN" dirty="0"/>
              <a:t>（</a:t>
            </a:r>
            <a:r>
              <a:rPr lang="en-US" altLang="zh-CN" dirty="0"/>
              <a:t>1</a:t>
            </a:r>
            <a:r>
              <a:rPr lang="zh-CN" altLang="zh-CN" dirty="0"/>
              <a:t>）</a:t>
            </a:r>
            <a:r>
              <a:rPr lang="en-US" altLang="zh-CN" dirty="0"/>
              <a:t>S</a:t>
            </a:r>
            <a:r>
              <a:rPr lang="en-US" altLang="zh-CN" baseline="-25000" dirty="0"/>
              <a:t>1</a:t>
            </a:r>
            <a:r>
              <a:rPr lang="zh-CN" altLang="zh-CN" dirty="0"/>
              <a:t>＝</a:t>
            </a:r>
            <a:r>
              <a:rPr lang="en-US" altLang="zh-CN" dirty="0"/>
              <a:t>{&lt;3</a:t>
            </a:r>
            <a:r>
              <a:rPr lang="zh-CN" altLang="zh-CN" dirty="0"/>
              <a:t>，</a:t>
            </a:r>
            <a:r>
              <a:rPr lang="en-US" altLang="zh-CN" dirty="0"/>
              <a:t>b&gt;}</a:t>
            </a:r>
            <a:r>
              <a:rPr lang="zh-CN" altLang="zh-CN" dirty="0"/>
              <a:t>。</a:t>
            </a:r>
            <a:endParaRPr lang="zh-CN" altLang="zh-CN" dirty="0"/>
          </a:p>
          <a:p>
            <a:pPr marL="0" indent="0">
              <a:buNone/>
            </a:pPr>
            <a:r>
              <a:rPr lang="zh-CN" altLang="zh-CN" dirty="0"/>
              <a:t>（</a:t>
            </a:r>
            <a:r>
              <a:rPr lang="en-US" altLang="zh-CN" dirty="0"/>
              <a:t>2</a:t>
            </a:r>
            <a:r>
              <a:rPr lang="zh-CN" altLang="zh-CN" dirty="0"/>
              <a:t>）</a:t>
            </a:r>
            <a:r>
              <a:rPr lang="en-US" altLang="zh-CN" dirty="0"/>
              <a:t>S</a:t>
            </a:r>
            <a:r>
              <a:rPr lang="en-US" altLang="zh-CN" baseline="-25000" dirty="0"/>
              <a:t>2</a:t>
            </a:r>
            <a:r>
              <a:rPr lang="zh-CN" altLang="zh-CN" dirty="0"/>
              <a:t>＝</a:t>
            </a:r>
            <a:r>
              <a:rPr lang="en-US" altLang="zh-CN" dirty="0"/>
              <a:t>{&lt;1</a:t>
            </a:r>
            <a:r>
              <a:rPr lang="zh-CN" altLang="zh-CN" dirty="0"/>
              <a:t>，</a:t>
            </a:r>
            <a:r>
              <a:rPr lang="en-US" altLang="zh-CN" dirty="0"/>
              <a:t>a&gt;</a:t>
            </a:r>
            <a:r>
              <a:rPr lang="zh-CN" altLang="zh-CN" dirty="0"/>
              <a:t>，</a:t>
            </a:r>
            <a:r>
              <a:rPr lang="en-US" altLang="zh-CN" dirty="0"/>
              <a:t>&lt;4</a:t>
            </a:r>
            <a:r>
              <a:rPr lang="zh-CN" altLang="zh-CN" dirty="0"/>
              <a:t>，</a:t>
            </a:r>
            <a:r>
              <a:rPr lang="en-US" altLang="zh-CN" dirty="0"/>
              <a:t>a&gt;</a:t>
            </a:r>
            <a:r>
              <a:rPr lang="zh-CN" altLang="zh-CN" dirty="0"/>
              <a:t>，</a:t>
            </a:r>
            <a:r>
              <a:rPr lang="en-US" altLang="zh-CN" dirty="0"/>
              <a:t>&lt;1</a:t>
            </a:r>
            <a:r>
              <a:rPr lang="zh-CN" altLang="zh-CN" dirty="0"/>
              <a:t>，</a:t>
            </a:r>
            <a:r>
              <a:rPr lang="en-US" altLang="zh-CN" dirty="0"/>
              <a:t>b&gt;</a:t>
            </a:r>
            <a:r>
              <a:rPr lang="zh-CN" altLang="zh-CN" dirty="0"/>
              <a:t>，</a:t>
            </a:r>
            <a:r>
              <a:rPr lang="en-US" altLang="zh-CN" dirty="0"/>
              <a:t>&lt;4</a:t>
            </a:r>
            <a:r>
              <a:rPr lang="zh-CN" altLang="zh-CN" dirty="0"/>
              <a:t>，</a:t>
            </a:r>
            <a:r>
              <a:rPr lang="en-US" altLang="zh-CN" dirty="0"/>
              <a:t>b&gt;}</a:t>
            </a:r>
            <a:r>
              <a:rPr lang="zh-CN" altLang="zh-CN" dirty="0"/>
              <a:t>。</a:t>
            </a:r>
            <a:endParaRPr lang="zh-CN" altLang="zh-CN" dirty="0"/>
          </a:p>
          <a:p>
            <a:pPr marL="0" indent="0">
              <a:buNone/>
            </a:pPr>
            <a:r>
              <a:rPr lang="zh-CN" altLang="zh-CN" dirty="0">
                <a:solidFill>
                  <a:srgbClr val="C00000"/>
                </a:solidFill>
              </a:rPr>
              <a:t>解</a:t>
            </a:r>
            <a:r>
              <a:rPr lang="zh-CN" altLang="zh-CN" dirty="0"/>
              <a:t> </a:t>
            </a:r>
            <a:r>
              <a:rPr lang="en-US" altLang="zh-CN" dirty="0"/>
              <a:t> </a:t>
            </a:r>
            <a:r>
              <a:rPr lang="zh-CN" altLang="en-US" dirty="0"/>
              <a:t>因为</a:t>
            </a:r>
            <a:r>
              <a:rPr lang="zh-CN" altLang="zh-CN" dirty="0"/>
              <a:t> </a:t>
            </a:r>
            <a:r>
              <a:rPr lang="en-US" altLang="zh-CN" dirty="0"/>
              <a:t>A</a:t>
            </a:r>
            <a:r>
              <a:rPr lang="zh-CN" altLang="zh-CN" dirty="0"/>
              <a:t>×</a:t>
            </a:r>
            <a:r>
              <a:rPr lang="en-US" altLang="zh-CN" dirty="0"/>
              <a:t>B</a:t>
            </a:r>
            <a:r>
              <a:rPr lang="zh-CN" altLang="zh-CN" dirty="0"/>
              <a:t>＝</a:t>
            </a:r>
            <a:r>
              <a:rPr lang="en-US" altLang="zh-CN" dirty="0"/>
              <a:t>{&lt;1</a:t>
            </a:r>
            <a:r>
              <a:rPr lang="zh-CN" altLang="zh-CN" dirty="0"/>
              <a:t>，</a:t>
            </a:r>
            <a:r>
              <a:rPr lang="en-US" altLang="zh-CN" dirty="0"/>
              <a:t>a&gt;</a:t>
            </a:r>
            <a:r>
              <a:rPr lang="zh-CN" altLang="zh-CN" dirty="0"/>
              <a:t>，</a:t>
            </a:r>
            <a:r>
              <a:rPr lang="en-US" altLang="zh-CN" dirty="0"/>
              <a:t>&lt;4</a:t>
            </a:r>
            <a:r>
              <a:rPr lang="zh-CN" altLang="zh-CN" dirty="0"/>
              <a:t>，</a:t>
            </a:r>
            <a:r>
              <a:rPr lang="en-US" altLang="zh-CN" dirty="0"/>
              <a:t>a&gt;</a:t>
            </a:r>
            <a:r>
              <a:rPr lang="zh-CN" altLang="zh-CN" dirty="0"/>
              <a:t>，</a:t>
            </a:r>
            <a:r>
              <a:rPr lang="en-US" altLang="zh-CN" dirty="0"/>
              <a:t>&lt;1</a:t>
            </a:r>
            <a:r>
              <a:rPr lang="zh-CN" altLang="zh-CN" dirty="0"/>
              <a:t>，</a:t>
            </a:r>
            <a:r>
              <a:rPr lang="en-US" altLang="zh-CN" dirty="0"/>
              <a:t>b&gt;</a:t>
            </a:r>
            <a:r>
              <a:rPr lang="zh-CN" altLang="zh-CN" dirty="0"/>
              <a:t>，</a:t>
            </a:r>
            <a:r>
              <a:rPr lang="en-US" altLang="zh-CN" dirty="0"/>
              <a:t>&lt;4</a:t>
            </a:r>
            <a:r>
              <a:rPr lang="zh-CN" altLang="zh-CN" dirty="0"/>
              <a:t>，</a:t>
            </a:r>
            <a:r>
              <a:rPr lang="en-US" altLang="zh-CN" dirty="0"/>
              <a:t>b&gt;}</a:t>
            </a:r>
            <a:r>
              <a:rPr lang="zh-CN" altLang="zh-CN" dirty="0"/>
              <a:t>。</a:t>
            </a:r>
            <a:endParaRPr lang="en-US" altLang="zh-CN" dirty="0"/>
          </a:p>
          <a:p>
            <a:pPr marL="0" indent="0">
              <a:buNone/>
            </a:pPr>
            <a:r>
              <a:rPr lang="zh-CN" altLang="en-US" dirty="0"/>
              <a:t>     所以</a:t>
            </a:r>
            <a:endParaRPr lang="en-US" altLang="zh-CN" dirty="0"/>
          </a:p>
          <a:p>
            <a:pPr marL="0" indent="0">
              <a:buNone/>
            </a:pPr>
            <a:r>
              <a:rPr lang="en-US" altLang="zh-CN" dirty="0"/>
              <a:t>   </a:t>
            </a:r>
            <a:r>
              <a:rPr lang="zh-CN" altLang="zh-CN" dirty="0"/>
              <a:t>（</a:t>
            </a:r>
            <a:r>
              <a:rPr lang="en-US" altLang="zh-CN" dirty="0"/>
              <a:t>1</a:t>
            </a:r>
            <a:r>
              <a:rPr lang="zh-CN" altLang="zh-CN" dirty="0"/>
              <a:t>）</a:t>
            </a:r>
            <a:r>
              <a:rPr lang="en-US" altLang="zh-CN" dirty="0"/>
              <a:t>S</a:t>
            </a:r>
            <a:r>
              <a:rPr lang="en-US" altLang="zh-CN" baseline="-25000" dirty="0"/>
              <a:t>1</a:t>
            </a:r>
            <a:r>
              <a:rPr lang="zh-CN" altLang="zh-CN" dirty="0"/>
              <a:t>不是</a:t>
            </a:r>
            <a:r>
              <a:rPr lang="en-US" altLang="zh-CN" dirty="0"/>
              <a:t>A</a:t>
            </a:r>
            <a:r>
              <a:rPr lang="zh-CN" altLang="zh-CN" dirty="0"/>
              <a:t>×</a:t>
            </a:r>
            <a:r>
              <a:rPr lang="en-US" altLang="zh-CN" dirty="0"/>
              <a:t>B</a:t>
            </a:r>
            <a:r>
              <a:rPr lang="zh-CN" altLang="zh-CN" dirty="0"/>
              <a:t>的子集，从而</a:t>
            </a:r>
            <a:r>
              <a:rPr lang="en-US" altLang="zh-CN" dirty="0"/>
              <a:t>S</a:t>
            </a:r>
            <a:r>
              <a:rPr lang="en-US" altLang="zh-CN" baseline="-25000" dirty="0"/>
              <a:t>1</a:t>
            </a:r>
            <a:r>
              <a:rPr lang="zh-CN" altLang="zh-CN" dirty="0"/>
              <a:t>不是</a:t>
            </a:r>
            <a:r>
              <a:rPr lang="en-US" altLang="zh-CN" dirty="0"/>
              <a:t>A</a:t>
            </a:r>
            <a:r>
              <a:rPr lang="zh-CN" altLang="zh-CN" dirty="0"/>
              <a:t>到</a:t>
            </a:r>
            <a:r>
              <a:rPr lang="en-US" altLang="zh-CN" dirty="0"/>
              <a:t>B</a:t>
            </a:r>
            <a:r>
              <a:rPr lang="zh-CN" altLang="zh-CN" dirty="0"/>
              <a:t>的一个关系。</a:t>
            </a:r>
            <a:endParaRPr lang="zh-CN" altLang="zh-CN" dirty="0"/>
          </a:p>
          <a:p>
            <a:pPr marL="0" indent="0">
              <a:buNone/>
            </a:pPr>
            <a:r>
              <a:rPr lang="en-US" altLang="zh-CN" dirty="0"/>
              <a:t>   </a:t>
            </a:r>
            <a:r>
              <a:rPr lang="zh-CN" altLang="zh-CN" dirty="0"/>
              <a:t>（</a:t>
            </a:r>
            <a:r>
              <a:rPr lang="en-US" altLang="zh-CN" dirty="0"/>
              <a:t>2</a:t>
            </a:r>
            <a:r>
              <a:rPr lang="zh-CN" altLang="zh-CN" dirty="0"/>
              <a:t>）</a:t>
            </a:r>
            <a:r>
              <a:rPr lang="en-US" altLang="zh-CN" dirty="0"/>
              <a:t>S</a:t>
            </a:r>
            <a:r>
              <a:rPr lang="en-US" altLang="zh-CN" baseline="-25000" dirty="0"/>
              <a:t>2</a:t>
            </a:r>
            <a:r>
              <a:rPr lang="zh-CN" altLang="zh-CN" dirty="0"/>
              <a:t>是</a:t>
            </a:r>
            <a:r>
              <a:rPr lang="en-US" altLang="zh-CN" dirty="0"/>
              <a:t>A</a:t>
            </a:r>
            <a:r>
              <a:rPr lang="zh-CN" altLang="zh-CN" dirty="0"/>
              <a:t>×</a:t>
            </a:r>
            <a:r>
              <a:rPr lang="en-US" altLang="zh-CN" dirty="0"/>
              <a:t>B</a:t>
            </a:r>
            <a:r>
              <a:rPr lang="zh-CN" altLang="zh-CN" dirty="0"/>
              <a:t>的子集，从而</a:t>
            </a:r>
            <a:r>
              <a:rPr lang="en-US" altLang="zh-CN" dirty="0"/>
              <a:t>S</a:t>
            </a:r>
            <a:r>
              <a:rPr lang="en-US" altLang="zh-CN" baseline="-25000" dirty="0"/>
              <a:t>2</a:t>
            </a:r>
            <a:r>
              <a:rPr lang="zh-CN" altLang="zh-CN" dirty="0"/>
              <a:t>是</a:t>
            </a:r>
            <a:r>
              <a:rPr lang="en-US" altLang="zh-CN" dirty="0"/>
              <a:t>A</a:t>
            </a:r>
            <a:r>
              <a:rPr lang="zh-CN" altLang="zh-CN" dirty="0"/>
              <a:t>到</a:t>
            </a:r>
            <a:r>
              <a:rPr lang="en-US" altLang="zh-CN" dirty="0"/>
              <a:t>B</a:t>
            </a:r>
            <a:r>
              <a:rPr lang="zh-CN" altLang="zh-CN" dirty="0"/>
              <a:t>的一个二元关系。</a:t>
            </a:r>
            <a:endParaRPr lang="zh-CN" altLang="zh-CN" dirty="0"/>
          </a:p>
          <a:p>
            <a:pPr marL="0" indent="0">
              <a:buNone/>
              <a:defRPr/>
            </a:pPr>
            <a:endParaRPr lang="zh-CN" altLang="en-US" sz="2800" kern="0" dirty="0"/>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circle(in)">
                                      <p:cBhvr>
                                        <p:cTn id="7" dur="20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fade">
                                      <p:cBhvr>
                                        <p:cTn id="18"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80" name="Rectangle 3"/>
          <p:cNvSpPr>
            <a:spLocks noGrp="1" noChangeArrowheads="1"/>
          </p:cNvSpPr>
          <p:nvPr>
            <p:ph type="title"/>
          </p:nvPr>
        </p:nvSpPr>
        <p:spPr/>
        <p:txBody>
          <a:bodyPr/>
          <a:lstStyle/>
          <a:p>
            <a:r>
              <a:rPr lang="zh-CN" altLang="en-US" dirty="0"/>
              <a:t>例</a:t>
            </a:r>
            <a:r>
              <a:rPr lang="en-US" altLang="zh-CN" dirty="0"/>
              <a:t>4.4</a:t>
            </a:r>
            <a:endParaRPr lang="zh-CN" altLang="en-US" dirty="0"/>
          </a:p>
        </p:txBody>
      </p:sp>
      <p:sp>
        <p:nvSpPr>
          <p:cNvPr id="5" name="内容占位符 2"/>
          <p:cNvSpPr txBox="1"/>
          <p:nvPr/>
        </p:nvSpPr>
        <p:spPr bwMode="auto">
          <a:xfrm>
            <a:off x="231775" y="1143794"/>
            <a:ext cx="9372600" cy="3581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a:buNone/>
              <a:defRPr/>
            </a:pPr>
            <a:r>
              <a:rPr lang="zh-CN" altLang="en-US" sz="2800" kern="0" dirty="0">
                <a:solidFill>
                  <a:srgbClr val="C00000"/>
                </a:solidFill>
              </a:rPr>
              <a:t>例</a:t>
            </a:r>
            <a:r>
              <a:rPr lang="en-US" altLang="zh-CN" sz="2800" kern="0" dirty="0">
                <a:solidFill>
                  <a:srgbClr val="C00000"/>
                </a:solidFill>
              </a:rPr>
              <a:t>4.4  </a:t>
            </a:r>
            <a:r>
              <a:rPr lang="zh-CN" altLang="en-US" sz="2800" kern="0" dirty="0"/>
              <a:t>设</a:t>
            </a:r>
            <a:r>
              <a:rPr lang="en-US" altLang="zh-CN" sz="2800" kern="0" dirty="0"/>
              <a:t>A = {1,2}</a:t>
            </a:r>
            <a:r>
              <a:rPr lang="zh-CN" altLang="en-US" sz="2800" kern="0" dirty="0"/>
              <a:t>，试判断下列集合是否为</a:t>
            </a:r>
            <a:r>
              <a:rPr lang="en-US" altLang="zh-CN" sz="2800" kern="0" dirty="0"/>
              <a:t>A</a:t>
            </a:r>
            <a:r>
              <a:rPr lang="zh-CN" altLang="en-US" sz="2800" kern="0" dirty="0"/>
              <a:t>上的关系。</a:t>
            </a:r>
            <a:endParaRPr lang="en-US" altLang="zh-CN" sz="2800" kern="0" dirty="0"/>
          </a:p>
          <a:p>
            <a:pPr marL="0" indent="0">
              <a:buNone/>
              <a:defRPr/>
            </a:pPr>
            <a:r>
              <a:rPr lang="zh-CN" altLang="en-US" sz="2800" kern="0" dirty="0"/>
              <a:t>（</a:t>
            </a:r>
            <a:r>
              <a:rPr lang="en-US" altLang="zh-CN" sz="2800" kern="0" dirty="0"/>
              <a:t>1</a:t>
            </a:r>
            <a:r>
              <a:rPr lang="zh-CN" altLang="en-US" sz="2800" kern="0" dirty="0"/>
              <a:t>）</a:t>
            </a:r>
            <a:r>
              <a:rPr lang="en-US" altLang="zh-CN" sz="2800" kern="0" dirty="0"/>
              <a:t>T</a:t>
            </a:r>
            <a:r>
              <a:rPr lang="en-US" altLang="zh-CN" sz="2800" kern="0" baseline="-25000" dirty="0"/>
              <a:t>1</a:t>
            </a:r>
            <a:r>
              <a:rPr lang="zh-CN" altLang="en-US" sz="2800" kern="0" dirty="0"/>
              <a:t>＝ </a:t>
            </a:r>
            <a:r>
              <a:rPr lang="el-GR" altLang="zh-CN" sz="2800" kern="0" dirty="0"/>
              <a:t>Φ </a:t>
            </a:r>
            <a:r>
              <a:rPr lang="zh-CN" altLang="en-US" sz="2800" kern="0" dirty="0"/>
              <a:t>。</a:t>
            </a:r>
            <a:endParaRPr lang="zh-CN" altLang="en-US" sz="2800" kern="0" dirty="0"/>
          </a:p>
          <a:p>
            <a:pPr marL="0" indent="0">
              <a:buNone/>
              <a:defRPr/>
            </a:pPr>
            <a:r>
              <a:rPr lang="zh-CN" altLang="en-US" sz="2800" kern="0" dirty="0"/>
              <a:t>（</a:t>
            </a:r>
            <a:r>
              <a:rPr lang="en-US" altLang="zh-CN" sz="2800" kern="0" dirty="0"/>
              <a:t>2</a:t>
            </a:r>
            <a:r>
              <a:rPr lang="zh-CN" altLang="en-US" sz="2800" kern="0" dirty="0"/>
              <a:t>）</a:t>
            </a:r>
            <a:r>
              <a:rPr lang="en-US" altLang="zh-CN" sz="2800" kern="0" dirty="0"/>
              <a:t>T</a:t>
            </a:r>
            <a:r>
              <a:rPr lang="en-US" altLang="zh-CN" sz="2800" kern="0" baseline="-25000" dirty="0"/>
              <a:t>2</a:t>
            </a:r>
            <a:r>
              <a:rPr lang="zh-CN" altLang="en-US" sz="2800" kern="0" dirty="0"/>
              <a:t>＝</a:t>
            </a:r>
            <a:r>
              <a:rPr lang="en-US" altLang="zh-CN" sz="2800" kern="0" dirty="0"/>
              <a:t>A×A</a:t>
            </a:r>
            <a:r>
              <a:rPr lang="zh-CN" altLang="en-US" sz="2800" kern="0" dirty="0"/>
              <a:t>。</a:t>
            </a:r>
            <a:endParaRPr lang="zh-CN" altLang="en-US" sz="2800" kern="0" dirty="0"/>
          </a:p>
          <a:p>
            <a:pPr marL="0" indent="0">
              <a:buNone/>
              <a:defRPr/>
            </a:pPr>
            <a:r>
              <a:rPr lang="zh-CN" altLang="en-US" sz="2800" kern="0" dirty="0"/>
              <a:t>（</a:t>
            </a:r>
            <a:r>
              <a:rPr lang="en-US" altLang="zh-CN" sz="2800" kern="0" dirty="0"/>
              <a:t>3</a:t>
            </a:r>
            <a:r>
              <a:rPr lang="zh-CN" altLang="en-US" sz="2800" kern="0" dirty="0"/>
              <a:t>）</a:t>
            </a:r>
            <a:r>
              <a:rPr lang="en-US" altLang="zh-CN" sz="2800" kern="0" dirty="0"/>
              <a:t>T</a:t>
            </a:r>
            <a:r>
              <a:rPr lang="en-US" altLang="zh-CN" sz="2800" kern="0" baseline="-25000" dirty="0"/>
              <a:t>3</a:t>
            </a:r>
            <a:r>
              <a:rPr lang="zh-CN" altLang="en-US" sz="2800" kern="0" dirty="0"/>
              <a:t>＝</a:t>
            </a:r>
            <a:r>
              <a:rPr lang="en-US" altLang="zh-CN" sz="2800" kern="0" dirty="0"/>
              <a:t>{&lt;1</a:t>
            </a:r>
            <a:r>
              <a:rPr lang="zh-CN" altLang="en-US" sz="2800" kern="0" dirty="0"/>
              <a:t>，</a:t>
            </a:r>
            <a:r>
              <a:rPr lang="en-US" altLang="zh-CN" sz="2800" kern="0" dirty="0"/>
              <a:t>1&gt;</a:t>
            </a:r>
            <a:r>
              <a:rPr lang="zh-CN" altLang="en-US" sz="2800" kern="0" dirty="0"/>
              <a:t>，</a:t>
            </a:r>
            <a:r>
              <a:rPr lang="en-US" altLang="zh-CN" sz="2800" kern="0" dirty="0"/>
              <a:t>&lt;2</a:t>
            </a:r>
            <a:r>
              <a:rPr lang="zh-CN" altLang="en-US" sz="2800" kern="0" dirty="0"/>
              <a:t>，</a:t>
            </a:r>
            <a:r>
              <a:rPr lang="en-US" altLang="zh-CN" sz="2800" kern="0" dirty="0"/>
              <a:t>2&gt;}</a:t>
            </a:r>
            <a:r>
              <a:rPr lang="zh-CN" altLang="en-US" sz="2800" kern="0" dirty="0"/>
              <a:t>。</a:t>
            </a:r>
            <a:endParaRPr lang="zh-CN" altLang="en-US" sz="2800" kern="0" dirty="0"/>
          </a:p>
          <a:p>
            <a:pPr marL="0" indent="0">
              <a:buNone/>
              <a:defRPr/>
            </a:pPr>
            <a:r>
              <a:rPr lang="zh-CN" altLang="en-US" sz="2800" kern="0" dirty="0"/>
              <a:t>（</a:t>
            </a:r>
            <a:r>
              <a:rPr lang="en-US" altLang="zh-CN" sz="2800" kern="0" dirty="0"/>
              <a:t>4</a:t>
            </a:r>
            <a:r>
              <a:rPr lang="zh-CN" altLang="en-US" sz="2800" kern="0" dirty="0"/>
              <a:t>）</a:t>
            </a:r>
            <a:r>
              <a:rPr lang="en-US" altLang="zh-CN" sz="2800" kern="0" dirty="0"/>
              <a:t>T</a:t>
            </a:r>
            <a:r>
              <a:rPr lang="en-US" altLang="zh-CN" sz="2800" kern="0" baseline="-25000" dirty="0"/>
              <a:t>4</a:t>
            </a:r>
            <a:r>
              <a:rPr lang="zh-CN" altLang="en-US" sz="2800" kern="0" dirty="0"/>
              <a:t>＝</a:t>
            </a:r>
            <a:r>
              <a:rPr lang="en-US" altLang="zh-CN" sz="2800" kern="0" dirty="0"/>
              <a:t>{&lt;1</a:t>
            </a:r>
            <a:r>
              <a:rPr lang="zh-CN" altLang="en-US" sz="2800" kern="0" dirty="0"/>
              <a:t>，</a:t>
            </a:r>
            <a:r>
              <a:rPr lang="en-US" altLang="zh-CN" sz="2800" kern="0" dirty="0"/>
              <a:t>1&gt;</a:t>
            </a:r>
            <a:r>
              <a:rPr lang="zh-CN" altLang="en-US" sz="2800" kern="0" dirty="0"/>
              <a:t>，</a:t>
            </a:r>
            <a:r>
              <a:rPr lang="en-US" altLang="zh-CN" sz="2800" kern="0" dirty="0"/>
              <a:t>&lt;1</a:t>
            </a:r>
            <a:r>
              <a:rPr lang="zh-CN" altLang="en-US" sz="2800" kern="0" dirty="0"/>
              <a:t>，</a:t>
            </a:r>
            <a:r>
              <a:rPr lang="en-US" altLang="zh-CN" sz="2800" kern="0" dirty="0"/>
              <a:t>2&gt;}</a:t>
            </a:r>
            <a:r>
              <a:rPr lang="zh-CN" altLang="en-US" sz="2800" kern="0" dirty="0"/>
              <a:t>。</a:t>
            </a:r>
            <a:endParaRPr lang="zh-CN" altLang="en-US" sz="2800" kern="0" dirty="0"/>
          </a:p>
          <a:p>
            <a:pPr marL="0" indent="0">
              <a:buNone/>
              <a:defRPr/>
            </a:pPr>
            <a:r>
              <a:rPr lang="zh-CN" altLang="en-US" sz="2800" kern="0" dirty="0"/>
              <a:t>（</a:t>
            </a:r>
            <a:r>
              <a:rPr lang="en-US" altLang="zh-CN" sz="2800" kern="0" dirty="0"/>
              <a:t>5</a:t>
            </a:r>
            <a:r>
              <a:rPr lang="zh-CN" altLang="en-US" sz="2800" kern="0" dirty="0"/>
              <a:t>）</a:t>
            </a:r>
            <a:r>
              <a:rPr lang="en-US" altLang="zh-CN" sz="2800" kern="0" dirty="0"/>
              <a:t>T</a:t>
            </a:r>
            <a:r>
              <a:rPr lang="en-US" altLang="zh-CN" sz="2800" kern="0" baseline="-25000" dirty="0"/>
              <a:t>5</a:t>
            </a:r>
            <a:r>
              <a:rPr lang="zh-CN" altLang="en-US" sz="2800" kern="0" dirty="0"/>
              <a:t>＝</a:t>
            </a:r>
            <a:r>
              <a:rPr lang="en-US" altLang="zh-CN" sz="2800" kern="0" dirty="0"/>
              <a:t>{&lt;1</a:t>
            </a:r>
            <a:r>
              <a:rPr lang="zh-CN" altLang="en-US" sz="2800" kern="0" dirty="0"/>
              <a:t>，</a:t>
            </a:r>
            <a:r>
              <a:rPr lang="en-US" altLang="zh-CN" sz="2800" kern="0" dirty="0"/>
              <a:t>1&gt;</a:t>
            </a:r>
            <a:r>
              <a:rPr lang="zh-CN" altLang="en-US" sz="2800" kern="0" dirty="0"/>
              <a:t>，</a:t>
            </a:r>
            <a:r>
              <a:rPr lang="en-US" altLang="zh-CN" sz="2800" kern="0" dirty="0"/>
              <a:t>&lt;2</a:t>
            </a:r>
            <a:r>
              <a:rPr lang="zh-CN" altLang="en-US" sz="2800" kern="0" dirty="0"/>
              <a:t>，</a:t>
            </a:r>
            <a:r>
              <a:rPr lang="en-US" altLang="zh-CN" sz="2800" kern="0" dirty="0"/>
              <a:t>2&gt;</a:t>
            </a:r>
            <a:r>
              <a:rPr lang="zh-CN" altLang="en-US" sz="2800" kern="0" dirty="0"/>
              <a:t>，</a:t>
            </a:r>
            <a:r>
              <a:rPr lang="en-US" altLang="zh-CN" sz="2800" kern="0" dirty="0"/>
              <a:t>&lt;2</a:t>
            </a:r>
            <a:r>
              <a:rPr lang="zh-CN" altLang="en-US" sz="2800" kern="0" dirty="0"/>
              <a:t>，</a:t>
            </a:r>
            <a:r>
              <a:rPr lang="en-US" altLang="zh-CN" sz="2800" kern="0" dirty="0"/>
              <a:t>1&gt;</a:t>
            </a:r>
            <a:r>
              <a:rPr lang="zh-CN" altLang="en-US" sz="2800" kern="0" dirty="0"/>
              <a:t>，</a:t>
            </a:r>
            <a:r>
              <a:rPr lang="en-US" altLang="zh-CN" sz="2800" kern="0" dirty="0"/>
              <a:t>&lt;&lt;1</a:t>
            </a:r>
            <a:r>
              <a:rPr lang="zh-CN" altLang="en-US" sz="2800" kern="0" dirty="0"/>
              <a:t>，</a:t>
            </a:r>
            <a:r>
              <a:rPr lang="en-US" altLang="zh-CN" sz="2800" kern="0" dirty="0"/>
              <a:t>1&gt;</a:t>
            </a:r>
            <a:r>
              <a:rPr lang="zh-CN" altLang="en-US" sz="2800" kern="0" dirty="0"/>
              <a:t>，</a:t>
            </a:r>
            <a:r>
              <a:rPr lang="en-US" altLang="zh-CN" sz="2800" kern="0" dirty="0"/>
              <a:t>1&gt;}</a:t>
            </a:r>
            <a:r>
              <a:rPr lang="zh-CN" altLang="en-US" sz="2800" kern="0" dirty="0"/>
              <a:t>。</a:t>
            </a:r>
            <a:endParaRPr lang="zh-CN" altLang="en-US" sz="2800" kern="0" dirty="0"/>
          </a:p>
        </p:txBody>
      </p:sp>
      <p:sp>
        <p:nvSpPr>
          <p:cNvPr id="12" name="矩形 11"/>
          <p:cNvSpPr/>
          <p:nvPr/>
        </p:nvSpPr>
        <p:spPr>
          <a:xfrm>
            <a:off x="231775" y="4911945"/>
            <a:ext cx="9669463" cy="461665"/>
          </a:xfrm>
          <a:prstGeom prst="rect">
            <a:avLst/>
          </a:prstGeom>
        </p:spPr>
        <p:txBody>
          <a:bodyPr wrap="square">
            <a:spAutoFit/>
          </a:bodyPr>
          <a:lstStyle/>
          <a:p>
            <a:r>
              <a:rPr lang="zh-CN" altLang="zh-CN" b="1" kern="100" dirty="0">
                <a:solidFill>
                  <a:srgbClr val="C00000"/>
                </a:solidFill>
                <a:latin typeface="+mn-ea"/>
                <a:cs typeface="Times New Roman" panose="02020603050405020304" pitchFamily="18" charset="0"/>
              </a:rPr>
              <a:t>解</a:t>
            </a:r>
            <a:r>
              <a:rPr lang="zh-CN" altLang="zh-CN" b="1" kern="100" dirty="0">
                <a:latin typeface="+mn-ea"/>
              </a:rPr>
              <a:t>  </a:t>
            </a:r>
            <a:r>
              <a:rPr lang="zh-CN" altLang="en-US" b="1" kern="100" dirty="0">
                <a:latin typeface="+mn-ea"/>
              </a:rPr>
              <a:t>因为 </a:t>
            </a:r>
            <a:r>
              <a:rPr lang="en-US" altLang="zh-CN" b="1" kern="100" dirty="0">
                <a:latin typeface="+mn-ea"/>
              </a:rPr>
              <a:t>A</a:t>
            </a:r>
            <a:r>
              <a:rPr lang="zh-CN" altLang="zh-CN" b="1" kern="100" dirty="0">
                <a:latin typeface="+mn-ea"/>
                <a:cs typeface="Times New Roman" panose="02020603050405020304" pitchFamily="18" charset="0"/>
              </a:rPr>
              <a:t>×</a:t>
            </a:r>
            <a:r>
              <a:rPr lang="en-US" altLang="zh-CN" b="1" kern="100" dirty="0">
                <a:latin typeface="+mn-ea"/>
              </a:rPr>
              <a:t>A</a:t>
            </a:r>
            <a:r>
              <a:rPr lang="en-US" altLang="zh-CN" b="1" kern="100">
                <a:latin typeface="+mn-ea"/>
              </a:rPr>
              <a:t>={&lt;1</a:t>
            </a:r>
            <a:r>
              <a:rPr lang="zh-CN" altLang="zh-CN" b="1" kern="100">
                <a:latin typeface="+mn-ea"/>
                <a:cs typeface="Times New Roman" panose="02020603050405020304" pitchFamily="18" charset="0"/>
              </a:rPr>
              <a:t>，</a:t>
            </a:r>
            <a:r>
              <a:rPr lang="en-US" altLang="zh-CN" b="1" kern="100">
                <a:latin typeface="+mn-ea"/>
              </a:rPr>
              <a:t>1&gt;</a:t>
            </a:r>
            <a:r>
              <a:rPr lang="zh-CN" altLang="zh-CN" b="1" kern="100">
                <a:latin typeface="+mn-ea"/>
                <a:cs typeface="Times New Roman" panose="02020603050405020304" pitchFamily="18" charset="0"/>
              </a:rPr>
              <a:t>，</a:t>
            </a:r>
            <a:r>
              <a:rPr lang="en-US" altLang="zh-CN" b="1" kern="100">
                <a:latin typeface="+mn-ea"/>
              </a:rPr>
              <a:t>&lt;2</a:t>
            </a:r>
            <a:r>
              <a:rPr lang="zh-CN" altLang="zh-CN" b="1" kern="100">
                <a:latin typeface="+mn-ea"/>
                <a:cs typeface="Times New Roman" panose="02020603050405020304" pitchFamily="18" charset="0"/>
              </a:rPr>
              <a:t>，</a:t>
            </a:r>
            <a:r>
              <a:rPr lang="en-US" altLang="zh-CN" b="1" kern="100">
                <a:latin typeface="+mn-ea"/>
              </a:rPr>
              <a:t>2&gt;</a:t>
            </a:r>
            <a:r>
              <a:rPr lang="zh-CN" altLang="zh-CN" b="1" kern="100">
                <a:latin typeface="+mn-ea"/>
                <a:cs typeface="Times New Roman" panose="02020603050405020304" pitchFamily="18" charset="0"/>
              </a:rPr>
              <a:t>，</a:t>
            </a:r>
            <a:r>
              <a:rPr lang="en-US" altLang="zh-CN" b="1" kern="100">
                <a:latin typeface="+mn-ea"/>
              </a:rPr>
              <a:t>&lt;2</a:t>
            </a:r>
            <a:r>
              <a:rPr lang="zh-CN" altLang="zh-CN" b="1" kern="100">
                <a:latin typeface="+mn-ea"/>
                <a:cs typeface="Times New Roman" panose="02020603050405020304" pitchFamily="18" charset="0"/>
              </a:rPr>
              <a:t>，</a:t>
            </a:r>
            <a:r>
              <a:rPr lang="en-US" altLang="zh-CN" b="1" kern="100">
                <a:latin typeface="+mn-ea"/>
              </a:rPr>
              <a:t>1&gt;</a:t>
            </a:r>
            <a:r>
              <a:rPr lang="zh-CN" altLang="zh-CN" b="1" kern="100">
                <a:latin typeface="+mn-ea"/>
                <a:cs typeface="Times New Roman" panose="02020603050405020304" pitchFamily="18" charset="0"/>
              </a:rPr>
              <a:t>，</a:t>
            </a:r>
            <a:r>
              <a:rPr lang="en-US" altLang="zh-CN" b="1" kern="100">
                <a:latin typeface="+mn-ea"/>
              </a:rPr>
              <a:t>&lt;1</a:t>
            </a:r>
            <a:r>
              <a:rPr lang="zh-CN" altLang="zh-CN" b="1" kern="100">
                <a:latin typeface="+mn-ea"/>
                <a:cs typeface="Times New Roman" panose="02020603050405020304" pitchFamily="18" charset="0"/>
              </a:rPr>
              <a:t>，</a:t>
            </a:r>
            <a:r>
              <a:rPr lang="en-US" altLang="zh-CN" b="1" kern="100">
                <a:latin typeface="+mn-ea"/>
              </a:rPr>
              <a:t>2</a:t>
            </a:r>
            <a:r>
              <a:rPr lang="en-US" altLang="zh-CN" b="1" kern="100" dirty="0">
                <a:latin typeface="+mn-ea"/>
              </a:rPr>
              <a:t>&gt;}</a:t>
            </a:r>
            <a:r>
              <a:rPr lang="zh-CN" altLang="zh-CN" b="1" kern="100" dirty="0">
                <a:latin typeface="+mn-ea"/>
                <a:cs typeface="Times New Roman" panose="02020603050405020304" pitchFamily="18" charset="0"/>
              </a:rPr>
              <a:t>。</a:t>
            </a:r>
            <a:endParaRPr lang="zh-CN" altLang="en-US" b="1" dirty="0">
              <a:latin typeface="+mn-ea"/>
            </a:endParaRPr>
          </a:p>
        </p:txBody>
      </p:sp>
      <p:sp>
        <p:nvSpPr>
          <p:cNvPr id="14" name="矩形 13"/>
          <p:cNvSpPr/>
          <p:nvPr/>
        </p:nvSpPr>
        <p:spPr>
          <a:xfrm>
            <a:off x="8923135" y="1752504"/>
            <a:ext cx="2732720" cy="461665"/>
          </a:xfrm>
          <a:prstGeom prst="rect">
            <a:avLst/>
          </a:prstGeom>
        </p:spPr>
        <p:txBody>
          <a:bodyPr>
            <a:spAutoFit/>
          </a:bodyPr>
          <a:lstStyle/>
          <a:p>
            <a:pPr eaLnBrk="1" hangingPunct="1">
              <a:defRPr/>
            </a:pPr>
            <a:r>
              <a:rPr lang="zh-CN" altLang="en-US" b="1" kern="0" dirty="0">
                <a:solidFill>
                  <a:srgbClr val="000000"/>
                </a:solidFill>
                <a:latin typeface="+mn-ea"/>
              </a:rPr>
              <a:t>是，</a:t>
            </a:r>
            <a:r>
              <a:rPr lang="zh-CN" altLang="en-US" b="1" kern="0" dirty="0">
                <a:solidFill>
                  <a:srgbClr val="3333FF"/>
                </a:solidFill>
                <a:latin typeface="+mn-ea"/>
              </a:rPr>
              <a:t>空关系</a:t>
            </a:r>
            <a:endParaRPr lang="zh-CN" altLang="en-US" b="1" dirty="0">
              <a:solidFill>
                <a:srgbClr val="3333FF"/>
              </a:solidFill>
              <a:latin typeface="+mn-ea"/>
            </a:endParaRPr>
          </a:p>
        </p:txBody>
      </p:sp>
      <p:sp>
        <p:nvSpPr>
          <p:cNvPr id="15" name="矩形 14"/>
          <p:cNvSpPr/>
          <p:nvPr/>
        </p:nvSpPr>
        <p:spPr>
          <a:xfrm>
            <a:off x="8923135" y="2375345"/>
            <a:ext cx="2732720" cy="461665"/>
          </a:xfrm>
          <a:prstGeom prst="rect">
            <a:avLst/>
          </a:prstGeom>
        </p:spPr>
        <p:txBody>
          <a:bodyPr>
            <a:spAutoFit/>
          </a:bodyPr>
          <a:lstStyle/>
          <a:p>
            <a:pPr eaLnBrk="1" hangingPunct="1">
              <a:defRPr/>
            </a:pPr>
            <a:r>
              <a:rPr lang="zh-CN" altLang="en-US" b="1" kern="0" dirty="0">
                <a:solidFill>
                  <a:srgbClr val="000000"/>
                </a:solidFill>
                <a:latin typeface="+mn-ea"/>
              </a:rPr>
              <a:t>是，</a:t>
            </a:r>
            <a:r>
              <a:rPr lang="zh-CN" altLang="en-US" b="1" kern="0" dirty="0">
                <a:solidFill>
                  <a:srgbClr val="3333FF"/>
                </a:solidFill>
                <a:latin typeface="+mn-ea"/>
              </a:rPr>
              <a:t>全关系</a:t>
            </a:r>
            <a:endParaRPr lang="zh-CN" altLang="en-US" b="1" dirty="0">
              <a:solidFill>
                <a:srgbClr val="3333FF"/>
              </a:solidFill>
              <a:latin typeface="+mn-ea"/>
            </a:endParaRPr>
          </a:p>
        </p:txBody>
      </p:sp>
      <p:sp>
        <p:nvSpPr>
          <p:cNvPr id="16" name="矩形 15"/>
          <p:cNvSpPr/>
          <p:nvPr/>
        </p:nvSpPr>
        <p:spPr>
          <a:xfrm>
            <a:off x="8923135" y="2968129"/>
            <a:ext cx="2732720" cy="461665"/>
          </a:xfrm>
          <a:prstGeom prst="rect">
            <a:avLst/>
          </a:prstGeom>
        </p:spPr>
        <p:txBody>
          <a:bodyPr>
            <a:spAutoFit/>
          </a:bodyPr>
          <a:lstStyle/>
          <a:p>
            <a:pPr>
              <a:defRPr/>
            </a:pPr>
            <a:r>
              <a:rPr lang="zh-CN" altLang="en-US" b="1" kern="0">
                <a:solidFill>
                  <a:srgbClr val="000000"/>
                </a:solidFill>
                <a:latin typeface="+mn-ea"/>
              </a:rPr>
              <a:t>是，</a:t>
            </a:r>
            <a:r>
              <a:rPr lang="zh-CN" altLang="en-US" b="1" kern="0">
                <a:solidFill>
                  <a:srgbClr val="3333FF"/>
                </a:solidFill>
                <a:latin typeface="+mn-ea"/>
              </a:rPr>
              <a:t>恒等</a:t>
            </a:r>
            <a:r>
              <a:rPr lang="zh-CN" altLang="en-US" b="1" kern="0" dirty="0">
                <a:solidFill>
                  <a:srgbClr val="3333FF"/>
                </a:solidFill>
                <a:latin typeface="+mn-ea"/>
              </a:rPr>
              <a:t>关系</a:t>
            </a:r>
            <a:endParaRPr lang="zh-CN" altLang="en-US" b="1" dirty="0">
              <a:solidFill>
                <a:srgbClr val="3333FF"/>
              </a:solidFill>
              <a:latin typeface="+mn-ea"/>
            </a:endParaRPr>
          </a:p>
        </p:txBody>
      </p:sp>
      <p:sp>
        <p:nvSpPr>
          <p:cNvPr id="13" name="矩形 12"/>
          <p:cNvSpPr/>
          <p:nvPr/>
        </p:nvSpPr>
        <p:spPr>
          <a:xfrm>
            <a:off x="5718175" y="2968129"/>
            <a:ext cx="2744662" cy="461665"/>
          </a:xfrm>
          <a:prstGeom prst="rect">
            <a:avLst/>
          </a:prstGeom>
          <a:solidFill>
            <a:srgbClr val="1157AB"/>
          </a:solidFill>
        </p:spPr>
        <p:txBody>
          <a:bodyPr wrap="none">
            <a:spAutoFit/>
          </a:bodyPr>
          <a:lstStyle/>
          <a:p>
            <a:r>
              <a:rPr lang="en-US" altLang="zh-CN" b="1" kern="100" dirty="0">
                <a:solidFill>
                  <a:schemeClr val="bg1"/>
                </a:solidFill>
                <a:latin typeface="Times New Roman" panose="02020603050405020304" pitchFamily="18" charset="0"/>
                <a:ea typeface="宋体" panose="02010600030101010101" pitchFamily="2" charset="-122"/>
              </a:rPr>
              <a:t>I</a:t>
            </a:r>
            <a:r>
              <a:rPr lang="en-US" altLang="zh-CN" b="1" kern="100" baseline="-25000" dirty="0">
                <a:solidFill>
                  <a:schemeClr val="bg1"/>
                </a:solidFill>
                <a:latin typeface="Times New Roman" panose="02020603050405020304" pitchFamily="18" charset="0"/>
                <a:ea typeface="宋体" panose="02010600030101010101" pitchFamily="2" charset="-122"/>
              </a:rPr>
              <a:t>A</a:t>
            </a:r>
            <a:r>
              <a:rPr lang="zh-CN" altLang="zh-CN" b="1" kern="1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a:solidFill>
                  <a:schemeClr val="bg1"/>
                </a:solidFill>
                <a:latin typeface="Times New Roman" panose="02020603050405020304" pitchFamily="18" charset="0"/>
                <a:ea typeface="宋体" panose="02010600030101010101" pitchFamily="2" charset="-122"/>
              </a:rPr>
              <a:t>{&lt;x</a:t>
            </a:r>
            <a:r>
              <a:rPr lang="zh-CN" altLang="zh-CN" b="1" kern="10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a:solidFill>
                  <a:schemeClr val="bg1"/>
                </a:solidFill>
                <a:latin typeface="Times New Roman" panose="02020603050405020304" pitchFamily="18" charset="0"/>
                <a:ea typeface="宋体" panose="02010600030101010101" pitchFamily="2" charset="-122"/>
              </a:rPr>
              <a:t>x</a:t>
            </a:r>
            <a:r>
              <a:rPr lang="en-US" altLang="zh-CN" b="1" kern="100" dirty="0">
                <a:solidFill>
                  <a:schemeClr val="bg1"/>
                </a:solidFill>
                <a:latin typeface="Times New Roman" panose="02020603050405020304" pitchFamily="18" charset="0"/>
                <a:ea typeface="宋体" panose="02010600030101010101" pitchFamily="2" charset="-122"/>
              </a:rPr>
              <a:t>&gt;|x</a:t>
            </a:r>
            <a:r>
              <a:rPr lang="zh-CN" altLang="zh-CN" b="1" kern="100" dirty="0">
                <a:solidFill>
                  <a:schemeClr val="bg1"/>
                </a:solidFill>
                <a:ea typeface="宋体" panose="02010600030101010101" pitchFamily="2" charset="-122"/>
                <a:cs typeface="宋体" panose="02010600030101010101" pitchFamily="2" charset="-122"/>
              </a:rPr>
              <a:t>∈</a:t>
            </a:r>
            <a:r>
              <a:rPr lang="en-US" altLang="zh-CN" b="1" kern="100" dirty="0">
                <a:solidFill>
                  <a:schemeClr val="bg1"/>
                </a:solidFill>
                <a:latin typeface="Times New Roman" panose="02020603050405020304" pitchFamily="18" charset="0"/>
                <a:ea typeface="宋体" panose="02010600030101010101" pitchFamily="2" charset="-122"/>
              </a:rPr>
              <a:t>A}</a:t>
            </a:r>
            <a:endParaRPr lang="zh-CN" altLang="en-US" b="1" dirty="0">
              <a:solidFill>
                <a:schemeClr val="bg1"/>
              </a:solidFill>
            </a:endParaRPr>
          </a:p>
        </p:txBody>
      </p:sp>
      <p:sp>
        <p:nvSpPr>
          <p:cNvPr id="9" name="矩形 8"/>
          <p:cNvSpPr/>
          <p:nvPr/>
        </p:nvSpPr>
        <p:spPr>
          <a:xfrm>
            <a:off x="8923135" y="3641165"/>
            <a:ext cx="2732720" cy="461665"/>
          </a:xfrm>
          <a:prstGeom prst="rect">
            <a:avLst/>
          </a:prstGeom>
        </p:spPr>
        <p:txBody>
          <a:bodyPr>
            <a:spAutoFit/>
          </a:bodyPr>
          <a:lstStyle/>
          <a:p>
            <a:pPr>
              <a:defRPr/>
            </a:pPr>
            <a:r>
              <a:rPr lang="zh-CN" altLang="en-US" b="1" kern="0" dirty="0">
                <a:solidFill>
                  <a:srgbClr val="000000"/>
                </a:solidFill>
                <a:latin typeface="+mn-ea"/>
              </a:rPr>
              <a:t>是</a:t>
            </a:r>
            <a:endParaRPr lang="zh-CN" altLang="en-US" b="1" dirty="0">
              <a:solidFill>
                <a:srgbClr val="3333FF"/>
              </a:solidFill>
              <a:latin typeface="+mn-ea"/>
            </a:endParaRPr>
          </a:p>
        </p:txBody>
      </p:sp>
      <p:sp>
        <p:nvSpPr>
          <p:cNvPr id="10" name="矩形 9"/>
          <p:cNvSpPr/>
          <p:nvPr/>
        </p:nvSpPr>
        <p:spPr>
          <a:xfrm>
            <a:off x="9604375" y="4214150"/>
            <a:ext cx="1338931" cy="461665"/>
          </a:xfrm>
          <a:prstGeom prst="rect">
            <a:avLst/>
          </a:prstGeom>
        </p:spPr>
        <p:txBody>
          <a:bodyPr wrap="square">
            <a:spAutoFit/>
          </a:bodyPr>
          <a:lstStyle/>
          <a:p>
            <a:pPr>
              <a:defRPr/>
            </a:pPr>
            <a:r>
              <a:rPr lang="zh-CN" altLang="en-US" b="1" kern="0" dirty="0">
                <a:solidFill>
                  <a:srgbClr val="000000"/>
                </a:solidFill>
                <a:latin typeface="+mn-ea"/>
              </a:rPr>
              <a:t>不是</a:t>
            </a:r>
            <a:endParaRPr lang="zh-CN" altLang="en-US" b="1" dirty="0">
              <a:solidFill>
                <a:srgbClr val="3333FF"/>
              </a:solidFill>
              <a:latin typeface="+mn-ea"/>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ppt_x"/>
                                          </p:val>
                                        </p:tav>
                                        <p:tav tm="100000">
                                          <p:val>
                                            <p:strVal val="#ppt_x"/>
                                          </p:val>
                                        </p:tav>
                                      </p:tavLst>
                                    </p:anim>
                                    <p:anim calcmode="lin" valueType="num">
                                      <p:cBhvr additive="base">
                                        <p:cTn id="2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anim calcmode="lin" valueType="num">
                                      <p:cBhvr>
                                        <p:cTn id="31" dur="1000" fill="hold"/>
                                        <p:tgtEl>
                                          <p:spTgt spid="13"/>
                                        </p:tgtEl>
                                        <p:attrNameLst>
                                          <p:attrName>ppt_x</p:attrName>
                                        </p:attrNameLst>
                                      </p:cBhvr>
                                      <p:tavLst>
                                        <p:tav tm="0">
                                          <p:val>
                                            <p:strVal val="#ppt_x"/>
                                          </p:val>
                                        </p:tav>
                                        <p:tav tm="100000">
                                          <p:val>
                                            <p:strVal val="#ppt_x"/>
                                          </p:val>
                                        </p:tav>
                                      </p:tavLst>
                                    </p:anim>
                                    <p:anim calcmode="lin" valueType="num">
                                      <p:cBhvr>
                                        <p:cTn id="3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3" grpId="0" animBg="1"/>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691" name="Rectangle 3"/>
          <p:cNvSpPr>
            <a:spLocks noGrp="1" noChangeArrowheads="1"/>
          </p:cNvSpPr>
          <p:nvPr>
            <p:ph type="body" idx="1"/>
          </p:nvPr>
        </p:nvSpPr>
        <p:spPr>
          <a:xfrm>
            <a:off x="480385" y="1391988"/>
            <a:ext cx="11699875" cy="2124076"/>
          </a:xfrm>
        </p:spPr>
        <p:txBody>
          <a:bodyPr>
            <a:noAutofit/>
          </a:bodyPr>
          <a:lstStyle/>
          <a:p>
            <a:pPr marL="0" indent="0">
              <a:lnSpc>
                <a:spcPct val="150000"/>
              </a:lnSpc>
              <a:spcBef>
                <a:spcPct val="0"/>
              </a:spcBef>
              <a:buNone/>
            </a:pPr>
            <a:r>
              <a:rPr lang="zh-CN" altLang="en-US" dirty="0">
                <a:solidFill>
                  <a:srgbClr val="C00000"/>
                </a:solidFill>
              </a:rPr>
              <a:t>例</a:t>
            </a:r>
            <a:r>
              <a:rPr lang="en-US" altLang="zh-CN" dirty="0">
                <a:solidFill>
                  <a:srgbClr val="C00000"/>
                </a:solidFill>
              </a:rPr>
              <a:t>4.5  </a:t>
            </a:r>
            <a:r>
              <a:rPr lang="zh-CN" altLang="zh-CN" dirty="0">
                <a:solidFill>
                  <a:schemeClr val="tx1"/>
                </a:solidFill>
              </a:rPr>
              <a:t>设</a:t>
            </a:r>
            <a:r>
              <a:rPr lang="en-US" altLang="zh-CN" dirty="0">
                <a:solidFill>
                  <a:schemeClr val="tx1"/>
                </a:solidFill>
              </a:rPr>
              <a:t>A</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B</a:t>
            </a:r>
            <a:r>
              <a:rPr lang="zh-CN" altLang="zh-CN" dirty="0">
                <a:solidFill>
                  <a:schemeClr val="tx1"/>
                </a:solidFill>
              </a:rPr>
              <a:t>＝</a:t>
            </a:r>
            <a:r>
              <a:rPr lang="en-US" altLang="zh-CN" dirty="0">
                <a:solidFill>
                  <a:schemeClr val="tx1"/>
                </a:solidFill>
              </a:rPr>
              <a:t>{c</a:t>
            </a:r>
            <a:r>
              <a:rPr lang="zh-CN" altLang="zh-CN" dirty="0">
                <a:solidFill>
                  <a:schemeClr val="tx1"/>
                </a:solidFill>
              </a:rPr>
              <a:t>，</a:t>
            </a:r>
            <a:r>
              <a:rPr lang="en-US" altLang="zh-CN" dirty="0">
                <a:solidFill>
                  <a:schemeClr val="tx1"/>
                </a:solidFill>
              </a:rPr>
              <a:t>d}</a:t>
            </a:r>
            <a:r>
              <a:rPr lang="zh-CN" altLang="zh-CN" dirty="0">
                <a:solidFill>
                  <a:schemeClr val="tx1"/>
                </a:solidFill>
              </a:rPr>
              <a:t>，试写出从</a:t>
            </a:r>
            <a:r>
              <a:rPr lang="en-US" altLang="zh-CN" dirty="0">
                <a:solidFill>
                  <a:schemeClr val="tx1"/>
                </a:solidFill>
              </a:rPr>
              <a:t>A</a:t>
            </a:r>
            <a:r>
              <a:rPr lang="zh-CN" altLang="zh-CN" dirty="0">
                <a:solidFill>
                  <a:schemeClr val="tx1"/>
                </a:solidFill>
              </a:rPr>
              <a:t>到</a:t>
            </a:r>
            <a:r>
              <a:rPr lang="en-US" altLang="zh-CN" dirty="0">
                <a:solidFill>
                  <a:schemeClr val="tx1"/>
                </a:solidFill>
              </a:rPr>
              <a:t>B</a:t>
            </a:r>
            <a:r>
              <a:rPr lang="zh-CN" altLang="zh-CN" dirty="0">
                <a:solidFill>
                  <a:schemeClr val="tx1"/>
                </a:solidFill>
              </a:rPr>
              <a:t>的所有关系。</a:t>
            </a:r>
            <a:endParaRPr lang="en-US" altLang="zh-CN" dirty="0">
              <a:solidFill>
                <a:schemeClr val="tx1"/>
              </a:solidFill>
            </a:endParaRPr>
          </a:p>
          <a:p>
            <a:pPr marL="0" indent="0">
              <a:lnSpc>
                <a:spcPct val="150000"/>
              </a:lnSpc>
              <a:spcBef>
                <a:spcPct val="0"/>
              </a:spcBef>
              <a:buNone/>
            </a:pPr>
            <a:endParaRPr lang="en-US" altLang="zh-CN" dirty="0">
              <a:solidFill>
                <a:srgbClr val="C00000"/>
              </a:solidFill>
            </a:endParaRPr>
          </a:p>
          <a:p>
            <a:pPr marL="0" indent="0">
              <a:lnSpc>
                <a:spcPct val="150000"/>
              </a:lnSpc>
              <a:spcBef>
                <a:spcPct val="0"/>
              </a:spcBef>
              <a:buNone/>
            </a:pPr>
            <a:r>
              <a:rPr lang="zh-CN" altLang="en-US" dirty="0">
                <a:solidFill>
                  <a:srgbClr val="C00000"/>
                </a:solidFill>
              </a:rPr>
              <a:t>解 </a:t>
            </a:r>
            <a:r>
              <a:rPr lang="zh-CN" altLang="en-US" dirty="0">
                <a:solidFill>
                  <a:schemeClr val="tx1"/>
                </a:solidFill>
              </a:rPr>
              <a:t>  因为</a:t>
            </a:r>
            <a:r>
              <a:rPr lang="en-US" altLang="zh-CN" dirty="0">
                <a:solidFill>
                  <a:schemeClr val="tx1"/>
                </a:solidFill>
              </a:rPr>
              <a:t>A×B</a:t>
            </a:r>
            <a:r>
              <a:rPr lang="zh-CN" altLang="en-US" dirty="0">
                <a:solidFill>
                  <a:schemeClr val="tx1"/>
                </a:solidFill>
              </a:rPr>
              <a:t>＝</a:t>
            </a:r>
            <a:r>
              <a:rPr lang="en-US" altLang="zh-CN" dirty="0">
                <a:solidFill>
                  <a:schemeClr val="tx1"/>
                </a:solidFill>
              </a:rPr>
              <a:t>{ &lt;b, c&gt;</a:t>
            </a:r>
            <a:r>
              <a:rPr lang="zh-CN" altLang="en-US" dirty="0">
                <a:solidFill>
                  <a:schemeClr val="tx1"/>
                </a:solidFill>
              </a:rPr>
              <a:t>，</a:t>
            </a:r>
            <a:r>
              <a:rPr lang="en-US" altLang="zh-CN" dirty="0">
                <a:solidFill>
                  <a:schemeClr val="tx1"/>
                </a:solidFill>
              </a:rPr>
              <a:t>&lt;b, d&gt;}</a:t>
            </a:r>
            <a:r>
              <a:rPr lang="zh-CN" altLang="en-US" dirty="0">
                <a:solidFill>
                  <a:schemeClr val="tx1"/>
                </a:solidFill>
              </a:rPr>
              <a:t>，</a:t>
            </a:r>
            <a:endParaRPr lang="en-US" altLang="zh-CN" dirty="0">
              <a:solidFill>
                <a:schemeClr val="tx1"/>
              </a:solidFill>
            </a:endParaRPr>
          </a:p>
          <a:p>
            <a:pPr marL="0" indent="0">
              <a:lnSpc>
                <a:spcPct val="150000"/>
              </a:lnSpc>
              <a:spcBef>
                <a:spcPct val="0"/>
              </a:spcBef>
              <a:buNone/>
            </a:pPr>
            <a:r>
              <a:rPr lang="zh-CN" altLang="en-US" dirty="0">
                <a:solidFill>
                  <a:schemeClr val="tx1"/>
                </a:solidFill>
              </a:rPr>
              <a:t>所以从</a:t>
            </a:r>
            <a:r>
              <a:rPr lang="en-US" altLang="zh-CN" dirty="0">
                <a:solidFill>
                  <a:schemeClr val="tx1"/>
                </a:solidFill>
              </a:rPr>
              <a:t>A</a:t>
            </a:r>
            <a:r>
              <a:rPr lang="zh-CN" altLang="en-US" dirty="0">
                <a:solidFill>
                  <a:schemeClr val="tx1"/>
                </a:solidFill>
              </a:rPr>
              <a:t>到</a:t>
            </a:r>
            <a:r>
              <a:rPr lang="en-US" altLang="zh-CN" dirty="0">
                <a:solidFill>
                  <a:schemeClr val="tx1"/>
                </a:solidFill>
              </a:rPr>
              <a:t>B</a:t>
            </a:r>
            <a:r>
              <a:rPr lang="zh-CN" altLang="en-US" dirty="0">
                <a:solidFill>
                  <a:schemeClr val="tx1"/>
                </a:solidFill>
              </a:rPr>
              <a:t>的所有关系为 </a:t>
            </a:r>
            <a:r>
              <a:rPr lang="en-US" altLang="zh-CN" dirty="0">
                <a:solidFill>
                  <a:schemeClr val="tx1"/>
                </a:solidFill>
              </a:rPr>
              <a:t>Φ </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c&gt;}</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d&gt;}</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c&gt;</a:t>
            </a:r>
            <a:r>
              <a:rPr lang="zh-CN" altLang="en-US" dirty="0">
                <a:solidFill>
                  <a:schemeClr val="tx1"/>
                </a:solidFill>
              </a:rPr>
              <a:t>，</a:t>
            </a:r>
            <a:r>
              <a:rPr lang="en-US" altLang="zh-CN" dirty="0">
                <a:solidFill>
                  <a:schemeClr val="tx1"/>
                </a:solidFill>
              </a:rPr>
              <a:t>&lt;b</a:t>
            </a:r>
            <a:r>
              <a:rPr lang="zh-CN" altLang="en-US" dirty="0">
                <a:solidFill>
                  <a:schemeClr val="tx1"/>
                </a:solidFill>
              </a:rPr>
              <a:t>，</a:t>
            </a:r>
            <a:r>
              <a:rPr lang="en-US" altLang="zh-CN" dirty="0">
                <a:solidFill>
                  <a:schemeClr val="tx1"/>
                </a:solidFill>
              </a:rPr>
              <a:t>d&gt;}</a:t>
            </a:r>
            <a:r>
              <a:rPr lang="zh-CN" altLang="en-US" dirty="0">
                <a:solidFill>
                  <a:schemeClr val="tx1"/>
                </a:solidFill>
              </a:rPr>
              <a:t>共</a:t>
            </a:r>
            <a:r>
              <a:rPr lang="en-US" altLang="zh-CN" dirty="0">
                <a:solidFill>
                  <a:schemeClr val="tx1"/>
                </a:solidFill>
              </a:rPr>
              <a:t>4</a:t>
            </a:r>
            <a:r>
              <a:rPr lang="zh-CN" altLang="en-US" dirty="0">
                <a:solidFill>
                  <a:schemeClr val="tx1"/>
                </a:solidFill>
              </a:rPr>
              <a:t>个。</a:t>
            </a:r>
            <a:endParaRPr lang="en-US" altLang="zh-CN" dirty="0">
              <a:solidFill>
                <a:schemeClr val="tx1"/>
              </a:solidFill>
            </a:endParaRPr>
          </a:p>
        </p:txBody>
      </p:sp>
      <p:sp>
        <p:nvSpPr>
          <p:cNvPr id="9" name="Rectangle 2"/>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4.5</a:t>
            </a:r>
            <a:endParaRPr lang="zh-CN" altLang="en-US" dirty="0"/>
          </a:p>
        </p:txBody>
      </p:sp>
      <p:sp>
        <p:nvSpPr>
          <p:cNvPr id="12" name="Rectangle 4"/>
          <p:cNvSpPr>
            <a:spLocks noChangeArrowheads="1"/>
          </p:cNvSpPr>
          <p:nvPr/>
        </p:nvSpPr>
        <p:spPr bwMode="auto">
          <a:xfrm>
            <a:off x="498475" y="4439866"/>
            <a:ext cx="11290300" cy="1144288"/>
          </a:xfrm>
          <a:prstGeom prst="rect">
            <a:avLst/>
          </a:prstGeom>
          <a:solidFill>
            <a:srgbClr val="1157AB"/>
          </a:solidFill>
          <a:ln>
            <a:noFill/>
          </a:ln>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buClrTx/>
              <a:buFontTx/>
              <a:buNone/>
            </a:pPr>
            <a:r>
              <a:rPr kumimoji="1" lang="zh-CN" altLang="en-US" sz="2800" dirty="0">
                <a:solidFill>
                  <a:schemeClr val="bg1"/>
                </a:solidFill>
              </a:rPr>
              <a:t>注意  当集合</a:t>
            </a:r>
            <a:r>
              <a:rPr kumimoji="1" lang="en-US" altLang="zh-CN" sz="2800" dirty="0">
                <a:solidFill>
                  <a:schemeClr val="bg1"/>
                </a:solidFill>
              </a:rPr>
              <a:t>A,B</a:t>
            </a:r>
            <a:r>
              <a:rPr kumimoji="1" lang="zh-CN" altLang="en-US" sz="2800" dirty="0">
                <a:solidFill>
                  <a:schemeClr val="bg1"/>
                </a:solidFill>
              </a:rPr>
              <a:t>都是有限集时，</a:t>
            </a:r>
            <a:r>
              <a:rPr kumimoji="1" lang="en-US" altLang="zh-CN" sz="2800" dirty="0">
                <a:solidFill>
                  <a:schemeClr val="bg1"/>
                </a:solidFill>
              </a:rPr>
              <a:t>A×B</a:t>
            </a:r>
            <a:r>
              <a:rPr kumimoji="1" lang="zh-CN" altLang="en-US" sz="2800" dirty="0">
                <a:solidFill>
                  <a:schemeClr val="bg1"/>
                </a:solidFill>
              </a:rPr>
              <a:t>共有</a:t>
            </a:r>
            <a:r>
              <a:rPr kumimoji="1" lang="en-US" altLang="zh-CN" sz="2800" dirty="0">
                <a:solidFill>
                  <a:schemeClr val="bg1"/>
                </a:solidFill>
              </a:rPr>
              <a:t>2</a:t>
            </a:r>
            <a:r>
              <a:rPr kumimoji="1" lang="en-US" altLang="zh-CN" sz="2800" baseline="30000" dirty="0">
                <a:solidFill>
                  <a:schemeClr val="bg1"/>
                </a:solidFill>
              </a:rPr>
              <a:t>|A|</a:t>
            </a:r>
            <a:r>
              <a:rPr kumimoji="1" lang="en-US" altLang="zh-CN" sz="2800" baseline="30000" dirty="0">
                <a:solidFill>
                  <a:schemeClr val="bg1"/>
                </a:solidFill>
                <a:latin typeface="Arial" panose="020B0604020202020204" pitchFamily="34" charset="0"/>
              </a:rPr>
              <a:t>•</a:t>
            </a:r>
            <a:r>
              <a:rPr kumimoji="1" lang="en-US" altLang="zh-CN" sz="2800" baseline="30000" dirty="0">
                <a:solidFill>
                  <a:schemeClr val="bg1"/>
                </a:solidFill>
              </a:rPr>
              <a:t>|B|</a:t>
            </a:r>
            <a:r>
              <a:rPr kumimoji="1" lang="zh-CN" altLang="en-US" sz="2800" dirty="0">
                <a:solidFill>
                  <a:schemeClr val="bg1"/>
                </a:solidFill>
              </a:rPr>
              <a:t>个不同的子集， </a:t>
            </a:r>
            <a:endParaRPr kumimoji="1" lang="en-US" altLang="zh-CN" sz="2800" dirty="0">
              <a:solidFill>
                <a:schemeClr val="bg1"/>
              </a:solidFill>
            </a:endParaRPr>
          </a:p>
          <a:p>
            <a:pPr algn="l" eaLnBrk="1" hangingPunct="1">
              <a:buClrTx/>
              <a:buFontTx/>
              <a:buNone/>
            </a:pPr>
            <a:r>
              <a:rPr kumimoji="1" lang="en-US" altLang="zh-CN" sz="2800" dirty="0">
                <a:solidFill>
                  <a:schemeClr val="bg1"/>
                </a:solidFill>
              </a:rPr>
              <a:t>      </a:t>
            </a:r>
            <a:r>
              <a:rPr kumimoji="1" lang="zh-CN" altLang="en-US" sz="2800" dirty="0">
                <a:solidFill>
                  <a:schemeClr val="bg1"/>
                </a:solidFill>
              </a:rPr>
              <a:t>即从</a:t>
            </a:r>
            <a:r>
              <a:rPr kumimoji="1" lang="en-US" altLang="zh-CN" sz="2800" dirty="0">
                <a:solidFill>
                  <a:schemeClr val="bg1"/>
                </a:solidFill>
              </a:rPr>
              <a:t>A</a:t>
            </a:r>
            <a:r>
              <a:rPr kumimoji="1" lang="zh-CN" altLang="en-US" sz="2800" dirty="0">
                <a:solidFill>
                  <a:schemeClr val="bg1"/>
                </a:solidFill>
              </a:rPr>
              <a:t>到</a:t>
            </a:r>
            <a:r>
              <a:rPr kumimoji="1" lang="en-US" altLang="zh-CN" sz="2800" dirty="0">
                <a:solidFill>
                  <a:schemeClr val="bg1"/>
                </a:solidFill>
              </a:rPr>
              <a:t>B</a:t>
            </a:r>
            <a:r>
              <a:rPr kumimoji="1" lang="zh-CN" altLang="en-US" sz="2800" dirty="0">
                <a:solidFill>
                  <a:schemeClr val="bg1"/>
                </a:solidFill>
              </a:rPr>
              <a:t>的不同关系共有</a:t>
            </a:r>
            <a:r>
              <a:rPr kumimoji="1" lang="en-US" altLang="zh-CN" sz="2800" dirty="0">
                <a:solidFill>
                  <a:schemeClr val="bg1"/>
                </a:solidFill>
              </a:rPr>
              <a:t>2</a:t>
            </a:r>
            <a:r>
              <a:rPr kumimoji="1" lang="en-US" altLang="zh-CN" sz="2800" baseline="30000" dirty="0">
                <a:solidFill>
                  <a:schemeClr val="bg1"/>
                </a:solidFill>
              </a:rPr>
              <a:t>|A|</a:t>
            </a:r>
            <a:r>
              <a:rPr kumimoji="1" lang="en-US" altLang="zh-CN" sz="2800" baseline="30000" dirty="0">
                <a:solidFill>
                  <a:schemeClr val="bg1"/>
                </a:solidFill>
                <a:latin typeface="Arial" panose="020B0604020202020204" pitchFamily="34" charset="0"/>
              </a:rPr>
              <a:t>•</a:t>
            </a:r>
            <a:r>
              <a:rPr kumimoji="1" lang="en-US" altLang="zh-CN" sz="2800" baseline="30000" dirty="0">
                <a:solidFill>
                  <a:schemeClr val="bg1"/>
                </a:solidFill>
              </a:rPr>
              <a:t>|B|</a:t>
            </a:r>
            <a:r>
              <a:rPr kumimoji="1" lang="zh-CN" altLang="en-US" sz="2800" dirty="0">
                <a:solidFill>
                  <a:schemeClr val="bg1"/>
                </a:solidFill>
              </a:rPr>
              <a:t>个。</a:t>
            </a:r>
            <a:endParaRPr kumimoji="1" lang="zh-CN" altLang="en-US" sz="2800" dirty="0">
              <a:solidFill>
                <a:schemeClr val="bg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4691">
                                            <p:txEl>
                                              <p:pRg st="2" end="2"/>
                                            </p:txEl>
                                          </p:spTgt>
                                        </p:tgtEl>
                                        <p:attrNameLst>
                                          <p:attrName>style.visibility</p:attrName>
                                        </p:attrNameLst>
                                      </p:cBhvr>
                                      <p:to>
                                        <p:strVal val="visible"/>
                                      </p:to>
                                    </p:set>
                                    <p:animEffect transition="in" filter="fade">
                                      <p:cBhvr>
                                        <p:cTn id="7" dur="500"/>
                                        <p:tgtEl>
                                          <p:spTgt spid="1394691">
                                            <p:txEl>
                                              <p:pRg st="2" end="2"/>
                                            </p:txEl>
                                          </p:spTgt>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394691">
                                            <p:txEl>
                                              <p:pRg st="3" end="3"/>
                                            </p:txEl>
                                          </p:spTgt>
                                        </p:tgtEl>
                                        <p:attrNameLst>
                                          <p:attrName>style.visibility</p:attrName>
                                        </p:attrNameLst>
                                      </p:cBhvr>
                                      <p:to>
                                        <p:strVal val="visible"/>
                                      </p:to>
                                    </p:set>
                                    <p:anim calcmode="lin" valueType="num">
                                      <p:cBhvr additive="base">
                                        <p:cTn id="11" dur="500" fill="hold"/>
                                        <p:tgtEl>
                                          <p:spTgt spid="139469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9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4691" grpId="0" uiExpand="1" build="p"/>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774700" y="352424"/>
            <a:ext cx="5334000" cy="429419"/>
          </a:xfrm>
        </p:spPr>
        <p:txBody>
          <a:bodyPr/>
          <a:lstStyle/>
          <a:p>
            <a:pPr eaLnBrk="1" hangingPunct="1"/>
            <a:r>
              <a:rPr lang="zh-CN" altLang="en-US" dirty="0"/>
              <a:t>二元关系的推广</a:t>
            </a:r>
            <a:endParaRPr lang="zh-CN" altLang="en-US" dirty="0"/>
          </a:p>
        </p:txBody>
      </p:sp>
      <p:sp>
        <p:nvSpPr>
          <p:cNvPr id="6" name="矩形 5"/>
          <p:cNvSpPr/>
          <p:nvPr/>
        </p:nvSpPr>
        <p:spPr>
          <a:xfrm>
            <a:off x="441551" y="1240081"/>
            <a:ext cx="11334297" cy="1135054"/>
          </a:xfrm>
          <a:prstGeom prst="rect">
            <a:avLst/>
          </a:prstGeom>
        </p:spPr>
        <p:txBody>
          <a:bodyPr wrap="square">
            <a:spAutoFit/>
          </a:bodyPr>
          <a:lstStyle/>
          <a:p>
            <a:pPr>
              <a:lnSpc>
                <a:spcPct val="150000"/>
              </a:lnSpc>
            </a:pPr>
            <a:r>
              <a:rPr lang="zh-CN" altLang="en-US" b="1" dirty="0">
                <a:solidFill>
                  <a:srgbClr val="C00000"/>
                </a:solidFill>
                <a:latin typeface="+mn-ea"/>
              </a:rPr>
              <a:t>定义</a:t>
            </a:r>
            <a:r>
              <a:rPr lang="en-US" altLang="zh-CN" b="1" dirty="0">
                <a:solidFill>
                  <a:srgbClr val="C00000"/>
                </a:solidFill>
                <a:latin typeface="+mn-ea"/>
              </a:rPr>
              <a:t>4.6  </a:t>
            </a:r>
            <a:r>
              <a:rPr lang="zh-CN" altLang="en-US" b="1" dirty="0">
                <a:latin typeface="+mn-ea"/>
              </a:rPr>
              <a:t>设</a:t>
            </a:r>
            <a:r>
              <a:rPr lang="en-US" altLang="zh-CN" b="1" dirty="0">
                <a:latin typeface="+mn-ea"/>
              </a:rPr>
              <a:t>A</a:t>
            </a:r>
            <a:r>
              <a:rPr lang="en-US" altLang="zh-CN" b="1" baseline="-25000" dirty="0">
                <a:latin typeface="+mn-ea"/>
              </a:rPr>
              <a:t>1</a:t>
            </a:r>
            <a:r>
              <a:rPr lang="zh-CN" altLang="zh-CN" b="1" dirty="0">
                <a:latin typeface="+mn-ea"/>
              </a:rPr>
              <a:t>，</a:t>
            </a:r>
            <a:r>
              <a:rPr lang="en-US" altLang="zh-CN" b="1" dirty="0">
                <a:latin typeface="+mn-ea"/>
              </a:rPr>
              <a:t>A</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a:t>
            </a:r>
            <a:r>
              <a:rPr lang="en-US" altLang="zh-CN" b="1" baseline="-25000" dirty="0">
                <a:latin typeface="+mn-ea"/>
              </a:rPr>
              <a:t>n</a:t>
            </a:r>
            <a:r>
              <a:rPr lang="zh-CN" altLang="en-US" b="1" dirty="0">
                <a:latin typeface="+mn-ea"/>
              </a:rPr>
              <a:t>为</a:t>
            </a:r>
            <a:r>
              <a:rPr lang="en-US" altLang="zh-CN" b="1" dirty="0">
                <a:latin typeface="+mn-ea"/>
              </a:rPr>
              <a:t>n</a:t>
            </a:r>
            <a:r>
              <a:rPr lang="zh-CN" altLang="en-US" b="1" dirty="0">
                <a:latin typeface="+mn-ea"/>
              </a:rPr>
              <a:t>个非空集合，则称</a:t>
            </a:r>
            <a:r>
              <a:rPr lang="en-US" altLang="zh-CN" b="1" dirty="0">
                <a:latin typeface="+mn-ea"/>
              </a:rPr>
              <a:t>A</a:t>
            </a:r>
            <a:r>
              <a:rPr lang="en-US" altLang="zh-CN" b="1" baseline="-25000" dirty="0">
                <a:latin typeface="+mn-ea"/>
              </a:rPr>
              <a:t>1</a:t>
            </a:r>
            <a:r>
              <a:rPr lang="zh-CN" altLang="zh-CN" b="1" dirty="0">
                <a:latin typeface="+mn-ea"/>
              </a:rPr>
              <a:t>×</a:t>
            </a:r>
            <a:r>
              <a:rPr lang="en-US" altLang="zh-CN" b="1" dirty="0">
                <a:latin typeface="+mn-ea"/>
              </a:rPr>
              <a:t>A</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a:t>
            </a:r>
            <a:r>
              <a:rPr lang="en-US" altLang="zh-CN" b="1" baseline="-25000" dirty="0">
                <a:latin typeface="+mn-ea"/>
              </a:rPr>
              <a:t>n</a:t>
            </a:r>
            <a:r>
              <a:rPr lang="zh-CN" altLang="en-US" b="1" dirty="0">
                <a:latin typeface="+mn-ea"/>
              </a:rPr>
              <a:t>的子集</a:t>
            </a:r>
            <a:r>
              <a:rPr lang="en-US" altLang="zh-CN" b="1" dirty="0">
                <a:latin typeface="+mn-ea"/>
              </a:rPr>
              <a:t>R</a:t>
            </a:r>
            <a:r>
              <a:rPr lang="zh-CN" altLang="en-US" b="1" dirty="0">
                <a:latin typeface="+mn-ea"/>
              </a:rPr>
              <a:t>为以</a:t>
            </a:r>
            <a:r>
              <a:rPr lang="en-US" altLang="zh-CN" b="1" dirty="0">
                <a:latin typeface="+mn-ea"/>
              </a:rPr>
              <a:t>A</a:t>
            </a:r>
            <a:r>
              <a:rPr lang="en-US" altLang="zh-CN" b="1" baseline="-25000" dirty="0">
                <a:latin typeface="+mn-ea"/>
              </a:rPr>
              <a:t>1</a:t>
            </a:r>
            <a:r>
              <a:rPr lang="zh-CN" altLang="zh-CN" b="1" dirty="0">
                <a:latin typeface="+mn-ea"/>
              </a:rPr>
              <a:t>×</a:t>
            </a:r>
            <a:r>
              <a:rPr lang="en-US" altLang="zh-CN" b="1" dirty="0">
                <a:latin typeface="+mn-ea"/>
              </a:rPr>
              <a:t>A</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a:t>
            </a:r>
            <a:r>
              <a:rPr lang="en-US" altLang="zh-CN" b="1" baseline="-25000" dirty="0">
                <a:latin typeface="+mn-ea"/>
              </a:rPr>
              <a:t>n</a:t>
            </a:r>
            <a:r>
              <a:rPr lang="zh-CN" altLang="en-US" b="1" dirty="0">
                <a:latin typeface="+mn-ea"/>
              </a:rPr>
              <a:t>为基的</a:t>
            </a:r>
            <a:r>
              <a:rPr lang="en-US" altLang="zh-CN" b="1" dirty="0">
                <a:solidFill>
                  <a:srgbClr val="3333FF"/>
                </a:solidFill>
                <a:latin typeface="+mn-ea"/>
              </a:rPr>
              <a:t>n</a:t>
            </a:r>
            <a:r>
              <a:rPr lang="zh-CN" altLang="en-US" b="1" dirty="0">
                <a:solidFill>
                  <a:srgbClr val="3333FF"/>
                </a:solidFill>
                <a:latin typeface="+mn-ea"/>
              </a:rPr>
              <a:t>元关系</a:t>
            </a:r>
            <a:r>
              <a:rPr lang="en-US" altLang="zh-CN" b="1" dirty="0">
                <a:latin typeface="+mn-ea"/>
              </a:rPr>
              <a:t>(n-</a:t>
            </a:r>
            <a:r>
              <a:rPr lang="en-US" altLang="zh-CN" b="1" dirty="0" err="1">
                <a:latin typeface="+mn-ea"/>
              </a:rPr>
              <a:t>ary</a:t>
            </a:r>
            <a:r>
              <a:rPr lang="en-US" altLang="zh-CN" b="1" dirty="0">
                <a:latin typeface="+mn-ea"/>
              </a:rPr>
              <a:t> Relation)</a:t>
            </a:r>
            <a:r>
              <a:rPr lang="zh-CN" altLang="en-US" b="1" dirty="0">
                <a:latin typeface="+mn-ea"/>
              </a:rPr>
              <a:t>。</a:t>
            </a:r>
            <a:endParaRPr lang="zh-CN" altLang="en-US" b="1" dirty="0">
              <a:latin typeface="+mn-ea"/>
            </a:endParaRPr>
          </a:p>
        </p:txBody>
      </p:sp>
      <p:graphicFrame>
        <p:nvGraphicFramePr>
          <p:cNvPr id="7" name="表格 6"/>
          <p:cNvGraphicFramePr>
            <a:graphicFrameLocks noGrp="1"/>
          </p:cNvGraphicFramePr>
          <p:nvPr/>
        </p:nvGraphicFramePr>
        <p:xfrm>
          <a:off x="811545" y="2833374"/>
          <a:ext cx="9363075" cy="3500929"/>
        </p:xfrm>
        <a:graphic>
          <a:graphicData uri="http://schemas.openxmlformats.org/drawingml/2006/table">
            <a:tbl>
              <a:tblPr firstRow="1" firstCol="1" bandRow="1">
                <a:tableStyleId>{5C22544A-7EE6-4342-B048-85BDC9FD1C3A}</a:tableStyleId>
              </a:tblPr>
              <a:tblGrid>
                <a:gridCol w="1614793"/>
                <a:gridCol w="1988316"/>
                <a:gridCol w="2876567"/>
                <a:gridCol w="2883399"/>
              </a:tblGrid>
              <a:tr h="662974">
                <a:tc>
                  <a:txBody>
                    <a:bodyPr/>
                    <a:lstStyle/>
                    <a:p>
                      <a:pPr algn="ctr">
                        <a:lnSpc>
                          <a:spcPct val="150000"/>
                        </a:lnSpc>
                        <a:spcBef>
                          <a:spcPts val="1200"/>
                        </a:spcBef>
                        <a:spcAft>
                          <a:spcPts val="0"/>
                        </a:spcAft>
                      </a:pPr>
                      <a:r>
                        <a:rPr lang="zh-CN" sz="2400" b="1" kern="100" dirty="0">
                          <a:effectLst/>
                          <a:latin typeface="+mn-ea"/>
                          <a:ea typeface="+mn-ea"/>
                        </a:rPr>
                        <a:t>姓名</a:t>
                      </a:r>
                      <a:endParaRPr lang="zh-CN" sz="2400" b="1" kern="100" dirty="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性别</a:t>
                      </a:r>
                      <a:endParaRPr lang="zh-CN" sz="2400" b="1" kern="100" dirty="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学号</a:t>
                      </a:r>
                      <a:endParaRPr lang="zh-CN" sz="2400" b="1" kern="100" dirty="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专业</a:t>
                      </a:r>
                      <a:endParaRPr lang="zh-CN" sz="2400" b="1" kern="100" dirty="0">
                        <a:effectLst/>
                        <a:latin typeface="+mn-ea"/>
                        <a:ea typeface="+mn-ea"/>
                      </a:endParaRPr>
                    </a:p>
                  </a:txBody>
                  <a:tcPr marL="68580" marR="68580" marT="0" marB="0"/>
                </a:tc>
              </a:tr>
              <a:tr h="762000">
                <a:tc>
                  <a:txBody>
                    <a:bodyPr/>
                    <a:lstStyle/>
                    <a:p>
                      <a:pPr algn="ctr">
                        <a:lnSpc>
                          <a:spcPct val="150000"/>
                        </a:lnSpc>
                        <a:spcBef>
                          <a:spcPts val="1200"/>
                        </a:spcBef>
                        <a:spcAft>
                          <a:spcPts val="0"/>
                        </a:spcAft>
                      </a:pPr>
                      <a:r>
                        <a:rPr lang="zh-CN" sz="2400" b="1" kern="100">
                          <a:effectLst/>
                          <a:latin typeface="+mn-ea"/>
                          <a:ea typeface="+mn-ea"/>
                        </a:rPr>
                        <a:t>张扬</a:t>
                      </a:r>
                      <a:endParaRPr lang="zh-CN" sz="2400" b="1" kern="10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男</a:t>
                      </a:r>
                      <a:endParaRPr lang="zh-CN" sz="2400" b="1" kern="100" dirty="0">
                        <a:effectLst/>
                        <a:latin typeface="+mn-ea"/>
                        <a:ea typeface="+mn-ea"/>
                      </a:endParaRPr>
                    </a:p>
                  </a:txBody>
                  <a:tcPr marL="68580" marR="68580" marT="0" marB="0"/>
                </a:tc>
                <a:tc>
                  <a:txBody>
                    <a:bodyPr/>
                    <a:lstStyle/>
                    <a:p>
                      <a:pPr algn="ctr">
                        <a:lnSpc>
                          <a:spcPct val="150000"/>
                        </a:lnSpc>
                        <a:spcBef>
                          <a:spcPts val="1200"/>
                        </a:spcBef>
                        <a:spcAft>
                          <a:spcPts val="0"/>
                        </a:spcAft>
                      </a:pPr>
                      <a:r>
                        <a:rPr lang="en-US" sz="2400" b="1" kern="100" dirty="0">
                          <a:effectLst/>
                          <a:latin typeface="+mn-ea"/>
                          <a:ea typeface="+mn-ea"/>
                        </a:rPr>
                        <a:t>4019091601</a:t>
                      </a:r>
                      <a:endParaRPr lang="zh-CN" sz="2400" b="1" kern="100" dirty="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数字媒体</a:t>
                      </a:r>
                      <a:endParaRPr lang="zh-CN" sz="2400" b="1" kern="100" dirty="0">
                        <a:effectLst/>
                        <a:latin typeface="+mn-ea"/>
                        <a:ea typeface="+mn-ea"/>
                      </a:endParaRPr>
                    </a:p>
                  </a:txBody>
                  <a:tcPr marL="68580" marR="68580" marT="0" marB="0"/>
                </a:tc>
              </a:tr>
              <a:tr h="771646">
                <a:tc>
                  <a:txBody>
                    <a:bodyPr/>
                    <a:lstStyle/>
                    <a:p>
                      <a:pPr algn="ctr">
                        <a:lnSpc>
                          <a:spcPct val="150000"/>
                        </a:lnSpc>
                        <a:spcBef>
                          <a:spcPts val="1200"/>
                        </a:spcBef>
                        <a:spcAft>
                          <a:spcPts val="0"/>
                        </a:spcAft>
                      </a:pPr>
                      <a:r>
                        <a:rPr lang="zh-CN" sz="2400" b="1" kern="100">
                          <a:effectLst/>
                          <a:latin typeface="+mn-ea"/>
                          <a:ea typeface="+mn-ea"/>
                        </a:rPr>
                        <a:t>刘丽</a:t>
                      </a:r>
                      <a:endParaRPr lang="zh-CN" sz="2400" b="1" kern="10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女</a:t>
                      </a:r>
                      <a:endParaRPr lang="zh-CN" sz="2400" b="1" kern="100" dirty="0">
                        <a:effectLst/>
                        <a:latin typeface="+mn-ea"/>
                        <a:ea typeface="+mn-ea"/>
                      </a:endParaRPr>
                    </a:p>
                  </a:txBody>
                  <a:tcPr marL="68580" marR="68580" marT="0" marB="0"/>
                </a:tc>
                <a:tc>
                  <a:txBody>
                    <a:bodyPr/>
                    <a:lstStyle/>
                    <a:p>
                      <a:pPr algn="ctr">
                        <a:lnSpc>
                          <a:spcPct val="150000"/>
                        </a:lnSpc>
                        <a:spcBef>
                          <a:spcPts val="1200"/>
                        </a:spcBef>
                        <a:spcAft>
                          <a:spcPts val="0"/>
                        </a:spcAft>
                      </a:pPr>
                      <a:r>
                        <a:rPr lang="en-US" sz="2400" b="1" kern="100" dirty="0">
                          <a:effectLst/>
                          <a:latin typeface="+mn-ea"/>
                          <a:ea typeface="+mn-ea"/>
                        </a:rPr>
                        <a:t>4019091604</a:t>
                      </a:r>
                      <a:endParaRPr lang="zh-CN" sz="2400" b="1" kern="100" dirty="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计算机科学</a:t>
                      </a:r>
                      <a:endParaRPr lang="zh-CN" sz="2400" b="1" kern="100" dirty="0">
                        <a:effectLst/>
                        <a:latin typeface="+mn-ea"/>
                        <a:ea typeface="+mn-ea"/>
                      </a:endParaRPr>
                    </a:p>
                  </a:txBody>
                  <a:tcPr marL="68580" marR="68580" marT="0" marB="0"/>
                </a:tc>
              </a:tr>
              <a:tr h="755669">
                <a:tc>
                  <a:txBody>
                    <a:bodyPr/>
                    <a:lstStyle/>
                    <a:p>
                      <a:pPr algn="ctr">
                        <a:lnSpc>
                          <a:spcPct val="150000"/>
                        </a:lnSpc>
                        <a:spcBef>
                          <a:spcPts val="1200"/>
                        </a:spcBef>
                        <a:spcAft>
                          <a:spcPts val="0"/>
                        </a:spcAft>
                      </a:pPr>
                      <a:r>
                        <a:rPr lang="zh-CN" sz="2400" b="1" kern="100">
                          <a:effectLst/>
                          <a:latin typeface="+mn-ea"/>
                          <a:ea typeface="+mn-ea"/>
                        </a:rPr>
                        <a:t>李强</a:t>
                      </a:r>
                      <a:endParaRPr lang="zh-CN" sz="2400" b="1" kern="10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a:effectLst/>
                          <a:latin typeface="+mn-ea"/>
                          <a:ea typeface="+mn-ea"/>
                        </a:rPr>
                        <a:t>男</a:t>
                      </a:r>
                      <a:endParaRPr lang="zh-CN" sz="2400" b="1" kern="100">
                        <a:effectLst/>
                        <a:latin typeface="+mn-ea"/>
                        <a:ea typeface="+mn-ea"/>
                      </a:endParaRPr>
                    </a:p>
                  </a:txBody>
                  <a:tcPr marL="68580" marR="68580" marT="0" marB="0"/>
                </a:tc>
                <a:tc>
                  <a:txBody>
                    <a:bodyPr/>
                    <a:lstStyle/>
                    <a:p>
                      <a:pPr algn="ctr">
                        <a:lnSpc>
                          <a:spcPct val="150000"/>
                        </a:lnSpc>
                        <a:spcBef>
                          <a:spcPts val="1200"/>
                        </a:spcBef>
                        <a:spcAft>
                          <a:spcPts val="0"/>
                        </a:spcAft>
                      </a:pPr>
                      <a:r>
                        <a:rPr lang="en-US" sz="2400" b="1" kern="100">
                          <a:effectLst/>
                          <a:latin typeface="+mn-ea"/>
                          <a:ea typeface="+mn-ea"/>
                        </a:rPr>
                        <a:t>4019091603</a:t>
                      </a:r>
                      <a:endParaRPr lang="zh-CN" sz="2400" b="1" kern="10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计算机科学</a:t>
                      </a:r>
                      <a:endParaRPr lang="zh-CN" sz="2400" b="1" kern="100" dirty="0">
                        <a:effectLst/>
                        <a:latin typeface="+mn-ea"/>
                        <a:ea typeface="+mn-ea"/>
                      </a:endParaRPr>
                    </a:p>
                  </a:txBody>
                  <a:tcPr marL="68580" marR="68580" marT="0" marB="0"/>
                </a:tc>
              </a:tr>
              <a:tr h="428411">
                <a:tc>
                  <a:txBody>
                    <a:bodyPr/>
                    <a:lstStyle/>
                    <a:p>
                      <a:pPr algn="ctr">
                        <a:lnSpc>
                          <a:spcPct val="150000"/>
                        </a:lnSpc>
                        <a:spcBef>
                          <a:spcPts val="1200"/>
                        </a:spcBef>
                        <a:spcAft>
                          <a:spcPts val="0"/>
                        </a:spcAft>
                      </a:pPr>
                      <a:r>
                        <a:rPr lang="zh-CN" sz="2400" b="1" kern="100">
                          <a:effectLst/>
                          <a:latin typeface="+mn-ea"/>
                          <a:ea typeface="+mn-ea"/>
                        </a:rPr>
                        <a:t>王琳</a:t>
                      </a:r>
                      <a:endParaRPr lang="zh-CN" sz="2400" b="1" kern="100">
                        <a:effectLst/>
                        <a:latin typeface="+mn-ea"/>
                        <a:ea typeface="+mn-ea"/>
                      </a:endParaRPr>
                    </a:p>
                  </a:txBody>
                  <a:tcPr marL="68580" marR="68580" marT="0" marB="0"/>
                </a:tc>
                <a:tc>
                  <a:txBody>
                    <a:bodyPr/>
                    <a:lstStyle/>
                    <a:p>
                      <a:pPr algn="ctr">
                        <a:lnSpc>
                          <a:spcPct val="150000"/>
                        </a:lnSpc>
                        <a:spcBef>
                          <a:spcPts val="1200"/>
                        </a:spcBef>
                        <a:spcAft>
                          <a:spcPts val="0"/>
                        </a:spcAft>
                      </a:pPr>
                      <a:r>
                        <a:rPr lang="zh-CN" sz="2400" b="1" kern="100" dirty="0">
                          <a:effectLst/>
                          <a:latin typeface="+mn-ea"/>
                          <a:ea typeface="+mn-ea"/>
                        </a:rPr>
                        <a:t>女</a:t>
                      </a:r>
                      <a:endParaRPr lang="zh-CN" sz="2400" b="1" kern="100" dirty="0">
                        <a:effectLst/>
                        <a:latin typeface="+mn-ea"/>
                        <a:ea typeface="+mn-ea"/>
                      </a:endParaRPr>
                    </a:p>
                  </a:txBody>
                  <a:tcPr marL="68580" marR="68580" marT="0" marB="0"/>
                </a:tc>
                <a:tc>
                  <a:txBody>
                    <a:bodyPr/>
                    <a:lstStyle/>
                    <a:p>
                      <a:pPr algn="ctr">
                        <a:lnSpc>
                          <a:spcPct val="150000"/>
                        </a:lnSpc>
                        <a:spcBef>
                          <a:spcPts val="1200"/>
                        </a:spcBef>
                        <a:spcAft>
                          <a:spcPts val="0"/>
                        </a:spcAft>
                      </a:pPr>
                      <a:r>
                        <a:rPr lang="en-US" sz="2400" b="1" kern="100">
                          <a:effectLst/>
                          <a:latin typeface="+mn-ea"/>
                          <a:ea typeface="+mn-ea"/>
                        </a:rPr>
                        <a:t>4019091604</a:t>
                      </a:r>
                      <a:endParaRPr lang="zh-CN" sz="2400" b="1" kern="100">
                        <a:effectLst/>
                        <a:latin typeface="+mn-ea"/>
                        <a:ea typeface="+mn-ea"/>
                      </a:endParaRPr>
                    </a:p>
                  </a:txBody>
                  <a:tcPr marL="68580" marR="68580" marT="0" marB="0" anchor="ctr"/>
                </a:tc>
                <a:tc>
                  <a:txBody>
                    <a:bodyPr/>
                    <a:lstStyle/>
                    <a:p>
                      <a:pPr algn="ctr">
                        <a:lnSpc>
                          <a:spcPct val="150000"/>
                        </a:lnSpc>
                        <a:spcBef>
                          <a:spcPts val="1200"/>
                        </a:spcBef>
                        <a:spcAft>
                          <a:spcPts val="0"/>
                        </a:spcAft>
                      </a:pPr>
                      <a:r>
                        <a:rPr lang="zh-CN" sz="2400" b="1" kern="100" dirty="0">
                          <a:effectLst/>
                          <a:latin typeface="+mn-ea"/>
                          <a:ea typeface="+mn-ea"/>
                        </a:rPr>
                        <a:t>软件工程</a:t>
                      </a:r>
                      <a:endParaRPr lang="zh-CN" sz="2400" b="1" kern="100" dirty="0">
                        <a:effectLst/>
                        <a:latin typeface="+mn-ea"/>
                        <a:ea typeface="+mn-ea"/>
                      </a:endParaRPr>
                    </a:p>
                  </a:txBody>
                  <a:tcPr marL="68580" marR="68580" marT="0" marB="0"/>
                </a:tc>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825040" y="283820"/>
            <a:ext cx="6707152" cy="585923"/>
          </a:xfrm>
        </p:spPr>
        <p:txBody>
          <a:bodyPr/>
          <a:lstStyle/>
          <a:p>
            <a:pPr eaLnBrk="1" hangingPunct="1"/>
            <a:r>
              <a:rPr lang="zh-CN" altLang="en-US" dirty="0"/>
              <a:t>问题引入</a:t>
            </a:r>
            <a:endParaRPr lang="zh-CN" altLang="en-US" dirty="0"/>
          </a:p>
        </p:txBody>
      </p:sp>
      <p:sp>
        <p:nvSpPr>
          <p:cNvPr id="5" name="内容占位符 2"/>
          <p:cNvSpPr txBox="1"/>
          <p:nvPr/>
        </p:nvSpPr>
        <p:spPr bwMode="auto">
          <a:xfrm>
            <a:off x="231775" y="1844322"/>
            <a:ext cx="9372600" cy="30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a:buNone/>
              <a:defRPr/>
            </a:pPr>
            <a:r>
              <a:rPr lang="zh-CN" altLang="en-US" sz="2800" kern="0" dirty="0">
                <a:solidFill>
                  <a:srgbClr val="C00000"/>
                </a:solidFill>
              </a:rPr>
              <a:t>例</a:t>
            </a:r>
            <a:r>
              <a:rPr lang="en-US" altLang="zh-CN" sz="2800" kern="0" dirty="0">
                <a:solidFill>
                  <a:srgbClr val="C00000"/>
                </a:solidFill>
              </a:rPr>
              <a:t>4.4  </a:t>
            </a:r>
            <a:r>
              <a:rPr lang="zh-CN" altLang="en-US" sz="2800" kern="0" dirty="0"/>
              <a:t>设</a:t>
            </a:r>
            <a:r>
              <a:rPr lang="en-US" altLang="zh-CN" sz="2800" kern="0" dirty="0"/>
              <a:t>A = {1,2}</a:t>
            </a:r>
            <a:r>
              <a:rPr lang="zh-CN" altLang="en-US" sz="2800" kern="0" dirty="0"/>
              <a:t>，试判断下列集合是否为</a:t>
            </a:r>
            <a:r>
              <a:rPr lang="en-US" altLang="zh-CN" sz="2800" kern="0" dirty="0"/>
              <a:t>A</a:t>
            </a:r>
            <a:r>
              <a:rPr lang="zh-CN" altLang="en-US" sz="2800" kern="0" dirty="0"/>
              <a:t>上的关系。</a:t>
            </a:r>
            <a:endParaRPr lang="en-US" altLang="zh-CN" sz="2800" kern="0" dirty="0"/>
          </a:p>
          <a:p>
            <a:pPr marL="0" indent="0">
              <a:buNone/>
              <a:defRPr/>
            </a:pPr>
            <a:r>
              <a:rPr lang="zh-CN" altLang="en-US" sz="2800" kern="0" dirty="0"/>
              <a:t>（</a:t>
            </a:r>
            <a:r>
              <a:rPr lang="en-US" altLang="zh-CN" sz="2800" kern="0" dirty="0"/>
              <a:t>1</a:t>
            </a:r>
            <a:r>
              <a:rPr lang="zh-CN" altLang="en-US" sz="2800" kern="0" dirty="0"/>
              <a:t>）</a:t>
            </a:r>
            <a:r>
              <a:rPr lang="en-US" altLang="zh-CN" sz="2800" kern="0" dirty="0"/>
              <a:t>T</a:t>
            </a:r>
            <a:r>
              <a:rPr lang="en-US" altLang="zh-CN" sz="2800" kern="0" baseline="-25000" dirty="0"/>
              <a:t>1</a:t>
            </a:r>
            <a:r>
              <a:rPr lang="zh-CN" altLang="en-US" sz="2800" kern="0" dirty="0"/>
              <a:t>＝ </a:t>
            </a:r>
            <a:r>
              <a:rPr lang="el-GR" altLang="zh-CN" sz="2800" kern="0" dirty="0"/>
              <a:t>Φ </a:t>
            </a:r>
            <a:r>
              <a:rPr lang="zh-CN" altLang="en-US" sz="2800" kern="0" dirty="0"/>
              <a:t>。</a:t>
            </a:r>
            <a:endParaRPr lang="zh-CN" altLang="en-US" sz="2800" kern="0" dirty="0"/>
          </a:p>
          <a:p>
            <a:pPr marL="0" indent="0">
              <a:buNone/>
              <a:defRPr/>
            </a:pPr>
            <a:r>
              <a:rPr lang="zh-CN" altLang="en-US" sz="2800" kern="0" dirty="0"/>
              <a:t>（</a:t>
            </a:r>
            <a:r>
              <a:rPr lang="en-US" altLang="zh-CN" sz="2800" kern="0" dirty="0"/>
              <a:t>2</a:t>
            </a:r>
            <a:r>
              <a:rPr lang="zh-CN" altLang="en-US" sz="2800" kern="0" dirty="0"/>
              <a:t>）</a:t>
            </a:r>
            <a:r>
              <a:rPr lang="en-US" altLang="zh-CN" sz="2800" kern="0" dirty="0"/>
              <a:t>T</a:t>
            </a:r>
            <a:r>
              <a:rPr lang="en-US" altLang="zh-CN" sz="2800" kern="0" baseline="-25000" dirty="0"/>
              <a:t>2</a:t>
            </a:r>
            <a:r>
              <a:rPr lang="zh-CN" altLang="en-US" sz="2800" kern="0" dirty="0"/>
              <a:t>＝</a:t>
            </a:r>
            <a:r>
              <a:rPr lang="en-US" altLang="zh-CN" sz="2800" kern="0" dirty="0"/>
              <a:t>A×A</a:t>
            </a:r>
            <a:r>
              <a:rPr lang="zh-CN" altLang="en-US" sz="2800" kern="0" dirty="0"/>
              <a:t>。</a:t>
            </a:r>
            <a:endParaRPr lang="zh-CN" altLang="en-US" sz="2800" kern="0" dirty="0"/>
          </a:p>
          <a:p>
            <a:pPr marL="0" indent="0">
              <a:buNone/>
              <a:defRPr/>
            </a:pPr>
            <a:r>
              <a:rPr lang="zh-CN" altLang="en-US" sz="2800" kern="0" dirty="0"/>
              <a:t>（</a:t>
            </a:r>
            <a:r>
              <a:rPr lang="en-US" altLang="zh-CN" sz="2800" kern="0" dirty="0"/>
              <a:t>3</a:t>
            </a:r>
            <a:r>
              <a:rPr lang="zh-CN" altLang="en-US" sz="2800" kern="0" dirty="0"/>
              <a:t>）</a:t>
            </a:r>
            <a:r>
              <a:rPr lang="en-US" altLang="zh-CN" sz="2800" kern="0" dirty="0"/>
              <a:t>T</a:t>
            </a:r>
            <a:r>
              <a:rPr lang="en-US" altLang="zh-CN" sz="2800" kern="0" baseline="-25000" dirty="0"/>
              <a:t>3</a:t>
            </a:r>
            <a:r>
              <a:rPr lang="zh-CN" altLang="en-US" sz="2800" kern="0" dirty="0"/>
              <a:t>＝</a:t>
            </a:r>
            <a:r>
              <a:rPr lang="en-US" altLang="zh-CN" sz="2800" kern="0" dirty="0"/>
              <a:t>{&lt;1</a:t>
            </a:r>
            <a:r>
              <a:rPr lang="zh-CN" altLang="en-US" sz="2800" kern="0" dirty="0"/>
              <a:t>，</a:t>
            </a:r>
            <a:r>
              <a:rPr lang="en-US" altLang="zh-CN" sz="2800" kern="0" dirty="0"/>
              <a:t>1&gt;</a:t>
            </a:r>
            <a:r>
              <a:rPr lang="zh-CN" altLang="en-US" sz="2800" kern="0" dirty="0"/>
              <a:t>，</a:t>
            </a:r>
            <a:r>
              <a:rPr lang="en-US" altLang="zh-CN" sz="2800" kern="0" dirty="0"/>
              <a:t>&lt;2</a:t>
            </a:r>
            <a:r>
              <a:rPr lang="zh-CN" altLang="en-US" sz="2800" kern="0" dirty="0"/>
              <a:t>，</a:t>
            </a:r>
            <a:r>
              <a:rPr lang="en-US" altLang="zh-CN" sz="2800" kern="0" dirty="0"/>
              <a:t>2&gt;}</a:t>
            </a:r>
            <a:r>
              <a:rPr lang="zh-CN" altLang="en-US" sz="2800" kern="0" dirty="0"/>
              <a:t>。</a:t>
            </a:r>
            <a:endParaRPr lang="zh-CN" altLang="en-US" sz="2800" kern="0" dirty="0"/>
          </a:p>
          <a:p>
            <a:pPr marL="0" indent="0">
              <a:buNone/>
              <a:defRPr/>
            </a:pPr>
            <a:r>
              <a:rPr lang="zh-CN" altLang="en-US" sz="2800" kern="0" dirty="0"/>
              <a:t>（</a:t>
            </a:r>
            <a:r>
              <a:rPr lang="en-US" altLang="zh-CN" sz="2800" kern="0" dirty="0"/>
              <a:t>4</a:t>
            </a:r>
            <a:r>
              <a:rPr lang="zh-CN" altLang="en-US" sz="2800" kern="0" dirty="0"/>
              <a:t>）</a:t>
            </a:r>
            <a:r>
              <a:rPr lang="en-US" altLang="zh-CN" sz="2800" kern="0" dirty="0"/>
              <a:t>T</a:t>
            </a:r>
            <a:r>
              <a:rPr lang="en-US" altLang="zh-CN" sz="2800" kern="0" baseline="-25000" dirty="0"/>
              <a:t>4</a:t>
            </a:r>
            <a:r>
              <a:rPr lang="zh-CN" altLang="en-US" sz="2800" kern="0" dirty="0"/>
              <a:t>＝</a:t>
            </a:r>
            <a:r>
              <a:rPr lang="en-US" altLang="zh-CN" sz="2800" kern="0" dirty="0"/>
              <a:t>{&lt;1</a:t>
            </a:r>
            <a:r>
              <a:rPr lang="zh-CN" altLang="en-US" sz="2800" kern="0" dirty="0"/>
              <a:t>，</a:t>
            </a:r>
            <a:r>
              <a:rPr lang="en-US" altLang="zh-CN" sz="2800" kern="0" dirty="0"/>
              <a:t>1&gt;</a:t>
            </a:r>
            <a:r>
              <a:rPr lang="zh-CN" altLang="en-US" sz="2800" kern="0" dirty="0"/>
              <a:t>，</a:t>
            </a:r>
            <a:r>
              <a:rPr lang="en-US" altLang="zh-CN" sz="2800" kern="0" dirty="0"/>
              <a:t>&lt;1</a:t>
            </a:r>
            <a:r>
              <a:rPr lang="zh-CN" altLang="en-US" sz="2800" kern="0" dirty="0"/>
              <a:t>，</a:t>
            </a:r>
            <a:r>
              <a:rPr lang="en-US" altLang="zh-CN" sz="2800" kern="0" dirty="0"/>
              <a:t>2&gt;}</a:t>
            </a:r>
            <a:r>
              <a:rPr lang="zh-CN" altLang="en-US" sz="2800" kern="0" dirty="0"/>
              <a:t>。</a:t>
            </a:r>
            <a:endParaRPr lang="zh-CN" altLang="en-US" sz="2800" kern="0" dirty="0"/>
          </a:p>
        </p:txBody>
      </p:sp>
      <p:grpSp>
        <p:nvGrpSpPr>
          <p:cNvPr id="7" name="组合 6"/>
          <p:cNvGrpSpPr/>
          <p:nvPr/>
        </p:nvGrpSpPr>
        <p:grpSpPr>
          <a:xfrm>
            <a:off x="489302" y="4808559"/>
            <a:ext cx="9251914" cy="1066800"/>
            <a:chOff x="489302" y="4808559"/>
            <a:chExt cx="9251914" cy="1066800"/>
          </a:xfrm>
        </p:grpSpPr>
        <p:sp>
          <p:nvSpPr>
            <p:cNvPr id="6" name="矩形 5"/>
            <p:cNvSpPr/>
            <p:nvPr/>
          </p:nvSpPr>
          <p:spPr>
            <a:xfrm>
              <a:off x="489302" y="5184624"/>
              <a:ext cx="2744662" cy="461665"/>
            </a:xfrm>
            <a:prstGeom prst="rect">
              <a:avLst/>
            </a:prstGeom>
            <a:solidFill>
              <a:srgbClr val="1157AB"/>
            </a:solidFill>
          </p:spPr>
          <p:txBody>
            <a:bodyPr wrap="none">
              <a:spAutoFit/>
            </a:bodyPr>
            <a:lstStyle/>
            <a:p>
              <a:r>
                <a:rPr lang="en-US" altLang="zh-CN" b="1" kern="100" dirty="0">
                  <a:solidFill>
                    <a:schemeClr val="bg1"/>
                  </a:solidFill>
                  <a:latin typeface="Times New Roman" panose="02020603050405020304" pitchFamily="18" charset="0"/>
                  <a:ea typeface="宋体" panose="02010600030101010101" pitchFamily="2" charset="-122"/>
                </a:rPr>
                <a:t>I</a:t>
              </a:r>
              <a:r>
                <a:rPr lang="en-US" altLang="zh-CN" b="1" kern="100" baseline="-25000" dirty="0">
                  <a:solidFill>
                    <a:schemeClr val="bg1"/>
                  </a:solidFill>
                  <a:latin typeface="Times New Roman" panose="02020603050405020304" pitchFamily="18" charset="0"/>
                  <a:ea typeface="宋体" panose="02010600030101010101" pitchFamily="2" charset="-122"/>
                </a:rPr>
                <a:t>A</a:t>
              </a:r>
              <a:r>
                <a:rPr lang="zh-CN" altLang="zh-CN" b="1" kern="1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dirty="0">
                  <a:solidFill>
                    <a:schemeClr val="bg1"/>
                  </a:solidFill>
                  <a:latin typeface="Times New Roman" panose="02020603050405020304" pitchFamily="18" charset="0"/>
                  <a:ea typeface="宋体" panose="02010600030101010101" pitchFamily="2" charset="-122"/>
                </a:rPr>
                <a:t>{&lt;x</a:t>
              </a:r>
              <a:r>
                <a:rPr lang="zh-CN" altLang="zh-CN" b="1" kern="1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dirty="0">
                  <a:solidFill>
                    <a:schemeClr val="bg1"/>
                  </a:solidFill>
                  <a:latin typeface="Times New Roman" panose="02020603050405020304" pitchFamily="18" charset="0"/>
                  <a:ea typeface="宋体" panose="02010600030101010101" pitchFamily="2" charset="-122"/>
                </a:rPr>
                <a:t>x&gt;|x</a:t>
              </a:r>
              <a:r>
                <a:rPr lang="zh-CN" altLang="zh-CN" b="1" kern="100" dirty="0">
                  <a:solidFill>
                    <a:schemeClr val="bg1"/>
                  </a:solidFill>
                  <a:ea typeface="宋体" panose="02010600030101010101" pitchFamily="2" charset="-122"/>
                  <a:cs typeface="宋体" panose="02010600030101010101" pitchFamily="2" charset="-122"/>
                </a:rPr>
                <a:t>∈</a:t>
              </a:r>
              <a:r>
                <a:rPr lang="en-US" altLang="zh-CN" b="1" kern="100" dirty="0">
                  <a:solidFill>
                    <a:schemeClr val="bg1"/>
                  </a:solidFill>
                  <a:latin typeface="Times New Roman" panose="02020603050405020304" pitchFamily="18" charset="0"/>
                  <a:ea typeface="宋体" panose="02010600030101010101" pitchFamily="2" charset="-122"/>
                </a:rPr>
                <a:t>A}</a:t>
              </a:r>
              <a:endParaRPr lang="zh-CN" altLang="en-US" b="1" dirty="0">
                <a:solidFill>
                  <a:schemeClr val="bg1"/>
                </a:solidFill>
              </a:endParaRPr>
            </a:p>
          </p:txBody>
        </p:sp>
        <p:sp>
          <p:nvSpPr>
            <p:cNvPr id="9" name="云形标注 8"/>
            <p:cNvSpPr/>
            <p:nvPr/>
          </p:nvSpPr>
          <p:spPr>
            <a:xfrm>
              <a:off x="4178616" y="4808559"/>
              <a:ext cx="5562600" cy="1066800"/>
            </a:xfrm>
            <a:prstGeom prst="cloudCallout">
              <a:avLst>
                <a:gd name="adj1" fmla="val -71186"/>
                <a:gd name="adj2" fmla="val 142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集合表示法：描述法</a:t>
              </a:r>
              <a:endParaRPr lang="zh-CN" altLang="en-US" b="1" dirty="0"/>
            </a:p>
          </p:txBody>
        </p:sp>
      </p:grpSp>
      <p:grpSp>
        <p:nvGrpSpPr>
          <p:cNvPr id="4" name="组合 3"/>
          <p:cNvGrpSpPr/>
          <p:nvPr/>
        </p:nvGrpSpPr>
        <p:grpSpPr>
          <a:xfrm>
            <a:off x="231775" y="869743"/>
            <a:ext cx="8564789" cy="3997586"/>
            <a:chOff x="231775" y="869743"/>
            <a:chExt cx="8564789" cy="3997586"/>
          </a:xfrm>
        </p:grpSpPr>
        <p:sp>
          <p:nvSpPr>
            <p:cNvPr id="2" name="云形标注 1"/>
            <p:cNvSpPr/>
            <p:nvPr/>
          </p:nvSpPr>
          <p:spPr>
            <a:xfrm>
              <a:off x="3233964" y="869743"/>
              <a:ext cx="5562600" cy="1066800"/>
            </a:xfrm>
            <a:prstGeom prst="cloudCallout">
              <a:avLst>
                <a:gd name="adj1" fmla="val -41831"/>
                <a:gd name="adj2" fmla="val 2361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集合表示法：列举法</a:t>
              </a:r>
              <a:endParaRPr lang="zh-CN" altLang="en-US" b="1" dirty="0"/>
            </a:p>
          </p:txBody>
        </p:sp>
        <p:sp>
          <p:nvSpPr>
            <p:cNvPr id="3" name="矩形 2"/>
            <p:cNvSpPr/>
            <p:nvPr/>
          </p:nvSpPr>
          <p:spPr>
            <a:xfrm>
              <a:off x="231775" y="3582194"/>
              <a:ext cx="5181600" cy="1285135"/>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11" name="组合 10"/>
          <p:cNvGrpSpPr/>
          <p:nvPr/>
        </p:nvGrpSpPr>
        <p:grpSpPr>
          <a:xfrm>
            <a:off x="4215290" y="1067594"/>
            <a:ext cx="2784935" cy="4565488"/>
            <a:chOff x="4215290" y="1067594"/>
            <a:chExt cx="2784935" cy="4565488"/>
          </a:xfrm>
        </p:grpSpPr>
        <p:sp>
          <p:nvSpPr>
            <p:cNvPr id="8" name="矩形 7"/>
            <p:cNvSpPr/>
            <p:nvPr/>
          </p:nvSpPr>
          <p:spPr>
            <a:xfrm>
              <a:off x="4215290" y="1067594"/>
              <a:ext cx="1828800" cy="6096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171425" y="5023482"/>
              <a:ext cx="1828800" cy="6096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000"/>
                                        <p:tgtEl>
                                          <p:spTgt spid="11"/>
                                        </p:tgtEl>
                                      </p:cBhvr>
                                    </p:animEffect>
                                    <p:anim calcmode="lin" valueType="num">
                                      <p:cBhvr>
                                        <p:cTn id="22" dur="2000" fill="hold"/>
                                        <p:tgtEl>
                                          <p:spTgt spid="11"/>
                                        </p:tgtEl>
                                        <p:attrNameLst>
                                          <p:attrName>ppt_w</p:attrName>
                                        </p:attrNameLst>
                                      </p:cBhvr>
                                      <p:tavLst>
                                        <p:tav tm="0" fmla="#ppt_w*sin(2.5*pi*$)">
                                          <p:val>
                                            <p:fltVal val="0"/>
                                          </p:val>
                                        </p:tav>
                                        <p:tav tm="100000">
                                          <p:val>
                                            <p:fltVal val="1"/>
                                          </p:val>
                                        </p:tav>
                                      </p:tavLst>
                                    </p:anim>
                                    <p:anim calcmode="lin" valueType="num">
                                      <p:cBhvr>
                                        <p:cTn id="23" dur="20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917575" y="305594"/>
            <a:ext cx="6707152" cy="585924"/>
          </a:xfrm>
        </p:spPr>
        <p:txBody>
          <a:bodyPr/>
          <a:lstStyle/>
          <a:p>
            <a:pPr eaLnBrk="1" hangingPunct="1"/>
            <a:r>
              <a:rPr lang="zh-CN" altLang="en-US" noProof="1"/>
              <a:t>关系图表示法</a:t>
            </a:r>
            <a:endParaRPr lang="zh-CN" altLang="en-US" dirty="0"/>
          </a:p>
        </p:txBody>
      </p:sp>
      <p:sp>
        <p:nvSpPr>
          <p:cNvPr id="1406979" name="Rectangle 3"/>
          <p:cNvSpPr>
            <a:spLocks noChangeArrowheads="1"/>
          </p:cNvSpPr>
          <p:nvPr/>
        </p:nvSpPr>
        <p:spPr bwMode="auto">
          <a:xfrm>
            <a:off x="392793" y="2847651"/>
            <a:ext cx="11430000" cy="31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Clr>
                <a:srgbClr val="00FF00"/>
              </a:buClr>
              <a:buFont typeface="Wingdings" panose="05000000000000000000" pitchFamily="2" charset="2"/>
              <a:buNone/>
            </a:pP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1</a:t>
            </a: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A≠B</a:t>
            </a:r>
            <a:endParaRPr kumimoji="1" lang="en-US" altLang="zh-CN" sz="2400" dirty="0">
              <a:solidFill>
                <a:srgbClr val="0000CC"/>
              </a:solidFill>
              <a:latin typeface="+mn-ea"/>
              <a:ea typeface="+mn-ea"/>
            </a:endParaRPr>
          </a:p>
          <a:p>
            <a:pPr eaLnBrk="1" hangingPunct="1">
              <a:lnSpc>
                <a:spcPct val="150000"/>
              </a:lnSpc>
              <a:buClr>
                <a:srgbClr val="00FF00"/>
              </a:buClr>
              <a:buFont typeface="Wingdings" panose="05000000000000000000" pitchFamily="2" charset="2"/>
              <a:buNone/>
            </a:pPr>
            <a:r>
              <a:rPr kumimoji="1" lang="zh-CN" altLang="en-US" sz="2400" noProof="1">
                <a:latin typeface="+mn-ea"/>
                <a:ea typeface="+mn-ea"/>
              </a:rPr>
              <a:t>设</a:t>
            </a:r>
            <a:r>
              <a:rPr kumimoji="1" lang="en-US" altLang="zh-CN" sz="2400" noProof="1">
                <a:latin typeface="+mn-ea"/>
                <a:ea typeface="+mn-ea"/>
              </a:rPr>
              <a:t>A＝</a:t>
            </a:r>
            <a:r>
              <a:rPr kumimoji="1" lang="en-US" altLang="zh-CN" sz="2400" dirty="0">
                <a:latin typeface="+mn-ea"/>
                <a:ea typeface="+mn-ea"/>
              </a:rPr>
              <a:t>{</a:t>
            </a:r>
            <a:r>
              <a:rPr kumimoji="1" lang="en-US" altLang="zh-CN" sz="2400" noProof="1">
                <a:latin typeface="+mn-ea"/>
                <a:ea typeface="+mn-ea"/>
              </a:rPr>
              <a:t>a</a:t>
            </a:r>
            <a:r>
              <a:rPr kumimoji="1" lang="en-US" altLang="zh-CN" sz="2400" baseline="-25000" dirty="0">
                <a:latin typeface="+mn-ea"/>
                <a:ea typeface="+mn-ea"/>
              </a:rPr>
              <a:t>1</a:t>
            </a:r>
            <a:r>
              <a:rPr kumimoji="1" lang="en-US" altLang="zh-CN" sz="2400" dirty="0">
                <a:latin typeface="+mn-ea"/>
                <a:ea typeface="+mn-ea"/>
              </a:rPr>
              <a:t>,a</a:t>
            </a:r>
            <a:r>
              <a:rPr kumimoji="1" lang="en-US" altLang="zh-CN" sz="2400" baseline="-25000" dirty="0">
                <a:latin typeface="+mn-ea"/>
                <a:ea typeface="+mn-ea"/>
              </a:rPr>
              <a:t>2</a:t>
            </a:r>
            <a:r>
              <a:rPr kumimoji="1" lang="en-US" altLang="zh-CN" sz="2400" dirty="0">
                <a:latin typeface="+mn-ea"/>
                <a:ea typeface="+mn-ea"/>
              </a:rPr>
              <a:t>,…,a</a:t>
            </a:r>
            <a:r>
              <a:rPr kumimoji="1" lang="en-US" altLang="zh-CN" sz="2400" baseline="-25000" dirty="0">
                <a:latin typeface="+mn-ea"/>
                <a:ea typeface="+mn-ea"/>
              </a:rPr>
              <a:t>n</a:t>
            </a:r>
            <a:r>
              <a:rPr kumimoji="1" lang="en-US" altLang="zh-CN" sz="2400" dirty="0">
                <a:latin typeface="+mn-ea"/>
                <a:ea typeface="+mn-ea"/>
              </a:rPr>
              <a:t>}</a:t>
            </a:r>
            <a:r>
              <a:rPr kumimoji="1" lang="zh-CN" altLang="en-US" sz="2400" dirty="0">
                <a:latin typeface="+mn-ea"/>
                <a:ea typeface="+mn-ea"/>
              </a:rPr>
              <a:t>，</a:t>
            </a:r>
            <a:r>
              <a:rPr kumimoji="1" lang="en-US" altLang="zh-CN" sz="2400" dirty="0">
                <a:latin typeface="+mn-ea"/>
                <a:ea typeface="+mn-ea"/>
              </a:rPr>
              <a:t>B</a:t>
            </a:r>
            <a:r>
              <a:rPr kumimoji="1" lang="zh-CN" altLang="en-US" sz="2400" dirty="0">
                <a:latin typeface="+mn-ea"/>
                <a:ea typeface="+mn-ea"/>
              </a:rPr>
              <a:t>＝</a:t>
            </a:r>
            <a:r>
              <a:rPr kumimoji="1" lang="en-US" altLang="zh-CN" sz="2400" dirty="0">
                <a:latin typeface="+mn-ea"/>
                <a:ea typeface="+mn-ea"/>
              </a:rPr>
              <a:t>{b</a:t>
            </a:r>
            <a:r>
              <a:rPr kumimoji="1" lang="en-US" altLang="zh-CN" sz="2400" baseline="-25000" dirty="0">
                <a:latin typeface="+mn-ea"/>
                <a:ea typeface="+mn-ea"/>
              </a:rPr>
              <a:t>1</a:t>
            </a:r>
            <a:r>
              <a:rPr kumimoji="1" lang="en-US" altLang="zh-CN" sz="2400" dirty="0">
                <a:latin typeface="+mn-ea"/>
                <a:ea typeface="+mn-ea"/>
              </a:rPr>
              <a:t>,b</a:t>
            </a:r>
            <a:r>
              <a:rPr kumimoji="1" lang="en-US" altLang="zh-CN" sz="2400" baseline="-25000" dirty="0">
                <a:latin typeface="+mn-ea"/>
                <a:ea typeface="+mn-ea"/>
              </a:rPr>
              <a:t>2</a:t>
            </a:r>
            <a:r>
              <a:rPr kumimoji="1" lang="en-US" altLang="zh-CN" sz="2400" dirty="0">
                <a:latin typeface="+mn-ea"/>
                <a:ea typeface="+mn-ea"/>
              </a:rPr>
              <a:t>,…,</a:t>
            </a:r>
            <a:r>
              <a:rPr kumimoji="1" lang="en-US" altLang="zh-CN" sz="2400" dirty="0" err="1">
                <a:latin typeface="+mn-ea"/>
                <a:ea typeface="+mn-ea"/>
              </a:rPr>
              <a:t>b</a:t>
            </a:r>
            <a:r>
              <a:rPr kumimoji="1" lang="en-US" altLang="zh-CN" sz="2400" baseline="-25000" dirty="0" err="1">
                <a:latin typeface="+mn-ea"/>
                <a:ea typeface="+mn-ea"/>
              </a:rPr>
              <a:t>m</a:t>
            </a:r>
            <a:r>
              <a:rPr kumimoji="1" lang="en-US" altLang="zh-CN" sz="2400" dirty="0">
                <a:latin typeface="+mn-ea"/>
                <a:ea typeface="+mn-ea"/>
              </a:rPr>
              <a:t>}</a:t>
            </a:r>
            <a:r>
              <a:rPr kumimoji="1" lang="zh-CN" altLang="en-US" sz="2400" dirty="0">
                <a:latin typeface="+mn-ea"/>
                <a:ea typeface="+mn-ea"/>
              </a:rPr>
              <a:t>，</a:t>
            </a:r>
            <a:r>
              <a:rPr kumimoji="1" lang="en-US" altLang="zh-CN" sz="2400" dirty="0">
                <a:latin typeface="+mn-ea"/>
                <a:ea typeface="+mn-ea"/>
              </a:rPr>
              <a:t>R</a:t>
            </a:r>
            <a:r>
              <a:rPr kumimoji="1" lang="zh-CN" altLang="en-US" sz="2400" dirty="0">
                <a:latin typeface="+mn-ea"/>
                <a:ea typeface="+mn-ea"/>
              </a:rPr>
              <a:t>是从</a:t>
            </a:r>
            <a:r>
              <a:rPr kumimoji="1" lang="en-US" altLang="zh-CN" sz="2400" dirty="0">
                <a:latin typeface="+mn-ea"/>
                <a:ea typeface="+mn-ea"/>
              </a:rPr>
              <a:t>A</a:t>
            </a:r>
            <a:r>
              <a:rPr kumimoji="1" lang="zh-CN" altLang="en-US" sz="2400" dirty="0">
                <a:latin typeface="+mn-ea"/>
                <a:ea typeface="+mn-ea"/>
              </a:rPr>
              <a:t>到</a:t>
            </a:r>
            <a:r>
              <a:rPr kumimoji="1" lang="en-US" altLang="zh-CN" sz="2400" dirty="0">
                <a:latin typeface="+mn-ea"/>
                <a:ea typeface="+mn-ea"/>
              </a:rPr>
              <a:t>B</a:t>
            </a:r>
            <a:r>
              <a:rPr kumimoji="1" lang="zh-CN" altLang="en-US" sz="2400" dirty="0">
                <a:latin typeface="+mn-ea"/>
                <a:ea typeface="+mn-ea"/>
              </a:rPr>
              <a:t>的一个二元关系，则规定</a:t>
            </a:r>
            <a:r>
              <a:rPr kumimoji="1" lang="en-US" altLang="zh-CN" sz="2400" dirty="0">
                <a:latin typeface="+mn-ea"/>
                <a:ea typeface="+mn-ea"/>
              </a:rPr>
              <a:t>R</a:t>
            </a:r>
            <a:r>
              <a:rPr kumimoji="1" lang="zh-CN" altLang="en-US" sz="2400" dirty="0">
                <a:latin typeface="+mn-ea"/>
                <a:ea typeface="+mn-ea"/>
              </a:rPr>
              <a:t>的关</a:t>
            </a:r>
            <a:endParaRPr kumimoji="1" lang="en-US" altLang="zh-CN" sz="2400" dirty="0">
              <a:latin typeface="+mn-ea"/>
              <a:ea typeface="+mn-ea"/>
            </a:endParaRPr>
          </a:p>
          <a:p>
            <a:pPr eaLnBrk="1" hangingPunct="1">
              <a:lnSpc>
                <a:spcPct val="150000"/>
              </a:lnSpc>
              <a:buClr>
                <a:srgbClr val="00FF00"/>
              </a:buClr>
              <a:buFont typeface="Wingdings" panose="05000000000000000000" pitchFamily="2" charset="2"/>
              <a:buNone/>
            </a:pPr>
            <a:r>
              <a:rPr kumimoji="1" lang="zh-CN" altLang="en-US" sz="2400" dirty="0">
                <a:latin typeface="+mn-ea"/>
                <a:ea typeface="+mn-ea"/>
              </a:rPr>
              <a:t>系图如下：</a:t>
            </a:r>
            <a:endParaRPr kumimoji="1" lang="zh-CN" altLang="en-US" sz="2400" dirty="0">
              <a:latin typeface="+mn-ea"/>
              <a:ea typeface="+mn-ea"/>
            </a:endParaRPr>
          </a:p>
          <a:p>
            <a:pPr eaLnBrk="1" hangingPunct="1">
              <a:lnSpc>
                <a:spcPct val="150000"/>
              </a:lnSpc>
              <a:buClr>
                <a:srgbClr val="00FF00"/>
              </a:buClr>
              <a:buFont typeface="Wingdings" panose="05000000000000000000" pitchFamily="2" charset="2"/>
              <a:buNone/>
            </a:pPr>
            <a:r>
              <a:rPr kumimoji="1" lang="zh-CN" altLang="en-US" sz="2400" dirty="0">
                <a:solidFill>
                  <a:srgbClr val="0000CC"/>
                </a:solidFill>
                <a:latin typeface="+mn-ea"/>
                <a:ea typeface="+mn-ea"/>
              </a:rPr>
              <a:t>  </a:t>
            </a:r>
            <a:r>
              <a:rPr kumimoji="1" lang="zh-CN" altLang="en-US" sz="2400" dirty="0">
                <a:solidFill>
                  <a:schemeClr val="tx1"/>
                </a:solidFill>
                <a:latin typeface="+mn-ea"/>
                <a:ea typeface="+mn-ea"/>
              </a:rPr>
              <a:t>①</a:t>
            </a:r>
            <a:r>
              <a:rPr kumimoji="1" lang="en-US" altLang="zh-CN" sz="2400" dirty="0">
                <a:solidFill>
                  <a:schemeClr val="tx1"/>
                </a:solidFill>
                <a:latin typeface="+mn-ea"/>
                <a:ea typeface="+mn-ea"/>
              </a:rPr>
              <a:t> </a:t>
            </a:r>
            <a:r>
              <a:rPr kumimoji="1" lang="zh-CN" altLang="en-US" sz="2400" dirty="0">
                <a:solidFill>
                  <a:schemeClr val="tx1"/>
                </a:solidFill>
                <a:latin typeface="+mn-ea"/>
                <a:ea typeface="+mn-ea"/>
              </a:rPr>
              <a:t>设</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n</a:t>
            </a:r>
            <a:r>
              <a:rPr kumimoji="1" lang="zh-CN" altLang="en-US" sz="2400" dirty="0">
                <a:solidFill>
                  <a:schemeClr val="tx1"/>
                </a:solidFill>
                <a:latin typeface="+mn-ea"/>
                <a:ea typeface="+mn-ea"/>
              </a:rPr>
              <a:t>和</a:t>
            </a:r>
            <a:r>
              <a:rPr kumimoji="1" lang="en-US" altLang="zh-CN" sz="2400" dirty="0">
                <a:solidFill>
                  <a:schemeClr val="tx1"/>
                </a:solidFill>
                <a:latin typeface="+mn-ea"/>
                <a:ea typeface="+mn-ea"/>
              </a:rPr>
              <a:t>b</a:t>
            </a:r>
            <a:r>
              <a:rPr kumimoji="1" lang="en-US" altLang="zh-CN" sz="2400" baseline="-25000" dirty="0">
                <a:solidFill>
                  <a:schemeClr val="tx1"/>
                </a:solidFill>
                <a:latin typeface="+mn-ea"/>
                <a:ea typeface="+mn-ea"/>
              </a:rPr>
              <a:t>1</a:t>
            </a:r>
            <a:r>
              <a:rPr kumimoji="1" lang="en-US" altLang="zh-CN" sz="2400" dirty="0">
                <a:solidFill>
                  <a:schemeClr val="tx1"/>
                </a:solidFill>
                <a:latin typeface="+mn-ea"/>
                <a:ea typeface="+mn-ea"/>
              </a:rPr>
              <a:t>,b</a:t>
            </a:r>
            <a:r>
              <a:rPr kumimoji="1" lang="en-US" altLang="zh-CN" sz="2400" baseline="-25000" dirty="0">
                <a:solidFill>
                  <a:schemeClr val="tx1"/>
                </a:solidFill>
                <a:latin typeface="+mn-ea"/>
                <a:ea typeface="+mn-ea"/>
              </a:rPr>
              <a:t>2</a:t>
            </a:r>
            <a:r>
              <a:rPr kumimoji="1" lang="en-US" altLang="zh-CN" sz="2400" dirty="0">
                <a:solidFill>
                  <a:schemeClr val="tx1"/>
                </a:solidFill>
                <a:latin typeface="+mn-ea"/>
                <a:ea typeface="+mn-ea"/>
              </a:rPr>
              <a:t>,…,</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m</a:t>
            </a:r>
            <a:r>
              <a:rPr kumimoji="1" lang="zh-CN" altLang="en-US" sz="2400" dirty="0">
                <a:solidFill>
                  <a:schemeClr val="tx1"/>
                </a:solidFill>
                <a:latin typeface="+mn-ea"/>
                <a:ea typeface="+mn-ea"/>
              </a:rPr>
              <a:t>分别为图中的顶点，用“。</a:t>
            </a:r>
            <a:r>
              <a:rPr kumimoji="1" lang="zh-CN" altLang="en-US" sz="2400" noProof="1">
                <a:solidFill>
                  <a:schemeClr val="tx1"/>
                </a:solidFill>
                <a:latin typeface="+mn-ea"/>
                <a:ea typeface="+mn-ea"/>
              </a:rPr>
              <a:t>”表示</a:t>
            </a:r>
            <a:r>
              <a:rPr kumimoji="1" lang="zh-CN" altLang="en-US" sz="2400" dirty="0">
                <a:solidFill>
                  <a:schemeClr val="tx1"/>
                </a:solidFill>
                <a:latin typeface="+mn-ea"/>
                <a:ea typeface="+mn-ea"/>
              </a:rPr>
              <a:t>；</a:t>
            </a:r>
            <a:endParaRPr kumimoji="1" lang="zh-CN" altLang="en-US" sz="2400" dirty="0">
              <a:solidFill>
                <a:schemeClr val="tx1"/>
              </a:solidFill>
              <a:latin typeface="+mn-ea"/>
              <a:ea typeface="+mn-ea"/>
            </a:endParaRPr>
          </a:p>
          <a:p>
            <a:pPr algn="l" eaLnBrk="1" hangingPunct="1">
              <a:lnSpc>
                <a:spcPct val="150000"/>
              </a:lnSpc>
              <a:buClr>
                <a:srgbClr val="00FF00"/>
              </a:buClr>
              <a:buFont typeface="Wingdings" panose="05000000000000000000" pitchFamily="2" charset="2"/>
              <a:buNone/>
            </a:pPr>
            <a:r>
              <a:rPr kumimoji="1" lang="zh-CN" altLang="en-US" sz="2400" dirty="0">
                <a:solidFill>
                  <a:schemeClr val="tx1"/>
                </a:solidFill>
                <a:latin typeface="+mn-ea"/>
                <a:ea typeface="+mn-ea"/>
              </a:rPr>
              <a:t>  </a:t>
            </a:r>
            <a:r>
              <a:rPr kumimoji="1" lang="zh-CN" altLang="en-US" sz="2400" noProof="1">
                <a:solidFill>
                  <a:schemeClr val="tx1"/>
                </a:solidFill>
                <a:latin typeface="+mn-ea"/>
                <a:ea typeface="+mn-ea"/>
              </a:rPr>
              <a:t>② 如&lt;</a:t>
            </a:r>
            <a:r>
              <a:rPr kumimoji="1" lang="en-US" altLang="zh-CN" sz="2400" noProof="1">
                <a:solidFill>
                  <a:schemeClr val="tx1"/>
                </a:solidFill>
                <a:latin typeface="+mn-ea"/>
                <a:ea typeface="+mn-ea"/>
              </a:rPr>
              <a:t>a</a:t>
            </a:r>
            <a:r>
              <a:rPr kumimoji="1" lang="en-US" altLang="zh-CN" sz="2400" baseline="-25000" dirty="0" err="1">
                <a:solidFill>
                  <a:schemeClr val="tx1"/>
                </a:solidFill>
                <a:latin typeface="+mn-ea"/>
                <a:ea typeface="+mn-ea"/>
              </a:rPr>
              <a:t>i</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j</a:t>
            </a:r>
            <a:r>
              <a:rPr kumimoji="1" lang="en-US" altLang="zh-CN" sz="2400" dirty="0">
                <a:solidFill>
                  <a:schemeClr val="tx1"/>
                </a:solidFill>
                <a:latin typeface="+mn-ea"/>
                <a:ea typeface="+mn-ea"/>
              </a:rPr>
              <a:t>&gt;</a:t>
            </a:r>
            <a:r>
              <a:rPr kumimoji="1" lang="en-US" altLang="zh-CN" sz="2400" noProof="1">
                <a:solidFill>
                  <a:schemeClr val="tx1"/>
                </a:solidFill>
                <a:latin typeface="+mn-ea"/>
                <a:ea typeface="+mn-ea"/>
                <a:sym typeface="Symbol" panose="05050102010706020507" pitchFamily="18" charset="2"/>
              </a:rPr>
              <a:t></a:t>
            </a:r>
            <a:r>
              <a:rPr kumimoji="1" lang="en-US" altLang="zh-CN" sz="2400" noProof="1">
                <a:solidFill>
                  <a:schemeClr val="tx1"/>
                </a:solidFill>
                <a:latin typeface="+mn-ea"/>
                <a:ea typeface="+mn-ea"/>
              </a:rPr>
              <a:t>R</a:t>
            </a:r>
            <a:r>
              <a:rPr kumimoji="1" lang="zh-CN" altLang="zh-CN" sz="2400" dirty="0">
                <a:solidFill>
                  <a:schemeClr val="tx1"/>
                </a:solidFill>
                <a:latin typeface="+mn-ea"/>
                <a:ea typeface="+mn-ea"/>
              </a:rPr>
              <a:t>，</a:t>
            </a:r>
            <a:r>
              <a:rPr kumimoji="1" lang="zh-CN" altLang="en-US" sz="2400" dirty="0">
                <a:solidFill>
                  <a:schemeClr val="tx1"/>
                </a:solidFill>
                <a:latin typeface="+mn-ea"/>
                <a:ea typeface="+mn-ea"/>
              </a:rPr>
              <a:t>则</a:t>
            </a:r>
            <a:r>
              <a:rPr kumimoji="1" lang="en-US" altLang="zh-CN" sz="2400" noProof="1">
                <a:solidFill>
                  <a:schemeClr val="tx1"/>
                </a:solidFill>
                <a:latin typeface="+mn-ea"/>
                <a:ea typeface="+mn-ea"/>
              </a:rPr>
              <a:t>a</a:t>
            </a:r>
            <a:r>
              <a:rPr kumimoji="1" lang="en-US" altLang="zh-CN" sz="2400" baseline="-25000" dirty="0" err="1">
                <a:solidFill>
                  <a:schemeClr val="tx1"/>
                </a:solidFill>
                <a:latin typeface="+mn-ea"/>
                <a:ea typeface="+mn-ea"/>
              </a:rPr>
              <a:t>i</a:t>
            </a:r>
            <a:r>
              <a:rPr kumimoji="1" lang="zh-CN" altLang="en-US" sz="2400" dirty="0">
                <a:solidFill>
                  <a:schemeClr val="tx1"/>
                </a:solidFill>
                <a:latin typeface="+mn-ea"/>
                <a:ea typeface="+mn-ea"/>
              </a:rPr>
              <a:t>和</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j</a:t>
            </a:r>
            <a:r>
              <a:rPr kumimoji="1" lang="zh-CN" altLang="en-US" sz="2400" dirty="0">
                <a:solidFill>
                  <a:schemeClr val="tx1"/>
                </a:solidFill>
                <a:latin typeface="+mn-ea"/>
                <a:ea typeface="+mn-ea"/>
              </a:rPr>
              <a:t>可用一条</a:t>
            </a:r>
            <a:r>
              <a:rPr kumimoji="1" lang="en-US" altLang="zh-CN" sz="2400" dirty="0">
                <a:solidFill>
                  <a:schemeClr val="tx1"/>
                </a:solidFill>
                <a:latin typeface="+mn-ea"/>
                <a:ea typeface="+mn-ea"/>
              </a:rPr>
              <a:t>a</a:t>
            </a:r>
            <a:r>
              <a:rPr kumimoji="1" lang="en-US" altLang="zh-CN" sz="2400" baseline="-25000" dirty="0">
                <a:solidFill>
                  <a:schemeClr val="tx1"/>
                </a:solidFill>
                <a:latin typeface="+mn-ea"/>
                <a:ea typeface="+mn-ea"/>
              </a:rPr>
              <a:t>i  </a:t>
            </a:r>
            <a:r>
              <a:rPr kumimoji="1" lang="zh-CN" altLang="en-US" sz="2400" dirty="0">
                <a:solidFill>
                  <a:schemeClr val="tx1"/>
                </a:solidFill>
                <a:latin typeface="+mn-ea"/>
                <a:ea typeface="+mn-ea"/>
              </a:rPr>
              <a:t>。 。</a:t>
            </a:r>
            <a:r>
              <a:rPr kumimoji="1" lang="en-US" altLang="zh-CN" sz="2400" dirty="0" err="1">
                <a:solidFill>
                  <a:schemeClr val="tx1"/>
                </a:solidFill>
                <a:latin typeface="+mn-ea"/>
                <a:ea typeface="+mn-ea"/>
              </a:rPr>
              <a:t>b</a:t>
            </a:r>
            <a:r>
              <a:rPr kumimoji="1" lang="en-US" altLang="zh-CN" sz="2400" baseline="-25000" dirty="0" err="1">
                <a:solidFill>
                  <a:schemeClr val="tx1"/>
                </a:solidFill>
                <a:latin typeface="+mn-ea"/>
                <a:ea typeface="+mn-ea"/>
              </a:rPr>
              <a:t>j</a:t>
            </a:r>
            <a:r>
              <a:rPr kumimoji="1" lang="zh-CN" altLang="en-US" sz="2400" dirty="0">
                <a:solidFill>
                  <a:schemeClr val="tx1"/>
                </a:solidFill>
                <a:latin typeface="+mn-ea"/>
                <a:ea typeface="+mn-ea"/>
              </a:rPr>
              <a:t>的有向边相连。</a:t>
            </a:r>
            <a:endParaRPr kumimoji="1" lang="zh-CN" altLang="zh-CN" sz="2400" noProof="1">
              <a:solidFill>
                <a:schemeClr val="tx1"/>
              </a:solidFill>
              <a:latin typeface="+mn-ea"/>
              <a:ea typeface="+mn-ea"/>
            </a:endParaRPr>
          </a:p>
        </p:txBody>
      </p:sp>
      <p:sp>
        <p:nvSpPr>
          <p:cNvPr id="1406981" name="Line 5"/>
          <p:cNvSpPr>
            <a:spLocks noChangeShapeType="1"/>
          </p:cNvSpPr>
          <p:nvPr/>
        </p:nvSpPr>
        <p:spPr bwMode="auto">
          <a:xfrm>
            <a:off x="5881230" y="5765983"/>
            <a:ext cx="360000" cy="0"/>
          </a:xfrm>
          <a:prstGeom prst="line">
            <a:avLst/>
          </a:prstGeom>
          <a:noFill/>
          <a:ln w="57150">
            <a:solidFill>
              <a:srgbClr val="0033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 name="矩形 1"/>
          <p:cNvSpPr/>
          <p:nvPr/>
        </p:nvSpPr>
        <p:spPr>
          <a:xfrm>
            <a:off x="384175" y="951971"/>
            <a:ext cx="11430000" cy="1754326"/>
          </a:xfrm>
          <a:prstGeom prst="rect">
            <a:avLst/>
          </a:prstGeom>
        </p:spPr>
        <p:txBody>
          <a:bodyPr wrap="square">
            <a:spAutoFit/>
          </a:bodyPr>
          <a:lstStyle/>
          <a:p>
            <a:pPr algn="just">
              <a:lnSpc>
                <a:spcPct val="150000"/>
              </a:lnSpc>
              <a:spcAft>
                <a:spcPts val="0"/>
              </a:spcAft>
            </a:pPr>
            <a:r>
              <a:rPr lang="zh-CN" altLang="zh-CN" b="1" kern="100" dirty="0">
                <a:latin typeface="+mn-ea"/>
              </a:rPr>
              <a:t>从</a:t>
            </a:r>
            <a:r>
              <a:rPr lang="en-US" altLang="zh-CN" b="1" kern="100" dirty="0">
                <a:latin typeface="+mn-ea"/>
              </a:rPr>
              <a:t>A</a:t>
            </a:r>
            <a:r>
              <a:rPr lang="zh-CN" altLang="zh-CN" b="1" kern="100" dirty="0">
                <a:latin typeface="+mn-ea"/>
              </a:rPr>
              <a:t>到</a:t>
            </a:r>
            <a:r>
              <a:rPr lang="en-US" altLang="zh-CN" b="1" kern="100" dirty="0">
                <a:latin typeface="+mn-ea"/>
              </a:rPr>
              <a:t>B</a:t>
            </a:r>
            <a:r>
              <a:rPr lang="zh-CN" altLang="zh-CN" b="1" kern="100" dirty="0">
                <a:latin typeface="+mn-ea"/>
              </a:rPr>
              <a:t>的关系</a:t>
            </a:r>
            <a:r>
              <a:rPr lang="en-US" altLang="zh-CN" b="1" kern="100" dirty="0">
                <a:latin typeface="+mn-ea"/>
              </a:rPr>
              <a:t>R</a:t>
            </a:r>
            <a:r>
              <a:rPr lang="zh-CN" altLang="zh-CN" b="1" kern="100" dirty="0">
                <a:latin typeface="+mn-ea"/>
              </a:rPr>
              <a:t>的</a:t>
            </a:r>
            <a:r>
              <a:rPr lang="zh-CN" altLang="zh-CN" b="1" kern="100" dirty="0">
                <a:solidFill>
                  <a:srgbClr val="C00000"/>
                </a:solidFill>
                <a:latin typeface="+mn-ea"/>
              </a:rPr>
              <a:t>关系图</a:t>
            </a:r>
            <a:r>
              <a:rPr lang="en-US" altLang="zh-CN" b="1" kern="100" dirty="0">
                <a:latin typeface="+mn-ea"/>
              </a:rPr>
              <a:t>(Relation Graph)</a:t>
            </a:r>
            <a:r>
              <a:rPr lang="zh-CN" altLang="zh-CN" b="1" kern="100" dirty="0">
                <a:latin typeface="+mn-ea"/>
              </a:rPr>
              <a:t>是</a:t>
            </a:r>
            <a:r>
              <a:rPr lang="en-US" altLang="zh-CN" b="1" kern="100" dirty="0">
                <a:solidFill>
                  <a:srgbClr val="3333FF"/>
                </a:solidFill>
                <a:latin typeface="+mn-ea"/>
              </a:rPr>
              <a:t>G</a:t>
            </a:r>
            <a:r>
              <a:rPr lang="en-US" altLang="zh-CN" b="1" kern="100" baseline="-25000" dirty="0">
                <a:solidFill>
                  <a:srgbClr val="3333FF"/>
                </a:solidFill>
                <a:latin typeface="+mn-ea"/>
              </a:rPr>
              <a:t>R</a:t>
            </a:r>
            <a:r>
              <a:rPr lang="en-US" altLang="zh-CN" b="1" kern="100" dirty="0">
                <a:solidFill>
                  <a:srgbClr val="3333FF"/>
                </a:solidFill>
                <a:latin typeface="+mn-ea"/>
              </a:rPr>
              <a:t>=&lt;V,E&gt;</a:t>
            </a:r>
            <a:r>
              <a:rPr lang="zh-CN" altLang="zh-CN" b="1" kern="100" dirty="0">
                <a:latin typeface="+mn-ea"/>
              </a:rPr>
              <a:t>，其中</a:t>
            </a:r>
            <a:r>
              <a:rPr lang="en-US" altLang="zh-CN" b="1" kern="100" dirty="0">
                <a:latin typeface="+mn-ea"/>
              </a:rPr>
              <a:t>V</a:t>
            </a:r>
            <a:r>
              <a:rPr lang="zh-CN" altLang="zh-CN" b="1" kern="100" dirty="0">
                <a:latin typeface="+mn-ea"/>
              </a:rPr>
              <a:t>是顶点集，</a:t>
            </a:r>
            <a:r>
              <a:rPr lang="en-US" altLang="zh-CN" b="1" kern="100" dirty="0">
                <a:latin typeface="+mn-ea"/>
              </a:rPr>
              <a:t>E</a:t>
            </a:r>
            <a:r>
              <a:rPr lang="zh-CN" altLang="zh-CN" b="1" kern="100" dirty="0">
                <a:latin typeface="+mn-ea"/>
              </a:rPr>
              <a:t>是边集。任意</a:t>
            </a:r>
            <a:r>
              <a:rPr lang="en-US" altLang="zh-CN" b="1" kern="100" dirty="0" err="1">
                <a:latin typeface="+mn-ea"/>
              </a:rPr>
              <a:t>a</a:t>
            </a:r>
            <a:r>
              <a:rPr lang="en-US" altLang="zh-CN" b="1" kern="100" baseline="-25000" dirty="0" err="1">
                <a:latin typeface="+mn-ea"/>
              </a:rPr>
              <a:t>i</a:t>
            </a:r>
            <a:r>
              <a:rPr lang="zh-CN" altLang="zh-CN" b="1" kern="100" dirty="0">
                <a:latin typeface="+mn-ea"/>
                <a:cs typeface="宋体" panose="02010600030101010101" pitchFamily="2" charset="-122"/>
              </a:rPr>
              <a:t>∈</a:t>
            </a:r>
            <a:r>
              <a:rPr lang="en-US" altLang="zh-CN" b="1" kern="100" dirty="0">
                <a:latin typeface="+mn-ea"/>
              </a:rPr>
              <a:t>A</a:t>
            </a:r>
            <a:r>
              <a:rPr lang="zh-CN" altLang="zh-CN" b="1" kern="100" dirty="0">
                <a:latin typeface="+mn-ea"/>
              </a:rPr>
              <a:t>，</a:t>
            </a:r>
            <a:r>
              <a:rPr lang="en-US" altLang="zh-CN" b="1" kern="100" dirty="0" err="1">
                <a:latin typeface="+mn-ea"/>
              </a:rPr>
              <a:t>b</a:t>
            </a:r>
            <a:r>
              <a:rPr lang="en-US" altLang="zh-CN" b="1" kern="100" baseline="-25000" dirty="0" err="1">
                <a:latin typeface="+mn-ea"/>
              </a:rPr>
              <a:t>j</a:t>
            </a:r>
            <a:r>
              <a:rPr lang="zh-CN" altLang="zh-CN" b="1" kern="100" dirty="0">
                <a:latin typeface="+mn-ea"/>
                <a:cs typeface="宋体" panose="02010600030101010101" pitchFamily="2" charset="-122"/>
              </a:rPr>
              <a:t>∈</a:t>
            </a:r>
            <a:r>
              <a:rPr lang="en-US" altLang="zh-CN" b="1" kern="100" dirty="0">
                <a:latin typeface="+mn-ea"/>
              </a:rPr>
              <a:t>B</a:t>
            </a:r>
            <a:r>
              <a:rPr lang="zh-CN" altLang="zh-CN" b="1" kern="100" dirty="0">
                <a:latin typeface="+mn-ea"/>
                <a:cs typeface="宋体" panose="02010600030101010101" pitchFamily="2" charset="-122"/>
              </a:rPr>
              <a:t>，如果</a:t>
            </a:r>
            <a:r>
              <a:rPr lang="en-US" altLang="zh-CN" b="1" kern="100" dirty="0">
                <a:latin typeface="+mn-ea"/>
              </a:rPr>
              <a:t>&lt;a</a:t>
            </a:r>
            <a:r>
              <a:rPr lang="en-US" altLang="zh-CN" b="1" kern="100" baseline="-25000" dirty="0">
                <a:latin typeface="+mn-ea"/>
              </a:rPr>
              <a:t>i</a:t>
            </a:r>
            <a:r>
              <a:rPr lang="zh-CN" altLang="zh-CN" b="1" kern="100" dirty="0">
                <a:latin typeface="+mn-ea"/>
              </a:rPr>
              <a:t>，</a:t>
            </a:r>
            <a:r>
              <a:rPr lang="en-US" altLang="zh-CN" b="1" kern="100" dirty="0" err="1">
                <a:latin typeface="+mn-ea"/>
              </a:rPr>
              <a:t>b</a:t>
            </a:r>
            <a:r>
              <a:rPr lang="en-US" altLang="zh-CN" b="1" kern="100" baseline="-25000" dirty="0" err="1">
                <a:latin typeface="+mn-ea"/>
              </a:rPr>
              <a:t>j</a:t>
            </a:r>
            <a:r>
              <a:rPr lang="en-US" altLang="zh-CN" b="1" kern="100" dirty="0">
                <a:latin typeface="+mn-ea"/>
              </a:rPr>
              <a:t>&gt;</a:t>
            </a:r>
            <a:r>
              <a:rPr lang="zh-CN" altLang="zh-CN" b="1" kern="100" dirty="0">
                <a:latin typeface="+mn-ea"/>
                <a:cs typeface="宋体" panose="02010600030101010101" pitchFamily="2" charset="-122"/>
              </a:rPr>
              <a:t>∈</a:t>
            </a:r>
            <a:r>
              <a:rPr lang="en-US" altLang="zh-CN" b="1" kern="100" dirty="0">
                <a:latin typeface="+mn-ea"/>
              </a:rPr>
              <a:t>R</a:t>
            </a:r>
            <a:r>
              <a:rPr lang="zh-CN" altLang="zh-CN" b="1" kern="100" dirty="0">
                <a:latin typeface="+mn-ea"/>
              </a:rPr>
              <a:t>，则在</a:t>
            </a:r>
            <a:r>
              <a:rPr lang="en-US" altLang="zh-CN" b="1" kern="100" dirty="0">
                <a:latin typeface="+mn-ea"/>
              </a:rPr>
              <a:t>R</a:t>
            </a:r>
            <a:r>
              <a:rPr lang="zh-CN" altLang="zh-CN" b="1" kern="100" dirty="0">
                <a:latin typeface="+mn-ea"/>
              </a:rPr>
              <a:t>的关系图中就有一条从</a:t>
            </a:r>
            <a:r>
              <a:rPr lang="en-US" altLang="zh-CN" b="1" kern="100" dirty="0" err="1">
                <a:latin typeface="+mn-ea"/>
              </a:rPr>
              <a:t>a</a:t>
            </a:r>
            <a:r>
              <a:rPr lang="en-US" altLang="zh-CN" b="1" kern="100" baseline="-25000" dirty="0" err="1">
                <a:latin typeface="+mn-ea"/>
              </a:rPr>
              <a:t>i</a:t>
            </a:r>
            <a:r>
              <a:rPr lang="zh-CN" altLang="zh-CN" b="1" kern="100" dirty="0">
                <a:latin typeface="+mn-ea"/>
              </a:rPr>
              <a:t>到</a:t>
            </a:r>
            <a:r>
              <a:rPr lang="en-US" altLang="zh-CN" b="1" kern="100" dirty="0" err="1">
                <a:latin typeface="+mn-ea"/>
              </a:rPr>
              <a:t>b</a:t>
            </a:r>
            <a:r>
              <a:rPr lang="en-US" altLang="zh-CN" b="1" kern="100" baseline="-25000" dirty="0" err="1">
                <a:latin typeface="+mn-ea"/>
              </a:rPr>
              <a:t>j</a:t>
            </a:r>
            <a:r>
              <a:rPr lang="zh-CN" altLang="zh-CN" b="1" kern="100" dirty="0">
                <a:latin typeface="+mn-ea"/>
              </a:rPr>
              <a:t>的有向边。</a:t>
            </a:r>
            <a:endParaRPr lang="zh-CN" altLang="zh-CN" b="1" kern="100" dirty="0">
              <a:latin typeface="+mn-ea"/>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6979">
                                            <p:txEl>
                                              <p:pRg st="0" end="0"/>
                                            </p:txEl>
                                          </p:spTgt>
                                        </p:tgtEl>
                                        <p:attrNameLst>
                                          <p:attrName>style.visibility</p:attrName>
                                        </p:attrNameLst>
                                      </p:cBhvr>
                                      <p:to>
                                        <p:strVal val="visible"/>
                                      </p:to>
                                    </p:set>
                                    <p:anim calcmode="lin" valueType="num">
                                      <p:cBhvr additive="base">
                                        <p:cTn id="7" dur="500" fill="hold"/>
                                        <p:tgtEl>
                                          <p:spTgt spid="1406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6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06979">
                                            <p:txEl>
                                              <p:pRg st="1" end="1"/>
                                            </p:txEl>
                                          </p:spTgt>
                                        </p:tgtEl>
                                        <p:attrNameLst>
                                          <p:attrName>style.visibility</p:attrName>
                                        </p:attrNameLst>
                                      </p:cBhvr>
                                      <p:to>
                                        <p:strVal val="visible"/>
                                      </p:to>
                                    </p:set>
                                    <p:anim calcmode="lin" valueType="num">
                                      <p:cBhvr additive="base">
                                        <p:cTn id="13" dur="500" fill="hold"/>
                                        <p:tgtEl>
                                          <p:spTgt spid="14069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69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06979">
                                            <p:txEl>
                                              <p:pRg st="2" end="2"/>
                                            </p:txEl>
                                          </p:spTgt>
                                        </p:tgtEl>
                                        <p:attrNameLst>
                                          <p:attrName>style.visibility</p:attrName>
                                        </p:attrNameLst>
                                      </p:cBhvr>
                                      <p:to>
                                        <p:strVal val="visible"/>
                                      </p:to>
                                    </p:set>
                                    <p:anim calcmode="lin" valueType="num">
                                      <p:cBhvr additive="base">
                                        <p:cTn id="17" dur="500" fill="hold"/>
                                        <p:tgtEl>
                                          <p:spTgt spid="14069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069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06979">
                                            <p:txEl>
                                              <p:pRg st="3" end="3"/>
                                            </p:txEl>
                                          </p:spTgt>
                                        </p:tgtEl>
                                        <p:attrNameLst>
                                          <p:attrName>style.visibility</p:attrName>
                                        </p:attrNameLst>
                                      </p:cBhvr>
                                      <p:to>
                                        <p:strVal val="visible"/>
                                      </p:to>
                                    </p:set>
                                    <p:anim calcmode="lin" valueType="num">
                                      <p:cBhvr additive="base">
                                        <p:cTn id="23" dur="500" fill="hold"/>
                                        <p:tgtEl>
                                          <p:spTgt spid="14069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069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06979">
                                            <p:txEl>
                                              <p:pRg st="4" end="4"/>
                                            </p:txEl>
                                          </p:spTgt>
                                        </p:tgtEl>
                                        <p:attrNameLst>
                                          <p:attrName>style.visibility</p:attrName>
                                        </p:attrNameLst>
                                      </p:cBhvr>
                                      <p:to>
                                        <p:strVal val="visible"/>
                                      </p:to>
                                    </p:set>
                                    <p:anim calcmode="lin" valueType="num">
                                      <p:cBhvr additive="base">
                                        <p:cTn id="29" dur="500" fill="hold"/>
                                        <p:tgtEl>
                                          <p:spTgt spid="140697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06979">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406981"/>
                                        </p:tgtEl>
                                        <p:attrNameLst>
                                          <p:attrName>style.visibility</p:attrName>
                                        </p:attrNameLst>
                                      </p:cBhvr>
                                      <p:to>
                                        <p:strVal val="visible"/>
                                      </p:to>
                                    </p:set>
                                    <p:anim calcmode="lin" valueType="num">
                                      <p:cBhvr additive="base">
                                        <p:cTn id="33" dur="500" fill="hold"/>
                                        <p:tgtEl>
                                          <p:spTgt spid="1406981"/>
                                        </p:tgtEl>
                                        <p:attrNameLst>
                                          <p:attrName>ppt_x</p:attrName>
                                        </p:attrNameLst>
                                      </p:cBhvr>
                                      <p:tavLst>
                                        <p:tav tm="0">
                                          <p:val>
                                            <p:strVal val="#ppt_x"/>
                                          </p:val>
                                        </p:tav>
                                        <p:tav tm="100000">
                                          <p:val>
                                            <p:strVal val="#ppt_x"/>
                                          </p:val>
                                        </p:tav>
                                      </p:tavLst>
                                    </p:anim>
                                    <p:anim calcmode="lin" valueType="num">
                                      <p:cBhvr additive="base">
                                        <p:cTn id="34" dur="500" fill="hold"/>
                                        <p:tgtEl>
                                          <p:spTgt spid="14069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979"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9026" name="Rectangle 2"/>
          <p:cNvSpPr>
            <a:spLocks noGrp="1" noChangeArrowheads="1"/>
          </p:cNvSpPr>
          <p:nvPr>
            <p:ph type="body" idx="1"/>
          </p:nvPr>
        </p:nvSpPr>
        <p:spPr>
          <a:xfrm>
            <a:off x="498766" y="1262241"/>
            <a:ext cx="11699583" cy="4609579"/>
          </a:xfrm>
        </p:spPr>
        <p:txBody>
          <a:bodyPr>
            <a:normAutofit/>
          </a:bodyPr>
          <a:lstStyle/>
          <a:p>
            <a:pPr marL="0" indent="0">
              <a:lnSpc>
                <a:spcPct val="150000"/>
              </a:lnSpc>
              <a:buNone/>
            </a:pPr>
            <a:r>
              <a:rPr lang="zh-CN" altLang="en-US" dirty="0">
                <a:solidFill>
                  <a:srgbClr val="3333FF"/>
                </a:solidFill>
              </a:rPr>
              <a:t>（</a:t>
            </a:r>
            <a:r>
              <a:rPr lang="en-US" altLang="zh-CN" dirty="0">
                <a:solidFill>
                  <a:srgbClr val="3333FF"/>
                </a:solidFill>
              </a:rPr>
              <a:t>2</a:t>
            </a:r>
            <a:r>
              <a:rPr lang="zh-CN" altLang="en-US" dirty="0">
                <a:solidFill>
                  <a:srgbClr val="3333FF"/>
                </a:solidFill>
              </a:rPr>
              <a:t>）</a:t>
            </a:r>
            <a:r>
              <a:rPr lang="en-US" altLang="zh-CN" dirty="0">
                <a:solidFill>
                  <a:srgbClr val="3333FF"/>
                </a:solidFill>
              </a:rPr>
              <a:t>A=B</a:t>
            </a:r>
            <a:endParaRPr lang="en-US" altLang="zh-CN" dirty="0">
              <a:solidFill>
                <a:srgbClr val="3333FF"/>
              </a:solidFill>
            </a:endParaRPr>
          </a:p>
          <a:p>
            <a:pPr marL="0" indent="0">
              <a:lnSpc>
                <a:spcPct val="150000"/>
              </a:lnSpc>
              <a:buNone/>
            </a:pPr>
            <a:r>
              <a:rPr lang="zh-CN" altLang="en-US" dirty="0">
                <a:solidFill>
                  <a:schemeClr val="tx1"/>
                </a:solidFill>
              </a:rPr>
              <a:t>设</a:t>
            </a:r>
            <a:r>
              <a:rPr lang="en-US" altLang="zh-CN" dirty="0">
                <a:solidFill>
                  <a:schemeClr val="tx1"/>
                </a:solidFill>
              </a:rPr>
              <a:t>A</a:t>
            </a:r>
            <a:r>
              <a:rPr lang="zh-CN" altLang="en-US" dirty="0">
                <a:solidFill>
                  <a:schemeClr val="tx1"/>
                </a:solidFill>
              </a:rPr>
              <a:t>＝</a:t>
            </a:r>
            <a:r>
              <a:rPr lang="en-US" altLang="zh-CN" dirty="0">
                <a:solidFill>
                  <a:schemeClr val="tx1"/>
                </a:solidFill>
              </a:rPr>
              <a:t>B=&lt;a</a:t>
            </a:r>
            <a:r>
              <a:rPr lang="en-US" altLang="zh-CN" baseline="-25000" dirty="0">
                <a:solidFill>
                  <a:schemeClr val="tx1"/>
                </a:solidFill>
              </a:rPr>
              <a:t>1</a:t>
            </a:r>
            <a:r>
              <a:rPr lang="en-US" altLang="zh-CN" dirty="0">
                <a:solidFill>
                  <a:schemeClr val="tx1"/>
                </a:solidFill>
              </a:rPr>
              <a:t>,a</a:t>
            </a:r>
            <a:r>
              <a:rPr lang="en-US" altLang="zh-CN" baseline="-25000" dirty="0">
                <a:solidFill>
                  <a:schemeClr val="tx1"/>
                </a:solidFill>
              </a:rPr>
              <a:t>2</a:t>
            </a:r>
            <a:r>
              <a:rPr lang="en-US" altLang="zh-CN" dirty="0">
                <a:solidFill>
                  <a:schemeClr val="tx1"/>
                </a:solidFill>
              </a:rPr>
              <a:t>,…,a</a:t>
            </a:r>
            <a:r>
              <a:rPr lang="en-US" altLang="zh-CN" baseline="-25000" dirty="0">
                <a:solidFill>
                  <a:schemeClr val="tx1"/>
                </a:solidFill>
              </a:rPr>
              <a:t>n</a:t>
            </a:r>
            <a:r>
              <a:rPr lang="en-US" altLang="zh-CN" dirty="0">
                <a:solidFill>
                  <a:schemeClr val="tx1"/>
                </a:solidFill>
              </a:rPr>
              <a:t>&gt;</a:t>
            </a:r>
            <a:r>
              <a:rPr lang="zh-CN" altLang="en-US" dirty="0">
                <a:solidFill>
                  <a:schemeClr val="tx1"/>
                </a:solidFill>
              </a:rPr>
              <a:t>，</a:t>
            </a:r>
            <a:r>
              <a:rPr lang="en-US" altLang="zh-CN" dirty="0">
                <a:solidFill>
                  <a:schemeClr val="tx1"/>
                </a:solidFill>
              </a:rPr>
              <a:t>R</a:t>
            </a:r>
            <a:r>
              <a:rPr lang="zh-CN" altLang="en-US" dirty="0">
                <a:solidFill>
                  <a:schemeClr val="tx1"/>
                </a:solidFill>
              </a:rPr>
              <a:t>是</a:t>
            </a:r>
            <a:r>
              <a:rPr lang="en-US" altLang="zh-CN" dirty="0">
                <a:solidFill>
                  <a:schemeClr val="tx1"/>
                </a:solidFill>
              </a:rPr>
              <a:t>A</a:t>
            </a:r>
            <a:r>
              <a:rPr lang="zh-CN" altLang="en-US" dirty="0">
                <a:solidFill>
                  <a:schemeClr val="tx1"/>
                </a:solidFill>
              </a:rPr>
              <a:t>上的一个关系，则</a:t>
            </a:r>
            <a:r>
              <a:rPr lang="en-US" altLang="zh-CN" dirty="0">
                <a:solidFill>
                  <a:schemeClr val="tx1"/>
                </a:solidFill>
              </a:rPr>
              <a:t>R</a:t>
            </a:r>
            <a:r>
              <a:rPr lang="zh-CN" altLang="en-US" dirty="0">
                <a:solidFill>
                  <a:schemeClr val="tx1"/>
                </a:solidFill>
              </a:rPr>
              <a:t>的关系图画法规定如下：</a:t>
            </a:r>
            <a:endParaRPr lang="zh-CN" altLang="en-US" dirty="0">
              <a:solidFill>
                <a:schemeClr val="tx1"/>
              </a:solidFill>
            </a:endParaRPr>
          </a:p>
          <a:p>
            <a:pPr marL="0" indent="0">
              <a:lnSpc>
                <a:spcPct val="150000"/>
              </a:lnSpc>
              <a:buNone/>
            </a:pPr>
            <a:r>
              <a:rPr lang="zh-CN" altLang="en-US" dirty="0">
                <a:solidFill>
                  <a:schemeClr val="tx1"/>
                </a:solidFill>
              </a:rPr>
              <a:t>①</a:t>
            </a:r>
            <a:r>
              <a:rPr lang="en-US" altLang="zh-CN" dirty="0">
                <a:solidFill>
                  <a:schemeClr val="tx1"/>
                </a:solidFill>
              </a:rPr>
              <a:t> </a:t>
            </a:r>
            <a:r>
              <a:rPr lang="zh-CN" altLang="en-US" dirty="0">
                <a:solidFill>
                  <a:schemeClr val="tx1"/>
                </a:solidFill>
              </a:rPr>
              <a:t>设</a:t>
            </a:r>
            <a:r>
              <a:rPr lang="en-US" altLang="zh-CN" dirty="0">
                <a:solidFill>
                  <a:schemeClr val="tx1"/>
                </a:solidFill>
              </a:rPr>
              <a:t>a</a:t>
            </a:r>
            <a:r>
              <a:rPr lang="en-US" altLang="zh-CN" baseline="-25000" dirty="0">
                <a:solidFill>
                  <a:schemeClr val="tx1"/>
                </a:solidFill>
              </a:rPr>
              <a:t>1</a:t>
            </a:r>
            <a:r>
              <a:rPr lang="en-US" altLang="zh-CN" dirty="0">
                <a:solidFill>
                  <a:schemeClr val="tx1"/>
                </a:solidFill>
              </a:rPr>
              <a:t>,a</a:t>
            </a:r>
            <a:r>
              <a:rPr lang="en-US" altLang="zh-CN" baseline="-25000" dirty="0">
                <a:solidFill>
                  <a:schemeClr val="tx1"/>
                </a:solidFill>
              </a:rPr>
              <a:t>2</a:t>
            </a:r>
            <a:r>
              <a:rPr lang="en-US" altLang="zh-CN" dirty="0">
                <a:solidFill>
                  <a:schemeClr val="tx1"/>
                </a:solidFill>
              </a:rPr>
              <a:t>,…,a</a:t>
            </a:r>
            <a:r>
              <a:rPr lang="en-US" altLang="zh-CN" baseline="-25000" dirty="0">
                <a:solidFill>
                  <a:schemeClr val="tx1"/>
                </a:solidFill>
              </a:rPr>
              <a:t>n</a:t>
            </a:r>
            <a:r>
              <a:rPr lang="zh-CN" altLang="en-US" dirty="0">
                <a:solidFill>
                  <a:schemeClr val="tx1"/>
                </a:solidFill>
              </a:rPr>
              <a:t>为图中顶点，用“。</a:t>
            </a:r>
            <a:r>
              <a:rPr lang="zh-CN" altLang="en-US" noProof="1">
                <a:solidFill>
                  <a:schemeClr val="tx1"/>
                </a:solidFill>
              </a:rPr>
              <a:t>”表</a:t>
            </a:r>
            <a:r>
              <a:rPr lang="zh-CN" altLang="en-US" dirty="0">
                <a:solidFill>
                  <a:schemeClr val="tx1"/>
                </a:solidFill>
              </a:rPr>
              <a:t>示。</a:t>
            </a:r>
            <a:endParaRPr lang="zh-CN" altLang="en-US" dirty="0">
              <a:solidFill>
                <a:schemeClr val="tx1"/>
              </a:solidFill>
            </a:endParaRPr>
          </a:p>
          <a:p>
            <a:pPr marL="0" indent="0">
              <a:lnSpc>
                <a:spcPct val="150000"/>
              </a:lnSpc>
              <a:buNone/>
            </a:pPr>
            <a:r>
              <a:rPr lang="zh-CN" altLang="en-US" noProof="1">
                <a:solidFill>
                  <a:schemeClr val="tx1"/>
                </a:solidFill>
              </a:rPr>
              <a:t>② 如果&lt;</a:t>
            </a:r>
            <a:r>
              <a:rPr lang="en-US" altLang="zh-CN" noProof="1">
                <a:solidFill>
                  <a:schemeClr val="tx1"/>
                </a:solidFill>
              </a:rPr>
              <a:t>a</a:t>
            </a:r>
            <a:r>
              <a:rPr lang="en-US" altLang="zh-CN" baseline="-25000" dirty="0" err="1">
                <a:solidFill>
                  <a:schemeClr val="tx1"/>
                </a:solidFill>
              </a:rPr>
              <a:t>i</a:t>
            </a:r>
            <a:r>
              <a:rPr lang="en-US" altLang="zh-CN" dirty="0" err="1">
                <a:solidFill>
                  <a:schemeClr val="tx1"/>
                </a:solidFill>
              </a:rPr>
              <a:t>,a</a:t>
            </a:r>
            <a:r>
              <a:rPr lang="en-US" altLang="zh-CN" baseline="-25000" dirty="0" err="1">
                <a:solidFill>
                  <a:schemeClr val="tx1"/>
                </a:solidFill>
              </a:rPr>
              <a:t>j</a:t>
            </a:r>
            <a:r>
              <a:rPr lang="en-US" altLang="zh-CN" dirty="0">
                <a:solidFill>
                  <a:schemeClr val="tx1"/>
                </a:solidFill>
              </a:rPr>
              <a:t>&gt;</a:t>
            </a:r>
            <a:r>
              <a:rPr lang="en-US" altLang="zh-CN" noProof="1">
                <a:solidFill>
                  <a:schemeClr val="tx1"/>
                </a:solidFill>
                <a:sym typeface="Symbol" panose="05050102010706020507" pitchFamily="18" charset="2"/>
              </a:rPr>
              <a:t></a:t>
            </a:r>
            <a:r>
              <a:rPr lang="en-US" altLang="zh-CN" noProof="1">
                <a:solidFill>
                  <a:schemeClr val="tx1"/>
                </a:solidFill>
              </a:rPr>
              <a:t>R</a:t>
            </a:r>
            <a:r>
              <a:rPr lang="zh-CN" altLang="zh-CN" dirty="0">
                <a:solidFill>
                  <a:schemeClr val="tx1"/>
                </a:solidFill>
              </a:rPr>
              <a:t>，</a:t>
            </a:r>
            <a:r>
              <a:rPr lang="zh-CN" altLang="en-US" dirty="0">
                <a:solidFill>
                  <a:schemeClr val="tx1"/>
                </a:solidFill>
              </a:rPr>
              <a:t>则从</a:t>
            </a:r>
            <a:r>
              <a:rPr lang="en-US" altLang="zh-CN" noProof="1">
                <a:solidFill>
                  <a:schemeClr val="tx1"/>
                </a:solidFill>
              </a:rPr>
              <a:t>a</a:t>
            </a:r>
            <a:r>
              <a:rPr lang="en-US" altLang="zh-CN" baseline="-25000" dirty="0" err="1">
                <a:solidFill>
                  <a:schemeClr val="tx1"/>
                </a:solidFill>
              </a:rPr>
              <a:t>i</a:t>
            </a:r>
            <a:r>
              <a:rPr lang="zh-CN" altLang="en-US" dirty="0">
                <a:solidFill>
                  <a:schemeClr val="tx1"/>
                </a:solidFill>
              </a:rPr>
              <a:t>到</a:t>
            </a:r>
            <a:r>
              <a:rPr lang="en-US" altLang="zh-CN" dirty="0" err="1">
                <a:solidFill>
                  <a:schemeClr val="tx1"/>
                </a:solidFill>
              </a:rPr>
              <a:t>a</a:t>
            </a:r>
            <a:r>
              <a:rPr lang="en-US" altLang="zh-CN" baseline="-25000" dirty="0" err="1">
                <a:solidFill>
                  <a:schemeClr val="tx1"/>
                </a:solidFill>
              </a:rPr>
              <a:t>j</a:t>
            </a:r>
            <a:r>
              <a:rPr lang="zh-CN" altLang="en-US" dirty="0">
                <a:solidFill>
                  <a:schemeClr val="tx1"/>
                </a:solidFill>
              </a:rPr>
              <a:t>可用</a:t>
            </a:r>
            <a:r>
              <a:rPr lang="zh-CN" altLang="zh-CN" dirty="0"/>
              <a:t>一条</a:t>
            </a:r>
            <a:r>
              <a:rPr lang="en-US" altLang="zh-CN" dirty="0" err="1">
                <a:solidFill>
                  <a:schemeClr val="tx1"/>
                </a:solidFill>
              </a:rPr>
              <a:t>a</a:t>
            </a:r>
            <a:r>
              <a:rPr lang="en-US" altLang="zh-CN" baseline="-25000" dirty="0" err="1">
                <a:solidFill>
                  <a:schemeClr val="tx1"/>
                </a:solidFill>
              </a:rPr>
              <a:t>i</a:t>
            </a:r>
            <a:r>
              <a:rPr lang="zh-CN" altLang="en-US" dirty="0">
                <a:solidFill>
                  <a:schemeClr val="tx1"/>
                </a:solidFill>
              </a:rPr>
              <a:t>。   。</a:t>
            </a:r>
            <a:r>
              <a:rPr lang="en-US" altLang="zh-CN" dirty="0" err="1">
                <a:solidFill>
                  <a:schemeClr val="tx1"/>
                </a:solidFill>
              </a:rPr>
              <a:t>a</a:t>
            </a:r>
            <a:r>
              <a:rPr lang="en-US" altLang="zh-CN" baseline="-25000" dirty="0" err="1">
                <a:solidFill>
                  <a:schemeClr val="tx1"/>
                </a:solidFill>
              </a:rPr>
              <a:t>j</a:t>
            </a:r>
            <a:r>
              <a:rPr lang="zh-CN" altLang="en-US" dirty="0">
                <a:solidFill>
                  <a:schemeClr val="tx1"/>
                </a:solidFill>
              </a:rPr>
              <a:t>的有向边相连。</a:t>
            </a:r>
            <a:endParaRPr lang="zh-CN" altLang="en-US" dirty="0">
              <a:solidFill>
                <a:schemeClr val="tx1"/>
              </a:solidFill>
            </a:endParaRPr>
          </a:p>
          <a:p>
            <a:pPr marL="0" indent="0">
              <a:lnSpc>
                <a:spcPct val="150000"/>
              </a:lnSpc>
              <a:buNone/>
            </a:pPr>
            <a:r>
              <a:rPr lang="zh-CN" altLang="en-US" dirty="0">
                <a:solidFill>
                  <a:schemeClr val="tx1"/>
                </a:solidFill>
              </a:rPr>
              <a:t>③</a:t>
            </a:r>
            <a:r>
              <a:rPr lang="en-US" altLang="zh-CN" dirty="0">
                <a:solidFill>
                  <a:schemeClr val="tx1"/>
                </a:solidFill>
              </a:rPr>
              <a:t> </a:t>
            </a:r>
            <a:r>
              <a:rPr lang="zh-CN" altLang="en-US" dirty="0">
                <a:solidFill>
                  <a:schemeClr val="tx1"/>
                </a:solidFill>
              </a:rPr>
              <a:t>如果</a:t>
            </a:r>
            <a:r>
              <a:rPr lang="en-US" altLang="zh-CN" dirty="0">
                <a:solidFill>
                  <a:schemeClr val="tx1"/>
                </a:solidFill>
              </a:rPr>
              <a:t>&lt;</a:t>
            </a:r>
            <a:r>
              <a:rPr lang="en-US" altLang="zh-CN" dirty="0" err="1">
                <a:solidFill>
                  <a:schemeClr val="tx1"/>
                </a:solidFill>
              </a:rPr>
              <a:t>a</a:t>
            </a:r>
            <a:r>
              <a:rPr lang="en-US" altLang="zh-CN" baseline="-25000" dirty="0" err="1">
                <a:solidFill>
                  <a:schemeClr val="tx1"/>
                </a:solidFill>
              </a:rPr>
              <a:t>i</a:t>
            </a:r>
            <a:r>
              <a:rPr lang="en-US" altLang="zh-CN" dirty="0" err="1">
                <a:solidFill>
                  <a:schemeClr val="tx1"/>
                </a:solidFill>
              </a:rPr>
              <a:t>,a</a:t>
            </a:r>
            <a:r>
              <a:rPr lang="en-US" altLang="zh-CN" baseline="-25000" dirty="0" err="1">
                <a:solidFill>
                  <a:schemeClr val="tx1"/>
                </a:solidFill>
              </a:rPr>
              <a:t>i</a:t>
            </a:r>
            <a:r>
              <a:rPr lang="en-US" altLang="zh-CN" dirty="0">
                <a:solidFill>
                  <a:schemeClr val="tx1"/>
                </a:solidFill>
              </a:rPr>
              <a:t>&gt;</a:t>
            </a:r>
            <a:r>
              <a:rPr lang="en-US" altLang="zh-CN" noProof="1">
                <a:solidFill>
                  <a:schemeClr val="tx1"/>
                </a:solidFill>
                <a:sym typeface="Symbol" panose="05050102010706020507" pitchFamily="18" charset="2"/>
              </a:rPr>
              <a:t></a:t>
            </a:r>
            <a:r>
              <a:rPr lang="en-US" altLang="zh-CN" noProof="1">
                <a:solidFill>
                  <a:schemeClr val="tx1"/>
                </a:solidFill>
              </a:rPr>
              <a:t>R</a:t>
            </a:r>
            <a:r>
              <a:rPr lang="zh-CN" altLang="en-US" noProof="1">
                <a:solidFill>
                  <a:schemeClr val="tx1"/>
                </a:solidFill>
              </a:rPr>
              <a:t>，则</a:t>
            </a:r>
            <a:r>
              <a:rPr lang="en-US" altLang="zh-CN" noProof="1">
                <a:solidFill>
                  <a:schemeClr val="tx1"/>
                </a:solidFill>
              </a:rPr>
              <a:t>a</a:t>
            </a:r>
            <a:r>
              <a:rPr lang="en-US" altLang="zh-CN" baseline="-25000" dirty="0" err="1">
                <a:solidFill>
                  <a:schemeClr val="tx1"/>
                </a:solidFill>
              </a:rPr>
              <a:t>i</a:t>
            </a:r>
            <a:r>
              <a:rPr lang="zh-CN" altLang="en-US" dirty="0">
                <a:solidFill>
                  <a:schemeClr val="tx1"/>
                </a:solidFill>
              </a:rPr>
              <a:t>到</a:t>
            </a:r>
            <a:r>
              <a:rPr lang="en-US" altLang="zh-CN" dirty="0" err="1">
                <a:solidFill>
                  <a:schemeClr val="tx1"/>
                </a:solidFill>
              </a:rPr>
              <a:t>a</a:t>
            </a:r>
            <a:r>
              <a:rPr lang="en-US" altLang="zh-CN" baseline="-25000" dirty="0" err="1">
                <a:solidFill>
                  <a:schemeClr val="tx1"/>
                </a:solidFill>
              </a:rPr>
              <a:t>i</a:t>
            </a:r>
            <a:r>
              <a:rPr lang="zh-CN" altLang="en-US" dirty="0">
                <a:solidFill>
                  <a:schemeClr val="tx1"/>
                </a:solidFill>
              </a:rPr>
              <a:t>用一个带箭头的小圆圈表示，即：</a:t>
            </a:r>
            <a:r>
              <a:rPr lang="en-US" altLang="zh-CN" dirty="0" err="1">
                <a:solidFill>
                  <a:schemeClr val="tx1"/>
                </a:solidFill>
              </a:rPr>
              <a:t>a</a:t>
            </a:r>
            <a:r>
              <a:rPr lang="en-US" altLang="zh-CN" baseline="-25000" dirty="0" err="1">
                <a:solidFill>
                  <a:schemeClr val="tx1"/>
                </a:solidFill>
              </a:rPr>
              <a:t>i</a:t>
            </a:r>
            <a:endParaRPr lang="en-US" altLang="zh-CN" dirty="0">
              <a:solidFill>
                <a:schemeClr val="tx1"/>
              </a:solidFill>
            </a:endParaRPr>
          </a:p>
        </p:txBody>
      </p:sp>
      <p:sp>
        <p:nvSpPr>
          <p:cNvPr id="70660" name="Rectangle 4"/>
          <p:cNvSpPr>
            <a:spLocks noGrp="1" noChangeArrowheads="1"/>
          </p:cNvSpPr>
          <p:nvPr>
            <p:ph type="title"/>
          </p:nvPr>
        </p:nvSpPr>
        <p:spPr/>
        <p:txBody>
          <a:bodyPr/>
          <a:lstStyle/>
          <a:p>
            <a:r>
              <a:rPr lang="zh-CN" altLang="en-US" noProof="1"/>
              <a:t>关系图表示法</a:t>
            </a:r>
            <a:r>
              <a:rPr lang="zh-CN" altLang="zh-CN" noProof="1"/>
              <a:t>（</a:t>
            </a:r>
            <a:r>
              <a:rPr lang="zh-CN" altLang="zh-CN" dirty="0"/>
              <a:t>续）</a:t>
            </a:r>
            <a:endParaRPr lang="zh-CN" altLang="en-US" dirty="0"/>
          </a:p>
        </p:txBody>
      </p:sp>
      <p:sp>
        <p:nvSpPr>
          <p:cNvPr id="1409029" name="Freeform 5"/>
          <p:cNvSpPr/>
          <p:nvPr/>
        </p:nvSpPr>
        <p:spPr bwMode="auto">
          <a:xfrm>
            <a:off x="6370725" y="3370219"/>
            <a:ext cx="432000" cy="0"/>
          </a:xfrm>
          <a:custGeom>
            <a:avLst/>
            <a:gdLst>
              <a:gd name="T0" fmla="*/ 0 w 288"/>
              <a:gd name="T1" fmla="*/ 2147483646 h 9"/>
              <a:gd name="T2" fmla="*/ 2147483646 w 288"/>
              <a:gd name="T3" fmla="*/ 0 h 9"/>
              <a:gd name="T4" fmla="*/ 0 60000 65536"/>
              <a:gd name="T5" fmla="*/ 0 60000 65536"/>
              <a:gd name="T6" fmla="*/ 0 w 288"/>
              <a:gd name="T7" fmla="*/ 0 h 9"/>
              <a:gd name="T8" fmla="*/ 288 w 288"/>
              <a:gd name="T9" fmla="*/ 9 h 9"/>
            </a:gdLst>
            <a:ahLst/>
            <a:cxnLst>
              <a:cxn ang="T4">
                <a:pos x="T0" y="T1"/>
              </a:cxn>
              <a:cxn ang="T5">
                <a:pos x="T2" y="T3"/>
              </a:cxn>
            </a:cxnLst>
            <a:rect l="T6" t="T7" r="T8" b="T9"/>
            <a:pathLst>
              <a:path w="288" h="9">
                <a:moveTo>
                  <a:pt x="0" y="9"/>
                </a:moveTo>
                <a:lnTo>
                  <a:pt x="288" y="0"/>
                </a:lnTo>
              </a:path>
            </a:pathLst>
          </a:custGeom>
          <a:noFill/>
          <a:ln w="41275">
            <a:solidFill>
              <a:srgbClr val="3333FF"/>
            </a:solidFill>
            <a:round/>
            <a:tailEnd type="triangle" w="med" len="med"/>
          </a:ln>
          <a:extLst>
            <a:ext uri="{909E8E84-426E-40DD-AFC4-6F175D3DCCD1}">
              <a14:hiddenFill xmlns:a14="http://schemas.microsoft.com/office/drawing/2010/main">
                <a:solidFill>
                  <a:srgbClr val="FFFFFF"/>
                </a:solidFill>
              </a14:hiddenFill>
            </a:ext>
          </a:extLst>
        </p:spPr>
        <p:txBody>
          <a:bodyPr wrap="square" lIns="36008" tIns="36008" rIns="36008" bIns="36008">
            <a:spAutoFit/>
          </a:bodyPr>
          <a:lstStyle/>
          <a:p>
            <a:endParaRPr lang="zh-CN" altLang="en-US"/>
          </a:p>
        </p:txBody>
      </p:sp>
      <p:grpSp>
        <p:nvGrpSpPr>
          <p:cNvPr id="2" name="Group 11"/>
          <p:cNvGrpSpPr/>
          <p:nvPr/>
        </p:nvGrpSpPr>
        <p:grpSpPr bwMode="auto">
          <a:xfrm>
            <a:off x="9216451" y="3567030"/>
            <a:ext cx="846287" cy="707203"/>
            <a:chOff x="3142" y="3755"/>
            <a:chExt cx="245" cy="558"/>
          </a:xfrm>
        </p:grpSpPr>
        <p:sp>
          <p:nvSpPr>
            <p:cNvPr id="70663" name="Oval 7"/>
            <p:cNvSpPr>
              <a:spLocks noChangeArrowheads="1"/>
            </p:cNvSpPr>
            <p:nvPr/>
          </p:nvSpPr>
          <p:spPr bwMode="auto">
            <a:xfrm flipH="1">
              <a:off x="3142" y="3990"/>
              <a:ext cx="53" cy="113"/>
            </a:xfrm>
            <a:prstGeom prst="ellipse">
              <a:avLst/>
            </a:prstGeom>
            <a:solidFill>
              <a:schemeClr val="bg1"/>
            </a:solidFill>
            <a:ln w="25400">
              <a:solidFill>
                <a:srgbClr val="FF0000"/>
              </a:solidFill>
              <a:round/>
            </a:ln>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70664" name="Arc 10"/>
            <p:cNvSpPr/>
            <p:nvPr/>
          </p:nvSpPr>
          <p:spPr bwMode="auto">
            <a:xfrm flipV="1">
              <a:off x="3160" y="3755"/>
              <a:ext cx="227" cy="558"/>
            </a:xfrm>
            <a:custGeom>
              <a:avLst/>
              <a:gdLst>
                <a:gd name="T0" fmla="*/ 0 w 42769"/>
                <a:gd name="T1" fmla="*/ 0 h 43200"/>
                <a:gd name="T2" fmla="*/ 0 w 42769"/>
                <a:gd name="T3" fmla="*/ 0 h 43200"/>
                <a:gd name="T4" fmla="*/ 0 w 42769"/>
                <a:gd name="T5" fmla="*/ 0 h 43200"/>
                <a:gd name="T6" fmla="*/ 0 60000 65536"/>
                <a:gd name="T7" fmla="*/ 0 60000 65536"/>
                <a:gd name="T8" fmla="*/ 0 60000 65536"/>
                <a:gd name="T9" fmla="*/ 0 w 42769"/>
                <a:gd name="T10" fmla="*/ 0 h 43200"/>
                <a:gd name="T11" fmla="*/ 42769 w 42769"/>
                <a:gd name="T12" fmla="*/ 43200 h 43200"/>
              </a:gdLst>
              <a:ahLst/>
              <a:cxnLst>
                <a:cxn ang="T6">
                  <a:pos x="T0" y="T1"/>
                </a:cxn>
                <a:cxn ang="T7">
                  <a:pos x="T2" y="T3"/>
                </a:cxn>
                <a:cxn ang="T8">
                  <a:pos x="T4" y="T5"/>
                </a:cxn>
              </a:cxnLst>
              <a:rect l="T9" t="T10" r="T11" b="T12"/>
              <a:pathLst>
                <a:path w="42769" h="43200" fill="none" extrusionOk="0">
                  <a:moveTo>
                    <a:pt x="1250" y="13245"/>
                  </a:moveTo>
                  <a:cubicBezTo>
                    <a:pt x="4615" y="5221"/>
                    <a:pt x="12467" y="-1"/>
                    <a:pt x="21169" y="0"/>
                  </a:cubicBezTo>
                  <a:cubicBezTo>
                    <a:pt x="33098" y="0"/>
                    <a:pt x="42769" y="9670"/>
                    <a:pt x="42769" y="21600"/>
                  </a:cubicBezTo>
                  <a:cubicBezTo>
                    <a:pt x="42769" y="33529"/>
                    <a:pt x="33098" y="43200"/>
                    <a:pt x="21169" y="43200"/>
                  </a:cubicBezTo>
                  <a:cubicBezTo>
                    <a:pt x="10894" y="43200"/>
                    <a:pt x="2041" y="35962"/>
                    <a:pt x="-1" y="25893"/>
                  </a:cubicBezTo>
                </a:path>
                <a:path w="42769" h="43200" stroke="0" extrusionOk="0">
                  <a:moveTo>
                    <a:pt x="1250" y="13245"/>
                  </a:moveTo>
                  <a:cubicBezTo>
                    <a:pt x="4615" y="5221"/>
                    <a:pt x="12467" y="-1"/>
                    <a:pt x="21169" y="0"/>
                  </a:cubicBezTo>
                  <a:cubicBezTo>
                    <a:pt x="33098" y="0"/>
                    <a:pt x="42769" y="9670"/>
                    <a:pt x="42769" y="21600"/>
                  </a:cubicBezTo>
                  <a:cubicBezTo>
                    <a:pt x="42769" y="33529"/>
                    <a:pt x="33098" y="43200"/>
                    <a:pt x="21169" y="43200"/>
                  </a:cubicBezTo>
                  <a:cubicBezTo>
                    <a:pt x="10894" y="43200"/>
                    <a:pt x="2041" y="35962"/>
                    <a:pt x="-1" y="25893"/>
                  </a:cubicBezTo>
                  <a:lnTo>
                    <a:pt x="21169" y="21600"/>
                  </a:lnTo>
                  <a:lnTo>
                    <a:pt x="1250" y="13245"/>
                  </a:lnTo>
                  <a:close/>
                </a:path>
              </a:pathLst>
            </a:custGeom>
            <a:noFill/>
            <a:ln w="25400">
              <a:solidFill>
                <a:srgbClr val="FF0000"/>
              </a:solidFill>
              <a:rou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ustDataLst>
      <p:tags r:id="rId1"/>
    </p:custData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09026">
                                            <p:txEl>
                                              <p:pRg st="1" end="1"/>
                                            </p:txEl>
                                          </p:spTgt>
                                        </p:tgtEl>
                                        <p:attrNameLst>
                                          <p:attrName>style.visibility</p:attrName>
                                        </p:attrNameLst>
                                      </p:cBhvr>
                                      <p:to>
                                        <p:strVal val="visible"/>
                                      </p:to>
                                    </p:set>
                                    <p:anim calcmode="lin" valueType="num">
                                      <p:cBhvr additive="base">
                                        <p:cTn id="7" dur="500" fill="hold"/>
                                        <p:tgtEl>
                                          <p:spTgt spid="140902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90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09026">
                                            <p:txEl>
                                              <p:pRg st="2" end="2"/>
                                            </p:txEl>
                                          </p:spTgt>
                                        </p:tgtEl>
                                        <p:attrNameLst>
                                          <p:attrName>style.visibility</p:attrName>
                                        </p:attrNameLst>
                                      </p:cBhvr>
                                      <p:to>
                                        <p:strVal val="visible"/>
                                      </p:to>
                                    </p:set>
                                    <p:anim calcmode="lin" valueType="num">
                                      <p:cBhvr additive="base">
                                        <p:cTn id="13" dur="500" fill="hold"/>
                                        <p:tgtEl>
                                          <p:spTgt spid="1409026">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090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09026">
                                            <p:txEl>
                                              <p:pRg st="3" end="3"/>
                                            </p:txEl>
                                          </p:spTgt>
                                        </p:tgtEl>
                                        <p:attrNameLst>
                                          <p:attrName>style.visibility</p:attrName>
                                        </p:attrNameLst>
                                      </p:cBhvr>
                                      <p:to>
                                        <p:strVal val="visible"/>
                                      </p:to>
                                    </p:set>
                                    <p:anim calcmode="lin" valueType="num">
                                      <p:cBhvr additive="base">
                                        <p:cTn id="19" dur="500" fill="hold"/>
                                        <p:tgtEl>
                                          <p:spTgt spid="1409026">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09026">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409029"/>
                                        </p:tgtEl>
                                        <p:attrNameLst>
                                          <p:attrName>style.visibility</p:attrName>
                                        </p:attrNameLst>
                                      </p:cBhvr>
                                      <p:to>
                                        <p:strVal val="visible"/>
                                      </p:to>
                                    </p:set>
                                    <p:anim calcmode="lin" valueType="num">
                                      <p:cBhvr additive="base">
                                        <p:cTn id="23" dur="500" fill="hold"/>
                                        <p:tgtEl>
                                          <p:spTgt spid="1409029"/>
                                        </p:tgtEl>
                                        <p:attrNameLst>
                                          <p:attrName>ppt_x</p:attrName>
                                        </p:attrNameLst>
                                      </p:cBhvr>
                                      <p:tavLst>
                                        <p:tav tm="0">
                                          <p:val>
                                            <p:strVal val="0-#ppt_w/2"/>
                                          </p:val>
                                        </p:tav>
                                        <p:tav tm="100000">
                                          <p:val>
                                            <p:strVal val="#ppt_x"/>
                                          </p:val>
                                        </p:tav>
                                      </p:tavLst>
                                    </p:anim>
                                    <p:anim calcmode="lin" valueType="num">
                                      <p:cBhvr additive="base">
                                        <p:cTn id="24" dur="500" fill="hold"/>
                                        <p:tgtEl>
                                          <p:spTgt spid="140902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409026">
                                            <p:txEl>
                                              <p:pRg st="4" end="4"/>
                                            </p:txEl>
                                          </p:spTgt>
                                        </p:tgtEl>
                                        <p:attrNameLst>
                                          <p:attrName>style.visibility</p:attrName>
                                        </p:attrNameLst>
                                      </p:cBhvr>
                                      <p:to>
                                        <p:strVal val="visible"/>
                                      </p:to>
                                    </p:set>
                                    <p:anim calcmode="lin" valueType="num">
                                      <p:cBhvr additive="base">
                                        <p:cTn id="29" dur="500" fill="hold"/>
                                        <p:tgtEl>
                                          <p:spTgt spid="1409026">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409026">
                                            <p:txEl>
                                              <p:pRg st="4" end="4"/>
                                            </p:txEl>
                                          </p:spTgt>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9026" grpId="0" autoUpdateAnimBg="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4931" name="Rectangle 3"/>
          <p:cNvSpPr>
            <a:spLocks noGrp="1" noChangeArrowheads="1"/>
          </p:cNvSpPr>
          <p:nvPr>
            <p:ph type="body" idx="1"/>
          </p:nvPr>
        </p:nvSpPr>
        <p:spPr>
          <a:xfrm>
            <a:off x="536576" y="4513576"/>
            <a:ext cx="1752599" cy="2082814"/>
          </a:xfrm>
        </p:spPr>
        <p:txBody>
          <a:bodyPr>
            <a:normAutofit/>
          </a:bodyPr>
          <a:lstStyle/>
          <a:p>
            <a:pPr marL="0" indent="0">
              <a:spcBef>
                <a:spcPct val="15000"/>
              </a:spcBef>
              <a:buNone/>
            </a:pPr>
            <a:r>
              <a:rPr lang="zh-CN" altLang="en-US" dirty="0">
                <a:solidFill>
                  <a:srgbClr val="C00000"/>
                </a:solidFill>
              </a:rPr>
              <a:t>解</a:t>
            </a:r>
            <a:r>
              <a:rPr lang="zh-CN" altLang="en-US" dirty="0">
                <a:solidFill>
                  <a:schemeClr val="tx1"/>
                </a:solidFill>
              </a:rPr>
              <a:t>  关系</a:t>
            </a:r>
            <a:r>
              <a:rPr lang="en-US" altLang="zh-CN" dirty="0">
                <a:solidFill>
                  <a:schemeClr val="tx1"/>
                </a:solidFill>
              </a:rPr>
              <a:t>R</a:t>
            </a:r>
            <a:r>
              <a:rPr lang="zh-CN" altLang="en-US" dirty="0">
                <a:solidFill>
                  <a:schemeClr val="tx1"/>
                </a:solidFill>
              </a:rPr>
              <a:t>和</a:t>
            </a:r>
            <a:r>
              <a:rPr lang="en-US" altLang="zh-CN" dirty="0">
                <a:solidFill>
                  <a:schemeClr val="tx1"/>
                </a:solidFill>
              </a:rPr>
              <a:t>S</a:t>
            </a:r>
            <a:r>
              <a:rPr lang="zh-CN" altLang="en-US" dirty="0">
                <a:solidFill>
                  <a:schemeClr val="tx1"/>
                </a:solidFill>
              </a:rPr>
              <a:t>的关系图如右图所示。</a:t>
            </a:r>
            <a:endParaRPr lang="en-US" altLang="zh-CN" dirty="0">
              <a:solidFill>
                <a:schemeClr val="tx1"/>
              </a:solidFill>
            </a:endParaRPr>
          </a:p>
        </p:txBody>
      </p:sp>
      <p:sp>
        <p:nvSpPr>
          <p:cNvPr id="5" name="Text Box 25"/>
          <p:cNvSpPr txBox="1">
            <a:spLocks noChangeArrowheads="1"/>
          </p:cNvSpPr>
          <p:nvPr/>
        </p:nvSpPr>
        <p:spPr bwMode="auto">
          <a:xfrm>
            <a:off x="3054930" y="4980736"/>
            <a:ext cx="10003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李华</a:t>
            </a:r>
            <a:endParaRPr lang="en-US" altLang="zh-CN" sz="2400" dirty="0">
              <a:solidFill>
                <a:schemeClr val="tx1"/>
              </a:solidFill>
              <a:latin typeface="+mn-ea"/>
              <a:ea typeface="+mn-ea"/>
            </a:endParaRPr>
          </a:p>
        </p:txBody>
      </p:sp>
      <p:sp>
        <p:nvSpPr>
          <p:cNvPr id="9" name="Text Box 29"/>
          <p:cNvSpPr txBox="1">
            <a:spLocks noChangeArrowheads="1"/>
          </p:cNvSpPr>
          <p:nvPr/>
        </p:nvSpPr>
        <p:spPr bwMode="auto">
          <a:xfrm>
            <a:off x="5965491" y="4836239"/>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王珊</a:t>
            </a:r>
            <a:endParaRPr lang="en-US" altLang="zh-CN" sz="2400" dirty="0">
              <a:solidFill>
                <a:schemeClr val="tx1"/>
              </a:solidFill>
              <a:latin typeface="+mn-ea"/>
              <a:ea typeface="+mn-ea"/>
            </a:endParaRPr>
          </a:p>
        </p:txBody>
      </p:sp>
      <p:grpSp>
        <p:nvGrpSpPr>
          <p:cNvPr id="26" name="组合 25"/>
          <p:cNvGrpSpPr/>
          <p:nvPr/>
        </p:nvGrpSpPr>
        <p:grpSpPr>
          <a:xfrm>
            <a:off x="5749542" y="5340778"/>
            <a:ext cx="1079749" cy="390616"/>
            <a:chOff x="5374155" y="5802606"/>
            <a:chExt cx="1079749" cy="390616"/>
          </a:xfrm>
        </p:grpSpPr>
        <p:sp>
          <p:nvSpPr>
            <p:cNvPr id="7" name="Text Box 27"/>
            <p:cNvSpPr txBox="1">
              <a:spLocks noChangeArrowheads="1"/>
            </p:cNvSpPr>
            <p:nvPr/>
          </p:nvSpPr>
          <p:spPr bwMode="auto">
            <a:xfrm>
              <a:off x="5590104" y="5802606"/>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李想</a:t>
              </a:r>
              <a:endParaRPr lang="en-US" altLang="zh-CN" sz="2400" dirty="0">
                <a:solidFill>
                  <a:schemeClr val="tx1"/>
                </a:solidFill>
                <a:latin typeface="+mn-ea"/>
                <a:ea typeface="+mn-ea"/>
              </a:endParaRPr>
            </a:p>
          </p:txBody>
        </p:sp>
        <p:sp>
          <p:nvSpPr>
            <p:cNvPr id="11" name="Oval 31"/>
            <p:cNvSpPr>
              <a:spLocks noChangeArrowheads="1"/>
            </p:cNvSpPr>
            <p:nvPr/>
          </p:nvSpPr>
          <p:spPr bwMode="auto">
            <a:xfrm>
              <a:off x="5374155" y="6031260"/>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sp>
        <p:nvSpPr>
          <p:cNvPr id="12" name="Oval 32"/>
          <p:cNvSpPr>
            <a:spLocks noChangeArrowheads="1"/>
          </p:cNvSpPr>
          <p:nvPr/>
        </p:nvSpPr>
        <p:spPr bwMode="auto">
          <a:xfrm>
            <a:off x="5749542" y="5085536"/>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nvGrpSpPr>
          <p:cNvPr id="19" name="组合 18"/>
          <p:cNvGrpSpPr/>
          <p:nvPr/>
        </p:nvGrpSpPr>
        <p:grpSpPr>
          <a:xfrm>
            <a:off x="5749542" y="5763680"/>
            <a:ext cx="1367153" cy="461665"/>
            <a:chOff x="5374155" y="6552080"/>
            <a:chExt cx="1367153" cy="461665"/>
          </a:xfrm>
        </p:grpSpPr>
        <p:sp>
          <p:nvSpPr>
            <p:cNvPr id="13" name="Oval 33"/>
            <p:cNvSpPr>
              <a:spLocks noChangeArrowheads="1"/>
            </p:cNvSpPr>
            <p:nvPr/>
          </p:nvSpPr>
          <p:spPr bwMode="auto">
            <a:xfrm>
              <a:off x="5374155" y="6761679"/>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sp>
          <p:nvSpPr>
            <p:cNvPr id="14" name="Text Box 34"/>
            <p:cNvSpPr txBox="1">
              <a:spLocks noChangeArrowheads="1"/>
            </p:cNvSpPr>
            <p:nvPr/>
          </p:nvSpPr>
          <p:spPr bwMode="auto">
            <a:xfrm>
              <a:off x="5558347" y="6552080"/>
              <a:ext cx="1182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r>
                <a:rPr lang="zh-CN" altLang="en-US" sz="2400" dirty="0">
                  <a:solidFill>
                    <a:schemeClr val="tx1"/>
                  </a:solidFill>
                  <a:latin typeface="+mn-ea"/>
                  <a:ea typeface="+mn-ea"/>
                </a:rPr>
                <a:t>王良</a:t>
              </a:r>
              <a:endParaRPr lang="en-US" altLang="zh-CN" sz="2400" dirty="0">
                <a:solidFill>
                  <a:schemeClr val="tx1"/>
                </a:solidFill>
                <a:latin typeface="+mn-ea"/>
                <a:ea typeface="+mn-ea"/>
              </a:endParaRPr>
            </a:p>
          </p:txBody>
        </p:sp>
      </p:grpSp>
      <p:sp>
        <p:nvSpPr>
          <p:cNvPr id="15" name="Freeform 35"/>
          <p:cNvSpPr/>
          <p:nvPr/>
        </p:nvSpPr>
        <p:spPr bwMode="auto">
          <a:xfrm>
            <a:off x="3961602" y="5166517"/>
            <a:ext cx="1797465" cy="497796"/>
          </a:xfrm>
          <a:custGeom>
            <a:avLst/>
            <a:gdLst>
              <a:gd name="T0" fmla="*/ 0 w 877"/>
              <a:gd name="T1" fmla="*/ 0 h 413"/>
              <a:gd name="T2" fmla="*/ 2147483646 w 877"/>
              <a:gd name="T3" fmla="*/ 2147483646 h 413"/>
              <a:gd name="T4" fmla="*/ 0 60000 65536"/>
              <a:gd name="T5" fmla="*/ 0 60000 65536"/>
              <a:gd name="T6" fmla="*/ 0 w 877"/>
              <a:gd name="T7" fmla="*/ 0 h 413"/>
              <a:gd name="T8" fmla="*/ 877 w 877"/>
              <a:gd name="T9" fmla="*/ 413 h 413"/>
            </a:gdLst>
            <a:ahLst/>
            <a:cxnLst>
              <a:cxn ang="T4">
                <a:pos x="T0" y="T1"/>
              </a:cxn>
              <a:cxn ang="T5">
                <a:pos x="T2" y="T3"/>
              </a:cxn>
            </a:cxnLst>
            <a:rect l="T6" t="T7" r="T8" b="T9"/>
            <a:pathLst>
              <a:path w="877" h="413">
                <a:moveTo>
                  <a:pt x="0" y="0"/>
                </a:moveTo>
                <a:lnTo>
                  <a:pt x="877" y="413"/>
                </a:lnTo>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sp>
        <p:nvSpPr>
          <p:cNvPr id="16" name="Freeform 36"/>
          <p:cNvSpPr/>
          <p:nvPr/>
        </p:nvSpPr>
        <p:spPr bwMode="auto">
          <a:xfrm>
            <a:off x="3961603" y="5166517"/>
            <a:ext cx="1760301" cy="1212980"/>
          </a:xfrm>
          <a:custGeom>
            <a:avLst/>
            <a:gdLst>
              <a:gd name="T0" fmla="*/ 0 w 907"/>
              <a:gd name="T1" fmla="*/ 0 h 1263"/>
              <a:gd name="T2" fmla="*/ 2147483646 w 907"/>
              <a:gd name="T3" fmla="*/ 2147483646 h 1263"/>
              <a:gd name="T4" fmla="*/ 0 60000 65536"/>
              <a:gd name="T5" fmla="*/ 0 60000 65536"/>
              <a:gd name="T6" fmla="*/ 0 w 907"/>
              <a:gd name="T7" fmla="*/ 0 h 1263"/>
              <a:gd name="T8" fmla="*/ 907 w 907"/>
              <a:gd name="T9" fmla="*/ 1263 h 1263"/>
            </a:gdLst>
            <a:ahLst/>
            <a:cxnLst>
              <a:cxn ang="T4">
                <a:pos x="T0" y="T1"/>
              </a:cxn>
              <a:cxn ang="T5">
                <a:pos x="T2" y="T3"/>
              </a:cxn>
            </a:cxnLst>
            <a:rect l="T6" t="T7" r="T8" b="T9"/>
            <a:pathLst>
              <a:path w="907" h="1263">
                <a:moveTo>
                  <a:pt x="0" y="0"/>
                </a:moveTo>
                <a:lnTo>
                  <a:pt x="907" y="1263"/>
                </a:lnTo>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sp>
        <p:nvSpPr>
          <p:cNvPr id="17" name="Freeform 37"/>
          <p:cNvSpPr/>
          <p:nvPr/>
        </p:nvSpPr>
        <p:spPr bwMode="auto">
          <a:xfrm>
            <a:off x="3975892" y="5190335"/>
            <a:ext cx="1783175" cy="699545"/>
          </a:xfrm>
          <a:custGeom>
            <a:avLst/>
            <a:gdLst>
              <a:gd name="T0" fmla="*/ 0 w 900"/>
              <a:gd name="T1" fmla="*/ 2147483646 h 660"/>
              <a:gd name="T2" fmla="*/ 2147483646 w 900"/>
              <a:gd name="T3" fmla="*/ 0 h 660"/>
              <a:gd name="T4" fmla="*/ 0 60000 65536"/>
              <a:gd name="T5" fmla="*/ 0 60000 65536"/>
              <a:gd name="T6" fmla="*/ 0 w 900"/>
              <a:gd name="T7" fmla="*/ 0 h 660"/>
              <a:gd name="T8" fmla="*/ 900 w 900"/>
              <a:gd name="T9" fmla="*/ 660 h 660"/>
            </a:gdLst>
            <a:ahLst/>
            <a:cxnLst>
              <a:cxn ang="T4">
                <a:pos x="T0" y="T1"/>
              </a:cxn>
              <a:cxn ang="T5">
                <a:pos x="T2" y="T3"/>
              </a:cxn>
            </a:cxnLst>
            <a:rect l="T6" t="T7" r="T8" b="T9"/>
            <a:pathLst>
              <a:path w="900" h="660">
                <a:moveTo>
                  <a:pt x="0" y="660"/>
                </a:moveTo>
                <a:lnTo>
                  <a:pt x="900" y="0"/>
                </a:lnTo>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sp>
        <p:nvSpPr>
          <p:cNvPr id="18" name="Freeform 38"/>
          <p:cNvSpPr/>
          <p:nvPr/>
        </p:nvSpPr>
        <p:spPr bwMode="auto">
          <a:xfrm>
            <a:off x="4006063" y="5837392"/>
            <a:ext cx="1715842" cy="265374"/>
          </a:xfrm>
          <a:custGeom>
            <a:avLst/>
            <a:gdLst>
              <a:gd name="T0" fmla="*/ 0 w 890"/>
              <a:gd name="T1" fmla="*/ 0 h 600"/>
              <a:gd name="T2" fmla="*/ 2147483646 w 890"/>
              <a:gd name="T3" fmla="*/ 2147483646 h 600"/>
              <a:gd name="T4" fmla="*/ 0 60000 65536"/>
              <a:gd name="T5" fmla="*/ 0 60000 65536"/>
              <a:gd name="T6" fmla="*/ 0 w 890"/>
              <a:gd name="T7" fmla="*/ 0 h 600"/>
              <a:gd name="T8" fmla="*/ 890 w 890"/>
              <a:gd name="T9" fmla="*/ 600 h 600"/>
            </a:gdLst>
            <a:ahLst/>
            <a:cxnLst>
              <a:cxn ang="T4">
                <a:pos x="T0" y="T1"/>
              </a:cxn>
              <a:cxn ang="T5">
                <a:pos x="T2" y="T3"/>
              </a:cxn>
            </a:cxnLst>
            <a:rect l="T6" t="T7" r="T8" b="T9"/>
            <a:pathLst>
              <a:path w="890" h="600">
                <a:moveTo>
                  <a:pt x="0" y="0"/>
                </a:moveTo>
                <a:lnTo>
                  <a:pt x="890" y="600"/>
                </a:lnTo>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ea"/>
            </a:endParaRPr>
          </a:p>
        </p:txBody>
      </p:sp>
      <p:grpSp>
        <p:nvGrpSpPr>
          <p:cNvPr id="25" name="组合 24"/>
          <p:cNvGrpSpPr/>
          <p:nvPr/>
        </p:nvGrpSpPr>
        <p:grpSpPr>
          <a:xfrm>
            <a:off x="3054930" y="5581944"/>
            <a:ext cx="978126" cy="369332"/>
            <a:chOff x="2679543" y="6223391"/>
            <a:chExt cx="978126" cy="369332"/>
          </a:xfrm>
        </p:grpSpPr>
        <p:sp>
          <p:nvSpPr>
            <p:cNvPr id="8" name="Text Box 28"/>
            <p:cNvSpPr txBox="1">
              <a:spLocks noChangeArrowheads="1"/>
            </p:cNvSpPr>
            <p:nvPr/>
          </p:nvSpPr>
          <p:spPr bwMode="auto">
            <a:xfrm>
              <a:off x="2679543" y="6223391"/>
              <a:ext cx="8114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王云</a:t>
              </a:r>
              <a:endParaRPr lang="en-US" altLang="zh-CN" sz="2400" dirty="0">
                <a:solidFill>
                  <a:schemeClr val="tx1"/>
                </a:solidFill>
                <a:latin typeface="+mn-ea"/>
                <a:ea typeface="+mn-ea"/>
              </a:endParaRPr>
            </a:p>
          </p:txBody>
        </p:sp>
        <p:sp>
          <p:nvSpPr>
            <p:cNvPr id="20" name="Oval 40"/>
            <p:cNvSpPr>
              <a:spLocks noChangeArrowheads="1"/>
            </p:cNvSpPr>
            <p:nvPr/>
          </p:nvSpPr>
          <p:spPr bwMode="auto">
            <a:xfrm>
              <a:off x="3495707" y="6396469"/>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sp>
        <p:nvSpPr>
          <p:cNvPr id="21" name="Oval 41"/>
          <p:cNvSpPr>
            <a:spLocks noChangeArrowheads="1"/>
          </p:cNvSpPr>
          <p:nvPr/>
        </p:nvSpPr>
        <p:spPr bwMode="auto">
          <a:xfrm>
            <a:off x="3871094" y="5085536"/>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nvGrpSpPr>
          <p:cNvPr id="3" name="组合 2"/>
          <p:cNvGrpSpPr/>
          <p:nvPr/>
        </p:nvGrpSpPr>
        <p:grpSpPr>
          <a:xfrm>
            <a:off x="3122563" y="6148460"/>
            <a:ext cx="978126" cy="369332"/>
            <a:chOff x="2679543" y="7393649"/>
            <a:chExt cx="978126" cy="369332"/>
          </a:xfrm>
        </p:grpSpPr>
        <p:sp>
          <p:nvSpPr>
            <p:cNvPr id="6" name="Text Box 26"/>
            <p:cNvSpPr txBox="1">
              <a:spLocks noChangeArrowheads="1"/>
            </p:cNvSpPr>
            <p:nvPr/>
          </p:nvSpPr>
          <p:spPr bwMode="auto">
            <a:xfrm>
              <a:off x="2679543" y="7393649"/>
              <a:ext cx="8114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陈庆</a:t>
              </a:r>
              <a:endParaRPr lang="en-US" altLang="zh-CN" sz="2400" dirty="0">
                <a:solidFill>
                  <a:schemeClr val="tx1"/>
                </a:solidFill>
                <a:latin typeface="+mn-ea"/>
                <a:ea typeface="+mn-ea"/>
              </a:endParaRPr>
            </a:p>
          </p:txBody>
        </p:sp>
        <p:sp>
          <p:nvSpPr>
            <p:cNvPr id="22" name="Oval 42"/>
            <p:cNvSpPr>
              <a:spLocks noChangeArrowheads="1"/>
            </p:cNvSpPr>
            <p:nvPr/>
          </p:nvSpPr>
          <p:spPr bwMode="auto">
            <a:xfrm>
              <a:off x="3495707" y="7492098"/>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grpSp>
        <p:nvGrpSpPr>
          <p:cNvPr id="4" name="组合 3"/>
          <p:cNvGrpSpPr/>
          <p:nvPr/>
        </p:nvGrpSpPr>
        <p:grpSpPr>
          <a:xfrm>
            <a:off x="5749542" y="6262359"/>
            <a:ext cx="1079749" cy="369332"/>
            <a:chOff x="5374155" y="7393649"/>
            <a:chExt cx="1079749" cy="369332"/>
          </a:xfrm>
        </p:grpSpPr>
        <p:sp>
          <p:nvSpPr>
            <p:cNvPr id="10" name="Text Box 30"/>
            <p:cNvSpPr txBox="1">
              <a:spLocks noChangeArrowheads="1"/>
            </p:cNvSpPr>
            <p:nvPr/>
          </p:nvSpPr>
          <p:spPr bwMode="auto">
            <a:xfrm>
              <a:off x="5590104" y="7393649"/>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defRPr/>
              </a:pPr>
              <a:r>
                <a:rPr lang="zh-CN" altLang="en-US" sz="2400" dirty="0">
                  <a:solidFill>
                    <a:schemeClr val="tx1"/>
                  </a:solidFill>
                  <a:latin typeface="+mn-ea"/>
                  <a:ea typeface="+mn-ea"/>
                </a:rPr>
                <a:t>李美</a:t>
              </a:r>
              <a:endParaRPr lang="en-US" altLang="zh-CN" sz="2400" dirty="0">
                <a:solidFill>
                  <a:schemeClr val="tx1"/>
                </a:solidFill>
                <a:latin typeface="+mn-ea"/>
                <a:ea typeface="+mn-ea"/>
              </a:endParaRPr>
            </a:p>
          </p:txBody>
        </p:sp>
        <p:sp>
          <p:nvSpPr>
            <p:cNvPr id="23" name="Oval 43"/>
            <p:cNvSpPr>
              <a:spLocks noChangeArrowheads="1"/>
            </p:cNvSpPr>
            <p:nvPr/>
          </p:nvSpPr>
          <p:spPr bwMode="auto">
            <a:xfrm>
              <a:off x="5374155" y="7492098"/>
              <a:ext cx="161962" cy="161962"/>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defRPr/>
              </a:pPr>
              <a:endParaRPr lang="zh-CN" altLang="en-US" sz="2400">
                <a:solidFill>
                  <a:schemeClr val="tx1"/>
                </a:solidFill>
                <a:latin typeface="+mn-ea"/>
                <a:ea typeface="+mn-ea"/>
              </a:endParaRPr>
            </a:p>
          </p:txBody>
        </p:sp>
      </p:grpSp>
      <p:sp>
        <p:nvSpPr>
          <p:cNvPr id="30" name="Rectangle 2"/>
          <p:cNvSpPr txBox="1">
            <a:spLocks noChangeArrowheads="1"/>
          </p:cNvSpPr>
          <p:nvPr/>
        </p:nvSpPr>
        <p:spPr bwMode="auto">
          <a:xfrm>
            <a:off x="369848" y="1004905"/>
            <a:ext cx="671992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anchor="ctr">
            <a:spAutoFit/>
          </a:bodyPr>
          <a:lstStyle>
            <a:lvl1pPr algn="l" rtl="0" eaLnBrk="0" fontAlgn="base" hangingPunct="0">
              <a:lnSpc>
                <a:spcPct val="90000"/>
              </a:lnSpc>
              <a:spcBef>
                <a:spcPct val="0"/>
              </a:spcBef>
              <a:spcAft>
                <a:spcPct val="0"/>
              </a:spcAft>
              <a:defRPr sz="3600" b="1">
                <a:solidFill>
                  <a:schemeClr val="tx1"/>
                </a:solidFill>
                <a:latin typeface="+mj-lt"/>
                <a:ea typeface="+mj-ea"/>
                <a:cs typeface="+mj-cs"/>
              </a:defRPr>
            </a:lvl1pPr>
            <a:lvl2pPr algn="l" rtl="0" eaLnBrk="0" fontAlgn="base" hangingPunct="0">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2pPr>
            <a:lvl3pPr algn="l" rtl="0" eaLnBrk="0" fontAlgn="base" hangingPunct="0">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3pPr>
            <a:lvl4pPr algn="l" rtl="0" eaLnBrk="0" fontAlgn="base" hangingPunct="0">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4pPr>
            <a:lvl5pPr algn="l" rtl="0" eaLnBrk="0" fontAlgn="base" hangingPunct="0">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5pPr>
            <a:lvl6pPr marL="457200" algn="l" rtl="0" fontAlgn="base">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6pPr>
            <a:lvl7pPr marL="914400" algn="l" rtl="0" fontAlgn="base">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7pPr>
            <a:lvl8pPr marL="1371600" algn="l" rtl="0" fontAlgn="base">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8pPr>
            <a:lvl9pPr marL="1828800" algn="l" rtl="0" fontAlgn="base">
              <a:lnSpc>
                <a:spcPct val="90000"/>
              </a:lnSpc>
              <a:spcBef>
                <a:spcPct val="0"/>
              </a:spcBef>
              <a:spcAft>
                <a:spcPct val="0"/>
              </a:spcAft>
              <a:defRPr sz="3600" b="1">
                <a:solidFill>
                  <a:schemeClr val="tx1"/>
                </a:solidFill>
                <a:latin typeface="黑体" panose="02010609060101010101" pitchFamily="49" charset="-122"/>
                <a:ea typeface="黑体" panose="02010609060101010101" pitchFamily="49" charset="-122"/>
              </a:defRPr>
            </a:lvl9pPr>
          </a:lstStyle>
          <a:p>
            <a:pPr eaLnBrk="1" hangingPunct="1">
              <a:defRPr/>
            </a:pPr>
            <a:r>
              <a:rPr lang="zh-CN" altLang="en-US" sz="2400" kern="0" dirty="0">
                <a:solidFill>
                  <a:srgbClr val="C00000"/>
                </a:solidFill>
                <a:latin typeface="+mn-ea"/>
                <a:ea typeface="+mn-ea"/>
              </a:rPr>
              <a:t>例</a:t>
            </a:r>
            <a:r>
              <a:rPr lang="en-US" altLang="zh-CN" sz="2400" kern="0" dirty="0">
                <a:solidFill>
                  <a:srgbClr val="C00000"/>
                </a:solidFill>
                <a:latin typeface="+mn-ea"/>
                <a:ea typeface="+mn-ea"/>
              </a:rPr>
              <a:t>4.6  </a:t>
            </a:r>
            <a:r>
              <a:rPr lang="zh-CN" altLang="zh-CN" sz="2400" dirty="0">
                <a:latin typeface="+mn-ea"/>
                <a:ea typeface="+mn-ea"/>
              </a:rPr>
              <a:t>试用关系图表示下列关系。</a:t>
            </a:r>
            <a:endParaRPr lang="zh-CN" altLang="en-US" sz="2400" kern="0" dirty="0">
              <a:latin typeface="+mn-ea"/>
              <a:ea typeface="+mn-ea"/>
            </a:endParaRPr>
          </a:p>
        </p:txBody>
      </p:sp>
      <p:sp>
        <p:nvSpPr>
          <p:cNvPr id="29" name="Rectangle 4"/>
          <p:cNvSpPr>
            <a:spLocks noGrp="1" noChangeArrowheads="1"/>
          </p:cNvSpPr>
          <p:nvPr>
            <p:ph type="title"/>
          </p:nvPr>
        </p:nvSpPr>
        <p:spPr>
          <a:xfrm>
            <a:off x="774700" y="352424"/>
            <a:ext cx="5334000" cy="429419"/>
          </a:xfrm>
        </p:spPr>
        <p:txBody>
          <a:bodyPr/>
          <a:lstStyle/>
          <a:p>
            <a:pPr eaLnBrk="1" hangingPunct="1"/>
            <a:r>
              <a:rPr lang="zh-CN" altLang="en-US" noProof="1"/>
              <a:t>例</a:t>
            </a:r>
            <a:r>
              <a:rPr lang="en-US" altLang="zh-CN" noProof="1"/>
              <a:t>4.6</a:t>
            </a:r>
            <a:endParaRPr lang="zh-CN" altLang="en-US" dirty="0"/>
          </a:p>
        </p:txBody>
      </p:sp>
      <p:sp>
        <p:nvSpPr>
          <p:cNvPr id="2" name="矩形 1"/>
          <p:cNvSpPr/>
          <p:nvPr/>
        </p:nvSpPr>
        <p:spPr>
          <a:xfrm>
            <a:off x="356694" y="1502472"/>
            <a:ext cx="11520527" cy="2862322"/>
          </a:xfrm>
          <a:prstGeom prst="rect">
            <a:avLst/>
          </a:prstGeom>
        </p:spPr>
        <p:txBody>
          <a:bodyPr wrap="square">
            <a:spAutoFit/>
          </a:bodyPr>
          <a:lstStyle/>
          <a:p>
            <a:pPr algn="just">
              <a:lnSpc>
                <a:spcPct val="150000"/>
              </a:lnSpc>
              <a:spcAft>
                <a:spcPts val="0"/>
              </a:spcAft>
            </a:pPr>
            <a:r>
              <a:rPr lang="zh-CN" altLang="zh-CN" b="1" kern="100" dirty="0">
                <a:latin typeface="+mn-ea"/>
              </a:rPr>
              <a:t>（</a:t>
            </a:r>
            <a:r>
              <a:rPr lang="en-US" altLang="zh-CN" b="1" kern="100" dirty="0">
                <a:latin typeface="+mn-ea"/>
              </a:rPr>
              <a:t>1</a:t>
            </a:r>
            <a:r>
              <a:rPr lang="zh-CN" altLang="zh-CN" b="1" kern="100" dirty="0">
                <a:latin typeface="+mn-ea"/>
              </a:rPr>
              <a:t>）设</a:t>
            </a:r>
            <a:r>
              <a:rPr lang="en-US" altLang="zh-CN" b="1" kern="100" dirty="0">
                <a:latin typeface="+mn-ea"/>
              </a:rPr>
              <a:t>A</a:t>
            </a:r>
            <a:r>
              <a:rPr lang="zh-CN" altLang="zh-CN" b="1" kern="100" dirty="0">
                <a:latin typeface="+mn-ea"/>
              </a:rPr>
              <a:t>＝</a:t>
            </a:r>
            <a:r>
              <a:rPr lang="en-US" altLang="zh-CN" b="1" kern="100" dirty="0">
                <a:latin typeface="+mn-ea"/>
              </a:rPr>
              <a:t>{</a:t>
            </a:r>
            <a:r>
              <a:rPr lang="zh-CN" altLang="zh-CN" b="1" kern="100" dirty="0">
                <a:latin typeface="+mn-ea"/>
              </a:rPr>
              <a:t>李华</a:t>
            </a:r>
            <a:r>
              <a:rPr lang="en-US" altLang="zh-CN" b="1" kern="100" dirty="0">
                <a:latin typeface="+mn-ea"/>
              </a:rPr>
              <a:t>,</a:t>
            </a:r>
            <a:r>
              <a:rPr lang="zh-CN" altLang="zh-CN" b="1" kern="100" dirty="0">
                <a:latin typeface="+mn-ea"/>
              </a:rPr>
              <a:t>王云</a:t>
            </a:r>
            <a:r>
              <a:rPr lang="en-US" altLang="zh-CN" b="1" kern="100" dirty="0">
                <a:latin typeface="+mn-ea"/>
              </a:rPr>
              <a:t>,</a:t>
            </a:r>
            <a:r>
              <a:rPr lang="zh-CN" altLang="zh-CN" b="1" kern="100" dirty="0">
                <a:latin typeface="+mn-ea"/>
              </a:rPr>
              <a:t>陈庆</a:t>
            </a:r>
            <a:r>
              <a:rPr lang="en-US" altLang="zh-CN" b="1" kern="100" dirty="0">
                <a:latin typeface="+mn-ea"/>
              </a:rPr>
              <a:t>}</a:t>
            </a:r>
            <a:r>
              <a:rPr lang="zh-CN" altLang="zh-CN" b="1" kern="100" dirty="0">
                <a:latin typeface="+mn-ea"/>
              </a:rPr>
              <a:t>，</a:t>
            </a:r>
            <a:r>
              <a:rPr lang="en-US" altLang="zh-CN" b="1" kern="100" dirty="0">
                <a:latin typeface="+mn-ea"/>
              </a:rPr>
              <a:t>B</a:t>
            </a:r>
            <a:r>
              <a:rPr lang="zh-CN" altLang="zh-CN" b="1" kern="100" dirty="0">
                <a:latin typeface="+mn-ea"/>
              </a:rPr>
              <a:t>＝</a:t>
            </a:r>
            <a:r>
              <a:rPr lang="en-US" altLang="zh-CN" b="1" kern="100" dirty="0">
                <a:latin typeface="+mn-ea"/>
              </a:rPr>
              <a:t>{</a:t>
            </a:r>
            <a:r>
              <a:rPr lang="zh-CN" altLang="zh-CN" b="1" kern="100" dirty="0">
                <a:latin typeface="+mn-ea"/>
              </a:rPr>
              <a:t>李美</a:t>
            </a:r>
            <a:r>
              <a:rPr lang="en-US" altLang="zh-CN" b="1" kern="100" dirty="0">
                <a:latin typeface="+mn-ea"/>
              </a:rPr>
              <a:t>,</a:t>
            </a:r>
            <a:r>
              <a:rPr lang="zh-CN" altLang="zh-CN" b="1" kern="100" dirty="0">
                <a:latin typeface="+mn-ea"/>
              </a:rPr>
              <a:t>李想</a:t>
            </a:r>
            <a:r>
              <a:rPr lang="en-US" altLang="zh-CN" b="1" kern="100" dirty="0">
                <a:latin typeface="+mn-ea"/>
              </a:rPr>
              <a:t>,</a:t>
            </a:r>
            <a:r>
              <a:rPr lang="zh-CN" altLang="zh-CN" b="1" kern="100" dirty="0">
                <a:latin typeface="+mn-ea"/>
              </a:rPr>
              <a:t>王良</a:t>
            </a:r>
            <a:r>
              <a:rPr lang="en-US" altLang="zh-CN" b="1" kern="100" dirty="0">
                <a:latin typeface="+mn-ea"/>
              </a:rPr>
              <a:t>,</a:t>
            </a:r>
            <a:r>
              <a:rPr lang="zh-CN" altLang="zh-CN" b="1" kern="100" dirty="0">
                <a:latin typeface="+mn-ea"/>
              </a:rPr>
              <a:t>王珊</a:t>
            </a:r>
            <a:r>
              <a:rPr lang="en-US" altLang="zh-CN" b="1" kern="100" dirty="0">
                <a:latin typeface="+mn-ea"/>
              </a:rPr>
              <a:t>}</a:t>
            </a:r>
            <a:r>
              <a:rPr lang="zh-CN" altLang="zh-CN" b="1" kern="100" dirty="0">
                <a:latin typeface="+mn-ea"/>
              </a:rPr>
              <a:t>，其中李华的两个儿子是李美、李想，王云的两个儿子是王良、</a:t>
            </a:r>
            <a:r>
              <a:rPr lang="zh-CN" altLang="zh-CN" b="1" kern="100" spc="-25" dirty="0">
                <a:latin typeface="+mn-ea"/>
              </a:rPr>
              <a:t>王珊，即父子关系</a:t>
            </a:r>
            <a:r>
              <a:rPr lang="en-US" altLang="zh-CN" b="1" kern="100" spc="-25" dirty="0">
                <a:latin typeface="+mn-ea"/>
              </a:rPr>
              <a:t>R=</a:t>
            </a:r>
            <a:r>
              <a:rPr lang="en-US" altLang="zh-CN" b="1" kern="100" dirty="0">
                <a:latin typeface="+mn-ea"/>
              </a:rPr>
              <a:t>{&lt;</a:t>
            </a:r>
            <a:r>
              <a:rPr lang="zh-CN" altLang="zh-CN" b="1" kern="100" dirty="0">
                <a:latin typeface="+mn-ea"/>
              </a:rPr>
              <a:t>李华，李美</a:t>
            </a:r>
            <a:r>
              <a:rPr lang="en-US" altLang="zh-CN" b="1" kern="100" dirty="0">
                <a:latin typeface="+mn-ea"/>
              </a:rPr>
              <a:t>&gt;</a:t>
            </a:r>
            <a:r>
              <a:rPr lang="zh-CN" altLang="zh-CN" b="1" kern="100" dirty="0">
                <a:latin typeface="+mn-ea"/>
              </a:rPr>
              <a:t>，</a:t>
            </a:r>
            <a:r>
              <a:rPr lang="en-US" altLang="zh-CN" b="1" kern="100" dirty="0">
                <a:latin typeface="+mn-ea"/>
              </a:rPr>
              <a:t>&lt;</a:t>
            </a:r>
            <a:r>
              <a:rPr lang="zh-CN" altLang="zh-CN" b="1" kern="100" dirty="0">
                <a:latin typeface="+mn-ea"/>
              </a:rPr>
              <a:t>李华，李想</a:t>
            </a:r>
            <a:r>
              <a:rPr lang="en-US" altLang="zh-CN" b="1" kern="100" dirty="0">
                <a:latin typeface="+mn-ea"/>
              </a:rPr>
              <a:t>&gt;</a:t>
            </a:r>
            <a:r>
              <a:rPr lang="zh-CN" altLang="zh-CN" b="1" kern="100" dirty="0">
                <a:latin typeface="+mn-ea"/>
              </a:rPr>
              <a:t>，</a:t>
            </a:r>
            <a:r>
              <a:rPr lang="en-US" altLang="zh-CN" b="1" kern="100" dirty="0">
                <a:latin typeface="+mn-ea"/>
              </a:rPr>
              <a:t>&lt;</a:t>
            </a:r>
            <a:r>
              <a:rPr lang="zh-CN" altLang="zh-CN" b="1" kern="100" dirty="0">
                <a:latin typeface="+mn-ea"/>
              </a:rPr>
              <a:t>王云，王良</a:t>
            </a:r>
            <a:r>
              <a:rPr lang="en-US" altLang="zh-CN" b="1" kern="100" dirty="0">
                <a:latin typeface="+mn-ea"/>
              </a:rPr>
              <a:t>&gt;</a:t>
            </a:r>
            <a:r>
              <a:rPr lang="zh-CN" altLang="zh-CN" b="1" kern="100" dirty="0">
                <a:latin typeface="+mn-ea"/>
              </a:rPr>
              <a:t>，</a:t>
            </a:r>
            <a:r>
              <a:rPr lang="en-US" altLang="zh-CN" b="1" kern="100" dirty="0">
                <a:latin typeface="+mn-ea"/>
              </a:rPr>
              <a:t>&lt;</a:t>
            </a:r>
            <a:r>
              <a:rPr lang="zh-CN" altLang="zh-CN" b="1" kern="100" dirty="0">
                <a:latin typeface="+mn-ea"/>
              </a:rPr>
              <a:t>王云，王珊</a:t>
            </a:r>
            <a:r>
              <a:rPr lang="en-US" altLang="zh-CN" b="1" kern="100" dirty="0">
                <a:latin typeface="+mn-ea"/>
              </a:rPr>
              <a:t>&gt;}</a:t>
            </a:r>
            <a:r>
              <a:rPr lang="zh-CN" altLang="zh-CN" b="1" kern="100" spc="-25" dirty="0">
                <a:latin typeface="+mn-ea"/>
              </a:rPr>
              <a:t>。</a:t>
            </a:r>
            <a:endParaRPr lang="zh-CN" altLang="zh-CN" b="1" kern="100" dirty="0">
              <a:latin typeface="+mn-ea"/>
            </a:endParaRPr>
          </a:p>
          <a:p>
            <a:pPr indent="266700" algn="just">
              <a:lnSpc>
                <a:spcPct val="150000"/>
              </a:lnSpc>
              <a:spcAft>
                <a:spcPts val="0"/>
              </a:spcAft>
            </a:pPr>
            <a:r>
              <a:rPr lang="zh-CN" altLang="zh-CN" b="1" kern="100" dirty="0">
                <a:latin typeface="+mn-ea"/>
              </a:rPr>
              <a:t>（</a:t>
            </a:r>
            <a:r>
              <a:rPr lang="en-US" altLang="zh-CN" b="1" kern="100" dirty="0">
                <a:latin typeface="+mn-ea"/>
              </a:rPr>
              <a:t>2</a:t>
            </a:r>
            <a:r>
              <a:rPr lang="zh-CN" altLang="zh-CN" b="1" kern="100" dirty="0">
                <a:latin typeface="+mn-ea"/>
              </a:rPr>
              <a:t>）设</a:t>
            </a:r>
            <a:r>
              <a:rPr lang="en-US" altLang="zh-CN" b="1" kern="100" dirty="0">
                <a:latin typeface="+mn-ea"/>
              </a:rPr>
              <a:t>A</a:t>
            </a:r>
            <a:r>
              <a:rPr lang="zh-CN" altLang="zh-CN" b="1" kern="100" dirty="0">
                <a:latin typeface="+mn-ea"/>
              </a:rPr>
              <a:t>＝</a:t>
            </a:r>
            <a:r>
              <a:rPr lang="en-US" altLang="zh-CN" b="1" kern="100" dirty="0">
                <a:latin typeface="+mn-ea"/>
              </a:rPr>
              <a:t>{1</a:t>
            </a:r>
            <a:r>
              <a:rPr lang="zh-CN" altLang="zh-CN" b="1" kern="100" dirty="0">
                <a:latin typeface="+mn-ea"/>
              </a:rPr>
              <a:t>，</a:t>
            </a:r>
            <a:r>
              <a:rPr lang="en-US" altLang="zh-CN" b="1" kern="100" dirty="0">
                <a:latin typeface="+mn-ea"/>
              </a:rPr>
              <a:t>2</a:t>
            </a:r>
            <a:r>
              <a:rPr lang="zh-CN" altLang="zh-CN" b="1" kern="100" dirty="0">
                <a:latin typeface="+mn-ea"/>
              </a:rPr>
              <a:t>，</a:t>
            </a:r>
            <a:r>
              <a:rPr lang="en-US" altLang="zh-CN" b="1" kern="100" dirty="0">
                <a:latin typeface="+mn-ea"/>
              </a:rPr>
              <a:t>3</a:t>
            </a:r>
            <a:r>
              <a:rPr lang="zh-CN" altLang="zh-CN" b="1" kern="100" dirty="0">
                <a:latin typeface="+mn-ea"/>
              </a:rPr>
              <a:t>，</a:t>
            </a:r>
            <a:r>
              <a:rPr lang="en-US" altLang="zh-CN" b="1" kern="100" dirty="0">
                <a:latin typeface="+mn-ea"/>
              </a:rPr>
              <a:t>4}</a:t>
            </a:r>
            <a:r>
              <a:rPr lang="zh-CN" altLang="zh-CN" b="1" kern="100" dirty="0">
                <a:latin typeface="+mn-ea"/>
              </a:rPr>
              <a:t>，</a:t>
            </a:r>
            <a:r>
              <a:rPr lang="en-US" altLang="zh-CN" b="1" kern="100" dirty="0">
                <a:latin typeface="+mn-ea"/>
              </a:rPr>
              <a:t>A</a:t>
            </a:r>
            <a:r>
              <a:rPr lang="zh-CN" altLang="zh-CN" b="1" kern="100" dirty="0">
                <a:latin typeface="+mn-ea"/>
              </a:rPr>
              <a:t>上的大于等于关系</a:t>
            </a:r>
            <a:r>
              <a:rPr lang="en-US" altLang="zh-CN" b="1" kern="100" dirty="0">
                <a:latin typeface="+mn-ea"/>
              </a:rPr>
              <a:t>S</a:t>
            </a:r>
            <a:r>
              <a:rPr lang="zh-CN" altLang="zh-CN" b="1" kern="100" dirty="0">
                <a:latin typeface="+mn-ea"/>
              </a:rPr>
              <a:t>＝</a:t>
            </a:r>
            <a:r>
              <a:rPr lang="en-US" altLang="zh-CN" b="1" kern="100" dirty="0">
                <a:latin typeface="+mn-ea"/>
              </a:rPr>
              <a:t>{&lt;1</a:t>
            </a:r>
            <a:r>
              <a:rPr lang="zh-CN" altLang="zh-CN" b="1" kern="100" dirty="0">
                <a:latin typeface="+mn-ea"/>
              </a:rPr>
              <a:t>，</a:t>
            </a:r>
            <a:r>
              <a:rPr lang="en-US" altLang="zh-CN" b="1" kern="100" dirty="0">
                <a:latin typeface="+mn-ea"/>
              </a:rPr>
              <a:t>1&gt;,&lt;2</a:t>
            </a:r>
            <a:r>
              <a:rPr lang="zh-CN" altLang="zh-CN" b="1" kern="100" dirty="0">
                <a:latin typeface="+mn-ea"/>
              </a:rPr>
              <a:t>，</a:t>
            </a:r>
            <a:r>
              <a:rPr lang="en-US" altLang="zh-CN" b="1" kern="100" dirty="0">
                <a:latin typeface="+mn-ea"/>
              </a:rPr>
              <a:t>2&gt;,&lt;3</a:t>
            </a:r>
            <a:r>
              <a:rPr lang="zh-CN" altLang="zh-CN" b="1" kern="100" dirty="0">
                <a:latin typeface="+mn-ea"/>
              </a:rPr>
              <a:t>，</a:t>
            </a:r>
            <a:r>
              <a:rPr lang="en-US" altLang="zh-CN" b="1" kern="100" dirty="0">
                <a:latin typeface="+mn-ea"/>
              </a:rPr>
              <a:t>3&gt;,&lt;4</a:t>
            </a:r>
            <a:r>
              <a:rPr lang="zh-CN" altLang="zh-CN" b="1" kern="100" dirty="0">
                <a:latin typeface="+mn-ea"/>
              </a:rPr>
              <a:t>，</a:t>
            </a:r>
            <a:r>
              <a:rPr lang="en-US" altLang="zh-CN" b="1" kern="100" dirty="0">
                <a:latin typeface="+mn-ea"/>
              </a:rPr>
              <a:t>4&gt;,&lt;2</a:t>
            </a:r>
            <a:r>
              <a:rPr lang="zh-CN" altLang="zh-CN" b="1" kern="100" dirty="0">
                <a:latin typeface="+mn-ea"/>
              </a:rPr>
              <a:t>，</a:t>
            </a:r>
            <a:r>
              <a:rPr lang="en-US" altLang="zh-CN" b="1" kern="100" dirty="0">
                <a:latin typeface="+mn-ea"/>
              </a:rPr>
              <a:t>1&gt;,&lt;3</a:t>
            </a:r>
            <a:r>
              <a:rPr lang="zh-CN" altLang="zh-CN" b="1" kern="100" dirty="0">
                <a:latin typeface="+mn-ea"/>
              </a:rPr>
              <a:t>，</a:t>
            </a:r>
            <a:r>
              <a:rPr lang="en-US" altLang="zh-CN" b="1" kern="100" dirty="0">
                <a:latin typeface="+mn-ea"/>
              </a:rPr>
              <a:t>1&gt;,&lt;4</a:t>
            </a:r>
            <a:r>
              <a:rPr lang="zh-CN" altLang="zh-CN" b="1" kern="100" dirty="0">
                <a:latin typeface="+mn-ea"/>
              </a:rPr>
              <a:t>，</a:t>
            </a:r>
            <a:r>
              <a:rPr lang="en-US" altLang="zh-CN" b="1" kern="100" dirty="0">
                <a:latin typeface="+mn-ea"/>
              </a:rPr>
              <a:t>1&gt;,&lt;3</a:t>
            </a:r>
            <a:r>
              <a:rPr lang="zh-CN" altLang="zh-CN" b="1" kern="100" dirty="0">
                <a:latin typeface="+mn-ea"/>
              </a:rPr>
              <a:t>，</a:t>
            </a:r>
            <a:r>
              <a:rPr lang="en-US" altLang="zh-CN" b="1" kern="100" dirty="0">
                <a:latin typeface="+mn-ea"/>
              </a:rPr>
              <a:t>2&gt;,&lt;4</a:t>
            </a:r>
            <a:r>
              <a:rPr lang="zh-CN" altLang="zh-CN" b="1" kern="100" dirty="0">
                <a:latin typeface="+mn-ea"/>
              </a:rPr>
              <a:t>，</a:t>
            </a:r>
            <a:r>
              <a:rPr lang="en-US" altLang="zh-CN" b="1" kern="100" dirty="0">
                <a:latin typeface="+mn-ea"/>
              </a:rPr>
              <a:t>2&gt;,&lt;4</a:t>
            </a:r>
            <a:r>
              <a:rPr lang="zh-CN" altLang="zh-CN" b="1" kern="100" dirty="0">
                <a:latin typeface="+mn-ea"/>
              </a:rPr>
              <a:t>，</a:t>
            </a:r>
            <a:r>
              <a:rPr lang="en-US" altLang="zh-CN" b="1" kern="100" dirty="0">
                <a:latin typeface="+mn-ea"/>
              </a:rPr>
              <a:t>3&gt;}</a:t>
            </a:r>
            <a:r>
              <a:rPr lang="zh-CN" altLang="zh-CN" b="1" kern="100" dirty="0">
                <a:latin typeface="+mn-ea"/>
              </a:rPr>
              <a:t>。</a:t>
            </a:r>
            <a:endParaRPr lang="zh-CN" altLang="zh-CN" b="1" kern="100" dirty="0">
              <a:latin typeface="+mn-ea"/>
            </a:endParaRPr>
          </a:p>
        </p:txBody>
      </p:sp>
      <p:sp>
        <p:nvSpPr>
          <p:cNvPr id="35" name="Arc 22"/>
          <p:cNvSpPr/>
          <p:nvPr/>
        </p:nvSpPr>
        <p:spPr bwMode="auto">
          <a:xfrm rot="5400000" flipV="1">
            <a:off x="10270875" y="6277421"/>
            <a:ext cx="539875" cy="53987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lnTo>
                  <a:pt x="21600" y="21600"/>
                </a:lnTo>
                <a:lnTo>
                  <a:pt x="21599" y="0"/>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vert="eaVert"/>
          <a:lstStyle/>
          <a:p>
            <a:endParaRPr lang="zh-CN" altLang="en-US"/>
          </a:p>
        </p:txBody>
      </p:sp>
      <p:sp>
        <p:nvSpPr>
          <p:cNvPr id="36" name="Text Box 5"/>
          <p:cNvSpPr txBox="1">
            <a:spLocks noChangeArrowheads="1"/>
          </p:cNvSpPr>
          <p:nvPr/>
        </p:nvSpPr>
        <p:spPr bwMode="auto">
          <a:xfrm>
            <a:off x="7995698" y="6285060"/>
            <a:ext cx="215950" cy="427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0" dirty="0">
                <a:solidFill>
                  <a:srgbClr val="FF0000"/>
                </a:solidFill>
              </a:rPr>
              <a:t>2</a:t>
            </a:r>
            <a:endParaRPr lang="en-US" altLang="zh-CN" sz="2800" dirty="0">
              <a:solidFill>
                <a:srgbClr val="FF0000"/>
              </a:solidFill>
            </a:endParaRPr>
          </a:p>
        </p:txBody>
      </p:sp>
      <p:sp>
        <p:nvSpPr>
          <p:cNvPr id="37" name="Freeform 6"/>
          <p:cNvSpPr/>
          <p:nvPr/>
        </p:nvSpPr>
        <p:spPr bwMode="auto">
          <a:xfrm>
            <a:off x="8318035" y="5001259"/>
            <a:ext cx="47634" cy="1569244"/>
          </a:xfrm>
          <a:custGeom>
            <a:avLst/>
            <a:gdLst>
              <a:gd name="T0" fmla="*/ 0 w 5"/>
              <a:gd name="T1" fmla="*/ 0 h 1199"/>
              <a:gd name="T2" fmla="*/ 2147483646 w 5"/>
              <a:gd name="T3" fmla="*/ 2147483646 h 1199"/>
              <a:gd name="T4" fmla="*/ 0 60000 65536"/>
              <a:gd name="T5" fmla="*/ 0 60000 65536"/>
              <a:gd name="T6" fmla="*/ 0 w 5"/>
              <a:gd name="T7" fmla="*/ 0 h 1199"/>
              <a:gd name="T8" fmla="*/ 5 w 5"/>
              <a:gd name="T9" fmla="*/ 1199 h 1199"/>
            </a:gdLst>
            <a:ahLst/>
            <a:cxnLst>
              <a:cxn ang="T4">
                <a:pos x="T0" y="T1"/>
              </a:cxn>
              <a:cxn ang="T5">
                <a:pos x="T2" y="T3"/>
              </a:cxn>
            </a:cxnLst>
            <a:rect l="T6" t="T7" r="T8" b="T9"/>
            <a:pathLst>
              <a:path w="5" h="1199">
                <a:moveTo>
                  <a:pt x="0" y="0"/>
                </a:moveTo>
                <a:lnTo>
                  <a:pt x="5" y="1199"/>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 name="Arc 15"/>
          <p:cNvSpPr/>
          <p:nvPr/>
        </p:nvSpPr>
        <p:spPr bwMode="auto">
          <a:xfrm rot="16200000" flipV="1">
            <a:off x="7732111" y="4659866"/>
            <a:ext cx="539875" cy="53987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090"/>
                  <a:pt x="7564" y="2106"/>
                  <a:pt x="17919" y="315"/>
                </a:cubicBezTo>
                <a:lnTo>
                  <a:pt x="21600" y="21600"/>
                </a:lnTo>
                <a:lnTo>
                  <a:pt x="21599" y="0"/>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Arc 17"/>
          <p:cNvSpPr/>
          <p:nvPr/>
        </p:nvSpPr>
        <p:spPr bwMode="auto">
          <a:xfrm rot="16200000" flipV="1">
            <a:off x="7739257" y="6254572"/>
            <a:ext cx="539875" cy="538288"/>
          </a:xfrm>
          <a:custGeom>
            <a:avLst/>
            <a:gdLst>
              <a:gd name="T0" fmla="*/ 2147483646 w 43200"/>
              <a:gd name="T1" fmla="*/ 0 h 43093"/>
              <a:gd name="T2" fmla="*/ 2147483646 w 43200"/>
              <a:gd name="T3" fmla="*/ 2147483646 h 43093"/>
              <a:gd name="T4" fmla="*/ 2147483646 w 43200"/>
              <a:gd name="T5" fmla="*/ 2147483646 h 43093"/>
              <a:gd name="T6" fmla="*/ 0 60000 65536"/>
              <a:gd name="T7" fmla="*/ 0 60000 65536"/>
              <a:gd name="T8" fmla="*/ 0 60000 65536"/>
              <a:gd name="T9" fmla="*/ 0 w 43200"/>
              <a:gd name="T10" fmla="*/ 0 h 43093"/>
              <a:gd name="T11" fmla="*/ 43200 w 43200"/>
              <a:gd name="T12" fmla="*/ 43093 h 43093"/>
            </a:gdLst>
            <a:ahLst/>
            <a:cxnLst>
              <a:cxn ang="T6">
                <a:pos x="T0" y="T1"/>
              </a:cxn>
              <a:cxn ang="T7">
                <a:pos x="T2" y="T3"/>
              </a:cxn>
              <a:cxn ang="T8">
                <a:pos x="T4" y="T5"/>
              </a:cxn>
            </a:cxnLst>
            <a:rect l="T9" t="T10" r="T11" b="T12"/>
            <a:pathLst>
              <a:path w="43200" h="43093" fill="none" extrusionOk="0">
                <a:moveTo>
                  <a:pt x="23747" y="0"/>
                </a:moveTo>
                <a:cubicBezTo>
                  <a:pt x="34790" y="1103"/>
                  <a:pt x="43200" y="10395"/>
                  <a:pt x="43200" y="21493"/>
                </a:cubicBezTo>
                <a:cubicBezTo>
                  <a:pt x="43200" y="33422"/>
                  <a:pt x="33529" y="43093"/>
                  <a:pt x="21600" y="43093"/>
                </a:cubicBezTo>
                <a:cubicBezTo>
                  <a:pt x="9670" y="43093"/>
                  <a:pt x="0" y="33422"/>
                  <a:pt x="0" y="21493"/>
                </a:cubicBezTo>
                <a:cubicBezTo>
                  <a:pt x="-1" y="11714"/>
                  <a:pt x="6569" y="3155"/>
                  <a:pt x="16016" y="627"/>
                </a:cubicBezTo>
              </a:path>
              <a:path w="43200" h="43093" stroke="0" extrusionOk="0">
                <a:moveTo>
                  <a:pt x="23747" y="0"/>
                </a:moveTo>
                <a:cubicBezTo>
                  <a:pt x="34790" y="1103"/>
                  <a:pt x="43200" y="10395"/>
                  <a:pt x="43200" y="21493"/>
                </a:cubicBezTo>
                <a:cubicBezTo>
                  <a:pt x="43200" y="33422"/>
                  <a:pt x="33529" y="43093"/>
                  <a:pt x="21600" y="43093"/>
                </a:cubicBezTo>
                <a:cubicBezTo>
                  <a:pt x="9670" y="43093"/>
                  <a:pt x="0" y="33422"/>
                  <a:pt x="0" y="21493"/>
                </a:cubicBezTo>
                <a:cubicBezTo>
                  <a:pt x="-1" y="11714"/>
                  <a:pt x="6569" y="3155"/>
                  <a:pt x="16016" y="627"/>
                </a:cubicBezTo>
                <a:lnTo>
                  <a:pt x="21600" y="21493"/>
                </a:lnTo>
                <a:lnTo>
                  <a:pt x="23747" y="0"/>
                </a:lnTo>
                <a:close/>
              </a:path>
            </a:pathLst>
          </a:custGeom>
          <a:noFill/>
          <a:ln w="25400">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 name="Text Box 19"/>
          <p:cNvSpPr txBox="1">
            <a:spLocks noChangeArrowheads="1"/>
          </p:cNvSpPr>
          <p:nvPr/>
        </p:nvSpPr>
        <p:spPr bwMode="auto">
          <a:xfrm>
            <a:off x="10398140" y="4709089"/>
            <a:ext cx="215950" cy="4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0">
                <a:solidFill>
                  <a:srgbClr val="FF0000"/>
                </a:solidFill>
              </a:rPr>
              <a:t>3</a:t>
            </a:r>
            <a:endParaRPr lang="en-US" altLang="zh-CN" sz="2800">
              <a:solidFill>
                <a:srgbClr val="FF0000"/>
              </a:solidFill>
            </a:endParaRPr>
          </a:p>
        </p:txBody>
      </p:sp>
      <p:sp>
        <p:nvSpPr>
          <p:cNvPr id="41" name="Arc 20"/>
          <p:cNvSpPr/>
          <p:nvPr/>
        </p:nvSpPr>
        <p:spPr bwMode="auto">
          <a:xfrm rot="4440508" flipV="1">
            <a:off x="10291754" y="4643987"/>
            <a:ext cx="539875" cy="536699"/>
          </a:xfrm>
          <a:custGeom>
            <a:avLst/>
            <a:gdLst>
              <a:gd name="T0" fmla="*/ 2147483646 w 43200"/>
              <a:gd name="T1" fmla="*/ 0 h 42953"/>
              <a:gd name="T2" fmla="*/ 2147483646 w 43200"/>
              <a:gd name="T3" fmla="*/ 2147483646 h 42953"/>
              <a:gd name="T4" fmla="*/ 2147483646 w 43200"/>
              <a:gd name="T5" fmla="*/ 2147483646 h 42953"/>
              <a:gd name="T6" fmla="*/ 0 60000 65536"/>
              <a:gd name="T7" fmla="*/ 0 60000 65536"/>
              <a:gd name="T8" fmla="*/ 0 60000 65536"/>
              <a:gd name="T9" fmla="*/ 0 w 43200"/>
              <a:gd name="T10" fmla="*/ 0 h 42953"/>
              <a:gd name="T11" fmla="*/ 43200 w 43200"/>
              <a:gd name="T12" fmla="*/ 42953 h 42953"/>
            </a:gdLst>
            <a:ahLst/>
            <a:cxnLst>
              <a:cxn ang="T6">
                <a:pos x="T0" y="T1"/>
              </a:cxn>
              <a:cxn ang="T7">
                <a:pos x="T2" y="T3"/>
              </a:cxn>
              <a:cxn ang="T8">
                <a:pos x="T4" y="T5"/>
              </a:cxn>
            </a:cxnLst>
            <a:rect l="T9" t="T10" r="T11" b="T12"/>
            <a:pathLst>
              <a:path w="43200" h="42953" fill="none" extrusionOk="0">
                <a:moveTo>
                  <a:pt x="24858" y="0"/>
                </a:moveTo>
                <a:cubicBezTo>
                  <a:pt x="35407" y="1610"/>
                  <a:pt x="43200" y="10682"/>
                  <a:pt x="43200" y="21353"/>
                </a:cubicBezTo>
                <a:cubicBezTo>
                  <a:pt x="43200" y="33282"/>
                  <a:pt x="33529" y="42953"/>
                  <a:pt x="21600" y="42953"/>
                </a:cubicBezTo>
                <a:cubicBezTo>
                  <a:pt x="9670" y="42953"/>
                  <a:pt x="0" y="33282"/>
                  <a:pt x="0" y="21353"/>
                </a:cubicBezTo>
                <a:cubicBezTo>
                  <a:pt x="-1" y="10843"/>
                  <a:pt x="7564" y="1859"/>
                  <a:pt x="17919" y="68"/>
                </a:cubicBezTo>
              </a:path>
              <a:path w="43200" h="42953" stroke="0" extrusionOk="0">
                <a:moveTo>
                  <a:pt x="24858" y="0"/>
                </a:moveTo>
                <a:cubicBezTo>
                  <a:pt x="35407" y="1610"/>
                  <a:pt x="43200" y="10682"/>
                  <a:pt x="43200" y="21353"/>
                </a:cubicBezTo>
                <a:cubicBezTo>
                  <a:pt x="43200" y="33282"/>
                  <a:pt x="33529" y="42953"/>
                  <a:pt x="21600" y="42953"/>
                </a:cubicBezTo>
                <a:cubicBezTo>
                  <a:pt x="9670" y="42953"/>
                  <a:pt x="0" y="33282"/>
                  <a:pt x="0" y="21353"/>
                </a:cubicBezTo>
                <a:cubicBezTo>
                  <a:pt x="-1" y="10843"/>
                  <a:pt x="7564" y="1859"/>
                  <a:pt x="17919" y="68"/>
                </a:cubicBezTo>
                <a:lnTo>
                  <a:pt x="21600" y="21353"/>
                </a:lnTo>
                <a:lnTo>
                  <a:pt x="24858" y="0"/>
                </a:lnTo>
                <a:close/>
              </a:path>
            </a:pathLst>
          </a:custGeom>
          <a:noFill/>
          <a:ln w="25400">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 name="Text Box 21"/>
          <p:cNvSpPr txBox="1">
            <a:spLocks noChangeArrowheads="1"/>
          </p:cNvSpPr>
          <p:nvPr/>
        </p:nvSpPr>
        <p:spPr bwMode="auto">
          <a:xfrm>
            <a:off x="10355269" y="6325232"/>
            <a:ext cx="215950" cy="4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0">
                <a:solidFill>
                  <a:srgbClr val="FF0000"/>
                </a:solidFill>
              </a:rPr>
              <a:t>4</a:t>
            </a:r>
            <a:endParaRPr lang="en-US" altLang="zh-CN" sz="2800">
              <a:solidFill>
                <a:srgbClr val="FF0000"/>
              </a:solidFill>
            </a:endParaRPr>
          </a:p>
        </p:txBody>
      </p:sp>
      <p:sp>
        <p:nvSpPr>
          <p:cNvPr id="43" name="Freeform 23"/>
          <p:cNvSpPr/>
          <p:nvPr/>
        </p:nvSpPr>
        <p:spPr bwMode="auto">
          <a:xfrm>
            <a:off x="8359319" y="4972676"/>
            <a:ext cx="1818109" cy="9527"/>
          </a:xfrm>
          <a:custGeom>
            <a:avLst/>
            <a:gdLst>
              <a:gd name="T0" fmla="*/ 0 w 898"/>
              <a:gd name="T1" fmla="*/ 0 h 5"/>
              <a:gd name="T2" fmla="*/ 2147483646 w 898"/>
              <a:gd name="T3" fmla="*/ 2147483646 h 5"/>
              <a:gd name="T4" fmla="*/ 0 60000 65536"/>
              <a:gd name="T5" fmla="*/ 0 60000 65536"/>
              <a:gd name="T6" fmla="*/ 0 w 898"/>
              <a:gd name="T7" fmla="*/ 0 h 5"/>
              <a:gd name="T8" fmla="*/ 898 w 898"/>
              <a:gd name="T9" fmla="*/ 5 h 5"/>
            </a:gdLst>
            <a:ahLst/>
            <a:cxnLst>
              <a:cxn ang="T4">
                <a:pos x="T0" y="T1"/>
              </a:cxn>
              <a:cxn ang="T5">
                <a:pos x="T2" y="T3"/>
              </a:cxn>
            </a:cxnLst>
            <a:rect l="T6" t="T7" r="T8" b="T9"/>
            <a:pathLst>
              <a:path w="898" h="5">
                <a:moveTo>
                  <a:pt x="0" y="0"/>
                </a:moveTo>
                <a:lnTo>
                  <a:pt x="898" y="5"/>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 name="Freeform 24"/>
          <p:cNvSpPr/>
          <p:nvPr/>
        </p:nvSpPr>
        <p:spPr bwMode="auto">
          <a:xfrm>
            <a:off x="8351380" y="5013960"/>
            <a:ext cx="1825579" cy="1556542"/>
          </a:xfrm>
          <a:custGeom>
            <a:avLst/>
            <a:gdLst>
              <a:gd name="T0" fmla="*/ 0 w 905"/>
              <a:gd name="T1" fmla="*/ 0 h 1229"/>
              <a:gd name="T2" fmla="*/ 2147483646 w 905"/>
              <a:gd name="T3" fmla="*/ 2147483646 h 1229"/>
              <a:gd name="T4" fmla="*/ 0 60000 65536"/>
              <a:gd name="T5" fmla="*/ 0 60000 65536"/>
              <a:gd name="T6" fmla="*/ 0 w 905"/>
              <a:gd name="T7" fmla="*/ 0 h 1229"/>
              <a:gd name="T8" fmla="*/ 905 w 905"/>
              <a:gd name="T9" fmla="*/ 1229 h 1229"/>
            </a:gdLst>
            <a:ahLst/>
            <a:cxnLst>
              <a:cxn ang="T4">
                <a:pos x="T0" y="T1"/>
              </a:cxn>
              <a:cxn ang="T5">
                <a:pos x="T2" y="T3"/>
              </a:cxn>
            </a:cxnLst>
            <a:rect l="T6" t="T7" r="T8" b="T9"/>
            <a:pathLst>
              <a:path w="905" h="1229">
                <a:moveTo>
                  <a:pt x="0" y="0"/>
                </a:moveTo>
                <a:lnTo>
                  <a:pt x="905" y="1229"/>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Freeform 25"/>
          <p:cNvSpPr/>
          <p:nvPr/>
        </p:nvSpPr>
        <p:spPr bwMode="auto">
          <a:xfrm flipH="1">
            <a:off x="10198399" y="4968764"/>
            <a:ext cx="38646" cy="1620015"/>
          </a:xfrm>
          <a:custGeom>
            <a:avLst/>
            <a:gdLst>
              <a:gd name="T0" fmla="*/ 2147483646 w 15"/>
              <a:gd name="T1" fmla="*/ 0 h 1269"/>
              <a:gd name="T2" fmla="*/ 0 w 15"/>
              <a:gd name="T3" fmla="*/ 2147483646 h 1269"/>
              <a:gd name="T4" fmla="*/ 0 60000 65536"/>
              <a:gd name="T5" fmla="*/ 0 60000 65536"/>
              <a:gd name="T6" fmla="*/ 0 w 15"/>
              <a:gd name="T7" fmla="*/ 0 h 1269"/>
              <a:gd name="T8" fmla="*/ 15 w 15"/>
              <a:gd name="T9" fmla="*/ 1269 h 1269"/>
              <a:gd name="connsiteX0" fmla="*/ 1017 w 1587"/>
              <a:gd name="connsiteY0" fmla="*/ 0 h 10669"/>
              <a:gd name="connsiteX1" fmla="*/ 571 w 1587"/>
              <a:gd name="connsiteY1" fmla="*/ 10669 h 10669"/>
              <a:gd name="connsiteX0-1" fmla="*/ 11450 w 11450"/>
              <a:gd name="connsiteY0-2" fmla="*/ 0 h 10000"/>
              <a:gd name="connsiteX1-3" fmla="*/ 8640 w 11450"/>
              <a:gd name="connsiteY1-4" fmla="*/ 10000 h 10000"/>
            </a:gdLst>
            <a:ahLst/>
            <a:cxnLst>
              <a:cxn ang="0">
                <a:pos x="connsiteX0-1" y="connsiteY0-2"/>
              </a:cxn>
              <a:cxn ang="0">
                <a:pos x="connsiteX1-3" y="connsiteY1-4"/>
              </a:cxn>
            </a:cxnLst>
            <a:rect l="l" t="t" r="r" b="b"/>
            <a:pathLst>
              <a:path w="11450" h="10000">
                <a:moveTo>
                  <a:pt x="11450" y="0"/>
                </a:moveTo>
                <a:cubicBezTo>
                  <a:pt x="-9552" y="3124"/>
                  <a:pt x="3840" y="6966"/>
                  <a:pt x="8640" y="10000"/>
                </a:cubicBez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Freeform 26"/>
          <p:cNvSpPr/>
          <p:nvPr/>
        </p:nvSpPr>
        <p:spPr bwMode="auto">
          <a:xfrm>
            <a:off x="8399017" y="6570502"/>
            <a:ext cx="1845102" cy="0"/>
          </a:xfrm>
          <a:custGeom>
            <a:avLst/>
            <a:gdLst>
              <a:gd name="T0" fmla="*/ 0 w 910"/>
              <a:gd name="T1" fmla="*/ 0 h 1"/>
              <a:gd name="T2" fmla="*/ 2147483646 w 910"/>
              <a:gd name="T3" fmla="*/ 0 h 1"/>
              <a:gd name="T4" fmla="*/ 0 60000 65536"/>
              <a:gd name="T5" fmla="*/ 0 60000 65536"/>
              <a:gd name="T6" fmla="*/ 0 w 910"/>
              <a:gd name="T7" fmla="*/ 0 h 1"/>
              <a:gd name="T8" fmla="*/ 910 w 910"/>
              <a:gd name="T9" fmla="*/ 0 h 1"/>
            </a:gdLst>
            <a:ahLst/>
            <a:cxnLst>
              <a:cxn ang="T4">
                <a:pos x="T0" y="T1"/>
              </a:cxn>
              <a:cxn ang="T5">
                <a:pos x="T2" y="T3"/>
              </a:cxn>
            </a:cxnLst>
            <a:rect l="T6" t="T7" r="T8" b="T9"/>
            <a:pathLst>
              <a:path w="910" h="1">
                <a:moveTo>
                  <a:pt x="0" y="1"/>
                </a:moveTo>
                <a:lnTo>
                  <a:pt x="910" y="0"/>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Oval 16"/>
          <p:cNvSpPr>
            <a:spLocks noChangeArrowheads="1"/>
          </p:cNvSpPr>
          <p:nvPr/>
        </p:nvSpPr>
        <p:spPr bwMode="auto">
          <a:xfrm>
            <a:off x="8251344" y="4905986"/>
            <a:ext cx="144496" cy="144496"/>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8" name="Oval 18"/>
          <p:cNvSpPr>
            <a:spLocks noChangeArrowheads="1"/>
          </p:cNvSpPr>
          <p:nvPr/>
        </p:nvSpPr>
        <p:spPr bwMode="auto">
          <a:xfrm>
            <a:off x="8251344" y="6487195"/>
            <a:ext cx="144496" cy="144496"/>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9" name="Oval 41"/>
          <p:cNvSpPr>
            <a:spLocks noChangeArrowheads="1"/>
          </p:cNvSpPr>
          <p:nvPr/>
        </p:nvSpPr>
        <p:spPr bwMode="auto">
          <a:xfrm>
            <a:off x="10172664" y="4905986"/>
            <a:ext cx="144496" cy="144496"/>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50" name="Oval 42"/>
          <p:cNvSpPr>
            <a:spLocks noChangeArrowheads="1"/>
          </p:cNvSpPr>
          <p:nvPr/>
        </p:nvSpPr>
        <p:spPr bwMode="auto">
          <a:xfrm>
            <a:off x="10172664" y="6488783"/>
            <a:ext cx="144496" cy="144495"/>
          </a:xfrm>
          <a:prstGeom prst="ellipse">
            <a:avLst/>
          </a:prstGeom>
          <a:solidFill>
            <a:srgbClr val="FFFFFF"/>
          </a:solidFill>
          <a:ln w="25400">
            <a:solidFill>
              <a:srgbClr val="0000FF"/>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51" name="Text Box 14"/>
          <p:cNvSpPr txBox="1">
            <a:spLocks noChangeArrowheads="1"/>
          </p:cNvSpPr>
          <p:nvPr/>
        </p:nvSpPr>
        <p:spPr bwMode="auto">
          <a:xfrm>
            <a:off x="8003636" y="4713854"/>
            <a:ext cx="215950" cy="427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800">
                <a:solidFill>
                  <a:srgbClr val="FF0000"/>
                </a:solidFill>
              </a:rPr>
              <a:t>1</a:t>
            </a:r>
            <a:endParaRPr lang="en-US" altLang="zh-CN" sz="2800">
              <a:solidFill>
                <a:srgbClr val="FF0000"/>
              </a:solidFill>
            </a:endParaRPr>
          </a:p>
        </p:txBody>
      </p:sp>
      <p:sp>
        <p:nvSpPr>
          <p:cNvPr id="52" name="Freeform 44"/>
          <p:cNvSpPr/>
          <p:nvPr/>
        </p:nvSpPr>
        <p:spPr bwMode="auto">
          <a:xfrm>
            <a:off x="8403778" y="5052069"/>
            <a:ext cx="1783177" cy="1500157"/>
          </a:xfrm>
          <a:custGeom>
            <a:avLst/>
            <a:gdLst>
              <a:gd name="T0" fmla="*/ 0 w 910"/>
              <a:gd name="T1" fmla="*/ 2147483646 h 1"/>
              <a:gd name="T2" fmla="*/ 2147483646 w 910"/>
              <a:gd name="T3" fmla="*/ 0 h 1"/>
              <a:gd name="T4" fmla="*/ 0 60000 65536"/>
              <a:gd name="T5" fmla="*/ 0 60000 65536"/>
              <a:gd name="T6" fmla="*/ 0 w 910"/>
              <a:gd name="T7" fmla="*/ 0 h 1"/>
              <a:gd name="T8" fmla="*/ 910 w 910"/>
              <a:gd name="T9" fmla="*/ 1 h 1"/>
            </a:gdLst>
            <a:ahLst/>
            <a:cxnLst>
              <a:cxn ang="T4">
                <a:pos x="T0" y="T1"/>
              </a:cxn>
              <a:cxn ang="T5">
                <a:pos x="T2" y="T3"/>
              </a:cxn>
            </a:cxnLst>
            <a:rect l="T6" t="T7" r="T8" b="T9"/>
            <a:pathLst>
              <a:path w="910" h="1">
                <a:moveTo>
                  <a:pt x="0" y="1"/>
                </a:moveTo>
                <a:lnTo>
                  <a:pt x="910" y="0"/>
                </a:lnTo>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矩形 26"/>
          <p:cNvSpPr/>
          <p:nvPr/>
        </p:nvSpPr>
        <p:spPr>
          <a:xfrm>
            <a:off x="-79509" y="5392422"/>
            <a:ext cx="11201399" cy="1200329"/>
          </a:xfrm>
          <a:prstGeom prst="rect">
            <a:avLst/>
          </a:prstGeom>
          <a:solidFill>
            <a:srgbClr val="1157AB"/>
          </a:solidFill>
        </p:spPr>
        <p:txBody>
          <a:bodyPr wrap="square">
            <a:spAutoFit/>
          </a:bodyPr>
          <a:lstStyle/>
          <a:p>
            <a:pPr indent="267970" algn="just">
              <a:lnSpc>
                <a:spcPct val="150000"/>
              </a:lnSpc>
              <a:spcAft>
                <a:spcPts val="0"/>
              </a:spcAft>
            </a:pPr>
            <a:r>
              <a:rPr lang="zh-CN" altLang="zh-CN" b="1" kern="100" dirty="0">
                <a:solidFill>
                  <a:srgbClr val="FFFF00"/>
                </a:solidFill>
                <a:latin typeface="+mn-ea"/>
              </a:rPr>
              <a:t>注意 </a:t>
            </a:r>
            <a:r>
              <a:rPr lang="zh-CN" altLang="zh-CN" b="1" kern="100" dirty="0">
                <a:solidFill>
                  <a:schemeClr val="bg1"/>
                </a:solidFill>
                <a:latin typeface="+mn-ea"/>
              </a:rPr>
              <a:t> （</a:t>
            </a:r>
            <a:r>
              <a:rPr lang="en-US" altLang="zh-CN" b="1" kern="100" dirty="0">
                <a:solidFill>
                  <a:schemeClr val="bg1"/>
                </a:solidFill>
                <a:latin typeface="+mn-ea"/>
              </a:rPr>
              <a:t>1</a:t>
            </a:r>
            <a:r>
              <a:rPr lang="zh-CN" altLang="zh-CN" b="1" kern="100" dirty="0">
                <a:solidFill>
                  <a:schemeClr val="bg1"/>
                </a:solidFill>
                <a:latin typeface="+mn-ea"/>
              </a:rPr>
              <a:t>）对于无边相连的节点，不能从关系图中删掉。</a:t>
            </a:r>
            <a:endParaRPr lang="zh-CN" altLang="zh-CN" b="1" kern="100" dirty="0">
              <a:solidFill>
                <a:schemeClr val="bg1"/>
              </a:solidFill>
              <a:latin typeface="+mn-ea"/>
            </a:endParaRPr>
          </a:p>
          <a:p>
            <a:pPr indent="266700" algn="just">
              <a:lnSpc>
                <a:spcPct val="150000"/>
              </a:lnSpc>
              <a:spcAft>
                <a:spcPts val="0"/>
              </a:spcAft>
            </a:pPr>
            <a:r>
              <a:rPr lang="zh-CN" altLang="zh-CN" b="1" kern="100" dirty="0">
                <a:solidFill>
                  <a:schemeClr val="bg1"/>
                </a:solidFill>
                <a:latin typeface="+mn-ea"/>
              </a:rPr>
              <a:t>（</a:t>
            </a:r>
            <a:r>
              <a:rPr lang="en-US" altLang="zh-CN" b="1" kern="100" dirty="0">
                <a:solidFill>
                  <a:schemeClr val="bg1"/>
                </a:solidFill>
                <a:latin typeface="+mn-ea"/>
              </a:rPr>
              <a:t>2</a:t>
            </a:r>
            <a:r>
              <a:rPr lang="zh-CN" altLang="zh-CN" b="1" kern="100" dirty="0">
                <a:solidFill>
                  <a:schemeClr val="bg1"/>
                </a:solidFill>
                <a:latin typeface="+mn-ea"/>
              </a:rPr>
              <a:t>）给定关系的集合表示法中的序偶与关系图表示中的有向边是一一对应的。</a:t>
            </a:r>
            <a:endParaRPr lang="zh-CN" altLang="zh-CN" b="1" kern="100" dirty="0">
              <a:solidFill>
                <a:schemeClr val="bg1"/>
              </a:solidFill>
              <a:latin typeface="+mn-ea"/>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04931">
                                            <p:txEl>
                                              <p:pRg st="0" end="0"/>
                                            </p:txEl>
                                          </p:spTgt>
                                        </p:tgtEl>
                                        <p:attrNameLst>
                                          <p:attrName>style.visibility</p:attrName>
                                        </p:attrNameLst>
                                      </p:cBhvr>
                                      <p:to>
                                        <p:strVal val="visible"/>
                                      </p:to>
                                    </p:set>
                                    <p:anim calcmode="lin" valueType="num">
                                      <p:cBhvr additive="base">
                                        <p:cTn id="7" dur="500" fill="hold"/>
                                        <p:tgtEl>
                                          <p:spTgt spid="14049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4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left)">
                                      <p:cBhvr>
                                        <p:cTn id="62" dur="500"/>
                                        <p:tgtEl>
                                          <p:spTgt spid="51"/>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left)">
                                      <p:cBhvr>
                                        <p:cTn id="65" dur="500"/>
                                        <p:tgtEl>
                                          <p:spTgt spid="4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left)">
                                      <p:cBhvr>
                                        <p:cTn id="68" dur="500"/>
                                        <p:tgtEl>
                                          <p:spTgt spid="36"/>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wipe(left)">
                                      <p:cBhvr>
                                        <p:cTn id="71" dur="500"/>
                                        <p:tgtEl>
                                          <p:spTgt spid="48"/>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wipe(left)">
                                      <p:cBhvr>
                                        <p:cTn id="74" dur="500"/>
                                        <p:tgtEl>
                                          <p:spTgt spid="49"/>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wipe(left)">
                                      <p:cBhvr>
                                        <p:cTn id="77" dur="500"/>
                                        <p:tgtEl>
                                          <p:spTgt spid="40"/>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wipe(left)">
                                      <p:cBhvr>
                                        <p:cTn id="80" dur="500"/>
                                        <p:tgtEl>
                                          <p:spTgt spid="50"/>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wipe(down)">
                                      <p:cBhvr>
                                        <p:cTn id="88" dur="500"/>
                                        <p:tgtEl>
                                          <p:spTgt spid="38"/>
                                        </p:tgtEl>
                                      </p:cBhvr>
                                    </p:animEffect>
                                  </p:childTnLst>
                                </p:cTn>
                              </p:par>
                            </p:childTnLst>
                          </p:cTn>
                        </p:par>
                        <p:par>
                          <p:cTn id="89" fill="hold">
                            <p:stCondLst>
                              <p:cond delay="500"/>
                            </p:stCondLst>
                            <p:childTnLst>
                              <p:par>
                                <p:cTn id="90" presetID="22" presetClass="entr" presetSubtype="4" fill="hold" nodeType="after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wipe(down)">
                                      <p:cBhvr>
                                        <p:cTn id="92" dur="500"/>
                                        <p:tgtEl>
                                          <p:spTgt spid="39"/>
                                        </p:tgtEl>
                                      </p:cBhvr>
                                    </p:animEffect>
                                  </p:childTnLst>
                                </p:cTn>
                              </p:par>
                            </p:childTnLst>
                          </p:cTn>
                        </p:par>
                        <p:par>
                          <p:cTn id="93" fill="hold">
                            <p:stCondLst>
                              <p:cond delay="1000"/>
                            </p:stCondLst>
                            <p:childTnLst>
                              <p:par>
                                <p:cTn id="94" presetID="22" presetClass="entr" presetSubtype="4" fill="hold" nodeType="after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wipe(down)">
                                      <p:cBhvr>
                                        <p:cTn id="96" dur="500"/>
                                        <p:tgtEl>
                                          <p:spTgt spid="41"/>
                                        </p:tgtEl>
                                      </p:cBhvr>
                                    </p:animEffect>
                                  </p:childTnLst>
                                </p:cTn>
                              </p:par>
                            </p:childTnLst>
                          </p:cTn>
                        </p:par>
                        <p:par>
                          <p:cTn id="97" fill="hold">
                            <p:stCondLst>
                              <p:cond delay="1500"/>
                            </p:stCondLst>
                            <p:childTnLst>
                              <p:par>
                                <p:cTn id="98" presetID="22" presetClass="entr" presetSubtype="4" fill="hold" nodeType="after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wipe(down)">
                                      <p:cBhvr>
                                        <p:cTn id="100" dur="500"/>
                                        <p:tgtEl>
                                          <p:spTgt spid="3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wipe(up)">
                                      <p:cBhvr>
                                        <p:cTn id="105" dur="500"/>
                                        <p:tgtEl>
                                          <p:spTgt spid="37"/>
                                        </p:tgtEl>
                                      </p:cBhvr>
                                    </p:animEffect>
                                  </p:childTnLst>
                                </p:cTn>
                              </p:par>
                            </p:childTnLst>
                          </p:cTn>
                        </p:par>
                        <p:par>
                          <p:cTn id="106" fill="hold">
                            <p:stCondLst>
                              <p:cond delay="500"/>
                            </p:stCondLst>
                            <p:childTnLst>
                              <p:par>
                                <p:cTn id="107" presetID="22" presetClass="entr" presetSubtype="8" fill="hold" nodeType="after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wipe(left)">
                                      <p:cBhvr>
                                        <p:cTn id="109" dur="500"/>
                                        <p:tgtEl>
                                          <p:spTgt spid="43"/>
                                        </p:tgtEl>
                                      </p:cBhvr>
                                    </p:animEffect>
                                  </p:childTnLst>
                                </p:cTn>
                              </p:par>
                            </p:childTnLst>
                          </p:cTn>
                        </p:par>
                        <p:par>
                          <p:cTn id="110" fill="hold">
                            <p:stCondLst>
                              <p:cond delay="1000"/>
                            </p:stCondLst>
                            <p:childTnLst>
                              <p:par>
                                <p:cTn id="111" presetID="22" presetClass="entr" presetSubtype="1" fill="hold" nodeType="after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wipe(up)">
                                      <p:cBhvr>
                                        <p:cTn id="113" dur="500"/>
                                        <p:tgtEl>
                                          <p:spTgt spid="44"/>
                                        </p:tgtEl>
                                      </p:cBhvr>
                                    </p:animEffect>
                                  </p:childTnLst>
                                </p:cTn>
                              </p:par>
                            </p:childTnLst>
                          </p:cTn>
                        </p:par>
                        <p:par>
                          <p:cTn id="114" fill="hold">
                            <p:stCondLst>
                              <p:cond delay="1500"/>
                            </p:stCondLst>
                            <p:childTnLst>
                              <p:par>
                                <p:cTn id="115" presetID="22" presetClass="entr" presetSubtype="8" fill="hold" nodeType="afterEffect">
                                  <p:stCondLst>
                                    <p:cond delay="0"/>
                                  </p:stCondLst>
                                  <p:childTnLst>
                                    <p:set>
                                      <p:cBhvr>
                                        <p:cTn id="116" dur="1" fill="hold">
                                          <p:stCondLst>
                                            <p:cond delay="0"/>
                                          </p:stCondLst>
                                        </p:cTn>
                                        <p:tgtEl>
                                          <p:spTgt spid="52"/>
                                        </p:tgtEl>
                                        <p:attrNameLst>
                                          <p:attrName>style.visibility</p:attrName>
                                        </p:attrNameLst>
                                      </p:cBhvr>
                                      <p:to>
                                        <p:strVal val="visible"/>
                                      </p:to>
                                    </p:set>
                                    <p:animEffect transition="in" filter="wipe(left)">
                                      <p:cBhvr>
                                        <p:cTn id="117" dur="500"/>
                                        <p:tgtEl>
                                          <p:spTgt spid="52"/>
                                        </p:tgtEl>
                                      </p:cBhvr>
                                    </p:animEffect>
                                  </p:childTnLst>
                                </p:cTn>
                              </p:par>
                            </p:childTnLst>
                          </p:cTn>
                        </p:par>
                        <p:par>
                          <p:cTn id="118" fill="hold">
                            <p:stCondLst>
                              <p:cond delay="2000"/>
                            </p:stCondLst>
                            <p:childTnLst>
                              <p:par>
                                <p:cTn id="119" presetID="22" presetClass="entr" presetSubtype="8" fill="hold" nodeType="after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wipe(left)">
                                      <p:cBhvr>
                                        <p:cTn id="121" dur="500"/>
                                        <p:tgtEl>
                                          <p:spTgt spid="46"/>
                                        </p:tgtEl>
                                      </p:cBhvr>
                                    </p:animEffect>
                                  </p:childTnLst>
                                </p:cTn>
                              </p:par>
                            </p:childTnLst>
                          </p:cTn>
                        </p:par>
                        <p:par>
                          <p:cTn id="122" fill="hold">
                            <p:stCondLst>
                              <p:cond delay="2500"/>
                            </p:stCondLst>
                            <p:childTnLst>
                              <p:par>
                                <p:cTn id="123" presetID="22" presetClass="entr" presetSubtype="1" fill="hold" nodeType="after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wipe(up)">
                                      <p:cBhvr>
                                        <p:cTn id="125" dur="500"/>
                                        <p:tgtEl>
                                          <p:spTgt spid="45"/>
                                        </p:tgtEl>
                                      </p:cBhvr>
                                    </p:animEffect>
                                  </p:childTnLst>
                                </p:cTn>
                              </p:par>
                            </p:childTnLst>
                          </p:cTn>
                        </p:par>
                      </p:childTnLst>
                    </p:cTn>
                  </p:par>
                  <p:par>
                    <p:cTn id="126" fill="hold">
                      <p:stCondLst>
                        <p:cond delay="indefinite"/>
                      </p:stCondLst>
                      <p:childTnLst>
                        <p:par>
                          <p:cTn id="127" fill="hold">
                            <p:stCondLst>
                              <p:cond delay="0"/>
                            </p:stCondLst>
                            <p:childTnLst>
                              <p:par>
                                <p:cTn id="128" presetID="14" presetClass="entr" presetSubtype="10" fill="hold" grpId="0" nodeType="click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randombar(horizontal)">
                                      <p:cBhvr>
                                        <p:cTn id="1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4931" grpId="0" autoUpdateAnimBg="0" build="p"/>
      <p:bldP spid="5" grpId="0"/>
      <p:bldP spid="9" grpId="0"/>
      <p:bldP spid="12" grpId="0" animBg="1"/>
      <p:bldP spid="21" grpId="0" animBg="1"/>
      <p:bldP spid="36" grpId="0"/>
      <p:bldP spid="40" grpId="0"/>
      <p:bldP spid="42" grpId="0"/>
      <p:bldP spid="47" grpId="0" animBg="1"/>
      <p:bldP spid="48" grpId="0" animBg="1"/>
      <p:bldP spid="49" grpId="0" animBg="1"/>
      <p:bldP spid="50" grpId="0" animBg="1"/>
      <p:bldP spid="51" grpId="0"/>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42" name="Rectangle 2"/>
          <p:cNvSpPr>
            <a:spLocks noGrp="1" noChangeArrowheads="1"/>
          </p:cNvSpPr>
          <p:nvPr>
            <p:ph type="body" idx="1"/>
          </p:nvPr>
        </p:nvSpPr>
        <p:spPr>
          <a:xfrm>
            <a:off x="307975" y="1067594"/>
            <a:ext cx="10184830" cy="716445"/>
          </a:xfrm>
        </p:spPr>
        <p:txBody>
          <a:bodyPr>
            <a:normAutofit/>
          </a:bodyPr>
          <a:lstStyle/>
          <a:p>
            <a:pPr marL="0" indent="0">
              <a:buNone/>
            </a:pPr>
            <a:r>
              <a:rPr lang="zh-CN" altLang="zh-CN" dirty="0">
                <a:solidFill>
                  <a:srgbClr val="C00000"/>
                </a:solidFill>
              </a:rPr>
              <a:t>例</a:t>
            </a:r>
            <a:r>
              <a:rPr lang="en-US" altLang="zh-CN" dirty="0">
                <a:solidFill>
                  <a:srgbClr val="C00000"/>
                </a:solidFill>
              </a:rPr>
              <a:t>4.7  </a:t>
            </a:r>
            <a:r>
              <a:rPr lang="zh-CN" altLang="zh-CN" dirty="0">
                <a:solidFill>
                  <a:schemeClr val="tx1"/>
                </a:solidFill>
              </a:rPr>
              <a:t>试用集合表示法表示</a:t>
            </a:r>
            <a:r>
              <a:rPr lang="zh-CN" altLang="en-US" dirty="0"/>
              <a:t>右</a:t>
            </a:r>
            <a:r>
              <a:rPr lang="zh-CN" altLang="zh-CN" dirty="0">
                <a:solidFill>
                  <a:schemeClr val="tx1"/>
                </a:solidFill>
              </a:rPr>
              <a:t>图中用关系图表示的关系</a:t>
            </a:r>
            <a:r>
              <a:rPr lang="en-US" altLang="zh-CN" dirty="0">
                <a:solidFill>
                  <a:schemeClr val="tx1"/>
                </a:solidFill>
              </a:rPr>
              <a:t>R</a:t>
            </a:r>
            <a:r>
              <a:rPr lang="zh-CN" altLang="zh-CN" dirty="0">
                <a:solidFill>
                  <a:schemeClr val="tx1"/>
                </a:solidFill>
              </a:rPr>
              <a:t>，并指出</a:t>
            </a:r>
            <a:r>
              <a:rPr lang="en-US" altLang="zh-CN" dirty="0">
                <a:solidFill>
                  <a:schemeClr val="tx1"/>
                </a:solidFill>
              </a:rPr>
              <a:t>R</a:t>
            </a:r>
            <a:r>
              <a:rPr lang="zh-CN" altLang="zh-CN" dirty="0">
                <a:solidFill>
                  <a:schemeClr val="tx1"/>
                </a:solidFill>
              </a:rPr>
              <a:t>的基。</a:t>
            </a:r>
            <a:endParaRPr lang="zh-CN" altLang="zh-CN" dirty="0">
              <a:solidFill>
                <a:schemeClr val="tx1"/>
              </a:solidFill>
            </a:endParaRPr>
          </a:p>
        </p:txBody>
      </p:sp>
      <p:sp>
        <p:nvSpPr>
          <p:cNvPr id="58372" name="Rectangle 3"/>
          <p:cNvSpPr>
            <a:spLocks noGrp="1" noChangeArrowheads="1"/>
          </p:cNvSpPr>
          <p:nvPr>
            <p:ph type="title"/>
          </p:nvPr>
        </p:nvSpPr>
        <p:spPr/>
        <p:txBody>
          <a:bodyPr/>
          <a:lstStyle/>
          <a:p>
            <a:pPr eaLnBrk="1" hangingPunct="1"/>
            <a:r>
              <a:rPr lang="zh-CN" altLang="en-US" dirty="0"/>
              <a:t>例</a:t>
            </a:r>
            <a:r>
              <a:rPr lang="en-US" altLang="zh-CN" dirty="0"/>
              <a:t>4.7</a:t>
            </a:r>
            <a:endParaRPr lang="zh-CN" altLang="en-US" dirty="0"/>
          </a:p>
        </p:txBody>
      </p:sp>
      <p:grpSp>
        <p:nvGrpSpPr>
          <p:cNvPr id="15" name="Group 59"/>
          <p:cNvGrpSpPr/>
          <p:nvPr/>
        </p:nvGrpSpPr>
        <p:grpSpPr bwMode="auto">
          <a:xfrm>
            <a:off x="7013575" y="1817490"/>
            <a:ext cx="4724400" cy="2526704"/>
            <a:chOff x="1292" y="2387"/>
            <a:chExt cx="3312" cy="1728"/>
          </a:xfrm>
        </p:grpSpPr>
        <p:sp>
          <p:nvSpPr>
            <p:cNvPr id="16" name="Oval 11"/>
            <p:cNvSpPr>
              <a:spLocks noChangeArrowheads="1"/>
            </p:cNvSpPr>
            <p:nvPr/>
          </p:nvSpPr>
          <p:spPr bwMode="auto">
            <a:xfrm>
              <a:off x="1292" y="2433"/>
              <a:ext cx="1360" cy="1452"/>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7" name="Oval 12"/>
            <p:cNvSpPr>
              <a:spLocks noChangeArrowheads="1"/>
            </p:cNvSpPr>
            <p:nvPr/>
          </p:nvSpPr>
          <p:spPr bwMode="auto">
            <a:xfrm>
              <a:off x="1967" y="2546"/>
              <a:ext cx="453" cy="1224"/>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8" name="Oval 13"/>
            <p:cNvSpPr>
              <a:spLocks noChangeArrowheads="1"/>
            </p:cNvSpPr>
            <p:nvPr/>
          </p:nvSpPr>
          <p:spPr bwMode="auto">
            <a:xfrm>
              <a:off x="1791" y="2660"/>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9" name="Rectangle 14"/>
            <p:cNvSpPr>
              <a:spLocks noChangeArrowheads="1"/>
            </p:cNvSpPr>
            <p:nvPr/>
          </p:nvSpPr>
          <p:spPr bwMode="auto">
            <a:xfrm>
              <a:off x="1614" y="2478"/>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1</a:t>
              </a:r>
              <a:endParaRPr kumimoji="1" lang="en-US" altLang="zh-CN" sz="2400" baseline="-25000">
                <a:solidFill>
                  <a:schemeClr val="tx1"/>
                </a:solidFill>
              </a:endParaRPr>
            </a:p>
          </p:txBody>
        </p:sp>
        <p:sp>
          <p:nvSpPr>
            <p:cNvPr id="20" name="Oval 15"/>
            <p:cNvSpPr>
              <a:spLocks noChangeArrowheads="1"/>
            </p:cNvSpPr>
            <p:nvPr/>
          </p:nvSpPr>
          <p:spPr bwMode="auto">
            <a:xfrm>
              <a:off x="1655" y="3063"/>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 name="Rectangle 16"/>
            <p:cNvSpPr>
              <a:spLocks noChangeArrowheads="1"/>
            </p:cNvSpPr>
            <p:nvPr/>
          </p:nvSpPr>
          <p:spPr bwMode="auto">
            <a:xfrm>
              <a:off x="1448" y="2882"/>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2</a:t>
              </a:r>
              <a:endParaRPr kumimoji="1" lang="en-US" altLang="zh-CN" sz="2400" baseline="-25000">
                <a:solidFill>
                  <a:schemeClr val="tx1"/>
                </a:solidFill>
              </a:endParaRPr>
            </a:p>
          </p:txBody>
        </p:sp>
        <p:sp>
          <p:nvSpPr>
            <p:cNvPr id="22" name="Oval 17"/>
            <p:cNvSpPr>
              <a:spLocks noChangeArrowheads="1"/>
            </p:cNvSpPr>
            <p:nvPr/>
          </p:nvSpPr>
          <p:spPr bwMode="auto">
            <a:xfrm>
              <a:off x="1701" y="3471"/>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3" name="Rectangle 18"/>
            <p:cNvSpPr>
              <a:spLocks noChangeArrowheads="1"/>
            </p:cNvSpPr>
            <p:nvPr/>
          </p:nvSpPr>
          <p:spPr bwMode="auto">
            <a:xfrm>
              <a:off x="1502" y="3290"/>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5</a:t>
              </a:r>
              <a:endParaRPr kumimoji="1" lang="en-US" altLang="zh-CN" sz="2400" baseline="-25000">
                <a:solidFill>
                  <a:schemeClr val="tx1"/>
                </a:solidFill>
              </a:endParaRPr>
            </a:p>
          </p:txBody>
        </p:sp>
        <p:sp>
          <p:nvSpPr>
            <p:cNvPr id="24" name="Oval 21"/>
            <p:cNvSpPr>
              <a:spLocks noChangeArrowheads="1"/>
            </p:cNvSpPr>
            <p:nvPr/>
          </p:nvSpPr>
          <p:spPr bwMode="auto">
            <a:xfrm>
              <a:off x="2245" y="2818"/>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5" name="Rectangle 22"/>
            <p:cNvSpPr>
              <a:spLocks noChangeArrowheads="1"/>
            </p:cNvSpPr>
            <p:nvPr/>
          </p:nvSpPr>
          <p:spPr bwMode="auto">
            <a:xfrm>
              <a:off x="2056" y="2632"/>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3</a:t>
              </a:r>
              <a:endParaRPr kumimoji="1" lang="en-US" altLang="zh-CN" sz="2400" baseline="-25000">
                <a:solidFill>
                  <a:schemeClr val="tx1"/>
                </a:solidFill>
              </a:endParaRPr>
            </a:p>
          </p:txBody>
        </p:sp>
        <p:sp>
          <p:nvSpPr>
            <p:cNvPr id="26" name="Oval 23"/>
            <p:cNvSpPr>
              <a:spLocks noChangeArrowheads="1"/>
            </p:cNvSpPr>
            <p:nvPr/>
          </p:nvSpPr>
          <p:spPr bwMode="auto">
            <a:xfrm>
              <a:off x="2245" y="3136"/>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7" name="Rectangle 24"/>
            <p:cNvSpPr>
              <a:spLocks noChangeArrowheads="1"/>
            </p:cNvSpPr>
            <p:nvPr/>
          </p:nvSpPr>
          <p:spPr bwMode="auto">
            <a:xfrm>
              <a:off x="2064" y="2928"/>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4</a:t>
              </a:r>
              <a:endParaRPr kumimoji="1" lang="en-US" altLang="zh-CN" sz="2400" baseline="-25000">
                <a:solidFill>
                  <a:schemeClr val="tx1"/>
                </a:solidFill>
              </a:endParaRPr>
            </a:p>
          </p:txBody>
        </p:sp>
        <p:sp>
          <p:nvSpPr>
            <p:cNvPr id="28" name="Oval 25"/>
            <p:cNvSpPr>
              <a:spLocks noChangeArrowheads="1"/>
            </p:cNvSpPr>
            <p:nvPr/>
          </p:nvSpPr>
          <p:spPr bwMode="auto">
            <a:xfrm>
              <a:off x="2245" y="3453"/>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9" name="Rectangle 26"/>
            <p:cNvSpPr>
              <a:spLocks noChangeArrowheads="1"/>
            </p:cNvSpPr>
            <p:nvPr/>
          </p:nvSpPr>
          <p:spPr bwMode="auto">
            <a:xfrm>
              <a:off x="2064" y="3291"/>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r>
                <a:rPr kumimoji="1" lang="en-US" altLang="zh-CN" sz="2400" baseline="-25000">
                  <a:solidFill>
                    <a:schemeClr val="tx1"/>
                  </a:solidFill>
                </a:rPr>
                <a:t>6</a:t>
              </a:r>
              <a:endParaRPr kumimoji="1" lang="en-US" altLang="zh-CN" sz="2400" baseline="-25000">
                <a:solidFill>
                  <a:schemeClr val="tx1"/>
                </a:solidFill>
              </a:endParaRPr>
            </a:p>
          </p:txBody>
        </p:sp>
        <p:sp>
          <p:nvSpPr>
            <p:cNvPr id="30" name="Oval 27"/>
            <p:cNvSpPr>
              <a:spLocks noChangeArrowheads="1"/>
            </p:cNvSpPr>
            <p:nvPr/>
          </p:nvSpPr>
          <p:spPr bwMode="auto">
            <a:xfrm flipH="1">
              <a:off x="3244" y="2433"/>
              <a:ext cx="1360" cy="1452"/>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1" name="Oval 28"/>
            <p:cNvSpPr>
              <a:spLocks noChangeArrowheads="1"/>
            </p:cNvSpPr>
            <p:nvPr/>
          </p:nvSpPr>
          <p:spPr bwMode="auto">
            <a:xfrm flipH="1">
              <a:off x="3470" y="2546"/>
              <a:ext cx="493" cy="1224"/>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2" name="Oval 29"/>
            <p:cNvSpPr>
              <a:spLocks noChangeArrowheads="1"/>
            </p:cNvSpPr>
            <p:nvPr/>
          </p:nvSpPr>
          <p:spPr bwMode="auto">
            <a:xfrm flipH="1">
              <a:off x="4105" y="3132"/>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3" name="Rectangle 30"/>
            <p:cNvSpPr>
              <a:spLocks noChangeArrowheads="1"/>
            </p:cNvSpPr>
            <p:nvPr/>
          </p:nvSpPr>
          <p:spPr bwMode="auto">
            <a:xfrm flipH="1">
              <a:off x="4199" y="2976"/>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3</a:t>
              </a:r>
              <a:endParaRPr kumimoji="1" lang="en-US" altLang="zh-CN" sz="2400" baseline="-25000">
                <a:solidFill>
                  <a:schemeClr val="tx1"/>
                </a:solidFill>
              </a:endParaRPr>
            </a:p>
          </p:txBody>
        </p:sp>
        <p:sp>
          <p:nvSpPr>
            <p:cNvPr id="34" name="Oval 37"/>
            <p:cNvSpPr>
              <a:spLocks noChangeArrowheads="1"/>
            </p:cNvSpPr>
            <p:nvPr/>
          </p:nvSpPr>
          <p:spPr bwMode="auto">
            <a:xfrm flipH="1">
              <a:off x="3608" y="2705"/>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5" name="Rectangle 38"/>
            <p:cNvSpPr>
              <a:spLocks noChangeArrowheads="1"/>
            </p:cNvSpPr>
            <p:nvPr/>
          </p:nvSpPr>
          <p:spPr bwMode="auto">
            <a:xfrm flipH="1">
              <a:off x="3675" y="2835"/>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2</a:t>
              </a:r>
              <a:endParaRPr kumimoji="1" lang="en-US" altLang="zh-CN" sz="2400" baseline="-25000">
                <a:solidFill>
                  <a:schemeClr val="tx1"/>
                </a:solidFill>
              </a:endParaRPr>
            </a:p>
          </p:txBody>
        </p:sp>
        <p:sp>
          <p:nvSpPr>
            <p:cNvPr id="36" name="Oval 39"/>
            <p:cNvSpPr>
              <a:spLocks noChangeArrowheads="1"/>
            </p:cNvSpPr>
            <p:nvPr/>
          </p:nvSpPr>
          <p:spPr bwMode="auto">
            <a:xfrm flipH="1">
              <a:off x="3583" y="3264"/>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7" name="Rectangle 40"/>
            <p:cNvSpPr>
              <a:spLocks noChangeArrowheads="1"/>
            </p:cNvSpPr>
            <p:nvPr/>
          </p:nvSpPr>
          <p:spPr bwMode="auto">
            <a:xfrm flipH="1">
              <a:off x="3675" y="3113"/>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4</a:t>
              </a:r>
              <a:endParaRPr kumimoji="1" lang="en-US" altLang="zh-CN" sz="2400" baseline="-25000">
                <a:solidFill>
                  <a:schemeClr val="tx1"/>
                </a:solidFill>
              </a:endParaRPr>
            </a:p>
          </p:txBody>
        </p:sp>
        <p:sp>
          <p:nvSpPr>
            <p:cNvPr id="38" name="Oval 41"/>
            <p:cNvSpPr>
              <a:spLocks noChangeArrowheads="1"/>
            </p:cNvSpPr>
            <p:nvPr/>
          </p:nvSpPr>
          <p:spPr bwMode="auto">
            <a:xfrm flipH="1">
              <a:off x="3583" y="3544"/>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9" name="Rectangle 42"/>
            <p:cNvSpPr>
              <a:spLocks noChangeArrowheads="1"/>
            </p:cNvSpPr>
            <p:nvPr/>
          </p:nvSpPr>
          <p:spPr bwMode="auto">
            <a:xfrm flipH="1">
              <a:off x="3675" y="3382"/>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5</a:t>
              </a:r>
              <a:endParaRPr kumimoji="1" lang="en-US" altLang="zh-CN" sz="2400" baseline="-25000">
                <a:solidFill>
                  <a:schemeClr val="tx1"/>
                </a:solidFill>
              </a:endParaRPr>
            </a:p>
          </p:txBody>
        </p:sp>
        <p:sp>
          <p:nvSpPr>
            <p:cNvPr id="40" name="Oval 43"/>
            <p:cNvSpPr>
              <a:spLocks noChangeArrowheads="1"/>
            </p:cNvSpPr>
            <p:nvPr/>
          </p:nvSpPr>
          <p:spPr bwMode="auto">
            <a:xfrm flipH="1">
              <a:off x="3583" y="2984"/>
              <a:ext cx="68" cy="6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1" name="Rectangle 44"/>
            <p:cNvSpPr>
              <a:spLocks noChangeArrowheads="1"/>
            </p:cNvSpPr>
            <p:nvPr/>
          </p:nvSpPr>
          <p:spPr bwMode="auto">
            <a:xfrm flipH="1">
              <a:off x="3700" y="2565"/>
              <a:ext cx="22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r>
                <a:rPr kumimoji="1" lang="en-US" altLang="zh-CN" sz="2400" baseline="-25000">
                  <a:solidFill>
                    <a:schemeClr val="tx1"/>
                  </a:solidFill>
                </a:rPr>
                <a:t>1</a:t>
              </a:r>
              <a:endParaRPr kumimoji="1" lang="en-US" altLang="zh-CN" sz="2400" baseline="-25000">
                <a:solidFill>
                  <a:schemeClr val="tx1"/>
                </a:solidFill>
              </a:endParaRPr>
            </a:p>
          </p:txBody>
        </p:sp>
        <p:sp>
          <p:nvSpPr>
            <p:cNvPr id="42" name="Line 45"/>
            <p:cNvSpPr>
              <a:spLocks noChangeShapeType="1"/>
            </p:cNvSpPr>
            <p:nvPr/>
          </p:nvSpPr>
          <p:spPr bwMode="auto">
            <a:xfrm flipV="1">
              <a:off x="2314" y="2750"/>
              <a:ext cx="1315" cy="91"/>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 name="Line 46"/>
            <p:cNvSpPr>
              <a:spLocks noChangeShapeType="1"/>
            </p:cNvSpPr>
            <p:nvPr/>
          </p:nvSpPr>
          <p:spPr bwMode="auto">
            <a:xfrm>
              <a:off x="2298" y="2857"/>
              <a:ext cx="1292" cy="159"/>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 name="Line 47"/>
            <p:cNvSpPr>
              <a:spLocks noChangeShapeType="1"/>
            </p:cNvSpPr>
            <p:nvPr/>
          </p:nvSpPr>
          <p:spPr bwMode="auto">
            <a:xfrm flipV="1">
              <a:off x="2290" y="3316"/>
              <a:ext cx="1315" cy="159"/>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 name="Line 48"/>
            <p:cNvSpPr>
              <a:spLocks noChangeShapeType="1"/>
            </p:cNvSpPr>
            <p:nvPr/>
          </p:nvSpPr>
          <p:spPr bwMode="auto">
            <a:xfrm>
              <a:off x="2298" y="3491"/>
              <a:ext cx="1292" cy="91"/>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 name="Line 49"/>
            <p:cNvSpPr>
              <a:spLocks noChangeShapeType="1"/>
            </p:cNvSpPr>
            <p:nvPr/>
          </p:nvSpPr>
          <p:spPr bwMode="auto">
            <a:xfrm>
              <a:off x="2298" y="3167"/>
              <a:ext cx="1292" cy="113"/>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7" name="Line 50"/>
            <p:cNvSpPr>
              <a:spLocks noChangeShapeType="1"/>
            </p:cNvSpPr>
            <p:nvPr/>
          </p:nvSpPr>
          <p:spPr bwMode="auto">
            <a:xfrm flipV="1">
              <a:off x="3651" y="3794"/>
              <a:ext cx="340" cy="181"/>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8" name="Line 51"/>
            <p:cNvSpPr>
              <a:spLocks noChangeShapeType="1"/>
            </p:cNvSpPr>
            <p:nvPr/>
          </p:nvSpPr>
          <p:spPr bwMode="auto">
            <a:xfrm flipV="1">
              <a:off x="3334" y="3658"/>
              <a:ext cx="385" cy="136"/>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9" name="Line 52"/>
            <p:cNvSpPr>
              <a:spLocks noChangeShapeType="1"/>
            </p:cNvSpPr>
            <p:nvPr/>
          </p:nvSpPr>
          <p:spPr bwMode="auto">
            <a:xfrm flipH="1" flipV="1">
              <a:off x="1973" y="3748"/>
              <a:ext cx="158" cy="226"/>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 name="Line 53"/>
            <p:cNvSpPr>
              <a:spLocks noChangeShapeType="1"/>
            </p:cNvSpPr>
            <p:nvPr/>
          </p:nvSpPr>
          <p:spPr bwMode="auto">
            <a:xfrm flipH="1" flipV="1">
              <a:off x="2200" y="3658"/>
              <a:ext cx="317" cy="136"/>
            </a:xfrm>
            <a:prstGeom prst="line">
              <a:avLst/>
            </a:prstGeom>
            <a:noFill/>
            <a:ln w="22225">
              <a:solidFill>
                <a:schemeClr val="tx1"/>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 name="Rectangle 54"/>
            <p:cNvSpPr>
              <a:spLocks noChangeArrowheads="1"/>
            </p:cNvSpPr>
            <p:nvPr/>
          </p:nvSpPr>
          <p:spPr bwMode="auto">
            <a:xfrm flipH="1">
              <a:off x="3216" y="3636"/>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D</a:t>
              </a:r>
              <a:endParaRPr kumimoji="1" lang="en-US" altLang="zh-CN" sz="2400" baseline="-25000">
                <a:solidFill>
                  <a:schemeClr val="tx1"/>
                </a:solidFill>
              </a:endParaRPr>
            </a:p>
          </p:txBody>
        </p:sp>
        <p:sp>
          <p:nvSpPr>
            <p:cNvPr id="52" name="Rectangle 55"/>
            <p:cNvSpPr>
              <a:spLocks noChangeArrowheads="1"/>
            </p:cNvSpPr>
            <p:nvPr/>
          </p:nvSpPr>
          <p:spPr bwMode="auto">
            <a:xfrm flipH="1">
              <a:off x="2562" y="3612"/>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C</a:t>
              </a:r>
              <a:endParaRPr kumimoji="1" lang="en-US" altLang="zh-CN" sz="2400" baseline="-25000">
                <a:solidFill>
                  <a:schemeClr val="tx1"/>
                </a:solidFill>
              </a:endParaRPr>
            </a:p>
          </p:txBody>
        </p:sp>
        <p:sp>
          <p:nvSpPr>
            <p:cNvPr id="53" name="Rectangle 56"/>
            <p:cNvSpPr>
              <a:spLocks noChangeArrowheads="1"/>
            </p:cNvSpPr>
            <p:nvPr/>
          </p:nvSpPr>
          <p:spPr bwMode="auto">
            <a:xfrm flipH="1">
              <a:off x="2154" y="3839"/>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A</a:t>
              </a:r>
              <a:endParaRPr kumimoji="1" lang="en-US" altLang="zh-CN" sz="2400" baseline="-25000">
                <a:solidFill>
                  <a:schemeClr val="tx1"/>
                </a:solidFill>
              </a:endParaRPr>
            </a:p>
          </p:txBody>
        </p:sp>
        <p:sp>
          <p:nvSpPr>
            <p:cNvPr id="54" name="Rectangle 57"/>
            <p:cNvSpPr>
              <a:spLocks noChangeArrowheads="1"/>
            </p:cNvSpPr>
            <p:nvPr/>
          </p:nvSpPr>
          <p:spPr bwMode="auto">
            <a:xfrm flipH="1">
              <a:off x="3491" y="3839"/>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B</a:t>
              </a:r>
              <a:endParaRPr kumimoji="1" lang="en-US" altLang="zh-CN" sz="2400" baseline="-25000">
                <a:solidFill>
                  <a:schemeClr val="tx1"/>
                </a:solidFill>
              </a:endParaRPr>
            </a:p>
          </p:txBody>
        </p:sp>
        <p:sp>
          <p:nvSpPr>
            <p:cNvPr id="55" name="Rectangle 58"/>
            <p:cNvSpPr>
              <a:spLocks noChangeArrowheads="1"/>
            </p:cNvSpPr>
            <p:nvPr/>
          </p:nvSpPr>
          <p:spPr bwMode="auto">
            <a:xfrm flipH="1">
              <a:off x="2880" y="2387"/>
              <a:ext cx="13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00FF00"/>
                </a:buClr>
                <a:buFont typeface="Wingdings" panose="05000000000000000000" pitchFamily="2" charset="2"/>
                <a:buNone/>
              </a:pPr>
              <a:r>
                <a:rPr kumimoji="1" lang="en-US" altLang="zh-CN" sz="2400">
                  <a:solidFill>
                    <a:schemeClr val="tx1"/>
                  </a:solidFill>
                </a:rPr>
                <a:t>R</a:t>
              </a:r>
              <a:endParaRPr kumimoji="1" lang="en-US" altLang="zh-CN" sz="2400" baseline="-25000">
                <a:solidFill>
                  <a:schemeClr val="tx1"/>
                </a:solidFill>
              </a:endParaRPr>
            </a:p>
          </p:txBody>
        </p:sp>
      </p:grpSp>
      <p:sp>
        <p:nvSpPr>
          <p:cNvPr id="8" name="矩形 7"/>
          <p:cNvSpPr/>
          <p:nvPr/>
        </p:nvSpPr>
        <p:spPr>
          <a:xfrm>
            <a:off x="403565" y="1703994"/>
            <a:ext cx="11334410" cy="3655744"/>
          </a:xfrm>
          <a:prstGeom prst="rect">
            <a:avLst/>
          </a:prstGeom>
        </p:spPr>
        <p:txBody>
          <a:bodyPr wrap="square">
            <a:spAutoFit/>
          </a:bodyPr>
          <a:lstStyle/>
          <a:p>
            <a:pPr>
              <a:lnSpc>
                <a:spcPct val="140000"/>
              </a:lnSpc>
            </a:pPr>
            <a:r>
              <a:rPr lang="zh-CN" altLang="en-US" b="1" dirty="0">
                <a:solidFill>
                  <a:srgbClr val="C00000"/>
                </a:solidFill>
                <a:latin typeface="+mn-ea"/>
              </a:rPr>
              <a:t>解</a:t>
            </a:r>
            <a:r>
              <a:rPr lang="zh-CN" altLang="en-US" b="1" dirty="0">
                <a:latin typeface="+mn-ea"/>
              </a:rPr>
              <a:t>  根据右图，</a:t>
            </a:r>
            <a:r>
              <a:rPr lang="en-US" altLang="zh-CN" b="1" dirty="0">
                <a:latin typeface="+mn-ea"/>
              </a:rPr>
              <a:t>R</a:t>
            </a:r>
            <a:r>
              <a:rPr lang="zh-CN" altLang="en-US" b="1" dirty="0">
                <a:latin typeface="+mn-ea"/>
              </a:rPr>
              <a:t>＝</a:t>
            </a:r>
            <a:r>
              <a:rPr lang="en-US" altLang="zh-CN" b="1" dirty="0">
                <a:latin typeface="+mn-ea"/>
              </a:rPr>
              <a:t>{&lt;a</a:t>
            </a:r>
            <a:r>
              <a:rPr lang="en-US" altLang="zh-CN" b="1" baseline="-25000" dirty="0">
                <a:latin typeface="+mn-ea"/>
              </a:rPr>
              <a:t>3</a:t>
            </a:r>
            <a:r>
              <a:rPr lang="zh-CN" altLang="zh-CN" b="1" dirty="0">
                <a:latin typeface="+mn-ea"/>
              </a:rPr>
              <a:t>，</a:t>
            </a:r>
            <a:r>
              <a:rPr lang="en-US" altLang="zh-CN" b="1" dirty="0">
                <a:latin typeface="+mn-ea"/>
              </a:rPr>
              <a:t>b</a:t>
            </a:r>
            <a:r>
              <a:rPr lang="en-US" altLang="zh-CN" b="1" baseline="-25000" dirty="0">
                <a:latin typeface="+mn-ea"/>
              </a:rPr>
              <a:t>1</a:t>
            </a:r>
            <a:r>
              <a:rPr lang="en-US" altLang="zh-CN" b="1" dirty="0">
                <a:latin typeface="+mn-ea"/>
              </a:rPr>
              <a:t>&gt;</a:t>
            </a:r>
            <a:r>
              <a:rPr lang="zh-CN" altLang="zh-CN" b="1" dirty="0">
                <a:latin typeface="+mn-ea"/>
              </a:rPr>
              <a:t>，</a:t>
            </a:r>
            <a:r>
              <a:rPr lang="en-US" altLang="zh-CN" b="1" dirty="0">
                <a:latin typeface="+mn-ea"/>
              </a:rPr>
              <a:t>&lt;a</a:t>
            </a:r>
            <a:r>
              <a:rPr lang="en-US" altLang="zh-CN" b="1" baseline="-25000" dirty="0">
                <a:latin typeface="+mn-ea"/>
              </a:rPr>
              <a:t>3</a:t>
            </a:r>
            <a:r>
              <a:rPr lang="zh-CN" altLang="zh-CN" b="1" dirty="0">
                <a:latin typeface="+mn-ea"/>
              </a:rPr>
              <a:t>，</a:t>
            </a:r>
            <a:r>
              <a:rPr lang="en-US" altLang="zh-CN" b="1" dirty="0">
                <a:latin typeface="+mn-ea"/>
              </a:rPr>
              <a:t>b</a:t>
            </a:r>
            <a:r>
              <a:rPr lang="en-US" altLang="zh-CN" b="1" baseline="-25000" dirty="0">
                <a:latin typeface="+mn-ea"/>
              </a:rPr>
              <a:t>2</a:t>
            </a:r>
            <a:r>
              <a:rPr lang="en-US" altLang="zh-CN" b="1" dirty="0">
                <a:latin typeface="+mn-ea"/>
              </a:rPr>
              <a:t>&gt;</a:t>
            </a:r>
            <a:r>
              <a:rPr lang="zh-CN" altLang="zh-CN" b="1" dirty="0">
                <a:latin typeface="+mn-ea"/>
              </a:rPr>
              <a:t>，</a:t>
            </a:r>
            <a:endParaRPr lang="en-US" altLang="zh-CN" b="1" dirty="0">
              <a:latin typeface="+mn-ea"/>
            </a:endParaRPr>
          </a:p>
          <a:p>
            <a:pPr>
              <a:lnSpc>
                <a:spcPct val="140000"/>
              </a:lnSpc>
            </a:pPr>
            <a:r>
              <a:rPr lang="en-US" altLang="zh-CN" b="1" dirty="0">
                <a:latin typeface="+mn-ea"/>
              </a:rPr>
              <a:t>&lt;a</a:t>
            </a:r>
            <a:r>
              <a:rPr lang="en-US" altLang="zh-CN" b="1" baseline="-25000" dirty="0">
                <a:latin typeface="+mn-ea"/>
              </a:rPr>
              <a:t>4</a:t>
            </a:r>
            <a:r>
              <a:rPr lang="zh-CN" altLang="zh-CN" b="1" dirty="0">
                <a:latin typeface="+mn-ea"/>
              </a:rPr>
              <a:t>，</a:t>
            </a:r>
            <a:r>
              <a:rPr lang="en-US" altLang="zh-CN" b="1" dirty="0">
                <a:latin typeface="+mn-ea"/>
              </a:rPr>
              <a:t>b</a:t>
            </a:r>
            <a:r>
              <a:rPr lang="en-US" altLang="zh-CN" b="1" baseline="-25000" dirty="0">
                <a:latin typeface="+mn-ea"/>
              </a:rPr>
              <a:t>4</a:t>
            </a:r>
            <a:r>
              <a:rPr lang="en-US" altLang="zh-CN" b="1" dirty="0">
                <a:latin typeface="+mn-ea"/>
              </a:rPr>
              <a:t>&gt;</a:t>
            </a:r>
            <a:r>
              <a:rPr lang="zh-CN" altLang="zh-CN" b="1" dirty="0">
                <a:latin typeface="+mn-ea"/>
              </a:rPr>
              <a:t>，</a:t>
            </a:r>
            <a:r>
              <a:rPr lang="en-US" altLang="zh-CN" b="1" dirty="0">
                <a:latin typeface="+mn-ea"/>
              </a:rPr>
              <a:t>&lt;a</a:t>
            </a:r>
            <a:r>
              <a:rPr lang="en-US" altLang="zh-CN" b="1" baseline="-25000" dirty="0">
                <a:latin typeface="+mn-ea"/>
              </a:rPr>
              <a:t>6</a:t>
            </a:r>
            <a:r>
              <a:rPr lang="zh-CN" altLang="zh-CN" b="1" dirty="0">
                <a:latin typeface="+mn-ea"/>
              </a:rPr>
              <a:t>，</a:t>
            </a:r>
            <a:r>
              <a:rPr lang="en-US" altLang="zh-CN" b="1" dirty="0">
                <a:latin typeface="+mn-ea"/>
              </a:rPr>
              <a:t>b</a:t>
            </a:r>
            <a:r>
              <a:rPr lang="en-US" altLang="zh-CN" b="1" baseline="-25000" dirty="0">
                <a:latin typeface="+mn-ea"/>
              </a:rPr>
              <a:t>4</a:t>
            </a:r>
            <a:r>
              <a:rPr lang="en-US" altLang="zh-CN" b="1" dirty="0">
                <a:latin typeface="+mn-ea"/>
              </a:rPr>
              <a:t>&gt;</a:t>
            </a:r>
            <a:r>
              <a:rPr lang="zh-CN" altLang="zh-CN" b="1" dirty="0">
                <a:latin typeface="+mn-ea"/>
              </a:rPr>
              <a:t>，</a:t>
            </a:r>
            <a:r>
              <a:rPr lang="en-US" altLang="zh-CN" b="1" dirty="0">
                <a:latin typeface="+mn-ea"/>
              </a:rPr>
              <a:t>&lt;a</a:t>
            </a:r>
            <a:r>
              <a:rPr lang="en-US" altLang="zh-CN" b="1" baseline="-25000" dirty="0">
                <a:latin typeface="+mn-ea"/>
              </a:rPr>
              <a:t>6</a:t>
            </a:r>
            <a:r>
              <a:rPr lang="zh-CN" altLang="zh-CN" b="1" dirty="0">
                <a:latin typeface="+mn-ea"/>
              </a:rPr>
              <a:t>，</a:t>
            </a:r>
            <a:r>
              <a:rPr lang="en-US" altLang="zh-CN" b="1" dirty="0">
                <a:latin typeface="+mn-ea"/>
              </a:rPr>
              <a:t>b</a:t>
            </a:r>
            <a:r>
              <a:rPr lang="en-US" altLang="zh-CN" b="1" baseline="-25000" dirty="0">
                <a:latin typeface="+mn-ea"/>
              </a:rPr>
              <a:t>5</a:t>
            </a:r>
            <a:r>
              <a:rPr lang="en-US" altLang="zh-CN" b="1" dirty="0">
                <a:latin typeface="+mn-ea"/>
              </a:rPr>
              <a:t>&gt;}</a:t>
            </a:r>
            <a:r>
              <a:rPr lang="zh-CN" altLang="en-US" b="1" dirty="0">
                <a:latin typeface="+mn-ea"/>
              </a:rPr>
              <a:t>，</a:t>
            </a:r>
            <a:endParaRPr lang="en-US" altLang="zh-CN" b="1" dirty="0">
              <a:latin typeface="+mn-ea"/>
            </a:endParaRPr>
          </a:p>
          <a:p>
            <a:pPr>
              <a:lnSpc>
                <a:spcPct val="140000"/>
              </a:lnSpc>
            </a:pPr>
            <a:r>
              <a:rPr lang="en-US" altLang="zh-CN" b="1" dirty="0">
                <a:latin typeface="+mn-ea"/>
              </a:rPr>
              <a:t>A</a:t>
            </a:r>
            <a:r>
              <a:rPr lang="zh-CN" altLang="en-US" b="1" dirty="0">
                <a:latin typeface="+mn-ea"/>
              </a:rPr>
              <a:t>＝</a:t>
            </a:r>
            <a:r>
              <a:rPr lang="en-US" altLang="zh-CN" b="1" dirty="0">
                <a:latin typeface="+mn-ea"/>
              </a:rPr>
              <a:t>{a</a:t>
            </a:r>
            <a:r>
              <a:rPr lang="en-US" altLang="zh-CN" b="1" baseline="-25000" dirty="0">
                <a:latin typeface="+mn-ea"/>
              </a:rPr>
              <a:t>1</a:t>
            </a:r>
            <a:r>
              <a:rPr lang="zh-CN" altLang="en-US" b="1" dirty="0">
                <a:latin typeface="+mn-ea"/>
              </a:rPr>
              <a:t>，</a:t>
            </a:r>
            <a:r>
              <a:rPr lang="en-US" altLang="zh-CN" b="1" dirty="0">
                <a:latin typeface="+mn-ea"/>
              </a:rPr>
              <a:t>a</a:t>
            </a:r>
            <a:r>
              <a:rPr lang="en-US" altLang="zh-CN" b="1" baseline="-25000" dirty="0">
                <a:latin typeface="+mn-ea"/>
              </a:rPr>
              <a:t>2</a:t>
            </a:r>
            <a:r>
              <a:rPr lang="zh-CN" altLang="en-US" b="1" dirty="0">
                <a:latin typeface="+mn-ea"/>
              </a:rPr>
              <a:t>，</a:t>
            </a:r>
            <a:r>
              <a:rPr lang="en-US" altLang="zh-CN" b="1" dirty="0">
                <a:latin typeface="+mn-ea"/>
              </a:rPr>
              <a:t>a</a:t>
            </a:r>
            <a:r>
              <a:rPr lang="en-US" altLang="zh-CN" b="1" baseline="-25000" dirty="0">
                <a:latin typeface="+mn-ea"/>
              </a:rPr>
              <a:t>3</a:t>
            </a:r>
            <a:r>
              <a:rPr lang="zh-CN" altLang="en-US" b="1" dirty="0">
                <a:latin typeface="+mn-ea"/>
              </a:rPr>
              <a:t>，</a:t>
            </a:r>
            <a:r>
              <a:rPr lang="en-US" altLang="zh-CN" b="1" dirty="0">
                <a:latin typeface="+mn-ea"/>
              </a:rPr>
              <a:t>a</a:t>
            </a:r>
            <a:r>
              <a:rPr lang="en-US" altLang="zh-CN" b="1" baseline="-25000" dirty="0">
                <a:latin typeface="+mn-ea"/>
              </a:rPr>
              <a:t>4</a:t>
            </a:r>
            <a:r>
              <a:rPr lang="zh-CN" altLang="en-US" b="1" dirty="0">
                <a:latin typeface="+mn-ea"/>
              </a:rPr>
              <a:t>，</a:t>
            </a:r>
            <a:r>
              <a:rPr lang="en-US" altLang="zh-CN" b="1" dirty="0">
                <a:latin typeface="+mn-ea"/>
              </a:rPr>
              <a:t>a</a:t>
            </a:r>
            <a:r>
              <a:rPr lang="en-US" altLang="zh-CN" b="1" baseline="-25000" dirty="0">
                <a:latin typeface="+mn-ea"/>
              </a:rPr>
              <a:t>5</a:t>
            </a:r>
            <a:r>
              <a:rPr lang="zh-CN" altLang="en-US" b="1" dirty="0">
                <a:latin typeface="+mn-ea"/>
              </a:rPr>
              <a:t>，</a:t>
            </a:r>
            <a:r>
              <a:rPr lang="en-US" altLang="zh-CN" b="1" dirty="0">
                <a:latin typeface="+mn-ea"/>
              </a:rPr>
              <a:t>a</a:t>
            </a:r>
            <a:r>
              <a:rPr lang="en-US" altLang="zh-CN" b="1" baseline="-25000" dirty="0">
                <a:latin typeface="+mn-ea"/>
              </a:rPr>
              <a:t>6</a:t>
            </a:r>
            <a:r>
              <a:rPr lang="en-US" altLang="zh-CN" b="1" dirty="0">
                <a:latin typeface="+mn-ea"/>
              </a:rPr>
              <a:t>}</a:t>
            </a:r>
            <a:r>
              <a:rPr lang="zh-CN" altLang="en-US" b="1" dirty="0">
                <a:latin typeface="+mn-ea"/>
              </a:rPr>
              <a:t>，</a:t>
            </a:r>
            <a:endParaRPr lang="en-US" altLang="zh-CN" b="1" dirty="0">
              <a:latin typeface="+mn-ea"/>
            </a:endParaRPr>
          </a:p>
          <a:p>
            <a:pPr>
              <a:lnSpc>
                <a:spcPct val="140000"/>
              </a:lnSpc>
            </a:pPr>
            <a:r>
              <a:rPr lang="en-US" altLang="zh-CN" b="1" dirty="0">
                <a:latin typeface="+mn-ea"/>
              </a:rPr>
              <a:t>B</a:t>
            </a:r>
            <a:r>
              <a:rPr lang="zh-CN" altLang="en-US" b="1" dirty="0">
                <a:latin typeface="+mn-ea"/>
              </a:rPr>
              <a:t>＝</a:t>
            </a:r>
            <a:r>
              <a:rPr lang="en-US" altLang="zh-CN" b="1" dirty="0">
                <a:latin typeface="+mn-ea"/>
              </a:rPr>
              <a:t>{b</a:t>
            </a:r>
            <a:r>
              <a:rPr lang="en-US" altLang="zh-CN" b="1" baseline="-25000" dirty="0">
                <a:latin typeface="+mn-ea"/>
              </a:rPr>
              <a:t>1</a:t>
            </a:r>
            <a:r>
              <a:rPr lang="zh-CN" altLang="en-US" b="1" dirty="0">
                <a:latin typeface="+mn-ea"/>
              </a:rPr>
              <a:t>，</a:t>
            </a:r>
            <a:r>
              <a:rPr lang="en-US" altLang="zh-CN" b="1" dirty="0">
                <a:latin typeface="+mn-ea"/>
              </a:rPr>
              <a:t>b</a:t>
            </a:r>
            <a:r>
              <a:rPr lang="en-US" altLang="zh-CN" b="1" baseline="-25000" dirty="0">
                <a:latin typeface="+mn-ea"/>
              </a:rPr>
              <a:t>2</a:t>
            </a:r>
            <a:r>
              <a:rPr lang="zh-CN" altLang="en-US" b="1" dirty="0">
                <a:latin typeface="+mn-ea"/>
              </a:rPr>
              <a:t>，</a:t>
            </a:r>
            <a:r>
              <a:rPr lang="en-US" altLang="zh-CN" b="1" dirty="0">
                <a:latin typeface="+mn-ea"/>
              </a:rPr>
              <a:t>b</a:t>
            </a:r>
            <a:r>
              <a:rPr lang="en-US" altLang="zh-CN" b="1" baseline="-25000" dirty="0">
                <a:latin typeface="+mn-ea"/>
              </a:rPr>
              <a:t>3</a:t>
            </a:r>
            <a:r>
              <a:rPr lang="zh-CN" altLang="en-US" b="1" dirty="0">
                <a:latin typeface="+mn-ea"/>
              </a:rPr>
              <a:t>，</a:t>
            </a:r>
            <a:r>
              <a:rPr lang="en-US" altLang="zh-CN" b="1" dirty="0">
                <a:latin typeface="+mn-ea"/>
              </a:rPr>
              <a:t>b</a:t>
            </a:r>
            <a:r>
              <a:rPr lang="en-US" altLang="zh-CN" b="1" baseline="-25000" dirty="0">
                <a:latin typeface="+mn-ea"/>
              </a:rPr>
              <a:t>4</a:t>
            </a:r>
            <a:r>
              <a:rPr lang="zh-CN" altLang="en-US" b="1" dirty="0">
                <a:latin typeface="+mn-ea"/>
              </a:rPr>
              <a:t>，</a:t>
            </a:r>
            <a:r>
              <a:rPr lang="en-US" altLang="zh-CN" b="1" dirty="0">
                <a:latin typeface="+mn-ea"/>
              </a:rPr>
              <a:t>b</a:t>
            </a:r>
            <a:r>
              <a:rPr lang="en-US" altLang="zh-CN" b="1" baseline="-25000" dirty="0">
                <a:latin typeface="+mn-ea"/>
              </a:rPr>
              <a:t>5</a:t>
            </a:r>
            <a:r>
              <a:rPr lang="en-US" altLang="zh-CN" b="1" dirty="0">
                <a:latin typeface="+mn-ea"/>
              </a:rPr>
              <a:t>}</a:t>
            </a:r>
            <a:r>
              <a:rPr lang="zh-CN" altLang="en-US" b="1" dirty="0">
                <a:latin typeface="+mn-ea"/>
              </a:rPr>
              <a:t>，</a:t>
            </a:r>
            <a:endParaRPr lang="en-US" altLang="zh-CN" b="1" dirty="0">
              <a:latin typeface="+mn-ea"/>
            </a:endParaRPr>
          </a:p>
          <a:p>
            <a:pPr>
              <a:lnSpc>
                <a:spcPct val="140000"/>
              </a:lnSpc>
            </a:pPr>
            <a:r>
              <a:rPr lang="en-US" altLang="zh-CN" b="1" dirty="0">
                <a:latin typeface="+mn-ea"/>
              </a:rPr>
              <a:t>C</a:t>
            </a:r>
            <a:r>
              <a:rPr lang="zh-CN" altLang="en-US" b="1" dirty="0">
                <a:latin typeface="+mn-ea"/>
              </a:rPr>
              <a:t>＝</a:t>
            </a:r>
            <a:r>
              <a:rPr lang="en-US" altLang="zh-CN" b="1" dirty="0">
                <a:latin typeface="+mn-ea"/>
              </a:rPr>
              <a:t>{a</a:t>
            </a:r>
            <a:r>
              <a:rPr lang="en-US" altLang="zh-CN" b="1" baseline="-25000" dirty="0">
                <a:latin typeface="+mn-ea"/>
              </a:rPr>
              <a:t>3</a:t>
            </a:r>
            <a:r>
              <a:rPr lang="zh-CN" altLang="en-US" b="1" dirty="0">
                <a:latin typeface="+mn-ea"/>
              </a:rPr>
              <a:t>，</a:t>
            </a:r>
            <a:r>
              <a:rPr lang="en-US" altLang="zh-CN" b="1" dirty="0">
                <a:latin typeface="+mn-ea"/>
              </a:rPr>
              <a:t>a</a:t>
            </a:r>
            <a:r>
              <a:rPr lang="en-US" altLang="zh-CN" b="1" baseline="-25000" dirty="0">
                <a:latin typeface="+mn-ea"/>
              </a:rPr>
              <a:t>4</a:t>
            </a:r>
            <a:r>
              <a:rPr lang="zh-CN" altLang="en-US" b="1" dirty="0">
                <a:latin typeface="+mn-ea"/>
              </a:rPr>
              <a:t>，</a:t>
            </a:r>
            <a:r>
              <a:rPr lang="en-US" altLang="zh-CN" b="1" dirty="0">
                <a:latin typeface="+mn-ea"/>
              </a:rPr>
              <a:t>a</a:t>
            </a:r>
            <a:r>
              <a:rPr lang="en-US" altLang="zh-CN" b="1" baseline="-25000" dirty="0">
                <a:latin typeface="+mn-ea"/>
              </a:rPr>
              <a:t>6</a:t>
            </a:r>
            <a:r>
              <a:rPr lang="en-US" altLang="zh-CN" b="1" dirty="0">
                <a:latin typeface="+mn-ea"/>
              </a:rPr>
              <a:t>}</a:t>
            </a:r>
            <a:r>
              <a:rPr lang="zh-CN" altLang="en-US" b="1" dirty="0">
                <a:latin typeface="+mn-ea"/>
              </a:rPr>
              <a:t>，</a:t>
            </a:r>
            <a:r>
              <a:rPr lang="en-US" altLang="zh-CN" b="1" dirty="0">
                <a:latin typeface="+mn-ea"/>
              </a:rPr>
              <a:t>D</a:t>
            </a:r>
            <a:r>
              <a:rPr lang="zh-CN" altLang="en-US" b="1" dirty="0">
                <a:latin typeface="+mn-ea"/>
              </a:rPr>
              <a:t>＝</a:t>
            </a:r>
            <a:r>
              <a:rPr lang="en-US" altLang="zh-CN" b="1" dirty="0">
                <a:latin typeface="+mn-ea"/>
              </a:rPr>
              <a:t>{b</a:t>
            </a:r>
            <a:r>
              <a:rPr lang="en-US" altLang="zh-CN" b="1" baseline="-25000" dirty="0">
                <a:latin typeface="+mn-ea"/>
              </a:rPr>
              <a:t>1</a:t>
            </a:r>
            <a:r>
              <a:rPr lang="zh-CN" altLang="en-US" b="1" dirty="0">
                <a:latin typeface="+mn-ea"/>
              </a:rPr>
              <a:t>，</a:t>
            </a:r>
            <a:r>
              <a:rPr lang="en-US" altLang="zh-CN" b="1" dirty="0">
                <a:latin typeface="+mn-ea"/>
              </a:rPr>
              <a:t>b</a:t>
            </a:r>
            <a:r>
              <a:rPr lang="en-US" altLang="zh-CN" b="1" baseline="-25000" dirty="0">
                <a:latin typeface="+mn-ea"/>
              </a:rPr>
              <a:t>2</a:t>
            </a:r>
            <a:r>
              <a:rPr lang="zh-CN" altLang="en-US" b="1" dirty="0">
                <a:latin typeface="+mn-ea"/>
              </a:rPr>
              <a:t>，</a:t>
            </a:r>
            <a:r>
              <a:rPr lang="en-US" altLang="zh-CN" b="1" dirty="0">
                <a:latin typeface="+mn-ea"/>
              </a:rPr>
              <a:t>b</a:t>
            </a:r>
            <a:r>
              <a:rPr lang="en-US" altLang="zh-CN" b="1" baseline="-25000" dirty="0">
                <a:latin typeface="+mn-ea"/>
              </a:rPr>
              <a:t>4</a:t>
            </a:r>
            <a:r>
              <a:rPr lang="zh-CN" altLang="en-US" b="1" dirty="0">
                <a:latin typeface="+mn-ea"/>
              </a:rPr>
              <a:t>，</a:t>
            </a:r>
            <a:r>
              <a:rPr lang="en-US" altLang="zh-CN" b="1" dirty="0">
                <a:latin typeface="+mn-ea"/>
              </a:rPr>
              <a:t>b</a:t>
            </a:r>
            <a:r>
              <a:rPr lang="en-US" altLang="zh-CN" b="1" baseline="-25000" dirty="0">
                <a:latin typeface="+mn-ea"/>
              </a:rPr>
              <a:t>5</a:t>
            </a:r>
            <a:r>
              <a:rPr lang="en-US" altLang="zh-CN" b="1" dirty="0">
                <a:latin typeface="+mn-ea"/>
              </a:rPr>
              <a:t>}</a:t>
            </a:r>
            <a:r>
              <a:rPr lang="zh-CN" altLang="en-US" b="1" dirty="0">
                <a:latin typeface="+mn-ea"/>
              </a:rPr>
              <a:t>。</a:t>
            </a:r>
            <a:endParaRPr lang="en-US" altLang="zh-CN" b="1" dirty="0">
              <a:latin typeface="+mn-ea"/>
            </a:endParaRPr>
          </a:p>
          <a:p>
            <a:pPr>
              <a:lnSpc>
                <a:spcPct val="140000"/>
              </a:lnSpc>
            </a:pPr>
            <a:r>
              <a:rPr lang="zh-CN" altLang="en-US" b="1" dirty="0">
                <a:latin typeface="+mn-ea"/>
              </a:rPr>
              <a:t>显然有</a:t>
            </a:r>
            <a:r>
              <a:rPr lang="en-US" altLang="zh-CN" b="1" dirty="0">
                <a:latin typeface="+mn-ea"/>
              </a:rPr>
              <a:t>R</a:t>
            </a:r>
            <a:r>
              <a:rPr kumimoji="1" lang="zh-CN" altLang="en-US" dirty="0">
                <a:solidFill>
                  <a:srgbClr val="FF0000"/>
                </a:solidFill>
                <a:sym typeface="Symbol" panose="05050102010706020507" pitchFamily="18" charset="2"/>
              </a:rPr>
              <a:t> </a:t>
            </a:r>
            <a:r>
              <a:rPr lang="en-US" altLang="zh-CN" b="1" dirty="0">
                <a:latin typeface="+mn-ea"/>
              </a:rPr>
              <a:t> C×D</a:t>
            </a:r>
            <a:r>
              <a:rPr kumimoji="1" lang="zh-CN" altLang="en-US" dirty="0">
                <a:solidFill>
                  <a:srgbClr val="FF0000"/>
                </a:solidFill>
                <a:sym typeface="Symbol" panose="05050102010706020507" pitchFamily="18" charset="2"/>
              </a:rPr>
              <a:t> </a:t>
            </a:r>
            <a:r>
              <a:rPr lang="en-US" altLang="zh-CN" b="1" dirty="0">
                <a:latin typeface="+mn-ea"/>
              </a:rPr>
              <a:t> A×B</a:t>
            </a:r>
            <a:r>
              <a:rPr lang="zh-CN" altLang="en-US" b="1" dirty="0">
                <a:latin typeface="+mn-ea"/>
              </a:rPr>
              <a:t>，</a:t>
            </a:r>
            <a:endParaRPr lang="en-US" altLang="zh-CN" b="1" dirty="0">
              <a:latin typeface="+mn-ea"/>
            </a:endParaRPr>
          </a:p>
          <a:p>
            <a:pPr>
              <a:lnSpc>
                <a:spcPct val="140000"/>
              </a:lnSpc>
            </a:pPr>
            <a:r>
              <a:rPr lang="zh-CN" altLang="en-US" b="1" dirty="0">
                <a:latin typeface="+mn-ea"/>
              </a:rPr>
              <a:t>因此，</a:t>
            </a:r>
            <a:r>
              <a:rPr lang="en-US" altLang="zh-CN" b="1" dirty="0">
                <a:latin typeface="+mn-ea"/>
              </a:rPr>
              <a:t>R</a:t>
            </a:r>
            <a:r>
              <a:rPr lang="zh-CN" altLang="en-US" b="1" dirty="0">
                <a:latin typeface="+mn-ea"/>
              </a:rPr>
              <a:t>是以</a:t>
            </a:r>
            <a:r>
              <a:rPr lang="en-US" altLang="zh-CN" b="1" dirty="0">
                <a:latin typeface="+mn-ea"/>
              </a:rPr>
              <a:t>C×D</a:t>
            </a:r>
            <a:r>
              <a:rPr lang="zh-CN" altLang="en-US" b="1" dirty="0">
                <a:latin typeface="+mn-ea"/>
              </a:rPr>
              <a:t>为基的二元关系，也是以</a:t>
            </a:r>
            <a:r>
              <a:rPr lang="en-US" altLang="zh-CN" b="1" dirty="0">
                <a:latin typeface="+mn-ea"/>
              </a:rPr>
              <a:t>A×B</a:t>
            </a:r>
            <a:r>
              <a:rPr lang="zh-CN" altLang="en-US" b="1" dirty="0">
                <a:latin typeface="+mn-ea"/>
              </a:rPr>
              <a:t>为基的二元关系。</a:t>
            </a:r>
            <a:endParaRPr lang="zh-CN" altLang="en-US" b="1" dirty="0">
              <a:latin typeface="+mn-ea"/>
            </a:endParaRPr>
          </a:p>
        </p:txBody>
      </p:sp>
      <p:sp>
        <p:nvSpPr>
          <p:cNvPr id="14" name="矩形 13"/>
          <p:cNvSpPr/>
          <p:nvPr/>
        </p:nvSpPr>
        <p:spPr>
          <a:xfrm>
            <a:off x="406740" y="5451956"/>
            <a:ext cx="11559835" cy="1200329"/>
          </a:xfrm>
          <a:prstGeom prst="rect">
            <a:avLst/>
          </a:prstGeom>
          <a:solidFill>
            <a:srgbClr val="1157AB"/>
          </a:solidFill>
        </p:spPr>
        <p:txBody>
          <a:bodyPr wrap="square">
            <a:spAutoFit/>
          </a:bodyPr>
          <a:lstStyle/>
          <a:p>
            <a:r>
              <a:rPr lang="zh-CN" altLang="en-US" b="1" dirty="0">
                <a:solidFill>
                  <a:schemeClr val="bg1"/>
                </a:solidFill>
                <a:latin typeface="+mn-ea"/>
              </a:rPr>
              <a:t>显然，</a:t>
            </a:r>
            <a:r>
              <a:rPr lang="en-US" altLang="zh-CN" b="1" dirty="0">
                <a:solidFill>
                  <a:schemeClr val="bg1"/>
                </a:solidFill>
                <a:latin typeface="+mn-ea"/>
              </a:rPr>
              <a:t>C</a:t>
            </a:r>
            <a:r>
              <a:rPr lang="zh-CN" altLang="en-US" b="1" dirty="0">
                <a:solidFill>
                  <a:schemeClr val="bg1"/>
                </a:solidFill>
                <a:latin typeface="+mn-ea"/>
              </a:rPr>
              <a:t>＝</a:t>
            </a:r>
            <a:r>
              <a:rPr lang="en-US" altLang="zh-CN" b="1" dirty="0">
                <a:solidFill>
                  <a:schemeClr val="bg1"/>
                </a:solidFill>
                <a:latin typeface="+mn-ea"/>
              </a:rPr>
              <a:t>{x|&lt;x</a:t>
            </a:r>
            <a:r>
              <a:rPr lang="zh-CN" altLang="en-US" b="1" dirty="0">
                <a:solidFill>
                  <a:schemeClr val="bg1"/>
                </a:solidFill>
                <a:latin typeface="+mn-ea"/>
              </a:rPr>
              <a:t>，</a:t>
            </a:r>
            <a:r>
              <a:rPr lang="en-US" altLang="zh-CN" b="1" dirty="0">
                <a:solidFill>
                  <a:schemeClr val="bg1"/>
                </a:solidFill>
                <a:latin typeface="+mn-ea"/>
              </a:rPr>
              <a:t>y&gt;∈R} </a:t>
            </a:r>
            <a:r>
              <a:rPr kumimoji="1" lang="zh-CN" altLang="en-US" b="1" dirty="0">
                <a:solidFill>
                  <a:schemeClr val="bg1"/>
                </a:solidFill>
                <a:latin typeface="+mn-ea"/>
                <a:sym typeface="Symbol" panose="05050102010706020507" pitchFamily="18" charset="2"/>
              </a:rPr>
              <a:t> </a:t>
            </a:r>
            <a:r>
              <a:rPr lang="en-US" altLang="zh-CN" b="1" dirty="0">
                <a:solidFill>
                  <a:schemeClr val="bg1"/>
                </a:solidFill>
                <a:latin typeface="+mn-ea"/>
              </a:rPr>
              <a:t>A</a:t>
            </a:r>
            <a:r>
              <a:rPr lang="zh-CN" altLang="en-US" b="1" dirty="0">
                <a:solidFill>
                  <a:schemeClr val="bg1"/>
                </a:solidFill>
                <a:latin typeface="+mn-ea"/>
              </a:rPr>
              <a:t>，</a:t>
            </a:r>
            <a:r>
              <a:rPr lang="en-US" altLang="zh-CN" b="1" dirty="0">
                <a:solidFill>
                  <a:schemeClr val="bg1"/>
                </a:solidFill>
                <a:latin typeface="+mn-ea"/>
              </a:rPr>
              <a:t>D</a:t>
            </a:r>
            <a:r>
              <a:rPr lang="zh-CN" altLang="en-US" b="1" dirty="0">
                <a:solidFill>
                  <a:schemeClr val="bg1"/>
                </a:solidFill>
                <a:latin typeface="+mn-ea"/>
              </a:rPr>
              <a:t>＝</a:t>
            </a:r>
            <a:r>
              <a:rPr lang="en-US" altLang="zh-CN" b="1" dirty="0">
                <a:solidFill>
                  <a:schemeClr val="bg1"/>
                </a:solidFill>
                <a:latin typeface="+mn-ea"/>
              </a:rPr>
              <a:t>{y|&lt;x</a:t>
            </a:r>
            <a:r>
              <a:rPr lang="zh-CN" altLang="en-US" b="1" dirty="0">
                <a:solidFill>
                  <a:schemeClr val="bg1"/>
                </a:solidFill>
                <a:latin typeface="+mn-ea"/>
              </a:rPr>
              <a:t>，</a:t>
            </a:r>
            <a:r>
              <a:rPr lang="en-US" altLang="zh-CN" b="1" dirty="0">
                <a:solidFill>
                  <a:schemeClr val="bg1"/>
                </a:solidFill>
                <a:latin typeface="+mn-ea"/>
              </a:rPr>
              <a:t>y&gt;∈R} </a:t>
            </a:r>
            <a:r>
              <a:rPr kumimoji="1" lang="zh-CN" altLang="en-US" b="1" dirty="0">
                <a:solidFill>
                  <a:schemeClr val="bg1"/>
                </a:solidFill>
                <a:latin typeface="+mn-ea"/>
                <a:sym typeface="Symbol" panose="05050102010706020507" pitchFamily="18" charset="2"/>
              </a:rPr>
              <a:t> </a:t>
            </a:r>
            <a:r>
              <a:rPr lang="en-US" altLang="zh-CN" b="1" dirty="0">
                <a:solidFill>
                  <a:schemeClr val="bg1"/>
                </a:solidFill>
                <a:latin typeface="+mn-ea"/>
              </a:rPr>
              <a:t>B</a:t>
            </a:r>
            <a:r>
              <a:rPr lang="zh-CN" altLang="en-US" b="1" dirty="0">
                <a:solidFill>
                  <a:schemeClr val="bg1"/>
                </a:solidFill>
                <a:latin typeface="+mn-ea"/>
              </a:rPr>
              <a:t>，此时，</a:t>
            </a:r>
            <a:r>
              <a:rPr lang="en-US" altLang="zh-CN" b="1" dirty="0">
                <a:solidFill>
                  <a:srgbClr val="FFFF00"/>
                </a:solidFill>
                <a:latin typeface="+mn-ea"/>
              </a:rPr>
              <a:t>A</a:t>
            </a:r>
            <a:r>
              <a:rPr lang="zh-CN" altLang="en-US" b="1" dirty="0">
                <a:solidFill>
                  <a:srgbClr val="FFFF00"/>
                </a:solidFill>
                <a:latin typeface="+mn-ea"/>
              </a:rPr>
              <a:t>称为关系</a:t>
            </a:r>
            <a:r>
              <a:rPr lang="en-US" altLang="zh-CN" b="1" dirty="0">
                <a:solidFill>
                  <a:srgbClr val="FFFF00"/>
                </a:solidFill>
                <a:latin typeface="+mn-ea"/>
              </a:rPr>
              <a:t>R</a:t>
            </a:r>
            <a:r>
              <a:rPr lang="zh-CN" altLang="en-US" b="1" dirty="0">
                <a:solidFill>
                  <a:srgbClr val="FFFF00"/>
                </a:solidFill>
                <a:latin typeface="+mn-ea"/>
              </a:rPr>
              <a:t>的前域，</a:t>
            </a:r>
            <a:r>
              <a:rPr lang="en-US" altLang="zh-CN" b="1" dirty="0">
                <a:solidFill>
                  <a:srgbClr val="FFFF00"/>
                </a:solidFill>
                <a:latin typeface="+mn-ea"/>
              </a:rPr>
              <a:t>B</a:t>
            </a:r>
            <a:r>
              <a:rPr lang="zh-CN" altLang="en-US" b="1" dirty="0">
                <a:solidFill>
                  <a:srgbClr val="FFFF00"/>
                </a:solidFill>
                <a:latin typeface="+mn-ea"/>
              </a:rPr>
              <a:t>称为关系</a:t>
            </a:r>
            <a:r>
              <a:rPr lang="en-US" altLang="zh-CN" b="1" dirty="0">
                <a:solidFill>
                  <a:srgbClr val="FFFF00"/>
                </a:solidFill>
                <a:latin typeface="+mn-ea"/>
              </a:rPr>
              <a:t>R</a:t>
            </a:r>
            <a:r>
              <a:rPr lang="zh-CN" altLang="en-US" b="1" dirty="0">
                <a:solidFill>
                  <a:srgbClr val="FFFF00"/>
                </a:solidFill>
                <a:latin typeface="+mn-ea"/>
              </a:rPr>
              <a:t>的后域</a:t>
            </a:r>
            <a:r>
              <a:rPr lang="zh-CN" altLang="en-US" b="1" dirty="0">
                <a:solidFill>
                  <a:schemeClr val="bg1"/>
                </a:solidFill>
                <a:latin typeface="+mn-ea"/>
              </a:rPr>
              <a:t>，</a:t>
            </a:r>
            <a:r>
              <a:rPr lang="en-US" altLang="zh-CN" b="1" dirty="0">
                <a:solidFill>
                  <a:srgbClr val="FFFF00"/>
                </a:solidFill>
                <a:latin typeface="+mn-ea"/>
              </a:rPr>
              <a:t>C</a:t>
            </a:r>
            <a:r>
              <a:rPr lang="zh-CN" altLang="en-US" b="1" dirty="0">
                <a:solidFill>
                  <a:srgbClr val="FFFF00"/>
                </a:solidFill>
                <a:latin typeface="+mn-ea"/>
              </a:rPr>
              <a:t>称为</a:t>
            </a:r>
            <a:r>
              <a:rPr lang="en-US" altLang="zh-CN" b="1" dirty="0">
                <a:solidFill>
                  <a:srgbClr val="FFFF00"/>
                </a:solidFill>
                <a:latin typeface="+mn-ea"/>
              </a:rPr>
              <a:t>R</a:t>
            </a:r>
            <a:r>
              <a:rPr lang="zh-CN" altLang="en-US" b="1" dirty="0">
                <a:solidFill>
                  <a:srgbClr val="FFFF00"/>
                </a:solidFill>
                <a:latin typeface="+mn-ea"/>
              </a:rPr>
              <a:t>的定义域</a:t>
            </a:r>
            <a:r>
              <a:rPr lang="en-US" altLang="zh-CN" b="1" dirty="0">
                <a:solidFill>
                  <a:schemeClr val="bg1"/>
                </a:solidFill>
                <a:latin typeface="+mn-ea"/>
              </a:rPr>
              <a:t>(Domain)</a:t>
            </a:r>
            <a:r>
              <a:rPr lang="zh-CN" altLang="en-US" b="1" dirty="0">
                <a:solidFill>
                  <a:schemeClr val="bg1"/>
                </a:solidFill>
                <a:latin typeface="+mn-ea"/>
              </a:rPr>
              <a:t>，记作</a:t>
            </a:r>
            <a:r>
              <a:rPr lang="en-US" altLang="zh-CN" b="1" dirty="0">
                <a:solidFill>
                  <a:schemeClr val="bg1"/>
                </a:solidFill>
                <a:latin typeface="+mn-ea"/>
              </a:rPr>
              <a:t>C</a:t>
            </a:r>
            <a:r>
              <a:rPr lang="zh-CN" altLang="en-US" b="1" dirty="0">
                <a:solidFill>
                  <a:schemeClr val="bg1"/>
                </a:solidFill>
                <a:latin typeface="+mn-ea"/>
              </a:rPr>
              <a:t>＝</a:t>
            </a:r>
            <a:r>
              <a:rPr lang="en-US" altLang="zh-CN" b="1" dirty="0" err="1">
                <a:solidFill>
                  <a:schemeClr val="bg1"/>
                </a:solidFill>
                <a:latin typeface="+mn-ea"/>
              </a:rPr>
              <a:t>domR</a:t>
            </a:r>
            <a:r>
              <a:rPr lang="zh-CN" altLang="en-US" b="1" dirty="0">
                <a:solidFill>
                  <a:schemeClr val="bg1"/>
                </a:solidFill>
                <a:latin typeface="+mn-ea"/>
              </a:rPr>
              <a:t>，</a:t>
            </a:r>
            <a:r>
              <a:rPr lang="en-US" altLang="zh-CN" b="1" dirty="0">
                <a:solidFill>
                  <a:srgbClr val="FFFF00"/>
                </a:solidFill>
                <a:latin typeface="+mn-ea"/>
              </a:rPr>
              <a:t>D</a:t>
            </a:r>
            <a:r>
              <a:rPr lang="zh-CN" altLang="en-US" b="1" dirty="0">
                <a:solidFill>
                  <a:srgbClr val="FFFF00"/>
                </a:solidFill>
                <a:latin typeface="+mn-ea"/>
              </a:rPr>
              <a:t>称为</a:t>
            </a:r>
            <a:r>
              <a:rPr lang="en-US" altLang="zh-CN" b="1" dirty="0">
                <a:solidFill>
                  <a:srgbClr val="FFFF00"/>
                </a:solidFill>
                <a:latin typeface="+mn-ea"/>
              </a:rPr>
              <a:t>R</a:t>
            </a:r>
            <a:r>
              <a:rPr lang="zh-CN" altLang="en-US" b="1" dirty="0">
                <a:solidFill>
                  <a:srgbClr val="FFFF00"/>
                </a:solidFill>
                <a:latin typeface="+mn-ea"/>
              </a:rPr>
              <a:t>的值域</a:t>
            </a:r>
            <a:r>
              <a:rPr lang="en-US" altLang="zh-CN" b="1" dirty="0">
                <a:solidFill>
                  <a:schemeClr val="bg1"/>
                </a:solidFill>
                <a:latin typeface="+mn-ea"/>
              </a:rPr>
              <a:t>(Range)</a:t>
            </a:r>
            <a:r>
              <a:rPr lang="zh-CN" altLang="en-US" b="1" dirty="0">
                <a:solidFill>
                  <a:schemeClr val="bg1"/>
                </a:solidFill>
                <a:latin typeface="+mn-ea"/>
              </a:rPr>
              <a:t>，记作</a:t>
            </a:r>
            <a:r>
              <a:rPr lang="en-US" altLang="zh-CN" b="1" dirty="0">
                <a:solidFill>
                  <a:schemeClr val="bg1"/>
                </a:solidFill>
                <a:latin typeface="+mn-ea"/>
              </a:rPr>
              <a:t>D</a:t>
            </a:r>
            <a:r>
              <a:rPr lang="zh-CN" altLang="en-US" b="1" dirty="0">
                <a:solidFill>
                  <a:schemeClr val="bg1"/>
                </a:solidFill>
                <a:latin typeface="+mn-ea"/>
              </a:rPr>
              <a:t>＝</a:t>
            </a:r>
            <a:r>
              <a:rPr lang="en-US" altLang="zh-CN" b="1" dirty="0" err="1">
                <a:solidFill>
                  <a:schemeClr val="bg1"/>
                </a:solidFill>
                <a:latin typeface="+mn-ea"/>
              </a:rPr>
              <a:t>ranR</a:t>
            </a:r>
            <a:r>
              <a:rPr lang="zh-CN" altLang="en-US" b="1" dirty="0">
                <a:solidFill>
                  <a:schemeClr val="bg1"/>
                </a:solidFill>
                <a:latin typeface="+mn-ea"/>
              </a:rPr>
              <a:t>，</a:t>
            </a:r>
            <a:r>
              <a:rPr lang="en-US" altLang="zh-CN" b="1" dirty="0" err="1">
                <a:solidFill>
                  <a:srgbClr val="FFFF00"/>
                </a:solidFill>
                <a:latin typeface="+mn-ea"/>
              </a:rPr>
              <a:t>fldR</a:t>
            </a:r>
            <a:r>
              <a:rPr lang="zh-CN" altLang="en-US" b="1" dirty="0">
                <a:solidFill>
                  <a:srgbClr val="FFFF00"/>
                </a:solidFill>
                <a:latin typeface="+mn-ea"/>
              </a:rPr>
              <a:t>＝</a:t>
            </a:r>
            <a:r>
              <a:rPr lang="en-US" altLang="zh-CN" b="1" dirty="0" err="1">
                <a:solidFill>
                  <a:srgbClr val="FFFF00"/>
                </a:solidFill>
                <a:latin typeface="+mn-ea"/>
              </a:rPr>
              <a:t>domR∪ranR</a:t>
            </a:r>
            <a:r>
              <a:rPr lang="zh-CN" altLang="en-US" b="1" dirty="0">
                <a:solidFill>
                  <a:srgbClr val="FFFF00"/>
                </a:solidFill>
                <a:latin typeface="+mn-ea"/>
              </a:rPr>
              <a:t>称为</a:t>
            </a:r>
            <a:r>
              <a:rPr lang="en-US" altLang="zh-CN" b="1" dirty="0">
                <a:solidFill>
                  <a:srgbClr val="FFFF00"/>
                </a:solidFill>
                <a:latin typeface="+mn-ea"/>
              </a:rPr>
              <a:t>R</a:t>
            </a:r>
            <a:r>
              <a:rPr lang="zh-CN" altLang="en-US" b="1" dirty="0">
                <a:solidFill>
                  <a:srgbClr val="FFFF00"/>
                </a:solidFill>
                <a:latin typeface="+mn-ea"/>
              </a:rPr>
              <a:t>的域</a:t>
            </a:r>
            <a:r>
              <a:rPr lang="en-US" altLang="zh-CN" b="1" dirty="0">
                <a:solidFill>
                  <a:schemeClr val="bg1"/>
                </a:solidFill>
                <a:latin typeface="+mn-ea"/>
              </a:rPr>
              <a:t>(Field)</a:t>
            </a:r>
            <a:endParaRPr lang="zh-CN" altLang="en-US" b="1" dirty="0">
              <a:solidFill>
                <a:schemeClr val="bg1"/>
              </a:solidFill>
              <a:latin typeface="+mn-ea"/>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circle(in)">
                                      <p:cBhvr>
                                        <p:cTn id="10" dur="20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circle(in)">
                                      <p:cBhvr>
                                        <p:cTn id="15" dur="20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circle(in)">
                                      <p:cBhvr>
                                        <p:cTn id="20" dur="20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circle(in)">
                                      <p:cBhvr>
                                        <p:cTn id="25" dur="2000"/>
                                        <p:tgtEl>
                                          <p:spTgt spid="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8">
                                            <p:txEl>
                                              <p:pRg st="5" end="5"/>
                                            </p:txEl>
                                          </p:spTgt>
                                        </p:tgtEl>
                                        <p:attrNameLst>
                                          <p:attrName>style.visibility</p:attrName>
                                        </p:attrNameLst>
                                      </p:cBhvr>
                                      <p:to>
                                        <p:strVal val="visible"/>
                                      </p:to>
                                    </p:set>
                                    <p:animEffect transition="in" filter="circle(in)">
                                      <p:cBhvr>
                                        <p:cTn id="30" dur="2000"/>
                                        <p:tgtEl>
                                          <p:spTgt spid="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circle(in)">
                                      <p:cBhvr>
                                        <p:cTn id="35" dur="2000"/>
                                        <p:tgtEl>
                                          <p:spTgt spid="8">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0834" name="Rectangle 2"/>
          <p:cNvSpPr>
            <a:spLocks noGrp="1" noChangeArrowheads="1"/>
          </p:cNvSpPr>
          <p:nvPr>
            <p:ph type="body" idx="1"/>
          </p:nvPr>
        </p:nvSpPr>
        <p:spPr>
          <a:xfrm>
            <a:off x="384175" y="924968"/>
            <a:ext cx="11430000" cy="1349869"/>
          </a:xfrm>
        </p:spPr>
        <p:txBody>
          <a:bodyPr>
            <a:noAutofit/>
          </a:bodyPr>
          <a:lstStyle/>
          <a:p>
            <a:pPr marL="0" indent="0">
              <a:lnSpc>
                <a:spcPct val="150000"/>
              </a:lnSpc>
              <a:spcBef>
                <a:spcPct val="30000"/>
              </a:spcBef>
              <a:buNone/>
            </a:pPr>
            <a:r>
              <a:rPr lang="zh-CN" altLang="en-US" dirty="0">
                <a:solidFill>
                  <a:srgbClr val="C00000"/>
                </a:solidFill>
              </a:rPr>
              <a:t>例</a:t>
            </a:r>
            <a:r>
              <a:rPr lang="en-US" altLang="zh-CN" dirty="0">
                <a:solidFill>
                  <a:srgbClr val="C00000"/>
                </a:solidFill>
              </a:rPr>
              <a:t>4.8  </a:t>
            </a:r>
            <a:r>
              <a:rPr lang="zh-CN" altLang="zh-CN" dirty="0">
                <a:solidFill>
                  <a:schemeClr val="tx1"/>
                </a:solidFill>
              </a:rPr>
              <a:t>设</a:t>
            </a:r>
            <a:r>
              <a:rPr lang="en-US" altLang="zh-CN" dirty="0">
                <a:solidFill>
                  <a:schemeClr val="tx1"/>
                </a:solidFill>
              </a:rPr>
              <a:t>A</a:t>
            </a:r>
            <a:r>
              <a:rPr lang="es-ES" altLang="zh-CN" dirty="0">
                <a:solidFill>
                  <a:schemeClr val="tx1"/>
                </a:solidFill>
              </a:rPr>
              <a:t>={1</a:t>
            </a:r>
            <a:r>
              <a:rPr lang="zh-CN" altLang="zh-CN" dirty="0">
                <a:solidFill>
                  <a:schemeClr val="tx1"/>
                </a:solidFill>
              </a:rPr>
              <a:t>，</a:t>
            </a:r>
            <a:r>
              <a:rPr lang="es-ES" altLang="zh-CN" dirty="0">
                <a:solidFill>
                  <a:schemeClr val="tx1"/>
                </a:solidFill>
              </a:rPr>
              <a:t>2</a:t>
            </a:r>
            <a:r>
              <a:rPr lang="zh-CN" altLang="zh-CN" dirty="0">
                <a:solidFill>
                  <a:schemeClr val="tx1"/>
                </a:solidFill>
              </a:rPr>
              <a:t>，</a:t>
            </a:r>
            <a:r>
              <a:rPr lang="es-ES" altLang="zh-CN" dirty="0">
                <a:solidFill>
                  <a:schemeClr val="tx1"/>
                </a:solidFill>
              </a:rPr>
              <a:t>4</a:t>
            </a:r>
            <a:r>
              <a:rPr lang="zh-CN" altLang="zh-CN" dirty="0">
                <a:solidFill>
                  <a:schemeClr val="tx1"/>
                </a:solidFill>
              </a:rPr>
              <a:t>，</a:t>
            </a:r>
            <a:r>
              <a:rPr lang="es-ES" altLang="zh-CN" dirty="0">
                <a:solidFill>
                  <a:schemeClr val="tx1"/>
                </a:solidFill>
              </a:rPr>
              <a:t>8}</a:t>
            </a:r>
            <a:r>
              <a:rPr lang="zh-CN" altLang="zh-CN" dirty="0">
                <a:solidFill>
                  <a:schemeClr val="tx1"/>
                </a:solidFill>
              </a:rPr>
              <a:t>，</a:t>
            </a:r>
            <a:r>
              <a:rPr lang="es-ES" altLang="zh-CN" dirty="0">
                <a:solidFill>
                  <a:schemeClr val="tx1"/>
                </a:solidFill>
              </a:rPr>
              <a:t>R</a:t>
            </a:r>
            <a:r>
              <a:rPr lang="zh-CN" altLang="zh-CN" dirty="0">
                <a:solidFill>
                  <a:schemeClr val="tx1"/>
                </a:solidFill>
              </a:rPr>
              <a:t>是</a:t>
            </a:r>
            <a:r>
              <a:rPr lang="es-ES" altLang="zh-CN" dirty="0">
                <a:solidFill>
                  <a:schemeClr val="tx1"/>
                </a:solidFill>
              </a:rPr>
              <a:t>A</a:t>
            </a:r>
            <a:r>
              <a:rPr lang="zh-CN" altLang="zh-CN" dirty="0">
                <a:solidFill>
                  <a:schemeClr val="tx1"/>
                </a:solidFill>
              </a:rPr>
              <a:t>上的小于关系。试写出</a:t>
            </a:r>
            <a:r>
              <a:rPr lang="es-ES" altLang="zh-CN" dirty="0">
                <a:solidFill>
                  <a:schemeClr val="tx1"/>
                </a:solidFill>
              </a:rPr>
              <a:t>R</a:t>
            </a:r>
            <a:r>
              <a:rPr lang="zh-CN" altLang="zh-CN" dirty="0">
                <a:solidFill>
                  <a:schemeClr val="tx1"/>
                </a:solidFill>
              </a:rPr>
              <a:t>的元素，画出</a:t>
            </a:r>
            <a:r>
              <a:rPr lang="es-ES" altLang="zh-CN" dirty="0">
                <a:solidFill>
                  <a:schemeClr val="tx1"/>
                </a:solidFill>
              </a:rPr>
              <a:t>R</a:t>
            </a:r>
            <a:r>
              <a:rPr lang="zh-CN" altLang="zh-CN" dirty="0">
                <a:solidFill>
                  <a:schemeClr val="tx1"/>
                </a:solidFill>
              </a:rPr>
              <a:t>的关系图，并求出</a:t>
            </a:r>
            <a:r>
              <a:rPr lang="es-ES" altLang="zh-CN" dirty="0">
                <a:solidFill>
                  <a:schemeClr val="tx1"/>
                </a:solidFill>
              </a:rPr>
              <a:t>R</a:t>
            </a:r>
            <a:r>
              <a:rPr lang="zh-CN" altLang="zh-CN" dirty="0">
                <a:solidFill>
                  <a:schemeClr val="tx1"/>
                </a:solidFill>
              </a:rPr>
              <a:t>的定义域、值域和域。</a:t>
            </a:r>
            <a:endParaRPr lang="zh-CN" altLang="en-US" dirty="0">
              <a:solidFill>
                <a:schemeClr val="tx1"/>
              </a:solidFill>
            </a:endParaRPr>
          </a:p>
        </p:txBody>
      </p:sp>
      <p:sp>
        <p:nvSpPr>
          <p:cNvPr id="62468" name="Rectangle 3"/>
          <p:cNvSpPr>
            <a:spLocks noGrp="1" noChangeArrowheads="1"/>
          </p:cNvSpPr>
          <p:nvPr>
            <p:ph type="title"/>
          </p:nvPr>
        </p:nvSpPr>
        <p:spPr>
          <a:xfrm>
            <a:off x="765175" y="305594"/>
            <a:ext cx="8066367" cy="585923"/>
          </a:xfrm>
        </p:spPr>
        <p:txBody>
          <a:bodyPr/>
          <a:lstStyle/>
          <a:p>
            <a:pPr eaLnBrk="1" hangingPunct="1"/>
            <a:r>
              <a:rPr lang="zh-CN" altLang="zh-CN" dirty="0"/>
              <a:t>例</a:t>
            </a:r>
            <a:r>
              <a:rPr lang="en-US" altLang="zh-CN" dirty="0"/>
              <a:t>4.8</a:t>
            </a:r>
            <a:endParaRPr lang="en-US" altLang="zh-CN" dirty="0"/>
          </a:p>
        </p:txBody>
      </p:sp>
      <p:sp>
        <p:nvSpPr>
          <p:cNvPr id="4" name="矩形 3"/>
          <p:cNvSpPr/>
          <p:nvPr/>
        </p:nvSpPr>
        <p:spPr>
          <a:xfrm>
            <a:off x="536575" y="2274836"/>
            <a:ext cx="7086600" cy="3416320"/>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由题意可得，</a:t>
            </a:r>
            <a:r>
              <a:rPr lang="en-US" altLang="zh-CN" b="1" dirty="0">
                <a:latin typeface="+mn-ea"/>
              </a:rPr>
              <a:t>R={&lt;1,2&gt;,&lt;1,4&gt;,&lt;1,8&gt;,&lt;2,4&gt;,&lt;2,8&gt;,&lt;4,8&gt;}</a:t>
            </a:r>
            <a:r>
              <a:rPr lang="zh-CN" altLang="en-US" b="1" dirty="0">
                <a:latin typeface="+mn-ea"/>
              </a:rPr>
              <a:t>，</a:t>
            </a:r>
            <a:endParaRPr lang="en-US" altLang="zh-CN" b="1" dirty="0">
              <a:latin typeface="+mn-ea"/>
            </a:endParaRPr>
          </a:p>
          <a:p>
            <a:pPr>
              <a:lnSpc>
                <a:spcPct val="150000"/>
              </a:lnSpc>
            </a:pPr>
            <a:r>
              <a:rPr lang="zh-CN" altLang="en-US" b="1" dirty="0">
                <a:latin typeface="+mn-ea"/>
              </a:rPr>
              <a:t>关系图如右图所示。</a:t>
            </a:r>
            <a:endParaRPr lang="en-US" altLang="zh-CN" b="1" dirty="0">
              <a:latin typeface="+mn-ea"/>
            </a:endParaRPr>
          </a:p>
          <a:p>
            <a:pPr>
              <a:lnSpc>
                <a:spcPct val="150000"/>
              </a:lnSpc>
            </a:pPr>
            <a:r>
              <a:rPr lang="en-US" altLang="zh-CN" b="1" dirty="0" err="1">
                <a:latin typeface="+mn-ea"/>
              </a:rPr>
              <a:t>domR</a:t>
            </a:r>
            <a:r>
              <a:rPr lang="zh-CN" altLang="en-US" b="1" dirty="0">
                <a:latin typeface="+mn-ea"/>
              </a:rPr>
              <a:t>＝</a:t>
            </a:r>
            <a:r>
              <a:rPr lang="en-US" altLang="zh-CN" b="1" dirty="0">
                <a:latin typeface="+mn-ea"/>
              </a:rPr>
              <a:t>{x|&lt;x</a:t>
            </a:r>
            <a:r>
              <a:rPr lang="zh-CN" altLang="en-US" b="1" dirty="0">
                <a:latin typeface="+mn-ea"/>
              </a:rPr>
              <a:t>，</a:t>
            </a:r>
            <a:r>
              <a:rPr lang="en-US" altLang="zh-CN" b="1" dirty="0">
                <a:latin typeface="+mn-ea"/>
              </a:rPr>
              <a:t>y&gt;∈R}={1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4}</a:t>
            </a:r>
            <a:r>
              <a:rPr lang="zh-CN" altLang="en-US" b="1" dirty="0">
                <a:latin typeface="+mn-ea"/>
              </a:rPr>
              <a:t>，</a:t>
            </a:r>
            <a:endParaRPr lang="en-US" altLang="zh-CN" b="1" dirty="0">
              <a:latin typeface="+mn-ea"/>
            </a:endParaRPr>
          </a:p>
          <a:p>
            <a:pPr>
              <a:lnSpc>
                <a:spcPct val="150000"/>
              </a:lnSpc>
            </a:pPr>
            <a:r>
              <a:rPr lang="en-US" altLang="zh-CN" b="1" dirty="0" err="1">
                <a:latin typeface="+mn-ea"/>
              </a:rPr>
              <a:t>ranR</a:t>
            </a:r>
            <a:r>
              <a:rPr lang="zh-CN" altLang="en-US" b="1" dirty="0">
                <a:latin typeface="+mn-ea"/>
              </a:rPr>
              <a:t>＝</a:t>
            </a:r>
            <a:r>
              <a:rPr lang="en-US" altLang="zh-CN" b="1" dirty="0">
                <a:latin typeface="+mn-ea"/>
              </a:rPr>
              <a:t>{y|&lt;x</a:t>
            </a:r>
            <a:r>
              <a:rPr lang="zh-CN" altLang="en-US" b="1" dirty="0">
                <a:latin typeface="+mn-ea"/>
              </a:rPr>
              <a:t>，</a:t>
            </a:r>
            <a:r>
              <a:rPr lang="en-US" altLang="zh-CN" b="1" dirty="0">
                <a:latin typeface="+mn-ea"/>
              </a:rPr>
              <a:t>y&gt;∈R}</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4</a:t>
            </a:r>
            <a:r>
              <a:rPr lang="zh-CN" altLang="en-US" b="1" dirty="0">
                <a:latin typeface="+mn-ea"/>
              </a:rPr>
              <a:t>，</a:t>
            </a:r>
            <a:r>
              <a:rPr lang="en-US" altLang="zh-CN" b="1" dirty="0">
                <a:latin typeface="+mn-ea"/>
              </a:rPr>
              <a:t>8}</a:t>
            </a:r>
            <a:r>
              <a:rPr lang="zh-CN" altLang="en-US" b="1" dirty="0">
                <a:latin typeface="+mn-ea"/>
              </a:rPr>
              <a:t>，</a:t>
            </a:r>
            <a:endParaRPr lang="en-US" altLang="zh-CN" b="1" dirty="0">
              <a:latin typeface="+mn-ea"/>
            </a:endParaRPr>
          </a:p>
          <a:p>
            <a:pPr>
              <a:lnSpc>
                <a:spcPct val="150000"/>
              </a:lnSpc>
            </a:pPr>
            <a:r>
              <a:rPr lang="en-US" altLang="zh-CN" b="1" dirty="0" err="1">
                <a:latin typeface="+mn-ea"/>
              </a:rPr>
              <a:t>fldR</a:t>
            </a:r>
            <a:r>
              <a:rPr lang="zh-CN" altLang="en-US" b="1" dirty="0">
                <a:latin typeface="+mn-ea"/>
              </a:rPr>
              <a:t>＝</a:t>
            </a:r>
            <a:r>
              <a:rPr lang="en-US" altLang="zh-CN" b="1" dirty="0" err="1">
                <a:latin typeface="+mn-ea"/>
              </a:rPr>
              <a:t>domR∪ranR</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4</a:t>
            </a:r>
            <a:r>
              <a:rPr lang="zh-CN" altLang="en-US" b="1" dirty="0">
                <a:latin typeface="+mn-ea"/>
              </a:rPr>
              <a:t>，</a:t>
            </a:r>
            <a:r>
              <a:rPr lang="en-US" altLang="zh-CN" b="1" dirty="0">
                <a:latin typeface="+mn-ea"/>
              </a:rPr>
              <a:t>8}</a:t>
            </a:r>
            <a:r>
              <a:rPr lang="zh-CN" altLang="en-US" b="1" dirty="0">
                <a:latin typeface="+mn-ea"/>
              </a:rPr>
              <a:t>。</a:t>
            </a:r>
            <a:endParaRPr lang="zh-CN" altLang="en-US" b="1" dirty="0">
              <a:latin typeface="+mn-ea"/>
            </a:endParaRPr>
          </a:p>
        </p:txBody>
      </p:sp>
      <p:grpSp>
        <p:nvGrpSpPr>
          <p:cNvPr id="40" name="Group 3056"/>
          <p:cNvGrpSpPr/>
          <p:nvPr/>
        </p:nvGrpSpPr>
        <p:grpSpPr bwMode="auto">
          <a:xfrm>
            <a:off x="8689975" y="2336296"/>
            <a:ext cx="2906396" cy="3604256"/>
            <a:chOff x="8457" y="8008"/>
            <a:chExt cx="1637" cy="1997"/>
          </a:xfrm>
        </p:grpSpPr>
        <p:cxnSp>
          <p:nvCxnSpPr>
            <p:cNvPr id="41" name="AutoShape 3054"/>
            <p:cNvCxnSpPr>
              <a:cxnSpLocks noChangeShapeType="1"/>
            </p:cNvCxnSpPr>
            <p:nvPr/>
          </p:nvCxnSpPr>
          <p:spPr bwMode="auto">
            <a:xfrm flipH="1">
              <a:off x="8730" y="8243"/>
              <a:ext cx="920" cy="1235"/>
            </a:xfrm>
            <a:prstGeom prst="straightConnector1">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cxnSp>
        <p:sp>
          <p:nvSpPr>
            <p:cNvPr id="42" name="Text Box 3036"/>
            <p:cNvSpPr txBox="1">
              <a:spLocks noChangeArrowheads="1"/>
            </p:cNvSpPr>
            <p:nvPr/>
          </p:nvSpPr>
          <p:spPr bwMode="auto">
            <a:xfrm>
              <a:off x="8469" y="8022"/>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1</a:t>
              </a:r>
              <a:endParaRPr lang="zh-CN" b="1" kern="100">
                <a:effectLst/>
                <a:latin typeface="+mn-ea"/>
                <a:cs typeface="宋体" panose="02010600030101010101" pitchFamily="2" charset="-122"/>
              </a:endParaRPr>
            </a:p>
          </p:txBody>
        </p:sp>
        <p:sp>
          <p:nvSpPr>
            <p:cNvPr id="43" name="Oval 3038"/>
            <p:cNvSpPr>
              <a:spLocks noChangeArrowheads="1"/>
            </p:cNvSpPr>
            <p:nvPr/>
          </p:nvSpPr>
          <p:spPr bwMode="auto">
            <a:xfrm>
              <a:off x="8687" y="9473"/>
              <a:ext cx="57" cy="57"/>
            </a:xfrm>
            <a:prstGeom prst="ellipse">
              <a:avLst/>
            </a:prstGeom>
            <a:solidFill>
              <a:srgbClr val="FFFFFF"/>
            </a:solidFill>
            <a:ln w="9525">
              <a:solidFill>
                <a:srgbClr val="000000"/>
              </a:solidFill>
              <a:round/>
            </a:ln>
          </p:spPr>
          <p:txBody>
            <a:bodyPr rot="0" vert="horz" wrap="square" lIns="91440" tIns="45720" rIns="91440" bIns="45720" anchor="t" anchorCtr="0" upright="1">
              <a:noAutofit/>
            </a:bodyPr>
            <a:lstStyle/>
            <a:p>
              <a:endParaRPr lang="zh-CN" altLang="en-US" b="1">
                <a:latin typeface="+mn-ea"/>
              </a:endParaRPr>
            </a:p>
          </p:txBody>
        </p:sp>
        <p:sp>
          <p:nvSpPr>
            <p:cNvPr id="44" name="Text Box 3039"/>
            <p:cNvSpPr txBox="1">
              <a:spLocks noChangeArrowheads="1"/>
            </p:cNvSpPr>
            <p:nvPr/>
          </p:nvSpPr>
          <p:spPr bwMode="auto">
            <a:xfrm>
              <a:off x="9734" y="9290"/>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4</a:t>
              </a:r>
              <a:endParaRPr lang="zh-CN" b="1" kern="100">
                <a:effectLst/>
                <a:latin typeface="+mn-ea"/>
                <a:cs typeface="宋体" panose="02010600030101010101" pitchFamily="2" charset="-122"/>
              </a:endParaRPr>
            </a:p>
          </p:txBody>
        </p:sp>
        <p:sp>
          <p:nvSpPr>
            <p:cNvPr id="45" name="Oval 3040"/>
            <p:cNvSpPr>
              <a:spLocks noChangeArrowheads="1"/>
            </p:cNvSpPr>
            <p:nvPr/>
          </p:nvSpPr>
          <p:spPr bwMode="auto">
            <a:xfrm>
              <a:off x="8687" y="8225"/>
              <a:ext cx="57" cy="57"/>
            </a:xfrm>
            <a:prstGeom prst="ellipse">
              <a:avLst/>
            </a:prstGeom>
            <a:solidFill>
              <a:srgbClr val="FFFFFF"/>
            </a:solidFill>
            <a:ln w="9525">
              <a:solidFill>
                <a:srgbClr val="000000"/>
              </a:solidFill>
              <a:round/>
            </a:ln>
          </p:spPr>
          <p:txBody>
            <a:bodyPr rot="0" vert="horz" wrap="square" lIns="91440" tIns="45720" rIns="91440" bIns="45720" anchor="t" anchorCtr="0" upright="1">
              <a:noAutofit/>
            </a:bodyPr>
            <a:lstStyle/>
            <a:p>
              <a:endParaRPr lang="zh-CN" altLang="en-US" b="1">
                <a:latin typeface="+mn-ea"/>
              </a:endParaRPr>
            </a:p>
          </p:txBody>
        </p:sp>
        <p:sp>
          <p:nvSpPr>
            <p:cNvPr id="46" name="Oval 3041"/>
            <p:cNvSpPr>
              <a:spLocks noChangeArrowheads="1"/>
            </p:cNvSpPr>
            <p:nvPr/>
          </p:nvSpPr>
          <p:spPr bwMode="auto">
            <a:xfrm>
              <a:off x="9635" y="8225"/>
              <a:ext cx="57" cy="57"/>
            </a:xfrm>
            <a:prstGeom prst="ellipse">
              <a:avLst/>
            </a:prstGeom>
            <a:solidFill>
              <a:srgbClr val="FFFFFF"/>
            </a:solidFill>
            <a:ln w="9525">
              <a:solidFill>
                <a:srgbClr val="000000"/>
              </a:solidFill>
              <a:round/>
            </a:ln>
          </p:spPr>
          <p:txBody>
            <a:bodyPr rot="0" vert="horz" wrap="square" lIns="91440" tIns="45720" rIns="91440" bIns="45720" anchor="t" anchorCtr="0" upright="1">
              <a:noAutofit/>
            </a:bodyPr>
            <a:lstStyle/>
            <a:p>
              <a:endParaRPr lang="zh-CN" altLang="en-US" b="1">
                <a:latin typeface="+mn-ea"/>
              </a:endParaRPr>
            </a:p>
          </p:txBody>
        </p:sp>
        <p:sp>
          <p:nvSpPr>
            <p:cNvPr id="47" name="未知"/>
            <p:cNvSpPr/>
            <p:nvPr/>
          </p:nvSpPr>
          <p:spPr bwMode="auto">
            <a:xfrm>
              <a:off x="8730" y="9508"/>
              <a:ext cx="910" cy="1"/>
            </a:xfrm>
            <a:custGeom>
              <a:avLst/>
              <a:gdLst>
                <a:gd name="T0" fmla="*/ 0 w 910"/>
                <a:gd name="T1" fmla="*/ 1 h 1"/>
                <a:gd name="T2" fmla="*/ 910 w 910"/>
                <a:gd name="T3" fmla="*/ 0 h 1"/>
              </a:gdLst>
              <a:ahLst/>
              <a:cxnLst>
                <a:cxn ang="0">
                  <a:pos x="T0" y="T1"/>
                </a:cxn>
                <a:cxn ang="0">
                  <a:pos x="T2" y="T3"/>
                </a:cxn>
              </a:cxnLst>
              <a:rect l="0" t="0" r="r" b="b"/>
              <a:pathLst>
                <a:path w="910" h="1">
                  <a:moveTo>
                    <a:pt x="0" y="1"/>
                  </a:moveTo>
                  <a:lnTo>
                    <a:pt x="910" y="0"/>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48" name="Text Box 3043"/>
            <p:cNvSpPr txBox="1">
              <a:spLocks noChangeArrowheads="1"/>
            </p:cNvSpPr>
            <p:nvPr/>
          </p:nvSpPr>
          <p:spPr bwMode="auto">
            <a:xfrm>
              <a:off x="8457" y="9254"/>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2</a:t>
              </a:r>
              <a:endParaRPr lang="zh-CN" b="1" kern="100">
                <a:effectLst/>
                <a:latin typeface="+mn-ea"/>
                <a:cs typeface="宋体" panose="02010600030101010101" pitchFamily="2" charset="-122"/>
              </a:endParaRPr>
            </a:p>
          </p:txBody>
        </p:sp>
        <p:sp>
          <p:nvSpPr>
            <p:cNvPr id="49" name="未知"/>
            <p:cNvSpPr/>
            <p:nvPr/>
          </p:nvSpPr>
          <p:spPr bwMode="auto">
            <a:xfrm>
              <a:off x="8712" y="8279"/>
              <a:ext cx="5" cy="1199"/>
            </a:xfrm>
            <a:custGeom>
              <a:avLst/>
              <a:gdLst>
                <a:gd name="T0" fmla="*/ 0 w 5"/>
                <a:gd name="T1" fmla="*/ 0 h 1199"/>
                <a:gd name="T2" fmla="*/ 5 w 5"/>
                <a:gd name="T3" fmla="*/ 1199 h 1199"/>
              </a:gdLst>
              <a:ahLst/>
              <a:cxnLst>
                <a:cxn ang="0">
                  <a:pos x="T0" y="T1"/>
                </a:cxn>
                <a:cxn ang="0">
                  <a:pos x="T2" y="T3"/>
                </a:cxn>
              </a:cxnLst>
              <a:rect l="0" t="0" r="r" b="b"/>
              <a:pathLst>
                <a:path w="5" h="1199">
                  <a:moveTo>
                    <a:pt x="0" y="0"/>
                  </a:moveTo>
                  <a:lnTo>
                    <a:pt x="5" y="1199"/>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0" name="Text Box 3046"/>
            <p:cNvSpPr txBox="1">
              <a:spLocks noChangeArrowheads="1"/>
            </p:cNvSpPr>
            <p:nvPr/>
          </p:nvSpPr>
          <p:spPr bwMode="auto">
            <a:xfrm>
              <a:off x="9734" y="8008"/>
              <a:ext cx="3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8</a:t>
              </a:r>
              <a:endParaRPr lang="zh-CN" b="1" kern="100">
                <a:effectLst/>
                <a:latin typeface="+mn-ea"/>
                <a:cs typeface="宋体" panose="02010600030101010101" pitchFamily="2" charset="-122"/>
              </a:endParaRPr>
            </a:p>
          </p:txBody>
        </p:sp>
        <p:sp>
          <p:nvSpPr>
            <p:cNvPr id="51" name="未知"/>
            <p:cNvSpPr/>
            <p:nvPr/>
          </p:nvSpPr>
          <p:spPr bwMode="auto">
            <a:xfrm>
              <a:off x="8739" y="8243"/>
              <a:ext cx="898" cy="5"/>
            </a:xfrm>
            <a:custGeom>
              <a:avLst/>
              <a:gdLst>
                <a:gd name="T0" fmla="*/ 0 w 898"/>
                <a:gd name="T1" fmla="*/ 0 h 5"/>
                <a:gd name="T2" fmla="*/ 898 w 898"/>
                <a:gd name="T3" fmla="*/ 5 h 5"/>
              </a:gdLst>
              <a:ahLst/>
              <a:cxnLst>
                <a:cxn ang="0">
                  <a:pos x="T0" y="T1"/>
                </a:cxn>
                <a:cxn ang="0">
                  <a:pos x="T2" y="T3"/>
                </a:cxn>
              </a:cxnLst>
              <a:rect l="0" t="0" r="r" b="b"/>
              <a:pathLst>
                <a:path w="898" h="5">
                  <a:moveTo>
                    <a:pt x="0" y="0"/>
                  </a:moveTo>
                  <a:lnTo>
                    <a:pt x="898" y="5"/>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2" name="未知"/>
            <p:cNvSpPr/>
            <p:nvPr/>
          </p:nvSpPr>
          <p:spPr bwMode="auto">
            <a:xfrm>
              <a:off x="8742" y="8279"/>
              <a:ext cx="905" cy="1229"/>
            </a:xfrm>
            <a:custGeom>
              <a:avLst/>
              <a:gdLst>
                <a:gd name="T0" fmla="*/ 0 w 905"/>
                <a:gd name="T1" fmla="*/ 0 h 1229"/>
                <a:gd name="T2" fmla="*/ 905 w 905"/>
                <a:gd name="T3" fmla="*/ 1229 h 1229"/>
              </a:gdLst>
              <a:ahLst/>
              <a:cxnLst>
                <a:cxn ang="0">
                  <a:pos x="T0" y="T1"/>
                </a:cxn>
                <a:cxn ang="0">
                  <a:pos x="T2" y="T3"/>
                </a:cxn>
              </a:cxnLst>
              <a:rect l="0" t="0" r="r" b="b"/>
              <a:pathLst>
                <a:path w="905" h="1229">
                  <a:moveTo>
                    <a:pt x="0" y="0"/>
                  </a:moveTo>
                  <a:lnTo>
                    <a:pt x="905" y="1229"/>
                  </a:lnTo>
                </a:path>
              </a:pathLst>
            </a:custGeom>
            <a:noFill/>
            <a:ln w="9525" cmpd="sng">
              <a:solidFill>
                <a:srgbClr val="000000"/>
              </a:solidFill>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3" name="未知"/>
            <p:cNvSpPr/>
            <p:nvPr/>
          </p:nvSpPr>
          <p:spPr bwMode="auto">
            <a:xfrm>
              <a:off x="9657" y="8249"/>
              <a:ext cx="15" cy="1269"/>
            </a:xfrm>
            <a:custGeom>
              <a:avLst/>
              <a:gdLst>
                <a:gd name="T0" fmla="*/ 15 w 15"/>
                <a:gd name="T1" fmla="*/ 0 h 1269"/>
                <a:gd name="T2" fmla="*/ 0 w 15"/>
                <a:gd name="T3" fmla="*/ 1269 h 1269"/>
              </a:gdLst>
              <a:ahLst/>
              <a:cxnLst>
                <a:cxn ang="0">
                  <a:pos x="T0" y="T1"/>
                </a:cxn>
                <a:cxn ang="0">
                  <a:pos x="T2" y="T3"/>
                </a:cxn>
              </a:cxnLst>
              <a:rect l="0" t="0" r="r" b="b"/>
              <a:pathLst>
                <a:path w="15" h="1269">
                  <a:moveTo>
                    <a:pt x="15" y="0"/>
                  </a:moveTo>
                  <a:lnTo>
                    <a:pt x="0" y="1269"/>
                  </a:lnTo>
                </a:path>
              </a:pathLst>
            </a:custGeom>
            <a:noFill/>
            <a:ln w="9525" cmpd="sng">
              <a:solidFill>
                <a:srgbClr val="000000"/>
              </a:solidFill>
              <a:round/>
              <a:headEnd type="triangle" w="med" len="med"/>
              <a:tailEnd type="non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4" name="Text Box 3052"/>
            <p:cNvSpPr txBox="1">
              <a:spLocks noChangeArrowheads="1"/>
            </p:cNvSpPr>
            <p:nvPr/>
          </p:nvSpPr>
          <p:spPr bwMode="auto">
            <a:xfrm>
              <a:off x="8717" y="9522"/>
              <a:ext cx="1080" cy="48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indent="114300" algn="just">
                <a:spcAft>
                  <a:spcPts val="0"/>
                </a:spcAft>
              </a:pPr>
              <a:endParaRPr lang="zh-CN" b="1" kern="100" dirty="0">
                <a:effectLst/>
                <a:latin typeface="+mn-ea"/>
                <a:cs typeface="宋体" panose="02010600030101010101" pitchFamily="2" charset="-122"/>
              </a:endParaRPr>
            </a:p>
          </p:txBody>
        </p:sp>
        <p:sp>
          <p:nvSpPr>
            <p:cNvPr id="55" name="Oval 3053"/>
            <p:cNvSpPr>
              <a:spLocks noChangeArrowheads="1"/>
            </p:cNvSpPr>
            <p:nvPr/>
          </p:nvSpPr>
          <p:spPr bwMode="auto">
            <a:xfrm>
              <a:off x="9635" y="9482"/>
              <a:ext cx="57" cy="57"/>
            </a:xfrm>
            <a:prstGeom prst="ellipse">
              <a:avLst/>
            </a:prstGeom>
            <a:solidFill>
              <a:srgbClr val="FFFFFF"/>
            </a:solidFill>
            <a:ln w="9525">
              <a:solidFill>
                <a:srgbClr val="000000"/>
              </a:solidFill>
              <a:round/>
            </a:ln>
          </p:spPr>
          <p:txBody>
            <a:bodyPr rot="0" vert="horz" wrap="square" lIns="91440" tIns="45720" rIns="91440" bIns="45720" anchor="t" anchorCtr="0" upright="1">
              <a:noAutofit/>
            </a:bodyPr>
            <a:lstStyle/>
            <a:p>
              <a:endParaRPr lang="zh-CN" altLang="en-US" b="1">
                <a:latin typeface="+mn-ea"/>
              </a:endParaRPr>
            </a:p>
          </p:txBody>
        </p:sp>
      </p:grpSp>
    </p:spTree>
    <p:custDataLst>
      <p:tags r:id="rId1"/>
    </p:custData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heel(1)">
                                      <p:cBhvr>
                                        <p:cTn id="17" dur="20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1000"/>
                                        <p:tgtEl>
                                          <p:spTgt spid="4">
                                            <p:txEl>
                                              <p:pRg st="2" end="2"/>
                                            </p:txEl>
                                          </p:spTgt>
                                        </p:tgtEl>
                                      </p:cBhvr>
                                    </p:animEffect>
                                    <p:anim calcmode="lin" valueType="num">
                                      <p:cBhvr>
                                        <p:cTn id="2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fade">
                                      <p:cBhvr>
                                        <p:cTn id="29" dur="1000"/>
                                        <p:tgtEl>
                                          <p:spTgt spid="4">
                                            <p:txEl>
                                              <p:pRg st="3" end="3"/>
                                            </p:txEl>
                                          </p:spTgt>
                                        </p:tgtEl>
                                      </p:cBhvr>
                                    </p:animEffect>
                                    <p:anim calcmode="lin" valueType="num">
                                      <p:cBhvr>
                                        <p:cTn id="3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Effect transition="in" filter="circle(in)">
                                      <p:cBhvr>
                                        <p:cTn id="36"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zh-CN" altLang="en-US" dirty="0"/>
              <a:t>例</a:t>
            </a:r>
            <a:r>
              <a:rPr lang="en-US" altLang="zh-CN" dirty="0"/>
              <a:t>4.9</a:t>
            </a:r>
            <a:endParaRPr lang="zh-CN" altLang="en-US" dirty="0"/>
          </a:p>
        </p:txBody>
      </p:sp>
      <p:sp>
        <p:nvSpPr>
          <p:cNvPr id="1402883" name="Rectangle 3"/>
          <p:cNvSpPr>
            <a:spLocks noGrp="1" noChangeArrowheads="1"/>
          </p:cNvSpPr>
          <p:nvPr>
            <p:ph type="body" idx="1"/>
          </p:nvPr>
        </p:nvSpPr>
        <p:spPr>
          <a:xfrm>
            <a:off x="384175" y="1067595"/>
            <a:ext cx="11353800" cy="3048000"/>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4.9   </a:t>
            </a:r>
            <a:r>
              <a:rPr lang="zh-CN" altLang="en-US" dirty="0">
                <a:solidFill>
                  <a:schemeClr val="tx1"/>
                </a:solidFill>
              </a:rPr>
              <a:t>设</a:t>
            </a:r>
            <a:r>
              <a:rPr lang="en-US" altLang="zh-CN" dirty="0">
                <a:solidFill>
                  <a:schemeClr val="tx1"/>
                </a:solidFill>
              </a:rPr>
              <a:t>H={</a:t>
            </a:r>
            <a:r>
              <a:rPr lang="en-US" altLang="zh-CN" dirty="0" err="1">
                <a:solidFill>
                  <a:schemeClr val="tx1"/>
                </a:solidFill>
              </a:rPr>
              <a:t>f,m,s,d</a:t>
            </a:r>
            <a:r>
              <a:rPr lang="en-US" altLang="zh-CN" dirty="0">
                <a:solidFill>
                  <a:schemeClr val="tx1"/>
                </a:solidFill>
              </a:rPr>
              <a:t>}</a:t>
            </a:r>
            <a:r>
              <a:rPr lang="zh-CN" altLang="en-US" dirty="0">
                <a:solidFill>
                  <a:schemeClr val="tx1"/>
                </a:solidFill>
              </a:rPr>
              <a:t>表示一个家庭中父、母、子和女四个人的集合，确定</a:t>
            </a:r>
            <a:r>
              <a:rPr lang="en-US" altLang="zh-CN" dirty="0">
                <a:solidFill>
                  <a:schemeClr val="tx1"/>
                </a:solidFill>
              </a:rPr>
              <a:t>H</a:t>
            </a:r>
            <a:r>
              <a:rPr lang="zh-CN" altLang="en-US" dirty="0">
                <a:solidFill>
                  <a:schemeClr val="tx1"/>
                </a:solidFill>
              </a:rPr>
              <a:t>上的一个长幼关系</a:t>
            </a:r>
            <a:r>
              <a:rPr lang="en-US" altLang="zh-CN" dirty="0">
                <a:solidFill>
                  <a:schemeClr val="tx1"/>
                </a:solidFill>
              </a:rPr>
              <a:t>R</a:t>
            </a:r>
            <a:r>
              <a:rPr lang="en-US" altLang="zh-CN" baseline="-25000" dirty="0">
                <a:solidFill>
                  <a:schemeClr val="tx1"/>
                </a:solidFill>
              </a:rPr>
              <a:t>H</a:t>
            </a:r>
            <a:r>
              <a:rPr lang="zh-CN" altLang="en-US" dirty="0">
                <a:solidFill>
                  <a:schemeClr val="tx1"/>
                </a:solidFill>
              </a:rPr>
              <a:t>，指出该关系的定义域、值域和域。</a:t>
            </a:r>
            <a:endParaRPr lang="zh-CN" altLang="en-US" dirty="0">
              <a:solidFill>
                <a:schemeClr val="tx1"/>
              </a:solidFill>
            </a:endParaRPr>
          </a:p>
          <a:p>
            <a:pPr marL="0" indent="0">
              <a:lnSpc>
                <a:spcPct val="150000"/>
              </a:lnSpc>
              <a:buNone/>
            </a:pPr>
            <a:r>
              <a:rPr lang="zh-CN" altLang="en-US" dirty="0">
                <a:solidFill>
                  <a:srgbClr val="C00000"/>
                </a:solidFill>
              </a:rPr>
              <a:t>解</a:t>
            </a:r>
            <a:r>
              <a:rPr lang="zh-CN" altLang="en-US" dirty="0">
                <a:solidFill>
                  <a:srgbClr val="FF0000"/>
                </a:solidFill>
              </a:rPr>
              <a:t>   </a:t>
            </a:r>
            <a:r>
              <a:rPr lang="en-US" altLang="zh-CN" dirty="0">
                <a:solidFill>
                  <a:schemeClr val="tx1"/>
                </a:solidFill>
              </a:rPr>
              <a:t>R</a:t>
            </a:r>
            <a:r>
              <a:rPr lang="en-US" altLang="zh-CN" baseline="-25000" dirty="0">
                <a:solidFill>
                  <a:schemeClr val="tx1"/>
                </a:solidFill>
              </a:rPr>
              <a:t>H</a:t>
            </a:r>
            <a:r>
              <a:rPr lang="en-US" altLang="zh-CN" dirty="0">
                <a:solidFill>
                  <a:schemeClr val="tx1"/>
                </a:solidFill>
              </a:rPr>
              <a:t>={&lt;</a:t>
            </a:r>
            <a:r>
              <a:rPr lang="en-US" altLang="zh-CN" dirty="0" err="1">
                <a:solidFill>
                  <a:schemeClr val="tx1"/>
                </a:solidFill>
              </a:rPr>
              <a:t>f,s</a:t>
            </a:r>
            <a:r>
              <a:rPr lang="en-US" altLang="zh-CN" dirty="0">
                <a:solidFill>
                  <a:schemeClr val="tx1"/>
                </a:solidFill>
              </a:rPr>
              <a:t>&gt;,&lt;</a:t>
            </a:r>
            <a:r>
              <a:rPr lang="en-US" altLang="zh-CN" dirty="0" err="1">
                <a:solidFill>
                  <a:schemeClr val="tx1"/>
                </a:solidFill>
              </a:rPr>
              <a:t>f,d</a:t>
            </a:r>
            <a:r>
              <a:rPr lang="en-US" altLang="zh-CN" dirty="0">
                <a:solidFill>
                  <a:schemeClr val="tx1"/>
                </a:solidFill>
              </a:rPr>
              <a:t>&gt;,&lt;</a:t>
            </a:r>
            <a:r>
              <a:rPr lang="en-US" altLang="zh-CN" dirty="0" err="1">
                <a:solidFill>
                  <a:schemeClr val="tx1"/>
                </a:solidFill>
              </a:rPr>
              <a:t>m,s</a:t>
            </a:r>
            <a:r>
              <a:rPr lang="en-US" altLang="zh-CN" dirty="0">
                <a:solidFill>
                  <a:schemeClr val="tx1"/>
                </a:solidFill>
              </a:rPr>
              <a:t>&gt;,&lt;</a:t>
            </a:r>
            <a:r>
              <a:rPr lang="en-US" altLang="zh-CN" dirty="0" err="1">
                <a:solidFill>
                  <a:schemeClr val="tx1"/>
                </a:solidFill>
              </a:rPr>
              <a:t>m,d</a:t>
            </a:r>
            <a:r>
              <a:rPr lang="en-US" altLang="zh-CN" dirty="0">
                <a:solidFill>
                  <a:schemeClr val="tx1"/>
                </a:solidFill>
              </a:rPr>
              <a:t>&gt;}</a:t>
            </a:r>
            <a:endParaRPr lang="zh-CN" altLang="en-US" dirty="0">
              <a:solidFill>
                <a:schemeClr val="tx1"/>
              </a:solidFill>
            </a:endParaRPr>
          </a:p>
          <a:p>
            <a:pPr marL="0" indent="0">
              <a:lnSpc>
                <a:spcPct val="150000"/>
              </a:lnSpc>
              <a:buNone/>
            </a:pPr>
            <a:r>
              <a:rPr lang="en-US" altLang="zh-CN" dirty="0">
                <a:solidFill>
                  <a:schemeClr val="tx1"/>
                </a:solidFill>
              </a:rPr>
              <a:t>      </a:t>
            </a:r>
            <a:r>
              <a:rPr lang="en-US" altLang="zh-CN" dirty="0" err="1">
                <a:solidFill>
                  <a:schemeClr val="tx1"/>
                </a:solidFill>
              </a:rPr>
              <a:t>domR</a:t>
            </a:r>
            <a:r>
              <a:rPr lang="en-US" altLang="zh-CN" baseline="-25000" dirty="0" err="1">
                <a:solidFill>
                  <a:schemeClr val="tx1"/>
                </a:solidFill>
              </a:rPr>
              <a:t>H</a:t>
            </a:r>
            <a:r>
              <a:rPr lang="en-US" altLang="zh-CN" dirty="0">
                <a:solidFill>
                  <a:schemeClr val="tx1"/>
                </a:solidFill>
              </a:rPr>
              <a:t>={</a:t>
            </a:r>
            <a:r>
              <a:rPr lang="en-US" altLang="zh-CN" dirty="0" err="1">
                <a:solidFill>
                  <a:schemeClr val="tx1"/>
                </a:solidFill>
              </a:rPr>
              <a:t>f,m</a:t>
            </a:r>
            <a:r>
              <a:rPr lang="en-US" altLang="zh-CN" dirty="0">
                <a:solidFill>
                  <a:schemeClr val="tx1"/>
                </a:solidFill>
              </a:rPr>
              <a:t>},</a:t>
            </a:r>
            <a:r>
              <a:rPr lang="en-US" altLang="zh-CN" dirty="0" err="1">
                <a:solidFill>
                  <a:schemeClr val="tx1"/>
                </a:solidFill>
              </a:rPr>
              <a:t>ranR</a:t>
            </a:r>
            <a:r>
              <a:rPr lang="en-US" altLang="zh-CN" baseline="-25000" dirty="0" err="1">
                <a:solidFill>
                  <a:schemeClr val="tx1"/>
                </a:solidFill>
              </a:rPr>
              <a:t>H</a:t>
            </a:r>
            <a:r>
              <a:rPr lang="en-US" altLang="zh-CN" dirty="0">
                <a:solidFill>
                  <a:schemeClr val="tx1"/>
                </a:solidFill>
              </a:rPr>
              <a:t>={</a:t>
            </a:r>
            <a:r>
              <a:rPr lang="en-US" altLang="zh-CN" dirty="0" err="1">
                <a:solidFill>
                  <a:schemeClr val="tx1"/>
                </a:solidFill>
              </a:rPr>
              <a:t>s,d</a:t>
            </a:r>
            <a:r>
              <a:rPr lang="en-US" altLang="zh-CN" dirty="0">
                <a:solidFill>
                  <a:schemeClr val="tx1"/>
                </a:solidFill>
              </a:rPr>
              <a:t>}</a:t>
            </a:r>
            <a:endParaRPr lang="en-US" altLang="zh-CN" dirty="0">
              <a:solidFill>
                <a:schemeClr val="tx1"/>
              </a:solidFill>
            </a:endParaRPr>
          </a:p>
          <a:p>
            <a:pPr marL="0" indent="0">
              <a:lnSpc>
                <a:spcPct val="150000"/>
              </a:lnSpc>
              <a:buNone/>
            </a:pPr>
            <a:r>
              <a:rPr lang="en-US" altLang="zh-CN" dirty="0">
                <a:solidFill>
                  <a:schemeClr val="tx1"/>
                </a:solidFill>
              </a:rPr>
              <a:t>       </a:t>
            </a:r>
            <a:r>
              <a:rPr lang="en-US" altLang="zh-CN" dirty="0" err="1">
                <a:solidFill>
                  <a:schemeClr val="tx1"/>
                </a:solidFill>
              </a:rPr>
              <a:t>fldR</a:t>
            </a:r>
            <a:r>
              <a:rPr lang="en-US" altLang="zh-CN" baseline="-25000" dirty="0" err="1">
                <a:solidFill>
                  <a:schemeClr val="tx1"/>
                </a:solidFill>
              </a:rPr>
              <a:t>H</a:t>
            </a:r>
            <a:r>
              <a:rPr lang="en-US" altLang="zh-CN" dirty="0">
                <a:solidFill>
                  <a:schemeClr val="tx1"/>
                </a:solidFill>
              </a:rPr>
              <a:t>={</a:t>
            </a:r>
            <a:r>
              <a:rPr lang="en-US" altLang="zh-CN" dirty="0" err="1">
                <a:solidFill>
                  <a:schemeClr val="tx1"/>
                </a:solidFill>
              </a:rPr>
              <a:t>f,m,s,d</a:t>
            </a:r>
            <a:r>
              <a:rPr lang="en-US" altLang="zh-CN" dirty="0">
                <a:solidFill>
                  <a:schemeClr val="tx1"/>
                </a:solidFill>
              </a:rPr>
              <a:t>}</a:t>
            </a:r>
            <a:endParaRPr lang="en-US" altLang="zh-CN" dirty="0">
              <a:solidFill>
                <a:schemeClr val="tx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2883">
                                            <p:txEl>
                                              <p:pRg st="1" end="1"/>
                                            </p:txEl>
                                          </p:spTgt>
                                        </p:tgtEl>
                                        <p:attrNameLst>
                                          <p:attrName>style.visibility</p:attrName>
                                        </p:attrNameLst>
                                      </p:cBhvr>
                                      <p:to>
                                        <p:strVal val="visible"/>
                                      </p:to>
                                    </p:set>
                                    <p:anim calcmode="lin" valueType="num">
                                      <p:cBhvr additive="base">
                                        <p:cTn id="7" dur="500" fill="hold"/>
                                        <p:tgtEl>
                                          <p:spTgt spid="14028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28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02883">
                                            <p:txEl>
                                              <p:pRg st="2" end="2"/>
                                            </p:txEl>
                                          </p:spTgt>
                                        </p:tgtEl>
                                        <p:attrNameLst>
                                          <p:attrName>style.visibility</p:attrName>
                                        </p:attrNameLst>
                                      </p:cBhvr>
                                      <p:to>
                                        <p:strVal val="visible"/>
                                      </p:to>
                                    </p:set>
                                    <p:anim calcmode="lin" valueType="num">
                                      <p:cBhvr additive="base">
                                        <p:cTn id="13" dur="500" fill="hold"/>
                                        <p:tgtEl>
                                          <p:spTgt spid="14028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28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02883">
                                            <p:txEl>
                                              <p:pRg st="3" end="3"/>
                                            </p:txEl>
                                          </p:spTgt>
                                        </p:tgtEl>
                                        <p:attrNameLst>
                                          <p:attrName>style.visibility</p:attrName>
                                        </p:attrNameLst>
                                      </p:cBhvr>
                                      <p:to>
                                        <p:strVal val="visible"/>
                                      </p:to>
                                    </p:set>
                                    <p:anim calcmode="lin" valueType="num">
                                      <p:cBhvr additive="base">
                                        <p:cTn id="19" dur="500" fill="hold"/>
                                        <p:tgtEl>
                                          <p:spTgt spid="14028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28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88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5170" name="Rectangle 2"/>
          <p:cNvSpPr>
            <a:spLocks noGrp="1" noChangeArrowheads="1"/>
          </p:cNvSpPr>
          <p:nvPr>
            <p:ph type="body" idx="1"/>
          </p:nvPr>
        </p:nvSpPr>
        <p:spPr>
          <a:xfrm>
            <a:off x="384175" y="1111517"/>
            <a:ext cx="11506200" cy="3650060"/>
          </a:xfrm>
        </p:spPr>
        <p:txBody>
          <a:bodyPr>
            <a:normAutofit/>
          </a:bodyPr>
          <a:lstStyle/>
          <a:p>
            <a:pPr marL="0" indent="0">
              <a:lnSpc>
                <a:spcPct val="160000"/>
              </a:lnSpc>
              <a:spcBef>
                <a:spcPct val="0"/>
              </a:spcBef>
              <a:buNone/>
            </a:pPr>
            <a:r>
              <a:rPr lang="zh-CN" altLang="en-US" dirty="0"/>
              <a:t>设</a:t>
            </a:r>
            <a:r>
              <a:rPr lang="en-US" altLang="zh-CN" dirty="0"/>
              <a:t>A</a:t>
            </a:r>
            <a:r>
              <a:rPr lang="zh-CN" altLang="en-US" dirty="0"/>
              <a:t>＝</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宋体" panose="02010600030101010101" pitchFamily="2" charset="-122"/>
              </a:rPr>
              <a:t>…</a:t>
            </a:r>
            <a:r>
              <a:rPr lang="en-US" altLang="zh-CN" dirty="0"/>
              <a:t>,a</a:t>
            </a:r>
            <a:r>
              <a:rPr lang="en-US" altLang="zh-CN" baseline="-25000" dirty="0"/>
              <a:t>n</a:t>
            </a:r>
            <a:r>
              <a:rPr lang="en-US" altLang="zh-CN" dirty="0"/>
              <a:t>}</a:t>
            </a:r>
            <a:r>
              <a:rPr lang="zh-CN" altLang="en-US" dirty="0"/>
              <a:t>，</a:t>
            </a:r>
            <a:r>
              <a:rPr lang="en-US" altLang="zh-CN" dirty="0"/>
              <a:t>B</a:t>
            </a:r>
            <a:r>
              <a:rPr lang="zh-CN" altLang="en-US" dirty="0"/>
              <a:t>＝</a:t>
            </a:r>
            <a:r>
              <a:rPr lang="en-US" altLang="zh-CN" dirty="0"/>
              <a:t>{b</a:t>
            </a:r>
            <a:r>
              <a:rPr lang="en-US" altLang="zh-CN" baseline="-25000" dirty="0"/>
              <a:t>1</a:t>
            </a:r>
            <a:r>
              <a:rPr lang="en-US" altLang="zh-CN" dirty="0"/>
              <a:t>,b</a:t>
            </a:r>
            <a:r>
              <a:rPr lang="en-US" altLang="zh-CN" baseline="-25000" dirty="0"/>
              <a:t>2</a:t>
            </a:r>
            <a:r>
              <a:rPr lang="en-US" altLang="zh-CN" dirty="0"/>
              <a:t>,</a:t>
            </a:r>
            <a:r>
              <a:rPr lang="en-US" altLang="zh-CN" dirty="0">
                <a:latin typeface="宋体" panose="02010600030101010101" pitchFamily="2" charset="-122"/>
              </a:rPr>
              <a:t>…</a:t>
            </a:r>
            <a:r>
              <a:rPr lang="en-US" altLang="zh-CN" dirty="0"/>
              <a:t>,</a:t>
            </a:r>
            <a:r>
              <a:rPr lang="en-US" altLang="zh-CN" dirty="0" err="1"/>
              <a:t>b</a:t>
            </a:r>
            <a:r>
              <a:rPr lang="en-US" altLang="zh-CN" baseline="-25000" dirty="0" err="1"/>
              <a:t>m</a:t>
            </a:r>
            <a:r>
              <a:rPr lang="en-US" altLang="zh-CN" dirty="0"/>
              <a:t>}</a:t>
            </a:r>
            <a:r>
              <a:rPr lang="zh-CN" altLang="en-US" dirty="0"/>
              <a:t>，</a:t>
            </a:r>
            <a:r>
              <a:rPr lang="en-US" altLang="zh-CN" dirty="0"/>
              <a:t>R</a:t>
            </a:r>
            <a:r>
              <a:rPr lang="zh-CN" altLang="en-US" dirty="0"/>
              <a:t>是从</a:t>
            </a:r>
            <a:r>
              <a:rPr lang="en-US" altLang="zh-CN" dirty="0"/>
              <a:t>A</a:t>
            </a:r>
            <a:r>
              <a:rPr lang="zh-CN" altLang="en-US" dirty="0"/>
              <a:t>到</a:t>
            </a:r>
            <a:r>
              <a:rPr lang="en-US" altLang="zh-CN" dirty="0"/>
              <a:t>B</a:t>
            </a:r>
            <a:r>
              <a:rPr lang="zh-CN" altLang="en-US" dirty="0"/>
              <a:t>的一个二元关系，称矩阵</a:t>
            </a:r>
            <a:r>
              <a:rPr lang="en-US" altLang="zh-CN" dirty="0"/>
              <a:t>M</a:t>
            </a:r>
            <a:r>
              <a:rPr lang="en-US" altLang="zh-CN" baseline="-25000" dirty="0"/>
              <a:t>R</a:t>
            </a:r>
            <a:r>
              <a:rPr lang="zh-CN" altLang="en-US" dirty="0"/>
              <a:t>＝（</a:t>
            </a:r>
            <a:r>
              <a:rPr lang="en-US" altLang="zh-CN" dirty="0" err="1"/>
              <a:t>m</a:t>
            </a:r>
            <a:r>
              <a:rPr lang="en-US" altLang="zh-CN" baseline="-25000" dirty="0" err="1"/>
              <a:t>ij</a:t>
            </a:r>
            <a:r>
              <a:rPr lang="en-US" altLang="zh-CN" dirty="0"/>
              <a:t>)</a:t>
            </a:r>
            <a:r>
              <a:rPr lang="en-US" altLang="zh-CN" baseline="-25000" dirty="0" err="1"/>
              <a:t>n×m</a:t>
            </a:r>
            <a:r>
              <a:rPr lang="zh-CN" altLang="en-US" dirty="0"/>
              <a:t>为关系</a:t>
            </a:r>
            <a:r>
              <a:rPr lang="en-US" altLang="zh-CN" dirty="0"/>
              <a:t>R</a:t>
            </a:r>
            <a:r>
              <a:rPr lang="zh-CN" altLang="en-US" dirty="0"/>
              <a:t>的</a:t>
            </a:r>
            <a:r>
              <a:rPr lang="zh-CN" altLang="en-US" dirty="0">
                <a:solidFill>
                  <a:srgbClr val="FF0000"/>
                </a:solidFill>
              </a:rPr>
              <a:t>关系矩阵</a:t>
            </a:r>
            <a:r>
              <a:rPr lang="en-US" altLang="zh-CN" dirty="0"/>
              <a:t>(Relation Matrix)</a:t>
            </a:r>
            <a:r>
              <a:rPr lang="zh-CN" altLang="en-US" dirty="0"/>
              <a:t>，其中</a:t>
            </a:r>
            <a:endParaRPr lang="zh-CN" altLang="en-US" dirty="0"/>
          </a:p>
          <a:p>
            <a:pPr marL="0" indent="0">
              <a:lnSpc>
                <a:spcPct val="115000"/>
              </a:lnSpc>
              <a:spcBef>
                <a:spcPct val="0"/>
              </a:spcBef>
              <a:buNone/>
            </a:pPr>
            <a:endParaRPr lang="zh-CN" altLang="en-US" dirty="0"/>
          </a:p>
          <a:p>
            <a:pPr marL="0" indent="0">
              <a:lnSpc>
                <a:spcPct val="115000"/>
              </a:lnSpc>
              <a:spcBef>
                <a:spcPct val="0"/>
              </a:spcBef>
              <a:buNone/>
            </a:pPr>
            <a:endParaRPr lang="en-US" altLang="zh-CN" dirty="0"/>
          </a:p>
          <a:p>
            <a:pPr marL="0" indent="0">
              <a:lnSpc>
                <a:spcPct val="115000"/>
              </a:lnSpc>
              <a:spcBef>
                <a:spcPct val="0"/>
              </a:spcBef>
              <a:buNone/>
            </a:pPr>
            <a:endParaRPr lang="en-US" altLang="zh-CN" dirty="0"/>
          </a:p>
          <a:p>
            <a:pPr marL="0" indent="0">
              <a:lnSpc>
                <a:spcPct val="115000"/>
              </a:lnSpc>
              <a:spcBef>
                <a:spcPct val="0"/>
              </a:spcBef>
              <a:buNone/>
            </a:pPr>
            <a:endParaRPr lang="zh-CN" altLang="en-US" dirty="0"/>
          </a:p>
          <a:p>
            <a:pPr marL="0" indent="0">
              <a:lnSpc>
                <a:spcPct val="115000"/>
              </a:lnSpc>
              <a:spcBef>
                <a:spcPct val="0"/>
              </a:spcBef>
              <a:buNone/>
            </a:pPr>
            <a:r>
              <a:rPr lang="en-US" altLang="zh-CN" dirty="0"/>
              <a:t>M</a:t>
            </a:r>
            <a:r>
              <a:rPr lang="en-US" altLang="zh-CN" baseline="-25000" dirty="0"/>
              <a:t>R</a:t>
            </a:r>
            <a:r>
              <a:rPr lang="zh-CN" altLang="en-US" dirty="0"/>
              <a:t>又被称为</a:t>
            </a:r>
            <a:r>
              <a:rPr lang="en-US" altLang="zh-CN" dirty="0"/>
              <a:t>R</a:t>
            </a:r>
            <a:r>
              <a:rPr lang="zh-CN" altLang="en-US" dirty="0"/>
              <a:t>的</a:t>
            </a:r>
            <a:r>
              <a:rPr lang="zh-CN" altLang="en-US" dirty="0">
                <a:solidFill>
                  <a:srgbClr val="FF0000"/>
                </a:solidFill>
              </a:rPr>
              <a:t>邻接矩阵</a:t>
            </a:r>
            <a:r>
              <a:rPr lang="en-US" altLang="zh-CN" dirty="0"/>
              <a:t>(Adjacency Matrix)</a:t>
            </a:r>
            <a:r>
              <a:rPr lang="zh-CN" altLang="en-US" dirty="0"/>
              <a:t>。</a:t>
            </a:r>
            <a:endParaRPr lang="zh-CN" altLang="en-US" dirty="0"/>
          </a:p>
        </p:txBody>
      </p:sp>
      <p:graphicFrame>
        <p:nvGraphicFramePr>
          <p:cNvPr id="1415171" name="Object 3"/>
          <p:cNvGraphicFramePr>
            <a:graphicFrameLocks noChangeAspect="1"/>
          </p:cNvGraphicFramePr>
          <p:nvPr/>
        </p:nvGraphicFramePr>
        <p:xfrm>
          <a:off x="2183493" y="2579806"/>
          <a:ext cx="6770967" cy="1080732"/>
        </p:xfrm>
        <a:graphic>
          <a:graphicData uri="http://schemas.openxmlformats.org/presentationml/2006/ole">
            <mc:AlternateContent xmlns:mc="http://schemas.openxmlformats.org/markup-compatibility/2006">
              <mc:Choice xmlns:v="urn:schemas-microsoft-com:vml" Requires="v">
                <p:oleObj spid="_x0000_s1025" name="Equation" r:id="rId1" imgW="68275200" imgH="9448800" progId="Equation.DSMT4">
                  <p:embed/>
                </p:oleObj>
              </mc:Choice>
              <mc:Fallback>
                <p:oleObj name="Equation" r:id="rId1" imgW="68275200" imgH="9448800" progId="Equation.DSMT4">
                  <p:embed/>
                  <p:pic>
                    <p:nvPicPr>
                      <p:cNvPr id="0" name="Object 3" descr="image13"/>
                      <p:cNvPicPr>
                        <a:picLocks noChangeAspect="1"/>
                      </p:cNvPicPr>
                      <p:nvPr/>
                    </p:nvPicPr>
                    <p:blipFill>
                      <a:blip r:embed="rId2"/>
                      <a:stretch>
                        <a:fillRect/>
                      </a:stretch>
                    </p:blipFill>
                    <p:spPr>
                      <a:xfrm>
                        <a:off x="2183493" y="2579806"/>
                        <a:ext cx="6770967" cy="1080732"/>
                      </a:xfrm>
                      <a:prstGeom prst="rect">
                        <a:avLst/>
                      </a:prstGeom>
                      <a:noFill/>
                      <a:ln w="9525">
                        <a:noFill/>
                      </a:ln>
                    </p:spPr>
                  </p:pic>
                </p:oleObj>
              </mc:Fallback>
            </mc:AlternateContent>
          </a:graphicData>
        </a:graphic>
      </p:graphicFrame>
      <p:sp>
        <p:nvSpPr>
          <p:cNvPr id="76805" name="Rectangle 4"/>
          <p:cNvSpPr>
            <a:spLocks noGrp="1" noChangeArrowheads="1"/>
          </p:cNvSpPr>
          <p:nvPr>
            <p:ph type="title"/>
          </p:nvPr>
        </p:nvSpPr>
        <p:spPr>
          <a:xfrm>
            <a:off x="917575" y="322346"/>
            <a:ext cx="8066367" cy="530348"/>
          </a:xfrm>
        </p:spPr>
        <p:txBody>
          <a:bodyPr/>
          <a:lstStyle/>
          <a:p>
            <a:pPr eaLnBrk="1" hangingPunct="1"/>
            <a:r>
              <a:rPr lang="zh-CN" altLang="en-US" dirty="0"/>
              <a:t>关系矩阵</a:t>
            </a:r>
            <a:endParaRPr lang="zh-CN" altLang="en-US" dirty="0"/>
          </a:p>
        </p:txBody>
      </p:sp>
      <p:sp>
        <p:nvSpPr>
          <p:cNvPr id="1415173" name="Rectangle 5"/>
          <p:cNvSpPr>
            <a:spLocks noChangeArrowheads="1"/>
          </p:cNvSpPr>
          <p:nvPr/>
        </p:nvSpPr>
        <p:spPr bwMode="auto">
          <a:xfrm>
            <a:off x="1637672" y="4724929"/>
            <a:ext cx="6626171" cy="180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
                <a:srgbClr val="800080"/>
              </a:buClr>
              <a:buFont typeface="Wingdings" panose="05000000000000000000" pitchFamily="2" charset="2"/>
              <a:buAutoNum type="arabicPeriod"/>
            </a:pPr>
            <a:r>
              <a:rPr kumimoji="1" lang="zh-CN" altLang="en-US" sz="2400" dirty="0">
                <a:solidFill>
                  <a:srgbClr val="3333FF"/>
                </a:solidFill>
                <a:latin typeface="+mn-ea"/>
                <a:ea typeface="+mn-ea"/>
              </a:rPr>
              <a:t>必须先对集合</a:t>
            </a:r>
            <a:r>
              <a:rPr kumimoji="1" lang="en-US" altLang="zh-CN" sz="2400" dirty="0">
                <a:solidFill>
                  <a:srgbClr val="3333FF"/>
                </a:solidFill>
                <a:latin typeface="+mn-ea"/>
                <a:ea typeface="+mn-ea"/>
              </a:rPr>
              <a:t>A,B</a:t>
            </a:r>
            <a:r>
              <a:rPr kumimoji="1" lang="zh-CN" altLang="en-US" sz="2400" dirty="0">
                <a:solidFill>
                  <a:srgbClr val="3333FF"/>
                </a:solidFill>
                <a:latin typeface="+mn-ea"/>
                <a:ea typeface="+mn-ea"/>
              </a:rPr>
              <a:t>中的元素排序</a:t>
            </a:r>
            <a:r>
              <a:rPr kumimoji="1" lang="zh-CN" altLang="en-US" sz="2400" dirty="0">
                <a:solidFill>
                  <a:schemeClr val="tx1"/>
                </a:solidFill>
                <a:latin typeface="+mn-ea"/>
                <a:ea typeface="+mn-ea"/>
              </a:rPr>
              <a:t>。</a:t>
            </a:r>
            <a:endParaRPr kumimoji="1" lang="zh-CN" altLang="en-US" sz="2400" dirty="0">
              <a:solidFill>
                <a:schemeClr val="tx1"/>
              </a:solidFill>
              <a:latin typeface="+mn-ea"/>
              <a:ea typeface="+mn-ea"/>
            </a:endParaRPr>
          </a:p>
          <a:p>
            <a:pPr algn="l" eaLnBrk="1" hangingPunct="1">
              <a:spcBef>
                <a:spcPct val="0"/>
              </a:spcBef>
              <a:buClr>
                <a:srgbClr val="800080"/>
              </a:buClr>
              <a:buFont typeface="Wingdings" panose="05000000000000000000" pitchFamily="2" charset="2"/>
              <a:buAutoNum type="arabicPeriod"/>
            </a:pPr>
            <a:r>
              <a:rPr kumimoji="1" lang="en-US" altLang="zh-CN" sz="2400" dirty="0">
                <a:solidFill>
                  <a:srgbClr val="0000FF"/>
                </a:solidFill>
                <a:latin typeface="+mn-ea"/>
                <a:ea typeface="+mn-ea"/>
              </a:rPr>
              <a:t>A</a:t>
            </a:r>
            <a:r>
              <a:rPr kumimoji="1" lang="zh-CN" altLang="en-US" sz="2400" dirty="0">
                <a:solidFill>
                  <a:srgbClr val="0000FF"/>
                </a:solidFill>
                <a:latin typeface="+mn-ea"/>
                <a:ea typeface="+mn-ea"/>
              </a:rPr>
              <a:t>中元素序号</a:t>
            </a:r>
            <a:r>
              <a:rPr kumimoji="1" lang="zh-CN" altLang="en-US" sz="2400" dirty="0">
                <a:solidFill>
                  <a:schemeClr val="tx1"/>
                </a:solidFill>
                <a:latin typeface="+mn-ea"/>
                <a:ea typeface="+mn-ea"/>
              </a:rPr>
              <a:t>对应矩阵元素的</a:t>
            </a:r>
            <a:r>
              <a:rPr kumimoji="1" lang="zh-CN" altLang="en-US" sz="2400" dirty="0">
                <a:solidFill>
                  <a:srgbClr val="0000FF"/>
                </a:solidFill>
                <a:latin typeface="+mn-ea"/>
                <a:ea typeface="+mn-ea"/>
              </a:rPr>
              <a:t>行下标</a:t>
            </a:r>
            <a:r>
              <a:rPr kumimoji="1" lang="zh-CN" altLang="en-US" sz="2400" dirty="0">
                <a:solidFill>
                  <a:schemeClr val="tx1"/>
                </a:solidFill>
                <a:latin typeface="+mn-ea"/>
                <a:ea typeface="+mn-ea"/>
              </a:rPr>
              <a:t>。</a:t>
            </a:r>
            <a:endParaRPr kumimoji="1" lang="zh-CN" altLang="en-US" sz="2400" dirty="0">
              <a:solidFill>
                <a:schemeClr val="tx1"/>
              </a:solidFill>
              <a:latin typeface="+mn-ea"/>
              <a:ea typeface="+mn-ea"/>
            </a:endParaRPr>
          </a:p>
          <a:p>
            <a:pPr algn="l" eaLnBrk="1" hangingPunct="1">
              <a:spcBef>
                <a:spcPct val="0"/>
              </a:spcBef>
              <a:buClr>
                <a:srgbClr val="800080"/>
              </a:buClr>
              <a:buFont typeface="Wingdings" panose="05000000000000000000" pitchFamily="2" charset="2"/>
              <a:buAutoNum type="arabicPeriod"/>
            </a:pPr>
            <a:r>
              <a:rPr kumimoji="1" lang="en-US" altLang="zh-CN" sz="2400" dirty="0">
                <a:solidFill>
                  <a:srgbClr val="0000FF"/>
                </a:solidFill>
                <a:latin typeface="+mn-ea"/>
                <a:ea typeface="+mn-ea"/>
              </a:rPr>
              <a:t>B</a:t>
            </a:r>
            <a:r>
              <a:rPr kumimoji="1" lang="zh-CN" altLang="en-US" sz="2400" dirty="0">
                <a:solidFill>
                  <a:srgbClr val="0000FF"/>
                </a:solidFill>
                <a:latin typeface="+mn-ea"/>
                <a:ea typeface="+mn-ea"/>
              </a:rPr>
              <a:t>中元素序号</a:t>
            </a:r>
            <a:r>
              <a:rPr kumimoji="1" lang="zh-CN" altLang="en-US" sz="2400" dirty="0">
                <a:solidFill>
                  <a:schemeClr val="tx1"/>
                </a:solidFill>
                <a:latin typeface="+mn-ea"/>
                <a:ea typeface="+mn-ea"/>
              </a:rPr>
              <a:t>对应矩阵元素的</a:t>
            </a:r>
            <a:r>
              <a:rPr kumimoji="1" lang="zh-CN" altLang="en-US" sz="2400" dirty="0">
                <a:solidFill>
                  <a:srgbClr val="0000FF"/>
                </a:solidFill>
                <a:latin typeface="+mn-ea"/>
                <a:ea typeface="+mn-ea"/>
              </a:rPr>
              <a:t>列下标</a:t>
            </a:r>
            <a:r>
              <a:rPr kumimoji="1" lang="zh-CN" altLang="en-US" sz="2400" dirty="0">
                <a:solidFill>
                  <a:schemeClr val="tx1"/>
                </a:solidFill>
                <a:latin typeface="+mn-ea"/>
                <a:ea typeface="+mn-ea"/>
              </a:rPr>
              <a:t>。</a:t>
            </a:r>
            <a:endParaRPr kumimoji="1" lang="zh-CN" altLang="en-US" sz="2400" dirty="0">
              <a:solidFill>
                <a:schemeClr val="tx1"/>
              </a:solidFill>
              <a:latin typeface="+mn-ea"/>
              <a:ea typeface="+mn-ea"/>
            </a:endParaRPr>
          </a:p>
          <a:p>
            <a:pPr algn="l" eaLnBrk="1" hangingPunct="1">
              <a:spcBef>
                <a:spcPct val="0"/>
              </a:spcBef>
              <a:buClr>
                <a:srgbClr val="800080"/>
              </a:buClr>
              <a:buFont typeface="Wingdings" panose="05000000000000000000" pitchFamily="2" charset="2"/>
              <a:buAutoNum type="arabicPeriod"/>
            </a:pPr>
            <a:r>
              <a:rPr kumimoji="1" lang="zh-CN" altLang="en-US" sz="2400" dirty="0">
                <a:solidFill>
                  <a:schemeClr val="tx1"/>
                </a:solidFill>
                <a:latin typeface="+mn-ea"/>
                <a:ea typeface="+mn-ea"/>
              </a:rPr>
              <a:t>关系矩阵是</a:t>
            </a:r>
            <a:r>
              <a:rPr kumimoji="1" lang="en-US" altLang="zh-CN" sz="2400" dirty="0">
                <a:solidFill>
                  <a:schemeClr val="tx1"/>
                </a:solidFill>
                <a:latin typeface="+mn-ea"/>
                <a:ea typeface="+mn-ea"/>
              </a:rPr>
              <a:t>0-1</a:t>
            </a:r>
            <a:r>
              <a:rPr kumimoji="1" lang="zh-CN" altLang="en-US" sz="2400" dirty="0">
                <a:solidFill>
                  <a:schemeClr val="tx1"/>
                </a:solidFill>
                <a:latin typeface="+mn-ea"/>
                <a:ea typeface="+mn-ea"/>
              </a:rPr>
              <a:t>矩阵，称为</a:t>
            </a:r>
            <a:r>
              <a:rPr kumimoji="1" lang="zh-CN" altLang="en-US" sz="2400" dirty="0">
                <a:solidFill>
                  <a:srgbClr val="0000CC"/>
                </a:solidFill>
                <a:latin typeface="+mn-ea"/>
                <a:ea typeface="+mn-ea"/>
              </a:rPr>
              <a:t>布尔矩阵</a:t>
            </a:r>
            <a:r>
              <a:rPr kumimoji="1" lang="zh-CN" altLang="en-US" sz="2400" dirty="0">
                <a:solidFill>
                  <a:schemeClr val="tx1"/>
                </a:solidFill>
                <a:latin typeface="+mn-ea"/>
                <a:ea typeface="+mn-ea"/>
              </a:rPr>
              <a:t>。</a:t>
            </a:r>
            <a:r>
              <a:rPr kumimoji="1" lang="zh-CN" altLang="en-US" sz="2400" dirty="0">
                <a:solidFill>
                  <a:srgbClr val="FF0000"/>
                </a:solidFill>
                <a:latin typeface="+mn-ea"/>
                <a:ea typeface="+mn-ea"/>
              </a:rPr>
              <a:t> </a:t>
            </a:r>
            <a:endParaRPr kumimoji="1" lang="zh-CN" altLang="en-US" sz="2400" dirty="0">
              <a:solidFill>
                <a:srgbClr val="FF0000"/>
              </a:solidFill>
              <a:latin typeface="+mn-ea"/>
              <a:ea typeface="+mn-ea"/>
            </a:endParaRPr>
          </a:p>
        </p:txBody>
      </p:sp>
      <p:sp>
        <p:nvSpPr>
          <p:cNvPr id="1415174" name="Rectangle 6"/>
          <p:cNvSpPr>
            <a:spLocks noChangeArrowheads="1"/>
          </p:cNvSpPr>
          <p:nvPr/>
        </p:nvSpPr>
        <p:spPr bwMode="auto">
          <a:xfrm>
            <a:off x="629376" y="5296561"/>
            <a:ext cx="576395" cy="1077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kumimoji="1" lang="zh-CN" altLang="en-US" sz="3200">
                <a:solidFill>
                  <a:srgbClr val="FF0000"/>
                </a:solidFill>
              </a:rPr>
              <a:t>注意</a:t>
            </a:r>
            <a:endParaRPr kumimoji="1" lang="zh-CN" altLang="en-US" sz="3200">
              <a:solidFill>
                <a:srgbClr val="FF0000"/>
              </a:solidFill>
            </a:endParaRPr>
          </a:p>
        </p:txBody>
      </p:sp>
      <p:sp>
        <p:nvSpPr>
          <p:cNvPr id="1415175" name="AutoShape 7"/>
          <p:cNvSpPr/>
          <p:nvPr/>
        </p:nvSpPr>
        <p:spPr bwMode="auto">
          <a:xfrm>
            <a:off x="1167663" y="5037738"/>
            <a:ext cx="431900" cy="1584692"/>
          </a:xfrm>
          <a:prstGeom prst="leftBrace">
            <a:avLst>
              <a:gd name="adj1" fmla="val 30576"/>
              <a:gd name="adj2" fmla="val 50000"/>
            </a:avLst>
          </a:prstGeom>
          <a:noFill/>
          <a:ln w="31750">
            <a:solidFill>
              <a:srgbClr val="800080"/>
            </a:solidFill>
            <a:rou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 name="云形标注 1"/>
          <p:cNvSpPr/>
          <p:nvPr/>
        </p:nvSpPr>
        <p:spPr>
          <a:xfrm>
            <a:off x="8385175" y="2014491"/>
            <a:ext cx="2895600" cy="956411"/>
          </a:xfrm>
          <a:prstGeom prst="cloudCallout">
            <a:avLst>
              <a:gd name="adj1" fmla="val -110495"/>
              <a:gd name="adj2" fmla="val 642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布尔矩阵</a:t>
            </a:r>
            <a:endParaRPr lang="zh-CN" altLang="en-US" b="1" dirty="0"/>
          </a:p>
        </p:txBody>
      </p:sp>
    </p:spTree>
    <p:custDataLst>
      <p:tags r:id="rId3"/>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5175"/>
                                        </p:tgtEl>
                                        <p:attrNameLst>
                                          <p:attrName>style.visibility</p:attrName>
                                        </p:attrNameLst>
                                      </p:cBhvr>
                                      <p:to>
                                        <p:strVal val="visible"/>
                                      </p:to>
                                    </p:set>
                                    <p:animEffect transition="in" filter="wipe(left)">
                                      <p:cBhvr>
                                        <p:cTn id="12" dur="500"/>
                                        <p:tgtEl>
                                          <p:spTgt spid="141517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15174"/>
                                        </p:tgtEl>
                                        <p:attrNameLst>
                                          <p:attrName>style.visibility</p:attrName>
                                        </p:attrNameLst>
                                      </p:cBhvr>
                                      <p:to>
                                        <p:strVal val="visible"/>
                                      </p:to>
                                    </p:set>
                                    <p:animEffect transition="in" filter="wipe(left)">
                                      <p:cBhvr>
                                        <p:cTn id="15" dur="500"/>
                                        <p:tgtEl>
                                          <p:spTgt spid="1415174"/>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1415173">
                                            <p:txEl>
                                              <p:pRg st="0" end="0"/>
                                            </p:txEl>
                                          </p:spTgt>
                                        </p:tgtEl>
                                        <p:attrNameLst>
                                          <p:attrName>style.visibility</p:attrName>
                                        </p:attrNameLst>
                                      </p:cBhvr>
                                      <p:to>
                                        <p:strVal val="visible"/>
                                      </p:to>
                                    </p:set>
                                    <p:animEffect transition="in" filter="diamond(in)">
                                      <p:cBhvr>
                                        <p:cTn id="20" dur="2000"/>
                                        <p:tgtEl>
                                          <p:spTgt spid="141517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1415173">
                                            <p:txEl>
                                              <p:pRg st="1" end="1"/>
                                            </p:txEl>
                                          </p:spTgt>
                                        </p:tgtEl>
                                        <p:attrNameLst>
                                          <p:attrName>style.visibility</p:attrName>
                                        </p:attrNameLst>
                                      </p:cBhvr>
                                      <p:to>
                                        <p:strVal val="visible"/>
                                      </p:to>
                                    </p:set>
                                    <p:animEffect transition="in" filter="diamond(in)">
                                      <p:cBhvr>
                                        <p:cTn id="25" dur="2000"/>
                                        <p:tgtEl>
                                          <p:spTgt spid="141517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415173">
                                            <p:txEl>
                                              <p:pRg st="2" end="2"/>
                                            </p:txEl>
                                          </p:spTgt>
                                        </p:tgtEl>
                                        <p:attrNameLst>
                                          <p:attrName>style.visibility</p:attrName>
                                        </p:attrNameLst>
                                      </p:cBhvr>
                                      <p:to>
                                        <p:strVal val="visible"/>
                                      </p:to>
                                    </p:set>
                                    <p:animEffect transition="in" filter="diamond(in)">
                                      <p:cBhvr>
                                        <p:cTn id="30" dur="2000"/>
                                        <p:tgtEl>
                                          <p:spTgt spid="141517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1415173">
                                            <p:txEl>
                                              <p:pRg st="3" end="3"/>
                                            </p:txEl>
                                          </p:spTgt>
                                        </p:tgtEl>
                                        <p:attrNameLst>
                                          <p:attrName>style.visibility</p:attrName>
                                        </p:attrNameLst>
                                      </p:cBhvr>
                                      <p:to>
                                        <p:strVal val="visible"/>
                                      </p:to>
                                    </p:set>
                                    <p:animEffect transition="in" filter="diamond(in)">
                                      <p:cBhvr>
                                        <p:cTn id="35" dur="2000"/>
                                        <p:tgtEl>
                                          <p:spTgt spid="14151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73" grpId="0" build="p"/>
      <p:bldP spid="1415174" grpId="0"/>
      <p:bldP spid="1415175" grpId="0" animBg="1"/>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414610" y="982891"/>
            <a:ext cx="8056840" cy="536699"/>
          </a:xfrm>
        </p:spPr>
        <p:txBody>
          <a:bodyPr/>
          <a:lstStyle/>
          <a:p>
            <a:r>
              <a:rPr lang="zh-CN" altLang="en-US" sz="2400" dirty="0">
                <a:solidFill>
                  <a:srgbClr val="C00000"/>
                </a:solidFill>
              </a:rPr>
              <a:t>例</a:t>
            </a:r>
            <a:r>
              <a:rPr lang="en-US" altLang="zh-CN" sz="2400" dirty="0">
                <a:solidFill>
                  <a:srgbClr val="C00000"/>
                </a:solidFill>
              </a:rPr>
              <a:t>4.10  </a:t>
            </a:r>
            <a:r>
              <a:rPr lang="zh-CN" altLang="en-US" sz="2400" dirty="0">
                <a:solidFill>
                  <a:schemeClr val="tx1"/>
                </a:solidFill>
              </a:rPr>
              <a:t>试用关系矩阵表示例</a:t>
            </a:r>
            <a:r>
              <a:rPr lang="en-US" altLang="zh-CN" sz="2400" dirty="0">
                <a:solidFill>
                  <a:schemeClr val="tx1"/>
                </a:solidFill>
              </a:rPr>
              <a:t>4.6</a:t>
            </a:r>
            <a:r>
              <a:rPr lang="zh-CN" altLang="en-US" sz="2400" dirty="0">
                <a:solidFill>
                  <a:schemeClr val="tx1"/>
                </a:solidFill>
              </a:rPr>
              <a:t>的关系。</a:t>
            </a:r>
            <a:endParaRPr lang="zh-CN" altLang="en-US" sz="2400" dirty="0">
              <a:solidFill>
                <a:schemeClr val="tx1"/>
              </a:solidFill>
            </a:endParaRPr>
          </a:p>
        </p:txBody>
      </p:sp>
      <p:graphicFrame>
        <p:nvGraphicFramePr>
          <p:cNvPr id="5" name="Object 6"/>
          <p:cNvGraphicFramePr>
            <a:graphicFrameLocks noChangeAspect="1"/>
          </p:cNvGraphicFramePr>
          <p:nvPr/>
        </p:nvGraphicFramePr>
        <p:xfrm>
          <a:off x="803638" y="2957752"/>
          <a:ext cx="3890275" cy="1951489"/>
        </p:xfrm>
        <a:graphic>
          <a:graphicData uri="http://schemas.openxmlformats.org/presentationml/2006/ole">
            <mc:AlternateContent xmlns:mc="http://schemas.openxmlformats.org/markup-compatibility/2006">
              <mc:Choice xmlns:v="urn:schemas-microsoft-com:vml" Requires="v">
                <p:oleObj spid="_x0000_s2049" name="Equation" r:id="rId1" imgW="26822400" imgH="13411200" progId="Equation.DSMT4">
                  <p:embed/>
                </p:oleObj>
              </mc:Choice>
              <mc:Fallback>
                <p:oleObj name="Equation" r:id="rId1" imgW="26822400" imgH="13411200" progId="Equation.DSMT4">
                  <p:embed/>
                  <p:pic>
                    <p:nvPicPr>
                      <p:cNvPr id="0" name="Object 6" descr="image14"/>
                      <p:cNvPicPr>
                        <a:picLocks noChangeAspect="1"/>
                      </p:cNvPicPr>
                      <p:nvPr/>
                    </p:nvPicPr>
                    <p:blipFill>
                      <a:blip r:embed="rId2"/>
                      <a:stretch>
                        <a:fillRect/>
                      </a:stretch>
                    </p:blipFill>
                    <p:spPr>
                      <a:xfrm>
                        <a:off x="803638" y="2957752"/>
                        <a:ext cx="3890275" cy="1951489"/>
                      </a:xfrm>
                      <a:prstGeom prst="rect">
                        <a:avLst/>
                      </a:prstGeom>
                      <a:noFill/>
                      <a:ln w="9525">
                        <a:noFill/>
                      </a:ln>
                    </p:spPr>
                  </p:pic>
                </p:oleObj>
              </mc:Fallback>
            </mc:AlternateContent>
          </a:graphicData>
        </a:graphic>
      </p:graphicFrame>
      <p:graphicFrame>
        <p:nvGraphicFramePr>
          <p:cNvPr id="6" name="Object 9"/>
          <p:cNvGraphicFramePr>
            <a:graphicFrameLocks noChangeAspect="1"/>
          </p:cNvGraphicFramePr>
          <p:nvPr/>
        </p:nvGraphicFramePr>
        <p:xfrm>
          <a:off x="1634093" y="2441695"/>
          <a:ext cx="2808937" cy="516057"/>
        </p:xfrm>
        <a:graphic>
          <a:graphicData uri="http://schemas.openxmlformats.org/presentationml/2006/ole">
            <mc:AlternateContent xmlns:mc="http://schemas.openxmlformats.org/markup-compatibility/2006">
              <mc:Choice xmlns:v="urn:schemas-microsoft-com:vml" Requires="v">
                <p:oleObj spid="_x0000_s2050" name="Equation" r:id="rId3" imgW="37795200" imgH="5181600" progId="Equation.DSMT4">
                  <p:embed/>
                </p:oleObj>
              </mc:Choice>
              <mc:Fallback>
                <p:oleObj name="Equation" r:id="rId3" imgW="37795200" imgH="5181600" progId="Equation.DSMT4">
                  <p:embed/>
                  <p:pic>
                    <p:nvPicPr>
                      <p:cNvPr id="0" name="Object 9" descr="image15"/>
                      <p:cNvPicPr>
                        <a:picLocks noChangeAspect="1"/>
                      </p:cNvPicPr>
                      <p:nvPr/>
                    </p:nvPicPr>
                    <p:blipFill>
                      <a:blip r:embed="rId4"/>
                      <a:stretch>
                        <a:fillRect/>
                      </a:stretch>
                    </p:blipFill>
                    <p:spPr>
                      <a:xfrm>
                        <a:off x="1634093" y="2441695"/>
                        <a:ext cx="2808937" cy="516057"/>
                      </a:xfrm>
                      <a:prstGeom prst="rect">
                        <a:avLst/>
                      </a:prstGeom>
                      <a:solidFill>
                        <a:srgbClr val="FFFF00"/>
                      </a:solidFill>
                      <a:ln w="9525">
                        <a:noFill/>
                      </a:ln>
                    </p:spPr>
                  </p:pic>
                </p:oleObj>
              </mc:Fallback>
            </mc:AlternateContent>
          </a:graphicData>
        </a:graphic>
      </p:graphicFrame>
      <p:graphicFrame>
        <p:nvGraphicFramePr>
          <p:cNvPr id="7" name="Object 10"/>
          <p:cNvGraphicFramePr>
            <a:graphicFrameLocks noChangeAspect="1"/>
          </p:cNvGraphicFramePr>
          <p:nvPr/>
        </p:nvGraphicFramePr>
        <p:xfrm>
          <a:off x="1361774" y="3097370"/>
          <a:ext cx="544638" cy="1818108"/>
        </p:xfrm>
        <a:graphic>
          <a:graphicData uri="http://schemas.openxmlformats.org/presentationml/2006/ole">
            <mc:AlternateContent xmlns:mc="http://schemas.openxmlformats.org/markup-compatibility/2006">
              <mc:Choice xmlns:v="urn:schemas-microsoft-com:vml" Requires="v">
                <p:oleObj spid="_x0000_s2051" name="Equation" r:id="rId5" imgW="7620000" imgH="23469600" progId="Equation.DSMT4">
                  <p:embed/>
                </p:oleObj>
              </mc:Choice>
              <mc:Fallback>
                <p:oleObj name="Equation" r:id="rId5" imgW="7620000" imgH="23469600" progId="Equation.DSMT4">
                  <p:embed/>
                  <p:pic>
                    <p:nvPicPr>
                      <p:cNvPr id="0" name="Object 10" descr="image16"/>
                      <p:cNvPicPr>
                        <a:picLocks noChangeAspect="1"/>
                      </p:cNvPicPr>
                      <p:nvPr/>
                    </p:nvPicPr>
                    <p:blipFill>
                      <a:blip r:embed="rId6"/>
                      <a:stretch>
                        <a:fillRect/>
                      </a:stretch>
                    </p:blipFill>
                    <p:spPr>
                      <a:xfrm>
                        <a:off x="1361774" y="3097370"/>
                        <a:ext cx="544638" cy="1818108"/>
                      </a:xfrm>
                      <a:prstGeom prst="rect">
                        <a:avLst/>
                      </a:prstGeom>
                      <a:solidFill>
                        <a:srgbClr val="FFC000"/>
                      </a:solidFill>
                      <a:ln w="9525">
                        <a:noFill/>
                      </a:ln>
                    </p:spPr>
                  </p:pic>
                </p:oleObj>
              </mc:Fallback>
            </mc:AlternateContent>
          </a:graphicData>
        </a:graphic>
      </p:graphicFrame>
      <p:sp>
        <p:nvSpPr>
          <p:cNvPr id="8" name="Rectangle 4"/>
          <p:cNvSpPr txBox="1">
            <a:spLocks noChangeArrowheads="1"/>
          </p:cNvSpPr>
          <p:nvPr/>
        </p:nvSpPr>
        <p:spPr>
          <a:xfrm>
            <a:off x="792759" y="326522"/>
            <a:ext cx="8066367" cy="530348"/>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n-US" altLang="zh-CN" dirty="0"/>
              <a:t>4.10</a:t>
            </a:r>
            <a:endParaRPr lang="zh-CN" altLang="en-US" dirty="0"/>
          </a:p>
        </p:txBody>
      </p:sp>
      <p:sp>
        <p:nvSpPr>
          <p:cNvPr id="2" name="内容占位符 1"/>
          <p:cNvSpPr>
            <a:spLocks noGrp="1"/>
          </p:cNvSpPr>
          <p:nvPr>
            <p:ph idx="1"/>
          </p:nvPr>
        </p:nvSpPr>
        <p:spPr>
          <a:xfrm>
            <a:off x="450442" y="1652971"/>
            <a:ext cx="8534400" cy="599093"/>
          </a:xfrm>
        </p:spPr>
        <p:txBody>
          <a:bodyPr/>
          <a:lstStyle/>
          <a:p>
            <a:pPr marL="0" indent="0">
              <a:buNone/>
            </a:pPr>
            <a:r>
              <a:rPr lang="zh-CN" altLang="zh-CN" dirty="0">
                <a:solidFill>
                  <a:srgbClr val="C00000"/>
                </a:solidFill>
              </a:rPr>
              <a:t>解</a:t>
            </a:r>
            <a:r>
              <a:rPr lang="zh-CN" altLang="zh-CN" dirty="0"/>
              <a:t>  设</a:t>
            </a:r>
            <a:r>
              <a:rPr lang="en-US" altLang="zh-CN" dirty="0"/>
              <a:t>R</a:t>
            </a:r>
            <a:r>
              <a:rPr lang="zh-CN" altLang="zh-CN" dirty="0"/>
              <a:t>，</a:t>
            </a:r>
            <a:r>
              <a:rPr lang="en-US" altLang="zh-CN" dirty="0"/>
              <a:t>S</a:t>
            </a:r>
            <a:r>
              <a:rPr lang="zh-CN" altLang="zh-CN" dirty="0"/>
              <a:t>的关系矩阵分别为</a:t>
            </a:r>
            <a:r>
              <a:rPr lang="en-US" altLang="zh-CN" dirty="0"/>
              <a:t>M</a:t>
            </a:r>
            <a:r>
              <a:rPr lang="en-US" altLang="zh-CN" baseline="-25000" dirty="0"/>
              <a:t>R</a:t>
            </a:r>
            <a:r>
              <a:rPr lang="zh-CN" altLang="zh-CN" dirty="0"/>
              <a:t>，</a:t>
            </a:r>
            <a:r>
              <a:rPr lang="en-US" altLang="zh-CN" dirty="0"/>
              <a:t>M</a:t>
            </a:r>
            <a:r>
              <a:rPr lang="en-US" altLang="zh-CN" baseline="-25000" dirty="0"/>
              <a:t>s</a:t>
            </a:r>
            <a:r>
              <a:rPr lang="zh-CN" altLang="zh-CN" dirty="0"/>
              <a:t>，则有</a:t>
            </a:r>
            <a:endParaRPr lang="zh-CN" altLang="zh-CN" dirty="0"/>
          </a:p>
          <a:p>
            <a:endParaRPr lang="zh-CN" altLang="en-US" dirty="0"/>
          </a:p>
        </p:txBody>
      </p:sp>
      <p:graphicFrame>
        <p:nvGraphicFramePr>
          <p:cNvPr id="9" name="Object 7"/>
          <p:cNvGraphicFramePr>
            <a:graphicFrameLocks noChangeAspect="1"/>
          </p:cNvGraphicFramePr>
          <p:nvPr/>
        </p:nvGraphicFramePr>
        <p:xfrm>
          <a:off x="5992405" y="2974875"/>
          <a:ext cx="2992437" cy="2321632"/>
        </p:xfrm>
        <a:graphic>
          <a:graphicData uri="http://schemas.openxmlformats.org/presentationml/2006/ole">
            <mc:AlternateContent xmlns:mc="http://schemas.openxmlformats.org/markup-compatibility/2006">
              <mc:Choice xmlns:v="urn:schemas-microsoft-com:vml" Requires="v">
                <p:oleObj spid="_x0000_s2052" name="Equation" r:id="rId7" imgW="20116800" imgH="15544800" progId="Equation.DSMT4">
                  <p:embed/>
                </p:oleObj>
              </mc:Choice>
              <mc:Fallback>
                <p:oleObj name="Equation" r:id="rId7" imgW="20116800" imgH="15544800" progId="Equation.DSMT4">
                  <p:embed/>
                  <p:pic>
                    <p:nvPicPr>
                      <p:cNvPr id="0" name="Object 7" descr="image17"/>
                      <p:cNvPicPr>
                        <a:picLocks noChangeAspect="1"/>
                      </p:cNvPicPr>
                      <p:nvPr/>
                    </p:nvPicPr>
                    <p:blipFill>
                      <a:blip r:embed="rId8"/>
                      <a:stretch>
                        <a:fillRect/>
                      </a:stretch>
                    </p:blipFill>
                    <p:spPr>
                      <a:xfrm>
                        <a:off x="5992405" y="2974875"/>
                        <a:ext cx="2992437" cy="2321632"/>
                      </a:xfrm>
                      <a:prstGeom prst="rect">
                        <a:avLst/>
                      </a:prstGeom>
                      <a:noFill/>
                      <a:ln w="9525">
                        <a:noFill/>
                      </a:ln>
                    </p:spPr>
                  </p:pic>
                </p:oleObj>
              </mc:Fallback>
            </mc:AlternateContent>
          </a:graphicData>
        </a:graphic>
      </p:graphicFrame>
      <p:graphicFrame>
        <p:nvGraphicFramePr>
          <p:cNvPr id="10" name="Object 11"/>
          <p:cNvGraphicFramePr>
            <a:graphicFrameLocks noChangeAspect="1"/>
          </p:cNvGraphicFramePr>
          <p:nvPr/>
        </p:nvGraphicFramePr>
        <p:xfrm>
          <a:off x="7161458" y="2562373"/>
          <a:ext cx="1697668" cy="608154"/>
        </p:xfrm>
        <a:graphic>
          <a:graphicData uri="http://schemas.openxmlformats.org/presentationml/2006/ole">
            <mc:AlternateContent xmlns:mc="http://schemas.openxmlformats.org/markup-compatibility/2006">
              <mc:Choice xmlns:v="urn:schemas-microsoft-com:vml" Requires="v">
                <p:oleObj spid="_x0000_s2053" name="Equation" r:id="rId9" imgW="571500" imgH="266700" progId="Equation.DSMT4">
                  <p:embed/>
                </p:oleObj>
              </mc:Choice>
              <mc:Fallback>
                <p:oleObj name="Equation" r:id="rId9" imgW="571500" imgH="266700" progId="Equation.DSMT4">
                  <p:embed/>
                  <p:pic>
                    <p:nvPicPr>
                      <p:cNvPr id="0" name="Object 11" descr="image18"/>
                      <p:cNvPicPr>
                        <a:picLocks noChangeAspect="1"/>
                      </p:cNvPicPr>
                      <p:nvPr/>
                    </p:nvPicPr>
                    <p:blipFill>
                      <a:blip r:embed="rId10"/>
                      <a:stretch>
                        <a:fillRect/>
                      </a:stretch>
                    </p:blipFill>
                    <p:spPr>
                      <a:xfrm>
                        <a:off x="7161458" y="2562373"/>
                        <a:ext cx="1697668" cy="608154"/>
                      </a:xfrm>
                      <a:prstGeom prst="rect">
                        <a:avLst/>
                      </a:prstGeom>
                      <a:noFill/>
                      <a:ln w="9525">
                        <a:noFill/>
                      </a:ln>
                    </p:spPr>
                  </p:pic>
                </p:oleObj>
              </mc:Fallback>
            </mc:AlternateContent>
          </a:graphicData>
        </a:graphic>
      </p:graphicFrame>
      <p:graphicFrame>
        <p:nvGraphicFramePr>
          <p:cNvPr id="11" name="Object 12"/>
          <p:cNvGraphicFramePr>
            <a:graphicFrameLocks noChangeAspect="1"/>
          </p:cNvGraphicFramePr>
          <p:nvPr/>
        </p:nvGraphicFramePr>
        <p:xfrm>
          <a:off x="6654929" y="3010151"/>
          <a:ext cx="342979" cy="2286356"/>
        </p:xfrm>
        <a:graphic>
          <a:graphicData uri="http://schemas.openxmlformats.org/presentationml/2006/ole">
            <mc:AlternateContent xmlns:mc="http://schemas.openxmlformats.org/markup-compatibility/2006">
              <mc:Choice xmlns:v="urn:schemas-microsoft-com:vml" Requires="v">
                <p:oleObj spid="_x0000_s2054" name="Equation" r:id="rId11" imgW="152400" imgH="825500" progId="Equation.DSMT4">
                  <p:embed/>
                </p:oleObj>
              </mc:Choice>
              <mc:Fallback>
                <p:oleObj name="Equation" r:id="rId11" imgW="152400" imgH="825500" progId="Equation.DSMT4">
                  <p:embed/>
                  <p:pic>
                    <p:nvPicPr>
                      <p:cNvPr id="0" name="Object 12" descr="image19"/>
                      <p:cNvPicPr>
                        <a:picLocks noChangeAspect="1"/>
                      </p:cNvPicPr>
                      <p:nvPr/>
                    </p:nvPicPr>
                    <p:blipFill>
                      <a:blip r:embed="rId12"/>
                      <a:stretch>
                        <a:fillRect/>
                      </a:stretch>
                    </p:blipFill>
                    <p:spPr>
                      <a:xfrm>
                        <a:off x="6654929" y="3010151"/>
                        <a:ext cx="342979" cy="2286356"/>
                      </a:xfrm>
                      <a:prstGeom prst="rect">
                        <a:avLst/>
                      </a:prstGeom>
                      <a:noFill/>
                      <a:ln w="9525">
                        <a:noFill/>
                      </a:ln>
                    </p:spPr>
                  </p:pic>
                </p:oleObj>
              </mc:Fallback>
            </mc:AlternateContent>
          </a:graphicData>
        </a:graphic>
      </p:graphicFrame>
      <p:sp>
        <p:nvSpPr>
          <p:cNvPr id="3" name="矩形 2"/>
          <p:cNvSpPr/>
          <p:nvPr/>
        </p:nvSpPr>
        <p:spPr>
          <a:xfrm>
            <a:off x="612775" y="5862453"/>
            <a:ext cx="11201400" cy="461665"/>
          </a:xfrm>
          <a:prstGeom prst="rect">
            <a:avLst/>
          </a:prstGeom>
          <a:solidFill>
            <a:schemeClr val="accent1"/>
          </a:solidFill>
        </p:spPr>
        <p:txBody>
          <a:bodyPr wrap="square">
            <a:spAutoFit/>
          </a:bodyPr>
          <a:lstStyle/>
          <a:p>
            <a:pPr indent="267970" algn="just">
              <a:spcAft>
                <a:spcPts val="0"/>
              </a:spcAft>
            </a:pPr>
            <a:r>
              <a:rPr lang="zh-CN" altLang="zh-CN" b="1" kern="0" dirty="0">
                <a:solidFill>
                  <a:srgbClr val="FFFF00"/>
                </a:solidFill>
                <a:latin typeface="+mn-ea"/>
              </a:rPr>
              <a:t>注意</a:t>
            </a:r>
            <a:r>
              <a:rPr lang="zh-CN" altLang="zh-CN" b="1" kern="0" dirty="0">
                <a:latin typeface="+mn-ea"/>
              </a:rPr>
              <a:t>  </a:t>
            </a:r>
            <a:r>
              <a:rPr lang="en-US" altLang="zh-CN" b="1" kern="0" dirty="0">
                <a:latin typeface="+mn-ea"/>
              </a:rPr>
              <a:t>  </a:t>
            </a:r>
            <a:r>
              <a:rPr lang="zh-CN" altLang="zh-CN" b="1" kern="0" dirty="0">
                <a:solidFill>
                  <a:schemeClr val="bg1"/>
                </a:solidFill>
                <a:latin typeface="+mn-ea"/>
              </a:rPr>
              <a:t>关系矩阵</a:t>
            </a:r>
            <a:r>
              <a:rPr lang="zh-CN" altLang="zh-CN" b="1" kern="100" dirty="0">
                <a:solidFill>
                  <a:schemeClr val="bg1"/>
                </a:solidFill>
                <a:latin typeface="+mn-ea"/>
              </a:rPr>
              <a:t>中</a:t>
            </a:r>
            <a:r>
              <a:rPr lang="en-US" altLang="zh-CN" b="1" kern="100" dirty="0">
                <a:solidFill>
                  <a:schemeClr val="bg1"/>
                </a:solidFill>
                <a:latin typeface="+mn-ea"/>
              </a:rPr>
              <a:t>1</a:t>
            </a:r>
            <a:r>
              <a:rPr lang="zh-CN" altLang="zh-CN" b="1" kern="100" dirty="0">
                <a:solidFill>
                  <a:schemeClr val="bg1"/>
                </a:solidFill>
                <a:latin typeface="+mn-ea"/>
              </a:rPr>
              <a:t>的数量与</a:t>
            </a:r>
            <a:r>
              <a:rPr lang="zh-CN" altLang="en-US" b="1" kern="100" dirty="0">
                <a:solidFill>
                  <a:schemeClr val="bg1"/>
                </a:solidFill>
                <a:latin typeface="+mn-ea"/>
              </a:rPr>
              <a:t>对应关系</a:t>
            </a:r>
            <a:r>
              <a:rPr lang="zh-CN" altLang="zh-CN" b="1" kern="100" dirty="0">
                <a:solidFill>
                  <a:schemeClr val="bg1"/>
                </a:solidFill>
                <a:latin typeface="+mn-ea"/>
              </a:rPr>
              <a:t>中的序偶数量是相等的。</a:t>
            </a:r>
            <a:endParaRPr lang="zh-CN" altLang="zh-CN" b="1" kern="100" dirty="0">
              <a:solidFill>
                <a:schemeClr val="bg1"/>
              </a:solidFill>
              <a:latin typeface="+mn-ea"/>
            </a:endParaRPr>
          </a:p>
        </p:txBody>
      </p:sp>
      <p:sp>
        <p:nvSpPr>
          <p:cNvPr id="14" name="矩形 13"/>
          <p:cNvSpPr/>
          <p:nvPr/>
        </p:nvSpPr>
        <p:spPr>
          <a:xfrm>
            <a:off x="424210" y="5208455"/>
            <a:ext cx="11586815" cy="1689052"/>
          </a:xfrm>
          <a:prstGeom prst="rect">
            <a:avLst/>
          </a:prstGeom>
          <a:solidFill>
            <a:schemeClr val="accent1"/>
          </a:solidFill>
        </p:spPr>
        <p:txBody>
          <a:bodyPr wrap="square">
            <a:spAutoFit/>
          </a:bodyPr>
          <a:lstStyle/>
          <a:p>
            <a:pPr algn="just">
              <a:lnSpc>
                <a:spcPct val="150000"/>
              </a:lnSpc>
              <a:spcAft>
                <a:spcPts val="0"/>
              </a:spcAft>
            </a:pPr>
            <a:r>
              <a:rPr lang="zh-CN" altLang="zh-CN" b="1" kern="100" spc="-25" dirty="0">
                <a:solidFill>
                  <a:schemeClr val="bg1"/>
                </a:solidFill>
                <a:latin typeface="+mn-ea"/>
              </a:rPr>
              <a:t>父子关系</a:t>
            </a:r>
            <a:r>
              <a:rPr lang="en-US" altLang="zh-CN" b="1" kern="100" spc="-25" dirty="0">
                <a:solidFill>
                  <a:schemeClr val="bg1"/>
                </a:solidFill>
                <a:latin typeface="+mn-ea"/>
              </a:rPr>
              <a:t>R=</a:t>
            </a:r>
            <a:r>
              <a:rPr lang="en-US" altLang="zh-CN" b="1" kern="100" dirty="0">
                <a:solidFill>
                  <a:schemeClr val="bg1"/>
                </a:solidFill>
                <a:latin typeface="+mn-ea"/>
              </a:rPr>
              <a:t>{&lt;</a:t>
            </a:r>
            <a:r>
              <a:rPr lang="zh-CN" altLang="zh-CN" b="1" kern="100" dirty="0">
                <a:solidFill>
                  <a:schemeClr val="bg1"/>
                </a:solidFill>
                <a:latin typeface="+mn-ea"/>
              </a:rPr>
              <a:t>李华，李美</a:t>
            </a:r>
            <a:r>
              <a:rPr lang="en-US" altLang="zh-CN" b="1" kern="100" dirty="0">
                <a:solidFill>
                  <a:schemeClr val="bg1"/>
                </a:solidFill>
                <a:latin typeface="+mn-ea"/>
              </a:rPr>
              <a:t>&gt;</a:t>
            </a:r>
            <a:r>
              <a:rPr lang="zh-CN" altLang="zh-CN" b="1" kern="100" dirty="0">
                <a:solidFill>
                  <a:schemeClr val="bg1"/>
                </a:solidFill>
                <a:latin typeface="+mn-ea"/>
              </a:rPr>
              <a:t>，</a:t>
            </a:r>
            <a:r>
              <a:rPr lang="en-US" altLang="zh-CN" b="1" kern="100" dirty="0">
                <a:solidFill>
                  <a:schemeClr val="bg1"/>
                </a:solidFill>
                <a:latin typeface="+mn-ea"/>
              </a:rPr>
              <a:t>&lt;</a:t>
            </a:r>
            <a:r>
              <a:rPr lang="zh-CN" altLang="zh-CN" b="1" kern="100" dirty="0">
                <a:solidFill>
                  <a:schemeClr val="bg1"/>
                </a:solidFill>
                <a:latin typeface="+mn-ea"/>
              </a:rPr>
              <a:t>李华，李想</a:t>
            </a:r>
            <a:r>
              <a:rPr lang="en-US" altLang="zh-CN" b="1" kern="100" dirty="0">
                <a:solidFill>
                  <a:schemeClr val="bg1"/>
                </a:solidFill>
                <a:latin typeface="+mn-ea"/>
              </a:rPr>
              <a:t>&gt;</a:t>
            </a:r>
            <a:r>
              <a:rPr lang="zh-CN" altLang="zh-CN" b="1" kern="100" dirty="0">
                <a:solidFill>
                  <a:schemeClr val="bg1"/>
                </a:solidFill>
                <a:latin typeface="+mn-ea"/>
              </a:rPr>
              <a:t>，</a:t>
            </a:r>
            <a:r>
              <a:rPr lang="en-US" altLang="zh-CN" b="1" kern="100" dirty="0">
                <a:solidFill>
                  <a:schemeClr val="bg1"/>
                </a:solidFill>
                <a:latin typeface="+mn-ea"/>
              </a:rPr>
              <a:t>&lt;</a:t>
            </a:r>
            <a:r>
              <a:rPr lang="zh-CN" altLang="zh-CN" b="1" kern="100" dirty="0">
                <a:solidFill>
                  <a:schemeClr val="bg1"/>
                </a:solidFill>
                <a:latin typeface="+mn-ea"/>
              </a:rPr>
              <a:t>王云，王良</a:t>
            </a:r>
            <a:r>
              <a:rPr lang="en-US" altLang="zh-CN" b="1" kern="100" dirty="0">
                <a:solidFill>
                  <a:schemeClr val="bg1"/>
                </a:solidFill>
                <a:latin typeface="+mn-ea"/>
              </a:rPr>
              <a:t>&gt;</a:t>
            </a:r>
            <a:r>
              <a:rPr lang="zh-CN" altLang="zh-CN" b="1" kern="100" dirty="0">
                <a:solidFill>
                  <a:schemeClr val="bg1"/>
                </a:solidFill>
                <a:latin typeface="+mn-ea"/>
              </a:rPr>
              <a:t>，</a:t>
            </a:r>
            <a:r>
              <a:rPr lang="en-US" altLang="zh-CN" b="1" kern="100" dirty="0">
                <a:solidFill>
                  <a:schemeClr val="bg1"/>
                </a:solidFill>
                <a:latin typeface="+mn-ea"/>
              </a:rPr>
              <a:t>&lt;</a:t>
            </a:r>
            <a:r>
              <a:rPr lang="zh-CN" altLang="zh-CN" b="1" kern="100" dirty="0">
                <a:solidFill>
                  <a:schemeClr val="bg1"/>
                </a:solidFill>
                <a:latin typeface="+mn-ea"/>
              </a:rPr>
              <a:t>王云，王珊</a:t>
            </a:r>
            <a:r>
              <a:rPr lang="en-US" altLang="zh-CN" b="1" kern="100" dirty="0">
                <a:solidFill>
                  <a:schemeClr val="bg1"/>
                </a:solidFill>
                <a:latin typeface="+mn-ea"/>
              </a:rPr>
              <a:t>&gt;}</a:t>
            </a:r>
            <a:r>
              <a:rPr lang="zh-CN" altLang="zh-CN" b="1" kern="100" spc="-25" dirty="0">
                <a:solidFill>
                  <a:schemeClr val="bg1"/>
                </a:solidFill>
                <a:latin typeface="+mn-ea"/>
              </a:rPr>
              <a:t>。</a:t>
            </a:r>
            <a:r>
              <a:rPr lang="en-US" altLang="zh-CN" b="1" kern="100" dirty="0">
                <a:solidFill>
                  <a:schemeClr val="bg1"/>
                </a:solidFill>
                <a:latin typeface="+mn-ea"/>
              </a:rPr>
              <a:t>A</a:t>
            </a:r>
            <a:r>
              <a:rPr lang="zh-CN" altLang="zh-CN" b="1" kern="100" dirty="0">
                <a:solidFill>
                  <a:schemeClr val="bg1"/>
                </a:solidFill>
                <a:latin typeface="+mn-ea"/>
              </a:rPr>
              <a:t>上的大于等于关系</a:t>
            </a:r>
            <a:r>
              <a:rPr lang="en-US" altLang="zh-CN" b="1" kern="100" dirty="0">
                <a:solidFill>
                  <a:schemeClr val="bg1"/>
                </a:solidFill>
                <a:latin typeface="+mn-ea"/>
              </a:rPr>
              <a:t>S</a:t>
            </a:r>
            <a:r>
              <a:rPr lang="zh-CN" altLang="zh-CN" b="1" kern="100" dirty="0">
                <a:solidFill>
                  <a:schemeClr val="bg1"/>
                </a:solidFill>
                <a:latin typeface="+mn-ea"/>
              </a:rPr>
              <a:t>＝</a:t>
            </a:r>
            <a:r>
              <a:rPr lang="en-US" altLang="zh-CN" b="1" kern="100" dirty="0">
                <a:solidFill>
                  <a:schemeClr val="bg1"/>
                </a:solidFill>
                <a:latin typeface="+mn-ea"/>
              </a:rPr>
              <a:t>{&lt;1</a:t>
            </a:r>
            <a:r>
              <a:rPr lang="zh-CN" altLang="zh-CN" b="1" kern="100" dirty="0">
                <a:solidFill>
                  <a:schemeClr val="bg1"/>
                </a:solidFill>
                <a:latin typeface="+mn-ea"/>
              </a:rPr>
              <a:t>，</a:t>
            </a:r>
            <a:r>
              <a:rPr lang="en-US" altLang="zh-CN" b="1" kern="100" dirty="0">
                <a:solidFill>
                  <a:schemeClr val="bg1"/>
                </a:solidFill>
                <a:latin typeface="+mn-ea"/>
              </a:rPr>
              <a:t>1&gt;,&lt;2</a:t>
            </a:r>
            <a:r>
              <a:rPr lang="zh-CN" altLang="zh-CN" b="1" kern="100" dirty="0">
                <a:solidFill>
                  <a:schemeClr val="bg1"/>
                </a:solidFill>
                <a:latin typeface="+mn-ea"/>
              </a:rPr>
              <a:t>，</a:t>
            </a:r>
            <a:r>
              <a:rPr lang="en-US" altLang="zh-CN" b="1" kern="100" dirty="0">
                <a:solidFill>
                  <a:schemeClr val="bg1"/>
                </a:solidFill>
                <a:latin typeface="+mn-ea"/>
              </a:rPr>
              <a:t>2&gt;,&lt;3</a:t>
            </a:r>
            <a:r>
              <a:rPr lang="zh-CN" altLang="zh-CN" b="1" kern="100" dirty="0">
                <a:solidFill>
                  <a:schemeClr val="bg1"/>
                </a:solidFill>
                <a:latin typeface="+mn-ea"/>
              </a:rPr>
              <a:t>，</a:t>
            </a:r>
            <a:r>
              <a:rPr lang="en-US" altLang="zh-CN" b="1" kern="100" dirty="0">
                <a:solidFill>
                  <a:schemeClr val="bg1"/>
                </a:solidFill>
                <a:latin typeface="+mn-ea"/>
              </a:rPr>
              <a:t>3&gt;,&lt;4</a:t>
            </a:r>
            <a:r>
              <a:rPr lang="zh-CN" altLang="zh-CN" b="1" kern="100" dirty="0">
                <a:solidFill>
                  <a:schemeClr val="bg1"/>
                </a:solidFill>
                <a:latin typeface="+mn-ea"/>
              </a:rPr>
              <a:t>，</a:t>
            </a:r>
            <a:r>
              <a:rPr lang="en-US" altLang="zh-CN" b="1" kern="100" dirty="0">
                <a:solidFill>
                  <a:schemeClr val="bg1"/>
                </a:solidFill>
                <a:latin typeface="+mn-ea"/>
              </a:rPr>
              <a:t>4&gt;,&lt;2</a:t>
            </a:r>
            <a:r>
              <a:rPr lang="zh-CN" altLang="zh-CN" b="1" kern="100" dirty="0">
                <a:solidFill>
                  <a:schemeClr val="bg1"/>
                </a:solidFill>
                <a:latin typeface="+mn-ea"/>
              </a:rPr>
              <a:t>，</a:t>
            </a:r>
            <a:r>
              <a:rPr lang="en-US" altLang="zh-CN" b="1" kern="100" dirty="0">
                <a:solidFill>
                  <a:schemeClr val="bg1"/>
                </a:solidFill>
                <a:latin typeface="+mn-ea"/>
              </a:rPr>
              <a:t>1&gt;,&lt;3</a:t>
            </a:r>
            <a:r>
              <a:rPr lang="zh-CN" altLang="zh-CN" b="1" kern="100" dirty="0">
                <a:solidFill>
                  <a:schemeClr val="bg1"/>
                </a:solidFill>
                <a:latin typeface="+mn-ea"/>
              </a:rPr>
              <a:t>，</a:t>
            </a:r>
            <a:r>
              <a:rPr lang="en-US" altLang="zh-CN" b="1" kern="100" dirty="0">
                <a:solidFill>
                  <a:schemeClr val="bg1"/>
                </a:solidFill>
                <a:latin typeface="+mn-ea"/>
              </a:rPr>
              <a:t>1&gt;,&lt;4</a:t>
            </a:r>
            <a:r>
              <a:rPr lang="zh-CN" altLang="zh-CN" b="1" kern="100" dirty="0">
                <a:solidFill>
                  <a:schemeClr val="bg1"/>
                </a:solidFill>
                <a:latin typeface="+mn-ea"/>
              </a:rPr>
              <a:t>，</a:t>
            </a:r>
            <a:r>
              <a:rPr lang="en-US" altLang="zh-CN" b="1" kern="100" dirty="0">
                <a:solidFill>
                  <a:schemeClr val="bg1"/>
                </a:solidFill>
                <a:latin typeface="+mn-ea"/>
              </a:rPr>
              <a:t>1&gt;,&lt;3</a:t>
            </a:r>
            <a:r>
              <a:rPr lang="zh-CN" altLang="zh-CN" b="1" kern="100" dirty="0">
                <a:solidFill>
                  <a:schemeClr val="bg1"/>
                </a:solidFill>
                <a:latin typeface="+mn-ea"/>
              </a:rPr>
              <a:t>，</a:t>
            </a:r>
            <a:r>
              <a:rPr lang="en-US" altLang="zh-CN" b="1" kern="100" dirty="0">
                <a:solidFill>
                  <a:schemeClr val="bg1"/>
                </a:solidFill>
                <a:latin typeface="+mn-ea"/>
              </a:rPr>
              <a:t>2&gt;,&lt;4</a:t>
            </a:r>
            <a:r>
              <a:rPr lang="zh-CN" altLang="zh-CN" b="1" kern="100" dirty="0">
                <a:solidFill>
                  <a:schemeClr val="bg1"/>
                </a:solidFill>
                <a:latin typeface="+mn-ea"/>
              </a:rPr>
              <a:t>，</a:t>
            </a:r>
            <a:r>
              <a:rPr lang="en-US" altLang="zh-CN" b="1" kern="100" dirty="0">
                <a:solidFill>
                  <a:schemeClr val="bg1"/>
                </a:solidFill>
                <a:latin typeface="+mn-ea"/>
              </a:rPr>
              <a:t>2&gt;,&lt;4</a:t>
            </a:r>
            <a:r>
              <a:rPr lang="zh-CN" altLang="zh-CN" b="1" kern="100" dirty="0">
                <a:solidFill>
                  <a:schemeClr val="bg1"/>
                </a:solidFill>
                <a:latin typeface="+mn-ea"/>
              </a:rPr>
              <a:t>，</a:t>
            </a:r>
            <a:r>
              <a:rPr lang="en-US" altLang="zh-CN" b="1" kern="100" dirty="0">
                <a:solidFill>
                  <a:schemeClr val="bg1"/>
                </a:solidFill>
                <a:latin typeface="+mn-ea"/>
              </a:rPr>
              <a:t>3&gt;}</a:t>
            </a:r>
            <a:r>
              <a:rPr lang="zh-CN" altLang="zh-CN" b="1" kern="100" dirty="0">
                <a:solidFill>
                  <a:schemeClr val="bg1"/>
                </a:solidFill>
                <a:latin typeface="+mn-ea"/>
              </a:rPr>
              <a:t>。</a:t>
            </a:r>
            <a:endParaRPr lang="zh-CN" altLang="zh-CN" b="1" kern="100" dirty="0">
              <a:solidFill>
                <a:schemeClr val="bg1"/>
              </a:solidFill>
              <a:latin typeface="+mn-ea"/>
            </a:endParaRPr>
          </a:p>
        </p:txBody>
      </p:sp>
    </p:spTree>
    <p:custDataLst>
      <p:tags r:id="rId13"/>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5"/>
                                        </p:tgtEl>
                                      </p:cBhvr>
                                    </p:animEffect>
                                  </p:childTnLst>
                                </p:cTn>
                              </p:par>
                              <p:par>
                                <p:cTn id="20" presetID="25"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5" dur="1000" fill="hold"/>
                                        <p:tgtEl>
                                          <p:spTgt spid="6"/>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6"/>
                                        </p:tgtEl>
                                      </p:cBhvr>
                                    </p:animEffect>
                                  </p:childTnLst>
                                </p:cTn>
                              </p:par>
                              <p:par>
                                <p:cTn id="30" presetID="25"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35" dur="1000" fill="hold"/>
                                        <p:tgtEl>
                                          <p:spTgt spid="7"/>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5" presetClass="exit" presetSubtype="0" fill="hold" nodeType="clickEffect">
                                  <p:stCondLst>
                                    <p:cond delay="0"/>
                                  </p:stCondLst>
                                  <p:childTnLst>
                                    <p:animEffect transition="out" filter="fade">
                                      <p:cBhvr>
                                        <p:cTn id="43" dur="1000" accel="50000">
                                          <p:stCondLst>
                                            <p:cond delay="0"/>
                                          </p:stCondLst>
                                        </p:cTn>
                                        <p:tgtEl>
                                          <p:spTgt spid="6"/>
                                        </p:tgtEl>
                                      </p:cBhvr>
                                    </p:animEffect>
                                    <p:anim calcmode="lin" valueType="num">
                                      <p:cBhvr>
                                        <p:cTn id="44" dur="500" accel="50000">
                                          <p:stCondLst>
                                            <p:cond delay="0"/>
                                          </p:stCondLst>
                                        </p:cTn>
                                        <p:tgtEl>
                                          <p:spTgt spid="6"/>
                                        </p:tgtEl>
                                        <p:attrNameLst>
                                          <p:attrName>ppt_y</p:attrName>
                                        </p:attrNameLst>
                                      </p:cBhvr>
                                      <p:tavLst>
                                        <p:tav tm="0">
                                          <p:val>
                                            <p:strVal val="ppt_y"/>
                                          </p:val>
                                        </p:tav>
                                        <p:tav tm="100000">
                                          <p:val>
                                            <p:strVal val="ppt_y+.1"/>
                                          </p:val>
                                        </p:tav>
                                      </p:tavLst>
                                    </p:anim>
                                    <p:anim calcmode="lin" valueType="num">
                                      <p:cBhvr>
                                        <p:cTn id="45" dur="500" decel="50000">
                                          <p:stCondLst>
                                            <p:cond delay="500"/>
                                          </p:stCondLst>
                                        </p:cTn>
                                        <p:tgtEl>
                                          <p:spTgt spid="6"/>
                                        </p:tgtEl>
                                        <p:attrNameLst>
                                          <p:attrName>ppt_y</p:attrName>
                                        </p:attrNameLst>
                                      </p:cBhvr>
                                      <p:tavLst>
                                        <p:tav tm="0">
                                          <p:val>
                                            <p:strVal val="ppt_y"/>
                                          </p:val>
                                        </p:tav>
                                        <p:tav tm="100000">
                                          <p:val>
                                            <p:strVal val="ppt_y-.1"/>
                                          </p:val>
                                        </p:tav>
                                      </p:tavLst>
                                    </p:anim>
                                    <p:anim calcmode="lin" valueType="num">
                                      <p:cBhvr>
                                        <p:cTn id="46" dur="500" accel="50000">
                                          <p:stCondLst>
                                            <p:cond delay="500"/>
                                          </p:stCondLst>
                                        </p:cTn>
                                        <p:tgtEl>
                                          <p:spTgt spid="6"/>
                                        </p:tgtEl>
                                        <p:attrNameLst>
                                          <p:attrName>ppt_x</p:attrName>
                                        </p:attrNameLst>
                                      </p:cBhvr>
                                      <p:tavLst>
                                        <p:tav tm="0">
                                          <p:val>
                                            <p:strVal val="ppt_x"/>
                                          </p:val>
                                        </p:tav>
                                        <p:tav tm="100000">
                                          <p:val>
                                            <p:strVal val="ppt_x+.4"/>
                                          </p:val>
                                        </p:tav>
                                      </p:tavLst>
                                    </p:anim>
                                    <p:anim calcmode="lin" valueType="num">
                                      <p:cBhvr>
                                        <p:cTn id="47" dur="1000"/>
                                        <p:tgtEl>
                                          <p:spTgt spid="6"/>
                                        </p:tgtEl>
                                        <p:attrNameLst>
                                          <p:attrName>ppt_h</p:attrName>
                                        </p:attrNameLst>
                                      </p:cBhvr>
                                      <p:tavLst>
                                        <p:tav tm="0">
                                          <p:val>
                                            <p:strVal val="ppt_h"/>
                                          </p:val>
                                        </p:tav>
                                        <p:tav tm="100000">
                                          <p:val>
                                            <p:strVal val="ppt_h"/>
                                          </p:val>
                                        </p:tav>
                                      </p:tavLst>
                                    </p:anim>
                                    <p:anim calcmode="lin" valueType="num">
                                      <p:cBhvr>
                                        <p:cTn id="48" dur="500" accel="50000">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49" dur="500" decel="50000">
                                          <p:stCondLst>
                                            <p:cond delay="500"/>
                                          </p:stCondLst>
                                        </p:cTn>
                                        <p:tgtEl>
                                          <p:spTgt spid="6"/>
                                        </p:tgtEl>
                                        <p:attrNameLst>
                                          <p:attrName>ppt_w</p:attrName>
                                        </p:attrNameLst>
                                      </p:cBhvr>
                                      <p:tavLst>
                                        <p:tav tm="0">
                                          <p:val>
                                            <p:strVal val="ppt_w"/>
                                          </p:val>
                                        </p:tav>
                                        <p:tav tm="100000">
                                          <p:val>
                                            <p:strVal val="ppt_w/.05"/>
                                          </p:val>
                                        </p:tav>
                                      </p:tavLst>
                                    </p:anim>
                                    <p:anim calcmode="lin" valueType="num">
                                      <p:cBhvr>
                                        <p:cTn id="50" dur="500" accel="50000">
                                          <p:stCondLst>
                                            <p:cond delay="500"/>
                                          </p:stCondLst>
                                        </p:cTn>
                                        <p:tgtEl>
                                          <p:spTgt spid="6"/>
                                        </p:tgtEl>
                                        <p:attrNameLst>
                                          <p:attrName>style.rotation</p:attrName>
                                        </p:attrNameLst>
                                      </p:cBhvr>
                                      <p:tavLst>
                                        <p:tav tm="0">
                                          <p:val>
                                            <p:fltVal val="0"/>
                                          </p:val>
                                        </p:tav>
                                        <p:tav tm="100000">
                                          <p:val>
                                            <p:fltVal val="-90"/>
                                          </p:val>
                                        </p:tav>
                                      </p:tavLst>
                                    </p:anim>
                                    <p:set>
                                      <p:cBhvr>
                                        <p:cTn id="51" dur="1" fill="hold">
                                          <p:stCondLst>
                                            <p:cond delay="999"/>
                                          </p:stCondLst>
                                        </p:cTn>
                                        <p:tgtEl>
                                          <p:spTgt spid="6"/>
                                        </p:tgtEl>
                                        <p:attrNameLst>
                                          <p:attrName>style.visibility</p:attrName>
                                        </p:attrNameLst>
                                      </p:cBhvr>
                                      <p:to>
                                        <p:strVal val="hidden"/>
                                      </p:to>
                                    </p:set>
                                  </p:childTnLst>
                                </p:cTn>
                              </p:par>
                              <p:par>
                                <p:cTn id="52" presetID="25" presetClass="exit" presetSubtype="0" fill="hold" nodeType="withEffect">
                                  <p:stCondLst>
                                    <p:cond delay="0"/>
                                  </p:stCondLst>
                                  <p:childTnLst>
                                    <p:animEffect transition="out" filter="fade">
                                      <p:cBhvr>
                                        <p:cTn id="53" dur="1000" accel="50000">
                                          <p:stCondLst>
                                            <p:cond delay="0"/>
                                          </p:stCondLst>
                                        </p:cTn>
                                        <p:tgtEl>
                                          <p:spTgt spid="7"/>
                                        </p:tgtEl>
                                      </p:cBhvr>
                                    </p:animEffect>
                                    <p:anim calcmode="lin" valueType="num">
                                      <p:cBhvr>
                                        <p:cTn id="54" dur="500" accel="50000">
                                          <p:stCondLst>
                                            <p:cond delay="0"/>
                                          </p:stCondLst>
                                        </p:cTn>
                                        <p:tgtEl>
                                          <p:spTgt spid="7"/>
                                        </p:tgtEl>
                                        <p:attrNameLst>
                                          <p:attrName>ppt_y</p:attrName>
                                        </p:attrNameLst>
                                      </p:cBhvr>
                                      <p:tavLst>
                                        <p:tav tm="0">
                                          <p:val>
                                            <p:strVal val="ppt_y"/>
                                          </p:val>
                                        </p:tav>
                                        <p:tav tm="100000">
                                          <p:val>
                                            <p:strVal val="ppt_y+.1"/>
                                          </p:val>
                                        </p:tav>
                                      </p:tavLst>
                                    </p:anim>
                                    <p:anim calcmode="lin" valueType="num">
                                      <p:cBhvr>
                                        <p:cTn id="55" dur="500" decel="50000">
                                          <p:stCondLst>
                                            <p:cond delay="500"/>
                                          </p:stCondLst>
                                        </p:cTn>
                                        <p:tgtEl>
                                          <p:spTgt spid="7"/>
                                        </p:tgtEl>
                                        <p:attrNameLst>
                                          <p:attrName>ppt_y</p:attrName>
                                        </p:attrNameLst>
                                      </p:cBhvr>
                                      <p:tavLst>
                                        <p:tav tm="0">
                                          <p:val>
                                            <p:strVal val="ppt_y"/>
                                          </p:val>
                                        </p:tav>
                                        <p:tav tm="100000">
                                          <p:val>
                                            <p:strVal val="ppt_y-.1"/>
                                          </p:val>
                                        </p:tav>
                                      </p:tavLst>
                                    </p:anim>
                                    <p:anim calcmode="lin" valueType="num">
                                      <p:cBhvr>
                                        <p:cTn id="56" dur="500" accel="50000">
                                          <p:stCondLst>
                                            <p:cond delay="500"/>
                                          </p:stCondLst>
                                        </p:cTn>
                                        <p:tgtEl>
                                          <p:spTgt spid="7"/>
                                        </p:tgtEl>
                                        <p:attrNameLst>
                                          <p:attrName>ppt_x</p:attrName>
                                        </p:attrNameLst>
                                      </p:cBhvr>
                                      <p:tavLst>
                                        <p:tav tm="0">
                                          <p:val>
                                            <p:strVal val="ppt_x"/>
                                          </p:val>
                                        </p:tav>
                                        <p:tav tm="100000">
                                          <p:val>
                                            <p:strVal val="ppt_x+.4"/>
                                          </p:val>
                                        </p:tav>
                                      </p:tavLst>
                                    </p:anim>
                                    <p:anim calcmode="lin" valueType="num">
                                      <p:cBhvr>
                                        <p:cTn id="57" dur="1000"/>
                                        <p:tgtEl>
                                          <p:spTgt spid="7"/>
                                        </p:tgtEl>
                                        <p:attrNameLst>
                                          <p:attrName>ppt_h</p:attrName>
                                        </p:attrNameLst>
                                      </p:cBhvr>
                                      <p:tavLst>
                                        <p:tav tm="0">
                                          <p:val>
                                            <p:strVal val="ppt_h"/>
                                          </p:val>
                                        </p:tav>
                                        <p:tav tm="100000">
                                          <p:val>
                                            <p:strVal val="ppt_h"/>
                                          </p:val>
                                        </p:tav>
                                      </p:tavLst>
                                    </p:anim>
                                    <p:anim calcmode="lin" valueType="num">
                                      <p:cBhvr>
                                        <p:cTn id="58" dur="500" accel="50000">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59" dur="500" decel="50000">
                                          <p:stCondLst>
                                            <p:cond delay="500"/>
                                          </p:stCondLst>
                                        </p:cTn>
                                        <p:tgtEl>
                                          <p:spTgt spid="7"/>
                                        </p:tgtEl>
                                        <p:attrNameLst>
                                          <p:attrName>ppt_w</p:attrName>
                                        </p:attrNameLst>
                                      </p:cBhvr>
                                      <p:tavLst>
                                        <p:tav tm="0">
                                          <p:val>
                                            <p:strVal val="ppt_w"/>
                                          </p:val>
                                        </p:tav>
                                        <p:tav tm="100000">
                                          <p:val>
                                            <p:strVal val="ppt_w/.05"/>
                                          </p:val>
                                        </p:tav>
                                      </p:tavLst>
                                    </p:anim>
                                    <p:anim calcmode="lin" valueType="num">
                                      <p:cBhvr>
                                        <p:cTn id="60" dur="500" accel="50000">
                                          <p:stCondLst>
                                            <p:cond delay="500"/>
                                          </p:stCondLst>
                                        </p:cTn>
                                        <p:tgtEl>
                                          <p:spTgt spid="7"/>
                                        </p:tgtEl>
                                        <p:attrNameLst>
                                          <p:attrName>style.rotation</p:attrName>
                                        </p:attrNameLst>
                                      </p:cBhvr>
                                      <p:tavLst>
                                        <p:tav tm="0">
                                          <p:val>
                                            <p:fltVal val="0"/>
                                          </p:val>
                                        </p:tav>
                                        <p:tav tm="100000">
                                          <p:val>
                                            <p:fltVal val="-90"/>
                                          </p:val>
                                        </p:tav>
                                      </p:tavLst>
                                    </p:anim>
                                    <p:set>
                                      <p:cBhvr>
                                        <p:cTn id="61" dur="1" fill="hold">
                                          <p:stCondLst>
                                            <p:cond delay="999"/>
                                          </p:stCondLst>
                                        </p:cTn>
                                        <p:tgtEl>
                                          <p:spTgt spid="7"/>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5" presetClass="entr" presetSubtype="0"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 calcmode="lin" valueType="num">
                                      <p:cBhvr>
                                        <p:cTn id="66" dur="500" decel="50000" fill="hold">
                                          <p:stCondLst>
                                            <p:cond delay="0"/>
                                          </p:stCondLst>
                                        </p:cTn>
                                        <p:tgtEl>
                                          <p:spTgt spid="9"/>
                                        </p:tgtEl>
                                        <p:attrNameLst>
                                          <p:attrName>style.rotation</p:attrName>
                                        </p:attrNameLst>
                                      </p:cBhvr>
                                      <p:tavLst>
                                        <p:tav tm="0">
                                          <p:val>
                                            <p:fltVal val="-90"/>
                                          </p:val>
                                        </p:tav>
                                        <p:tav tm="100000">
                                          <p:val>
                                            <p:fltVal val="0"/>
                                          </p:val>
                                        </p:tav>
                                      </p:tavLst>
                                    </p:anim>
                                    <p:anim calcmode="lin" valueType="num">
                                      <p:cBhvr>
                                        <p:cTn id="67" dur="500" decel="50000" fill="hold">
                                          <p:stCondLst>
                                            <p:cond delay="0"/>
                                          </p:stCondLst>
                                        </p:cTn>
                                        <p:tgtEl>
                                          <p:spTgt spid="9"/>
                                        </p:tgtEl>
                                        <p:attrNameLst>
                                          <p:attrName>ppt_w</p:attrName>
                                        </p:attrNameLst>
                                      </p:cBhvr>
                                      <p:tavLst>
                                        <p:tav tm="0">
                                          <p:val>
                                            <p:strVal val="#ppt_w"/>
                                          </p:val>
                                        </p:tav>
                                        <p:tav tm="100000">
                                          <p:val>
                                            <p:strVal val="#ppt_w*.05"/>
                                          </p:val>
                                        </p:tav>
                                      </p:tavLst>
                                    </p:anim>
                                    <p:anim calcmode="lin" valueType="num">
                                      <p:cBhvr>
                                        <p:cTn id="68" dur="500" accel="50000" fill="hold">
                                          <p:stCondLst>
                                            <p:cond delay="500"/>
                                          </p:stCondLst>
                                        </p:cTn>
                                        <p:tgtEl>
                                          <p:spTgt spid="9"/>
                                        </p:tgtEl>
                                        <p:attrNameLst>
                                          <p:attrName>ppt_w</p:attrName>
                                        </p:attrNameLst>
                                      </p:cBhvr>
                                      <p:tavLst>
                                        <p:tav tm="0">
                                          <p:val>
                                            <p:strVal val="#ppt_w*.05"/>
                                          </p:val>
                                        </p:tav>
                                        <p:tav tm="100000">
                                          <p:val>
                                            <p:strVal val="#ppt_w"/>
                                          </p:val>
                                        </p:tav>
                                      </p:tavLst>
                                    </p:anim>
                                    <p:anim calcmode="lin" valueType="num">
                                      <p:cBhvr>
                                        <p:cTn id="69" dur="1000" fill="hold"/>
                                        <p:tgtEl>
                                          <p:spTgt spid="9"/>
                                        </p:tgtEl>
                                        <p:attrNameLst>
                                          <p:attrName>ppt_h</p:attrName>
                                        </p:attrNameLst>
                                      </p:cBhvr>
                                      <p:tavLst>
                                        <p:tav tm="0">
                                          <p:val>
                                            <p:strVal val="#ppt_h"/>
                                          </p:val>
                                        </p:tav>
                                        <p:tav tm="100000">
                                          <p:val>
                                            <p:strVal val="#ppt_h"/>
                                          </p:val>
                                        </p:tav>
                                      </p:tavLst>
                                    </p:anim>
                                    <p:anim calcmode="lin" valueType="num">
                                      <p:cBhvr>
                                        <p:cTn id="70" dur="500" decel="50000" fill="hold">
                                          <p:stCondLst>
                                            <p:cond delay="0"/>
                                          </p:stCondLst>
                                        </p:cTn>
                                        <p:tgtEl>
                                          <p:spTgt spid="9"/>
                                        </p:tgtEl>
                                        <p:attrNameLst>
                                          <p:attrName>ppt_x</p:attrName>
                                        </p:attrNameLst>
                                      </p:cBhvr>
                                      <p:tavLst>
                                        <p:tav tm="0">
                                          <p:val>
                                            <p:strVal val="#ppt_x+.4"/>
                                          </p:val>
                                        </p:tav>
                                        <p:tav tm="100000">
                                          <p:val>
                                            <p:strVal val="#ppt_x"/>
                                          </p:val>
                                        </p:tav>
                                      </p:tavLst>
                                    </p:anim>
                                    <p:anim calcmode="lin" valueType="num">
                                      <p:cBhvr>
                                        <p:cTn id="71" dur="500" decel="50000" fill="hold">
                                          <p:stCondLst>
                                            <p:cond delay="0"/>
                                          </p:stCondLst>
                                        </p:cTn>
                                        <p:tgtEl>
                                          <p:spTgt spid="9"/>
                                        </p:tgtEl>
                                        <p:attrNameLst>
                                          <p:attrName>ppt_y</p:attrName>
                                        </p:attrNameLst>
                                      </p:cBhvr>
                                      <p:tavLst>
                                        <p:tav tm="0">
                                          <p:val>
                                            <p:strVal val="#ppt_y-.2"/>
                                          </p:val>
                                        </p:tav>
                                        <p:tav tm="100000">
                                          <p:val>
                                            <p:strVal val="#ppt_y+.1"/>
                                          </p:val>
                                        </p:tav>
                                      </p:tavLst>
                                    </p:anim>
                                    <p:anim calcmode="lin" valueType="num">
                                      <p:cBhvr>
                                        <p:cTn id="72" dur="500" accel="50000" fill="hold">
                                          <p:stCondLst>
                                            <p:cond delay="500"/>
                                          </p:stCondLst>
                                        </p:cTn>
                                        <p:tgtEl>
                                          <p:spTgt spid="9"/>
                                        </p:tgtEl>
                                        <p:attrNameLst>
                                          <p:attrName>ppt_y</p:attrName>
                                        </p:attrNameLst>
                                      </p:cBhvr>
                                      <p:tavLst>
                                        <p:tav tm="0">
                                          <p:val>
                                            <p:strVal val="#ppt_y+.1"/>
                                          </p:val>
                                        </p:tav>
                                        <p:tav tm="100000">
                                          <p:val>
                                            <p:strVal val="#ppt_y"/>
                                          </p:val>
                                        </p:tav>
                                      </p:tavLst>
                                    </p:anim>
                                    <p:animEffect transition="in" filter="fade">
                                      <p:cBhvr>
                                        <p:cTn id="73" dur="1000" decel="50000">
                                          <p:stCondLst>
                                            <p:cond delay="0"/>
                                          </p:stCondLst>
                                        </p:cTn>
                                        <p:tgtEl>
                                          <p:spTgt spid="9"/>
                                        </p:tgtEl>
                                      </p:cBhvr>
                                    </p:animEffect>
                                  </p:childTnLst>
                                </p:cTn>
                              </p:par>
                              <p:par>
                                <p:cTn id="74" presetID="25" presetClass="entr" presetSubtype="0" fill="hold" nodeType="withEffect">
                                  <p:stCondLst>
                                    <p:cond delay="0"/>
                                  </p:stCondLst>
                                  <p:childTnLst>
                                    <p:set>
                                      <p:cBhvr>
                                        <p:cTn id="75" dur="1" fill="hold">
                                          <p:stCondLst>
                                            <p:cond delay="0"/>
                                          </p:stCondLst>
                                        </p:cTn>
                                        <p:tgtEl>
                                          <p:spTgt spid="10"/>
                                        </p:tgtEl>
                                        <p:attrNameLst>
                                          <p:attrName>style.visibility</p:attrName>
                                        </p:attrNameLst>
                                      </p:cBhvr>
                                      <p:to>
                                        <p:strVal val="visible"/>
                                      </p:to>
                                    </p:set>
                                    <p:anim calcmode="lin" valueType="num">
                                      <p:cBhvr>
                                        <p:cTn id="76" dur="500"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77" dur="500"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78" dur="500" accel="50000" fill="hold">
                                          <p:stCondLst>
                                            <p:cond delay="500"/>
                                          </p:stCondLst>
                                        </p:cTn>
                                        <p:tgtEl>
                                          <p:spTgt spid="10"/>
                                        </p:tgtEl>
                                        <p:attrNameLst>
                                          <p:attrName>ppt_w</p:attrName>
                                        </p:attrNameLst>
                                      </p:cBhvr>
                                      <p:tavLst>
                                        <p:tav tm="0">
                                          <p:val>
                                            <p:strVal val="#ppt_w*.05"/>
                                          </p:val>
                                        </p:tav>
                                        <p:tav tm="100000">
                                          <p:val>
                                            <p:strVal val="#ppt_w"/>
                                          </p:val>
                                        </p:tav>
                                      </p:tavLst>
                                    </p:anim>
                                    <p:anim calcmode="lin" valueType="num">
                                      <p:cBhvr>
                                        <p:cTn id="79" dur="1000" fill="hold"/>
                                        <p:tgtEl>
                                          <p:spTgt spid="10"/>
                                        </p:tgtEl>
                                        <p:attrNameLst>
                                          <p:attrName>ppt_h</p:attrName>
                                        </p:attrNameLst>
                                      </p:cBhvr>
                                      <p:tavLst>
                                        <p:tav tm="0">
                                          <p:val>
                                            <p:strVal val="#ppt_h"/>
                                          </p:val>
                                        </p:tav>
                                        <p:tav tm="100000">
                                          <p:val>
                                            <p:strVal val="#ppt_h"/>
                                          </p:val>
                                        </p:tav>
                                      </p:tavLst>
                                    </p:anim>
                                    <p:anim calcmode="lin" valueType="num">
                                      <p:cBhvr>
                                        <p:cTn id="80" dur="500"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81" dur="500"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82" dur="500" accel="50000" fill="hold">
                                          <p:stCondLst>
                                            <p:cond delay="500"/>
                                          </p:stCondLst>
                                        </p:cTn>
                                        <p:tgtEl>
                                          <p:spTgt spid="10"/>
                                        </p:tgtEl>
                                        <p:attrNameLst>
                                          <p:attrName>ppt_y</p:attrName>
                                        </p:attrNameLst>
                                      </p:cBhvr>
                                      <p:tavLst>
                                        <p:tav tm="0">
                                          <p:val>
                                            <p:strVal val="#ppt_y+.1"/>
                                          </p:val>
                                        </p:tav>
                                        <p:tav tm="100000">
                                          <p:val>
                                            <p:strVal val="#ppt_y"/>
                                          </p:val>
                                        </p:tav>
                                      </p:tavLst>
                                    </p:anim>
                                    <p:animEffect transition="in" filter="fade">
                                      <p:cBhvr>
                                        <p:cTn id="83" dur="1000" decel="50000">
                                          <p:stCondLst>
                                            <p:cond delay="0"/>
                                          </p:stCondLst>
                                        </p:cTn>
                                        <p:tgtEl>
                                          <p:spTgt spid="10"/>
                                        </p:tgtEl>
                                      </p:cBhvr>
                                    </p:animEffect>
                                  </p:childTnLst>
                                </p:cTn>
                              </p:par>
                              <p:par>
                                <p:cTn id="84" presetID="25" presetClass="entr" presetSubtype="0" fill="hold" nodeType="withEffect">
                                  <p:stCondLst>
                                    <p:cond delay="0"/>
                                  </p:stCondLst>
                                  <p:childTnLst>
                                    <p:set>
                                      <p:cBhvr>
                                        <p:cTn id="85" dur="1" fill="hold">
                                          <p:stCondLst>
                                            <p:cond delay="0"/>
                                          </p:stCondLst>
                                        </p:cTn>
                                        <p:tgtEl>
                                          <p:spTgt spid="11"/>
                                        </p:tgtEl>
                                        <p:attrNameLst>
                                          <p:attrName>style.visibility</p:attrName>
                                        </p:attrNameLst>
                                      </p:cBhvr>
                                      <p:to>
                                        <p:strVal val="visible"/>
                                      </p:to>
                                    </p:set>
                                    <p:anim calcmode="lin" valueType="num">
                                      <p:cBhvr>
                                        <p:cTn id="86"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87"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88"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89" dur="1000" fill="hold"/>
                                        <p:tgtEl>
                                          <p:spTgt spid="11"/>
                                        </p:tgtEl>
                                        <p:attrNameLst>
                                          <p:attrName>ppt_h</p:attrName>
                                        </p:attrNameLst>
                                      </p:cBhvr>
                                      <p:tavLst>
                                        <p:tav tm="0">
                                          <p:val>
                                            <p:strVal val="#ppt_h"/>
                                          </p:val>
                                        </p:tav>
                                        <p:tav tm="100000">
                                          <p:val>
                                            <p:strVal val="#ppt_h"/>
                                          </p:val>
                                        </p:tav>
                                      </p:tavLst>
                                    </p:anim>
                                    <p:anim calcmode="lin" valueType="num">
                                      <p:cBhvr>
                                        <p:cTn id="90"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91"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92"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93" dur="1000" decel="50000">
                                          <p:stCondLst>
                                            <p:cond delay="0"/>
                                          </p:stCondLst>
                                        </p:cTn>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25" presetClass="exit" presetSubtype="0" fill="hold" nodeType="clickEffect">
                                  <p:stCondLst>
                                    <p:cond delay="0"/>
                                  </p:stCondLst>
                                  <p:childTnLst>
                                    <p:animEffect transition="out" filter="fade">
                                      <p:cBhvr>
                                        <p:cTn id="97" dur="1000" accel="50000">
                                          <p:stCondLst>
                                            <p:cond delay="0"/>
                                          </p:stCondLst>
                                        </p:cTn>
                                        <p:tgtEl>
                                          <p:spTgt spid="10"/>
                                        </p:tgtEl>
                                      </p:cBhvr>
                                    </p:animEffect>
                                    <p:anim calcmode="lin" valueType="num">
                                      <p:cBhvr>
                                        <p:cTn id="98" dur="500" accel="50000">
                                          <p:stCondLst>
                                            <p:cond delay="0"/>
                                          </p:stCondLst>
                                        </p:cTn>
                                        <p:tgtEl>
                                          <p:spTgt spid="10"/>
                                        </p:tgtEl>
                                        <p:attrNameLst>
                                          <p:attrName>ppt_y</p:attrName>
                                        </p:attrNameLst>
                                      </p:cBhvr>
                                      <p:tavLst>
                                        <p:tav tm="0">
                                          <p:val>
                                            <p:strVal val="ppt_y"/>
                                          </p:val>
                                        </p:tav>
                                        <p:tav tm="100000">
                                          <p:val>
                                            <p:strVal val="ppt_y+.1"/>
                                          </p:val>
                                        </p:tav>
                                      </p:tavLst>
                                    </p:anim>
                                    <p:anim calcmode="lin" valueType="num">
                                      <p:cBhvr>
                                        <p:cTn id="99" dur="500" decel="50000">
                                          <p:stCondLst>
                                            <p:cond delay="500"/>
                                          </p:stCondLst>
                                        </p:cTn>
                                        <p:tgtEl>
                                          <p:spTgt spid="10"/>
                                        </p:tgtEl>
                                        <p:attrNameLst>
                                          <p:attrName>ppt_y</p:attrName>
                                        </p:attrNameLst>
                                      </p:cBhvr>
                                      <p:tavLst>
                                        <p:tav tm="0">
                                          <p:val>
                                            <p:strVal val="ppt_y"/>
                                          </p:val>
                                        </p:tav>
                                        <p:tav tm="100000">
                                          <p:val>
                                            <p:strVal val="ppt_y-.1"/>
                                          </p:val>
                                        </p:tav>
                                      </p:tavLst>
                                    </p:anim>
                                    <p:anim calcmode="lin" valueType="num">
                                      <p:cBhvr>
                                        <p:cTn id="100" dur="500" accel="50000">
                                          <p:stCondLst>
                                            <p:cond delay="500"/>
                                          </p:stCondLst>
                                        </p:cTn>
                                        <p:tgtEl>
                                          <p:spTgt spid="10"/>
                                        </p:tgtEl>
                                        <p:attrNameLst>
                                          <p:attrName>ppt_x</p:attrName>
                                        </p:attrNameLst>
                                      </p:cBhvr>
                                      <p:tavLst>
                                        <p:tav tm="0">
                                          <p:val>
                                            <p:strVal val="ppt_x"/>
                                          </p:val>
                                        </p:tav>
                                        <p:tav tm="100000">
                                          <p:val>
                                            <p:strVal val="ppt_x+.4"/>
                                          </p:val>
                                        </p:tav>
                                      </p:tavLst>
                                    </p:anim>
                                    <p:anim calcmode="lin" valueType="num">
                                      <p:cBhvr>
                                        <p:cTn id="101" dur="1000"/>
                                        <p:tgtEl>
                                          <p:spTgt spid="10"/>
                                        </p:tgtEl>
                                        <p:attrNameLst>
                                          <p:attrName>ppt_h</p:attrName>
                                        </p:attrNameLst>
                                      </p:cBhvr>
                                      <p:tavLst>
                                        <p:tav tm="0">
                                          <p:val>
                                            <p:strVal val="ppt_h"/>
                                          </p:val>
                                        </p:tav>
                                        <p:tav tm="100000">
                                          <p:val>
                                            <p:strVal val="ppt_h"/>
                                          </p:val>
                                        </p:tav>
                                      </p:tavLst>
                                    </p:anim>
                                    <p:anim calcmode="lin" valueType="num">
                                      <p:cBhvr>
                                        <p:cTn id="102" dur="500" accel="50000">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103" dur="500" decel="50000">
                                          <p:stCondLst>
                                            <p:cond delay="500"/>
                                          </p:stCondLst>
                                        </p:cTn>
                                        <p:tgtEl>
                                          <p:spTgt spid="10"/>
                                        </p:tgtEl>
                                        <p:attrNameLst>
                                          <p:attrName>ppt_w</p:attrName>
                                        </p:attrNameLst>
                                      </p:cBhvr>
                                      <p:tavLst>
                                        <p:tav tm="0">
                                          <p:val>
                                            <p:strVal val="ppt_w"/>
                                          </p:val>
                                        </p:tav>
                                        <p:tav tm="100000">
                                          <p:val>
                                            <p:strVal val="ppt_w/.05"/>
                                          </p:val>
                                        </p:tav>
                                      </p:tavLst>
                                    </p:anim>
                                    <p:anim calcmode="lin" valueType="num">
                                      <p:cBhvr>
                                        <p:cTn id="104" dur="500" accel="50000">
                                          <p:stCondLst>
                                            <p:cond delay="500"/>
                                          </p:stCondLst>
                                        </p:cTn>
                                        <p:tgtEl>
                                          <p:spTgt spid="10"/>
                                        </p:tgtEl>
                                        <p:attrNameLst>
                                          <p:attrName>style.rotation</p:attrName>
                                        </p:attrNameLst>
                                      </p:cBhvr>
                                      <p:tavLst>
                                        <p:tav tm="0">
                                          <p:val>
                                            <p:fltVal val="0"/>
                                          </p:val>
                                        </p:tav>
                                        <p:tav tm="100000">
                                          <p:val>
                                            <p:fltVal val="-90"/>
                                          </p:val>
                                        </p:tav>
                                      </p:tavLst>
                                    </p:anim>
                                    <p:set>
                                      <p:cBhvr>
                                        <p:cTn id="105" dur="1" fill="hold">
                                          <p:stCondLst>
                                            <p:cond delay="999"/>
                                          </p:stCondLst>
                                        </p:cTn>
                                        <p:tgtEl>
                                          <p:spTgt spid="10"/>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6" presetClass="entr" presetSubtype="16" fill="hold" grpId="0" nodeType="clickEffect">
                                  <p:stCondLst>
                                    <p:cond delay="0"/>
                                  </p:stCondLst>
                                  <p:childTnLst>
                                    <p:set>
                                      <p:cBhvr>
                                        <p:cTn id="109" dur="1" fill="hold">
                                          <p:stCondLst>
                                            <p:cond delay="0"/>
                                          </p:stCondLst>
                                        </p:cTn>
                                        <p:tgtEl>
                                          <p:spTgt spid="3"/>
                                        </p:tgtEl>
                                        <p:attrNameLst>
                                          <p:attrName>style.visibility</p:attrName>
                                        </p:attrNameLst>
                                      </p:cBhvr>
                                      <p:to>
                                        <p:strVal val="visible"/>
                                      </p:to>
                                    </p:set>
                                    <p:animEffect transition="in" filter="circle(in)">
                                      <p:cBhvr>
                                        <p:cTn id="110" dur="2000"/>
                                        <p:tgtEl>
                                          <p:spTgt spid="3"/>
                                        </p:tgtEl>
                                      </p:cBhvr>
                                    </p:animEffect>
                                  </p:childTnLst>
                                </p:cTn>
                              </p:par>
                              <p:par>
                                <p:cTn id="111" presetID="25" presetClass="exit" presetSubtype="0" fill="hold" nodeType="withEffect">
                                  <p:stCondLst>
                                    <p:cond delay="0"/>
                                  </p:stCondLst>
                                  <p:childTnLst>
                                    <p:animEffect transition="out" filter="fade">
                                      <p:cBhvr>
                                        <p:cTn id="112" dur="1000" accel="50000">
                                          <p:stCondLst>
                                            <p:cond delay="0"/>
                                          </p:stCondLst>
                                        </p:cTn>
                                        <p:tgtEl>
                                          <p:spTgt spid="11"/>
                                        </p:tgtEl>
                                      </p:cBhvr>
                                    </p:animEffect>
                                    <p:anim calcmode="lin" valueType="num">
                                      <p:cBhvr>
                                        <p:cTn id="113" dur="500" accel="50000">
                                          <p:stCondLst>
                                            <p:cond delay="0"/>
                                          </p:stCondLst>
                                        </p:cTn>
                                        <p:tgtEl>
                                          <p:spTgt spid="11"/>
                                        </p:tgtEl>
                                        <p:attrNameLst>
                                          <p:attrName>ppt_y</p:attrName>
                                        </p:attrNameLst>
                                      </p:cBhvr>
                                      <p:tavLst>
                                        <p:tav tm="0">
                                          <p:val>
                                            <p:strVal val="ppt_y"/>
                                          </p:val>
                                        </p:tav>
                                        <p:tav tm="100000">
                                          <p:val>
                                            <p:strVal val="ppt_y+.1"/>
                                          </p:val>
                                        </p:tav>
                                      </p:tavLst>
                                    </p:anim>
                                    <p:anim calcmode="lin" valueType="num">
                                      <p:cBhvr>
                                        <p:cTn id="114" dur="500" decel="50000">
                                          <p:stCondLst>
                                            <p:cond delay="500"/>
                                          </p:stCondLst>
                                        </p:cTn>
                                        <p:tgtEl>
                                          <p:spTgt spid="11"/>
                                        </p:tgtEl>
                                        <p:attrNameLst>
                                          <p:attrName>ppt_y</p:attrName>
                                        </p:attrNameLst>
                                      </p:cBhvr>
                                      <p:tavLst>
                                        <p:tav tm="0">
                                          <p:val>
                                            <p:strVal val="ppt_y"/>
                                          </p:val>
                                        </p:tav>
                                        <p:tav tm="100000">
                                          <p:val>
                                            <p:strVal val="ppt_y-.1"/>
                                          </p:val>
                                        </p:tav>
                                      </p:tavLst>
                                    </p:anim>
                                    <p:anim calcmode="lin" valueType="num">
                                      <p:cBhvr>
                                        <p:cTn id="115" dur="500" accel="50000">
                                          <p:stCondLst>
                                            <p:cond delay="500"/>
                                          </p:stCondLst>
                                        </p:cTn>
                                        <p:tgtEl>
                                          <p:spTgt spid="11"/>
                                        </p:tgtEl>
                                        <p:attrNameLst>
                                          <p:attrName>ppt_x</p:attrName>
                                        </p:attrNameLst>
                                      </p:cBhvr>
                                      <p:tavLst>
                                        <p:tav tm="0">
                                          <p:val>
                                            <p:strVal val="ppt_x"/>
                                          </p:val>
                                        </p:tav>
                                        <p:tav tm="100000">
                                          <p:val>
                                            <p:strVal val="ppt_x+.4"/>
                                          </p:val>
                                        </p:tav>
                                      </p:tavLst>
                                    </p:anim>
                                    <p:anim calcmode="lin" valueType="num">
                                      <p:cBhvr>
                                        <p:cTn id="116" dur="1000"/>
                                        <p:tgtEl>
                                          <p:spTgt spid="11"/>
                                        </p:tgtEl>
                                        <p:attrNameLst>
                                          <p:attrName>ppt_h</p:attrName>
                                        </p:attrNameLst>
                                      </p:cBhvr>
                                      <p:tavLst>
                                        <p:tav tm="0">
                                          <p:val>
                                            <p:strVal val="ppt_h"/>
                                          </p:val>
                                        </p:tav>
                                        <p:tav tm="100000">
                                          <p:val>
                                            <p:strVal val="ppt_h"/>
                                          </p:val>
                                        </p:tav>
                                      </p:tavLst>
                                    </p:anim>
                                    <p:anim calcmode="lin" valueType="num">
                                      <p:cBhvr>
                                        <p:cTn id="117" dur="500" accel="50000">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118" dur="500" decel="50000">
                                          <p:stCondLst>
                                            <p:cond delay="500"/>
                                          </p:stCondLst>
                                        </p:cTn>
                                        <p:tgtEl>
                                          <p:spTgt spid="11"/>
                                        </p:tgtEl>
                                        <p:attrNameLst>
                                          <p:attrName>ppt_w</p:attrName>
                                        </p:attrNameLst>
                                      </p:cBhvr>
                                      <p:tavLst>
                                        <p:tav tm="0">
                                          <p:val>
                                            <p:strVal val="ppt_w"/>
                                          </p:val>
                                        </p:tav>
                                        <p:tav tm="100000">
                                          <p:val>
                                            <p:strVal val="ppt_w/.05"/>
                                          </p:val>
                                        </p:tav>
                                      </p:tavLst>
                                    </p:anim>
                                    <p:anim calcmode="lin" valueType="num">
                                      <p:cBhvr>
                                        <p:cTn id="119" dur="500" accel="50000">
                                          <p:stCondLst>
                                            <p:cond delay="500"/>
                                          </p:stCondLst>
                                        </p:cTn>
                                        <p:tgtEl>
                                          <p:spTgt spid="11"/>
                                        </p:tgtEl>
                                        <p:attrNameLst>
                                          <p:attrName>style.rotation</p:attrName>
                                        </p:attrNameLst>
                                      </p:cBhvr>
                                      <p:tavLst>
                                        <p:tav tm="0">
                                          <p:val>
                                            <p:fltVal val="0"/>
                                          </p:val>
                                        </p:tav>
                                        <p:tav tm="100000">
                                          <p:val>
                                            <p:fltVal val="-90"/>
                                          </p:val>
                                        </p:tav>
                                      </p:tavLst>
                                    </p:anim>
                                    <p:set>
                                      <p:cBhvr>
                                        <p:cTn id="120" dur="1" fill="hold">
                                          <p:stCondLst>
                                            <p:cond delay="999"/>
                                          </p:stCondLst>
                                        </p:cTn>
                                        <p:tgtEl>
                                          <p:spTgt spid="11"/>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4" presetClass="exit" presetSubtype="10" fill="hold" grpId="0" nodeType="clickEffect">
                                  <p:stCondLst>
                                    <p:cond delay="0"/>
                                  </p:stCondLst>
                                  <p:childTnLst>
                                    <p:animEffect transition="out" filter="randombar(horizontal)">
                                      <p:cBhvr>
                                        <p:cTn id="124" dur="500"/>
                                        <p:tgtEl>
                                          <p:spTgt spid="14"/>
                                        </p:tgtEl>
                                      </p:cBhvr>
                                    </p:animEffect>
                                    <p:set>
                                      <p:cBhvr>
                                        <p:cTn id="12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pPr eaLnBrk="1" hangingPunct="1"/>
            <a:r>
              <a:rPr lang="zh-CN" altLang="en-US" dirty="0"/>
              <a:t>例</a:t>
            </a:r>
            <a:r>
              <a:rPr lang="en-US" altLang="zh-CN" dirty="0"/>
              <a:t>4.11</a:t>
            </a:r>
            <a:r>
              <a:rPr lang="en-US" altLang="zh-CN" dirty="0">
                <a:latin typeface="宋体" panose="02010600030101010101" pitchFamily="2" charset="-122"/>
              </a:rPr>
              <a:t> </a:t>
            </a:r>
            <a:endParaRPr lang="zh-CN" altLang="en-US" dirty="0"/>
          </a:p>
        </p:txBody>
      </p:sp>
      <p:sp>
        <p:nvSpPr>
          <p:cNvPr id="1417219" name="Rectangle 3"/>
          <p:cNvSpPr>
            <a:spLocks noGrp="1" noChangeArrowheads="1"/>
          </p:cNvSpPr>
          <p:nvPr>
            <p:ph type="body" idx="1"/>
          </p:nvPr>
        </p:nvSpPr>
        <p:spPr>
          <a:xfrm>
            <a:off x="231775" y="863439"/>
            <a:ext cx="10820400" cy="1911802"/>
          </a:xfrm>
        </p:spPr>
        <p:txBody>
          <a:bodyPr>
            <a:normAutofit/>
          </a:bodyPr>
          <a:lstStyle/>
          <a:p>
            <a:pPr marL="0" indent="0">
              <a:lnSpc>
                <a:spcPct val="150000"/>
              </a:lnSpc>
              <a:buNone/>
            </a:pPr>
            <a:r>
              <a:rPr lang="zh-CN" altLang="zh-CN" dirty="0">
                <a:solidFill>
                  <a:srgbClr val="C00000"/>
                </a:solidFill>
              </a:rPr>
              <a:t>例</a:t>
            </a:r>
            <a:r>
              <a:rPr lang="en-US" altLang="zh-CN" dirty="0">
                <a:solidFill>
                  <a:srgbClr val="C00000"/>
                </a:solidFill>
              </a:rPr>
              <a:t>4.11  </a:t>
            </a:r>
            <a:r>
              <a:rPr lang="zh-CN" altLang="zh-CN" dirty="0">
                <a:solidFill>
                  <a:schemeClr val="tx1"/>
                </a:solidFill>
              </a:rPr>
              <a:t>设</a:t>
            </a:r>
            <a:r>
              <a:rPr lang="en-US" altLang="zh-CN" dirty="0">
                <a:solidFill>
                  <a:schemeClr val="tx1"/>
                </a:solidFill>
              </a:rPr>
              <a:t>A</a:t>
            </a:r>
            <a:r>
              <a:rPr lang="zh-CN" altLang="zh-CN" dirty="0">
                <a:solidFill>
                  <a:schemeClr val="tx1"/>
                </a:solidFill>
              </a:rPr>
              <a:t>＝</a:t>
            </a:r>
            <a:r>
              <a:rPr lang="en-US" altLang="zh-CN" dirty="0">
                <a:solidFill>
                  <a:schemeClr val="tx1"/>
                </a:solidFill>
              </a:rPr>
              <a:t>{1</a:t>
            </a:r>
            <a:r>
              <a:rPr lang="zh-CN" altLang="zh-CN" dirty="0">
                <a:solidFill>
                  <a:schemeClr val="tx1"/>
                </a:solidFill>
              </a:rPr>
              <a:t>，</a:t>
            </a:r>
            <a:r>
              <a:rPr lang="en-US" altLang="zh-CN" dirty="0">
                <a:solidFill>
                  <a:schemeClr val="tx1"/>
                </a:solidFill>
              </a:rPr>
              <a:t>2}</a:t>
            </a:r>
            <a:r>
              <a:rPr lang="zh-CN" altLang="zh-CN" dirty="0">
                <a:solidFill>
                  <a:schemeClr val="tx1"/>
                </a:solidFill>
              </a:rPr>
              <a:t>，考虑</a:t>
            </a:r>
            <a:r>
              <a:rPr lang="en-US" altLang="zh-CN" dirty="0">
                <a:solidFill>
                  <a:schemeClr val="tx1"/>
                </a:solidFill>
              </a:rPr>
              <a:t>P(A)</a:t>
            </a:r>
            <a:r>
              <a:rPr lang="zh-CN" altLang="zh-CN" dirty="0">
                <a:solidFill>
                  <a:schemeClr val="tx1"/>
                </a:solidFill>
              </a:rPr>
              <a:t>上的包含关系</a:t>
            </a:r>
            <a:r>
              <a:rPr lang="en-US" altLang="zh-CN" dirty="0">
                <a:solidFill>
                  <a:schemeClr val="tx1"/>
                </a:solidFill>
              </a:rPr>
              <a:t>R</a:t>
            </a:r>
            <a:r>
              <a:rPr lang="zh-CN" altLang="zh-CN" dirty="0">
                <a:solidFill>
                  <a:schemeClr val="tx1"/>
                </a:solidFill>
              </a:rPr>
              <a:t>和真包含关系</a:t>
            </a:r>
            <a:r>
              <a:rPr lang="en-US" altLang="zh-CN" dirty="0">
                <a:solidFill>
                  <a:schemeClr val="tx1"/>
                </a:solidFill>
              </a:rPr>
              <a:t>S</a:t>
            </a:r>
            <a:r>
              <a:rPr lang="zh-CN" altLang="zh-CN" dirty="0">
                <a:solidFill>
                  <a:schemeClr val="tx1"/>
                </a:solidFill>
              </a:rPr>
              <a:t>。</a:t>
            </a:r>
            <a:endParaRPr lang="zh-CN" altLang="zh-CN" dirty="0">
              <a:solidFill>
                <a:schemeClr val="tx1"/>
              </a:solidFill>
            </a:endParaRPr>
          </a:p>
          <a:p>
            <a:pPr marL="0" indent="0">
              <a:lnSpc>
                <a:spcPct val="150000"/>
              </a:lnSpc>
              <a:buNone/>
            </a:pPr>
            <a:r>
              <a:rPr lang="zh-CN" altLang="zh-CN" dirty="0">
                <a:solidFill>
                  <a:schemeClr val="tx1"/>
                </a:solidFill>
              </a:rPr>
              <a:t>（</a:t>
            </a:r>
            <a:r>
              <a:rPr lang="en-US" altLang="zh-CN" dirty="0">
                <a:solidFill>
                  <a:schemeClr val="tx1"/>
                </a:solidFill>
              </a:rPr>
              <a:t>1</a:t>
            </a:r>
            <a:r>
              <a:rPr lang="zh-CN" altLang="zh-CN" dirty="0">
                <a:solidFill>
                  <a:schemeClr val="tx1"/>
                </a:solidFill>
              </a:rPr>
              <a:t>）试写出</a:t>
            </a:r>
            <a:r>
              <a:rPr lang="en-US" altLang="zh-CN" dirty="0">
                <a:solidFill>
                  <a:schemeClr val="tx1"/>
                </a:solidFill>
              </a:rPr>
              <a:t>R</a:t>
            </a:r>
            <a:r>
              <a:rPr lang="zh-CN" altLang="zh-CN" dirty="0">
                <a:solidFill>
                  <a:schemeClr val="tx1"/>
                </a:solidFill>
              </a:rPr>
              <a:t>和</a:t>
            </a:r>
            <a:r>
              <a:rPr lang="en-US" altLang="zh-CN" dirty="0">
                <a:solidFill>
                  <a:schemeClr val="tx1"/>
                </a:solidFill>
              </a:rPr>
              <a:t>S</a:t>
            </a:r>
            <a:r>
              <a:rPr lang="zh-CN" altLang="zh-CN" dirty="0">
                <a:solidFill>
                  <a:schemeClr val="tx1"/>
                </a:solidFill>
              </a:rPr>
              <a:t>中的所有元素</a:t>
            </a:r>
            <a:r>
              <a:rPr lang="zh-CN" altLang="en-US" dirty="0">
                <a:solidFill>
                  <a:schemeClr val="tx1"/>
                </a:solidFill>
              </a:rPr>
              <a:t>。</a:t>
            </a:r>
            <a:r>
              <a:rPr lang="en-US" altLang="zh-CN" dirty="0">
                <a:solidFill>
                  <a:schemeClr val="tx1"/>
                </a:solidFill>
              </a:rPr>
              <a:t>     </a:t>
            </a:r>
            <a:endParaRPr lang="en-US" altLang="zh-CN" dirty="0">
              <a:solidFill>
                <a:schemeClr val="tx1"/>
              </a:solidFill>
            </a:endParaRPr>
          </a:p>
          <a:p>
            <a:pPr marL="0" indent="0">
              <a:lnSpc>
                <a:spcPct val="150000"/>
              </a:lnSpc>
              <a:buNone/>
            </a:pPr>
            <a:r>
              <a:rPr lang="zh-CN" altLang="zh-CN" dirty="0">
                <a:solidFill>
                  <a:schemeClr val="tx1"/>
                </a:solidFill>
              </a:rPr>
              <a:t>（</a:t>
            </a:r>
            <a:r>
              <a:rPr lang="en-US" altLang="zh-CN" dirty="0">
                <a:solidFill>
                  <a:schemeClr val="tx1"/>
                </a:solidFill>
              </a:rPr>
              <a:t>2</a:t>
            </a:r>
            <a:r>
              <a:rPr lang="zh-CN" altLang="zh-CN" dirty="0">
                <a:solidFill>
                  <a:schemeClr val="tx1"/>
                </a:solidFill>
              </a:rPr>
              <a:t>）试写出</a:t>
            </a:r>
            <a:r>
              <a:rPr lang="en-US" altLang="zh-CN" dirty="0">
                <a:solidFill>
                  <a:schemeClr val="tx1"/>
                </a:solidFill>
              </a:rPr>
              <a:t>R</a:t>
            </a:r>
            <a:r>
              <a:rPr lang="zh-CN" altLang="zh-CN" dirty="0">
                <a:solidFill>
                  <a:schemeClr val="tx1"/>
                </a:solidFill>
              </a:rPr>
              <a:t>和</a:t>
            </a:r>
            <a:r>
              <a:rPr lang="en-US" altLang="zh-CN" dirty="0">
                <a:solidFill>
                  <a:schemeClr val="tx1"/>
                </a:solidFill>
              </a:rPr>
              <a:t>S</a:t>
            </a:r>
            <a:r>
              <a:rPr lang="zh-CN" altLang="zh-CN" dirty="0">
                <a:solidFill>
                  <a:schemeClr val="tx1"/>
                </a:solidFill>
              </a:rPr>
              <a:t>的关系矩阵。</a:t>
            </a:r>
            <a:endParaRPr lang="zh-CN" altLang="zh-CN" dirty="0">
              <a:solidFill>
                <a:schemeClr val="tx1"/>
              </a:solidFill>
            </a:endParaRPr>
          </a:p>
        </p:txBody>
      </p:sp>
      <p:sp>
        <p:nvSpPr>
          <p:cNvPr id="80901" name="Rectangle 4"/>
          <p:cNvSpPr>
            <a:spLocks noChangeArrowheads="1"/>
          </p:cNvSpPr>
          <p:nvPr/>
        </p:nvSpPr>
        <p:spPr bwMode="auto">
          <a:xfrm>
            <a:off x="1526117" y="2775241"/>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 name="矩形 1"/>
          <p:cNvSpPr/>
          <p:nvPr/>
        </p:nvSpPr>
        <p:spPr>
          <a:xfrm>
            <a:off x="355600" y="2775241"/>
            <a:ext cx="11506200" cy="2585323"/>
          </a:xfrm>
          <a:prstGeom prst="rect">
            <a:avLst/>
          </a:prstGeom>
        </p:spPr>
        <p:txBody>
          <a:bodyPr wrap="square">
            <a:spAutoFit/>
          </a:bodyPr>
          <a:lstStyle/>
          <a:p>
            <a:pPr>
              <a:lnSpc>
                <a:spcPct val="150000"/>
              </a:lnSpc>
            </a:pPr>
            <a:r>
              <a:rPr lang="zh-CN" altLang="en-US" b="1" dirty="0">
                <a:solidFill>
                  <a:srgbClr val="C00000"/>
                </a:solidFill>
                <a:latin typeface="+mn-ea"/>
              </a:rPr>
              <a:t>解  </a:t>
            </a:r>
            <a:r>
              <a:rPr lang="zh-CN" altLang="en-US" b="1" dirty="0">
                <a:latin typeface="+mn-ea"/>
              </a:rPr>
              <a:t>（</a:t>
            </a:r>
            <a:r>
              <a:rPr lang="en-US" altLang="zh-CN" b="1" dirty="0">
                <a:latin typeface="+mn-ea"/>
              </a:rPr>
              <a:t>1</a:t>
            </a:r>
            <a:r>
              <a:rPr lang="zh-CN" altLang="en-US" b="1" dirty="0">
                <a:latin typeface="+mn-ea"/>
              </a:rPr>
              <a:t>）因为</a:t>
            </a:r>
            <a:r>
              <a:rPr lang="en-US" altLang="zh-CN" b="1" dirty="0">
                <a:latin typeface="+mn-ea"/>
              </a:rPr>
              <a:t>P(A)</a:t>
            </a:r>
            <a:r>
              <a:rPr lang="zh-CN" altLang="en-US" b="1" dirty="0">
                <a:latin typeface="+mn-ea"/>
              </a:rPr>
              <a:t>＝</a:t>
            </a:r>
            <a:r>
              <a:rPr lang="en-US" altLang="zh-CN" b="1" dirty="0">
                <a:latin typeface="+mn-ea"/>
              </a:rPr>
              <a:t>{</a:t>
            </a:r>
            <a:r>
              <a:rPr lang="el-GR" altLang="zh-CN" sz="2800" kern="0" dirty="0"/>
              <a:t>Φ </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a:t>
            </a:r>
            <a:r>
              <a:rPr lang="zh-CN" altLang="en-US" b="1" dirty="0">
                <a:latin typeface="+mn-ea"/>
              </a:rPr>
              <a:t>，所以</a:t>
            </a:r>
            <a:endParaRPr lang="zh-CN" altLang="en-US" b="1" dirty="0">
              <a:latin typeface="+mn-ea"/>
            </a:endParaRPr>
          </a:p>
          <a:p>
            <a:pPr>
              <a:lnSpc>
                <a:spcPct val="150000"/>
              </a:lnSpc>
            </a:pPr>
            <a:r>
              <a:rPr lang="en-US" altLang="zh-CN" b="1" dirty="0">
                <a:latin typeface="+mn-ea"/>
              </a:rPr>
              <a:t>R</a:t>
            </a:r>
            <a:r>
              <a:rPr lang="zh-CN" altLang="en-US" b="1" dirty="0">
                <a:latin typeface="+mn-ea"/>
              </a:rPr>
              <a:t>＝</a:t>
            </a:r>
            <a:r>
              <a:rPr lang="en-US" altLang="zh-CN" b="1" dirty="0">
                <a:latin typeface="+mn-ea"/>
              </a:rPr>
              <a:t>{&lt; </a:t>
            </a:r>
            <a:r>
              <a:rPr lang="el-GR" altLang="zh-CN" sz="2800" kern="0" dirty="0"/>
              <a:t>Φ</a:t>
            </a:r>
            <a:r>
              <a:rPr lang="zh-CN" altLang="en-US" b="1" dirty="0">
                <a:latin typeface="+mn-ea"/>
              </a:rPr>
              <a:t>，</a:t>
            </a:r>
            <a:r>
              <a:rPr lang="el-GR" altLang="zh-CN" sz="2800" kern="0" dirty="0"/>
              <a:t>Φ</a:t>
            </a:r>
            <a:r>
              <a:rPr lang="en-US" altLang="zh-CN" b="1" dirty="0">
                <a:latin typeface="+mn-ea"/>
              </a:rPr>
              <a:t>&gt;</a:t>
            </a:r>
            <a:r>
              <a:rPr lang="zh-CN" altLang="en-US" b="1" dirty="0">
                <a:latin typeface="+mn-ea"/>
              </a:rPr>
              <a:t>，</a:t>
            </a:r>
            <a:r>
              <a:rPr lang="en-US" altLang="zh-CN" b="1" dirty="0">
                <a:latin typeface="+mn-ea"/>
              </a:rPr>
              <a:t>&lt;</a:t>
            </a:r>
            <a:r>
              <a:rPr lang="el-GR" altLang="zh-CN" sz="2800" kern="0" dirty="0"/>
              <a:t>Φ</a:t>
            </a:r>
            <a:r>
              <a:rPr lang="en-US" altLang="zh-CN" b="1" dirty="0">
                <a:latin typeface="+mn-ea"/>
              </a:rPr>
              <a:t> </a:t>
            </a:r>
            <a:r>
              <a:rPr lang="zh-CN" altLang="en-US" b="1" dirty="0">
                <a:latin typeface="+mn-ea"/>
              </a:rPr>
              <a:t>，</a:t>
            </a:r>
            <a:r>
              <a:rPr lang="en-US" altLang="zh-CN" b="1" dirty="0">
                <a:latin typeface="+mn-ea"/>
              </a:rPr>
              <a:t>{1}&gt;</a:t>
            </a:r>
            <a:r>
              <a:rPr lang="zh-CN" altLang="en-US" b="1" dirty="0">
                <a:latin typeface="+mn-ea"/>
              </a:rPr>
              <a:t>，</a:t>
            </a:r>
            <a:r>
              <a:rPr lang="en-US" altLang="zh-CN" b="1" dirty="0">
                <a:latin typeface="+mn-ea"/>
              </a:rPr>
              <a:t>&lt;</a:t>
            </a:r>
            <a:r>
              <a:rPr lang="el-GR" altLang="zh-CN" sz="2800" kern="0" dirty="0"/>
              <a:t>Φ</a:t>
            </a:r>
            <a:r>
              <a:rPr lang="en-US" altLang="zh-CN" b="1" dirty="0">
                <a:latin typeface="+mn-ea"/>
              </a:rPr>
              <a:t> </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a:t>
            </a:r>
            <a:r>
              <a:rPr lang="el-GR" altLang="zh-CN" sz="2800" kern="0" dirty="0"/>
              <a:t>Φ </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&lt;{1}</a:t>
            </a:r>
            <a:r>
              <a:rPr lang="zh-CN" altLang="en-US" b="1" dirty="0">
                <a:latin typeface="+mn-ea"/>
              </a:rPr>
              <a:t>，</a:t>
            </a:r>
            <a:r>
              <a:rPr lang="en-US" altLang="zh-CN" b="1" dirty="0">
                <a:latin typeface="+mn-ea"/>
              </a:rPr>
              <a:t>{1}&gt;</a:t>
            </a:r>
            <a:r>
              <a:rPr lang="zh-CN" altLang="en-US" b="1" dirty="0">
                <a:latin typeface="+mn-ea"/>
              </a:rPr>
              <a:t>，</a:t>
            </a:r>
            <a:endParaRPr lang="en-US" altLang="zh-CN" b="1" dirty="0">
              <a:latin typeface="+mn-ea"/>
            </a:endParaRPr>
          </a:p>
          <a:p>
            <a:pPr>
              <a:lnSpc>
                <a:spcPct val="150000"/>
              </a:lnSpc>
            </a:pPr>
            <a:r>
              <a:rPr lang="en-US" altLang="zh-CN" b="1" dirty="0">
                <a:latin typeface="+mn-ea"/>
              </a:rPr>
              <a:t>       &lt;{1}</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2}&gt;,&lt;{2}</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2}&gt;,&lt;{1</a:t>
            </a: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endParaRPr lang="en-US" altLang="zh-CN" b="1" dirty="0">
              <a:latin typeface="+mn-ea"/>
            </a:endParaRPr>
          </a:p>
          <a:p>
            <a:pPr>
              <a:lnSpc>
                <a:spcPct val="150000"/>
              </a:lnSpc>
            </a:pPr>
            <a:r>
              <a:rPr lang="en-US" altLang="zh-CN" b="1" dirty="0">
                <a:latin typeface="+mn-ea"/>
              </a:rPr>
              <a:t>S</a:t>
            </a:r>
            <a:r>
              <a:rPr lang="zh-CN" altLang="en-US" b="1" dirty="0">
                <a:latin typeface="+mn-ea"/>
              </a:rPr>
              <a:t>＝</a:t>
            </a:r>
            <a:r>
              <a:rPr lang="en-US" altLang="zh-CN" b="1" dirty="0">
                <a:latin typeface="+mn-ea"/>
              </a:rPr>
              <a:t>{&lt;</a:t>
            </a:r>
            <a:r>
              <a:rPr lang="el-GR" altLang="zh-CN" sz="2800" kern="0" dirty="0"/>
              <a:t>Φ</a:t>
            </a:r>
            <a:r>
              <a:rPr lang="zh-CN" altLang="en-US" b="1" dirty="0">
                <a:latin typeface="+mn-ea"/>
              </a:rPr>
              <a:t>，</a:t>
            </a:r>
            <a:r>
              <a:rPr lang="en-US" altLang="zh-CN" b="1" dirty="0">
                <a:latin typeface="+mn-ea"/>
              </a:rPr>
              <a:t>{1}&gt;</a:t>
            </a:r>
            <a:r>
              <a:rPr lang="zh-CN" altLang="en-US" b="1" dirty="0">
                <a:latin typeface="+mn-ea"/>
              </a:rPr>
              <a:t>，</a:t>
            </a:r>
            <a:r>
              <a:rPr lang="en-US" altLang="zh-CN" b="1" dirty="0">
                <a:latin typeface="+mn-ea"/>
              </a:rPr>
              <a:t>&lt;</a:t>
            </a:r>
            <a:r>
              <a:rPr lang="el-GR" altLang="zh-CN" sz="2800" kern="0" dirty="0"/>
              <a:t>Φ</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a:t>
            </a:r>
            <a:r>
              <a:rPr lang="el-GR" altLang="zh-CN" sz="2800" kern="0" dirty="0"/>
              <a:t>Φ </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&lt;{1}</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r>
              <a:rPr lang="zh-CN" altLang="en-US" b="1" dirty="0">
                <a:latin typeface="+mn-ea"/>
              </a:rPr>
              <a:t>，</a:t>
            </a:r>
            <a:r>
              <a:rPr lang="en-US" altLang="zh-CN" b="1" dirty="0">
                <a:latin typeface="+mn-ea"/>
              </a:rPr>
              <a:t>&lt;{2}</a:t>
            </a:r>
            <a:r>
              <a:rPr lang="zh-CN" altLang="en-US" b="1" dirty="0">
                <a:latin typeface="+mn-ea"/>
              </a:rPr>
              <a:t>，</a:t>
            </a:r>
            <a:r>
              <a:rPr lang="en-US" altLang="zh-CN" b="1" dirty="0">
                <a:latin typeface="+mn-ea"/>
              </a:rPr>
              <a:t>{1</a:t>
            </a:r>
            <a:r>
              <a:rPr lang="zh-CN" altLang="en-US" b="1" dirty="0">
                <a:latin typeface="+mn-ea"/>
              </a:rPr>
              <a:t>，</a:t>
            </a:r>
            <a:r>
              <a:rPr lang="en-US" altLang="zh-CN" b="1" dirty="0">
                <a:latin typeface="+mn-ea"/>
              </a:rPr>
              <a:t>2}&gt;}</a:t>
            </a:r>
            <a:endParaRPr lang="en-US" altLang="zh-CN" b="1"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ircle(in)">
                                      <p:cBhvr>
                                        <p:cTn id="12" dur="2000"/>
                                        <p:tgtEl>
                                          <p:spTgt spid="2">
                                            <p:txEl>
                                              <p:pRg st="1" end="1"/>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circle(in)">
                                      <p:cBhvr>
                                        <p:cTn id="15" dur="20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heel(1)">
                                      <p:cBhvr>
                                        <p:cTn id="20"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7" name="Rectangle 3"/>
          <p:cNvSpPr>
            <a:spLocks noGrp="1" noChangeArrowheads="1"/>
          </p:cNvSpPr>
          <p:nvPr>
            <p:ph type="body" idx="1"/>
          </p:nvPr>
        </p:nvSpPr>
        <p:spPr>
          <a:xfrm>
            <a:off x="44518" y="1212243"/>
            <a:ext cx="8444279" cy="938022"/>
          </a:xfrm>
        </p:spPr>
        <p:txBody>
          <a:bodyPr>
            <a:normAutofit/>
          </a:bodyPr>
          <a:lstStyle/>
          <a:p>
            <a:pPr marL="0" indent="0">
              <a:spcBef>
                <a:spcPct val="0"/>
              </a:spcBef>
              <a:buNone/>
            </a:pPr>
            <a:r>
              <a:rPr lang="zh-CN" altLang="en-US" dirty="0">
                <a:solidFill>
                  <a:schemeClr val="tx1"/>
                </a:solidFill>
              </a:rPr>
              <a:t>（</a:t>
            </a:r>
            <a:r>
              <a:rPr lang="en-US" altLang="zh-CN" dirty="0">
                <a:solidFill>
                  <a:schemeClr val="tx1"/>
                </a:solidFill>
              </a:rPr>
              <a:t>2</a:t>
            </a:r>
            <a:r>
              <a:rPr lang="zh-CN" altLang="en-US" dirty="0">
                <a:solidFill>
                  <a:schemeClr val="tx1"/>
                </a:solidFill>
              </a:rPr>
              <a:t>）设</a:t>
            </a:r>
            <a:r>
              <a:rPr lang="en-US" altLang="zh-CN" dirty="0">
                <a:solidFill>
                  <a:schemeClr val="tx1"/>
                </a:solidFill>
              </a:rPr>
              <a:t>R</a:t>
            </a:r>
            <a:r>
              <a:rPr lang="zh-CN" altLang="en-US" dirty="0">
                <a:solidFill>
                  <a:schemeClr val="tx1"/>
                </a:solidFill>
              </a:rPr>
              <a:t>和</a:t>
            </a:r>
            <a:r>
              <a:rPr lang="en-US" altLang="zh-CN" dirty="0">
                <a:solidFill>
                  <a:schemeClr val="tx1"/>
                </a:solidFill>
              </a:rPr>
              <a:t>S</a:t>
            </a:r>
            <a:r>
              <a:rPr lang="zh-CN" altLang="en-US" dirty="0">
                <a:solidFill>
                  <a:schemeClr val="tx1"/>
                </a:solidFill>
              </a:rPr>
              <a:t>的关系矩阵分别为</a:t>
            </a:r>
            <a:r>
              <a:rPr lang="en-US" altLang="zh-CN" dirty="0">
                <a:solidFill>
                  <a:schemeClr val="tx1"/>
                </a:solidFill>
              </a:rPr>
              <a:t>M</a:t>
            </a:r>
            <a:r>
              <a:rPr lang="en-US" altLang="zh-CN" baseline="-25000" dirty="0">
                <a:solidFill>
                  <a:schemeClr val="tx1"/>
                </a:solidFill>
              </a:rPr>
              <a:t>R</a:t>
            </a:r>
            <a:r>
              <a:rPr lang="zh-CN" altLang="en-US" dirty="0">
                <a:solidFill>
                  <a:schemeClr val="tx1"/>
                </a:solidFill>
              </a:rPr>
              <a:t>和</a:t>
            </a:r>
            <a:r>
              <a:rPr lang="en-US" altLang="zh-CN" dirty="0">
                <a:solidFill>
                  <a:schemeClr val="tx1"/>
                </a:solidFill>
              </a:rPr>
              <a:t>M</a:t>
            </a:r>
            <a:r>
              <a:rPr lang="en-US" altLang="zh-CN" baseline="-25000" dirty="0">
                <a:solidFill>
                  <a:schemeClr val="tx1"/>
                </a:solidFill>
              </a:rPr>
              <a:t>S</a:t>
            </a:r>
            <a:r>
              <a:rPr lang="zh-CN" altLang="en-US" dirty="0">
                <a:solidFill>
                  <a:schemeClr val="tx1"/>
                </a:solidFill>
              </a:rPr>
              <a:t>，则有</a:t>
            </a:r>
            <a:r>
              <a:rPr lang="en-US" altLang="zh-CN" dirty="0">
                <a:solidFill>
                  <a:schemeClr val="tx1"/>
                </a:solidFill>
              </a:rPr>
              <a:t> </a:t>
            </a:r>
            <a:endParaRPr lang="zh-CN" altLang="en-US" dirty="0">
              <a:solidFill>
                <a:schemeClr val="tx1"/>
              </a:solidFill>
            </a:endParaRPr>
          </a:p>
        </p:txBody>
      </p:sp>
      <p:sp>
        <p:nvSpPr>
          <p:cNvPr id="82949" name="Rectangle 4"/>
          <p:cNvSpPr>
            <a:spLocks noChangeArrowheads="1"/>
          </p:cNvSpPr>
          <p:nvPr/>
        </p:nvSpPr>
        <p:spPr bwMode="auto">
          <a:xfrm>
            <a:off x="1526117" y="2775241"/>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aphicFrame>
        <p:nvGraphicFramePr>
          <p:cNvPr id="1419270" name="Object 6"/>
          <p:cNvGraphicFramePr>
            <a:graphicFrameLocks noChangeAspect="1"/>
          </p:cNvGraphicFramePr>
          <p:nvPr/>
        </p:nvGraphicFramePr>
        <p:xfrm>
          <a:off x="931228" y="2453796"/>
          <a:ext cx="2336800" cy="1812968"/>
        </p:xfrm>
        <a:graphic>
          <a:graphicData uri="http://schemas.openxmlformats.org/presentationml/2006/ole">
            <mc:AlternateContent xmlns:mc="http://schemas.openxmlformats.org/markup-compatibility/2006">
              <mc:Choice xmlns:v="urn:schemas-microsoft-com:vml" Requires="v">
                <p:oleObj spid="_x0000_s3073" name="Equation" r:id="rId1" imgW="20116800" imgH="15544800" progId="Equation.DSMT4">
                  <p:embed/>
                </p:oleObj>
              </mc:Choice>
              <mc:Fallback>
                <p:oleObj name="Equation" r:id="rId1" imgW="20116800" imgH="15544800" progId="Equation.DSMT4">
                  <p:embed/>
                  <p:pic>
                    <p:nvPicPr>
                      <p:cNvPr id="0" name="Object 6" descr="image20"/>
                      <p:cNvPicPr>
                        <a:picLocks noChangeAspect="1"/>
                      </p:cNvPicPr>
                      <p:nvPr/>
                    </p:nvPicPr>
                    <p:blipFill>
                      <a:blip r:embed="rId2"/>
                      <a:stretch>
                        <a:fillRect/>
                      </a:stretch>
                    </p:blipFill>
                    <p:spPr>
                      <a:xfrm>
                        <a:off x="931228" y="2453796"/>
                        <a:ext cx="2336800" cy="1812968"/>
                      </a:xfrm>
                      <a:prstGeom prst="rect">
                        <a:avLst/>
                      </a:prstGeom>
                      <a:noFill/>
                      <a:ln w="9525">
                        <a:noFill/>
                      </a:ln>
                    </p:spPr>
                  </p:pic>
                </p:oleObj>
              </mc:Fallback>
            </mc:AlternateContent>
          </a:graphicData>
        </a:graphic>
      </p:graphicFrame>
      <p:graphicFrame>
        <p:nvGraphicFramePr>
          <p:cNvPr id="1419271" name="Object 7"/>
          <p:cNvGraphicFramePr>
            <a:graphicFrameLocks noChangeAspect="1"/>
          </p:cNvGraphicFramePr>
          <p:nvPr/>
        </p:nvGraphicFramePr>
        <p:xfrm>
          <a:off x="4117975" y="2298622"/>
          <a:ext cx="2511094" cy="1889919"/>
        </p:xfrm>
        <a:graphic>
          <a:graphicData uri="http://schemas.openxmlformats.org/presentationml/2006/ole">
            <mc:AlternateContent xmlns:mc="http://schemas.openxmlformats.org/markup-compatibility/2006">
              <mc:Choice xmlns:v="urn:schemas-microsoft-com:vml" Requires="v">
                <p:oleObj spid="_x0000_s3074" name="Equation" r:id="rId3" imgW="20726400" imgH="15544800" progId="Equation.DSMT4">
                  <p:embed/>
                </p:oleObj>
              </mc:Choice>
              <mc:Fallback>
                <p:oleObj name="Equation" r:id="rId3" imgW="20726400" imgH="15544800" progId="Equation.DSMT4">
                  <p:embed/>
                  <p:pic>
                    <p:nvPicPr>
                      <p:cNvPr id="0" name="Object 7" descr="image21"/>
                      <p:cNvPicPr>
                        <a:picLocks noChangeAspect="1"/>
                      </p:cNvPicPr>
                      <p:nvPr/>
                    </p:nvPicPr>
                    <p:blipFill>
                      <a:blip r:embed="rId4"/>
                      <a:stretch>
                        <a:fillRect/>
                      </a:stretch>
                    </p:blipFill>
                    <p:spPr>
                      <a:xfrm>
                        <a:off x="4117975" y="2298622"/>
                        <a:ext cx="2511094" cy="1889919"/>
                      </a:xfrm>
                      <a:prstGeom prst="rect">
                        <a:avLst/>
                      </a:prstGeom>
                      <a:noFill/>
                      <a:ln w="9525">
                        <a:noFill/>
                      </a:ln>
                    </p:spPr>
                  </p:pic>
                </p:oleObj>
              </mc:Fallback>
            </mc:AlternateContent>
          </a:graphicData>
        </a:graphic>
      </p:graphicFrame>
      <p:sp>
        <p:nvSpPr>
          <p:cNvPr id="2" name="标题 1"/>
          <p:cNvSpPr>
            <a:spLocks noGrp="1"/>
          </p:cNvSpPr>
          <p:nvPr>
            <p:ph type="title"/>
          </p:nvPr>
        </p:nvSpPr>
        <p:spPr/>
        <p:txBody>
          <a:bodyPr/>
          <a:lstStyle/>
          <a:p>
            <a:r>
              <a:rPr lang="zh-CN" altLang="en-US" dirty="0"/>
              <a:t>例</a:t>
            </a:r>
            <a:r>
              <a:rPr lang="en-US" altLang="zh-CN" dirty="0"/>
              <a:t>4.11</a:t>
            </a:r>
            <a:r>
              <a:rPr lang="zh-CN" altLang="en-US" dirty="0"/>
              <a:t>（续）</a:t>
            </a:r>
            <a:endParaRPr lang="zh-CN" altLang="en-US" dirty="0"/>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1419270"/>
                                        </p:tgtEl>
                                        <p:attrNameLst>
                                          <p:attrName>style.visibility</p:attrName>
                                        </p:attrNameLst>
                                      </p:cBhvr>
                                      <p:to>
                                        <p:strVal val="visible"/>
                                      </p:to>
                                    </p:set>
                                    <p:anim calcmode="lin" valueType="num">
                                      <p:cBhvr>
                                        <p:cTn id="7" dur="500" decel="50000" fill="hold">
                                          <p:stCondLst>
                                            <p:cond delay="0"/>
                                          </p:stCondLst>
                                        </p:cTn>
                                        <p:tgtEl>
                                          <p:spTgt spid="1419270"/>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419270"/>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419270"/>
                                        </p:tgtEl>
                                        <p:attrNameLst>
                                          <p:attrName>ppt_w</p:attrName>
                                        </p:attrNameLst>
                                      </p:cBhvr>
                                      <p:tavLst>
                                        <p:tav tm="0">
                                          <p:val>
                                            <p:strVal val="#ppt_w*.05"/>
                                          </p:val>
                                        </p:tav>
                                        <p:tav tm="100000">
                                          <p:val>
                                            <p:strVal val="#ppt_w"/>
                                          </p:val>
                                        </p:tav>
                                      </p:tavLst>
                                    </p:anim>
                                    <p:anim calcmode="lin" valueType="num">
                                      <p:cBhvr>
                                        <p:cTn id="10" dur="1000" fill="hold"/>
                                        <p:tgtEl>
                                          <p:spTgt spid="1419270"/>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419270"/>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419270"/>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419270"/>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419270"/>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nodeType="clickEffect">
                                  <p:stCondLst>
                                    <p:cond delay="0"/>
                                  </p:stCondLst>
                                  <p:childTnLst>
                                    <p:set>
                                      <p:cBhvr>
                                        <p:cTn id="18" dur="1" fill="hold">
                                          <p:stCondLst>
                                            <p:cond delay="0"/>
                                          </p:stCondLst>
                                        </p:cTn>
                                        <p:tgtEl>
                                          <p:spTgt spid="1419271"/>
                                        </p:tgtEl>
                                        <p:attrNameLst>
                                          <p:attrName>style.visibility</p:attrName>
                                        </p:attrNameLst>
                                      </p:cBhvr>
                                      <p:to>
                                        <p:strVal val="visible"/>
                                      </p:to>
                                    </p:set>
                                    <p:anim calcmode="lin" valueType="num">
                                      <p:cBhvr>
                                        <p:cTn id="19" dur="500" decel="50000" fill="hold">
                                          <p:stCondLst>
                                            <p:cond delay="0"/>
                                          </p:stCondLst>
                                        </p:cTn>
                                        <p:tgtEl>
                                          <p:spTgt spid="1419271"/>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1419271"/>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1419271"/>
                                        </p:tgtEl>
                                        <p:attrNameLst>
                                          <p:attrName>ppt_w</p:attrName>
                                        </p:attrNameLst>
                                      </p:cBhvr>
                                      <p:tavLst>
                                        <p:tav tm="0">
                                          <p:val>
                                            <p:strVal val="#ppt_w*.05"/>
                                          </p:val>
                                        </p:tav>
                                        <p:tav tm="100000">
                                          <p:val>
                                            <p:strVal val="#ppt_w"/>
                                          </p:val>
                                        </p:tav>
                                      </p:tavLst>
                                    </p:anim>
                                    <p:anim calcmode="lin" valueType="num">
                                      <p:cBhvr>
                                        <p:cTn id="22" dur="1000" fill="hold"/>
                                        <p:tgtEl>
                                          <p:spTgt spid="1419271"/>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1419271"/>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1419271"/>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1419271"/>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1419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a:xfrm>
            <a:off x="757356" y="290450"/>
            <a:ext cx="10758267" cy="585924"/>
          </a:xfrm>
        </p:spPr>
        <p:txBody>
          <a:bodyPr/>
          <a:lstStyle/>
          <a:p>
            <a:pPr eaLnBrk="1" hangingPunct="1"/>
            <a:r>
              <a:rPr lang="zh-CN" altLang="en-US" dirty="0"/>
              <a:t>布尔矩阵的运算</a:t>
            </a:r>
            <a:endParaRPr lang="en-US" altLang="zh-CN" dirty="0"/>
          </a:p>
        </p:txBody>
      </p:sp>
      <p:sp>
        <p:nvSpPr>
          <p:cNvPr id="1421315" name="Rectangle 3"/>
          <p:cNvSpPr>
            <a:spLocks noGrp="1" noChangeArrowheads="1"/>
          </p:cNvSpPr>
          <p:nvPr>
            <p:ph type="body" sz="half" idx="1"/>
          </p:nvPr>
        </p:nvSpPr>
        <p:spPr>
          <a:xfrm>
            <a:off x="281731" y="914744"/>
            <a:ext cx="11201400" cy="1314818"/>
          </a:xfrm>
        </p:spPr>
        <p:txBody>
          <a:bodyPr>
            <a:normAutofit/>
          </a:bodyPr>
          <a:lstStyle/>
          <a:p>
            <a:pPr marL="0" indent="0">
              <a:buNone/>
            </a:pPr>
            <a:r>
              <a:rPr lang="zh-CN" altLang="zh-CN" dirty="0">
                <a:solidFill>
                  <a:srgbClr val="C00000"/>
                </a:solidFill>
              </a:rPr>
              <a:t>定义</a:t>
            </a:r>
            <a:r>
              <a:rPr lang="en-US" altLang="zh-CN" dirty="0">
                <a:solidFill>
                  <a:srgbClr val="C00000"/>
                </a:solidFill>
              </a:rPr>
              <a:t>4.7 </a:t>
            </a:r>
            <a:r>
              <a:rPr lang="zh-CN" altLang="en-US" dirty="0"/>
              <a:t>（</a:t>
            </a:r>
            <a:r>
              <a:rPr lang="en-US" altLang="zh-CN" dirty="0"/>
              <a:t>1</a:t>
            </a:r>
            <a:r>
              <a:rPr lang="zh-CN" altLang="en-US" dirty="0"/>
              <a:t>）如果</a:t>
            </a:r>
            <a:r>
              <a:rPr lang="en-US" altLang="zh-CN" dirty="0"/>
              <a:t>A=(</a:t>
            </a:r>
            <a:r>
              <a:rPr lang="en-US" altLang="zh-CN" dirty="0" err="1"/>
              <a:t>a</a:t>
            </a:r>
            <a:r>
              <a:rPr lang="en-US" altLang="zh-CN" baseline="-25000" dirty="0" err="1"/>
              <a:t>ij</a:t>
            </a:r>
            <a:r>
              <a:rPr lang="en-US" altLang="zh-CN" dirty="0"/>
              <a:t>)</a:t>
            </a:r>
            <a:r>
              <a:rPr lang="zh-CN" altLang="en-US" dirty="0"/>
              <a:t>和</a:t>
            </a:r>
            <a:r>
              <a:rPr lang="en-US" altLang="zh-CN" dirty="0"/>
              <a:t>B=(</a:t>
            </a:r>
            <a:r>
              <a:rPr lang="en-US" altLang="zh-CN" dirty="0" err="1"/>
              <a:t>b</a:t>
            </a:r>
            <a:r>
              <a:rPr lang="en-US" altLang="zh-CN" baseline="-25000" dirty="0" err="1"/>
              <a:t>ij</a:t>
            </a:r>
            <a:r>
              <a:rPr lang="en-US" altLang="zh-CN" dirty="0"/>
              <a:t>)</a:t>
            </a:r>
            <a:r>
              <a:rPr lang="zh-CN" altLang="en-US" dirty="0"/>
              <a:t>是两个</a:t>
            </a:r>
            <a:r>
              <a:rPr lang="en-US" altLang="zh-CN" dirty="0" err="1"/>
              <a:t>m×n</a:t>
            </a:r>
            <a:r>
              <a:rPr lang="zh-CN" altLang="zh-CN" dirty="0"/>
              <a:t>阶</a:t>
            </a:r>
            <a:r>
              <a:rPr lang="zh-CN" altLang="en-US" dirty="0"/>
              <a:t>布尔矩阵，则</a:t>
            </a:r>
            <a:r>
              <a:rPr lang="en-US" altLang="zh-CN" dirty="0">
                <a:solidFill>
                  <a:srgbClr val="3333FF"/>
                </a:solidFill>
              </a:rPr>
              <a:t>A</a:t>
            </a:r>
            <a:r>
              <a:rPr lang="zh-CN" altLang="en-US" dirty="0">
                <a:solidFill>
                  <a:srgbClr val="3333FF"/>
                </a:solidFill>
              </a:rPr>
              <a:t>和</a:t>
            </a:r>
            <a:r>
              <a:rPr lang="en-US" altLang="zh-CN" dirty="0">
                <a:solidFill>
                  <a:srgbClr val="3333FF"/>
                </a:solidFill>
              </a:rPr>
              <a:t>B</a:t>
            </a:r>
            <a:r>
              <a:rPr lang="zh-CN" altLang="en-US" dirty="0">
                <a:solidFill>
                  <a:srgbClr val="3333FF"/>
                </a:solidFill>
              </a:rPr>
              <a:t>的布尔并</a:t>
            </a:r>
            <a:r>
              <a:rPr lang="en-US" altLang="zh-CN" dirty="0"/>
              <a:t>(Boolean Join)</a:t>
            </a:r>
            <a:r>
              <a:rPr lang="zh-CN" altLang="zh-CN" dirty="0"/>
              <a:t>也是</a:t>
            </a:r>
            <a:r>
              <a:rPr lang="en-US" altLang="zh-CN" dirty="0" err="1"/>
              <a:t>m×n</a:t>
            </a:r>
            <a:r>
              <a:rPr lang="zh-CN" altLang="zh-CN" dirty="0"/>
              <a:t>阶矩阵，记作</a:t>
            </a:r>
            <a:r>
              <a:rPr lang="en-US" altLang="zh-CN" dirty="0"/>
              <a:t>A∨B</a:t>
            </a:r>
            <a:r>
              <a:rPr lang="zh-CN" altLang="en-US" dirty="0"/>
              <a:t>。若</a:t>
            </a:r>
            <a:r>
              <a:rPr lang="en-US" altLang="zh-CN" dirty="0"/>
              <a:t>A∨B =C=(</a:t>
            </a:r>
            <a:r>
              <a:rPr lang="en-US" altLang="zh-CN" dirty="0" err="1"/>
              <a:t>c</a:t>
            </a:r>
            <a:r>
              <a:rPr lang="en-US" altLang="zh-CN" baseline="-25000" dirty="0" err="1"/>
              <a:t>ij</a:t>
            </a:r>
            <a:r>
              <a:rPr lang="en-US" altLang="zh-CN" dirty="0"/>
              <a:t>)</a:t>
            </a:r>
            <a:r>
              <a:rPr lang="zh-CN" altLang="en-US" dirty="0"/>
              <a:t>，则：</a:t>
            </a:r>
            <a:endParaRPr lang="en-US" altLang="zh-CN" dirty="0"/>
          </a:p>
        </p:txBody>
      </p:sp>
      <p:sp>
        <p:nvSpPr>
          <p:cNvPr id="1421317" name="Rectangle 5"/>
          <p:cNvSpPr>
            <a:spLocks noChangeArrowheads="1"/>
          </p:cNvSpPr>
          <p:nvPr/>
        </p:nvSpPr>
        <p:spPr bwMode="auto">
          <a:xfrm>
            <a:off x="536575" y="3843364"/>
            <a:ext cx="11125200" cy="1082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 如果</a:t>
            </a:r>
            <a:r>
              <a:rPr lang="en-US" altLang="zh-CN" sz="2400" dirty="0">
                <a:latin typeface="+mn-ea"/>
                <a:ea typeface="+mn-ea"/>
              </a:rPr>
              <a:t>A=(</a:t>
            </a:r>
            <a:r>
              <a:rPr lang="en-US" altLang="zh-CN" sz="2400" dirty="0" err="1">
                <a:latin typeface="+mn-ea"/>
                <a:ea typeface="+mn-ea"/>
              </a:rPr>
              <a:t>a</a:t>
            </a:r>
            <a:r>
              <a:rPr lang="en-US" altLang="zh-CN" sz="2400" baseline="-25000" dirty="0" err="1">
                <a:latin typeface="+mn-ea"/>
                <a:ea typeface="+mn-ea"/>
              </a:rPr>
              <a:t>ij</a:t>
            </a:r>
            <a:r>
              <a:rPr lang="en-US" altLang="zh-CN" sz="2400" dirty="0">
                <a:latin typeface="+mn-ea"/>
                <a:ea typeface="+mn-ea"/>
              </a:rPr>
              <a:t>)</a:t>
            </a:r>
            <a:r>
              <a:rPr lang="zh-CN" altLang="en-US" sz="2400" dirty="0">
                <a:latin typeface="+mn-ea"/>
                <a:ea typeface="+mn-ea"/>
              </a:rPr>
              <a:t>和</a:t>
            </a:r>
            <a:r>
              <a:rPr lang="en-US" altLang="zh-CN" sz="2400" dirty="0">
                <a:latin typeface="+mn-ea"/>
                <a:ea typeface="+mn-ea"/>
              </a:rPr>
              <a:t>B=(</a:t>
            </a:r>
            <a:r>
              <a:rPr lang="en-US" altLang="zh-CN" sz="2400" dirty="0" err="1">
                <a:latin typeface="+mn-ea"/>
                <a:ea typeface="+mn-ea"/>
              </a:rPr>
              <a:t>b</a:t>
            </a:r>
            <a:r>
              <a:rPr lang="en-US" altLang="zh-CN" sz="2400" baseline="-25000" dirty="0" err="1">
                <a:latin typeface="+mn-ea"/>
                <a:ea typeface="+mn-ea"/>
              </a:rPr>
              <a:t>ij</a:t>
            </a:r>
            <a:r>
              <a:rPr lang="en-US" altLang="zh-CN" sz="2400" dirty="0">
                <a:latin typeface="+mn-ea"/>
                <a:ea typeface="+mn-ea"/>
              </a:rPr>
              <a:t>)</a:t>
            </a:r>
            <a:r>
              <a:rPr lang="zh-CN" altLang="en-US" sz="2400" dirty="0">
                <a:latin typeface="+mn-ea"/>
                <a:ea typeface="+mn-ea"/>
              </a:rPr>
              <a:t>是两个</a:t>
            </a:r>
            <a:r>
              <a:rPr lang="en-US" altLang="zh-CN" sz="2400" dirty="0" err="1">
                <a:latin typeface="+mn-ea"/>
                <a:ea typeface="+mn-ea"/>
              </a:rPr>
              <a:t>m×n</a:t>
            </a:r>
            <a:r>
              <a:rPr lang="zh-CN" altLang="zh-CN" dirty="0">
                <a:latin typeface="+mn-ea"/>
                <a:ea typeface="+mn-ea"/>
              </a:rPr>
              <a:t>阶</a:t>
            </a:r>
            <a:r>
              <a:rPr lang="zh-CN" altLang="en-US" sz="2400" dirty="0">
                <a:latin typeface="+mn-ea"/>
                <a:ea typeface="+mn-ea"/>
              </a:rPr>
              <a:t>矩阵，则</a:t>
            </a:r>
            <a:r>
              <a:rPr lang="en-US" altLang="zh-CN" sz="2400" dirty="0">
                <a:solidFill>
                  <a:srgbClr val="FF0000"/>
                </a:solidFill>
                <a:latin typeface="+mn-ea"/>
                <a:ea typeface="+mn-ea"/>
              </a:rPr>
              <a:t>A</a:t>
            </a:r>
            <a:r>
              <a:rPr lang="zh-CN" altLang="en-US" sz="2400" dirty="0">
                <a:solidFill>
                  <a:srgbClr val="FF0000"/>
                </a:solidFill>
                <a:latin typeface="+mn-ea"/>
                <a:ea typeface="+mn-ea"/>
              </a:rPr>
              <a:t>和</a:t>
            </a:r>
            <a:r>
              <a:rPr lang="en-US" altLang="zh-CN" sz="2400" dirty="0">
                <a:solidFill>
                  <a:srgbClr val="FF0000"/>
                </a:solidFill>
                <a:latin typeface="+mn-ea"/>
                <a:ea typeface="+mn-ea"/>
              </a:rPr>
              <a:t>B</a:t>
            </a:r>
            <a:r>
              <a:rPr lang="zh-CN" altLang="en-US" sz="2400" dirty="0">
                <a:solidFill>
                  <a:srgbClr val="FF0000"/>
                </a:solidFill>
                <a:latin typeface="+mn-ea"/>
                <a:ea typeface="+mn-ea"/>
              </a:rPr>
              <a:t>的布尔交</a:t>
            </a:r>
            <a:r>
              <a:rPr lang="en-US" altLang="zh-CN" sz="2400" dirty="0">
                <a:latin typeface="+mn-ea"/>
                <a:ea typeface="+mn-ea"/>
              </a:rPr>
              <a:t>(</a:t>
            </a:r>
            <a:r>
              <a:rPr lang="en-US" altLang="zh-CN" dirty="0">
                <a:latin typeface="+mn-ea"/>
                <a:ea typeface="+mn-ea"/>
              </a:rPr>
              <a:t>Boolean Meet</a:t>
            </a:r>
            <a:r>
              <a:rPr lang="en-US" altLang="zh-CN" sz="2400" dirty="0">
                <a:latin typeface="+mn-ea"/>
                <a:ea typeface="+mn-ea"/>
              </a:rPr>
              <a:t>)</a:t>
            </a:r>
            <a:r>
              <a:rPr lang="zh-CN" altLang="zh-CN" sz="2400" dirty="0">
                <a:latin typeface="+mn-ea"/>
                <a:ea typeface="+mn-ea"/>
              </a:rPr>
              <a:t>也是</a:t>
            </a:r>
            <a:r>
              <a:rPr lang="en-US" altLang="zh-CN" sz="2400" dirty="0" err="1">
                <a:latin typeface="+mn-ea"/>
                <a:ea typeface="+mn-ea"/>
              </a:rPr>
              <a:t>m×n</a:t>
            </a:r>
            <a:r>
              <a:rPr lang="zh-CN" altLang="zh-CN" sz="2400" dirty="0">
                <a:latin typeface="+mn-ea"/>
                <a:ea typeface="+mn-ea"/>
              </a:rPr>
              <a:t>阶矩阵，记作</a:t>
            </a:r>
            <a:r>
              <a:rPr lang="en-US" altLang="zh-CN" sz="2400" dirty="0">
                <a:latin typeface="+mn-ea"/>
                <a:ea typeface="+mn-ea"/>
              </a:rPr>
              <a:t>A∧B</a:t>
            </a:r>
            <a:r>
              <a:rPr lang="zh-CN" altLang="en-US" sz="2400" dirty="0">
                <a:latin typeface="+mn-ea"/>
                <a:ea typeface="+mn-ea"/>
              </a:rPr>
              <a:t>。如果</a:t>
            </a:r>
            <a:r>
              <a:rPr lang="en-US" altLang="zh-CN" sz="2400" dirty="0">
                <a:latin typeface="+mn-ea"/>
                <a:ea typeface="+mn-ea"/>
              </a:rPr>
              <a:t>A∧B=D=(</a:t>
            </a:r>
            <a:r>
              <a:rPr lang="en-US" altLang="zh-CN" sz="2400" dirty="0" err="1">
                <a:latin typeface="+mn-ea"/>
                <a:ea typeface="+mn-ea"/>
              </a:rPr>
              <a:t>d</a:t>
            </a:r>
            <a:r>
              <a:rPr lang="en-US" altLang="zh-CN" sz="2400" baseline="-25000" dirty="0" err="1">
                <a:latin typeface="+mn-ea"/>
                <a:ea typeface="+mn-ea"/>
              </a:rPr>
              <a:t>ij</a:t>
            </a:r>
            <a:r>
              <a:rPr lang="en-US" altLang="zh-CN" sz="2400" dirty="0">
                <a:latin typeface="+mn-ea"/>
                <a:ea typeface="+mn-ea"/>
              </a:rPr>
              <a:t>)</a:t>
            </a:r>
            <a:r>
              <a:rPr lang="zh-CN" altLang="en-US" sz="2400" dirty="0">
                <a:latin typeface="+mn-ea"/>
                <a:ea typeface="+mn-ea"/>
              </a:rPr>
              <a:t>，其中：</a:t>
            </a:r>
            <a:endParaRPr lang="en-US" altLang="zh-CN" sz="2400" dirty="0">
              <a:latin typeface="+mn-ea"/>
              <a:ea typeface="+mn-ea"/>
            </a:endParaRPr>
          </a:p>
        </p:txBody>
      </p:sp>
      <p:graphicFrame>
        <p:nvGraphicFramePr>
          <p:cNvPr id="1421318" name="Object 6"/>
          <p:cNvGraphicFramePr>
            <a:graphicFrameLocks noChangeAspect="1"/>
          </p:cNvGraphicFramePr>
          <p:nvPr/>
        </p:nvGraphicFramePr>
        <p:xfrm>
          <a:off x="1649413" y="4884738"/>
          <a:ext cx="7453312" cy="1038225"/>
        </p:xfrm>
        <a:graphic>
          <a:graphicData uri="http://schemas.openxmlformats.org/presentationml/2006/ole">
            <mc:AlternateContent xmlns:mc="http://schemas.openxmlformats.org/markup-compatibility/2006">
              <mc:Choice xmlns:v="urn:schemas-microsoft-com:vml" Requires="v">
                <p:oleObj spid="_x0000_s4097" name="Equation" r:id="rId1" imgW="89306400" imgH="12192000" progId="Equation.DSMT4">
                  <p:embed/>
                </p:oleObj>
              </mc:Choice>
              <mc:Fallback>
                <p:oleObj name="Equation" r:id="rId1" imgW="89306400" imgH="12192000" progId="Equation.DSMT4">
                  <p:embed/>
                  <p:pic>
                    <p:nvPicPr>
                      <p:cNvPr id="0" name="Object 6" descr="image22"/>
                      <p:cNvPicPr>
                        <a:picLocks noChangeAspect="1"/>
                      </p:cNvPicPr>
                      <p:nvPr/>
                    </p:nvPicPr>
                    <p:blipFill>
                      <a:blip r:embed="rId2"/>
                      <a:stretch>
                        <a:fillRect/>
                      </a:stretch>
                    </p:blipFill>
                    <p:spPr>
                      <a:xfrm>
                        <a:off x="1649413" y="4884738"/>
                        <a:ext cx="7453312" cy="1038225"/>
                      </a:xfrm>
                      <a:prstGeom prst="rect">
                        <a:avLst/>
                      </a:prstGeom>
                      <a:noFill/>
                      <a:ln w="9525">
                        <a:noFill/>
                      </a:ln>
                    </p:spPr>
                  </p:pic>
                </p:oleObj>
              </mc:Fallback>
            </mc:AlternateContent>
          </a:graphicData>
        </a:graphic>
      </p:graphicFrame>
      <p:graphicFrame>
        <p:nvGraphicFramePr>
          <p:cNvPr id="1421320" name="Object 8"/>
          <p:cNvGraphicFramePr>
            <a:graphicFrameLocks noChangeAspect="1"/>
          </p:cNvGraphicFramePr>
          <p:nvPr/>
        </p:nvGraphicFramePr>
        <p:xfrm>
          <a:off x="1004888" y="2341563"/>
          <a:ext cx="8066087" cy="1065212"/>
        </p:xfrm>
        <a:graphic>
          <a:graphicData uri="http://schemas.openxmlformats.org/presentationml/2006/ole">
            <mc:AlternateContent xmlns:mc="http://schemas.openxmlformats.org/markup-compatibility/2006">
              <mc:Choice xmlns:v="urn:schemas-microsoft-com:vml" Requires="v">
                <p:oleObj spid="_x0000_s4098" name="Equation" r:id="rId3" imgW="92354400" imgH="12192000" progId="Equation.DSMT4">
                  <p:embed/>
                </p:oleObj>
              </mc:Choice>
              <mc:Fallback>
                <p:oleObj name="Equation" r:id="rId3" imgW="92354400" imgH="12192000" progId="Equation.DSMT4">
                  <p:embed/>
                  <p:pic>
                    <p:nvPicPr>
                      <p:cNvPr id="0" name="Object 8" descr="image23"/>
                      <p:cNvPicPr>
                        <a:picLocks noChangeAspect="1"/>
                      </p:cNvPicPr>
                      <p:nvPr/>
                    </p:nvPicPr>
                    <p:blipFill>
                      <a:blip r:embed="rId4"/>
                      <a:stretch>
                        <a:fillRect/>
                      </a:stretch>
                    </p:blipFill>
                    <p:spPr>
                      <a:xfrm>
                        <a:off x="1004888" y="2341563"/>
                        <a:ext cx="8066087" cy="1065212"/>
                      </a:xfrm>
                      <a:prstGeom prst="rect">
                        <a:avLst/>
                      </a:prstGeom>
                      <a:noFill/>
                      <a:ln w="9525">
                        <a:noFill/>
                      </a:ln>
                    </p:spPr>
                  </p:pic>
                </p:oleObj>
              </mc:Fallback>
            </mc:AlternateContent>
          </a:graphicData>
        </a:graphic>
      </p:graphicFrame>
      <p:sp>
        <p:nvSpPr>
          <p:cNvPr id="1421321" name="AutoShape 9"/>
          <p:cNvSpPr>
            <a:spLocks noChangeArrowheads="1"/>
          </p:cNvSpPr>
          <p:nvPr/>
        </p:nvSpPr>
        <p:spPr bwMode="auto">
          <a:xfrm>
            <a:off x="314224" y="3294103"/>
            <a:ext cx="2203552" cy="549261"/>
          </a:xfrm>
          <a:prstGeom prst="wedgeRectCallout">
            <a:avLst>
              <a:gd name="adj1" fmla="val -11154"/>
              <a:gd name="adj2" fmla="val -78711"/>
            </a:avLst>
          </a:prstGeom>
          <a:solidFill>
            <a:srgbClr val="FFFF66"/>
          </a:solidFill>
          <a:ln w="12700" algn="ctr">
            <a:solidFill>
              <a:srgbClr val="003300"/>
            </a:solidFill>
            <a:miter lim="800000"/>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latin typeface="+mn-ea"/>
                <a:ea typeface="+mn-ea"/>
              </a:rPr>
              <a:t>即</a:t>
            </a:r>
            <a:r>
              <a:rPr lang="en-US" altLang="zh-CN" sz="2400" dirty="0" err="1">
                <a:solidFill>
                  <a:srgbClr val="FF0000"/>
                </a:solidFill>
                <a:latin typeface="+mn-ea"/>
                <a:ea typeface="+mn-ea"/>
              </a:rPr>
              <a:t>c</a:t>
            </a:r>
            <a:r>
              <a:rPr lang="en-US" altLang="zh-CN" sz="2400" baseline="-25000" dirty="0" err="1">
                <a:solidFill>
                  <a:srgbClr val="FF0000"/>
                </a:solidFill>
                <a:latin typeface="+mn-ea"/>
                <a:ea typeface="+mn-ea"/>
              </a:rPr>
              <a:t>ij</a:t>
            </a:r>
            <a:r>
              <a:rPr lang="en-US" altLang="zh-CN" sz="2400" baseline="-25000" dirty="0">
                <a:solidFill>
                  <a:srgbClr val="FF0000"/>
                </a:solidFill>
                <a:latin typeface="+mn-ea"/>
                <a:ea typeface="+mn-ea"/>
              </a:rPr>
              <a:t> </a:t>
            </a:r>
            <a:r>
              <a:rPr lang="en-US" altLang="zh-CN" sz="2400" dirty="0">
                <a:solidFill>
                  <a:srgbClr val="FF0000"/>
                </a:solidFill>
                <a:latin typeface="+mn-ea"/>
                <a:ea typeface="+mn-ea"/>
              </a:rPr>
              <a:t>= </a:t>
            </a:r>
            <a:r>
              <a:rPr lang="en-US" altLang="zh-CN" sz="2400" dirty="0" err="1">
                <a:solidFill>
                  <a:srgbClr val="FF0000"/>
                </a:solidFill>
                <a:latin typeface="+mn-ea"/>
                <a:ea typeface="+mn-ea"/>
              </a:rPr>
              <a:t>a</a:t>
            </a:r>
            <a:r>
              <a:rPr lang="en-US" altLang="zh-CN" sz="2400" baseline="-25000" dirty="0" err="1">
                <a:solidFill>
                  <a:srgbClr val="FF0000"/>
                </a:solidFill>
                <a:latin typeface="+mn-ea"/>
                <a:ea typeface="+mn-ea"/>
              </a:rPr>
              <a:t>ij</a:t>
            </a:r>
            <a:r>
              <a:rPr lang="en-US" altLang="zh-CN" sz="2400" dirty="0" err="1">
                <a:solidFill>
                  <a:srgbClr val="0000FF"/>
                </a:solidFill>
                <a:latin typeface="+mn-ea"/>
                <a:ea typeface="+mn-ea"/>
              </a:rPr>
              <a:t>∨</a:t>
            </a:r>
            <a:r>
              <a:rPr lang="en-US" altLang="zh-CN" sz="2400" dirty="0" err="1">
                <a:solidFill>
                  <a:srgbClr val="FF0000"/>
                </a:solidFill>
                <a:latin typeface="+mn-ea"/>
                <a:ea typeface="+mn-ea"/>
              </a:rPr>
              <a:t>b</a:t>
            </a:r>
            <a:r>
              <a:rPr lang="en-US" altLang="zh-CN" sz="2400" baseline="-25000" dirty="0" err="1">
                <a:solidFill>
                  <a:srgbClr val="FF0000"/>
                </a:solidFill>
                <a:latin typeface="+mn-ea"/>
                <a:ea typeface="+mn-ea"/>
              </a:rPr>
              <a:t>ij</a:t>
            </a:r>
            <a:r>
              <a:rPr lang="en-US" altLang="zh-CN" sz="2400" dirty="0">
                <a:solidFill>
                  <a:srgbClr val="FF0000"/>
                </a:solidFill>
                <a:latin typeface="+mn-ea"/>
                <a:ea typeface="+mn-ea"/>
              </a:rPr>
              <a:t> </a:t>
            </a:r>
            <a:endParaRPr lang="en-US" altLang="zh-CN" sz="2400" dirty="0">
              <a:solidFill>
                <a:srgbClr val="FF0000"/>
              </a:solidFill>
              <a:latin typeface="+mn-ea"/>
              <a:ea typeface="+mn-ea"/>
            </a:endParaRPr>
          </a:p>
        </p:txBody>
      </p:sp>
      <p:sp>
        <p:nvSpPr>
          <p:cNvPr id="1421322" name="AutoShape 10"/>
          <p:cNvSpPr>
            <a:spLocks noChangeArrowheads="1"/>
          </p:cNvSpPr>
          <p:nvPr/>
        </p:nvSpPr>
        <p:spPr bwMode="auto">
          <a:xfrm>
            <a:off x="333728" y="5884523"/>
            <a:ext cx="2184048" cy="652614"/>
          </a:xfrm>
          <a:prstGeom prst="wedgeRectCallout">
            <a:avLst>
              <a:gd name="adj1" fmla="val 14493"/>
              <a:gd name="adj2" fmla="val -108461"/>
            </a:avLst>
          </a:prstGeom>
          <a:solidFill>
            <a:srgbClr val="FFFF66"/>
          </a:solidFill>
          <a:ln w="12700" algn="ctr">
            <a:solidFill>
              <a:srgbClr val="003300"/>
            </a:solidFill>
            <a:miter lim="800000"/>
          </a:ln>
        </p:spPr>
        <p:txBody>
          <a:bodyPr t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latin typeface="+mn-ea"/>
                <a:ea typeface="+mn-ea"/>
              </a:rPr>
              <a:t>即</a:t>
            </a:r>
            <a:r>
              <a:rPr lang="en-US" altLang="zh-CN" sz="2400" dirty="0" err="1">
                <a:solidFill>
                  <a:srgbClr val="FF0000"/>
                </a:solidFill>
                <a:latin typeface="+mn-ea"/>
                <a:ea typeface="+mn-ea"/>
              </a:rPr>
              <a:t>d</a:t>
            </a:r>
            <a:r>
              <a:rPr lang="en-US" altLang="zh-CN" sz="2400" baseline="-25000" dirty="0" err="1">
                <a:solidFill>
                  <a:srgbClr val="FF0000"/>
                </a:solidFill>
                <a:latin typeface="+mn-ea"/>
                <a:ea typeface="+mn-ea"/>
              </a:rPr>
              <a:t>ij</a:t>
            </a:r>
            <a:r>
              <a:rPr lang="en-US" altLang="zh-CN" sz="2400" baseline="-25000" dirty="0">
                <a:solidFill>
                  <a:srgbClr val="FF0000"/>
                </a:solidFill>
                <a:latin typeface="+mn-ea"/>
                <a:ea typeface="+mn-ea"/>
              </a:rPr>
              <a:t> </a:t>
            </a:r>
            <a:r>
              <a:rPr lang="en-US" altLang="zh-CN" sz="2400" dirty="0">
                <a:solidFill>
                  <a:srgbClr val="FF0000"/>
                </a:solidFill>
                <a:latin typeface="+mn-ea"/>
                <a:ea typeface="+mn-ea"/>
              </a:rPr>
              <a:t>= </a:t>
            </a:r>
            <a:r>
              <a:rPr lang="en-US" altLang="zh-CN" sz="2400" dirty="0" err="1">
                <a:solidFill>
                  <a:srgbClr val="FF0000"/>
                </a:solidFill>
                <a:latin typeface="+mn-ea"/>
                <a:ea typeface="+mn-ea"/>
              </a:rPr>
              <a:t>a</a:t>
            </a:r>
            <a:r>
              <a:rPr lang="en-US" altLang="zh-CN" sz="2400" baseline="-25000" dirty="0" err="1">
                <a:solidFill>
                  <a:srgbClr val="FF0000"/>
                </a:solidFill>
                <a:latin typeface="+mn-ea"/>
                <a:ea typeface="+mn-ea"/>
              </a:rPr>
              <a:t>ij</a:t>
            </a:r>
            <a:r>
              <a:rPr lang="en-US" altLang="zh-CN" sz="2400" dirty="0" err="1">
                <a:solidFill>
                  <a:srgbClr val="0000FF"/>
                </a:solidFill>
                <a:latin typeface="+mn-ea"/>
                <a:ea typeface="+mn-ea"/>
              </a:rPr>
              <a:t>∧</a:t>
            </a:r>
            <a:r>
              <a:rPr lang="en-US" altLang="zh-CN" sz="2400" dirty="0" err="1">
                <a:solidFill>
                  <a:srgbClr val="FF0000"/>
                </a:solidFill>
                <a:latin typeface="+mn-ea"/>
                <a:ea typeface="+mn-ea"/>
              </a:rPr>
              <a:t>b</a:t>
            </a:r>
            <a:r>
              <a:rPr lang="en-US" altLang="zh-CN" sz="2400" baseline="-25000" dirty="0" err="1">
                <a:solidFill>
                  <a:srgbClr val="FF0000"/>
                </a:solidFill>
                <a:latin typeface="+mn-ea"/>
                <a:ea typeface="+mn-ea"/>
              </a:rPr>
              <a:t>ij</a:t>
            </a:r>
            <a:r>
              <a:rPr lang="en-US" altLang="zh-CN" sz="2400" dirty="0">
                <a:solidFill>
                  <a:srgbClr val="FF0000"/>
                </a:solidFill>
                <a:latin typeface="+mn-ea"/>
                <a:ea typeface="+mn-ea"/>
              </a:rPr>
              <a:t> </a:t>
            </a:r>
            <a:endParaRPr lang="en-US" altLang="zh-CN" sz="2400" dirty="0">
              <a:solidFill>
                <a:srgbClr val="FF0000"/>
              </a:solidFill>
              <a:latin typeface="+mn-ea"/>
              <a:ea typeface="+mn-ea"/>
            </a:endParaRPr>
          </a:p>
        </p:txBody>
      </p:sp>
    </p:spTree>
    <p:custDataLst>
      <p:tags r:id="rId5"/>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21320"/>
                                        </p:tgtEl>
                                        <p:attrNameLst>
                                          <p:attrName>style.visibility</p:attrName>
                                        </p:attrNameLst>
                                      </p:cBhvr>
                                      <p:to>
                                        <p:strVal val="visible"/>
                                      </p:to>
                                    </p:set>
                                    <p:anim calcmode="lin" valueType="num">
                                      <p:cBhvr additive="base">
                                        <p:cTn id="7" dur="500" fill="hold"/>
                                        <p:tgtEl>
                                          <p:spTgt spid="1421320"/>
                                        </p:tgtEl>
                                        <p:attrNameLst>
                                          <p:attrName>ppt_x</p:attrName>
                                        </p:attrNameLst>
                                      </p:cBhvr>
                                      <p:tavLst>
                                        <p:tav tm="0">
                                          <p:val>
                                            <p:strVal val="#ppt_x"/>
                                          </p:val>
                                        </p:tav>
                                        <p:tav tm="100000">
                                          <p:val>
                                            <p:strVal val="#ppt_x"/>
                                          </p:val>
                                        </p:tav>
                                      </p:tavLst>
                                    </p:anim>
                                    <p:anim calcmode="lin" valueType="num">
                                      <p:cBhvr additive="base">
                                        <p:cTn id="8" dur="500" fill="hold"/>
                                        <p:tgtEl>
                                          <p:spTgt spid="14213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1321"/>
                                        </p:tgtEl>
                                        <p:attrNameLst>
                                          <p:attrName>style.visibility</p:attrName>
                                        </p:attrNameLst>
                                      </p:cBhvr>
                                      <p:to>
                                        <p:strVal val="visible"/>
                                      </p:to>
                                    </p:set>
                                    <p:anim calcmode="lin" valueType="num">
                                      <p:cBhvr additive="base">
                                        <p:cTn id="13" dur="500" fill="hold"/>
                                        <p:tgtEl>
                                          <p:spTgt spid="1421321"/>
                                        </p:tgtEl>
                                        <p:attrNameLst>
                                          <p:attrName>ppt_x</p:attrName>
                                        </p:attrNameLst>
                                      </p:cBhvr>
                                      <p:tavLst>
                                        <p:tav tm="0">
                                          <p:val>
                                            <p:strVal val="#ppt_x"/>
                                          </p:val>
                                        </p:tav>
                                        <p:tav tm="100000">
                                          <p:val>
                                            <p:strVal val="#ppt_x"/>
                                          </p:val>
                                        </p:tav>
                                      </p:tavLst>
                                    </p:anim>
                                    <p:anim calcmode="lin" valueType="num">
                                      <p:cBhvr additive="base">
                                        <p:cTn id="14" dur="500" fill="hold"/>
                                        <p:tgtEl>
                                          <p:spTgt spid="14213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5" presetClass="exit" presetSubtype="0" fill="hold" grpId="1" nodeType="clickEffect">
                                  <p:stCondLst>
                                    <p:cond delay="0"/>
                                  </p:stCondLst>
                                  <p:childTnLst>
                                    <p:animEffect transition="out" filter="fade">
                                      <p:cBhvr>
                                        <p:cTn id="18" dur="1000" accel="50000">
                                          <p:stCondLst>
                                            <p:cond delay="0"/>
                                          </p:stCondLst>
                                        </p:cTn>
                                        <p:tgtEl>
                                          <p:spTgt spid="1421321"/>
                                        </p:tgtEl>
                                      </p:cBhvr>
                                    </p:animEffect>
                                    <p:anim calcmode="lin" valueType="num">
                                      <p:cBhvr>
                                        <p:cTn id="19" dur="500" accel="50000">
                                          <p:stCondLst>
                                            <p:cond delay="0"/>
                                          </p:stCondLst>
                                        </p:cTn>
                                        <p:tgtEl>
                                          <p:spTgt spid="1421321"/>
                                        </p:tgtEl>
                                        <p:attrNameLst>
                                          <p:attrName>ppt_y</p:attrName>
                                        </p:attrNameLst>
                                      </p:cBhvr>
                                      <p:tavLst>
                                        <p:tav tm="0">
                                          <p:val>
                                            <p:strVal val="ppt_y"/>
                                          </p:val>
                                        </p:tav>
                                        <p:tav tm="100000">
                                          <p:val>
                                            <p:strVal val="ppt_y+.1"/>
                                          </p:val>
                                        </p:tav>
                                      </p:tavLst>
                                    </p:anim>
                                    <p:anim calcmode="lin" valueType="num">
                                      <p:cBhvr>
                                        <p:cTn id="20" dur="500" decel="50000">
                                          <p:stCondLst>
                                            <p:cond delay="500"/>
                                          </p:stCondLst>
                                        </p:cTn>
                                        <p:tgtEl>
                                          <p:spTgt spid="1421321"/>
                                        </p:tgtEl>
                                        <p:attrNameLst>
                                          <p:attrName>ppt_y</p:attrName>
                                        </p:attrNameLst>
                                      </p:cBhvr>
                                      <p:tavLst>
                                        <p:tav tm="0">
                                          <p:val>
                                            <p:strVal val="ppt_y"/>
                                          </p:val>
                                        </p:tav>
                                        <p:tav tm="100000">
                                          <p:val>
                                            <p:strVal val="ppt_y-.1"/>
                                          </p:val>
                                        </p:tav>
                                      </p:tavLst>
                                    </p:anim>
                                    <p:anim calcmode="lin" valueType="num">
                                      <p:cBhvr>
                                        <p:cTn id="21" dur="500" accel="50000">
                                          <p:stCondLst>
                                            <p:cond delay="500"/>
                                          </p:stCondLst>
                                        </p:cTn>
                                        <p:tgtEl>
                                          <p:spTgt spid="1421321"/>
                                        </p:tgtEl>
                                        <p:attrNameLst>
                                          <p:attrName>ppt_x</p:attrName>
                                        </p:attrNameLst>
                                      </p:cBhvr>
                                      <p:tavLst>
                                        <p:tav tm="0">
                                          <p:val>
                                            <p:strVal val="ppt_x"/>
                                          </p:val>
                                        </p:tav>
                                        <p:tav tm="100000">
                                          <p:val>
                                            <p:strVal val="ppt_x+.4"/>
                                          </p:val>
                                        </p:tav>
                                      </p:tavLst>
                                    </p:anim>
                                    <p:anim calcmode="lin" valueType="num">
                                      <p:cBhvr>
                                        <p:cTn id="22" dur="1000"/>
                                        <p:tgtEl>
                                          <p:spTgt spid="1421321"/>
                                        </p:tgtEl>
                                        <p:attrNameLst>
                                          <p:attrName>ppt_h</p:attrName>
                                        </p:attrNameLst>
                                      </p:cBhvr>
                                      <p:tavLst>
                                        <p:tav tm="0">
                                          <p:val>
                                            <p:strVal val="ppt_h"/>
                                          </p:val>
                                        </p:tav>
                                        <p:tav tm="100000">
                                          <p:val>
                                            <p:strVal val="ppt_h"/>
                                          </p:val>
                                        </p:tav>
                                      </p:tavLst>
                                    </p:anim>
                                    <p:anim calcmode="lin" valueType="num">
                                      <p:cBhvr>
                                        <p:cTn id="23" dur="500" accel="50000">
                                          <p:stCondLst>
                                            <p:cond delay="0"/>
                                          </p:stCondLst>
                                        </p:cTn>
                                        <p:tgtEl>
                                          <p:spTgt spid="1421321"/>
                                        </p:tgtEl>
                                        <p:attrNameLst>
                                          <p:attrName>ppt_w</p:attrName>
                                        </p:attrNameLst>
                                      </p:cBhvr>
                                      <p:tavLst>
                                        <p:tav tm="0">
                                          <p:val>
                                            <p:strVal val="ppt_w"/>
                                          </p:val>
                                        </p:tav>
                                        <p:tav tm="100000">
                                          <p:val>
                                            <p:strVal val="ppt_w*.05"/>
                                          </p:val>
                                        </p:tav>
                                      </p:tavLst>
                                    </p:anim>
                                    <p:anim calcmode="lin" valueType="num">
                                      <p:cBhvr>
                                        <p:cTn id="24" dur="500" decel="50000">
                                          <p:stCondLst>
                                            <p:cond delay="500"/>
                                          </p:stCondLst>
                                        </p:cTn>
                                        <p:tgtEl>
                                          <p:spTgt spid="1421321"/>
                                        </p:tgtEl>
                                        <p:attrNameLst>
                                          <p:attrName>ppt_w</p:attrName>
                                        </p:attrNameLst>
                                      </p:cBhvr>
                                      <p:tavLst>
                                        <p:tav tm="0">
                                          <p:val>
                                            <p:strVal val="ppt_w"/>
                                          </p:val>
                                        </p:tav>
                                        <p:tav tm="100000">
                                          <p:val>
                                            <p:strVal val="ppt_w/.05"/>
                                          </p:val>
                                        </p:tav>
                                      </p:tavLst>
                                    </p:anim>
                                    <p:anim calcmode="lin" valueType="num">
                                      <p:cBhvr>
                                        <p:cTn id="25" dur="500" accel="50000">
                                          <p:stCondLst>
                                            <p:cond delay="500"/>
                                          </p:stCondLst>
                                        </p:cTn>
                                        <p:tgtEl>
                                          <p:spTgt spid="1421321"/>
                                        </p:tgtEl>
                                        <p:attrNameLst>
                                          <p:attrName>style.rotation</p:attrName>
                                        </p:attrNameLst>
                                      </p:cBhvr>
                                      <p:tavLst>
                                        <p:tav tm="0">
                                          <p:val>
                                            <p:fltVal val="0"/>
                                          </p:val>
                                        </p:tav>
                                        <p:tav tm="100000">
                                          <p:val>
                                            <p:fltVal val="-90"/>
                                          </p:val>
                                        </p:tav>
                                      </p:tavLst>
                                    </p:anim>
                                    <p:set>
                                      <p:cBhvr>
                                        <p:cTn id="26" dur="1" fill="hold">
                                          <p:stCondLst>
                                            <p:cond delay="999"/>
                                          </p:stCondLst>
                                        </p:cTn>
                                        <p:tgtEl>
                                          <p:spTgt spid="1421321"/>
                                        </p:tgtEl>
                                        <p:attrNameLst>
                                          <p:attrName>style.visibility</p:attrName>
                                        </p:attrNameLst>
                                      </p:cBhvr>
                                      <p:to>
                                        <p:strVal val="hidden"/>
                                      </p:to>
                                    </p:set>
                                  </p:childTnLst>
                                </p:cTn>
                              </p:par>
                            </p:childTnLst>
                          </p:cTn>
                        </p:par>
                        <p:par>
                          <p:cTn id="27" fill="hold">
                            <p:stCondLst>
                              <p:cond delay="1000"/>
                            </p:stCondLst>
                            <p:childTnLst>
                              <p:par>
                                <p:cTn id="28" presetID="2" presetClass="entr" presetSubtype="4" fill="hold" grpId="0" nodeType="afterEffect">
                                  <p:stCondLst>
                                    <p:cond delay="0"/>
                                  </p:stCondLst>
                                  <p:childTnLst>
                                    <p:set>
                                      <p:cBhvr>
                                        <p:cTn id="29" dur="1" fill="hold">
                                          <p:stCondLst>
                                            <p:cond delay="0"/>
                                          </p:stCondLst>
                                        </p:cTn>
                                        <p:tgtEl>
                                          <p:spTgt spid="1421317"/>
                                        </p:tgtEl>
                                        <p:attrNameLst>
                                          <p:attrName>style.visibility</p:attrName>
                                        </p:attrNameLst>
                                      </p:cBhvr>
                                      <p:to>
                                        <p:strVal val="visible"/>
                                      </p:to>
                                    </p:set>
                                    <p:anim calcmode="lin" valueType="num">
                                      <p:cBhvr additive="base">
                                        <p:cTn id="30" dur="500" fill="hold"/>
                                        <p:tgtEl>
                                          <p:spTgt spid="1421317"/>
                                        </p:tgtEl>
                                        <p:attrNameLst>
                                          <p:attrName>ppt_x</p:attrName>
                                        </p:attrNameLst>
                                      </p:cBhvr>
                                      <p:tavLst>
                                        <p:tav tm="0">
                                          <p:val>
                                            <p:strVal val="#ppt_x"/>
                                          </p:val>
                                        </p:tav>
                                        <p:tav tm="100000">
                                          <p:val>
                                            <p:strVal val="#ppt_x"/>
                                          </p:val>
                                        </p:tav>
                                      </p:tavLst>
                                    </p:anim>
                                    <p:anim calcmode="lin" valueType="num">
                                      <p:cBhvr additive="base">
                                        <p:cTn id="31" dur="500" fill="hold"/>
                                        <p:tgtEl>
                                          <p:spTgt spid="1421317"/>
                                        </p:tgtEl>
                                        <p:attrNameLst>
                                          <p:attrName>ppt_y</p:attrName>
                                        </p:attrNameLst>
                                      </p:cBhvr>
                                      <p:tavLst>
                                        <p:tav tm="0">
                                          <p:val>
                                            <p:strVal val="1+#ppt_h/2"/>
                                          </p:val>
                                        </p:tav>
                                        <p:tav tm="100000">
                                          <p:val>
                                            <p:strVal val="#ppt_y"/>
                                          </p:val>
                                        </p:tav>
                                      </p:tavLst>
                                    </p:anim>
                                  </p:childTnLst>
                                </p:cTn>
                              </p:par>
                            </p:childTnLst>
                          </p:cTn>
                        </p:par>
                        <p:par>
                          <p:cTn id="32" fill="hold">
                            <p:stCondLst>
                              <p:cond delay="1500"/>
                            </p:stCondLst>
                            <p:childTnLst>
                              <p:par>
                                <p:cTn id="33" presetID="2" presetClass="entr" presetSubtype="4" fill="hold" nodeType="afterEffect">
                                  <p:stCondLst>
                                    <p:cond delay="0"/>
                                  </p:stCondLst>
                                  <p:childTnLst>
                                    <p:set>
                                      <p:cBhvr>
                                        <p:cTn id="34" dur="1" fill="hold">
                                          <p:stCondLst>
                                            <p:cond delay="0"/>
                                          </p:stCondLst>
                                        </p:cTn>
                                        <p:tgtEl>
                                          <p:spTgt spid="1421318"/>
                                        </p:tgtEl>
                                        <p:attrNameLst>
                                          <p:attrName>style.visibility</p:attrName>
                                        </p:attrNameLst>
                                      </p:cBhvr>
                                      <p:to>
                                        <p:strVal val="visible"/>
                                      </p:to>
                                    </p:set>
                                    <p:anim calcmode="lin" valueType="num">
                                      <p:cBhvr additive="base">
                                        <p:cTn id="35" dur="500" fill="hold"/>
                                        <p:tgtEl>
                                          <p:spTgt spid="1421318"/>
                                        </p:tgtEl>
                                        <p:attrNameLst>
                                          <p:attrName>ppt_x</p:attrName>
                                        </p:attrNameLst>
                                      </p:cBhvr>
                                      <p:tavLst>
                                        <p:tav tm="0">
                                          <p:val>
                                            <p:strVal val="#ppt_x"/>
                                          </p:val>
                                        </p:tav>
                                        <p:tav tm="100000">
                                          <p:val>
                                            <p:strVal val="#ppt_x"/>
                                          </p:val>
                                        </p:tav>
                                      </p:tavLst>
                                    </p:anim>
                                    <p:anim calcmode="lin" valueType="num">
                                      <p:cBhvr additive="base">
                                        <p:cTn id="36" dur="500" fill="hold"/>
                                        <p:tgtEl>
                                          <p:spTgt spid="142131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21322"/>
                                        </p:tgtEl>
                                        <p:attrNameLst>
                                          <p:attrName>style.visibility</p:attrName>
                                        </p:attrNameLst>
                                      </p:cBhvr>
                                      <p:to>
                                        <p:strVal val="visible"/>
                                      </p:to>
                                    </p:set>
                                    <p:anim calcmode="lin" valueType="num">
                                      <p:cBhvr additive="base">
                                        <p:cTn id="41" dur="500" fill="hold"/>
                                        <p:tgtEl>
                                          <p:spTgt spid="1421322"/>
                                        </p:tgtEl>
                                        <p:attrNameLst>
                                          <p:attrName>ppt_x</p:attrName>
                                        </p:attrNameLst>
                                      </p:cBhvr>
                                      <p:tavLst>
                                        <p:tav tm="0">
                                          <p:val>
                                            <p:strVal val="#ppt_x"/>
                                          </p:val>
                                        </p:tav>
                                        <p:tav tm="100000">
                                          <p:val>
                                            <p:strVal val="#ppt_x"/>
                                          </p:val>
                                        </p:tav>
                                      </p:tavLst>
                                    </p:anim>
                                    <p:anim calcmode="lin" valueType="num">
                                      <p:cBhvr additive="base">
                                        <p:cTn id="42" dur="500" fill="hold"/>
                                        <p:tgtEl>
                                          <p:spTgt spid="142132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5" presetClass="exit" presetSubtype="0" fill="hold" grpId="1" nodeType="clickEffect">
                                  <p:stCondLst>
                                    <p:cond delay="0"/>
                                  </p:stCondLst>
                                  <p:childTnLst>
                                    <p:animEffect transition="out" filter="fade">
                                      <p:cBhvr>
                                        <p:cTn id="46" dur="1000" accel="50000">
                                          <p:stCondLst>
                                            <p:cond delay="0"/>
                                          </p:stCondLst>
                                        </p:cTn>
                                        <p:tgtEl>
                                          <p:spTgt spid="1421322"/>
                                        </p:tgtEl>
                                      </p:cBhvr>
                                    </p:animEffect>
                                    <p:anim calcmode="lin" valueType="num">
                                      <p:cBhvr>
                                        <p:cTn id="47" dur="500" accel="50000">
                                          <p:stCondLst>
                                            <p:cond delay="0"/>
                                          </p:stCondLst>
                                        </p:cTn>
                                        <p:tgtEl>
                                          <p:spTgt spid="1421322"/>
                                        </p:tgtEl>
                                        <p:attrNameLst>
                                          <p:attrName>ppt_y</p:attrName>
                                        </p:attrNameLst>
                                      </p:cBhvr>
                                      <p:tavLst>
                                        <p:tav tm="0">
                                          <p:val>
                                            <p:strVal val="ppt_y"/>
                                          </p:val>
                                        </p:tav>
                                        <p:tav tm="100000">
                                          <p:val>
                                            <p:strVal val="ppt_y+.1"/>
                                          </p:val>
                                        </p:tav>
                                      </p:tavLst>
                                    </p:anim>
                                    <p:anim calcmode="lin" valueType="num">
                                      <p:cBhvr>
                                        <p:cTn id="48" dur="500" decel="50000">
                                          <p:stCondLst>
                                            <p:cond delay="500"/>
                                          </p:stCondLst>
                                        </p:cTn>
                                        <p:tgtEl>
                                          <p:spTgt spid="1421322"/>
                                        </p:tgtEl>
                                        <p:attrNameLst>
                                          <p:attrName>ppt_y</p:attrName>
                                        </p:attrNameLst>
                                      </p:cBhvr>
                                      <p:tavLst>
                                        <p:tav tm="0">
                                          <p:val>
                                            <p:strVal val="ppt_y"/>
                                          </p:val>
                                        </p:tav>
                                        <p:tav tm="100000">
                                          <p:val>
                                            <p:strVal val="ppt_y-.1"/>
                                          </p:val>
                                        </p:tav>
                                      </p:tavLst>
                                    </p:anim>
                                    <p:anim calcmode="lin" valueType="num">
                                      <p:cBhvr>
                                        <p:cTn id="49" dur="500" accel="50000">
                                          <p:stCondLst>
                                            <p:cond delay="500"/>
                                          </p:stCondLst>
                                        </p:cTn>
                                        <p:tgtEl>
                                          <p:spTgt spid="1421322"/>
                                        </p:tgtEl>
                                        <p:attrNameLst>
                                          <p:attrName>ppt_x</p:attrName>
                                        </p:attrNameLst>
                                      </p:cBhvr>
                                      <p:tavLst>
                                        <p:tav tm="0">
                                          <p:val>
                                            <p:strVal val="ppt_x"/>
                                          </p:val>
                                        </p:tav>
                                        <p:tav tm="100000">
                                          <p:val>
                                            <p:strVal val="ppt_x+.4"/>
                                          </p:val>
                                        </p:tav>
                                      </p:tavLst>
                                    </p:anim>
                                    <p:anim calcmode="lin" valueType="num">
                                      <p:cBhvr>
                                        <p:cTn id="50" dur="1000"/>
                                        <p:tgtEl>
                                          <p:spTgt spid="1421322"/>
                                        </p:tgtEl>
                                        <p:attrNameLst>
                                          <p:attrName>ppt_h</p:attrName>
                                        </p:attrNameLst>
                                      </p:cBhvr>
                                      <p:tavLst>
                                        <p:tav tm="0">
                                          <p:val>
                                            <p:strVal val="ppt_h"/>
                                          </p:val>
                                        </p:tav>
                                        <p:tav tm="100000">
                                          <p:val>
                                            <p:strVal val="ppt_h"/>
                                          </p:val>
                                        </p:tav>
                                      </p:tavLst>
                                    </p:anim>
                                    <p:anim calcmode="lin" valueType="num">
                                      <p:cBhvr>
                                        <p:cTn id="51" dur="500" accel="50000">
                                          <p:stCondLst>
                                            <p:cond delay="0"/>
                                          </p:stCondLst>
                                        </p:cTn>
                                        <p:tgtEl>
                                          <p:spTgt spid="1421322"/>
                                        </p:tgtEl>
                                        <p:attrNameLst>
                                          <p:attrName>ppt_w</p:attrName>
                                        </p:attrNameLst>
                                      </p:cBhvr>
                                      <p:tavLst>
                                        <p:tav tm="0">
                                          <p:val>
                                            <p:strVal val="ppt_w"/>
                                          </p:val>
                                        </p:tav>
                                        <p:tav tm="100000">
                                          <p:val>
                                            <p:strVal val="ppt_w*.05"/>
                                          </p:val>
                                        </p:tav>
                                      </p:tavLst>
                                    </p:anim>
                                    <p:anim calcmode="lin" valueType="num">
                                      <p:cBhvr>
                                        <p:cTn id="52" dur="500" decel="50000">
                                          <p:stCondLst>
                                            <p:cond delay="500"/>
                                          </p:stCondLst>
                                        </p:cTn>
                                        <p:tgtEl>
                                          <p:spTgt spid="1421322"/>
                                        </p:tgtEl>
                                        <p:attrNameLst>
                                          <p:attrName>ppt_w</p:attrName>
                                        </p:attrNameLst>
                                      </p:cBhvr>
                                      <p:tavLst>
                                        <p:tav tm="0">
                                          <p:val>
                                            <p:strVal val="ppt_w"/>
                                          </p:val>
                                        </p:tav>
                                        <p:tav tm="100000">
                                          <p:val>
                                            <p:strVal val="ppt_w/.05"/>
                                          </p:val>
                                        </p:tav>
                                      </p:tavLst>
                                    </p:anim>
                                    <p:anim calcmode="lin" valueType="num">
                                      <p:cBhvr>
                                        <p:cTn id="53" dur="500" accel="50000">
                                          <p:stCondLst>
                                            <p:cond delay="500"/>
                                          </p:stCondLst>
                                        </p:cTn>
                                        <p:tgtEl>
                                          <p:spTgt spid="1421322"/>
                                        </p:tgtEl>
                                        <p:attrNameLst>
                                          <p:attrName>style.rotation</p:attrName>
                                        </p:attrNameLst>
                                      </p:cBhvr>
                                      <p:tavLst>
                                        <p:tav tm="0">
                                          <p:val>
                                            <p:fltVal val="0"/>
                                          </p:val>
                                        </p:tav>
                                        <p:tav tm="100000">
                                          <p:val>
                                            <p:fltVal val="-90"/>
                                          </p:val>
                                        </p:tav>
                                      </p:tavLst>
                                    </p:anim>
                                    <p:set>
                                      <p:cBhvr>
                                        <p:cTn id="54" dur="1" fill="hold">
                                          <p:stCondLst>
                                            <p:cond delay="999"/>
                                          </p:stCondLst>
                                        </p:cTn>
                                        <p:tgtEl>
                                          <p:spTgt spid="14213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1317" grpId="0"/>
      <p:bldP spid="1421321" grpId="0" animBg="1"/>
      <p:bldP spid="1421321" grpId="1" animBg="1"/>
      <p:bldP spid="1421322" grpId="0" animBg="1"/>
      <p:bldP spid="1421322"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eaLnBrk="1" hangingPunct="1"/>
            <a:r>
              <a:rPr lang="zh-CN" altLang="en-US" dirty="0"/>
              <a:t>例</a:t>
            </a:r>
            <a:r>
              <a:rPr lang="en-US" altLang="zh-CN" dirty="0"/>
              <a:t>4.12</a:t>
            </a:r>
            <a:endParaRPr lang="zh-CN" altLang="en-US" dirty="0"/>
          </a:p>
        </p:txBody>
      </p:sp>
      <p:sp>
        <p:nvSpPr>
          <p:cNvPr id="1425411" name="Rectangle 3"/>
          <p:cNvSpPr>
            <a:spLocks noGrp="1" noChangeArrowheads="1"/>
          </p:cNvSpPr>
          <p:nvPr>
            <p:ph type="body" idx="1"/>
          </p:nvPr>
        </p:nvSpPr>
        <p:spPr>
          <a:xfrm>
            <a:off x="460375" y="1143794"/>
            <a:ext cx="10439400" cy="4495800"/>
          </a:xfrm>
        </p:spPr>
        <p:txBody>
          <a:bodyPr>
            <a:normAutofit/>
          </a:bodyPr>
          <a:lstStyle/>
          <a:p>
            <a:pPr marL="0" indent="0">
              <a:buNone/>
            </a:pPr>
            <a:endParaRPr lang="zh-CN" altLang="en-US" dirty="0"/>
          </a:p>
          <a:p>
            <a:pPr marL="0" indent="0">
              <a:buNone/>
            </a:pPr>
            <a:r>
              <a:rPr lang="zh-CN" altLang="en-US" dirty="0">
                <a:solidFill>
                  <a:srgbClr val="C00000"/>
                </a:solidFill>
              </a:rPr>
              <a:t>例</a:t>
            </a:r>
            <a:r>
              <a:rPr lang="en-US" altLang="zh-CN" dirty="0">
                <a:solidFill>
                  <a:srgbClr val="C00000"/>
                </a:solidFill>
              </a:rPr>
              <a:t>4.12  </a:t>
            </a:r>
            <a:r>
              <a:rPr lang="zh-CN" altLang="en-US" dirty="0"/>
              <a:t>令                       、                         和                       。</a:t>
            </a:r>
            <a:endParaRPr lang="zh-CN" altLang="en-US" dirty="0"/>
          </a:p>
          <a:p>
            <a:pPr marL="0" indent="0">
              <a:buNone/>
            </a:pPr>
            <a:endParaRPr lang="zh-CN" altLang="en-US" dirty="0"/>
          </a:p>
          <a:p>
            <a:pPr marL="0" indent="0">
              <a:spcBef>
                <a:spcPct val="50000"/>
              </a:spcBef>
              <a:buNone/>
            </a:pPr>
            <a:r>
              <a:rPr lang="zh-CN" altLang="en-US" dirty="0">
                <a:solidFill>
                  <a:srgbClr val="C00000"/>
                </a:solidFill>
              </a:rPr>
              <a:t>计算</a:t>
            </a:r>
            <a:endParaRPr lang="zh-CN" altLang="en-US" dirty="0">
              <a:solidFill>
                <a:srgbClr val="C00000"/>
              </a:solidFill>
            </a:endParaRPr>
          </a:p>
          <a:p>
            <a:pPr marL="0" indent="0">
              <a:buNone/>
            </a:pPr>
            <a:endParaRPr lang="en-US" altLang="zh-CN" dirty="0">
              <a:solidFill>
                <a:srgbClr val="0000CC"/>
              </a:solidFill>
            </a:endParaRPr>
          </a:p>
          <a:p>
            <a:pPr marL="0" indent="0">
              <a:lnSpc>
                <a:spcPct val="150000"/>
              </a:lnSpc>
              <a:buNone/>
            </a:pPr>
            <a:r>
              <a:rPr lang="zh-CN" altLang="en-US" dirty="0">
                <a:solidFill>
                  <a:srgbClr val="0000CC"/>
                </a:solidFill>
              </a:rPr>
              <a:t>（</a:t>
            </a:r>
            <a:r>
              <a:rPr lang="en-US" altLang="zh-CN" dirty="0">
                <a:solidFill>
                  <a:srgbClr val="0000CC"/>
                </a:solidFill>
              </a:rPr>
              <a:t>1</a:t>
            </a:r>
            <a:r>
              <a:rPr lang="zh-CN" altLang="en-US" dirty="0">
                <a:solidFill>
                  <a:srgbClr val="0000CC"/>
                </a:solidFill>
              </a:rPr>
              <a:t>）</a:t>
            </a:r>
            <a:r>
              <a:rPr lang="en-US" altLang="zh-CN" dirty="0">
                <a:solidFill>
                  <a:srgbClr val="0000CC"/>
                </a:solidFill>
              </a:rPr>
              <a:t>A∨B</a:t>
            </a:r>
            <a:r>
              <a:rPr lang="zh-CN" altLang="en-US" dirty="0">
                <a:solidFill>
                  <a:srgbClr val="0000CC"/>
                </a:solidFill>
              </a:rPr>
              <a:t>；     </a:t>
            </a:r>
            <a:endParaRPr lang="en-US" altLang="zh-CN" dirty="0">
              <a:solidFill>
                <a:srgbClr val="0000CC"/>
              </a:solidFill>
            </a:endParaRPr>
          </a:p>
          <a:p>
            <a:pPr marL="0" indent="0">
              <a:lnSpc>
                <a:spcPct val="150000"/>
              </a:lnSpc>
              <a:buNone/>
            </a:pPr>
            <a:r>
              <a:rPr lang="zh-CN" altLang="en-US" dirty="0">
                <a:solidFill>
                  <a:srgbClr val="0000CC"/>
                </a:solidFill>
              </a:rPr>
              <a:t>（</a:t>
            </a:r>
            <a:r>
              <a:rPr lang="en-US" altLang="zh-CN" dirty="0">
                <a:solidFill>
                  <a:srgbClr val="0000CC"/>
                </a:solidFill>
              </a:rPr>
              <a:t>2</a:t>
            </a:r>
            <a:r>
              <a:rPr lang="zh-CN" altLang="en-US" dirty="0">
                <a:solidFill>
                  <a:srgbClr val="0000CC"/>
                </a:solidFill>
              </a:rPr>
              <a:t>）</a:t>
            </a:r>
            <a:r>
              <a:rPr lang="en-US" altLang="zh-CN" dirty="0">
                <a:solidFill>
                  <a:srgbClr val="0000CC"/>
                </a:solidFill>
              </a:rPr>
              <a:t>A∧B</a:t>
            </a:r>
            <a:r>
              <a:rPr lang="zh-CN" altLang="en-US" dirty="0">
                <a:solidFill>
                  <a:srgbClr val="0000CC"/>
                </a:solidFill>
              </a:rPr>
              <a:t>；    </a:t>
            </a:r>
            <a:endParaRPr lang="en-US" altLang="zh-CN" dirty="0">
              <a:solidFill>
                <a:srgbClr val="0000CC"/>
              </a:solidFill>
            </a:endParaRPr>
          </a:p>
          <a:p>
            <a:pPr marL="0" indent="0">
              <a:lnSpc>
                <a:spcPct val="150000"/>
              </a:lnSpc>
              <a:buNone/>
            </a:pPr>
            <a:endParaRPr lang="zh-CN" altLang="en-US" dirty="0">
              <a:solidFill>
                <a:srgbClr val="0000CC"/>
              </a:solidFill>
            </a:endParaRPr>
          </a:p>
        </p:txBody>
      </p:sp>
      <p:graphicFrame>
        <p:nvGraphicFramePr>
          <p:cNvPr id="1425413" name="Object 5"/>
          <p:cNvGraphicFramePr>
            <a:graphicFrameLocks noChangeAspect="1"/>
          </p:cNvGraphicFramePr>
          <p:nvPr/>
        </p:nvGraphicFramePr>
        <p:xfrm>
          <a:off x="2024971" y="1215346"/>
          <a:ext cx="2058987" cy="1370012"/>
        </p:xfrm>
        <a:graphic>
          <a:graphicData uri="http://schemas.openxmlformats.org/presentationml/2006/ole">
            <mc:AlternateContent xmlns:mc="http://schemas.openxmlformats.org/markup-compatibility/2006">
              <mc:Choice xmlns:v="urn:schemas-microsoft-com:vml" Requires="v">
                <p:oleObj spid="_x0000_s5121" name="Equation" r:id="rId1" imgW="19507200" imgH="13106400" progId="Equation.DSMT4">
                  <p:embed/>
                </p:oleObj>
              </mc:Choice>
              <mc:Fallback>
                <p:oleObj name="Equation" r:id="rId1" imgW="19507200" imgH="13106400" progId="Equation.DSMT4">
                  <p:embed/>
                  <p:pic>
                    <p:nvPicPr>
                      <p:cNvPr id="0" name="Object 5" descr="image25"/>
                      <p:cNvPicPr>
                        <a:picLocks noChangeAspect="1"/>
                      </p:cNvPicPr>
                      <p:nvPr/>
                    </p:nvPicPr>
                    <p:blipFill>
                      <a:blip r:embed="rId2"/>
                      <a:stretch>
                        <a:fillRect/>
                      </a:stretch>
                    </p:blipFill>
                    <p:spPr>
                      <a:xfrm>
                        <a:off x="2024971" y="1215346"/>
                        <a:ext cx="2058987" cy="1370012"/>
                      </a:xfrm>
                      <a:prstGeom prst="rect">
                        <a:avLst/>
                      </a:prstGeom>
                      <a:noFill/>
                      <a:ln w="9525">
                        <a:noFill/>
                      </a:ln>
                    </p:spPr>
                  </p:pic>
                </p:oleObj>
              </mc:Fallback>
            </mc:AlternateContent>
          </a:graphicData>
        </a:graphic>
      </p:graphicFrame>
      <p:graphicFrame>
        <p:nvGraphicFramePr>
          <p:cNvPr id="1425417" name="Object 9"/>
          <p:cNvGraphicFramePr>
            <a:graphicFrameLocks noChangeAspect="1"/>
          </p:cNvGraphicFramePr>
          <p:nvPr/>
        </p:nvGraphicFramePr>
        <p:xfrm>
          <a:off x="7097033" y="1019175"/>
          <a:ext cx="1797050" cy="1754187"/>
        </p:xfrm>
        <a:graphic>
          <a:graphicData uri="http://schemas.openxmlformats.org/presentationml/2006/ole">
            <mc:AlternateContent xmlns:mc="http://schemas.openxmlformats.org/markup-compatibility/2006">
              <mc:Choice xmlns:v="urn:schemas-microsoft-com:vml" Requires="v">
                <p:oleObj spid="_x0000_s5122" name="Equation" r:id="rId3" imgW="17068800" imgH="16764000" progId="Equation.DSMT4">
                  <p:embed/>
                </p:oleObj>
              </mc:Choice>
              <mc:Fallback>
                <p:oleObj name="Equation" r:id="rId3" imgW="17068800" imgH="16764000" progId="Equation.DSMT4">
                  <p:embed/>
                  <p:pic>
                    <p:nvPicPr>
                      <p:cNvPr id="0" name="Object 9" descr="image26"/>
                      <p:cNvPicPr>
                        <a:picLocks noChangeAspect="1"/>
                      </p:cNvPicPr>
                      <p:nvPr/>
                    </p:nvPicPr>
                    <p:blipFill>
                      <a:blip r:embed="rId4"/>
                      <a:stretch>
                        <a:fillRect/>
                      </a:stretch>
                    </p:blipFill>
                    <p:spPr>
                      <a:xfrm>
                        <a:off x="7097033" y="1019175"/>
                        <a:ext cx="1797050" cy="1754187"/>
                      </a:xfrm>
                      <a:prstGeom prst="rect">
                        <a:avLst/>
                      </a:prstGeom>
                      <a:noFill/>
                      <a:ln w="9525">
                        <a:noFill/>
                      </a:ln>
                    </p:spPr>
                  </p:pic>
                </p:oleObj>
              </mc:Fallback>
            </mc:AlternateContent>
          </a:graphicData>
        </a:graphic>
      </p:graphicFrame>
      <p:graphicFrame>
        <p:nvGraphicFramePr>
          <p:cNvPr id="7" name="Object 5"/>
          <p:cNvGraphicFramePr>
            <a:graphicFrameLocks noChangeAspect="1"/>
          </p:cNvGraphicFramePr>
          <p:nvPr/>
        </p:nvGraphicFramePr>
        <p:xfrm>
          <a:off x="4371975" y="1211263"/>
          <a:ext cx="2124075" cy="1370012"/>
        </p:xfrm>
        <a:graphic>
          <a:graphicData uri="http://schemas.openxmlformats.org/presentationml/2006/ole">
            <mc:AlternateContent xmlns:mc="http://schemas.openxmlformats.org/markup-compatibility/2006">
              <mc:Choice xmlns:v="urn:schemas-microsoft-com:vml" Requires="v">
                <p:oleObj spid="_x0000_s5123" name="Equation" r:id="rId5" imgW="20116800" imgH="13106400" progId="Equation.DSMT4">
                  <p:embed/>
                </p:oleObj>
              </mc:Choice>
              <mc:Fallback>
                <p:oleObj name="Equation" r:id="rId5" imgW="20116800" imgH="13106400" progId="Equation.DSMT4">
                  <p:embed/>
                  <p:pic>
                    <p:nvPicPr>
                      <p:cNvPr id="0" name="图片 5122" descr="image27"/>
                      <p:cNvPicPr>
                        <a:picLocks noChangeAspect="1"/>
                      </p:cNvPicPr>
                      <p:nvPr/>
                    </p:nvPicPr>
                    <p:blipFill>
                      <a:blip r:embed="rId6"/>
                      <a:stretch>
                        <a:fillRect/>
                      </a:stretch>
                    </p:blipFill>
                    <p:spPr>
                      <a:xfrm>
                        <a:off x="4371975" y="1211263"/>
                        <a:ext cx="2124075" cy="1370012"/>
                      </a:xfrm>
                      <a:prstGeom prst="rect">
                        <a:avLst/>
                      </a:prstGeom>
                      <a:noFill/>
                      <a:ln w="9525">
                        <a:noFill/>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zh-CN" altLang="en-US" dirty="0"/>
              <a:t>例</a:t>
            </a:r>
            <a:r>
              <a:rPr lang="en-US" altLang="zh-CN" dirty="0"/>
              <a:t>4.12</a:t>
            </a:r>
            <a:r>
              <a:rPr lang="zh-CN" altLang="en-US" dirty="0"/>
              <a:t>（续）</a:t>
            </a:r>
            <a:endParaRPr lang="zh-CN" altLang="en-US" dirty="0"/>
          </a:p>
        </p:txBody>
      </p:sp>
      <p:sp>
        <p:nvSpPr>
          <p:cNvPr id="91140" name="Rectangle 3"/>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1141" name="Rectangle 4"/>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1142" name="Rectangle 5"/>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aphicFrame>
        <p:nvGraphicFramePr>
          <p:cNvPr id="5" name="对象 4"/>
          <p:cNvGraphicFramePr>
            <a:graphicFrameLocks noChangeAspect="1"/>
          </p:cNvGraphicFramePr>
          <p:nvPr/>
        </p:nvGraphicFramePr>
        <p:xfrm>
          <a:off x="1220909" y="1589548"/>
          <a:ext cx="9433764" cy="1354470"/>
        </p:xfrm>
        <a:graphic>
          <a:graphicData uri="http://schemas.openxmlformats.org/presentationml/2006/ole">
            <mc:AlternateContent xmlns:mc="http://schemas.openxmlformats.org/markup-compatibility/2006">
              <mc:Choice xmlns:v="urn:schemas-microsoft-com:vml" Requires="v">
                <p:oleObj spid="_x0000_s6145" name="Equation" r:id="rId1" imgW="91135200" imgH="13106400" progId="Equation.DSMT4">
                  <p:embed/>
                </p:oleObj>
              </mc:Choice>
              <mc:Fallback>
                <p:oleObj name="Equation" r:id="rId1" imgW="91135200" imgH="13106400" progId="Equation.DSMT4">
                  <p:embed/>
                  <p:pic>
                    <p:nvPicPr>
                      <p:cNvPr id="0" name="Object 49" descr="image28"/>
                      <p:cNvPicPr>
                        <a:picLocks noChangeAspect="1"/>
                      </p:cNvPicPr>
                      <p:nvPr/>
                    </p:nvPicPr>
                    <p:blipFill>
                      <a:blip r:embed="rId2"/>
                      <a:stretch>
                        <a:fillRect/>
                      </a:stretch>
                    </p:blipFill>
                    <p:spPr>
                      <a:xfrm>
                        <a:off x="1220909" y="1589548"/>
                        <a:ext cx="9433764" cy="1354470"/>
                      </a:xfrm>
                      <a:prstGeom prst="rect">
                        <a:avLst/>
                      </a:prstGeom>
                      <a:noFill/>
                      <a:ln w="9525">
                        <a:noFill/>
                      </a:ln>
                    </p:spPr>
                  </p:pic>
                </p:oleObj>
              </mc:Fallback>
            </mc:AlternateContent>
          </a:graphicData>
        </a:graphic>
      </p:graphicFrame>
      <p:graphicFrame>
        <p:nvGraphicFramePr>
          <p:cNvPr id="6" name="对象 5"/>
          <p:cNvGraphicFramePr>
            <a:graphicFrameLocks noChangeAspect="1"/>
          </p:cNvGraphicFramePr>
          <p:nvPr/>
        </p:nvGraphicFramePr>
        <p:xfrm>
          <a:off x="993775" y="3563065"/>
          <a:ext cx="9660898" cy="1366430"/>
        </p:xfrm>
        <a:graphic>
          <a:graphicData uri="http://schemas.openxmlformats.org/presentationml/2006/ole">
            <mc:AlternateContent xmlns:mc="http://schemas.openxmlformats.org/markup-compatibility/2006">
              <mc:Choice xmlns:v="urn:schemas-microsoft-com:vml" Requires="v">
                <p:oleObj spid="_x0000_s6146" name="Equation" r:id="rId3" imgW="92049600" imgH="13106400" progId="Equation.DSMT4">
                  <p:embed/>
                </p:oleObj>
              </mc:Choice>
              <mc:Fallback>
                <p:oleObj name="Equation" r:id="rId3" imgW="92049600" imgH="13106400" progId="Equation.DSMT4">
                  <p:embed/>
                  <p:pic>
                    <p:nvPicPr>
                      <p:cNvPr id="0" name="Object 48" descr="image29"/>
                      <p:cNvPicPr>
                        <a:picLocks noChangeAspect="1"/>
                      </p:cNvPicPr>
                      <p:nvPr/>
                    </p:nvPicPr>
                    <p:blipFill>
                      <a:blip r:embed="rId4"/>
                      <a:stretch>
                        <a:fillRect/>
                      </a:stretch>
                    </p:blipFill>
                    <p:spPr>
                      <a:xfrm>
                        <a:off x="993775" y="3563065"/>
                        <a:ext cx="9660898" cy="1366430"/>
                      </a:xfrm>
                      <a:prstGeom prst="rect">
                        <a:avLst/>
                      </a:prstGeom>
                      <a:noFill/>
                      <a:ln w="9525">
                        <a:noFill/>
                      </a:ln>
                    </p:spPr>
                  </p:pic>
                </p:oleObj>
              </mc:Fallback>
            </mc:AlternateContent>
          </a:graphicData>
        </a:graphic>
      </p:graphicFrame>
      <p:sp>
        <p:nvSpPr>
          <p:cNvPr id="8" name="Rectangle 50"/>
          <p:cNvSpPr>
            <a:spLocks noChangeArrowheads="1"/>
          </p:cNvSpPr>
          <p:nvPr/>
        </p:nvSpPr>
        <p:spPr bwMode="auto">
          <a:xfrm>
            <a:off x="-24039" y="1026109"/>
            <a:ext cx="66702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257175" algn="l" defTabSz="914400" rtl="0" eaLnBrk="0" fontAlgn="base" latinLnBrk="0" hangingPunct="0">
              <a:lnSpc>
                <a:spcPct val="100000"/>
              </a:lnSpc>
              <a:spcBef>
                <a:spcPct val="0"/>
              </a:spcBef>
              <a:spcAft>
                <a:spcPct val="0"/>
              </a:spcAft>
              <a:buClrTx/>
              <a:buSzTx/>
              <a:buFontTx/>
              <a:buNone/>
            </a:pPr>
            <a:r>
              <a:rPr kumimoji="0" lang="zh-CN" altLang="zh-CN" b="1" i="0" u="none" strike="noStrike" cap="none" normalizeH="0" baseline="0" dirty="0">
                <a:ln>
                  <a:noFill/>
                </a:ln>
                <a:solidFill>
                  <a:srgbClr val="C00000"/>
                </a:solidFill>
                <a:effectLst/>
                <a:latin typeface="+mn-ea"/>
                <a:cs typeface="Times New Roman" panose="02020603050405020304" pitchFamily="18" charset="0"/>
              </a:rPr>
              <a:t>解</a:t>
            </a:r>
            <a:r>
              <a:rPr kumimoji="0" lang="zh-CN" altLang="zh-CN" b="1" i="0" u="none" strike="noStrike" cap="none" normalizeH="0" baseline="0" dirty="0">
                <a:ln>
                  <a:noFill/>
                </a:ln>
                <a:solidFill>
                  <a:schemeClr val="tx1"/>
                </a:solidFill>
                <a:effectLst/>
                <a:latin typeface="+mn-ea"/>
                <a:cs typeface="Times New Roman" panose="02020603050405020304" pitchFamily="18" charset="0"/>
              </a:rPr>
              <a:t> （</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1</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）根据式</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(4-4)</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，有</a:t>
            </a:r>
            <a:endParaRPr kumimoji="0" lang="zh-CN" altLang="en-US" b="1" i="0" u="none" strike="noStrike" cap="none" normalizeH="0" baseline="0" dirty="0">
              <a:ln>
                <a:noFill/>
              </a:ln>
              <a:solidFill>
                <a:schemeClr val="tx1"/>
              </a:solidFill>
              <a:effectLst/>
              <a:latin typeface="+mn-ea"/>
            </a:endParaRPr>
          </a:p>
        </p:txBody>
      </p:sp>
      <p:sp>
        <p:nvSpPr>
          <p:cNvPr id="9" name="Rectangle 51"/>
          <p:cNvSpPr>
            <a:spLocks noChangeArrowheads="1"/>
          </p:cNvSpPr>
          <p:nvPr/>
        </p:nvSpPr>
        <p:spPr bwMode="auto">
          <a:xfrm>
            <a:off x="491670" y="3089720"/>
            <a:ext cx="37820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zh-CN" b="1" i="0" u="none" strike="noStrike" cap="none" normalizeH="0" baseline="0" dirty="0">
                <a:ln>
                  <a:noFill/>
                </a:ln>
                <a:solidFill>
                  <a:schemeClr val="tx1"/>
                </a:solidFill>
                <a:effectLst/>
                <a:latin typeface="+mn-ea"/>
                <a:cs typeface="Times New Roman" panose="02020603050405020304" pitchFamily="18" charset="0"/>
              </a:rPr>
              <a:t>（</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2</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）根据式</a:t>
            </a:r>
            <a:r>
              <a:rPr kumimoji="0" lang="en-US" altLang="zh-CN" b="1" i="0" u="none" strike="noStrike" cap="none" normalizeH="0" baseline="0" dirty="0">
                <a:ln>
                  <a:noFill/>
                </a:ln>
                <a:solidFill>
                  <a:schemeClr val="tx1"/>
                </a:solidFill>
                <a:effectLst/>
                <a:latin typeface="+mn-ea"/>
                <a:cs typeface="Times New Roman" panose="02020603050405020304" pitchFamily="18" charset="0"/>
              </a:rPr>
              <a:t>(4-5)</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，有</a:t>
            </a:r>
            <a:endParaRPr kumimoji="0" lang="zh-CN" altLang="en-US" b="1" i="0" u="none" strike="noStrike" cap="none" normalizeH="0" baseline="0" dirty="0">
              <a:ln>
                <a:noFill/>
              </a:ln>
              <a:solidFill>
                <a:schemeClr val="tx1"/>
              </a:solidFill>
              <a:effectLst/>
              <a:latin typeface="+mn-ea"/>
            </a:endParaRPr>
          </a:p>
        </p:txBody>
      </p:sp>
      <p:sp>
        <p:nvSpPr>
          <p:cNvPr id="11" name="Rectangle 53"/>
          <p:cNvSpPr>
            <a:spLocks noChangeArrowheads="1"/>
          </p:cNvSpPr>
          <p:nvPr/>
        </p:nvSpPr>
        <p:spPr bwMode="auto">
          <a:xfrm>
            <a:off x="799646" y="41917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266700" algn="ctr"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par>
                                <p:cTn id="13" presetID="21" presetClass="entr" presetSubtype="1"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heel(1)">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noChangeArrowheads="1"/>
          </p:cNvSpPr>
          <p:nvPr>
            <p:ph type="title"/>
          </p:nvPr>
        </p:nvSpPr>
        <p:spPr/>
        <p:txBody>
          <a:bodyPr/>
          <a:lstStyle/>
          <a:p>
            <a:r>
              <a:rPr lang="zh-CN" altLang="en-US" dirty="0"/>
              <a:t>定理</a:t>
            </a:r>
            <a:r>
              <a:rPr lang="en-US" altLang="zh-CN" dirty="0"/>
              <a:t>4.3</a:t>
            </a:r>
            <a:endParaRPr lang="zh-CN" altLang="en-US" dirty="0"/>
          </a:p>
        </p:txBody>
      </p:sp>
      <p:sp>
        <p:nvSpPr>
          <p:cNvPr id="5" name="Rectangle 1"/>
          <p:cNvSpPr>
            <a:spLocks noGrp="1" noChangeArrowheads="1"/>
          </p:cNvSpPr>
          <p:nvPr>
            <p:ph idx="1"/>
          </p:nvPr>
        </p:nvSpPr>
        <p:spPr>
          <a:xfrm>
            <a:off x="384175" y="991394"/>
            <a:ext cx="11277600" cy="4893808"/>
          </a:xfrm>
          <a:effectLst>
            <a:prstShdw prst="shdw12">
              <a:schemeClr val="bg2">
                <a:alpha val="50000"/>
              </a:schemeClr>
            </a:prstShdw>
          </a:effectLst>
        </p:spPr>
        <p:txBody>
          <a:bodyPr wrap="none" anchor="ctr">
            <a:normAutofit/>
          </a:bodyPr>
          <a:lstStyle>
            <a:lvl1pPr indent="600075" eaLnBrk="0" hangingPunct="0">
              <a:defRPr sz="3200">
                <a:solidFill>
                  <a:srgbClr val="FF0000"/>
                </a:solidFill>
                <a:latin typeface="黑体" panose="02010609060101010101" pitchFamily="49" charset="-122"/>
                <a:ea typeface="黑体" panose="02010609060101010101" pitchFamily="49" charset="-122"/>
              </a:defRPr>
            </a:lvl1pPr>
            <a:lvl2pPr eaLnBrk="0" hangingPunct="0">
              <a:defRPr sz="3200">
                <a:solidFill>
                  <a:srgbClr val="FF0000"/>
                </a:solidFill>
                <a:latin typeface="黑体" panose="02010609060101010101" pitchFamily="49" charset="-122"/>
                <a:ea typeface="黑体" panose="02010609060101010101" pitchFamily="49" charset="-122"/>
              </a:defRPr>
            </a:lvl2pPr>
            <a:lvl3pPr eaLnBrk="0" hangingPunct="0">
              <a:defRPr sz="3200">
                <a:solidFill>
                  <a:srgbClr val="FF0000"/>
                </a:solidFill>
                <a:latin typeface="黑体" panose="02010609060101010101" pitchFamily="49" charset="-122"/>
                <a:ea typeface="黑体" panose="02010609060101010101" pitchFamily="49" charset="-122"/>
              </a:defRPr>
            </a:lvl3pPr>
            <a:lvl4pPr eaLnBrk="0" hangingPunct="0">
              <a:defRPr sz="3200">
                <a:solidFill>
                  <a:srgbClr val="FF0000"/>
                </a:solidFill>
                <a:latin typeface="黑体" panose="02010609060101010101" pitchFamily="49" charset="-122"/>
                <a:ea typeface="黑体" panose="02010609060101010101" pitchFamily="49" charset="-122"/>
              </a:defRPr>
            </a:lvl4pPr>
            <a:lvl5pPr eaLnBrk="0" hangingPunct="0">
              <a:defRPr sz="3200">
                <a:solidFill>
                  <a:srgbClr val="FF0000"/>
                </a:solidFill>
                <a:latin typeface="黑体" panose="02010609060101010101" pitchFamily="49" charset="-122"/>
                <a:ea typeface="黑体" panose="02010609060101010101" pitchFamily="49" charset="-122"/>
              </a:defRPr>
            </a:lvl5pPr>
            <a:lvl6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0" indent="257175">
              <a:lnSpc>
                <a:spcPct val="150000"/>
              </a:lnSpc>
              <a:spcBef>
                <a:spcPct val="0"/>
              </a:spcBef>
              <a:buNone/>
              <a:defRPr/>
            </a:pPr>
            <a:r>
              <a:rPr lang="zh-CN" altLang="en-US" sz="2400" dirty="0">
                <a:solidFill>
                  <a:srgbClr val="C00000"/>
                </a:solidFill>
                <a:latin typeface="+mn-ea"/>
                <a:ea typeface="+mn-ea"/>
                <a:cs typeface="Times New Roman" panose="02020603050405020304" pitchFamily="18" charset="0"/>
              </a:rPr>
              <a:t>定理</a:t>
            </a:r>
            <a:r>
              <a:rPr lang="en-US" altLang="zh-CN" sz="2400" dirty="0">
                <a:solidFill>
                  <a:srgbClr val="C00000"/>
                </a:solidFill>
                <a:latin typeface="+mn-ea"/>
                <a:ea typeface="+mn-ea"/>
                <a:cs typeface="Times New Roman" panose="02020603050405020304" pitchFamily="18" charset="0"/>
              </a:rPr>
              <a:t>4.3  </a:t>
            </a:r>
            <a:r>
              <a:rPr lang="zh-CN" altLang="en-US" sz="2400" dirty="0">
                <a:solidFill>
                  <a:srgbClr val="0000FF"/>
                </a:solidFill>
                <a:latin typeface="+mn-ea"/>
                <a:ea typeface="+mn-ea"/>
                <a:cs typeface="Times New Roman" panose="02020603050405020304" pitchFamily="18" charset="0"/>
              </a:rPr>
              <a:t>假设</a:t>
            </a:r>
            <a:r>
              <a:rPr lang="en-US" altLang="zh-CN" sz="2400" dirty="0">
                <a:solidFill>
                  <a:srgbClr val="0000FF"/>
                </a:solidFill>
                <a:latin typeface="+mn-ea"/>
                <a:ea typeface="+mn-ea"/>
                <a:cs typeface="Times New Roman" panose="02020603050405020304" pitchFamily="18" charset="0"/>
              </a:rPr>
              <a:t>A</a:t>
            </a:r>
            <a:r>
              <a:rPr lang="zh-CN" altLang="en-US" sz="2400" dirty="0">
                <a:solidFill>
                  <a:srgbClr val="0000FF"/>
                </a:solidFill>
                <a:latin typeface="+mn-ea"/>
                <a:ea typeface="+mn-ea"/>
                <a:cs typeface="Times New Roman" panose="02020603050405020304" pitchFamily="18" charset="0"/>
              </a:rPr>
              <a:t>、</a:t>
            </a:r>
            <a:r>
              <a:rPr lang="en-US" altLang="zh-CN" sz="2400" dirty="0">
                <a:solidFill>
                  <a:srgbClr val="0000FF"/>
                </a:solidFill>
                <a:latin typeface="+mn-ea"/>
                <a:ea typeface="+mn-ea"/>
                <a:cs typeface="Times New Roman" panose="02020603050405020304" pitchFamily="18" charset="0"/>
              </a:rPr>
              <a:t>B</a:t>
            </a:r>
            <a:r>
              <a:rPr lang="zh-CN" altLang="en-US" sz="2400" dirty="0">
                <a:solidFill>
                  <a:srgbClr val="0000FF"/>
                </a:solidFill>
                <a:latin typeface="+mn-ea"/>
                <a:ea typeface="+mn-ea"/>
                <a:cs typeface="Times New Roman" panose="02020603050405020304" pitchFamily="18" charset="0"/>
              </a:rPr>
              <a:t>和</a:t>
            </a:r>
            <a:r>
              <a:rPr lang="en-US" altLang="zh-CN" sz="2400" dirty="0">
                <a:solidFill>
                  <a:srgbClr val="0000FF"/>
                </a:solidFill>
                <a:latin typeface="+mn-ea"/>
                <a:ea typeface="+mn-ea"/>
                <a:cs typeface="Times New Roman" panose="02020603050405020304" pitchFamily="18" charset="0"/>
              </a:rPr>
              <a:t>C</a:t>
            </a:r>
            <a:r>
              <a:rPr lang="zh-CN" altLang="en-US" sz="2400" dirty="0">
                <a:solidFill>
                  <a:srgbClr val="0000FF"/>
                </a:solidFill>
                <a:latin typeface="+mn-ea"/>
                <a:ea typeface="+mn-ea"/>
                <a:cs typeface="Times New Roman" panose="02020603050405020304" pitchFamily="18" charset="0"/>
              </a:rPr>
              <a:t>是</a:t>
            </a:r>
            <a:r>
              <a:rPr lang="en-US" altLang="zh-CN" sz="2400" dirty="0" err="1">
                <a:solidFill>
                  <a:srgbClr val="0000FF"/>
                </a:solidFill>
                <a:latin typeface="+mn-ea"/>
                <a:ea typeface="+mn-ea"/>
                <a:cs typeface="Times New Roman" panose="02020603050405020304" pitchFamily="18" charset="0"/>
              </a:rPr>
              <a:t>n×n</a:t>
            </a:r>
            <a:r>
              <a:rPr lang="zh-CN" altLang="en-US" sz="2400" dirty="0">
                <a:solidFill>
                  <a:srgbClr val="0000FF"/>
                </a:solidFill>
                <a:latin typeface="+mn-ea"/>
                <a:ea typeface="+mn-ea"/>
                <a:cs typeface="Times New Roman" panose="02020603050405020304" pitchFamily="18" charset="0"/>
              </a:rPr>
              <a:t>阶布尔矩阵，则</a:t>
            </a:r>
            <a:endParaRPr lang="en-US" altLang="zh-CN" sz="2400" dirty="0">
              <a:solidFill>
                <a:srgbClr val="0000FF"/>
              </a:solidFill>
              <a:latin typeface="+mn-ea"/>
              <a:ea typeface="+mn-ea"/>
              <a:cs typeface="Times New Roman" panose="02020603050405020304" pitchFamily="18" charset="0"/>
            </a:endParaRPr>
          </a:p>
          <a:p>
            <a:pPr marL="0" indent="257175">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1</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B∨A     </a:t>
            </a: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t>
            </a:r>
            <a:r>
              <a:rPr lang="zh-CN" altLang="en-US" sz="2400" dirty="0">
                <a:solidFill>
                  <a:srgbClr val="000000"/>
                </a:solidFill>
                <a:latin typeface="+mn-ea"/>
                <a:ea typeface="+mn-ea"/>
                <a:cs typeface="Times New Roman" panose="02020603050405020304" pitchFamily="18" charset="0"/>
              </a:rPr>
              <a:t>交换律</a:t>
            </a:r>
            <a:r>
              <a:rPr lang="en-US" altLang="zh-CN" sz="2400" dirty="0">
                <a:solidFill>
                  <a:srgbClr val="000000"/>
                </a:solidFill>
                <a:latin typeface="+mn-ea"/>
                <a:ea typeface="+mn-ea"/>
                <a:cs typeface="Times New Roman" panose="02020603050405020304" pitchFamily="18" charset="0"/>
              </a:rPr>
              <a:t>)</a:t>
            </a:r>
            <a:endParaRPr lang="en-US" altLang="zh-CN" sz="2400" dirty="0">
              <a:solidFill>
                <a:srgbClr val="000000"/>
              </a:solidFill>
              <a:latin typeface="+mn-ea"/>
              <a:ea typeface="+mn-ea"/>
            </a:endParaRPr>
          </a:p>
          <a:p>
            <a:pPr marL="0">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A∧B</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B∧A </a:t>
            </a:r>
            <a:endParaRPr lang="en-US" altLang="zh-CN" sz="2400" dirty="0">
              <a:solidFill>
                <a:srgbClr val="000000"/>
              </a:solidFill>
              <a:latin typeface="+mn-ea"/>
              <a:ea typeface="+mn-ea"/>
            </a:endParaRPr>
          </a:p>
          <a:p>
            <a:pPr marL="0">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2</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   </a:t>
            </a: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t>
            </a:r>
            <a:r>
              <a:rPr lang="zh-CN" altLang="en-US" sz="2400" dirty="0">
                <a:solidFill>
                  <a:srgbClr val="000000"/>
                </a:solidFill>
                <a:latin typeface="+mn-ea"/>
                <a:ea typeface="+mn-ea"/>
                <a:cs typeface="Times New Roman" panose="02020603050405020304" pitchFamily="18" charset="0"/>
              </a:rPr>
              <a:t>结合律</a:t>
            </a:r>
            <a:r>
              <a:rPr lang="en-US" altLang="zh-CN" sz="2400" dirty="0">
                <a:solidFill>
                  <a:srgbClr val="000000"/>
                </a:solidFill>
                <a:latin typeface="+mn-ea"/>
                <a:ea typeface="+mn-ea"/>
                <a:cs typeface="Times New Roman" panose="02020603050405020304" pitchFamily="18" charset="0"/>
              </a:rPr>
              <a:t>)</a:t>
            </a:r>
            <a:endParaRPr lang="en-US" altLang="zh-CN" sz="2400" dirty="0">
              <a:solidFill>
                <a:srgbClr val="000000"/>
              </a:solidFill>
              <a:latin typeface="+mn-ea"/>
              <a:ea typeface="+mn-ea"/>
            </a:endParaRPr>
          </a:p>
          <a:p>
            <a:pPr marL="0">
              <a:lnSpc>
                <a:spcPct val="150000"/>
              </a:lnSpc>
              <a:spcBef>
                <a:spcPct val="0"/>
              </a:spcBef>
              <a:buNone/>
              <a:defRPr/>
            </a:pPr>
            <a:r>
              <a:rPr lang="en-US" altLang="zh-CN" sz="2400" dirty="0">
                <a:solidFill>
                  <a:srgbClr val="000000"/>
                </a:solidFill>
                <a:latin typeface="+mn-ea"/>
                <a:ea typeface="+mn-ea"/>
                <a:cs typeface="Times New Roman" panose="02020603050405020304" pitchFamily="18" charset="0"/>
              </a:rPr>
              <a:t>          (A∧B)∧C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endParaRPr lang="en-US" altLang="zh-CN" sz="2400" dirty="0">
              <a:solidFill>
                <a:srgbClr val="000000"/>
              </a:solidFill>
              <a:latin typeface="+mn-ea"/>
              <a:ea typeface="+mn-ea"/>
            </a:endParaRPr>
          </a:p>
          <a:p>
            <a:pPr marL="0">
              <a:lnSpc>
                <a:spcPct val="150000"/>
              </a:lnSpc>
              <a:spcBef>
                <a:spcPct val="0"/>
              </a:spcBef>
              <a:buNone/>
              <a:defRPr/>
            </a:pPr>
            <a:r>
              <a:rPr lang="en-US" altLang="zh-CN" sz="2400" dirty="0">
                <a:solidFill>
                  <a:srgbClr val="000000"/>
                </a:solidFill>
                <a:latin typeface="+mn-ea"/>
                <a:ea typeface="+mn-ea"/>
                <a:cs typeface="Times New Roman" panose="02020603050405020304" pitchFamily="18" charset="0"/>
              </a:rPr>
              <a:t>       </a:t>
            </a:r>
            <a:endParaRPr lang="en-US" altLang="zh-CN" sz="2400" dirty="0">
              <a:solidFill>
                <a:srgbClr val="000000"/>
              </a:solidFill>
              <a:latin typeface="+mn-ea"/>
              <a:ea typeface="+mn-ea"/>
            </a:endParaRPr>
          </a:p>
          <a:p>
            <a:pPr marL="0">
              <a:lnSpc>
                <a:spcPct val="150000"/>
              </a:lnSpc>
              <a:spcBef>
                <a:spcPct val="0"/>
              </a:spcBef>
              <a:buNone/>
              <a:defRPr/>
            </a:pP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3</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(A∧B)∨(A∧C) </a:t>
            </a:r>
            <a:r>
              <a:rPr lang="zh-CN" altLang="en-US" sz="2400" dirty="0">
                <a:solidFill>
                  <a:srgbClr val="000000"/>
                </a:solidFill>
                <a:latin typeface="+mn-ea"/>
                <a:ea typeface="+mn-ea"/>
                <a:cs typeface="Times New Roman" panose="02020603050405020304" pitchFamily="18" charset="0"/>
              </a:rPr>
              <a:t>           </a:t>
            </a:r>
            <a:r>
              <a:rPr lang="en-US" altLang="zh-CN" sz="2400" dirty="0">
                <a:solidFill>
                  <a:srgbClr val="000000"/>
                </a:solidFill>
                <a:latin typeface="+mn-ea"/>
                <a:ea typeface="+mn-ea"/>
                <a:cs typeface="Times New Roman" panose="02020603050405020304" pitchFamily="18" charset="0"/>
              </a:rPr>
              <a:t>(</a:t>
            </a:r>
            <a:r>
              <a:rPr lang="zh-CN" altLang="en-US" sz="2400" dirty="0">
                <a:solidFill>
                  <a:srgbClr val="000000"/>
                </a:solidFill>
                <a:latin typeface="+mn-ea"/>
                <a:ea typeface="+mn-ea"/>
                <a:cs typeface="Times New Roman" panose="02020603050405020304" pitchFamily="18" charset="0"/>
              </a:rPr>
              <a:t>分配律</a:t>
            </a:r>
            <a:r>
              <a:rPr lang="en-US" altLang="zh-CN" sz="2400" dirty="0">
                <a:solidFill>
                  <a:srgbClr val="000000"/>
                </a:solidFill>
                <a:latin typeface="+mn-ea"/>
                <a:ea typeface="+mn-ea"/>
                <a:cs typeface="Times New Roman" panose="02020603050405020304" pitchFamily="18" charset="0"/>
              </a:rPr>
              <a:t>)</a:t>
            </a:r>
            <a:endParaRPr lang="en-US" altLang="zh-CN" sz="2400" dirty="0">
              <a:solidFill>
                <a:srgbClr val="000000"/>
              </a:solidFill>
              <a:latin typeface="+mn-ea"/>
              <a:ea typeface="+mn-ea"/>
            </a:endParaRPr>
          </a:p>
          <a:p>
            <a:pPr marL="0">
              <a:lnSpc>
                <a:spcPct val="150000"/>
              </a:lnSpc>
              <a:spcBef>
                <a:spcPct val="0"/>
              </a:spcBef>
              <a:buNone/>
              <a:defRPr/>
            </a:pPr>
            <a:r>
              <a:rPr lang="en-US" altLang="zh-CN" sz="2400" dirty="0">
                <a:solidFill>
                  <a:srgbClr val="000000"/>
                </a:solidFill>
                <a:latin typeface="+mn-ea"/>
                <a:ea typeface="+mn-ea"/>
                <a:cs typeface="Times New Roman" panose="02020603050405020304" pitchFamily="18" charset="0"/>
              </a:rPr>
              <a:t>          A∨(B∧C)</a:t>
            </a:r>
            <a:r>
              <a:rPr lang="zh-CN" altLang="en-US" sz="2400" dirty="0">
                <a:solidFill>
                  <a:srgbClr val="000000"/>
                </a:solidFill>
                <a:latin typeface="+mn-ea"/>
                <a:ea typeface="+mn-ea"/>
                <a:cs typeface="Times New Roman" panose="02020603050405020304" pitchFamily="18" charset="0"/>
              </a:rPr>
              <a:t>＝</a:t>
            </a:r>
            <a:r>
              <a:rPr lang="en-US" altLang="zh-CN" sz="2400" dirty="0">
                <a:solidFill>
                  <a:srgbClr val="000000"/>
                </a:solidFill>
                <a:latin typeface="+mn-ea"/>
                <a:ea typeface="+mn-ea"/>
                <a:cs typeface="Times New Roman" panose="02020603050405020304" pitchFamily="18" charset="0"/>
              </a:rPr>
              <a:t>(A∨B)∧(A∨C)</a:t>
            </a:r>
            <a:endParaRPr lang="en-US" altLang="zh-CN" sz="2400" dirty="0">
              <a:solidFill>
                <a:srgbClr val="000000"/>
              </a:solidFill>
              <a:latin typeface="+mn-ea"/>
              <a:ea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p:cNvSpPr>
          <p:nvPr>
            <p:ph type="title"/>
          </p:nvPr>
        </p:nvSpPr>
        <p:spPr>
          <a:xfrm>
            <a:off x="787810" y="686276"/>
            <a:ext cx="10978515" cy="1371918"/>
          </a:xfrm>
        </p:spPr>
        <p:txBody>
          <a:bodyPr vert="horz" wrap="square" lIns="108896" tIns="54448" rIns="108896" bIns="54448" anchor="ctr" anchorCtr="0"/>
          <a:lstStyle/>
          <a:p>
            <a:pPr eaLnBrk="1" hangingPunct="1"/>
            <a:r>
              <a:rPr lang="en-US" altLang="zh-CN" sz="3600" b="1" i="1" dirty="0">
                <a:solidFill>
                  <a:srgbClr val="C00000"/>
                </a:solidFill>
                <a:latin typeface="Times New Roman" panose="02020603050405020304" pitchFamily="18" charset="0"/>
              </a:rPr>
              <a:t>A</a:t>
            </a:r>
            <a:r>
              <a:rPr lang="zh-CN" altLang="en-US" sz="3600" b="1" dirty="0">
                <a:solidFill>
                  <a:srgbClr val="C00000"/>
                </a:solidFill>
              </a:rPr>
              <a:t>上重要关系的实例</a:t>
            </a:r>
            <a:endParaRPr lang="zh-CN" altLang="en-US" sz="3600" b="1" dirty="0">
              <a:solidFill>
                <a:srgbClr val="C00000"/>
              </a:solidFill>
            </a:endParaRPr>
          </a:p>
        </p:txBody>
      </p:sp>
      <p:sp>
        <p:nvSpPr>
          <p:cNvPr id="17412" name="Text Box 3"/>
          <p:cNvSpPr txBox="1"/>
          <p:nvPr/>
        </p:nvSpPr>
        <p:spPr>
          <a:xfrm>
            <a:off x="688975" y="2064193"/>
            <a:ext cx="10855684" cy="4718401"/>
          </a:xfrm>
          <a:prstGeom prst="rect">
            <a:avLst/>
          </a:prstGeom>
          <a:noFill/>
          <a:ln w="9525">
            <a:noFill/>
          </a:ln>
        </p:spPr>
        <p:txBody>
          <a:bodyPr lIns="108896" tIns="54448" rIns="108896" bIns="54448">
            <a:spAutoFit/>
          </a:bodyPr>
          <a:lstStyle/>
          <a:p>
            <a:r>
              <a:rPr lang="zh-CN" altLang="en-US" sz="2800" b="1" dirty="0">
                <a:latin typeface="Times New Roman" panose="02020603050405020304" pitchFamily="18" charset="0"/>
              </a:rPr>
              <a:t>设 </a:t>
            </a:r>
            <a:r>
              <a:rPr lang="en-US" altLang="zh-CN" sz="2800" b="1" i="1" dirty="0">
                <a:latin typeface="Times New Roman" panose="02020603050405020304" pitchFamily="18" charset="0"/>
              </a:rPr>
              <a:t>A </a:t>
            </a:r>
            <a:r>
              <a:rPr lang="zh-CN" altLang="en-US" sz="2800" b="1" dirty="0">
                <a:latin typeface="Times New Roman" panose="02020603050405020304" pitchFamily="18" charset="0"/>
              </a:rPr>
              <a:t>为任意集合，</a:t>
            </a:r>
            <a:endParaRPr lang="zh-CN" altLang="en-US"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是 </a:t>
            </a:r>
            <a:r>
              <a:rPr lang="en-US" altLang="zh-CN" sz="2800" b="1" i="1" dirty="0">
                <a:latin typeface="Times New Roman" panose="02020603050405020304" pitchFamily="18" charset="0"/>
              </a:rPr>
              <a:t>A </a:t>
            </a:r>
            <a:r>
              <a:rPr lang="zh-CN" altLang="en-US" sz="2800" b="1" dirty="0">
                <a:latin typeface="Times New Roman" panose="02020603050405020304" pitchFamily="18" charset="0"/>
              </a:rPr>
              <a:t>上的关系，称为</a:t>
            </a:r>
            <a:r>
              <a:rPr lang="zh-CN" altLang="en-US" sz="2800" b="1" dirty="0">
                <a:solidFill>
                  <a:srgbClr val="FF0000"/>
                </a:solidFill>
                <a:latin typeface="Times New Roman" panose="02020603050405020304" pitchFamily="18" charset="0"/>
              </a:rPr>
              <a:t>空关系</a:t>
            </a:r>
            <a:endParaRPr lang="zh-CN" altLang="en-US" sz="2800" b="1" dirty="0">
              <a:solidFill>
                <a:srgbClr val="FF0000"/>
              </a:solidFill>
              <a:latin typeface="Times New Roman" panose="02020603050405020304" pitchFamily="18" charset="0"/>
            </a:endParaRPr>
          </a:p>
          <a:p>
            <a:pPr>
              <a:lnSpc>
                <a:spcPct val="120000"/>
              </a:lnSpc>
            </a:pPr>
            <a:r>
              <a:rPr lang="en-US" altLang="zh-CN" sz="2800" b="1" i="1" dirty="0">
                <a:latin typeface="Times New Roman" panose="02020603050405020304" pitchFamily="18" charset="0"/>
              </a:rPr>
              <a:t>E</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 </a:t>
            </a:r>
            <a:r>
              <a:rPr lang="zh-CN" altLang="en-US" sz="2800" b="1" dirty="0">
                <a:latin typeface="Times New Roman" panose="02020603050405020304" pitchFamily="18" charset="0"/>
              </a:rPr>
              <a:t>分别称为</a:t>
            </a:r>
            <a:r>
              <a:rPr lang="zh-CN" altLang="en-US" sz="2800" b="1" dirty="0">
                <a:solidFill>
                  <a:srgbClr val="FF0000"/>
                </a:solidFill>
                <a:latin typeface="Times New Roman" panose="02020603050405020304" pitchFamily="18" charset="0"/>
              </a:rPr>
              <a:t>全域关系与恒等关系</a:t>
            </a:r>
            <a:r>
              <a:rPr lang="zh-CN" altLang="en-US" sz="2800" b="1" dirty="0">
                <a:latin typeface="Times New Roman" panose="02020603050405020304" pitchFamily="18" charset="0"/>
              </a:rPr>
              <a:t>，定义如下：</a:t>
            </a:r>
            <a:endParaRPr lang="zh-CN" altLang="en-US" sz="2800" b="1" dirty="0">
              <a:latin typeface="Times New Roman" panose="02020603050405020304" pitchFamily="18" charset="0"/>
            </a:endParaRPr>
          </a:p>
          <a:p>
            <a:pPr>
              <a:lnSpc>
                <a:spcPct val="120000"/>
              </a:lnSpc>
              <a:spcBef>
                <a:spcPct val="20000"/>
              </a:spcBef>
            </a:pPr>
            <a:r>
              <a:rPr lang="zh-CN" altLang="en-US"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&gt;|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br>
              <a:rPr lang="en-US" altLang="zh-CN" sz="2800" b="1" dirty="0">
                <a:latin typeface="Times New Roman" panose="02020603050405020304" pitchFamily="18" charset="0"/>
              </a:rPr>
            </a:b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&gt;|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br>
              <a:rPr lang="en-US" altLang="zh-CN" sz="2800" b="1" dirty="0">
                <a:latin typeface="Times New Roman" panose="02020603050405020304" pitchFamily="18" charset="0"/>
              </a:rPr>
            </a:br>
            <a:r>
              <a:rPr lang="zh-CN" altLang="en-US" sz="2800" b="1" dirty="0">
                <a:latin typeface="Times New Roman" panose="02020603050405020304" pitchFamily="18" charset="0"/>
              </a:rPr>
              <a:t>例如</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={1,2}, </a:t>
            </a:r>
            <a:r>
              <a:rPr lang="zh-CN" altLang="en-US" sz="2800" b="1" dirty="0">
                <a:latin typeface="Times New Roman" panose="02020603050405020304" pitchFamily="18" charset="0"/>
              </a:rPr>
              <a:t>则</a:t>
            </a:r>
            <a:br>
              <a:rPr lang="zh-CN" altLang="en-US" sz="2800" b="1" dirty="0">
                <a:latin typeface="Times New Roman" panose="02020603050405020304" pitchFamily="18" charset="0"/>
              </a:rPr>
            </a:br>
            <a:r>
              <a:rPr lang="zh-CN" altLang="en-US"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={&lt;1,1&gt;,&lt;1,2&gt;,&lt;2,1&gt;,&lt;2,2&gt;}</a:t>
            </a:r>
            <a:br>
              <a:rPr lang="en-US" altLang="zh-CN" sz="2800" b="1" dirty="0">
                <a:latin typeface="Times New Roman" panose="02020603050405020304" pitchFamily="18" charset="0"/>
              </a:rPr>
            </a:b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={&lt;1,1&gt;,&lt;2,2&gt;}</a:t>
            </a:r>
            <a:br>
              <a:rPr lang="en-US" altLang="zh-CN" sz="2800" b="1" dirty="0">
                <a:latin typeface="Times New Roman" panose="02020603050405020304" pitchFamily="18" charset="0"/>
              </a:rPr>
            </a:br>
            <a:endParaRPr lang="en-US" altLang="zh-CN" sz="2800" b="1" dirty="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p:cNvSpPr>
          <p:nvPr>
            <p:ph type="title"/>
          </p:nvPr>
        </p:nvSpPr>
        <p:spPr>
          <a:xfrm>
            <a:off x="815342" y="610076"/>
            <a:ext cx="10978515" cy="1371918"/>
          </a:xfrm>
        </p:spPr>
        <p:txBody>
          <a:bodyPr vert="horz" wrap="square" lIns="108896" tIns="54448" rIns="108896" bIns="54448" anchor="ctr" anchorCtr="0"/>
          <a:lstStyle/>
          <a:p>
            <a:pPr eaLnBrk="1" hangingPunct="1"/>
            <a:r>
              <a:rPr lang="en-US" altLang="zh-CN" sz="3600" b="1" i="1" dirty="0">
                <a:solidFill>
                  <a:srgbClr val="C00000"/>
                </a:solidFill>
                <a:latin typeface="Times New Roman" panose="02020603050405020304" pitchFamily="18" charset="0"/>
              </a:rPr>
              <a:t>A</a:t>
            </a:r>
            <a:r>
              <a:rPr lang="zh-CN" altLang="en-US" sz="3600" b="1" dirty="0">
                <a:solidFill>
                  <a:srgbClr val="C00000"/>
                </a:solidFill>
              </a:rPr>
              <a:t>上重要关系的实例（续）</a:t>
            </a:r>
            <a:endParaRPr lang="zh-CN" altLang="en-US" sz="3600" b="1" dirty="0">
              <a:solidFill>
                <a:srgbClr val="C00000"/>
              </a:solidFill>
            </a:endParaRPr>
          </a:p>
        </p:txBody>
      </p:sp>
      <p:sp>
        <p:nvSpPr>
          <p:cNvPr id="18436" name="Text Box 3"/>
          <p:cNvSpPr txBox="1"/>
          <p:nvPr/>
        </p:nvSpPr>
        <p:spPr>
          <a:xfrm>
            <a:off x="912759" y="1989599"/>
            <a:ext cx="10662967" cy="3976211"/>
          </a:xfrm>
          <a:prstGeom prst="rect">
            <a:avLst/>
          </a:prstGeom>
          <a:noFill/>
          <a:ln w="9525">
            <a:noFill/>
          </a:ln>
        </p:spPr>
        <p:txBody>
          <a:bodyPr lIns="108896" tIns="54448" rIns="108896" bIns="54448">
            <a:spAutoFit/>
          </a:bodyPr>
          <a:lstStyle/>
          <a:p>
            <a:pPr>
              <a:lnSpc>
                <a:spcPct val="130000"/>
              </a:lnSpc>
            </a:pPr>
            <a:r>
              <a:rPr lang="zh-CN" altLang="en-US" sz="2800" b="1" dirty="0">
                <a:solidFill>
                  <a:srgbClr val="FF3300"/>
                </a:solidFill>
                <a:latin typeface="Times New Roman" panose="02020603050405020304" pitchFamily="18" charset="0"/>
              </a:rPr>
              <a:t>小于等于关系 </a:t>
            </a:r>
            <a:r>
              <a:rPr lang="en-US" altLang="zh-CN" sz="2800" b="1" i="1" dirty="0">
                <a:latin typeface="Times New Roman" panose="02020603050405020304" pitchFamily="18" charset="0"/>
              </a:rPr>
              <a:t>L</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 </a:t>
            </a:r>
            <a:r>
              <a:rPr lang="zh-CN" altLang="en-US" sz="2800" b="1" dirty="0">
                <a:solidFill>
                  <a:srgbClr val="FF3300"/>
                </a:solidFill>
                <a:latin typeface="Times New Roman" panose="02020603050405020304" pitchFamily="18" charset="0"/>
              </a:rPr>
              <a:t>整除关系</a:t>
            </a:r>
            <a:r>
              <a:rPr lang="en-US" altLang="zh-CN" sz="2800" b="1" i="1" dirty="0">
                <a:latin typeface="Times New Roman" panose="02020603050405020304" pitchFamily="18" charset="0"/>
              </a:rPr>
              <a:t>D</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 </a:t>
            </a:r>
            <a:r>
              <a:rPr lang="zh-CN" altLang="en-US" sz="2800" b="1" dirty="0">
                <a:solidFill>
                  <a:srgbClr val="FF3300"/>
                </a:solidFill>
                <a:latin typeface="Times New Roman" panose="02020603050405020304" pitchFamily="18" charset="0"/>
              </a:rPr>
              <a:t>包含关系</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定义：</a:t>
            </a:r>
            <a:endParaRPr lang="zh-CN" altLang="en-US" sz="2800" b="1" dirty="0">
              <a:latin typeface="Times New Roman" panose="02020603050405020304" pitchFamily="18" charset="0"/>
            </a:endParaRPr>
          </a:p>
          <a:p>
            <a:pPr>
              <a:lnSpc>
                <a:spcPct val="130000"/>
              </a:lnSpc>
            </a:pP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L</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&gt;|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A</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R</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R</a:t>
            </a:r>
            <a:r>
              <a:rPr lang="zh-CN" altLang="en-US" sz="2800" b="1" dirty="0">
                <a:latin typeface="Times New Roman" panose="02020603050405020304" pitchFamily="18" charset="0"/>
              </a:rPr>
              <a:t>为实数集合 </a:t>
            </a:r>
            <a:endParaRPr lang="zh-CN" altLang="en-US" sz="2800" b="1" dirty="0">
              <a:latin typeface="Times New Roman" panose="02020603050405020304" pitchFamily="18" charset="0"/>
            </a:endParaRPr>
          </a:p>
          <a:p>
            <a:pPr>
              <a:lnSpc>
                <a:spcPct val="130000"/>
              </a:lnSpc>
            </a:pP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D</a:t>
            </a:r>
            <a:r>
              <a:rPr lang="en-US" altLang="zh-CN" sz="2800" b="1" i="1" baseline="-25000" dirty="0">
                <a:latin typeface="Times New Roman" panose="02020603050405020304" pitchFamily="18" charset="0"/>
              </a:rPr>
              <a:t>B</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&gt;|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zh-CN" altLang="en-US" sz="2800" b="1" dirty="0">
                <a:latin typeface="Times New Roman" panose="02020603050405020304" pitchFamily="18" charset="0"/>
              </a:rPr>
              <a:t>整除</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a:lnSpc>
                <a:spcPct val="130000"/>
              </a:lnSpc>
            </a:pPr>
            <a:r>
              <a:rPr lang="en-US" altLang="zh-CN" sz="2800" b="1" i="1" dirty="0">
                <a:latin typeface="Times New Roman" panose="02020603050405020304" pitchFamily="18" charset="0"/>
              </a:rPr>
              <a:t>            B</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Z*, Z*</a:t>
            </a:r>
            <a:r>
              <a:rPr lang="zh-CN" altLang="en-US" sz="2800" b="1" dirty="0">
                <a:latin typeface="Times New Roman" panose="02020603050405020304" pitchFamily="18" charset="0"/>
              </a:rPr>
              <a:t>为非</a:t>
            </a:r>
            <a:r>
              <a:rPr lang="en-US" altLang="zh-CN" sz="2800" b="1" dirty="0">
                <a:latin typeface="Times New Roman" panose="02020603050405020304" pitchFamily="18" charset="0"/>
              </a:rPr>
              <a:t>0</a:t>
            </a:r>
            <a:r>
              <a:rPr lang="zh-CN" altLang="en-US" sz="2800" b="1" dirty="0">
                <a:latin typeface="Times New Roman" panose="02020603050405020304" pitchFamily="18" charset="0"/>
              </a:rPr>
              <a:t>整数集    </a:t>
            </a:r>
            <a:endParaRPr lang="zh-CN" altLang="en-US" sz="2800" b="1" dirty="0">
              <a:latin typeface="Times New Roman" panose="02020603050405020304" pitchFamily="18" charset="0"/>
            </a:endParaRPr>
          </a:p>
          <a:p>
            <a:pPr>
              <a:lnSpc>
                <a:spcPct val="130000"/>
              </a:lnSpc>
            </a:pP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&gt;|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是集合族</a:t>
            </a: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a:p>
            <a:pPr>
              <a:lnSpc>
                <a:spcPct val="130000"/>
              </a:lnSpc>
            </a:pPr>
            <a:r>
              <a:rPr lang="zh-CN" altLang="en-US" sz="2800" b="1" dirty="0">
                <a:latin typeface="Times New Roman" panose="02020603050405020304" pitchFamily="18" charset="0"/>
              </a:rPr>
              <a:t>类似的还可以定义大于等于关系</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小于关系</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大于关系</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真包含关系等等</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p:cNvSpPr>
          <p:nvPr>
            <p:ph type="title"/>
          </p:nvPr>
        </p:nvSpPr>
        <p:spPr/>
        <p:txBody>
          <a:bodyPr vert="horz" wrap="square" lIns="108896" tIns="54448" rIns="108896" bIns="54448" anchor="ctr" anchorCtr="0"/>
          <a:lstStyle/>
          <a:p>
            <a:pPr eaLnBrk="1" hangingPunct="1"/>
            <a:r>
              <a:rPr lang="zh-CN" altLang="en-US" b="1" dirty="0"/>
              <a:t>实例</a:t>
            </a:r>
            <a:endParaRPr lang="zh-CN" altLang="en-US" b="1" dirty="0"/>
          </a:p>
        </p:txBody>
      </p:sp>
      <p:sp>
        <p:nvSpPr>
          <p:cNvPr id="287747" name="Rectangle 3"/>
          <p:cNvSpPr>
            <a:spLocks noGrp="1"/>
          </p:cNvSpPr>
          <p:nvPr>
            <p:ph idx="1"/>
          </p:nvPr>
        </p:nvSpPr>
        <p:spPr>
          <a:xfrm>
            <a:off x="624743" y="1600994"/>
            <a:ext cx="10978515" cy="1592632"/>
          </a:xfrm>
        </p:spPr>
        <p:txBody>
          <a:bodyPr vert="horz" wrap="square" lIns="108896" tIns="54448" rIns="108896" bIns="54448" anchor="t" anchorCtr="0">
            <a:normAutofit fontScale="40000" lnSpcReduction="20000"/>
          </a:bodyPr>
          <a:lstStyle/>
          <a:p>
            <a:pPr eaLnBrk="1" hangingPunct="1">
              <a:lnSpc>
                <a:spcPct val="130000"/>
              </a:lnSpc>
              <a:buNone/>
            </a:pPr>
            <a:r>
              <a:rPr lang="zh-CN" altLang="en-US" sz="7000" dirty="0">
                <a:latin typeface="Times New Roman" panose="02020603050405020304" pitchFamily="18" charset="0"/>
              </a:rPr>
              <a:t>例如 </a:t>
            </a:r>
            <a:r>
              <a:rPr lang="en-US" altLang="zh-CN" sz="7000" i="1" dirty="0">
                <a:latin typeface="Times New Roman" panose="02020603050405020304" pitchFamily="18" charset="0"/>
              </a:rPr>
              <a:t>A </a:t>
            </a:r>
            <a:r>
              <a:rPr lang="en-US" altLang="zh-CN" sz="7000" dirty="0">
                <a:latin typeface="Times New Roman" panose="02020603050405020304" pitchFamily="18" charset="0"/>
              </a:rPr>
              <a:t>= {1, 2, 3}, </a:t>
            </a:r>
            <a:r>
              <a:rPr lang="en-US" altLang="zh-CN" sz="7000" i="1" dirty="0">
                <a:latin typeface="Times New Roman" panose="02020603050405020304" pitchFamily="18" charset="0"/>
              </a:rPr>
              <a:t>B </a:t>
            </a:r>
            <a:r>
              <a:rPr lang="en-US" altLang="zh-CN" sz="7000" dirty="0">
                <a:latin typeface="Times New Roman" panose="02020603050405020304" pitchFamily="18" charset="0"/>
              </a:rPr>
              <a:t>={</a:t>
            </a:r>
            <a:r>
              <a:rPr lang="en-US" altLang="zh-CN" sz="7000" i="1" dirty="0">
                <a:latin typeface="Times New Roman" panose="02020603050405020304" pitchFamily="18" charset="0"/>
              </a:rPr>
              <a:t>a</a:t>
            </a:r>
            <a:r>
              <a:rPr lang="en-US" altLang="zh-CN" sz="7000" dirty="0">
                <a:latin typeface="Times New Roman" panose="02020603050405020304" pitchFamily="18" charset="0"/>
              </a:rPr>
              <a:t>, </a:t>
            </a:r>
            <a:r>
              <a:rPr lang="en-US" altLang="zh-CN" sz="7000" i="1" dirty="0">
                <a:latin typeface="Times New Roman" panose="02020603050405020304" pitchFamily="18" charset="0"/>
              </a:rPr>
              <a:t>b</a:t>
            </a:r>
            <a:r>
              <a:rPr lang="en-US" altLang="zh-CN" sz="7000" dirty="0">
                <a:latin typeface="Times New Roman" panose="02020603050405020304" pitchFamily="18" charset="0"/>
              </a:rPr>
              <a:t>}, </a:t>
            </a:r>
            <a:r>
              <a:rPr lang="zh-CN" altLang="en-US" sz="7000" dirty="0">
                <a:latin typeface="Times New Roman" panose="02020603050405020304" pitchFamily="18" charset="0"/>
              </a:rPr>
              <a:t>则</a:t>
            </a:r>
            <a:br>
              <a:rPr lang="zh-CN" altLang="en-US" sz="7000" dirty="0">
                <a:latin typeface="Times New Roman" panose="02020603050405020304" pitchFamily="18" charset="0"/>
              </a:rPr>
            </a:br>
            <a:r>
              <a:rPr lang="zh-CN" altLang="en-US" sz="7000" dirty="0">
                <a:latin typeface="Times New Roman" panose="02020603050405020304" pitchFamily="18" charset="0"/>
              </a:rPr>
              <a:t>  </a:t>
            </a:r>
            <a:r>
              <a:rPr lang="en-US" altLang="zh-CN" sz="7000" i="1" dirty="0">
                <a:latin typeface="Times New Roman" panose="02020603050405020304" pitchFamily="18" charset="0"/>
              </a:rPr>
              <a:t>L</a:t>
            </a:r>
            <a:r>
              <a:rPr lang="en-US" altLang="zh-CN" sz="7000" i="1" baseline="-25000" dirty="0">
                <a:latin typeface="Times New Roman" panose="02020603050405020304" pitchFamily="18" charset="0"/>
              </a:rPr>
              <a:t>A</a:t>
            </a:r>
            <a:r>
              <a:rPr lang="en-US" altLang="zh-CN" sz="7000" dirty="0">
                <a:latin typeface="Times New Roman" panose="02020603050405020304" pitchFamily="18" charset="0"/>
              </a:rPr>
              <a:t>={&lt;1,1&gt;,&lt;1,2&gt;,&lt;1,3&gt;,&lt;2,2&gt;,&lt;2,3&gt;,&lt;3,3&gt;}</a:t>
            </a:r>
            <a:br>
              <a:rPr lang="en-US" altLang="zh-CN" sz="7000" dirty="0">
                <a:latin typeface="Times New Roman" panose="02020603050405020304" pitchFamily="18" charset="0"/>
              </a:rPr>
            </a:br>
            <a:r>
              <a:rPr lang="en-US" altLang="zh-CN" sz="7000" dirty="0">
                <a:latin typeface="Times New Roman" panose="02020603050405020304" pitchFamily="18" charset="0"/>
              </a:rPr>
              <a:t>  </a:t>
            </a:r>
            <a:r>
              <a:rPr lang="en-US" altLang="zh-CN" sz="7000" i="1" dirty="0">
                <a:latin typeface="Times New Roman" panose="02020603050405020304" pitchFamily="18" charset="0"/>
              </a:rPr>
              <a:t>D</a:t>
            </a:r>
            <a:r>
              <a:rPr lang="en-US" altLang="zh-CN" sz="7000" i="1" baseline="-25000" dirty="0">
                <a:latin typeface="Times New Roman" panose="02020603050405020304" pitchFamily="18" charset="0"/>
              </a:rPr>
              <a:t>A</a:t>
            </a:r>
            <a:r>
              <a:rPr lang="en-US" altLang="zh-CN" sz="7000" dirty="0">
                <a:latin typeface="Times New Roman" panose="02020603050405020304" pitchFamily="18" charset="0"/>
              </a:rPr>
              <a:t>={&lt;1,1&gt;,&lt;1,2&gt;,&lt;1,3&gt;,&lt;2,2&gt;,&lt;3,3&gt;}</a:t>
            </a:r>
            <a:endParaRPr lang="en-US" altLang="zh-CN" sz="7000" dirty="0">
              <a:latin typeface="Times New Roman" panose="02020603050405020304" pitchFamily="18" charset="0"/>
            </a:endParaRPr>
          </a:p>
          <a:p>
            <a:pPr eaLnBrk="1" hangingPunct="1">
              <a:lnSpc>
                <a:spcPct val="110000"/>
              </a:lnSpc>
              <a:buNone/>
            </a:pPr>
            <a:endParaRPr lang="en-US" altLang="zh-CN" sz="3300" dirty="0">
              <a:solidFill>
                <a:srgbClr val="000099"/>
              </a:solidFill>
              <a:latin typeface="Times New Roman" panose="02020603050405020304" pitchFamily="18" charset="0"/>
            </a:endParaRPr>
          </a:p>
        </p:txBody>
      </p:sp>
      <p:sp>
        <p:nvSpPr>
          <p:cNvPr id="287748" name="Text Box 4"/>
          <p:cNvSpPr txBox="1"/>
          <p:nvPr/>
        </p:nvSpPr>
        <p:spPr>
          <a:xfrm>
            <a:off x="789929" y="3734594"/>
            <a:ext cx="10783680" cy="2384749"/>
          </a:xfrm>
          <a:prstGeom prst="rect">
            <a:avLst/>
          </a:prstGeom>
          <a:noFill/>
          <a:ln w="9525">
            <a:noFill/>
          </a:ln>
        </p:spPr>
        <p:txBody>
          <a:bodyPr lIns="108896" tIns="54448" rIns="108896" bIns="54448">
            <a:spAutoFit/>
          </a:bodyPr>
          <a:lstStyle/>
          <a:p>
            <a:pPr>
              <a:lnSpc>
                <a:spcPct val="130000"/>
              </a:lnSpc>
            </a:pP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P</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则 </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上的包含关系是       </a:t>
            </a:r>
            <a:endParaRPr lang="zh-CN" altLang="en-US" sz="2800" b="1" dirty="0">
              <a:latin typeface="Times New Roman" panose="02020603050405020304" pitchFamily="18" charset="0"/>
            </a:endParaRPr>
          </a:p>
          <a:p>
            <a:pPr>
              <a:lnSpc>
                <a:spcPct val="130000"/>
              </a:lnSpc>
            </a:pP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={&lt;</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&gt;,&lt;</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}&gt;,&lt;</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}&gt;,&lt;</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}&gt;,                </a:t>
            </a:r>
            <a:endParaRPr lang="en-US" altLang="zh-CN" sz="2800" b="1" dirty="0">
              <a:latin typeface="Times New Roman" panose="02020603050405020304" pitchFamily="18" charset="0"/>
            </a:endParaRPr>
          </a:p>
          <a:p>
            <a:pPr>
              <a:lnSpc>
                <a:spcPct val="130000"/>
              </a:lnSpc>
            </a:pPr>
            <a:r>
              <a:rPr lang="en-US" altLang="zh-CN" sz="2800" b="1" dirty="0">
                <a:latin typeface="Times New Roman" panose="02020603050405020304" pitchFamily="18" charset="0"/>
              </a:rPr>
              <a:t>      &lt;{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a:t>
            </a:r>
            <a:br>
              <a:rPr lang="en-US" altLang="zh-CN" sz="3300" b="1" dirty="0">
                <a:solidFill>
                  <a:srgbClr val="000099"/>
                </a:solidFill>
                <a:latin typeface="Times New Roman" panose="02020603050405020304" pitchFamily="18" charset="0"/>
              </a:rPr>
            </a:br>
            <a:endParaRPr lang="en-US" altLang="zh-CN" sz="3300" b="1" dirty="0">
              <a:solidFill>
                <a:srgbClr val="000099"/>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anim calcmode="lin" valueType="num">
                                      <p:cBhvr additive="base">
                                        <p:cTn id="7" dur="500" fill="hold"/>
                                        <p:tgtEl>
                                          <p:spTgt spid="287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7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7748"/>
                                        </p:tgtEl>
                                        <p:attrNameLst>
                                          <p:attrName>style.visibility</p:attrName>
                                        </p:attrNameLst>
                                      </p:cBhvr>
                                      <p:to>
                                        <p:strVal val="visible"/>
                                      </p:to>
                                    </p:set>
                                    <p:anim calcmode="lin" valueType="num">
                                      <p:cBhvr additive="base">
                                        <p:cTn id="13" dur="500" fill="hold"/>
                                        <p:tgtEl>
                                          <p:spTgt spid="287748"/>
                                        </p:tgtEl>
                                        <p:attrNameLst>
                                          <p:attrName>ppt_x</p:attrName>
                                        </p:attrNameLst>
                                      </p:cBhvr>
                                      <p:tavLst>
                                        <p:tav tm="0">
                                          <p:val>
                                            <p:strVal val="0-#ppt_w/2"/>
                                          </p:val>
                                        </p:tav>
                                        <p:tav tm="100000">
                                          <p:val>
                                            <p:strVal val="#ppt_x"/>
                                          </p:val>
                                        </p:tav>
                                      </p:tavLst>
                                    </p:anim>
                                    <p:anim calcmode="lin" valueType="num">
                                      <p:cBhvr additive="base">
                                        <p:cTn id="14" dur="500" fill="hold"/>
                                        <p:tgtEl>
                                          <p:spTgt spid="2877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P spid="28774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3161547"/>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学习要求</a:t>
            </a: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08445"/>
            <a:ext cx="1538883" cy="369353"/>
          </a:xfrm>
          <a:prstGeom prst="rect">
            <a:avLst/>
          </a:prstGeom>
          <a:noFill/>
        </p:spPr>
        <p:txBody>
          <a:bodyPr wrap="none" lIns="0" tIns="0" rIns="0" bIns="60981" rtlCol="0">
            <a:spAutoFit/>
          </a:bodyPr>
          <a:lstStyle/>
          <a:p>
            <a:pPr>
              <a:lnSpc>
                <a:spcPts val="2400"/>
              </a:lnSpc>
            </a:pPr>
            <a:r>
              <a:rPr lang="zh-CN" altLang="en-US" b="1" dirty="0">
                <a:solidFill>
                  <a:schemeClr val="bg1"/>
                </a:solidFill>
                <a:latin typeface="Microsoft YaHei UI" panose="020B0503020204020204" pitchFamily="18" charset="-122"/>
                <a:cs typeface="Microsoft YaHei UI" panose="020B0503020204020204" pitchFamily="18" charset="-122"/>
              </a:rPr>
              <a:t>关系的运算</a:t>
            </a:r>
            <a:endParaRPr lang="zh-CN" altLang="en-US" b="1" dirty="0">
              <a:solidFill>
                <a:schemeClr val="bg1"/>
              </a:solidFill>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800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4</a:t>
            </a:r>
            <a:r>
              <a:rPr lang="en-US" altLang="zh-CN" b="1" dirty="0">
                <a:solidFill>
                  <a:schemeClr val="bg1"/>
                </a:solidFill>
                <a:latin typeface="Microsoft YaHei UI" panose="020B0503020204020204" pitchFamily="18" charset="-122"/>
                <a:cs typeface="Microsoft YaHei UI" panose="020B0503020204020204" pitchFamily="18" charset="-122"/>
              </a:rPr>
              <a:t>.2</a:t>
            </a:r>
            <a:endParaRPr lang="en-US" altLang="zh-CN" b="1" dirty="0">
              <a:solidFill>
                <a:schemeClr val="bg1"/>
              </a:solidFill>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gn="l">
              <a:lnSpc>
                <a:spcPts val="2400"/>
              </a:lnSpc>
            </a:pPr>
            <a:r>
              <a:rPr lang="zh-CN" altLang="en-US" b="1" dirty="0" smtClean="0">
                <a:latin typeface="Microsoft YaHei UI" panose="020B0503020204020204" pitchFamily="18" charset="-122"/>
                <a:cs typeface="Microsoft YaHei UI" panose="020B0503020204020204" pitchFamily="18" charset="-122"/>
                <a:sym typeface="+mn-ea"/>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a:xfrm>
            <a:off x="765528" y="265976"/>
            <a:ext cx="8066367" cy="585923"/>
          </a:xfrm>
        </p:spPr>
        <p:txBody>
          <a:bodyPr/>
          <a:lstStyle/>
          <a:p>
            <a:pPr eaLnBrk="1" hangingPunct="1"/>
            <a:r>
              <a:rPr lang="zh-CN" altLang="en-US" dirty="0"/>
              <a:t>问题引入</a:t>
            </a:r>
            <a:endParaRPr lang="zh-CN" altLang="en-US" dirty="0"/>
          </a:p>
        </p:txBody>
      </p:sp>
      <p:sp>
        <p:nvSpPr>
          <p:cNvPr id="1437699" name="Rectangle 3"/>
          <p:cNvSpPr>
            <a:spLocks noGrp="1" noChangeArrowheads="1"/>
          </p:cNvSpPr>
          <p:nvPr>
            <p:ph type="body" sz="half" idx="1"/>
          </p:nvPr>
        </p:nvSpPr>
        <p:spPr>
          <a:xfrm>
            <a:off x="460375" y="1524794"/>
            <a:ext cx="10896600" cy="2286000"/>
          </a:xfrm>
          <a:solidFill>
            <a:srgbClr val="1157AB"/>
          </a:solidFill>
        </p:spPr>
        <p:txBody>
          <a:bodyPr vert="horz" lIns="72017" tIns="60958" rIns="72017" bIns="60958" rtlCol="0">
            <a:normAutofit/>
          </a:bodyPr>
          <a:lstStyle/>
          <a:p>
            <a:pPr marL="0" indent="0">
              <a:buNone/>
            </a:pPr>
            <a:r>
              <a:rPr lang="zh-CN" altLang="en-US" dirty="0">
                <a:solidFill>
                  <a:schemeClr val="bg1"/>
                </a:solidFill>
              </a:rPr>
              <a:t>关系是一种</a:t>
            </a:r>
            <a:r>
              <a:rPr lang="zh-CN" altLang="en-US" dirty="0">
                <a:solidFill>
                  <a:srgbClr val="FF0000"/>
                </a:solidFill>
              </a:rPr>
              <a:t>特殊的集合</a:t>
            </a:r>
            <a:r>
              <a:rPr lang="zh-CN" altLang="en-US" dirty="0">
                <a:solidFill>
                  <a:schemeClr val="bg1"/>
                </a:solidFill>
              </a:rPr>
              <a:t>，</a:t>
            </a:r>
            <a:endParaRPr lang="en-US" altLang="zh-CN" dirty="0">
              <a:solidFill>
                <a:schemeClr val="bg1"/>
              </a:solidFill>
            </a:endParaRPr>
          </a:p>
          <a:p>
            <a:pPr marL="0" indent="0">
              <a:buNone/>
            </a:pPr>
            <a:r>
              <a:rPr lang="zh-CN" altLang="en-US" dirty="0">
                <a:solidFill>
                  <a:schemeClr val="bg1"/>
                </a:solidFill>
              </a:rPr>
              <a:t>（</a:t>
            </a:r>
            <a:r>
              <a:rPr lang="en-US" altLang="zh-CN" dirty="0">
                <a:solidFill>
                  <a:schemeClr val="bg1"/>
                </a:solidFill>
              </a:rPr>
              <a:t>1</a:t>
            </a:r>
            <a:r>
              <a:rPr lang="zh-CN" altLang="en-US" dirty="0">
                <a:solidFill>
                  <a:schemeClr val="bg1"/>
                </a:solidFill>
              </a:rPr>
              <a:t>）关系可以进行集合</a:t>
            </a:r>
            <a:r>
              <a:rPr lang="zh-CN" altLang="zh-CN" dirty="0">
                <a:solidFill>
                  <a:schemeClr val="bg1"/>
                </a:solidFill>
              </a:rPr>
              <a:t>交、并、差和补等基本运算吗</a:t>
            </a:r>
            <a:r>
              <a:rPr lang="zh-CN" altLang="en-US" dirty="0">
                <a:solidFill>
                  <a:schemeClr val="bg1"/>
                </a:solidFill>
              </a:rPr>
              <a:t>？</a:t>
            </a:r>
            <a:endParaRPr lang="en-US" altLang="zh-CN" dirty="0">
              <a:solidFill>
                <a:schemeClr val="bg1"/>
              </a:solidFill>
            </a:endParaRPr>
          </a:p>
          <a:p>
            <a:pPr marL="0" indent="0">
              <a:lnSpc>
                <a:spcPct val="170000"/>
              </a:lnSpc>
              <a:buNone/>
            </a:pPr>
            <a:r>
              <a:rPr lang="zh-CN" altLang="en-US" dirty="0">
                <a:solidFill>
                  <a:schemeClr val="bg1"/>
                </a:solidFill>
              </a:rPr>
              <a:t>（</a:t>
            </a:r>
            <a:r>
              <a:rPr lang="en-US" altLang="zh-CN" dirty="0">
                <a:solidFill>
                  <a:schemeClr val="bg1"/>
                </a:solidFill>
              </a:rPr>
              <a:t>2</a:t>
            </a:r>
            <a:r>
              <a:rPr lang="zh-CN" altLang="en-US" dirty="0">
                <a:solidFill>
                  <a:schemeClr val="bg1"/>
                </a:solidFill>
              </a:rPr>
              <a:t>）关系有自己特有的运算吗？</a:t>
            </a:r>
            <a:endParaRPr lang="en-US" altLang="zh-CN" dirty="0">
              <a:solidFill>
                <a:schemeClr val="bg1"/>
              </a:solidFill>
            </a:endParaRPr>
          </a:p>
          <a:p>
            <a:pPr marL="0" indent="0">
              <a:buNone/>
            </a:pPr>
            <a:endParaRPr lang="en-US" altLang="zh-CN" dirty="0">
              <a:solidFill>
                <a:schemeClr val="bg1"/>
              </a:solidFill>
            </a:endParaRPr>
          </a:p>
        </p:txBody>
      </p:sp>
      <p:sp>
        <p:nvSpPr>
          <p:cNvPr id="4" name="内容占位符 2"/>
          <p:cNvSpPr txBox="1"/>
          <p:nvPr/>
        </p:nvSpPr>
        <p:spPr>
          <a:xfrm>
            <a:off x="460375" y="4178889"/>
            <a:ext cx="10896600" cy="1155905"/>
          </a:xfrm>
          <a:prstGeom prst="rect">
            <a:avLst/>
          </a:prstGeom>
        </p:spPr>
        <p:txBody>
          <a:bodyPr vert="horz" lIns="121917" tIns="60958" rIns="121917" bIns="60958" rtlCol="0">
            <a:normAutofit lnSpcReduction="10000"/>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zh-CN" altLang="zh-CN" dirty="0">
                <a:solidFill>
                  <a:srgbClr val="0000FF"/>
                </a:solidFill>
              </a:rPr>
              <a:t>关系是</a:t>
            </a:r>
            <a:r>
              <a:rPr lang="zh-CN" altLang="zh-CN" dirty="0"/>
              <a:t>以序偶为元素的</a:t>
            </a:r>
            <a:r>
              <a:rPr lang="zh-CN" altLang="zh-CN" dirty="0">
                <a:solidFill>
                  <a:srgbClr val="0000FF"/>
                </a:solidFill>
              </a:rPr>
              <a:t>特殊集合</a:t>
            </a:r>
            <a:r>
              <a:rPr lang="zh-CN" altLang="zh-CN" dirty="0"/>
              <a:t>，</a:t>
            </a:r>
            <a:r>
              <a:rPr lang="zh-CN" altLang="zh-CN" dirty="0">
                <a:solidFill>
                  <a:srgbClr val="C00000"/>
                </a:solidFill>
              </a:rPr>
              <a:t>因此所有集合的基本运算均适用于关系。</a:t>
            </a:r>
            <a:endParaRPr lang="zh-CN" altLang="zh-CN" dirty="0">
              <a:solidFill>
                <a:srgbClr val="C00000"/>
              </a:solidFill>
            </a:endParaRPr>
          </a:p>
          <a:p>
            <a:pPr>
              <a:defRPr/>
            </a:pPr>
            <a:endParaRPr lang="zh-CN" altLang="en-US" dirty="0"/>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82" name="Rectangle 4"/>
          <p:cNvSpPr>
            <a:spLocks noChangeArrowheads="1"/>
          </p:cNvSpPr>
          <p:nvPr/>
        </p:nvSpPr>
        <p:spPr bwMode="auto">
          <a:xfrm>
            <a:off x="338400" y="3796446"/>
            <a:ext cx="10713775" cy="2777434"/>
          </a:xfrm>
          <a:prstGeom prst="rect">
            <a:avLst/>
          </a:prstGeom>
          <a:solidFill>
            <a:srgbClr val="1157AB"/>
          </a:solidFill>
          <a:ln>
            <a:noFill/>
          </a:ln>
        </p:spPr>
        <p:txBody>
          <a:bodyPr wrap="square" lIns="72017" tIns="36008" rIns="72017" bIns="36008">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996633"/>
              </a:buClr>
              <a:buFont typeface="Wingdings" panose="05000000000000000000" pitchFamily="2" charset="2"/>
              <a:buNone/>
            </a:pPr>
            <a:r>
              <a:rPr kumimoji="1" lang="zh-CN" altLang="en-US" sz="2400" dirty="0">
                <a:solidFill>
                  <a:schemeClr val="bg1"/>
                </a:solidFill>
                <a:latin typeface="+mn-ea"/>
                <a:ea typeface="+mn-ea"/>
              </a:rPr>
              <a:t>注意：因为</a:t>
            </a:r>
            <a:r>
              <a:rPr kumimoji="1" lang="en-US" altLang="zh-CN" sz="2400" noProof="1">
                <a:solidFill>
                  <a:srgbClr val="FF0000"/>
                </a:solidFill>
                <a:latin typeface="+mn-ea"/>
                <a:ea typeface="+mn-ea"/>
              </a:rPr>
              <a:t>A×B</a:t>
            </a:r>
            <a:r>
              <a:rPr kumimoji="1" lang="zh-CN" altLang="en-US" sz="2400" noProof="1">
                <a:solidFill>
                  <a:schemeClr val="bg1"/>
                </a:solidFill>
                <a:latin typeface="+mn-ea"/>
                <a:ea typeface="+mn-ea"/>
              </a:rPr>
              <a:t>是相对于</a:t>
            </a:r>
            <a:r>
              <a:rPr kumimoji="1" lang="en-US" altLang="zh-CN" sz="2400" noProof="1">
                <a:solidFill>
                  <a:schemeClr val="bg1"/>
                </a:solidFill>
                <a:latin typeface="+mn-ea"/>
                <a:ea typeface="+mn-ea"/>
              </a:rPr>
              <a:t>R</a:t>
            </a:r>
            <a:r>
              <a:rPr kumimoji="1" lang="zh-CN" altLang="en-US" sz="2400" noProof="1">
                <a:solidFill>
                  <a:schemeClr val="bg1"/>
                </a:solidFill>
                <a:latin typeface="+mn-ea"/>
                <a:ea typeface="+mn-ea"/>
              </a:rPr>
              <a:t>的全集，所以</a:t>
            </a:r>
            <a:endParaRPr kumimoji="1" lang="zh-CN" altLang="en-US" sz="2400" dirty="0">
              <a:solidFill>
                <a:schemeClr val="bg1"/>
              </a:solidFill>
              <a:latin typeface="+mn-ea"/>
              <a:ea typeface="+mn-ea"/>
            </a:endParaRPr>
          </a:p>
          <a:p>
            <a:pPr algn="l">
              <a:lnSpc>
                <a:spcPct val="150000"/>
              </a:lnSpc>
              <a:spcBef>
                <a:spcPct val="0"/>
              </a:spcBef>
              <a:buClr>
                <a:srgbClr val="996633"/>
              </a:buClr>
              <a:buFont typeface="Wingdings" panose="05000000000000000000" pitchFamily="2" charset="2"/>
              <a:buChar char="u"/>
            </a:pPr>
            <a:r>
              <a:rPr kumimoji="1" lang="en-US" altLang="zh-CN" sz="2400" dirty="0" err="1">
                <a:solidFill>
                  <a:schemeClr val="bg1"/>
                </a:solidFill>
                <a:latin typeface="+mn-ea"/>
                <a:ea typeface="+mn-ea"/>
              </a:rPr>
              <a:t>R</a:t>
            </a:r>
            <a:r>
              <a:rPr kumimoji="1" lang="en-US" altLang="zh-CN" sz="2400" baseline="30000" dirty="0" err="1">
                <a:solidFill>
                  <a:schemeClr val="bg1"/>
                </a:solidFill>
              </a:rPr>
              <a:t>c</a:t>
            </a:r>
            <a:r>
              <a:rPr kumimoji="1" lang="en-US" altLang="en-US" sz="2400" noProof="1">
                <a:solidFill>
                  <a:schemeClr val="bg1"/>
                </a:solidFill>
                <a:latin typeface="+mn-ea"/>
                <a:ea typeface="+mn-ea"/>
              </a:rPr>
              <a:t>＝</a:t>
            </a:r>
            <a:r>
              <a:rPr kumimoji="1" lang="en-US" altLang="zh-CN" sz="2400" noProof="1">
                <a:solidFill>
                  <a:schemeClr val="bg1"/>
                </a:solidFill>
                <a:latin typeface="+mn-ea"/>
                <a:ea typeface="+mn-ea"/>
              </a:rPr>
              <a:t>A×B-R         </a:t>
            </a:r>
            <a:endParaRPr kumimoji="1" lang="en-US" altLang="zh-CN" sz="2400" noProof="1">
              <a:solidFill>
                <a:schemeClr val="bg1"/>
              </a:solidFill>
              <a:latin typeface="+mn-ea"/>
              <a:ea typeface="+mn-ea"/>
            </a:endParaRPr>
          </a:p>
          <a:p>
            <a:pPr algn="l">
              <a:lnSpc>
                <a:spcPct val="150000"/>
              </a:lnSpc>
              <a:spcBef>
                <a:spcPct val="0"/>
              </a:spcBef>
              <a:buClr>
                <a:srgbClr val="996633"/>
              </a:buClr>
              <a:buFont typeface="Wingdings" panose="05000000000000000000" pitchFamily="2" charset="2"/>
              <a:buChar char="u"/>
            </a:pPr>
            <a:r>
              <a:rPr kumimoji="1" lang="en-US" altLang="zh-CN" sz="2400" dirty="0">
                <a:solidFill>
                  <a:schemeClr val="bg1"/>
                </a:solidFill>
                <a:latin typeface="+mn-ea"/>
                <a:ea typeface="+mn-ea"/>
              </a:rPr>
              <a:t>R∪</a:t>
            </a:r>
            <a:r>
              <a:rPr kumimoji="1" lang="en-US" altLang="zh-CN" sz="2400" noProof="1">
                <a:solidFill>
                  <a:schemeClr val="bg1"/>
                </a:solidFill>
                <a:latin typeface="+mn-ea"/>
                <a:ea typeface="+mn-ea"/>
              </a:rPr>
              <a:t>R</a:t>
            </a:r>
            <a:r>
              <a:rPr kumimoji="1" lang="en-US" altLang="zh-CN" sz="2400" baseline="30000" dirty="0">
                <a:solidFill>
                  <a:schemeClr val="bg1"/>
                </a:solidFill>
              </a:rPr>
              <a:t>c</a:t>
            </a:r>
            <a:r>
              <a:rPr kumimoji="1" lang="en-US" altLang="zh-CN" sz="2400" noProof="1">
                <a:solidFill>
                  <a:schemeClr val="bg1"/>
                </a:solidFill>
                <a:latin typeface="+mn-ea"/>
                <a:ea typeface="+mn-ea"/>
              </a:rPr>
              <a:t>＝A×B            </a:t>
            </a:r>
            <a:r>
              <a:rPr kumimoji="1" lang="en-US" altLang="zh-CN" sz="2400" dirty="0">
                <a:solidFill>
                  <a:schemeClr val="bg1"/>
                </a:solidFill>
                <a:latin typeface="+mn-ea"/>
                <a:ea typeface="+mn-ea"/>
              </a:rPr>
              <a:t>R</a:t>
            </a:r>
            <a:r>
              <a:rPr kumimoji="1" lang="en-US" altLang="zh-CN" sz="2400" noProof="1">
                <a:solidFill>
                  <a:schemeClr val="bg1"/>
                </a:solidFill>
                <a:latin typeface="+mn-ea"/>
                <a:ea typeface="+mn-ea"/>
              </a:rPr>
              <a:t>∩R</a:t>
            </a:r>
            <a:r>
              <a:rPr kumimoji="1" lang="en-US" altLang="zh-CN" sz="2400" baseline="30000" dirty="0">
                <a:solidFill>
                  <a:schemeClr val="bg1"/>
                </a:solidFill>
              </a:rPr>
              <a:t>c</a:t>
            </a:r>
            <a:r>
              <a:rPr kumimoji="1" lang="en-US" altLang="zh-CN" sz="2400" noProof="1">
                <a:solidFill>
                  <a:schemeClr val="bg1"/>
                </a:solidFill>
                <a:latin typeface="+mn-ea"/>
                <a:ea typeface="+mn-ea"/>
              </a:rPr>
              <a:t>＝</a:t>
            </a:r>
            <a:r>
              <a:rPr kumimoji="1" lang="el-GR" altLang="zh-CN" sz="2400" noProof="1">
                <a:solidFill>
                  <a:schemeClr val="bg1"/>
                </a:solidFill>
                <a:latin typeface="+mn-ea"/>
                <a:ea typeface="+mn-ea"/>
              </a:rPr>
              <a:t>Φ</a:t>
            </a:r>
            <a:endParaRPr kumimoji="1" lang="en-US" altLang="zh-CN" sz="2400" noProof="1">
              <a:solidFill>
                <a:schemeClr val="bg1"/>
              </a:solidFill>
              <a:latin typeface="+mn-ea"/>
              <a:ea typeface="+mn-ea"/>
            </a:endParaRPr>
          </a:p>
          <a:p>
            <a:pPr algn="l">
              <a:lnSpc>
                <a:spcPct val="150000"/>
              </a:lnSpc>
              <a:spcBef>
                <a:spcPct val="0"/>
              </a:spcBef>
              <a:buClr>
                <a:srgbClr val="996633"/>
              </a:buClr>
              <a:buFont typeface="Wingdings" panose="05000000000000000000" pitchFamily="2" charset="2"/>
              <a:buChar char="u"/>
            </a:pPr>
            <a:r>
              <a:rPr kumimoji="1" lang="en-US" altLang="zh-CN" sz="2400" noProof="1">
                <a:solidFill>
                  <a:schemeClr val="bg1"/>
                </a:solidFill>
                <a:latin typeface="+mn-ea"/>
                <a:ea typeface="+mn-ea"/>
              </a:rPr>
              <a:t> </a:t>
            </a:r>
            <a:endParaRPr kumimoji="1" lang="en-US" altLang="zh-CN" sz="2400" noProof="1">
              <a:solidFill>
                <a:schemeClr val="bg1"/>
              </a:solidFill>
              <a:latin typeface="+mn-ea"/>
              <a:ea typeface="+mn-ea"/>
            </a:endParaRPr>
          </a:p>
          <a:p>
            <a:pPr algn="l">
              <a:lnSpc>
                <a:spcPct val="150000"/>
              </a:lnSpc>
              <a:spcBef>
                <a:spcPct val="0"/>
              </a:spcBef>
              <a:buClr>
                <a:srgbClr val="996633"/>
              </a:buClr>
              <a:buFont typeface="Wingdings" panose="05000000000000000000" pitchFamily="2" charset="2"/>
              <a:buChar char="u"/>
            </a:pPr>
            <a:r>
              <a:rPr kumimoji="1" lang="en-US" altLang="zh-CN" sz="2400" noProof="1">
                <a:solidFill>
                  <a:schemeClr val="bg1"/>
                </a:solidFill>
                <a:latin typeface="+mn-ea"/>
                <a:ea typeface="+mn-ea"/>
              </a:rPr>
              <a:t> </a:t>
            </a:r>
            <a:endParaRPr kumimoji="1" lang="zh-CN" altLang="en-US" sz="2400" dirty="0">
              <a:solidFill>
                <a:schemeClr val="bg1"/>
              </a:solidFill>
              <a:latin typeface="+mn-ea"/>
              <a:ea typeface="+mn-ea"/>
            </a:endParaRPr>
          </a:p>
        </p:txBody>
      </p:sp>
      <p:sp>
        <p:nvSpPr>
          <p:cNvPr id="105475" name="Rectangle 2"/>
          <p:cNvSpPr>
            <a:spLocks noGrp="1" noChangeArrowheads="1"/>
          </p:cNvSpPr>
          <p:nvPr>
            <p:ph type="title"/>
          </p:nvPr>
        </p:nvSpPr>
        <p:spPr>
          <a:xfrm>
            <a:off x="765528" y="265976"/>
            <a:ext cx="8066367" cy="585923"/>
          </a:xfrm>
        </p:spPr>
        <p:txBody>
          <a:bodyPr/>
          <a:lstStyle/>
          <a:p>
            <a:pPr eaLnBrk="1" hangingPunct="1"/>
            <a:r>
              <a:rPr lang="en-US" altLang="zh-CN" dirty="0"/>
              <a:t>4.2 </a:t>
            </a:r>
            <a:r>
              <a:rPr lang="zh-CN" altLang="en-US" dirty="0"/>
              <a:t>关系的运算</a:t>
            </a:r>
            <a:endParaRPr lang="zh-CN" altLang="en-US" dirty="0"/>
          </a:p>
        </p:txBody>
      </p:sp>
      <mc:AlternateContent xmlns:mc="http://schemas.openxmlformats.org/markup-compatibility/2006">
        <mc:Choice xmlns:a14="http://schemas.microsoft.com/office/drawing/2010/main" Requires="a14">
          <p:sp>
            <p:nvSpPr>
              <p:cNvPr id="1437699" name="Rectangle 3"/>
              <p:cNvSpPr>
                <a:spLocks noGrp="1" noChangeArrowheads="1"/>
              </p:cNvSpPr>
              <p:nvPr>
                <p:ph type="body" sz="half" idx="1"/>
              </p:nvPr>
            </p:nvSpPr>
            <p:spPr>
              <a:xfrm>
                <a:off x="338400" y="913201"/>
                <a:ext cx="7012023" cy="2999481"/>
              </a:xfrm>
            </p:spPr>
            <p:txBody>
              <a:bodyPr vert="horz" lIns="72017" tIns="60958" rIns="72017" bIns="60958" rtlCol="0">
                <a:normAutofit/>
              </a:bodyPr>
              <a:lstStyle/>
              <a:p>
                <a:pPr marL="0" indent="0">
                  <a:buNone/>
                </a:pPr>
                <a:r>
                  <a:rPr lang="zh-CN" altLang="en-US" dirty="0">
                    <a:solidFill>
                      <a:srgbClr val="0000CC"/>
                    </a:solidFill>
                  </a:rPr>
                  <a:t>设</a:t>
                </a:r>
                <a:r>
                  <a:rPr lang="en-US" altLang="zh-CN" dirty="0">
                    <a:solidFill>
                      <a:srgbClr val="0000CC"/>
                    </a:solidFill>
                  </a:rPr>
                  <a:t>R</a:t>
                </a:r>
                <a:r>
                  <a:rPr lang="zh-CN" altLang="en-US" dirty="0">
                    <a:solidFill>
                      <a:srgbClr val="0000CC"/>
                    </a:solidFill>
                  </a:rPr>
                  <a:t>，</a:t>
                </a:r>
                <a:r>
                  <a:rPr lang="en-US" altLang="zh-CN" dirty="0">
                    <a:solidFill>
                      <a:srgbClr val="0000CC"/>
                    </a:solidFill>
                  </a:rPr>
                  <a:t>S</a:t>
                </a:r>
                <a:r>
                  <a:rPr lang="zh-CN" altLang="en-US" dirty="0">
                    <a:solidFill>
                      <a:srgbClr val="0000CC"/>
                    </a:solidFill>
                  </a:rPr>
                  <a:t>都是从集合</a:t>
                </a:r>
                <a:r>
                  <a:rPr lang="en-US" altLang="zh-CN" dirty="0">
                    <a:solidFill>
                      <a:srgbClr val="0000CC"/>
                    </a:solidFill>
                  </a:rPr>
                  <a:t>A</a:t>
                </a:r>
                <a:r>
                  <a:rPr lang="zh-CN" altLang="en-US" dirty="0">
                    <a:solidFill>
                      <a:srgbClr val="0000CC"/>
                    </a:solidFill>
                  </a:rPr>
                  <a:t>到</a:t>
                </a:r>
                <a:r>
                  <a:rPr lang="en-US" altLang="zh-CN" dirty="0">
                    <a:solidFill>
                      <a:srgbClr val="0000CC"/>
                    </a:solidFill>
                  </a:rPr>
                  <a:t>B</a:t>
                </a:r>
                <a:r>
                  <a:rPr lang="zh-CN" altLang="en-US" dirty="0">
                    <a:solidFill>
                      <a:srgbClr val="0000CC"/>
                    </a:solidFill>
                  </a:rPr>
                  <a:t>的两个关系，则：</a:t>
                </a:r>
                <a:endParaRPr lang="zh-CN" altLang="en-US" dirty="0">
                  <a:solidFill>
                    <a:srgbClr val="0000CC"/>
                  </a:solidFill>
                </a:endParaRPr>
              </a:p>
              <a:p>
                <a:pPr marL="0" indent="0">
                  <a:buNone/>
                </a:pPr>
                <a:r>
                  <a:rPr lang="en-US" altLang="zh-CN" dirty="0"/>
                  <a:t>R</a:t>
                </a:r>
                <a:r>
                  <a:rPr lang="en-US" altLang="zh-CN" dirty="0">
                    <a:solidFill>
                      <a:srgbClr val="FF0000"/>
                    </a:solidFill>
                  </a:rPr>
                  <a:t>∪</a:t>
                </a:r>
                <a:r>
                  <a:rPr lang="en-US" altLang="zh-CN" dirty="0"/>
                  <a:t>S</a:t>
                </a:r>
                <a:r>
                  <a:rPr lang="zh-CN" altLang="en-US" dirty="0"/>
                  <a:t>＝</a:t>
                </a:r>
                <a:r>
                  <a:rPr lang="en-US" altLang="zh-CN" dirty="0"/>
                  <a:t>{&lt;</a:t>
                </a:r>
                <a:r>
                  <a:rPr lang="en-US" altLang="zh-CN" dirty="0" err="1"/>
                  <a:t>x,y</a:t>
                </a:r>
                <a:r>
                  <a:rPr lang="en-US" altLang="zh-CN" dirty="0"/>
                  <a:t>&gt;|&lt;</a:t>
                </a:r>
                <a:r>
                  <a:rPr lang="en-US" altLang="zh-CN" dirty="0" err="1"/>
                  <a:t>x,y</a:t>
                </a:r>
                <a:r>
                  <a:rPr lang="en-US" altLang="zh-CN" dirty="0"/>
                  <a:t>&gt;</a:t>
                </a:r>
                <a14:m>
                  <m:oMath xmlns:m="http://schemas.openxmlformats.org/officeDocument/2006/math">
                    <m:r>
                      <a:rPr lang="en-US" altLang="zh-CN" i="1" smtClean="0">
                        <a:latin typeface="Cambria Math" panose="02040503050406030204" pitchFamily="18" charset="0"/>
                      </a:rPr>
                      <m:t>∈</m:t>
                    </m:r>
                  </m:oMath>
                </a14:m>
                <a:r>
                  <a:rPr lang="en-US" altLang="zh-CN" dirty="0"/>
                  <a:t>R</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S}</a:t>
                </a:r>
                <a:endParaRPr lang="en-US" altLang="zh-CN" dirty="0"/>
              </a:p>
              <a:p>
                <a:pPr marL="0" indent="0">
                  <a:buNone/>
                </a:pPr>
                <a:r>
                  <a:rPr lang="en-US" altLang="zh-CN" dirty="0"/>
                  <a:t>R</a:t>
                </a:r>
                <a:r>
                  <a:rPr lang="en-US" altLang="zh-CN" dirty="0">
                    <a:solidFill>
                      <a:srgbClr val="FF0000"/>
                    </a:solidFill>
                  </a:rPr>
                  <a:t>∩</a:t>
                </a:r>
                <a:r>
                  <a:rPr lang="en-US" altLang="zh-CN" dirty="0"/>
                  <a:t>S</a:t>
                </a:r>
                <a:r>
                  <a:rPr lang="zh-CN" altLang="en-US" dirty="0"/>
                  <a:t>＝</a:t>
                </a:r>
                <a:r>
                  <a:rPr lang="en-US" altLang="zh-CN" dirty="0"/>
                  <a:t>{&lt;</a:t>
                </a:r>
                <a:r>
                  <a:rPr lang="en-US" altLang="zh-CN" dirty="0" err="1"/>
                  <a:t>x,y</a:t>
                </a:r>
                <a:r>
                  <a:rPr lang="en-US" altLang="zh-CN" dirty="0"/>
                  <a:t>&gt;|&lt;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R</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S}</a:t>
                </a:r>
                <a:endParaRPr lang="en-US" altLang="zh-CN" dirty="0"/>
              </a:p>
              <a:p>
                <a:pPr marL="0" indent="0">
                  <a:buNone/>
                </a:pPr>
                <a:r>
                  <a:rPr kumimoji="1" lang="en-US" altLang="zh-CN" dirty="0"/>
                  <a:t>R</a:t>
                </a:r>
                <a14:m>
                  <m:oMath xmlns:m="http://schemas.openxmlformats.org/officeDocument/2006/math">
                    <m:r>
                      <a:rPr kumimoji="1" lang="en-US" altLang="zh-CN" i="1" dirty="0" smtClean="0">
                        <a:latin typeface="Cambria Math" panose="02040503050406030204" pitchFamily="18" charset="0"/>
                      </a:rPr>
                      <m:t>−</m:t>
                    </m:r>
                  </m:oMath>
                </a14:m>
                <a:r>
                  <a:rPr kumimoji="1" lang="en-US" altLang="zh-CN" dirty="0"/>
                  <a:t>S</a:t>
                </a:r>
                <a:r>
                  <a:rPr kumimoji="1" lang="zh-CN" altLang="en-US" dirty="0"/>
                  <a:t>＝</a:t>
                </a:r>
                <a:r>
                  <a:rPr kumimoji="1" lang="en-US" altLang="zh-CN" dirty="0"/>
                  <a:t>{&lt;</a:t>
                </a:r>
                <a:r>
                  <a:rPr kumimoji="1" lang="en-US" altLang="zh-CN" dirty="0" err="1"/>
                  <a:t>x,y</a:t>
                </a:r>
                <a:r>
                  <a:rPr kumimoji="1" lang="en-US" altLang="zh-CN" dirty="0"/>
                  <a:t>&gt;|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lang="en-US" altLang="zh-CN" dirty="0"/>
                  <a:t>R</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solidFill>
                          <a:prstClr val="black"/>
                        </a:solidFill>
                        <a:latin typeface="Cambria Math" panose="02040503050406030204" pitchFamily="18" charset="0"/>
                      </a:rPr>
                      <m:t>∉</m:t>
                    </m:r>
                  </m:oMath>
                </a14:m>
                <a:r>
                  <a:rPr lang="en-US" altLang="zh-CN" dirty="0"/>
                  <a:t>S</a:t>
                </a:r>
                <a:r>
                  <a:rPr kumimoji="1" lang="en-US" altLang="zh-CN" noProof="1"/>
                  <a:t>}</a:t>
                </a:r>
                <a:endParaRPr kumimoji="1" lang="en-US" altLang="zh-CN" dirty="0"/>
              </a:p>
              <a:p>
                <a:pPr marL="0" indent="0">
                  <a:buNone/>
                </a:pPr>
                <a:r>
                  <a:rPr kumimoji="1" lang="en-US" altLang="zh-CN" dirty="0" err="1"/>
                  <a:t>R</a:t>
                </a:r>
                <a:r>
                  <a:rPr kumimoji="1" lang="en-US" altLang="zh-CN" baseline="30000" dirty="0" err="1"/>
                  <a:t>c</a:t>
                </a:r>
                <a:r>
                  <a:rPr kumimoji="1" lang="en-US" altLang="zh-CN" noProof="1"/>
                  <a:t>＝{&lt;x,y&gt;|</a:t>
                </a:r>
                <a:r>
                  <a:rPr lang="en-US" altLang="zh-CN" dirty="0"/>
                  <a:t>&lt;</a:t>
                </a:r>
                <a:r>
                  <a:rPr lang="en-US" altLang="zh-CN" dirty="0" err="1"/>
                  <a:t>x,y</a:t>
                </a:r>
                <a:r>
                  <a:rPr lang="en-US" altLang="zh-CN" dirty="0"/>
                  <a:t>&gt;</a:t>
                </a:r>
                <a14:m>
                  <m:oMath xmlns:m="http://schemas.openxmlformats.org/officeDocument/2006/math">
                    <m:r>
                      <a:rPr lang="en-US" altLang="zh-CN" i="1">
                        <a:latin typeface="Cambria Math" panose="02040503050406030204" pitchFamily="18" charset="0"/>
                      </a:rPr>
                      <m:t>∈</m:t>
                    </m:r>
                  </m:oMath>
                </a14:m>
                <a:r>
                  <a:rPr kumimoji="1" lang="en-US" altLang="zh-CN" noProof="1"/>
                  <a:t>A×B</a:t>
                </a:r>
                <a:r>
                  <a:rPr lang="en-US" altLang="zh-CN" dirty="0">
                    <a:solidFill>
                      <a:srgbClr val="FF0000"/>
                    </a:solidFill>
                  </a:rPr>
                  <a:t>∧</a:t>
                </a:r>
                <a:r>
                  <a:rPr lang="en-US" altLang="zh-CN" dirty="0"/>
                  <a:t>&lt;</a:t>
                </a:r>
                <a:r>
                  <a:rPr lang="en-US" altLang="zh-CN" dirty="0" err="1"/>
                  <a:t>x,y</a:t>
                </a:r>
                <a:r>
                  <a:rPr lang="en-US" altLang="zh-CN" dirty="0"/>
                  <a:t>&gt;</a:t>
                </a:r>
                <a14:m>
                  <m:oMath xmlns:m="http://schemas.openxmlformats.org/officeDocument/2006/math">
                    <m:r>
                      <a:rPr lang="en-US" altLang="zh-CN" i="1">
                        <a:solidFill>
                          <a:prstClr val="black"/>
                        </a:solidFill>
                        <a:latin typeface="Cambria Math" panose="02040503050406030204" pitchFamily="18" charset="0"/>
                      </a:rPr>
                      <m:t>∉</m:t>
                    </m:r>
                  </m:oMath>
                </a14:m>
                <a:r>
                  <a:rPr kumimoji="1" lang="en-US" altLang="zh-CN" noProof="1"/>
                  <a:t>R}</a:t>
                </a:r>
                <a:endParaRPr lang="en-US" altLang="zh-CN" dirty="0"/>
              </a:p>
            </p:txBody>
          </p:sp>
        </mc:Choice>
        <mc:Fallback>
          <p:sp>
            <p:nvSpPr>
              <p:cNvPr id="1437699" name="Rectangle 3"/>
              <p:cNvSpPr>
                <a:spLocks noRot="1" noChangeAspect="1" noMove="1" noResize="1" noEditPoints="1" noAdjustHandles="1" noChangeArrowheads="1" noChangeShapeType="1" noTextEdit="1"/>
              </p:cNvSpPr>
              <p:nvPr>
                <p:ph type="body" sz="half" idx="1"/>
              </p:nvPr>
            </p:nvSpPr>
            <p:spPr>
              <a:xfrm>
                <a:off x="338400" y="913201"/>
                <a:ext cx="7012023" cy="2999481"/>
              </a:xfrm>
              <a:blipFill rotWithShape="1">
                <a:blip r:embed="rId1"/>
                <a:stretch>
                  <a:fillRect l="-8" t="-2" r="4"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688975" y="5511142"/>
                <a:ext cx="1878335" cy="55207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b="1" i="1" smtClean="0">
                              <a:solidFill>
                                <a:schemeClr val="bg1"/>
                              </a:solidFill>
                              <a:latin typeface="Cambria Math" panose="02040503050406030204" pitchFamily="18" charset="0"/>
                            </a:rPr>
                          </m:ctrlPr>
                        </m:sSupPr>
                        <m:e>
                          <m:d>
                            <m:dPr>
                              <m:ctrlPr>
                                <a:rPr lang="zh-CN" altLang="en-US" b="1" i="1">
                                  <a:solidFill>
                                    <a:schemeClr val="bg1"/>
                                  </a:solidFill>
                                  <a:latin typeface="Cambria Math" panose="02040503050406030204" pitchFamily="18" charset="0"/>
                                </a:rPr>
                              </m:ctrlPr>
                            </m:dPr>
                            <m:e>
                              <m:sSup>
                                <m:sSupPr>
                                  <m:ctrlPr>
                                    <a:rPr lang="zh-CN" altLang="en-US" b="1" i="1">
                                      <a:solidFill>
                                        <a:schemeClr val="bg1"/>
                                      </a:solidFill>
                                      <a:latin typeface="Cambria Math" panose="02040503050406030204" pitchFamily="18" charset="0"/>
                                    </a:rPr>
                                  </m:ctrlPr>
                                </m:sSupPr>
                                <m:e>
                                  <m:d>
                                    <m:dPr>
                                      <m:ctrlPr>
                                        <a:rPr lang="zh-CN" altLang="en-US" b="1" i="1">
                                          <a:solidFill>
                                            <a:schemeClr val="bg1"/>
                                          </a:solidFill>
                                          <a:latin typeface="Cambria Math" panose="02040503050406030204" pitchFamily="18" charset="0"/>
                                        </a:rPr>
                                      </m:ctrlPr>
                                    </m:dPr>
                                    <m:e>
                                      <m:r>
                                        <a:rPr lang="zh-CN" altLang="en-US" b="1" i="1">
                                          <a:solidFill>
                                            <a:schemeClr val="bg1"/>
                                          </a:solidFill>
                                          <a:latin typeface="Cambria Math" panose="02040503050406030204" pitchFamily="18" charset="0"/>
                                        </a:rPr>
                                        <m:t>𝑹</m:t>
                                      </m:r>
                                    </m:e>
                                  </m:d>
                                </m:e>
                                <m:sup>
                                  <m:r>
                                    <a:rPr lang="zh-CN" altLang="en-US" b="1" i="1">
                                      <a:solidFill>
                                        <a:schemeClr val="bg1"/>
                                      </a:solidFill>
                                      <a:latin typeface="Cambria Math" panose="02040503050406030204" pitchFamily="18" charset="0"/>
                                    </a:rPr>
                                    <m:t>𝒄</m:t>
                                  </m:r>
                                </m:sup>
                              </m:sSup>
                            </m:e>
                          </m:d>
                        </m:e>
                        <m:sup>
                          <m:r>
                            <a:rPr lang="zh-CN" altLang="en-US" b="1" i="1">
                              <a:solidFill>
                                <a:schemeClr val="bg1"/>
                              </a:solidFill>
                              <a:latin typeface="Cambria Math" panose="02040503050406030204" pitchFamily="18" charset="0"/>
                            </a:rPr>
                            <m:t>𝒄</m:t>
                          </m:r>
                        </m:sup>
                      </m:sSup>
                      <m:r>
                        <a:rPr lang="zh-CN" altLang="en-US" b="1" i="0">
                          <a:solidFill>
                            <a:schemeClr val="bg1"/>
                          </a:solidFill>
                          <a:latin typeface="Cambria Math" panose="02040503050406030204" pitchFamily="18" charset="0"/>
                        </a:rPr>
                        <m:t>=</m:t>
                      </m:r>
                      <m:r>
                        <a:rPr lang="zh-CN" altLang="en-US" b="1" i="1">
                          <a:solidFill>
                            <a:schemeClr val="bg1"/>
                          </a:solidFill>
                          <a:latin typeface="Cambria Math" panose="02040503050406030204" pitchFamily="18" charset="0"/>
                        </a:rPr>
                        <m:t>𝑹</m:t>
                      </m:r>
                    </m:oMath>
                  </m:oMathPara>
                </a14:m>
                <a:endParaRPr lang="zh-CN" altLang="en-US" b="1" dirty="0">
                  <a:solidFill>
                    <a:schemeClr val="bg1"/>
                  </a:solidFill>
                </a:endParaRPr>
              </a:p>
            </p:txBody>
          </p:sp>
        </mc:Choice>
        <mc:Fallback>
          <p:sp>
            <p:nvSpPr>
              <p:cNvPr id="4" name="矩形 3"/>
              <p:cNvSpPr>
                <a:spLocks noRot="1" noChangeAspect="1" noMove="1" noResize="1" noEditPoints="1" noAdjustHandles="1" noChangeArrowheads="1" noChangeShapeType="1" noTextEdit="1"/>
              </p:cNvSpPr>
              <p:nvPr/>
            </p:nvSpPr>
            <p:spPr>
              <a:xfrm>
                <a:off x="688975" y="5511142"/>
                <a:ext cx="1878335" cy="552074"/>
              </a:xfrm>
              <a:prstGeom prst="rect">
                <a:avLst/>
              </a:prstGeom>
              <a:blipFill rotWithShape="1">
                <a:blip r:embed="rId2"/>
                <a:stretch>
                  <a:fillRect t="-111"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688975" y="6112215"/>
                <a:ext cx="2585323"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b="1" i="1" smtClean="0">
                          <a:solidFill>
                            <a:schemeClr val="bg1"/>
                          </a:solidFill>
                          <a:latin typeface="Cambria Math" panose="02040503050406030204" pitchFamily="18" charset="0"/>
                        </a:rPr>
                        <m:t>𝑺</m:t>
                      </m:r>
                      <m:r>
                        <a:rPr lang="zh-CN" altLang="en-US" b="1" i="0">
                          <a:solidFill>
                            <a:schemeClr val="bg1"/>
                          </a:solidFill>
                          <a:latin typeface="Cambria Math" panose="02040503050406030204" pitchFamily="18" charset="0"/>
                        </a:rPr>
                        <m:t>⊆</m:t>
                      </m:r>
                      <m:r>
                        <a:rPr lang="zh-CN" altLang="en-US" b="1" i="1">
                          <a:solidFill>
                            <a:schemeClr val="bg1"/>
                          </a:solidFill>
                          <a:latin typeface="Cambria Math" panose="02040503050406030204" pitchFamily="18" charset="0"/>
                        </a:rPr>
                        <m:t>𝑹</m:t>
                      </m:r>
                      <m:r>
                        <a:rPr lang="zh-CN" altLang="en-US" b="1" i="0">
                          <a:solidFill>
                            <a:schemeClr val="bg1"/>
                          </a:solidFill>
                          <a:latin typeface="Cambria Math" panose="02040503050406030204" pitchFamily="18" charset="0"/>
                        </a:rPr>
                        <m:t>⇔</m:t>
                      </m:r>
                      <m:sSup>
                        <m:sSupPr>
                          <m:ctrlPr>
                            <a:rPr lang="zh-CN" altLang="en-US" b="1" i="1">
                              <a:solidFill>
                                <a:schemeClr val="bg1"/>
                              </a:solidFill>
                              <a:latin typeface="Cambria Math" panose="02040503050406030204" pitchFamily="18" charset="0"/>
                            </a:rPr>
                          </m:ctrlPr>
                        </m:sSupPr>
                        <m:e>
                          <m:r>
                            <a:rPr lang="zh-CN" altLang="en-US" b="1" i="1">
                              <a:solidFill>
                                <a:schemeClr val="bg1"/>
                              </a:solidFill>
                              <a:latin typeface="Cambria Math" panose="02040503050406030204" pitchFamily="18" charset="0"/>
                            </a:rPr>
                            <m:t>𝑹</m:t>
                          </m:r>
                        </m:e>
                        <m:sup>
                          <m:r>
                            <a:rPr lang="zh-CN" altLang="en-US" b="1" i="1">
                              <a:solidFill>
                                <a:schemeClr val="bg1"/>
                              </a:solidFill>
                              <a:latin typeface="Cambria Math" panose="02040503050406030204" pitchFamily="18" charset="0"/>
                            </a:rPr>
                            <m:t>𝒄</m:t>
                          </m:r>
                        </m:sup>
                      </m:sSup>
                      <m:r>
                        <a:rPr lang="zh-CN" altLang="en-US" b="1" i="0">
                          <a:solidFill>
                            <a:schemeClr val="bg1"/>
                          </a:solidFill>
                          <a:latin typeface="Cambria Math" panose="02040503050406030204" pitchFamily="18" charset="0"/>
                        </a:rPr>
                        <m:t>⊆</m:t>
                      </m:r>
                      <m:sSup>
                        <m:sSupPr>
                          <m:ctrlPr>
                            <a:rPr lang="zh-CN" altLang="en-US" b="1" i="1">
                              <a:solidFill>
                                <a:schemeClr val="bg1"/>
                              </a:solidFill>
                              <a:latin typeface="Cambria Math" panose="02040503050406030204" pitchFamily="18" charset="0"/>
                            </a:rPr>
                          </m:ctrlPr>
                        </m:sSupPr>
                        <m:e>
                          <m:r>
                            <a:rPr lang="zh-CN" altLang="en-US" b="1" i="1">
                              <a:solidFill>
                                <a:schemeClr val="bg1"/>
                              </a:solidFill>
                              <a:latin typeface="Cambria Math" panose="02040503050406030204" pitchFamily="18" charset="0"/>
                            </a:rPr>
                            <m:t>𝑺</m:t>
                          </m:r>
                        </m:e>
                        <m:sup>
                          <m:r>
                            <a:rPr lang="zh-CN" altLang="en-US" b="1" i="1">
                              <a:solidFill>
                                <a:schemeClr val="bg1"/>
                              </a:solidFill>
                              <a:latin typeface="Cambria Math" panose="02040503050406030204" pitchFamily="18" charset="0"/>
                            </a:rPr>
                            <m:t>𝒄</m:t>
                          </m:r>
                        </m:sup>
                      </m:sSup>
                    </m:oMath>
                  </m:oMathPara>
                </a14:m>
                <a:endParaRPr lang="zh-CN" altLang="en-US" b="1" dirty="0">
                  <a:solidFill>
                    <a:schemeClr val="bg1"/>
                  </a:solidFill>
                </a:endParaRPr>
              </a:p>
            </p:txBody>
          </p:sp>
        </mc:Choice>
        <mc:Fallback>
          <p:sp>
            <p:nvSpPr>
              <p:cNvPr id="5" name="矩形 4"/>
              <p:cNvSpPr>
                <a:spLocks noRot="1" noChangeAspect="1" noMove="1" noResize="1" noEditPoints="1" noAdjustHandles="1" noChangeArrowheads="1" noChangeShapeType="1" noTextEdit="1"/>
              </p:cNvSpPr>
              <p:nvPr/>
            </p:nvSpPr>
            <p:spPr>
              <a:xfrm>
                <a:off x="688975" y="6112215"/>
                <a:ext cx="2585323" cy="461665"/>
              </a:xfrm>
              <a:prstGeom prst="rect">
                <a:avLst/>
              </a:prstGeom>
              <a:blipFill rotWithShape="1">
                <a:blip r:embed="rId3"/>
                <a:stretch>
                  <a:fillRect t="-74" r="9" b="78"/>
                </a:stretch>
              </a:blipFill>
            </p:spPr>
            <p:txBody>
              <a:bodyPr/>
              <a:lstStyle/>
              <a:p>
                <a:r>
                  <a:rPr lang="zh-CN" altLang="en-US">
                    <a:noFill/>
                  </a:rPr>
                  <a:t> </a:t>
                </a:r>
              </a:p>
            </p:txBody>
          </p:sp>
        </mc:Fallback>
      </mc:AlternateContent>
    </p:spTree>
    <p:custDataLst>
      <p:tags r:id="rId4"/>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7699">
                                            <p:txEl>
                                              <p:pRg st="0" end="0"/>
                                            </p:txEl>
                                          </p:spTgt>
                                        </p:tgtEl>
                                        <p:attrNameLst>
                                          <p:attrName>style.visibility</p:attrName>
                                        </p:attrNameLst>
                                      </p:cBhvr>
                                      <p:to>
                                        <p:strVal val="visible"/>
                                      </p:to>
                                    </p:set>
                                    <p:anim calcmode="lin" valueType="num">
                                      <p:cBhvr additive="base">
                                        <p:cTn id="7" dur="500" fill="hold"/>
                                        <p:tgtEl>
                                          <p:spTgt spid="1437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7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7699">
                                            <p:txEl>
                                              <p:pRg st="1" end="1"/>
                                            </p:txEl>
                                          </p:spTgt>
                                        </p:tgtEl>
                                        <p:attrNameLst>
                                          <p:attrName>style.visibility</p:attrName>
                                        </p:attrNameLst>
                                      </p:cBhvr>
                                      <p:to>
                                        <p:strVal val="visible"/>
                                      </p:to>
                                    </p:set>
                                    <p:anim calcmode="lin" valueType="num">
                                      <p:cBhvr additive="base">
                                        <p:cTn id="13" dur="500" fill="hold"/>
                                        <p:tgtEl>
                                          <p:spTgt spid="1437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7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7699">
                                            <p:txEl>
                                              <p:pRg st="2" end="2"/>
                                            </p:txEl>
                                          </p:spTgt>
                                        </p:tgtEl>
                                        <p:attrNameLst>
                                          <p:attrName>style.visibility</p:attrName>
                                        </p:attrNameLst>
                                      </p:cBhvr>
                                      <p:to>
                                        <p:strVal val="visible"/>
                                      </p:to>
                                    </p:set>
                                    <p:anim calcmode="lin" valueType="num">
                                      <p:cBhvr additive="base">
                                        <p:cTn id="19" dur="500" fill="hold"/>
                                        <p:tgtEl>
                                          <p:spTgt spid="1437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7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7699">
                                            <p:txEl>
                                              <p:pRg st="3" end="3"/>
                                            </p:txEl>
                                          </p:spTgt>
                                        </p:tgtEl>
                                        <p:attrNameLst>
                                          <p:attrName>style.visibility</p:attrName>
                                        </p:attrNameLst>
                                      </p:cBhvr>
                                      <p:to>
                                        <p:strVal val="visible"/>
                                      </p:to>
                                    </p:set>
                                    <p:anim calcmode="lin" valueType="num">
                                      <p:cBhvr additive="base">
                                        <p:cTn id="25" dur="500" fill="hold"/>
                                        <p:tgtEl>
                                          <p:spTgt spid="14376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7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7699">
                                            <p:txEl>
                                              <p:pRg st="4" end="4"/>
                                            </p:txEl>
                                          </p:spTgt>
                                        </p:tgtEl>
                                        <p:attrNameLst>
                                          <p:attrName>style.visibility</p:attrName>
                                        </p:attrNameLst>
                                      </p:cBhvr>
                                      <p:to>
                                        <p:strVal val="visible"/>
                                      </p:to>
                                    </p:set>
                                    <p:anim calcmode="lin" valueType="num">
                                      <p:cBhvr additive="base">
                                        <p:cTn id="31" dur="500" fill="hold"/>
                                        <p:tgtEl>
                                          <p:spTgt spid="14376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7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05482"/>
                                        </p:tgtEl>
                                        <p:attrNameLst>
                                          <p:attrName>style.visibility</p:attrName>
                                        </p:attrNameLst>
                                      </p:cBhvr>
                                      <p:to>
                                        <p:strVal val="visible"/>
                                      </p:to>
                                    </p:set>
                                    <p:animEffect transition="in" filter="wheel(1)">
                                      <p:cBhvr>
                                        <p:cTn id="37" dur="2000"/>
                                        <p:tgtEl>
                                          <p:spTgt spid="105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bldLvl="0" animBg="1"/>
      <p:bldP spid="1437699" grpId="0"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a:xfrm>
            <a:off x="841375" y="246120"/>
            <a:ext cx="8066367" cy="530348"/>
          </a:xfrm>
        </p:spPr>
        <p:txBody>
          <a:bodyPr/>
          <a:lstStyle/>
          <a:p>
            <a:pPr eaLnBrk="1" hangingPunct="1"/>
            <a:r>
              <a:rPr lang="zh-CN" altLang="en-US" dirty="0"/>
              <a:t>例</a:t>
            </a:r>
            <a:r>
              <a:rPr lang="pt-BR" altLang="zh-CN" dirty="0"/>
              <a:t>4.13</a:t>
            </a:r>
            <a:r>
              <a:rPr lang="pt-BR" altLang="zh-CN" sz="3200" dirty="0">
                <a:latin typeface="宋体" panose="02010600030101010101" pitchFamily="2" charset="-122"/>
              </a:rPr>
              <a:t> </a:t>
            </a:r>
            <a:endParaRPr lang="zh-CN" altLang="en-US" sz="3200" dirty="0"/>
          </a:p>
        </p:txBody>
      </p:sp>
      <p:sp>
        <p:nvSpPr>
          <p:cNvPr id="1439747" name="Rectangle 3"/>
          <p:cNvSpPr>
            <a:spLocks noGrp="1" noChangeArrowheads="1"/>
          </p:cNvSpPr>
          <p:nvPr>
            <p:ph type="body" sz="half" idx="1"/>
          </p:nvPr>
        </p:nvSpPr>
        <p:spPr>
          <a:xfrm>
            <a:off x="328370" y="1038700"/>
            <a:ext cx="11283017" cy="1371600"/>
          </a:xfrm>
        </p:spPr>
        <p:txBody>
          <a:bodyPr>
            <a:normAutofit/>
          </a:bodyPr>
          <a:lstStyle/>
          <a:p>
            <a:pPr marL="0" indent="0">
              <a:buNone/>
            </a:pPr>
            <a:r>
              <a:rPr lang="zh-CN" altLang="en-US" dirty="0">
                <a:solidFill>
                  <a:srgbClr val="C00000"/>
                </a:solidFill>
              </a:rPr>
              <a:t>例</a:t>
            </a:r>
            <a:r>
              <a:rPr lang="en-US" altLang="zh-CN" dirty="0">
                <a:solidFill>
                  <a:srgbClr val="C00000"/>
                </a:solidFill>
              </a:rPr>
              <a:t>4.13   </a:t>
            </a:r>
            <a:r>
              <a:rPr lang="zh-CN" altLang="en-US" dirty="0"/>
              <a:t>设</a:t>
            </a:r>
            <a:r>
              <a:rPr lang="en-US" altLang="zh-CN" dirty="0"/>
              <a:t>A={</a:t>
            </a:r>
            <a:r>
              <a:rPr lang="en-US" altLang="zh-CN" dirty="0" err="1"/>
              <a:t>a,b</a:t>
            </a:r>
            <a:r>
              <a:rPr lang="en-US" altLang="zh-CN" dirty="0"/>
              <a:t>}</a:t>
            </a:r>
            <a:r>
              <a:rPr lang="zh-CN" altLang="en-US" dirty="0"/>
              <a:t>，</a:t>
            </a:r>
            <a:r>
              <a:rPr lang="en-US" altLang="zh-CN" dirty="0"/>
              <a:t>B={1,2}</a:t>
            </a:r>
            <a:r>
              <a:rPr lang="zh-CN" altLang="en-US" dirty="0"/>
              <a:t>，</a:t>
            </a:r>
            <a:r>
              <a:rPr lang="en-US" altLang="zh-CN" dirty="0"/>
              <a:t>R={&lt;a,1&gt;,&lt;a,2&gt;}</a:t>
            </a:r>
            <a:r>
              <a:rPr lang="zh-CN" altLang="en-US" dirty="0"/>
              <a:t>，</a:t>
            </a:r>
            <a:r>
              <a:rPr lang="en-US" altLang="zh-CN" dirty="0"/>
              <a:t>S={&lt;a,1&gt;, &lt;b,1&gt;,&lt;b,2&gt;}</a:t>
            </a:r>
            <a:r>
              <a:rPr lang="zh-CN" altLang="en-US" dirty="0"/>
              <a:t>都是</a:t>
            </a:r>
            <a:r>
              <a:rPr lang="en-US" altLang="zh-CN" dirty="0"/>
              <a:t>A</a:t>
            </a:r>
            <a:r>
              <a:rPr lang="zh-CN" altLang="en-US" dirty="0"/>
              <a:t>到</a:t>
            </a:r>
            <a:r>
              <a:rPr lang="en-US" altLang="zh-CN" dirty="0"/>
              <a:t>B</a:t>
            </a:r>
            <a:r>
              <a:rPr lang="zh-CN" altLang="en-US" dirty="0"/>
              <a:t>上的关系。试计算</a:t>
            </a:r>
            <a:r>
              <a:rPr lang="en-US" altLang="zh-CN" dirty="0"/>
              <a:t>R∪S</a:t>
            </a:r>
            <a:r>
              <a:rPr lang="zh-CN" altLang="en-US" dirty="0"/>
              <a:t>，</a:t>
            </a:r>
            <a:r>
              <a:rPr lang="en-US" altLang="zh-CN" dirty="0"/>
              <a:t>R∩S</a:t>
            </a:r>
            <a:r>
              <a:rPr lang="zh-CN" altLang="en-US" dirty="0"/>
              <a:t>，</a:t>
            </a:r>
            <a:r>
              <a:rPr lang="en-US" altLang="zh-CN" dirty="0"/>
              <a:t>R-S</a:t>
            </a:r>
            <a:r>
              <a:rPr lang="zh-CN" altLang="en-US" dirty="0"/>
              <a:t>，</a:t>
            </a:r>
            <a:r>
              <a:rPr lang="en-US" altLang="zh-CN" dirty="0"/>
              <a:t>S-R</a:t>
            </a:r>
            <a:r>
              <a:rPr lang="zh-CN" altLang="en-US" dirty="0"/>
              <a:t>，</a:t>
            </a:r>
            <a:r>
              <a:rPr lang="en-US" altLang="zh-CN" dirty="0" err="1"/>
              <a:t>R</a:t>
            </a:r>
            <a:r>
              <a:rPr lang="en-US" altLang="zh-CN" baseline="30000" dirty="0" err="1"/>
              <a:t>c</a:t>
            </a:r>
            <a:r>
              <a:rPr lang="zh-CN" altLang="en-US" dirty="0"/>
              <a:t> ，</a:t>
            </a:r>
            <a:r>
              <a:rPr lang="en-US" altLang="zh-CN" dirty="0"/>
              <a:t>S</a:t>
            </a:r>
            <a:r>
              <a:rPr lang="en-US" altLang="zh-CN" baseline="30000" dirty="0"/>
              <a:t>c</a:t>
            </a:r>
            <a:r>
              <a:rPr lang="zh-CN" altLang="en-US" dirty="0"/>
              <a:t> 。</a:t>
            </a:r>
            <a:endParaRPr lang="zh-CN" altLang="pt-BR" dirty="0"/>
          </a:p>
        </p:txBody>
      </p:sp>
      <mc:AlternateContent xmlns:mc="http://schemas.openxmlformats.org/markup-compatibility/2006">
        <mc:Choice xmlns:a14="http://schemas.microsoft.com/office/drawing/2010/main" Requires="a14">
          <p:sp>
            <p:nvSpPr>
              <p:cNvPr id="7" name="矩形 6"/>
              <p:cNvSpPr/>
              <p:nvPr/>
            </p:nvSpPr>
            <p:spPr>
              <a:xfrm>
                <a:off x="328369" y="2134394"/>
                <a:ext cx="11869981" cy="4459041"/>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a:t>
                </a:r>
                <a:r>
                  <a:rPr lang="en-US" altLang="zh-CN" b="1" dirty="0">
                    <a:latin typeface="+mn-ea"/>
                  </a:rPr>
                  <a:t>R∪S={&lt;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&gt;∈R∨&lt;</a:t>
                </a:r>
                <a:r>
                  <a:rPr lang="en-US" altLang="zh-CN" b="1" dirty="0" err="1">
                    <a:latin typeface="+mn-ea"/>
                  </a:rPr>
                  <a:t>x,y</a:t>
                </a:r>
                <a:r>
                  <a:rPr lang="en-US" altLang="zh-CN" b="1" dirty="0">
                    <a:latin typeface="+mn-ea"/>
                  </a:rPr>
                  <a:t>&gt;∈S}={&lt;a,1&gt;,&lt;a,2&gt;,&lt;b,1&gt;,&lt;b,2&gt;}</a:t>
                </a:r>
                <a:endParaRPr lang="zh-CN" altLang="en-US" b="1" dirty="0">
                  <a:latin typeface="+mn-ea"/>
                </a:endParaRPr>
              </a:p>
              <a:p>
                <a:pPr>
                  <a:lnSpc>
                    <a:spcPct val="150000"/>
                  </a:lnSpc>
                </a:pPr>
                <a:r>
                  <a:rPr lang="en-US" altLang="zh-CN" b="1" dirty="0">
                    <a:latin typeface="+mn-ea"/>
                  </a:rPr>
                  <a:t>       R∩S={&lt;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&gt;∈R∧&lt;</a:t>
                </a:r>
                <a:r>
                  <a:rPr lang="en-US" altLang="zh-CN" b="1" dirty="0" err="1">
                    <a:latin typeface="+mn-ea"/>
                  </a:rPr>
                  <a:t>x,y</a:t>
                </a:r>
                <a:r>
                  <a:rPr lang="en-US" altLang="zh-CN" b="1" dirty="0">
                    <a:latin typeface="+mn-ea"/>
                  </a:rPr>
                  <a:t>&gt;∈S}={&lt;a,1&gt;}</a:t>
                </a:r>
                <a:r>
                  <a:rPr lang="zh-CN" altLang="en-US" b="1" dirty="0">
                    <a:latin typeface="+mn-ea"/>
                  </a:rPr>
                  <a:t> </a:t>
                </a:r>
                <a:endParaRPr lang="zh-CN" altLang="en-US" b="1" dirty="0">
                  <a:latin typeface="+mn-ea"/>
                </a:endParaRPr>
              </a:p>
              <a:p>
                <a:pPr>
                  <a:lnSpc>
                    <a:spcPct val="150000"/>
                  </a:lnSpc>
                </a:pPr>
                <a:r>
                  <a:rPr lang="zh-CN" altLang="en-US" b="1" dirty="0">
                    <a:latin typeface="+mn-ea"/>
                  </a:rPr>
                  <a:t>       </a:t>
                </a:r>
                <a:r>
                  <a:rPr lang="en-US" altLang="zh-CN" b="1" dirty="0">
                    <a:latin typeface="+mn-ea"/>
                  </a:rPr>
                  <a:t>R−S={&lt;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&gt;∈R∧&lt;</a:t>
                </a:r>
                <a:r>
                  <a:rPr lang="en-US" altLang="zh-CN" b="1" dirty="0" err="1">
                    <a:latin typeface="+mn-ea"/>
                  </a:rPr>
                  <a:t>x,y</a:t>
                </a:r>
                <a:r>
                  <a:rPr lang="en-US" altLang="zh-CN" b="1" dirty="0">
                    <a:latin typeface="+mn-ea"/>
                  </a:rPr>
                  <a:t>&gt;</a:t>
                </a:r>
                <a14:m>
                  <m:oMath xmlns:m="http://schemas.openxmlformats.org/officeDocument/2006/math">
                    <m:r>
                      <a:rPr lang="en-US" altLang="zh-CN" sz="2400" b="1" i="1">
                        <a:solidFill>
                          <a:prstClr val="black"/>
                        </a:solidFill>
                        <a:latin typeface="Cambria Math" panose="02040503050406030204" pitchFamily="18" charset="0"/>
                        <a:ea typeface="Cambria Math" panose="02040503050406030204" pitchFamily="18" charset="0"/>
                      </a:rPr>
                      <m:t>∉</m:t>
                    </m:r>
                  </m:oMath>
                </a14:m>
                <a:r>
                  <a:rPr lang="en-US" altLang="zh-CN" b="1" dirty="0">
                    <a:latin typeface="+mn-ea"/>
                  </a:rPr>
                  <a:t>S}={&lt;a,2&gt;}</a:t>
                </a:r>
                <a:endParaRPr lang="zh-CN" altLang="en-US" b="1" dirty="0">
                  <a:latin typeface="+mn-ea"/>
                </a:endParaRPr>
              </a:p>
              <a:p>
                <a:pPr>
                  <a:lnSpc>
                    <a:spcPct val="150000"/>
                  </a:lnSpc>
                </a:pPr>
                <a:r>
                  <a:rPr lang="zh-CN" altLang="en-US" b="1" dirty="0">
                    <a:latin typeface="+mn-ea"/>
                  </a:rPr>
                  <a:t>       </a:t>
                </a:r>
                <a:r>
                  <a:rPr lang="en-US" altLang="zh-CN" b="1" dirty="0">
                    <a:latin typeface="+mn-ea"/>
                  </a:rPr>
                  <a:t>S−R={&lt;</a:t>
                </a:r>
                <a:r>
                  <a:rPr lang="en-US" altLang="zh-CN" b="1" dirty="0" err="1">
                    <a:latin typeface="+mn-ea"/>
                  </a:rPr>
                  <a:t>x,y</a:t>
                </a:r>
                <a:r>
                  <a:rPr lang="en-US" altLang="zh-CN" b="1" dirty="0">
                    <a:latin typeface="+mn-ea"/>
                  </a:rPr>
                  <a:t>&gt;|&lt;</a:t>
                </a:r>
                <a:r>
                  <a:rPr lang="en-US" altLang="zh-CN" b="1" dirty="0" err="1">
                    <a:latin typeface="+mn-ea"/>
                  </a:rPr>
                  <a:t>x,y</a:t>
                </a:r>
                <a:r>
                  <a:rPr lang="en-US" altLang="zh-CN" b="1" dirty="0">
                    <a:latin typeface="+mn-ea"/>
                  </a:rPr>
                  <a:t>&gt;∈S∧&lt;</a:t>
                </a:r>
                <a:r>
                  <a:rPr lang="en-US" altLang="zh-CN" b="1" dirty="0" err="1">
                    <a:latin typeface="+mn-ea"/>
                  </a:rPr>
                  <a:t>x,y</a:t>
                </a:r>
                <a:r>
                  <a:rPr lang="en-US" altLang="zh-CN" b="1" dirty="0">
                    <a:latin typeface="+mn-ea"/>
                  </a:rPr>
                  <a:t>&gt;</a:t>
                </a:r>
                <a14:m>
                  <m:oMath xmlns:m="http://schemas.openxmlformats.org/officeDocument/2006/math">
                    <m:r>
                      <a:rPr lang="en-US" altLang="zh-CN" sz="2400" b="1" i="1">
                        <a:solidFill>
                          <a:prstClr val="black"/>
                        </a:solidFill>
                        <a:latin typeface="Cambria Math" panose="02040503050406030204" pitchFamily="18" charset="0"/>
                        <a:ea typeface="Cambria Math" panose="02040503050406030204" pitchFamily="18" charset="0"/>
                      </a:rPr>
                      <m:t>∉</m:t>
                    </m:r>
                  </m:oMath>
                </a14:m>
                <a:r>
                  <a:rPr lang="en-US" altLang="zh-CN" b="1" dirty="0">
                    <a:latin typeface="+mn-ea"/>
                  </a:rPr>
                  <a:t>R}={&lt;b,1&gt;,&lt;b,2&gt;}</a:t>
                </a:r>
                <a:r>
                  <a:rPr lang="zh-CN" altLang="en-US" b="1" dirty="0">
                    <a:latin typeface="+mn-ea"/>
                  </a:rPr>
                  <a:t> </a:t>
                </a:r>
                <a:endParaRPr lang="en-US" altLang="zh-CN" b="1" dirty="0">
                  <a:latin typeface="+mn-ea"/>
                </a:endParaRPr>
              </a:p>
              <a:p>
                <a:pPr>
                  <a:lnSpc>
                    <a:spcPct val="150000"/>
                  </a:lnSpc>
                </a:pPr>
                <a:r>
                  <a:rPr lang="en-US" altLang="zh-CN" b="1" dirty="0">
                    <a:latin typeface="+mn-ea"/>
                  </a:rPr>
                  <a:t>       </a:t>
                </a:r>
                <a:r>
                  <a:rPr lang="en-US" altLang="zh-CN" b="1" dirty="0" err="1">
                    <a:latin typeface="+mn-ea"/>
                  </a:rPr>
                  <a:t>R</a:t>
                </a:r>
                <a:r>
                  <a:rPr lang="en-US" altLang="zh-CN" b="1" baseline="30000" dirty="0" err="1">
                    <a:latin typeface="+mn-ea"/>
                  </a:rPr>
                  <a:t>c</a:t>
                </a:r>
                <a:r>
                  <a:rPr lang="en-US" altLang="zh-CN" b="1" baseline="30000" dirty="0">
                    <a:latin typeface="+mn-ea"/>
                  </a:rPr>
                  <a:t>  </a:t>
                </a:r>
                <a:r>
                  <a:rPr lang="en-US" altLang="zh-CN" b="1" dirty="0">
                    <a:latin typeface="+mn-ea"/>
                  </a:rPr>
                  <a:t>= A×B−R ={&lt;a,1&gt;,&lt;a,2&gt;,&lt;b,1&gt;,&lt;b,2&gt;}− {&lt;a,1&gt;,&lt;a,2&gt;}</a:t>
                </a:r>
                <a:endParaRPr lang="en-US" altLang="zh-CN" b="1" dirty="0">
                  <a:latin typeface="+mn-ea"/>
                </a:endParaRPr>
              </a:p>
              <a:p>
                <a:pPr>
                  <a:lnSpc>
                    <a:spcPct val="150000"/>
                  </a:lnSpc>
                </a:pPr>
                <a:r>
                  <a:rPr lang="en-US" altLang="zh-CN" b="1" dirty="0">
                    <a:latin typeface="+mn-ea"/>
                  </a:rPr>
                  <a:t>           ={&lt;b,1&gt;,&lt;b,2&gt;}</a:t>
                </a:r>
                <a:endParaRPr lang="zh-CN" altLang="en-US" b="1" dirty="0">
                  <a:latin typeface="+mn-ea"/>
                </a:endParaRPr>
              </a:p>
              <a:p>
                <a:pPr>
                  <a:lnSpc>
                    <a:spcPct val="150000"/>
                  </a:lnSpc>
                </a:pPr>
                <a:r>
                  <a:rPr lang="en-US" altLang="zh-CN" b="1" dirty="0">
                    <a:latin typeface="+mn-ea"/>
                  </a:rPr>
                  <a:t>      S</a:t>
                </a:r>
                <a:r>
                  <a:rPr lang="en-US" altLang="zh-CN" b="1" baseline="30000" dirty="0">
                    <a:latin typeface="+mn-ea"/>
                  </a:rPr>
                  <a:t>c  </a:t>
                </a:r>
                <a:r>
                  <a:rPr lang="en-US" altLang="zh-CN" b="1" dirty="0">
                    <a:latin typeface="+mn-ea"/>
                  </a:rPr>
                  <a:t>=A×B−S={&lt;a,1&gt;,&lt;a,2&gt;,&lt;b,1&gt;,&lt;b,2&gt;}−{&lt;a,1&gt;,&lt;b,1&gt;,&lt;b,2&gt;}</a:t>
                </a:r>
                <a:endParaRPr lang="en-US" altLang="zh-CN" b="1" dirty="0">
                  <a:latin typeface="+mn-ea"/>
                </a:endParaRPr>
              </a:p>
              <a:p>
                <a:pPr>
                  <a:lnSpc>
                    <a:spcPct val="150000"/>
                  </a:lnSpc>
                </a:pPr>
                <a:r>
                  <a:rPr lang="en-US" altLang="zh-CN" b="1" dirty="0">
                    <a:latin typeface="+mn-ea"/>
                  </a:rPr>
                  <a:t>          ={&lt;a,2&gt;}</a:t>
                </a:r>
                <a:endParaRPr lang="zh-CN" altLang="en-US" b="1" dirty="0">
                  <a:latin typeface="+mn-ea"/>
                </a:endParaRPr>
              </a:p>
            </p:txBody>
          </p:sp>
        </mc:Choice>
        <mc:Fallback>
          <p:sp>
            <p:nvSpPr>
              <p:cNvPr id="7" name="矩形 6"/>
              <p:cNvSpPr>
                <a:spLocks noRot="1" noChangeAspect="1" noMove="1" noResize="1" noEditPoints="1" noAdjustHandles="1" noChangeArrowheads="1" noChangeShapeType="1" noTextEdit="1"/>
              </p:cNvSpPr>
              <p:nvPr/>
            </p:nvSpPr>
            <p:spPr>
              <a:xfrm>
                <a:off x="328369" y="2134394"/>
                <a:ext cx="11869981" cy="4459041"/>
              </a:xfrm>
              <a:prstGeom prst="rect">
                <a:avLst/>
              </a:prstGeom>
              <a:blipFill rotWithShape="1">
                <a:blip r:embed="rId1"/>
                <a:stretch>
                  <a:fillRect l="-1" t="-4" b="5"/>
                </a:stretch>
              </a:blipFill>
            </p:spPr>
            <p:txBody>
              <a:bodyPr/>
              <a:lstStyle/>
              <a:p>
                <a:r>
                  <a:rPr lang="zh-CN" altLang="en-US">
                    <a:noFill/>
                  </a:rPr>
                  <a:t> </a:t>
                </a:r>
              </a:p>
            </p:txBody>
          </p:sp>
        </mc:Fallback>
      </mc:AlternateContent>
    </p:spTree>
    <p:custDataLst>
      <p:tags r:id="rId2"/>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ircle(in)">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ircle(in)">
                                      <p:cBhvr>
                                        <p:cTn id="12" dur="20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circle(in)">
                                      <p:cBhvr>
                                        <p:cTn id="17" dur="20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circle(in)">
                                      <p:cBhvr>
                                        <p:cTn id="22" dur="20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circle(in)">
                                      <p:cBhvr>
                                        <p:cTn id="27" dur="20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circle(in)">
                                      <p:cBhvr>
                                        <p:cTn id="32" dur="20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circle(in)">
                                      <p:cBhvr>
                                        <p:cTn id="37" dur="20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circle(in)">
                                      <p:cBhvr>
                                        <p:cTn id="42" dur="20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4362" y="230320"/>
            <a:ext cx="10755156" cy="585755"/>
          </a:xfrm>
        </p:spPr>
        <p:txBody>
          <a:bodyPr/>
          <a:lstStyle/>
          <a:p>
            <a:r>
              <a:rPr lang="zh-CN" altLang="en-US" dirty="0"/>
              <a:t>问题引入</a:t>
            </a:r>
            <a:endParaRPr lang="zh-CN" altLang="en-US" dirty="0"/>
          </a:p>
        </p:txBody>
      </p:sp>
      <p:sp>
        <p:nvSpPr>
          <p:cNvPr id="6" name="文本占位符 2"/>
          <p:cNvSpPr>
            <a:spLocks noGrp="1"/>
          </p:cNvSpPr>
          <p:nvPr>
            <p:ph type="body" sz="half" idx="1"/>
          </p:nvPr>
        </p:nvSpPr>
        <p:spPr>
          <a:xfrm>
            <a:off x="430155" y="1601524"/>
            <a:ext cx="11123569" cy="2159962"/>
          </a:xfrm>
        </p:spPr>
        <p:txBody>
          <a:bodyPr/>
          <a:lstStyle/>
          <a:p>
            <a:pPr marL="0" indent="0">
              <a:buNone/>
            </a:pPr>
            <a:r>
              <a:rPr lang="zh-CN" altLang="zh-CN" dirty="0"/>
              <a:t>设</a:t>
            </a:r>
            <a:r>
              <a:rPr lang="zh-CN" altLang="zh-CN" dirty="0">
                <a:solidFill>
                  <a:srgbClr val="0000FF"/>
                </a:solidFill>
              </a:rPr>
              <a:t>关系</a:t>
            </a:r>
            <a:r>
              <a:rPr lang="en-US" altLang="zh-CN" dirty="0">
                <a:solidFill>
                  <a:srgbClr val="0000FF"/>
                </a:solidFill>
              </a:rPr>
              <a:t>R</a:t>
            </a:r>
            <a:r>
              <a:rPr lang="zh-CN" altLang="zh-CN" dirty="0">
                <a:solidFill>
                  <a:srgbClr val="0000FF"/>
                </a:solidFill>
              </a:rPr>
              <a:t>表示城市之间的直达航线关系，</a:t>
            </a:r>
            <a:r>
              <a:rPr lang="en-US" altLang="zh-CN" dirty="0">
                <a:solidFill>
                  <a:srgbClr val="0000FF"/>
                </a:solidFill>
              </a:rPr>
              <a:t>S</a:t>
            </a:r>
            <a:r>
              <a:rPr lang="zh-CN" altLang="zh-CN" dirty="0">
                <a:solidFill>
                  <a:srgbClr val="0000FF"/>
                </a:solidFill>
              </a:rPr>
              <a:t>表示城市之间的直达公路路线关系。</a:t>
            </a:r>
            <a:endParaRPr lang="en-US" altLang="zh-CN" dirty="0">
              <a:solidFill>
                <a:srgbClr val="0000FF"/>
              </a:solidFill>
            </a:endParaRPr>
          </a:p>
          <a:p>
            <a:pPr marL="0" indent="0">
              <a:buNone/>
            </a:pPr>
            <a:r>
              <a:rPr lang="zh-CN" altLang="zh-CN" dirty="0"/>
              <a:t>如果</a:t>
            </a:r>
            <a:r>
              <a:rPr lang="en-US" altLang="zh-CN" dirty="0"/>
              <a:t>&lt;a</a:t>
            </a:r>
            <a:r>
              <a:rPr lang="zh-CN" altLang="zh-CN" dirty="0"/>
              <a:t>，</a:t>
            </a:r>
            <a:r>
              <a:rPr lang="en-US" altLang="zh-CN" dirty="0"/>
              <a:t>b&gt;</a:t>
            </a:r>
            <a:r>
              <a:rPr lang="zh-CN" altLang="zh-CN" dirty="0"/>
              <a:t>∈</a:t>
            </a:r>
            <a:r>
              <a:rPr lang="en-US" altLang="zh-CN" dirty="0"/>
              <a:t>R</a:t>
            </a:r>
            <a:r>
              <a:rPr lang="zh-CN" altLang="zh-CN" dirty="0"/>
              <a:t>，</a:t>
            </a:r>
            <a:r>
              <a:rPr lang="en-US" altLang="zh-CN" dirty="0"/>
              <a:t>&lt;b</a:t>
            </a:r>
            <a:r>
              <a:rPr lang="zh-CN" altLang="zh-CN" dirty="0"/>
              <a:t>，</a:t>
            </a:r>
            <a:r>
              <a:rPr lang="en-US" altLang="zh-CN" dirty="0"/>
              <a:t>c&gt;</a:t>
            </a:r>
            <a:r>
              <a:rPr lang="zh-CN" altLang="zh-CN" dirty="0"/>
              <a:t>∈</a:t>
            </a:r>
            <a:r>
              <a:rPr lang="en-US" altLang="zh-CN" dirty="0"/>
              <a:t>S</a:t>
            </a:r>
            <a:r>
              <a:rPr lang="zh-CN" altLang="zh-CN" dirty="0"/>
              <a:t>，那么</a:t>
            </a:r>
            <a:r>
              <a:rPr lang="en-US" altLang="zh-CN" dirty="0"/>
              <a:t>a</a:t>
            </a:r>
            <a:r>
              <a:rPr lang="zh-CN" altLang="zh-CN" dirty="0"/>
              <a:t>和</a:t>
            </a:r>
            <a:r>
              <a:rPr lang="en-US" altLang="zh-CN" dirty="0"/>
              <a:t>c</a:t>
            </a:r>
            <a:r>
              <a:rPr lang="zh-CN" altLang="zh-CN" dirty="0"/>
              <a:t>之间存在怎样的关系？又如何表示这样的关系？</a:t>
            </a:r>
            <a:endParaRPr lang="zh-CN" altLang="en-US" dirty="0"/>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p:txBody>
          <a:bodyPr/>
          <a:lstStyle/>
          <a:p>
            <a:pPr marL="762000" indent="-762000"/>
            <a:r>
              <a:rPr lang="zh-CN" altLang="en-US" dirty="0"/>
              <a:t>复</a:t>
            </a:r>
            <a:r>
              <a:rPr lang="zh-CN" altLang="en-US" dirty="0" smtClean="0"/>
              <a:t>合（</a:t>
            </a:r>
            <a:r>
              <a:rPr lang="zh-CN" altLang="en-US" dirty="0" smtClean="0">
                <a:solidFill>
                  <a:srgbClr val="FF0000"/>
                </a:solidFill>
              </a:rPr>
              <a:t>合成</a:t>
            </a:r>
            <a:r>
              <a:rPr lang="zh-CN" altLang="en-US" dirty="0" smtClean="0"/>
              <a:t>）运</a:t>
            </a:r>
            <a:r>
              <a:rPr lang="zh-CN" altLang="en-US" dirty="0"/>
              <a:t>算的定义</a:t>
            </a:r>
            <a:endParaRPr lang="zh-CN" altLang="en-US" dirty="0">
              <a:latin typeface="宋体" panose="02010600030101010101" pitchFamily="2" charset="-122"/>
            </a:endParaRPr>
          </a:p>
        </p:txBody>
      </p:sp>
      <p:sp>
        <p:nvSpPr>
          <p:cNvPr id="1443843" name="Rectangle 3"/>
          <p:cNvSpPr>
            <a:spLocks noGrp="1" noChangeArrowheads="1"/>
          </p:cNvSpPr>
          <p:nvPr>
            <p:ph type="body" idx="1"/>
          </p:nvPr>
        </p:nvSpPr>
        <p:spPr>
          <a:xfrm>
            <a:off x="385828" y="938359"/>
            <a:ext cx="11579051" cy="2415258"/>
          </a:xfrm>
        </p:spPr>
        <p:txBody>
          <a:bodyPr>
            <a:normAutofit/>
          </a:bodyPr>
          <a:lstStyle/>
          <a:p>
            <a:pPr marL="533400" indent="-533400">
              <a:lnSpc>
                <a:spcPct val="150000"/>
              </a:lnSpc>
              <a:spcBef>
                <a:spcPct val="0"/>
              </a:spcBef>
              <a:buNone/>
            </a:pPr>
            <a:r>
              <a:rPr lang="zh-CN" altLang="en-US" dirty="0">
                <a:solidFill>
                  <a:srgbClr val="C00000"/>
                </a:solidFill>
              </a:rPr>
              <a:t>定义</a:t>
            </a:r>
            <a:r>
              <a:rPr lang="en-US" altLang="zh-CN" dirty="0">
                <a:solidFill>
                  <a:srgbClr val="C00000"/>
                </a:solidFill>
              </a:rPr>
              <a:t>4.8  </a:t>
            </a:r>
            <a:r>
              <a:rPr lang="zh-CN" altLang="en-US" dirty="0">
                <a:solidFill>
                  <a:schemeClr val="tx1"/>
                </a:solidFill>
              </a:rPr>
              <a:t>设</a:t>
            </a:r>
            <a:r>
              <a:rPr lang="en-US" altLang="zh-CN" dirty="0">
                <a:solidFill>
                  <a:schemeClr val="tx1"/>
                </a:solidFill>
              </a:rPr>
              <a:t>A,B,C</a:t>
            </a:r>
            <a:r>
              <a:rPr lang="zh-CN" altLang="en-US" dirty="0">
                <a:solidFill>
                  <a:schemeClr val="tx1"/>
                </a:solidFill>
              </a:rPr>
              <a:t>是三个集合，</a:t>
            </a:r>
            <a:r>
              <a:rPr lang="en-US" altLang="zh-CN" dirty="0">
                <a:solidFill>
                  <a:schemeClr val="tx1"/>
                </a:solidFill>
              </a:rPr>
              <a:t>R</a:t>
            </a:r>
            <a:r>
              <a:rPr lang="zh-CN" altLang="en-US" dirty="0">
                <a:solidFill>
                  <a:schemeClr val="tx1"/>
                </a:solidFill>
              </a:rPr>
              <a:t>：</a:t>
            </a:r>
            <a:r>
              <a:rPr lang="en-US" altLang="zh-CN" dirty="0">
                <a:solidFill>
                  <a:schemeClr val="tx1"/>
                </a:solidFill>
              </a:rPr>
              <a:t>A→B</a:t>
            </a:r>
            <a:r>
              <a:rPr lang="zh-CN" altLang="en-US" dirty="0">
                <a:solidFill>
                  <a:schemeClr val="tx1"/>
                </a:solidFill>
              </a:rPr>
              <a:t>，</a:t>
            </a:r>
            <a:r>
              <a:rPr lang="en-US" altLang="zh-CN" dirty="0">
                <a:solidFill>
                  <a:schemeClr val="tx1"/>
                </a:solidFill>
              </a:rPr>
              <a:t>S</a:t>
            </a:r>
            <a:r>
              <a:rPr lang="zh-CN" altLang="en-US" dirty="0">
                <a:solidFill>
                  <a:schemeClr val="tx1"/>
                </a:solidFill>
              </a:rPr>
              <a:t>：</a:t>
            </a:r>
            <a:r>
              <a:rPr lang="en-US" altLang="zh-CN" dirty="0">
                <a:solidFill>
                  <a:schemeClr val="tx1"/>
                </a:solidFill>
              </a:rPr>
              <a:t>B→C</a:t>
            </a:r>
            <a:r>
              <a:rPr lang="zh-CN" altLang="en-US" dirty="0">
                <a:solidFill>
                  <a:schemeClr val="tx1"/>
                </a:solidFill>
              </a:rPr>
              <a:t>，则</a:t>
            </a:r>
            <a:r>
              <a:rPr lang="en-US" altLang="zh-CN" dirty="0">
                <a:solidFill>
                  <a:schemeClr val="tx1"/>
                </a:solidFill>
              </a:rPr>
              <a:t>R</a:t>
            </a:r>
            <a:r>
              <a:rPr lang="zh-CN" altLang="en-US" dirty="0">
                <a:solidFill>
                  <a:schemeClr val="tx1"/>
                </a:solidFill>
              </a:rPr>
              <a:t>与</a:t>
            </a:r>
            <a:r>
              <a:rPr lang="en-US" altLang="zh-CN" dirty="0">
                <a:solidFill>
                  <a:schemeClr val="tx1"/>
                </a:solidFill>
              </a:rPr>
              <a:t>S</a:t>
            </a:r>
            <a:r>
              <a:rPr lang="zh-CN" altLang="en-US" dirty="0">
                <a:solidFill>
                  <a:schemeClr val="tx1"/>
                </a:solidFill>
              </a:rPr>
              <a:t>的</a:t>
            </a:r>
            <a:r>
              <a:rPr lang="zh-CN" altLang="en-US" dirty="0">
                <a:solidFill>
                  <a:srgbClr val="3333FF"/>
                </a:solidFill>
              </a:rPr>
              <a:t>复合关系</a:t>
            </a:r>
            <a:r>
              <a:rPr lang="en-US" altLang="zh-CN" dirty="0">
                <a:solidFill>
                  <a:schemeClr val="tx1"/>
                </a:solidFill>
              </a:rPr>
              <a:t>(</a:t>
            </a:r>
            <a:r>
              <a:rPr lang="zh-CN" altLang="en-US" dirty="0">
                <a:solidFill>
                  <a:srgbClr val="FF0000"/>
                </a:solidFill>
              </a:rPr>
              <a:t>合成关系</a:t>
            </a:r>
            <a:r>
              <a:rPr lang="en-US" altLang="zh-CN" dirty="0">
                <a:solidFill>
                  <a:schemeClr val="tx1"/>
                </a:solidFill>
              </a:rPr>
              <a:t>) (Composite </a:t>
            </a:r>
            <a:r>
              <a:rPr lang="en-US" altLang="zh-CN" dirty="0" err="1">
                <a:solidFill>
                  <a:schemeClr val="tx1"/>
                </a:solidFill>
              </a:rPr>
              <a:t>Ralation</a:t>
            </a:r>
            <a:r>
              <a:rPr lang="en-US" altLang="zh-CN" dirty="0">
                <a:solidFill>
                  <a:schemeClr val="tx1"/>
                </a:solidFill>
              </a:rPr>
              <a:t>)</a:t>
            </a:r>
            <a:r>
              <a:rPr lang="zh-CN" altLang="en-US" dirty="0">
                <a:solidFill>
                  <a:schemeClr val="tx1"/>
                </a:solidFill>
              </a:rPr>
              <a:t>是从</a:t>
            </a:r>
            <a:r>
              <a:rPr lang="en-US" altLang="zh-CN" dirty="0">
                <a:solidFill>
                  <a:schemeClr val="tx1"/>
                </a:solidFill>
              </a:rPr>
              <a:t>A</a:t>
            </a:r>
            <a:r>
              <a:rPr lang="zh-CN" altLang="en-US" dirty="0">
                <a:solidFill>
                  <a:schemeClr val="tx1"/>
                </a:solidFill>
              </a:rPr>
              <a:t>到</a:t>
            </a:r>
            <a:r>
              <a:rPr lang="en-US" altLang="zh-CN" dirty="0">
                <a:solidFill>
                  <a:schemeClr val="tx1"/>
                </a:solidFill>
              </a:rPr>
              <a:t>C</a:t>
            </a:r>
            <a:r>
              <a:rPr lang="zh-CN" altLang="en-US" dirty="0">
                <a:solidFill>
                  <a:schemeClr val="tx1"/>
                </a:solidFill>
              </a:rPr>
              <a:t>的关系，记为</a:t>
            </a:r>
            <a:r>
              <a:rPr lang="en-US" altLang="zh-CN" dirty="0">
                <a:solidFill>
                  <a:schemeClr val="tx1"/>
                </a:solidFill>
              </a:rPr>
              <a:t>R</a:t>
            </a:r>
            <a:r>
              <a:rPr lang="en-US" altLang="zh-CN" noProof="1">
                <a:solidFill>
                  <a:schemeClr val="tx1"/>
                </a:solidFill>
                <a:sym typeface="Symbol" panose="05050102010706020507" pitchFamily="18" charset="2"/>
              </a:rPr>
              <a:t></a:t>
            </a:r>
            <a:r>
              <a:rPr lang="en-US" altLang="zh-CN" dirty="0">
                <a:solidFill>
                  <a:schemeClr val="tx1"/>
                </a:solidFill>
              </a:rPr>
              <a:t>S</a:t>
            </a:r>
            <a:r>
              <a:rPr lang="zh-CN" altLang="en-US" dirty="0">
                <a:solidFill>
                  <a:schemeClr val="tx1"/>
                </a:solidFill>
              </a:rPr>
              <a:t>，其中</a:t>
            </a:r>
            <a:endParaRPr lang="zh-CN" altLang="en-US" dirty="0">
              <a:solidFill>
                <a:schemeClr val="tx1"/>
              </a:solidFill>
            </a:endParaRPr>
          </a:p>
          <a:p>
            <a:pPr marL="533400" indent="-533400">
              <a:lnSpc>
                <a:spcPct val="150000"/>
              </a:lnSpc>
              <a:spcBef>
                <a:spcPct val="0"/>
              </a:spcBef>
              <a:buNone/>
            </a:pPr>
            <a:r>
              <a:rPr lang="en-US" altLang="zh-CN" dirty="0">
                <a:solidFill>
                  <a:schemeClr val="tx1"/>
                </a:solidFill>
              </a:rPr>
              <a:t>     </a:t>
            </a:r>
            <a:r>
              <a:rPr lang="en-US" altLang="zh-CN" noProof="1">
                <a:solidFill>
                  <a:schemeClr val="tx1"/>
                </a:solidFill>
              </a:rPr>
              <a:t>R</a:t>
            </a:r>
            <a:r>
              <a:rPr lang="en-US" altLang="zh-CN" noProof="1">
                <a:solidFill>
                  <a:schemeClr val="tx1"/>
                </a:solidFill>
                <a:sym typeface="Symbol" panose="05050102010706020507" pitchFamily="18" charset="2"/>
              </a:rPr>
              <a:t></a:t>
            </a:r>
            <a:r>
              <a:rPr lang="en-US" altLang="zh-CN" noProof="1">
                <a:solidFill>
                  <a:schemeClr val="tx1"/>
                </a:solidFill>
              </a:rPr>
              <a:t>S＝{&lt;x,z&gt;|x∈A∧z∈C∧</a:t>
            </a:r>
            <a:r>
              <a:rPr lang="en-US" altLang="zh-CN" dirty="0">
                <a:solidFill>
                  <a:schemeClr val="tx1"/>
                </a:solidFill>
                <a:sym typeface="Symbol" panose="05050102010706020507" pitchFamily="18" charset="2"/>
              </a:rPr>
              <a:t>y</a:t>
            </a:r>
            <a:r>
              <a:rPr lang="en-US" altLang="zh-CN" noProof="1">
                <a:solidFill>
                  <a:schemeClr val="tx1"/>
                </a:solidFill>
              </a:rPr>
              <a:t>(y∈B∧&lt;x,y&gt;∈R∧&lt;y,z&gt;∈S)}</a:t>
            </a:r>
            <a:endParaRPr lang="en-US" altLang="zh-CN" noProof="1">
              <a:solidFill>
                <a:schemeClr val="tx1"/>
              </a:solidFill>
            </a:endParaRPr>
          </a:p>
          <a:p>
            <a:pPr marL="533400" indent="-533400">
              <a:lnSpc>
                <a:spcPct val="150000"/>
              </a:lnSpc>
              <a:spcBef>
                <a:spcPct val="0"/>
              </a:spcBef>
              <a:buNone/>
            </a:pPr>
            <a:r>
              <a:rPr lang="zh-CN" altLang="en-US" dirty="0">
                <a:solidFill>
                  <a:schemeClr val="tx1"/>
                </a:solidFill>
              </a:rPr>
              <a:t>运算“</a:t>
            </a:r>
            <a:r>
              <a:rPr lang="zh-CN" altLang="zh-CN" noProof="1">
                <a:solidFill>
                  <a:schemeClr val="tx1"/>
                </a:solidFill>
                <a:sym typeface="Symbol" panose="05050102010706020507" pitchFamily="18" charset="2"/>
              </a:rPr>
              <a:t></a:t>
            </a:r>
            <a:r>
              <a:rPr lang="zh-CN" altLang="en-US" dirty="0">
                <a:solidFill>
                  <a:schemeClr val="tx1"/>
                </a:solidFill>
              </a:rPr>
              <a:t>”称为</a:t>
            </a:r>
            <a:r>
              <a:rPr lang="zh-CN" altLang="en-US" dirty="0">
                <a:solidFill>
                  <a:srgbClr val="3333FF"/>
                </a:solidFill>
              </a:rPr>
              <a:t>复</a:t>
            </a:r>
            <a:r>
              <a:rPr lang="zh-CN" altLang="en-US" dirty="0" smtClean="0">
                <a:solidFill>
                  <a:srgbClr val="3333FF"/>
                </a:solidFill>
              </a:rPr>
              <a:t>合（合成）运</a:t>
            </a:r>
            <a:r>
              <a:rPr lang="zh-CN" altLang="en-US" dirty="0">
                <a:solidFill>
                  <a:srgbClr val="3333FF"/>
                </a:solidFill>
              </a:rPr>
              <a:t>算</a:t>
            </a:r>
            <a:r>
              <a:rPr lang="en-US" altLang="zh-CN" dirty="0">
                <a:solidFill>
                  <a:schemeClr val="tx1"/>
                </a:solidFill>
              </a:rPr>
              <a:t>(Composite Operation)</a:t>
            </a:r>
            <a:r>
              <a:rPr lang="zh-CN" altLang="en-US" dirty="0">
                <a:solidFill>
                  <a:schemeClr val="tx1"/>
                </a:solidFill>
              </a:rPr>
              <a:t>。</a:t>
            </a:r>
            <a:endParaRPr lang="zh-CN" altLang="en-US" dirty="0">
              <a:solidFill>
                <a:schemeClr val="tx1"/>
              </a:solidFill>
            </a:endParaRPr>
          </a:p>
        </p:txBody>
      </p:sp>
      <p:sp>
        <p:nvSpPr>
          <p:cNvPr id="9" name="文本占位符 2"/>
          <p:cNvSpPr txBox="1">
            <a:spLocks noChangeArrowheads="1"/>
          </p:cNvSpPr>
          <p:nvPr/>
        </p:nvSpPr>
        <p:spPr>
          <a:xfrm>
            <a:off x="450897" y="3353616"/>
            <a:ext cx="11448913" cy="2894763"/>
          </a:xfrm>
          <a:prstGeom prst="rect">
            <a:avLst/>
          </a:prstGeom>
        </p:spPr>
        <p:txBody>
          <a:bodyPr vert="horz" lIns="121882" tIns="60940" rIns="121882" bIns="60940"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lumMod val="75000"/>
                    <a:lumOff val="25000"/>
                  </a:schemeClr>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defTabSz="1219200">
              <a:lnSpc>
                <a:spcPct val="150000"/>
              </a:lnSpc>
              <a:buNone/>
            </a:pPr>
            <a:r>
              <a:rPr lang="zh-CN" altLang="en-US" sz="2400" dirty="0">
                <a:solidFill>
                  <a:srgbClr val="C00000"/>
                </a:solidFill>
                <a:latin typeface="微软雅黑" panose="020B0503020204020204" pitchFamily="34" charset="-122"/>
                <a:ea typeface="微软雅黑" panose="020B0503020204020204" pitchFamily="34" charset="-122"/>
              </a:rPr>
              <a:t>例</a:t>
            </a:r>
            <a:r>
              <a:rPr lang="en-US" altLang="zh-CN" sz="2400" dirty="0">
                <a:solidFill>
                  <a:srgbClr val="C00000"/>
                </a:solidFill>
                <a:latin typeface="微软雅黑" panose="020B0503020204020204" pitchFamily="34" charset="-122"/>
                <a:ea typeface="微软雅黑" panose="020B0503020204020204" pitchFamily="34" charset="-122"/>
              </a:rPr>
              <a:t>4.14  </a:t>
            </a:r>
            <a:r>
              <a:rPr lang="zh-CN" altLang="zh-CN" sz="2400" dirty="0">
                <a:solidFill>
                  <a:prstClr val="black"/>
                </a:solidFill>
                <a:latin typeface="微软雅黑" panose="020B0503020204020204" pitchFamily="34" charset="-122"/>
                <a:ea typeface="微软雅黑" panose="020B0503020204020204" pitchFamily="34" charset="-122"/>
              </a:rPr>
              <a:t>设关系</a:t>
            </a:r>
            <a:r>
              <a:rPr lang="en-US" altLang="zh-CN" sz="2400" dirty="0">
                <a:solidFill>
                  <a:prstClr val="black"/>
                </a:solidFill>
                <a:latin typeface="微软雅黑" panose="020B0503020204020204" pitchFamily="34" charset="-122"/>
                <a:ea typeface="微软雅黑" panose="020B0503020204020204" pitchFamily="34" charset="-122"/>
              </a:rPr>
              <a:t>R</a:t>
            </a:r>
            <a:r>
              <a:rPr lang="zh-CN" altLang="zh-CN" sz="2400" dirty="0">
                <a:solidFill>
                  <a:prstClr val="black"/>
                </a:solidFill>
                <a:latin typeface="微软雅黑" panose="020B0503020204020204" pitchFamily="34" charset="-122"/>
                <a:ea typeface="微软雅黑" panose="020B0503020204020204" pitchFamily="34" charset="-122"/>
              </a:rPr>
              <a:t>表示城市之间的直达航线关系，</a:t>
            </a:r>
            <a:r>
              <a:rPr lang="en-US" altLang="zh-CN" sz="2400" dirty="0">
                <a:solidFill>
                  <a:prstClr val="black"/>
                </a:solidFill>
                <a:latin typeface="微软雅黑" panose="020B0503020204020204" pitchFamily="34" charset="-122"/>
                <a:ea typeface="微软雅黑" panose="020B0503020204020204" pitchFamily="34" charset="-122"/>
              </a:rPr>
              <a:t>S</a:t>
            </a:r>
            <a:r>
              <a:rPr lang="zh-CN" altLang="zh-CN" sz="2400" dirty="0">
                <a:solidFill>
                  <a:prstClr val="black"/>
                </a:solidFill>
                <a:latin typeface="微软雅黑" panose="020B0503020204020204" pitchFamily="34" charset="-122"/>
                <a:ea typeface="微软雅黑" panose="020B0503020204020204" pitchFamily="34" charset="-122"/>
              </a:rPr>
              <a:t>表示城市之间的直达公路路线关系。试描述</a:t>
            </a:r>
            <a:r>
              <a:rPr lang="en-US" altLang="zh-CN" sz="2400" dirty="0" err="1">
                <a:solidFill>
                  <a:prstClr val="black"/>
                </a:solidFill>
                <a:latin typeface="微软雅黑" panose="020B0503020204020204" pitchFamily="34" charset="-122"/>
                <a:ea typeface="微软雅黑" panose="020B0503020204020204" pitchFamily="34" charset="-122"/>
              </a:rPr>
              <a:t>RoS</a:t>
            </a:r>
            <a:r>
              <a:rPr lang="zh-CN" altLang="en-US" sz="2400" dirty="0">
                <a:solidFill>
                  <a:prstClr val="black"/>
                </a:solidFill>
                <a:latin typeface="微软雅黑" panose="020B0503020204020204" pitchFamily="34" charset="-122"/>
                <a:ea typeface="微软雅黑" panose="020B0503020204020204" pitchFamily="34" charset="-122"/>
              </a:rPr>
              <a:t>的意义。</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defTabSz="1219200">
              <a:lnSpc>
                <a:spcPct val="150000"/>
              </a:lnSpc>
              <a:buNone/>
            </a:pPr>
            <a:r>
              <a:rPr lang="zh-CN" altLang="zh-CN" sz="2400" dirty="0">
                <a:solidFill>
                  <a:srgbClr val="C00000"/>
                </a:solidFill>
                <a:latin typeface="微软雅黑" panose="020B0503020204020204" pitchFamily="34" charset="-122"/>
                <a:ea typeface="微软雅黑" panose="020B0503020204020204" pitchFamily="34" charset="-122"/>
              </a:rPr>
              <a:t>解</a:t>
            </a:r>
            <a:r>
              <a:rPr lang="en-US" altLang="zh-CN" sz="240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sz="2400" dirty="0" err="1">
                <a:solidFill>
                  <a:prstClr val="black"/>
                </a:solidFill>
                <a:latin typeface="微软雅黑" panose="020B0503020204020204" pitchFamily="34" charset="-122"/>
                <a:ea typeface="微软雅黑" panose="020B0503020204020204" pitchFamily="34" charset="-122"/>
              </a:rPr>
              <a:t>RoS</a:t>
            </a:r>
            <a:r>
              <a:rPr lang="zh-CN" altLang="zh-CN" sz="2400" dirty="0">
                <a:solidFill>
                  <a:prstClr val="black"/>
                </a:solidFill>
                <a:latin typeface="微软雅黑" panose="020B0503020204020204" pitchFamily="34" charset="-122"/>
                <a:ea typeface="微软雅黑" panose="020B0503020204020204" pitchFamily="34" charset="-122"/>
              </a:rPr>
              <a:t>表示航空路线关系与公路路线关系的复合运算</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defTabSz="1219200">
              <a:lnSpc>
                <a:spcPct val="150000"/>
              </a:lnSpc>
              <a:buNone/>
            </a:pPr>
            <a:r>
              <a:rPr lang="en-US" altLang="zh-CN" sz="240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zh-CN" sz="2400" dirty="0">
                <a:solidFill>
                  <a:prstClr val="black"/>
                </a:solidFill>
                <a:latin typeface="微软雅黑" panose="020B0503020204020204" pitchFamily="34" charset="-122"/>
                <a:ea typeface="微软雅黑" panose="020B0503020204020204" pitchFamily="34" charset="-122"/>
              </a:rPr>
              <a:t>如果</a:t>
            </a:r>
            <a:r>
              <a:rPr lang="en-US" altLang="zh-CN" sz="2400" dirty="0">
                <a:solidFill>
                  <a:prstClr val="black"/>
                </a:solidFill>
                <a:latin typeface="微软雅黑" panose="020B0503020204020204" pitchFamily="34" charset="-122"/>
                <a:ea typeface="微软雅黑" panose="020B0503020204020204" pitchFamily="34" charset="-122"/>
              </a:rPr>
              <a:t>&lt;a</a:t>
            </a:r>
            <a:r>
              <a:rPr lang="zh-CN" altLang="zh-CN"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c&gt;</a:t>
            </a:r>
            <a:r>
              <a:rPr lang="zh-CN" altLang="zh-CN" sz="2400" dirty="0">
                <a:solidFill>
                  <a:prstClr val="black"/>
                </a:solidFill>
                <a:latin typeface="微软雅黑" panose="020B0503020204020204" pitchFamily="34" charset="-122"/>
                <a:ea typeface="微软雅黑" panose="020B0503020204020204" pitchFamily="34" charset="-122"/>
              </a:rPr>
              <a:t>∈</a:t>
            </a:r>
            <a:r>
              <a:rPr lang="en-US" altLang="zh-CN" sz="2400" dirty="0" err="1">
                <a:solidFill>
                  <a:prstClr val="black"/>
                </a:solidFill>
                <a:latin typeface="微软雅黑" panose="020B0503020204020204" pitchFamily="34" charset="-122"/>
                <a:ea typeface="微软雅黑" panose="020B0503020204020204" pitchFamily="34" charset="-122"/>
              </a:rPr>
              <a:t>RoS</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zh-CN" sz="2400" dirty="0">
                <a:solidFill>
                  <a:prstClr val="black"/>
                </a:solidFill>
                <a:latin typeface="微软雅黑" panose="020B0503020204020204" pitchFamily="34" charset="-122"/>
                <a:ea typeface="微软雅黑" panose="020B0503020204020204" pitchFamily="34" charset="-122"/>
              </a:rPr>
              <a:t>那么</a:t>
            </a:r>
            <a:r>
              <a:rPr lang="en-US" altLang="zh-CN" sz="2400" dirty="0">
                <a:solidFill>
                  <a:prstClr val="black"/>
                </a:solidFill>
                <a:latin typeface="微软雅黑" panose="020B0503020204020204" pitchFamily="34" charset="-122"/>
                <a:ea typeface="微软雅黑" panose="020B0503020204020204" pitchFamily="34" charset="-122"/>
              </a:rPr>
              <a:t>a</a:t>
            </a:r>
            <a:r>
              <a:rPr lang="zh-CN" altLang="zh-CN" sz="2400" dirty="0">
                <a:solidFill>
                  <a:prstClr val="black"/>
                </a:solidFill>
                <a:latin typeface="微软雅黑" panose="020B0503020204020204" pitchFamily="34" charset="-122"/>
                <a:ea typeface="微软雅黑" panose="020B0503020204020204" pitchFamily="34" charset="-122"/>
              </a:rPr>
              <a:t>与</a:t>
            </a:r>
            <a:r>
              <a:rPr lang="en-US" altLang="zh-CN" sz="2400" dirty="0">
                <a:solidFill>
                  <a:prstClr val="black"/>
                </a:solidFill>
                <a:latin typeface="微软雅黑" panose="020B0503020204020204" pitchFamily="34" charset="-122"/>
                <a:ea typeface="微软雅黑" panose="020B0503020204020204" pitchFamily="34" charset="-122"/>
              </a:rPr>
              <a:t>c</a:t>
            </a:r>
            <a:r>
              <a:rPr lang="zh-CN" altLang="zh-CN" sz="2400" dirty="0">
                <a:solidFill>
                  <a:prstClr val="black"/>
                </a:solidFill>
                <a:latin typeface="微软雅黑" panose="020B0503020204020204" pitchFamily="34" charset="-122"/>
                <a:ea typeface="微软雅黑" panose="020B0503020204020204" pitchFamily="34" charset="-122"/>
              </a:rPr>
              <a:t>之间存在一条先从乘飞机，再乘汽车的可达路线</a:t>
            </a:r>
            <a:r>
              <a:rPr lang="zh-CN" altLang="en-US" sz="2400" dirty="0">
                <a:solidFill>
                  <a:prstClr val="black"/>
                </a:solidFill>
                <a:latin typeface="微软雅黑" panose="020B0503020204020204" pitchFamily="34" charset="-122"/>
                <a:ea typeface="微软雅黑" panose="020B0503020204020204" pitchFamily="34" charset="-122"/>
              </a:rPr>
              <a:t>。</a:t>
            </a: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10" name="Text Box 556"/>
          <p:cNvSpPr txBox="1">
            <a:spLocks noChangeArrowheads="1"/>
          </p:cNvSpPr>
          <p:nvPr/>
        </p:nvSpPr>
        <p:spPr bwMode="auto">
          <a:xfrm>
            <a:off x="483091" y="4572464"/>
            <a:ext cx="11416718" cy="2209954"/>
          </a:xfrm>
          <a:prstGeom prst="rect">
            <a:avLst/>
          </a:prstGeom>
          <a:solidFill>
            <a:srgbClr val="1157AB"/>
          </a:solidFill>
          <a:ln w="9525">
            <a:solidFill>
              <a:srgbClr val="000000"/>
            </a:solidFill>
            <a:miter lim="800000"/>
          </a:ln>
        </p:spPr>
        <p:txBody>
          <a:bodyPr rot="0" vert="horz" wrap="square" lIns="91413" tIns="45707" rIns="91413" bIns="45707" anchor="t" anchorCtr="0" upright="1">
            <a:noAutofit/>
          </a:bodyPr>
          <a:lstStyle/>
          <a:p>
            <a:pPr algn="just" defTabSz="1219200">
              <a:lnSpc>
                <a:spcPct val="150000"/>
              </a:lnSpc>
            </a:pPr>
            <a:r>
              <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解题小贴士</a:t>
            </a:r>
            <a:r>
              <a:rPr lang="en-US" altLang="zh-CN"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a:t>
            </a:r>
            <a:r>
              <a:rPr lang="en-US" sz="2400" b="1" kern="100" dirty="0" err="1">
                <a:solidFill>
                  <a:prstClr val="white"/>
                </a:solidFill>
                <a:latin typeface="微软雅黑" panose="020B0503020204020204" pitchFamily="34" charset="-122"/>
                <a:ea typeface="微软雅黑" panose="020B0503020204020204" pitchFamily="34" charset="-122"/>
                <a:cs typeface="宋体" panose="02010600030101010101" pitchFamily="2" charset="-122"/>
              </a:rPr>
              <a:t>R</a:t>
            </a:r>
            <a:r>
              <a:rPr lang="en-US" altLang="zh-CN" sz="2400" b="1" kern="100" dirty="0" err="1">
                <a:solidFill>
                  <a:prstClr val="white"/>
                </a:solidFill>
                <a:latin typeface="微软雅黑" panose="020B0503020204020204" pitchFamily="34" charset="-122"/>
                <a:ea typeface="微软雅黑" panose="020B0503020204020204" pitchFamily="34" charset="-122"/>
                <a:cs typeface="宋体" panose="02010600030101010101" pitchFamily="2" charset="-122"/>
              </a:rPr>
              <a:t>o</a:t>
            </a:r>
            <a:r>
              <a:rPr lang="en-US" sz="2400" b="1" kern="100" dirty="0" err="1">
                <a:solidFill>
                  <a:prstClr val="white"/>
                </a:solidFill>
                <a:latin typeface="微软雅黑" panose="020B0503020204020204" pitchFamily="34" charset="-122"/>
                <a:ea typeface="微软雅黑" panose="020B0503020204020204" pitchFamily="34" charset="-122"/>
                <a:cs typeface="宋体" panose="02010600030101010101" pitchFamily="2" charset="-122"/>
              </a:rPr>
              <a:t>S</a:t>
            </a:r>
            <a:r>
              <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的计算方法</a:t>
            </a:r>
            <a:endPar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endParaRPr>
          </a:p>
          <a:p>
            <a:pPr algn="just" defTabSz="1219200">
              <a:lnSpc>
                <a:spcPct val="150000"/>
              </a:lnSpc>
            </a:pP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对任意</a:t>
            </a:r>
            <a:r>
              <a:rPr 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&lt;</a:t>
            </a:r>
            <a:r>
              <a:rPr lang="en-US" sz="2400" b="1" kern="100" dirty="0" err="1">
                <a:solidFill>
                  <a:prstClr val="white"/>
                </a:solidFill>
                <a:latin typeface="微软雅黑" panose="020B0503020204020204" pitchFamily="34" charset="-122"/>
                <a:ea typeface="微软雅黑" panose="020B0503020204020204" pitchFamily="34" charset="-122"/>
                <a:cs typeface="宋体" panose="02010600030101010101" pitchFamily="2" charset="-122"/>
              </a:rPr>
              <a:t>x,y</a:t>
            </a:r>
            <a:r>
              <a:rPr 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&gt;</a:t>
            </a:r>
            <a:r>
              <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a:t>
            </a:r>
            <a:r>
              <a:rPr 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R</a:t>
            </a:r>
            <a:r>
              <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，在</a:t>
            </a:r>
            <a:r>
              <a:rPr 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S</a:t>
            </a: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中查找所有以</a:t>
            </a:r>
            <a:r>
              <a:rPr 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y</a:t>
            </a: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为第一元素的序偶</a:t>
            </a:r>
            <a:r>
              <a:rPr 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&lt;</a:t>
            </a:r>
            <a:r>
              <a:rPr lang="en-US" sz="2400" b="1" kern="100" dirty="0" err="1">
                <a:solidFill>
                  <a:prstClr val="white"/>
                </a:solidFill>
                <a:latin typeface="微软雅黑" panose="020B0503020204020204" pitchFamily="34" charset="-122"/>
                <a:ea typeface="微软雅黑" panose="020B0503020204020204" pitchFamily="34" charset="-122"/>
                <a:cs typeface="宋体" panose="02010600030101010101" pitchFamily="2" charset="-122"/>
              </a:rPr>
              <a:t>y,z</a:t>
            </a:r>
            <a:r>
              <a:rPr 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&gt;</a:t>
            </a: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，然后将</a:t>
            </a:r>
            <a:r>
              <a:rPr lang="en-US" altLang="zh-CN"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x</a:t>
            </a: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和</a:t>
            </a:r>
            <a:r>
              <a:rPr lang="en-US" altLang="zh-CN"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z</a:t>
            </a: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形成新的序偶</a:t>
            </a:r>
            <a:r>
              <a:rPr 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&lt;</a:t>
            </a:r>
            <a:r>
              <a:rPr lang="en-US" sz="2400" b="1" kern="0" dirty="0" err="1">
                <a:solidFill>
                  <a:prstClr val="white"/>
                </a:solidFill>
                <a:latin typeface="微软雅黑" panose="020B0503020204020204" pitchFamily="34" charset="-122"/>
                <a:ea typeface="微软雅黑" panose="020B0503020204020204" pitchFamily="34" charset="-122"/>
                <a:cs typeface="宋体" panose="02010600030101010101" pitchFamily="2" charset="-122"/>
              </a:rPr>
              <a:t>x,z</a:t>
            </a:r>
            <a:r>
              <a:rPr 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&gt;</a:t>
            </a:r>
            <a:r>
              <a:rPr lang="zh-CN" altLang="en-US" sz="2400" b="1" kern="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a:t>
            </a:r>
            <a:r>
              <a:rPr lang="en-US" sz="2400" b="1" kern="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&lt;</a:t>
            </a:r>
            <a:r>
              <a:rPr lang="en-US" sz="2400" b="1" kern="0" dirty="0" err="1">
                <a:solidFill>
                  <a:srgbClr val="FF0000"/>
                </a:solidFill>
                <a:latin typeface="微软雅黑" panose="020B0503020204020204" pitchFamily="34" charset="-122"/>
                <a:ea typeface="微软雅黑" panose="020B0503020204020204" pitchFamily="34" charset="-122"/>
                <a:cs typeface="宋体" panose="02010600030101010101" pitchFamily="2" charset="-122"/>
              </a:rPr>
              <a:t>x,z</a:t>
            </a:r>
            <a:r>
              <a:rPr lang="en-US" sz="2400" b="1" kern="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&gt;</a:t>
            </a:r>
            <a:r>
              <a:rPr lang="zh-CN" altLang="en-US" sz="2400" b="1" kern="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即为</a:t>
            </a:r>
            <a:r>
              <a:rPr lang="en-US" sz="2400" b="1" kern="100" dirty="0" err="1">
                <a:solidFill>
                  <a:srgbClr val="FF0000"/>
                </a:solidFill>
                <a:latin typeface="微软雅黑" panose="020B0503020204020204" pitchFamily="34" charset="-122"/>
                <a:ea typeface="微软雅黑" panose="020B0503020204020204" pitchFamily="34" charset="-122"/>
                <a:cs typeface="宋体" panose="02010600030101010101" pitchFamily="2" charset="-122"/>
              </a:rPr>
              <a:t>RoS</a:t>
            </a:r>
            <a:r>
              <a:rPr lang="zh-CN" altLang="en-US" sz="24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的元素。</a:t>
            </a:r>
            <a:endParaRPr lang="zh-CN" altLang="en-US" sz="24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endParaRPr>
          </a:p>
          <a:p>
            <a:pPr algn="just" defTabSz="1219200">
              <a:lnSpc>
                <a:spcPct val="150000"/>
              </a:lnSpc>
            </a:pPr>
            <a:r>
              <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注意</a:t>
            </a:r>
            <a:r>
              <a:rPr lang="en-US" altLang="zh-CN"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 </a:t>
            </a:r>
            <a:r>
              <a:rPr 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 </a:t>
            </a:r>
            <a:r>
              <a:rPr lang="en-US" altLang="zh-CN" sz="2400" b="1" dirty="0" err="1">
                <a:solidFill>
                  <a:prstClr val="white"/>
                </a:solidFill>
                <a:latin typeface="微软雅黑" panose="020B0503020204020204" pitchFamily="34" charset="-122"/>
                <a:ea typeface="微软雅黑" panose="020B0503020204020204" pitchFamily="34" charset="-122"/>
              </a:rPr>
              <a:t>ΦoR</a:t>
            </a:r>
            <a:r>
              <a:rPr lang="zh-CN" altLang="en-US" sz="2400" b="1" dirty="0">
                <a:solidFill>
                  <a:prstClr val="white"/>
                </a:solidFill>
                <a:latin typeface="微软雅黑" panose="020B0503020204020204" pitchFamily="34" charset="-122"/>
                <a:ea typeface="微软雅黑" panose="020B0503020204020204" pitchFamily="34" charset="-122"/>
              </a:rPr>
              <a:t>＝</a:t>
            </a:r>
            <a:r>
              <a:rPr lang="en-US" altLang="zh-CN" sz="2400" b="1" dirty="0" err="1">
                <a:solidFill>
                  <a:prstClr val="white"/>
                </a:solidFill>
                <a:latin typeface="微软雅黑" panose="020B0503020204020204" pitchFamily="34" charset="-122"/>
                <a:ea typeface="微软雅黑" panose="020B0503020204020204" pitchFamily="34" charset="-122"/>
              </a:rPr>
              <a:t>RoΦ</a:t>
            </a:r>
            <a:r>
              <a:rPr lang="zh-CN" altLang="en-US" sz="2400" b="1" dirty="0">
                <a:solidFill>
                  <a:prstClr val="white"/>
                </a:solidFill>
                <a:latin typeface="微软雅黑" panose="020B0503020204020204" pitchFamily="34" charset="-122"/>
                <a:ea typeface="微软雅黑" panose="020B0503020204020204" pitchFamily="34" charset="-122"/>
              </a:rPr>
              <a:t>＝</a:t>
            </a:r>
            <a:r>
              <a:rPr lang="en-US" altLang="zh-CN" sz="2400" b="1" dirty="0">
                <a:solidFill>
                  <a:prstClr val="white"/>
                </a:solidFill>
                <a:latin typeface="微软雅黑" panose="020B0503020204020204" pitchFamily="34" charset="-122"/>
                <a:ea typeface="微软雅黑" panose="020B0503020204020204" pitchFamily="34" charset="-122"/>
              </a:rPr>
              <a:t>Φ </a:t>
            </a:r>
            <a:r>
              <a:rPr lang="zh-CN" altLang="en-US" sz="2400" b="1" kern="100" spc="30" dirty="0">
                <a:solidFill>
                  <a:prstClr val="white"/>
                </a:solidFill>
                <a:latin typeface="微软雅黑" panose="020B0503020204020204" pitchFamily="34" charset="-122"/>
                <a:ea typeface="微软雅黑" panose="020B0503020204020204" pitchFamily="34" charset="-122"/>
                <a:cs typeface="宋体" panose="02010600030101010101" pitchFamily="2" charset="-122"/>
              </a:rPr>
              <a:t>。</a:t>
            </a:r>
            <a:endParaRPr lang="zh-CN" altLang="en-US" sz="2400" b="1" kern="100" dirty="0">
              <a:solidFill>
                <a:prstClr val="white"/>
              </a:solidFill>
              <a:latin typeface="微软雅黑" panose="020B0503020204020204" pitchFamily="34" charset="-122"/>
              <a:ea typeface="微软雅黑" panose="020B0503020204020204" pitchFamily="34" charset="-122"/>
              <a:cs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heel(1)">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ircle(in)">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ircle(in)">
                                      <p:cBhvr>
                                        <p:cTn id="17" dur="20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829541" y="261327"/>
            <a:ext cx="10755156" cy="585755"/>
          </a:xfrm>
        </p:spPr>
        <p:txBody>
          <a:bodyPr/>
          <a:lstStyle/>
          <a:p>
            <a:pPr eaLnBrk="1" hangingPunct="1"/>
            <a:r>
              <a:rPr lang="zh-CN" altLang="en-US" dirty="0"/>
              <a:t>例</a:t>
            </a:r>
            <a:r>
              <a:rPr lang="en-US" altLang="zh-CN" dirty="0"/>
              <a:t>4.15</a:t>
            </a:r>
            <a:endParaRPr lang="zh-CN" altLang="en-US" dirty="0"/>
          </a:p>
        </p:txBody>
      </p:sp>
      <p:sp>
        <p:nvSpPr>
          <p:cNvPr id="1447939" name="Rectangle 3"/>
          <p:cNvSpPr>
            <a:spLocks noGrp="1" noChangeArrowheads="1"/>
          </p:cNvSpPr>
          <p:nvPr>
            <p:ph type="body" sz="half" idx="1"/>
          </p:nvPr>
        </p:nvSpPr>
        <p:spPr>
          <a:xfrm>
            <a:off x="262442" y="1363056"/>
            <a:ext cx="11378027" cy="2523806"/>
          </a:xfrm>
        </p:spPr>
        <p:txBody>
          <a:bodyPr/>
          <a:lstStyle/>
          <a:p>
            <a:pPr marL="0" indent="0">
              <a:buNone/>
            </a:pPr>
            <a:r>
              <a:rPr lang="zh-CN" altLang="en-US" dirty="0">
                <a:solidFill>
                  <a:srgbClr val="C00000"/>
                </a:solidFill>
              </a:rPr>
              <a:t>例</a:t>
            </a:r>
            <a:r>
              <a:rPr lang="en-US" altLang="zh-CN" dirty="0">
                <a:solidFill>
                  <a:srgbClr val="C00000"/>
                </a:solidFill>
              </a:rPr>
              <a:t>4.15  </a:t>
            </a:r>
            <a:r>
              <a:rPr lang="zh-CN" altLang="en-US" dirty="0"/>
              <a:t>设</a:t>
            </a:r>
            <a:r>
              <a:rPr lang="en-US" altLang="zh-CN" dirty="0"/>
              <a:t>A</a:t>
            </a:r>
            <a:r>
              <a:rPr lang="zh-CN" altLang="en-US" dirty="0"/>
              <a:t>＝</a:t>
            </a:r>
            <a:r>
              <a:rPr lang="en-US" altLang="zh-CN" dirty="0"/>
              <a:t>{1,2,3,4}</a:t>
            </a:r>
            <a:r>
              <a:rPr lang="zh-CN" altLang="en-US" dirty="0"/>
              <a:t>，</a:t>
            </a:r>
            <a:r>
              <a:rPr lang="en-US" altLang="zh-CN" dirty="0"/>
              <a:t>R</a:t>
            </a:r>
            <a:r>
              <a:rPr lang="zh-CN" altLang="en-US" dirty="0"/>
              <a:t>＝</a:t>
            </a:r>
            <a:r>
              <a:rPr lang="en-US" altLang="zh-CN" dirty="0"/>
              <a:t>{&lt;1,2&gt;,&lt;3,4&gt;}</a:t>
            </a:r>
            <a:r>
              <a:rPr lang="zh-CN" altLang="en-US" dirty="0"/>
              <a:t>，</a:t>
            </a:r>
            <a:r>
              <a:rPr lang="en-US" altLang="zh-CN" dirty="0"/>
              <a:t>S</a:t>
            </a:r>
            <a:r>
              <a:rPr lang="zh-CN" altLang="en-US" dirty="0"/>
              <a:t>＝</a:t>
            </a:r>
            <a:r>
              <a:rPr lang="en-US" altLang="zh-CN" dirty="0"/>
              <a:t>{&lt;2,4&gt;,&lt;3,4&gt;,&lt;4,2&gt;}</a:t>
            </a:r>
            <a:r>
              <a:rPr lang="zh-CN" altLang="en-US" dirty="0"/>
              <a:t>，</a:t>
            </a:r>
            <a:r>
              <a:rPr lang="en-US" altLang="zh-CN" dirty="0"/>
              <a:t>T</a:t>
            </a:r>
            <a:r>
              <a:rPr lang="zh-CN" altLang="en-US" dirty="0"/>
              <a:t>＝</a:t>
            </a:r>
            <a:r>
              <a:rPr lang="en-US" altLang="zh-CN" dirty="0"/>
              <a:t>{&lt;1,4&gt;,&lt;2,1&gt;,&lt;4,2&gt;}</a:t>
            </a:r>
            <a:r>
              <a:rPr lang="zh-CN" altLang="en-US" dirty="0"/>
              <a:t>是</a:t>
            </a:r>
            <a:r>
              <a:rPr lang="en-US" altLang="zh-CN" dirty="0"/>
              <a:t>A</a:t>
            </a:r>
            <a:r>
              <a:rPr lang="zh-CN" altLang="en-US" dirty="0"/>
              <a:t>上的三个关系。计算</a:t>
            </a:r>
            <a:endParaRPr lang="zh-CN" altLang="en-US" dirty="0"/>
          </a:p>
          <a:p>
            <a:pPr marL="0" indent="0">
              <a:buNone/>
            </a:pPr>
            <a:r>
              <a:rPr lang="zh-CN" altLang="en-US" dirty="0"/>
              <a:t>（</a:t>
            </a:r>
            <a:r>
              <a:rPr lang="en-US" altLang="zh-CN" dirty="0"/>
              <a:t>1</a:t>
            </a:r>
            <a:r>
              <a:rPr lang="zh-CN" altLang="en-US" dirty="0"/>
              <a:t>）</a:t>
            </a:r>
            <a:r>
              <a:rPr lang="en-US" altLang="zh-CN" dirty="0" err="1"/>
              <a:t>RoS</a:t>
            </a:r>
            <a:r>
              <a:rPr lang="zh-CN" altLang="en-US" dirty="0"/>
              <a:t>和</a:t>
            </a:r>
            <a:r>
              <a:rPr lang="en-US" altLang="zh-CN" dirty="0" err="1"/>
              <a:t>SoR</a:t>
            </a:r>
            <a:r>
              <a:rPr lang="zh-CN" altLang="en-US" dirty="0"/>
              <a:t>；</a:t>
            </a:r>
            <a:endParaRPr lang="zh-CN" altLang="en-US" dirty="0"/>
          </a:p>
          <a:p>
            <a:pPr marL="0" indent="0">
              <a:buNone/>
            </a:pPr>
            <a:r>
              <a:rPr lang="zh-CN" altLang="en-US" dirty="0"/>
              <a:t>（</a:t>
            </a:r>
            <a:r>
              <a:rPr lang="en-US" altLang="zh-CN" dirty="0"/>
              <a:t>2</a:t>
            </a:r>
            <a:r>
              <a:rPr lang="zh-CN" altLang="en-US" dirty="0"/>
              <a:t>）</a:t>
            </a:r>
            <a:r>
              <a:rPr lang="en-US" altLang="zh-CN" dirty="0"/>
              <a:t>(</a:t>
            </a:r>
            <a:r>
              <a:rPr lang="en-US" altLang="zh-CN" dirty="0" err="1"/>
              <a:t>RoS</a:t>
            </a:r>
            <a:r>
              <a:rPr lang="en-US" altLang="zh-CN" dirty="0"/>
              <a:t>)</a:t>
            </a:r>
            <a:r>
              <a:rPr lang="en-US" altLang="zh-CN" dirty="0" err="1"/>
              <a:t>oT</a:t>
            </a:r>
            <a:r>
              <a:rPr lang="zh-CN" altLang="en-US" dirty="0"/>
              <a:t>和</a:t>
            </a:r>
            <a:r>
              <a:rPr lang="en-US" altLang="zh-CN" dirty="0"/>
              <a:t>Ro(</a:t>
            </a:r>
            <a:r>
              <a:rPr lang="en-US" altLang="zh-CN" dirty="0" err="1"/>
              <a:t>SoT</a:t>
            </a:r>
            <a:r>
              <a:rPr lang="en-US" altLang="zh-CN" dirty="0"/>
              <a:t>)</a:t>
            </a:r>
            <a:r>
              <a:rPr lang="zh-CN" altLang="en-US" dirty="0"/>
              <a:t>。</a:t>
            </a:r>
            <a:endParaRPr lang="zh-CN" altLang="en-US" dirty="0"/>
          </a:p>
          <a:p>
            <a:pPr marL="0" indent="0">
              <a:buNone/>
            </a:pPr>
            <a:endParaRPr lang="zh-CN" altLang="en-US" dirty="0"/>
          </a:p>
        </p:txBody>
      </p:sp>
      <p:sp>
        <p:nvSpPr>
          <p:cNvPr id="11" name="矩形 10"/>
          <p:cNvSpPr/>
          <p:nvPr/>
        </p:nvSpPr>
        <p:spPr>
          <a:xfrm>
            <a:off x="347739" y="4191574"/>
            <a:ext cx="11502872" cy="1200329"/>
          </a:xfrm>
          <a:prstGeom prst="rect">
            <a:avLst/>
          </a:prstGeom>
        </p:spPr>
        <p:txBody>
          <a:bodyPr wrap="square">
            <a:spAutoFit/>
          </a:bodyPr>
          <a:lstStyle/>
          <a:p>
            <a:pPr defTabSz="1219200">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解</a:t>
            </a:r>
            <a:r>
              <a:rPr lang="zh-CN" altLang="en-US" sz="2400" b="1" dirty="0">
                <a:solidFill>
                  <a:prstClr val="black"/>
                </a:solidFill>
                <a:latin typeface="微软雅黑" panose="020B0503020204020204" pitchFamily="34" charset="-122"/>
                <a:ea typeface="微软雅黑" panose="020B0503020204020204" pitchFamily="34" charset="-122"/>
              </a:rPr>
              <a:t> （</a:t>
            </a:r>
            <a:r>
              <a:rPr lang="en-US" altLang="zh-CN" sz="2400" b="1" dirty="0">
                <a:solidFill>
                  <a:prstClr val="black"/>
                </a:solidFill>
                <a:latin typeface="微软雅黑" panose="020B0503020204020204" pitchFamily="34" charset="-122"/>
                <a:ea typeface="微软雅黑" panose="020B0503020204020204" pitchFamily="34" charset="-122"/>
              </a:rPr>
              <a:t>1</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err="1">
                <a:solidFill>
                  <a:prstClr val="black"/>
                </a:solidFill>
                <a:latin typeface="微软雅黑" panose="020B0503020204020204" pitchFamily="34" charset="-122"/>
                <a:ea typeface="微软雅黑" panose="020B0503020204020204" pitchFamily="34" charset="-122"/>
              </a:rPr>
              <a:t>RoS</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{&lt;1,2&gt;,&lt;3,4&gt;} </a:t>
            </a:r>
            <a:r>
              <a:rPr lang="en-US" altLang="zh-CN" b="1" dirty="0" smtClean="0">
                <a:solidFill>
                  <a:prstClr val="black"/>
                </a:solidFill>
                <a:latin typeface="微软雅黑" panose="020B0503020204020204" pitchFamily="34" charset="-122"/>
                <a:ea typeface="微软雅黑" panose="020B0503020204020204" pitchFamily="34" charset="-122"/>
              </a:rPr>
              <a:t>o {&lt;</a:t>
            </a:r>
            <a:r>
              <a:rPr lang="en-US" altLang="zh-CN" sz="2400" b="1" dirty="0">
                <a:solidFill>
                  <a:prstClr val="black"/>
                </a:solidFill>
                <a:latin typeface="微软雅黑" panose="020B0503020204020204" pitchFamily="34" charset="-122"/>
                <a:ea typeface="微软雅黑" panose="020B0503020204020204" pitchFamily="34" charset="-122"/>
              </a:rPr>
              <a:t>2,4&gt;,&lt;3,4&gt;,&lt;4,2&gt;}</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{&lt;1,4&gt;,&lt;3,2&gt;}</a:t>
            </a:r>
            <a:endParaRPr lang="en-US" altLang="zh-CN" sz="2400" b="1"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              </a:t>
            </a:r>
            <a:r>
              <a:rPr lang="en-US" altLang="zh-CN" sz="2400" b="1" dirty="0" err="1">
                <a:solidFill>
                  <a:prstClr val="black"/>
                </a:solidFill>
                <a:latin typeface="微软雅黑" panose="020B0503020204020204" pitchFamily="34" charset="-122"/>
                <a:ea typeface="微软雅黑" panose="020B0503020204020204" pitchFamily="34" charset="-122"/>
              </a:rPr>
              <a:t>SoR</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{&lt;2,4&gt;,&lt;3,4&gt;,&lt;4,2</a:t>
            </a:r>
            <a:r>
              <a:rPr lang="en-US" altLang="zh-CN" sz="2400" b="1" dirty="0" smtClean="0">
                <a:solidFill>
                  <a:prstClr val="black"/>
                </a:solidFill>
                <a:latin typeface="微软雅黑" panose="020B0503020204020204" pitchFamily="34" charset="-122"/>
                <a:ea typeface="微软雅黑" panose="020B0503020204020204" pitchFamily="34" charset="-122"/>
              </a:rPr>
              <a:t>&gt;} o {&lt;</a:t>
            </a:r>
            <a:r>
              <a:rPr lang="en-US" altLang="zh-CN" sz="2400" b="1" dirty="0">
                <a:solidFill>
                  <a:prstClr val="black"/>
                </a:solidFill>
                <a:latin typeface="微软雅黑" panose="020B0503020204020204" pitchFamily="34" charset="-122"/>
                <a:ea typeface="微软雅黑" panose="020B0503020204020204" pitchFamily="34" charset="-122"/>
              </a:rPr>
              <a:t>1,2&gt;,&lt;3,4&gt;}=</a:t>
            </a:r>
            <a:r>
              <a:rPr lang="en-US" altLang="zh-CN" sz="2400" b="1" dirty="0">
                <a:solidFill>
                  <a:srgbClr val="FF0000"/>
                </a:solidFill>
                <a:latin typeface="微软雅黑" panose="020B0503020204020204" pitchFamily="34" charset="-122"/>
                <a:ea typeface="微软雅黑" panose="020B0503020204020204" pitchFamily="34" charset="-122"/>
              </a:rPr>
              <a:t> </a:t>
            </a:r>
            <a:r>
              <a:rPr lang="en-US" altLang="zh-CN" sz="2400" b="1" dirty="0">
                <a:solidFill>
                  <a:prstClr val="black"/>
                </a:solidFill>
                <a:latin typeface="微软雅黑" panose="020B0503020204020204" pitchFamily="34" charset="-122"/>
                <a:ea typeface="微软雅黑" panose="020B0503020204020204" pitchFamily="34" charset="-122"/>
              </a:rPr>
              <a:t>Φ</a:t>
            </a:r>
            <a:r>
              <a:rPr lang="zh-CN" altLang="en-US" sz="2400" b="1" dirty="0">
                <a:solidFill>
                  <a:prstClr val="black"/>
                </a:solidFill>
                <a:latin typeface="微软雅黑" panose="020B0503020204020204" pitchFamily="34" charset="-122"/>
                <a:ea typeface="微软雅黑" panose="020B0503020204020204" pitchFamily="34" charset="-122"/>
              </a:rPr>
              <a:t>      </a:t>
            </a:r>
            <a:endParaRPr lang="en-US" altLang="zh-CN" sz="2400" b="1" dirty="0">
              <a:solidFill>
                <a:prstClr val="black"/>
              </a:solidFill>
              <a:latin typeface="微软雅黑" panose="020B0503020204020204" pitchFamily="34" charset="-122"/>
              <a:ea typeface="微软雅黑" panose="020B0503020204020204" pitchFamily="34" charset="-122"/>
            </a:endParaRPr>
          </a:p>
        </p:txBody>
      </p:sp>
      <p:sp>
        <p:nvSpPr>
          <p:cNvPr id="12" name="云形标注 11"/>
          <p:cNvSpPr/>
          <p:nvPr/>
        </p:nvSpPr>
        <p:spPr>
          <a:xfrm>
            <a:off x="5832553" y="2566873"/>
            <a:ext cx="5637170" cy="1295026"/>
          </a:xfrm>
          <a:prstGeom prst="cloudCallout">
            <a:avLst>
              <a:gd name="adj1" fmla="val -20318"/>
              <a:gd name="adj2" fmla="val 1017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400" b="1">
                <a:solidFill>
                  <a:prstClr val="white"/>
                </a:solidFill>
                <a:latin typeface="Arial" panose="020B0604020202020204"/>
                <a:ea typeface="微软雅黑" panose="020B0503020204020204" pitchFamily="34" charset="-122"/>
              </a:rPr>
              <a:t>复合运算不满足交换律</a:t>
            </a:r>
            <a:endParaRPr lang="zh-CN" altLang="en-US" sz="2400" b="1">
              <a:solidFill>
                <a:prstClr val="white"/>
              </a:solidFill>
              <a:latin typeface="Arial" panose="020B0604020202020204"/>
              <a:ea typeface="微软雅黑" panose="020B0503020204020204" pitchFamily="34" charset="-122"/>
            </a:endParaRPr>
          </a:p>
        </p:txBody>
      </p:sp>
    </p:spTree>
    <p:custDataLst>
      <p:tags r:id="rId1"/>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ircle(in)">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circle(in)">
                                      <p:cBhvr>
                                        <p:cTn id="12" dur="20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829541" y="261327"/>
            <a:ext cx="10755156" cy="585755"/>
          </a:xfrm>
        </p:spPr>
        <p:txBody>
          <a:bodyPr/>
          <a:lstStyle/>
          <a:p>
            <a:pPr eaLnBrk="1" hangingPunct="1"/>
            <a:r>
              <a:rPr lang="zh-CN" altLang="en-US" dirty="0"/>
              <a:t>例</a:t>
            </a:r>
            <a:r>
              <a:rPr lang="en-US" altLang="zh-CN" dirty="0"/>
              <a:t>4.15</a:t>
            </a:r>
            <a:r>
              <a:rPr lang="zh-CN" altLang="en-US" dirty="0"/>
              <a:t>（续）</a:t>
            </a:r>
            <a:endParaRPr lang="zh-CN" altLang="en-US" dirty="0"/>
          </a:p>
        </p:txBody>
      </p:sp>
      <p:sp>
        <p:nvSpPr>
          <p:cNvPr id="1447939" name="Rectangle 3"/>
          <p:cNvSpPr>
            <a:spLocks noGrp="1" noChangeArrowheads="1"/>
          </p:cNvSpPr>
          <p:nvPr>
            <p:ph type="body" sz="half" idx="1"/>
          </p:nvPr>
        </p:nvSpPr>
        <p:spPr>
          <a:xfrm>
            <a:off x="224353" y="962146"/>
            <a:ext cx="11378027" cy="2523806"/>
          </a:xfrm>
        </p:spPr>
        <p:txBody>
          <a:bodyPr/>
          <a:lstStyle/>
          <a:p>
            <a:pPr marL="0" indent="0">
              <a:buNone/>
            </a:pPr>
            <a:r>
              <a:rPr lang="zh-CN" altLang="en-US" dirty="0">
                <a:solidFill>
                  <a:srgbClr val="C00000"/>
                </a:solidFill>
              </a:rPr>
              <a:t>例</a:t>
            </a:r>
            <a:r>
              <a:rPr lang="en-US" altLang="zh-CN" dirty="0">
                <a:solidFill>
                  <a:srgbClr val="C00000"/>
                </a:solidFill>
              </a:rPr>
              <a:t>4.15  </a:t>
            </a:r>
            <a:r>
              <a:rPr lang="zh-CN" altLang="en-US" dirty="0"/>
              <a:t>设</a:t>
            </a:r>
            <a:r>
              <a:rPr lang="en-US" altLang="zh-CN" dirty="0"/>
              <a:t>A</a:t>
            </a:r>
            <a:r>
              <a:rPr lang="zh-CN" altLang="en-US" dirty="0"/>
              <a:t>＝</a:t>
            </a:r>
            <a:r>
              <a:rPr lang="en-US" altLang="zh-CN" dirty="0"/>
              <a:t>{1,2,3,4}</a:t>
            </a:r>
            <a:r>
              <a:rPr lang="zh-CN" altLang="en-US" dirty="0"/>
              <a:t>，</a:t>
            </a:r>
            <a:r>
              <a:rPr lang="en-US" altLang="zh-CN" dirty="0"/>
              <a:t>R</a:t>
            </a:r>
            <a:r>
              <a:rPr lang="zh-CN" altLang="en-US" dirty="0"/>
              <a:t>＝</a:t>
            </a:r>
            <a:r>
              <a:rPr lang="en-US" altLang="zh-CN" dirty="0"/>
              <a:t>{&lt;1,2&gt;,&lt;3,4&gt;}</a:t>
            </a:r>
            <a:r>
              <a:rPr lang="zh-CN" altLang="en-US" dirty="0"/>
              <a:t>，</a:t>
            </a:r>
            <a:r>
              <a:rPr lang="en-US" altLang="zh-CN" dirty="0"/>
              <a:t>S</a:t>
            </a:r>
            <a:r>
              <a:rPr lang="zh-CN" altLang="en-US" dirty="0"/>
              <a:t>＝</a:t>
            </a:r>
            <a:r>
              <a:rPr lang="en-US" altLang="zh-CN" dirty="0"/>
              <a:t>{&lt;2,4&gt;,&lt;3,4&gt;,&lt;4,2&gt;}</a:t>
            </a:r>
            <a:r>
              <a:rPr lang="zh-CN" altLang="en-US" dirty="0"/>
              <a:t>，</a:t>
            </a:r>
            <a:r>
              <a:rPr lang="en-US" altLang="zh-CN" dirty="0"/>
              <a:t>T</a:t>
            </a:r>
            <a:r>
              <a:rPr lang="zh-CN" altLang="en-US" dirty="0"/>
              <a:t>＝</a:t>
            </a:r>
            <a:r>
              <a:rPr lang="en-US" altLang="zh-CN" dirty="0"/>
              <a:t>{&lt;1,4&gt;,&lt;2,1&gt;,&lt;4,2&gt;}</a:t>
            </a:r>
            <a:r>
              <a:rPr lang="zh-CN" altLang="en-US" dirty="0"/>
              <a:t>是</a:t>
            </a:r>
            <a:r>
              <a:rPr lang="en-US" altLang="zh-CN" dirty="0"/>
              <a:t>A</a:t>
            </a:r>
            <a:r>
              <a:rPr lang="zh-CN" altLang="en-US" dirty="0"/>
              <a:t>上的三个关系。计算</a:t>
            </a:r>
            <a:endParaRPr lang="zh-CN" altLang="en-US" dirty="0"/>
          </a:p>
          <a:p>
            <a:pPr marL="0" indent="0">
              <a:buNone/>
            </a:pPr>
            <a:r>
              <a:rPr lang="zh-CN" altLang="en-US" dirty="0"/>
              <a:t>（</a:t>
            </a:r>
            <a:r>
              <a:rPr lang="en-US" altLang="zh-CN" dirty="0"/>
              <a:t>1</a:t>
            </a:r>
            <a:r>
              <a:rPr lang="zh-CN" altLang="en-US" dirty="0"/>
              <a:t>）</a:t>
            </a:r>
            <a:r>
              <a:rPr lang="en-US" altLang="zh-CN" dirty="0" err="1"/>
              <a:t>RoS</a:t>
            </a:r>
            <a:r>
              <a:rPr lang="zh-CN" altLang="en-US" dirty="0"/>
              <a:t>和</a:t>
            </a:r>
            <a:r>
              <a:rPr lang="en-US" altLang="zh-CN" dirty="0" err="1"/>
              <a:t>SoR</a:t>
            </a:r>
            <a:r>
              <a:rPr lang="zh-CN" altLang="en-US" dirty="0"/>
              <a:t>；</a:t>
            </a:r>
            <a:endParaRPr lang="zh-CN" altLang="en-US" dirty="0"/>
          </a:p>
          <a:p>
            <a:pPr marL="0" indent="0">
              <a:buNone/>
            </a:pPr>
            <a:r>
              <a:rPr lang="zh-CN" altLang="en-US" dirty="0"/>
              <a:t>（</a:t>
            </a:r>
            <a:r>
              <a:rPr lang="en-US" altLang="zh-CN" dirty="0"/>
              <a:t>2</a:t>
            </a:r>
            <a:r>
              <a:rPr lang="zh-CN" altLang="en-US" dirty="0"/>
              <a:t>）</a:t>
            </a:r>
            <a:r>
              <a:rPr lang="en-US" altLang="zh-CN" dirty="0"/>
              <a:t>(</a:t>
            </a:r>
            <a:r>
              <a:rPr lang="en-US" altLang="zh-CN" dirty="0" err="1"/>
              <a:t>RoS</a:t>
            </a:r>
            <a:r>
              <a:rPr lang="en-US" altLang="zh-CN" dirty="0"/>
              <a:t>)</a:t>
            </a:r>
            <a:r>
              <a:rPr lang="en-US" altLang="zh-CN" dirty="0" err="1"/>
              <a:t>oT</a:t>
            </a:r>
            <a:r>
              <a:rPr lang="zh-CN" altLang="en-US" dirty="0"/>
              <a:t>和</a:t>
            </a:r>
            <a:r>
              <a:rPr lang="en-US" altLang="zh-CN" dirty="0"/>
              <a:t>Ro(</a:t>
            </a:r>
            <a:r>
              <a:rPr lang="en-US" altLang="zh-CN" dirty="0" err="1"/>
              <a:t>SoT</a:t>
            </a:r>
            <a:r>
              <a:rPr lang="en-US" altLang="zh-CN" dirty="0"/>
              <a:t>)</a:t>
            </a:r>
            <a:r>
              <a:rPr lang="zh-CN" altLang="en-US" dirty="0"/>
              <a:t>。</a:t>
            </a:r>
            <a:endParaRPr lang="zh-CN" altLang="en-US" dirty="0"/>
          </a:p>
          <a:p>
            <a:pPr marL="0" indent="0">
              <a:buNone/>
            </a:pPr>
            <a:endParaRPr lang="zh-CN" altLang="en-US" dirty="0"/>
          </a:p>
        </p:txBody>
      </p:sp>
      <p:sp>
        <p:nvSpPr>
          <p:cNvPr id="11" name="矩形 10"/>
          <p:cNvSpPr/>
          <p:nvPr/>
        </p:nvSpPr>
        <p:spPr>
          <a:xfrm>
            <a:off x="309650" y="3353616"/>
            <a:ext cx="11502872" cy="3415332"/>
          </a:xfrm>
          <a:prstGeom prst="rect">
            <a:avLst/>
          </a:prstGeom>
        </p:spPr>
        <p:txBody>
          <a:bodyPr wrap="square">
            <a:spAutoFit/>
          </a:bodyPr>
          <a:lstStyle/>
          <a:p>
            <a:pPr defTabSz="1219200">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解</a:t>
            </a:r>
            <a:r>
              <a:rPr lang="zh-CN" altLang="en-US" sz="2400" b="1" dirty="0">
                <a:solidFill>
                  <a:prstClr val="black"/>
                </a:solidFill>
                <a:latin typeface="微软雅黑" panose="020B0503020204020204" pitchFamily="34" charset="-122"/>
                <a:ea typeface="微软雅黑" panose="020B0503020204020204" pitchFamily="34" charset="-122"/>
              </a:rPr>
              <a:t> （</a:t>
            </a:r>
            <a:r>
              <a:rPr lang="en-US" altLang="zh-CN" sz="2400" b="1" dirty="0">
                <a:solidFill>
                  <a:prstClr val="black"/>
                </a:solidFill>
                <a:latin typeface="微软雅黑" panose="020B0503020204020204" pitchFamily="34" charset="-122"/>
                <a:ea typeface="微软雅黑" panose="020B0503020204020204" pitchFamily="34" charset="-122"/>
              </a:rPr>
              <a:t>2</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a:t>
            </a:r>
            <a:r>
              <a:rPr lang="en-US" altLang="zh-CN" sz="2400" b="1" dirty="0" err="1">
                <a:solidFill>
                  <a:prstClr val="black"/>
                </a:solidFill>
                <a:latin typeface="微软雅黑" panose="020B0503020204020204" pitchFamily="34" charset="-122"/>
                <a:ea typeface="微软雅黑" panose="020B0503020204020204" pitchFamily="34" charset="-122"/>
              </a:rPr>
              <a:t>RoS</a:t>
            </a:r>
            <a:r>
              <a:rPr lang="en-US" altLang="zh-CN" sz="2400" b="1" dirty="0">
                <a:solidFill>
                  <a:prstClr val="black"/>
                </a:solidFill>
                <a:latin typeface="微软雅黑" panose="020B0503020204020204" pitchFamily="34" charset="-122"/>
                <a:ea typeface="微软雅黑" panose="020B0503020204020204" pitchFamily="34" charset="-122"/>
              </a:rPr>
              <a:t>)</a:t>
            </a:r>
            <a:r>
              <a:rPr lang="en-US" altLang="zh-CN" sz="2400" b="1" dirty="0" err="1">
                <a:solidFill>
                  <a:prstClr val="black"/>
                </a:solidFill>
                <a:latin typeface="微软雅黑" panose="020B0503020204020204" pitchFamily="34" charset="-122"/>
                <a:ea typeface="微软雅黑" panose="020B0503020204020204" pitchFamily="34" charset="-122"/>
              </a:rPr>
              <a:t>oT</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({&lt;1,2&gt;,&lt;3,4&gt;} o{&lt;2,4&gt;,&lt;3,4&gt;,&lt;4,2&gt;})o     </a:t>
            </a:r>
            <a:endParaRPr lang="en-US" altLang="zh-CN" sz="2400" b="1"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                               {&lt;1,4&gt;,&lt;2,1&gt;,&lt;4,2&gt;}</a:t>
            </a:r>
            <a:endParaRPr lang="en-US" altLang="zh-CN" sz="2400" b="1"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zh-CN" altLang="en-US" sz="2400" b="1" dirty="0">
                <a:solidFill>
                  <a:prstClr val="black"/>
                </a:solidFill>
                <a:latin typeface="微软雅黑" panose="020B0503020204020204" pitchFamily="34" charset="-122"/>
                <a:ea typeface="微软雅黑" panose="020B0503020204020204" pitchFamily="34" charset="-122"/>
              </a:rPr>
              <a:t>                            ＝</a:t>
            </a:r>
            <a:r>
              <a:rPr lang="en-US" altLang="zh-CN" sz="2400" b="1" dirty="0">
                <a:solidFill>
                  <a:prstClr val="black"/>
                </a:solidFill>
                <a:latin typeface="微软雅黑" panose="020B0503020204020204" pitchFamily="34" charset="-122"/>
                <a:ea typeface="微软雅黑" panose="020B0503020204020204" pitchFamily="34" charset="-122"/>
              </a:rPr>
              <a:t>{&lt;1,4&gt;,&lt;3,2&gt;}o{&lt;1,4&gt;,&lt;2,1&gt;,&lt;4,2&gt;}</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{&lt;1,2&gt;,&lt;3,1&gt;}</a:t>
            </a:r>
            <a:endParaRPr lang="en-US" altLang="zh-CN" sz="2400" b="1"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               Ro(</a:t>
            </a:r>
            <a:r>
              <a:rPr lang="en-US" altLang="zh-CN" sz="2400" b="1" dirty="0" err="1">
                <a:solidFill>
                  <a:prstClr val="black"/>
                </a:solidFill>
                <a:latin typeface="微软雅黑" panose="020B0503020204020204" pitchFamily="34" charset="-122"/>
                <a:ea typeface="微软雅黑" panose="020B0503020204020204" pitchFamily="34" charset="-122"/>
              </a:rPr>
              <a:t>SoT</a:t>
            </a:r>
            <a:r>
              <a:rPr lang="en-US" altLang="zh-CN" sz="2400" b="1" dirty="0">
                <a:solidFill>
                  <a:prstClr val="black"/>
                </a:solidFill>
                <a:latin typeface="微软雅黑" panose="020B0503020204020204" pitchFamily="34" charset="-122"/>
                <a:ea typeface="微软雅黑" panose="020B0503020204020204" pitchFamily="34" charset="-122"/>
              </a:rPr>
              <a:t>)</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{&lt;1,2&gt;,&lt;3,4&gt;}o({&lt;2,4&gt;,&lt;3,4&gt;,&lt;4,2&gt;}o</a:t>
            </a:r>
            <a:endParaRPr lang="en-US" altLang="zh-CN" sz="2400" b="1"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                                {&lt;1,4&gt;,&lt;2,1&gt;,&lt;4,2&gt;})</a:t>
            </a:r>
            <a:endParaRPr lang="en-US" altLang="zh-CN" sz="2400" b="1"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zh-CN" altLang="en-US" sz="2400" b="1" dirty="0">
                <a:solidFill>
                  <a:prstClr val="black"/>
                </a:solidFill>
                <a:latin typeface="微软雅黑" panose="020B0503020204020204" pitchFamily="34" charset="-122"/>
                <a:ea typeface="微软雅黑" panose="020B0503020204020204" pitchFamily="34" charset="-122"/>
              </a:rPr>
              <a:t>                             ＝</a:t>
            </a:r>
            <a:r>
              <a:rPr lang="en-US" altLang="zh-CN" sz="2400" b="1" dirty="0">
                <a:solidFill>
                  <a:prstClr val="black"/>
                </a:solidFill>
                <a:latin typeface="微软雅黑" panose="020B0503020204020204" pitchFamily="34" charset="-122"/>
                <a:ea typeface="微软雅黑" panose="020B0503020204020204" pitchFamily="34" charset="-122"/>
              </a:rPr>
              <a:t>{&lt;1,2&gt;,&lt;3,4&gt;}o{&lt;2,2&gt;,&lt;3,2&gt;,&lt;4,1&gt;}</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{&lt;1,2&gt;,&lt;3,1&gt;}</a:t>
            </a:r>
            <a:endParaRPr lang="en-US" altLang="zh-CN" sz="2400" b="1" dirty="0">
              <a:solidFill>
                <a:prstClr val="black"/>
              </a:solidFill>
              <a:latin typeface="微软雅黑" panose="020B0503020204020204" pitchFamily="34" charset="-122"/>
              <a:ea typeface="微软雅黑" panose="020B0503020204020204" pitchFamily="34" charset="-122"/>
            </a:endParaRPr>
          </a:p>
        </p:txBody>
      </p:sp>
      <p:sp>
        <p:nvSpPr>
          <p:cNvPr id="5" name="云形标注 4"/>
          <p:cNvSpPr/>
          <p:nvPr/>
        </p:nvSpPr>
        <p:spPr>
          <a:xfrm>
            <a:off x="5794463" y="2165963"/>
            <a:ext cx="5637170" cy="1295026"/>
          </a:xfrm>
          <a:prstGeom prst="cloudCallout">
            <a:avLst>
              <a:gd name="adj1" fmla="val -20318"/>
              <a:gd name="adj2" fmla="val 1017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400" b="1" dirty="0">
                <a:solidFill>
                  <a:prstClr val="white"/>
                </a:solidFill>
                <a:latin typeface="Arial" panose="020B0604020202020204"/>
                <a:ea typeface="微软雅黑" panose="020B0503020204020204" pitchFamily="34" charset="-122"/>
              </a:rPr>
              <a:t>复合运算满足结合律</a:t>
            </a:r>
            <a:endParaRPr lang="zh-CN" altLang="en-US" sz="2400" b="1" dirty="0">
              <a:solidFill>
                <a:prstClr val="white"/>
              </a:solidFill>
              <a:latin typeface="Arial" panose="020B0604020202020204"/>
              <a:ea typeface="微软雅黑" panose="020B0503020204020204" pitchFamily="34" charset="-122"/>
            </a:endParaRPr>
          </a:p>
        </p:txBody>
      </p:sp>
    </p:spTree>
    <p:custDataLst>
      <p:tags r:id="rId1"/>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ircle(in)">
                                      <p:cBhvr>
                                        <p:cTn id="7" dur="2000"/>
                                        <p:tgtEl>
                                          <p:spTgt spid="11">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circle(in)">
                                      <p:cBhvr>
                                        <p:cTn id="10" dur="2000"/>
                                        <p:tgtEl>
                                          <p:spTgt spid="1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circle(in)">
                                      <p:cBhvr>
                                        <p:cTn id="15" dur="20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circle(in)">
                                      <p:cBhvr>
                                        <p:cTn id="20" dur="2000"/>
                                        <p:tgtEl>
                                          <p:spTgt spid="11">
                                            <p:txEl>
                                              <p:pRg st="3" end="3"/>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animEffect transition="in" filter="circle(in)">
                                      <p:cBhvr>
                                        <p:cTn id="23" dur="2000"/>
                                        <p:tgtEl>
                                          <p:spTgt spid="1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circle(in)">
                                      <p:cBhvr>
                                        <p:cTn id="28" dur="20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circle(in)">
                                      <p:cBhvr>
                                        <p:cTn id="3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p:cNvSpPr>
            <a:spLocks noGrp="1" noChangeArrowheads="1"/>
          </p:cNvSpPr>
          <p:nvPr>
            <p:ph type="title"/>
          </p:nvPr>
        </p:nvSpPr>
        <p:spPr/>
        <p:txBody>
          <a:bodyPr/>
          <a:lstStyle/>
          <a:p>
            <a:pPr eaLnBrk="1" hangingPunct="1"/>
            <a:r>
              <a:rPr lang="zh-CN" altLang="en-US" dirty="0"/>
              <a:t>定理</a:t>
            </a:r>
            <a:r>
              <a:rPr lang="en-US" altLang="zh-CN" dirty="0"/>
              <a:t>4.4</a:t>
            </a:r>
            <a:endParaRPr lang="zh-CN" altLang="en-US" dirty="0"/>
          </a:p>
        </p:txBody>
      </p:sp>
      <p:sp>
        <p:nvSpPr>
          <p:cNvPr id="1456131" name="Rectangle 3"/>
          <p:cNvSpPr>
            <a:spLocks noGrp="1" noChangeArrowheads="1"/>
          </p:cNvSpPr>
          <p:nvPr>
            <p:ph type="body" idx="1"/>
          </p:nvPr>
        </p:nvSpPr>
        <p:spPr>
          <a:xfrm>
            <a:off x="233472" y="992100"/>
            <a:ext cx="11426694" cy="2132983"/>
          </a:xfrm>
        </p:spPr>
        <p:txBody>
          <a:bodyPr>
            <a:normAutofit/>
          </a:bodyPr>
          <a:lstStyle/>
          <a:p>
            <a:pPr marL="0" indent="0">
              <a:lnSpc>
                <a:spcPct val="160000"/>
              </a:lnSpc>
              <a:buNone/>
            </a:pPr>
            <a:r>
              <a:rPr lang="zh-CN" altLang="en-US" dirty="0">
                <a:solidFill>
                  <a:srgbClr val="C00000"/>
                </a:solidFill>
              </a:rPr>
              <a:t>定理</a:t>
            </a:r>
            <a:r>
              <a:rPr lang="en-US" altLang="zh-CN" dirty="0">
                <a:solidFill>
                  <a:srgbClr val="C00000"/>
                </a:solidFill>
              </a:rPr>
              <a:t>4.4</a:t>
            </a:r>
            <a:r>
              <a:rPr lang="en-US" altLang="zh-CN" dirty="0"/>
              <a:t>  </a:t>
            </a:r>
            <a:r>
              <a:rPr lang="zh-CN" altLang="en-US" dirty="0">
                <a:solidFill>
                  <a:schemeClr val="tx1"/>
                </a:solidFill>
              </a:rPr>
              <a:t>设</a:t>
            </a:r>
            <a:r>
              <a:rPr lang="en-US" altLang="zh-CN" dirty="0">
                <a:solidFill>
                  <a:schemeClr val="tx1"/>
                </a:solidFill>
              </a:rPr>
              <a:t>A</a:t>
            </a:r>
            <a:r>
              <a:rPr lang="zh-CN" altLang="en-US" dirty="0">
                <a:solidFill>
                  <a:schemeClr val="tx1"/>
                </a:solidFill>
              </a:rPr>
              <a:t>、</a:t>
            </a:r>
            <a:r>
              <a:rPr lang="en-US" altLang="zh-CN" dirty="0">
                <a:solidFill>
                  <a:schemeClr val="tx1"/>
                </a:solidFill>
              </a:rPr>
              <a:t>B</a:t>
            </a:r>
            <a:r>
              <a:rPr lang="zh-CN" altLang="en-US" dirty="0">
                <a:solidFill>
                  <a:schemeClr val="tx1"/>
                </a:solidFill>
              </a:rPr>
              <a:t>、</a:t>
            </a:r>
            <a:r>
              <a:rPr lang="en-US" altLang="zh-CN" dirty="0">
                <a:solidFill>
                  <a:schemeClr val="tx1"/>
                </a:solidFill>
              </a:rPr>
              <a:t>C</a:t>
            </a:r>
            <a:r>
              <a:rPr lang="zh-CN" altLang="en-US" dirty="0">
                <a:solidFill>
                  <a:schemeClr val="tx1"/>
                </a:solidFill>
              </a:rPr>
              <a:t>和</a:t>
            </a:r>
            <a:r>
              <a:rPr lang="en-US" altLang="zh-CN" dirty="0">
                <a:solidFill>
                  <a:schemeClr val="tx1"/>
                </a:solidFill>
              </a:rPr>
              <a:t>D</a:t>
            </a:r>
            <a:r>
              <a:rPr lang="zh-CN" altLang="en-US" dirty="0">
                <a:solidFill>
                  <a:schemeClr val="tx1"/>
                </a:solidFill>
              </a:rPr>
              <a:t>是任意四个集合，</a:t>
            </a:r>
            <a:r>
              <a:rPr lang="en-US" altLang="zh-CN" dirty="0">
                <a:solidFill>
                  <a:schemeClr val="tx1"/>
                </a:solidFill>
              </a:rPr>
              <a:t>R:A→B</a:t>
            </a:r>
            <a:r>
              <a:rPr lang="zh-CN" altLang="zh-CN" dirty="0">
                <a:solidFill>
                  <a:schemeClr val="tx1"/>
                </a:solidFill>
              </a:rPr>
              <a:t>，</a:t>
            </a:r>
            <a:r>
              <a:rPr lang="en-US" altLang="zh-CN" dirty="0">
                <a:solidFill>
                  <a:schemeClr val="tx1"/>
                </a:solidFill>
              </a:rPr>
              <a:t>S:B→C</a:t>
            </a:r>
            <a:r>
              <a:rPr lang="zh-CN" altLang="zh-CN" dirty="0">
                <a:solidFill>
                  <a:schemeClr val="tx1"/>
                </a:solidFill>
              </a:rPr>
              <a:t>，</a:t>
            </a:r>
            <a:r>
              <a:rPr lang="en-US" altLang="zh-CN" dirty="0">
                <a:solidFill>
                  <a:schemeClr val="tx1"/>
                </a:solidFill>
              </a:rPr>
              <a:t>T:C→D</a:t>
            </a:r>
            <a:r>
              <a:rPr lang="zh-CN" altLang="zh-CN" dirty="0"/>
              <a:t>，</a:t>
            </a:r>
            <a:r>
              <a:rPr lang="zh-CN" altLang="en-US" dirty="0">
                <a:solidFill>
                  <a:schemeClr val="tx1"/>
                </a:solidFill>
              </a:rPr>
              <a:t>则</a:t>
            </a:r>
            <a:endParaRPr lang="zh-CN" altLang="en-US" dirty="0">
              <a:solidFill>
                <a:schemeClr val="tx1"/>
              </a:solidFill>
            </a:endParaRPr>
          </a:p>
          <a:p>
            <a:pPr marL="0" indent="0">
              <a:lnSpc>
                <a:spcPct val="16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a:t>
            </a:r>
            <a:r>
              <a:rPr lang="en-US" altLang="zh-CN" dirty="0">
                <a:solidFill>
                  <a:schemeClr val="tx1"/>
                </a:solidFill>
              </a:rPr>
              <a:t>(</a:t>
            </a:r>
            <a:r>
              <a:rPr lang="en-US" altLang="zh-CN" dirty="0" err="1">
                <a:solidFill>
                  <a:schemeClr val="tx1"/>
                </a:solidFill>
              </a:rPr>
              <a:t>RoS</a:t>
            </a:r>
            <a:r>
              <a:rPr lang="en-US" altLang="zh-CN" dirty="0">
                <a:solidFill>
                  <a:schemeClr val="tx1"/>
                </a:solidFill>
              </a:rPr>
              <a:t>)</a:t>
            </a:r>
            <a:r>
              <a:rPr lang="en-US" altLang="zh-CN" dirty="0" err="1">
                <a:solidFill>
                  <a:schemeClr val="tx1"/>
                </a:solidFill>
              </a:rPr>
              <a:t>oT</a:t>
            </a:r>
            <a:r>
              <a:rPr lang="en-US" altLang="zh-CN" dirty="0">
                <a:solidFill>
                  <a:schemeClr val="tx1"/>
                </a:solidFill>
              </a:rPr>
              <a:t>=Ro(</a:t>
            </a:r>
            <a:r>
              <a:rPr lang="en-US" altLang="zh-CN" dirty="0" err="1">
                <a:solidFill>
                  <a:schemeClr val="tx1"/>
                </a:solidFill>
              </a:rPr>
              <a:t>SoT</a:t>
            </a:r>
            <a:r>
              <a:rPr lang="en-US" altLang="zh-CN" dirty="0">
                <a:solidFill>
                  <a:schemeClr val="tx1"/>
                </a:solidFill>
              </a:rPr>
              <a:t>)</a:t>
            </a:r>
            <a:r>
              <a:rPr lang="zh-CN" altLang="en-US" dirty="0">
                <a:solidFill>
                  <a:schemeClr val="tx1"/>
                </a:solidFill>
              </a:rPr>
              <a:t>；</a:t>
            </a:r>
            <a:endParaRPr lang="zh-CN" altLang="en-US" dirty="0">
              <a:solidFill>
                <a:schemeClr val="tx1"/>
              </a:solidFill>
            </a:endParaRPr>
          </a:p>
          <a:p>
            <a:pPr marL="0" indent="0">
              <a:lnSpc>
                <a:spcPct val="16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err="1">
                <a:solidFill>
                  <a:srgbClr val="FF0000"/>
                </a:solidFill>
              </a:rPr>
              <a:t>I</a:t>
            </a:r>
            <a:r>
              <a:rPr lang="en-US" altLang="zh-CN" baseline="-25000" dirty="0" err="1">
                <a:solidFill>
                  <a:srgbClr val="FF0000"/>
                </a:solidFill>
              </a:rPr>
              <a:t>A</a:t>
            </a:r>
            <a:r>
              <a:rPr lang="en-US" altLang="zh-CN" dirty="0" err="1">
                <a:solidFill>
                  <a:srgbClr val="FF0000"/>
                </a:solidFill>
              </a:rPr>
              <a:t>oR</a:t>
            </a:r>
            <a:r>
              <a:rPr lang="en-US" altLang="zh-CN" dirty="0">
                <a:solidFill>
                  <a:srgbClr val="FF0000"/>
                </a:solidFill>
              </a:rPr>
              <a:t>=</a:t>
            </a:r>
            <a:r>
              <a:rPr lang="en-US" altLang="zh-CN" dirty="0" err="1">
                <a:solidFill>
                  <a:srgbClr val="FF0000"/>
                </a:solidFill>
              </a:rPr>
              <a:t>RoI</a:t>
            </a:r>
            <a:r>
              <a:rPr lang="en-US" altLang="zh-CN" baseline="-25000" dirty="0" err="1">
                <a:solidFill>
                  <a:srgbClr val="FF0000"/>
                </a:solidFill>
              </a:rPr>
              <a:t>B</a:t>
            </a:r>
            <a:r>
              <a:rPr lang="en-US" altLang="zh-CN" dirty="0">
                <a:solidFill>
                  <a:srgbClr val="FF0000"/>
                </a:solidFill>
              </a:rPr>
              <a:t>=R</a:t>
            </a:r>
            <a:r>
              <a:rPr lang="zh-CN" altLang="en-US" dirty="0">
                <a:solidFill>
                  <a:schemeClr val="tx1"/>
                </a:solidFill>
              </a:rPr>
              <a:t>，其中</a:t>
            </a:r>
            <a:r>
              <a:rPr lang="en-US" altLang="zh-CN" dirty="0">
                <a:solidFill>
                  <a:schemeClr val="tx1"/>
                </a:solidFill>
              </a:rPr>
              <a:t>I</a:t>
            </a:r>
            <a:r>
              <a:rPr lang="en-US" altLang="zh-CN" baseline="-25000" dirty="0">
                <a:solidFill>
                  <a:schemeClr val="tx1"/>
                </a:solidFill>
              </a:rPr>
              <a:t>A</a:t>
            </a:r>
            <a:r>
              <a:rPr lang="zh-CN" altLang="en-US" dirty="0">
                <a:solidFill>
                  <a:schemeClr val="tx1"/>
                </a:solidFill>
              </a:rPr>
              <a:t>和</a:t>
            </a:r>
            <a:r>
              <a:rPr lang="en-US" altLang="zh-CN" dirty="0">
                <a:solidFill>
                  <a:schemeClr val="tx1"/>
                </a:solidFill>
              </a:rPr>
              <a:t>I</a:t>
            </a:r>
            <a:r>
              <a:rPr lang="en-US" altLang="zh-CN" baseline="-25000" dirty="0">
                <a:solidFill>
                  <a:schemeClr val="tx1"/>
                </a:solidFill>
              </a:rPr>
              <a:t>B</a:t>
            </a:r>
            <a:r>
              <a:rPr lang="zh-CN" altLang="en-US" dirty="0">
                <a:solidFill>
                  <a:schemeClr val="tx1"/>
                </a:solidFill>
              </a:rPr>
              <a:t>分别称为</a:t>
            </a:r>
            <a:r>
              <a:rPr lang="en-US" altLang="zh-CN" dirty="0">
                <a:solidFill>
                  <a:schemeClr val="tx1"/>
                </a:solidFill>
              </a:rPr>
              <a:t>A</a:t>
            </a:r>
            <a:r>
              <a:rPr lang="zh-CN" altLang="en-US" dirty="0">
                <a:solidFill>
                  <a:schemeClr val="tx1"/>
                </a:solidFill>
              </a:rPr>
              <a:t>和</a:t>
            </a:r>
            <a:r>
              <a:rPr lang="en-US" altLang="zh-CN" dirty="0">
                <a:solidFill>
                  <a:schemeClr val="tx1"/>
                </a:solidFill>
              </a:rPr>
              <a:t>B</a:t>
            </a:r>
            <a:r>
              <a:rPr lang="zh-CN" altLang="en-US" dirty="0">
                <a:solidFill>
                  <a:schemeClr val="tx1"/>
                </a:solidFill>
              </a:rPr>
              <a:t>上的恒等关系。</a:t>
            </a:r>
            <a:endParaRPr lang="zh-CN" altLang="en-US" dirty="0">
              <a:solidFill>
                <a:schemeClr val="tx1"/>
              </a:solidFill>
            </a:endParaRPr>
          </a:p>
        </p:txBody>
      </p:sp>
      <p:sp>
        <p:nvSpPr>
          <p:cNvPr id="6" name="Rectangle 2"/>
          <p:cNvSpPr>
            <a:spLocks noChangeArrowheads="1"/>
          </p:cNvSpPr>
          <p:nvPr/>
        </p:nvSpPr>
        <p:spPr bwMode="auto">
          <a:xfrm>
            <a:off x="1228266" y="5405958"/>
            <a:ext cx="5803564"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00">
              <a:lnSpc>
                <a:spcPct val="100000"/>
              </a:lnSpc>
              <a:spcBef>
                <a:spcPct val="0"/>
              </a:spcBef>
              <a:buClrTx/>
              <a:buNone/>
            </a:pPr>
            <a:r>
              <a:rPr lang="zh-CN" altLang="en-US" sz="2400" dirty="0">
                <a:solidFill>
                  <a:srgbClr val="FF0000"/>
                </a:solidFill>
                <a:latin typeface="微软雅黑" panose="020B0503020204020204" pitchFamily="34" charset="-122"/>
                <a:ea typeface="微软雅黑" panose="020B0503020204020204" pitchFamily="34" charset="-122"/>
              </a:rPr>
              <a:t>集合相等</a:t>
            </a:r>
            <a:r>
              <a:rPr lang="zh-CN" altLang="en-US" sz="2400" dirty="0">
                <a:solidFill>
                  <a:srgbClr val="0000CC"/>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FF0000"/>
                </a:solidFill>
                <a:latin typeface="微软雅黑" panose="020B0503020204020204" pitchFamily="34" charset="-122"/>
                <a:ea typeface="微软雅黑" panose="020B0503020204020204" pitchFamily="34" charset="-122"/>
              </a:rPr>
              <a:t>两个集合互相包含</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7" name="Rectangle 3"/>
          <p:cNvSpPr>
            <a:spLocks noChangeArrowheads="1"/>
          </p:cNvSpPr>
          <p:nvPr/>
        </p:nvSpPr>
        <p:spPr bwMode="auto">
          <a:xfrm>
            <a:off x="1228265" y="4798789"/>
            <a:ext cx="5965481"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00">
              <a:lnSpc>
                <a:spcPct val="100000"/>
              </a:lnSpc>
              <a:spcBef>
                <a:spcPct val="0"/>
              </a:spcBef>
              <a:buClrTx/>
              <a:buNone/>
            </a:pPr>
            <a:r>
              <a:rPr lang="zh-CN" altLang="en-US" sz="2400" dirty="0">
                <a:solidFill>
                  <a:srgbClr val="0000CC"/>
                </a:solidFill>
                <a:latin typeface="微软雅黑" panose="020B0503020204020204" pitchFamily="34" charset="-122"/>
                <a:ea typeface="微软雅黑" panose="020B0503020204020204" pitchFamily="34" charset="-122"/>
              </a:rPr>
              <a:t>等式成立</a:t>
            </a:r>
            <a:r>
              <a:rPr lang="zh-CN" altLang="en-US"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0000CC"/>
                </a:solidFill>
                <a:latin typeface="微软雅黑" panose="020B0503020204020204" pitchFamily="34" charset="-122"/>
                <a:ea typeface="微软雅黑" panose="020B0503020204020204" pitchFamily="34" charset="-122"/>
              </a:rPr>
              <a:t>两个集合相等</a:t>
            </a:r>
            <a:endParaRPr lang="zh-CN" altLang="en-US" sz="2400" dirty="0">
              <a:solidFill>
                <a:srgbClr val="0000CC"/>
              </a:solidFill>
              <a:latin typeface="微软雅黑" panose="020B0503020204020204" pitchFamily="34" charset="-122"/>
              <a:ea typeface="微软雅黑" panose="020B0503020204020204" pitchFamily="34" charset="-122"/>
            </a:endParaRPr>
          </a:p>
        </p:txBody>
      </p:sp>
      <p:sp>
        <p:nvSpPr>
          <p:cNvPr id="8" name="Rectangle 6"/>
          <p:cNvSpPr>
            <a:spLocks noChangeArrowheads="1"/>
          </p:cNvSpPr>
          <p:nvPr/>
        </p:nvSpPr>
        <p:spPr bwMode="auto">
          <a:xfrm>
            <a:off x="411016" y="3439160"/>
            <a:ext cx="803193"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00">
              <a:lnSpc>
                <a:spcPct val="100000"/>
              </a:lnSpc>
              <a:spcBef>
                <a:spcPct val="0"/>
              </a:spcBef>
              <a:buClrTx/>
              <a:buNone/>
            </a:pPr>
            <a:r>
              <a:rPr lang="zh-CN" altLang="en-US" sz="2400">
                <a:solidFill>
                  <a:srgbClr val="FF0000"/>
                </a:solidFill>
                <a:latin typeface="微软雅黑" panose="020B0503020204020204" pitchFamily="34" charset="-122"/>
                <a:ea typeface="微软雅黑" panose="020B0503020204020204" pitchFamily="34" charset="-122"/>
              </a:rPr>
              <a:t>分析</a:t>
            </a:r>
            <a:endParaRPr lang="zh-CN" altLang="en-US" sz="2400">
              <a:solidFill>
                <a:srgbClr val="FF0000"/>
              </a:solidFill>
              <a:latin typeface="微软雅黑" panose="020B0503020204020204" pitchFamily="34" charset="-122"/>
              <a:ea typeface="微软雅黑" panose="020B0503020204020204" pitchFamily="34" charset="-122"/>
            </a:endParaRPr>
          </a:p>
        </p:txBody>
      </p:sp>
      <p:sp>
        <p:nvSpPr>
          <p:cNvPr id="9" name="Rectangle 7"/>
          <p:cNvSpPr>
            <a:spLocks noChangeArrowheads="1"/>
          </p:cNvSpPr>
          <p:nvPr/>
        </p:nvSpPr>
        <p:spPr bwMode="auto">
          <a:xfrm>
            <a:off x="1299965" y="3451860"/>
            <a:ext cx="3277514"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defTabSz="1219200">
              <a:lnSpc>
                <a:spcPct val="100000"/>
              </a:lnSpc>
              <a:spcBef>
                <a:spcPct val="0"/>
              </a:spcBef>
              <a:buClrTx/>
              <a:buNone/>
            </a:pPr>
            <a:r>
              <a:rPr lang="zh-CN" altLang="en-US" sz="2400" dirty="0">
                <a:latin typeface="微软雅黑" panose="020B0503020204020204" pitchFamily="34" charset="-122"/>
                <a:ea typeface="微软雅黑" panose="020B0503020204020204" pitchFamily="34" charset="-122"/>
              </a:rPr>
              <a:t>待证等式两端都是集合</a:t>
            </a:r>
            <a:endParaRPr lang="zh-CN" altLang="en-US" sz="2400" dirty="0">
              <a:latin typeface="微软雅黑" panose="020B0503020204020204" pitchFamily="34" charset="-122"/>
              <a:ea typeface="微软雅黑" panose="020B0503020204020204" pitchFamily="34" charset="-122"/>
            </a:endParaRPr>
          </a:p>
        </p:txBody>
      </p:sp>
      <p:sp>
        <p:nvSpPr>
          <p:cNvPr id="10" name="矩形 9"/>
          <p:cNvSpPr/>
          <p:nvPr/>
        </p:nvSpPr>
        <p:spPr>
          <a:xfrm>
            <a:off x="1228266" y="4125324"/>
            <a:ext cx="8492176" cy="461532"/>
          </a:xfrm>
          <a:prstGeom prst="rect">
            <a:avLst/>
          </a:prstGeom>
        </p:spPr>
        <p:txBody>
          <a:bodyPr wrap="none">
            <a:spAutoFit/>
          </a:bodyPr>
          <a:lstStyle/>
          <a:p>
            <a:pPr defTabSz="1219200"/>
            <a:r>
              <a:rPr lang="zh-CN" altLang="en-US" sz="2400" b="1" dirty="0">
                <a:solidFill>
                  <a:prstClr val="black"/>
                </a:solidFill>
                <a:latin typeface="微软雅黑" panose="020B0503020204020204" pitchFamily="34" charset="-122"/>
                <a:ea typeface="微软雅黑" panose="020B0503020204020204" pitchFamily="34" charset="-122"/>
              </a:rPr>
              <a:t>于是利用</a:t>
            </a:r>
            <a:r>
              <a:rPr lang="zh-CN" altLang="en-US" sz="2400" b="1" dirty="0">
                <a:solidFill>
                  <a:srgbClr val="FF0000"/>
                </a:solidFill>
                <a:latin typeface="微软雅黑" panose="020B0503020204020204" pitchFamily="34" charset="-122"/>
                <a:ea typeface="微软雅黑" panose="020B0503020204020204" pitchFamily="34" charset="-122"/>
              </a:rPr>
              <a:t>集合与集合关系的判定与证明方法</a:t>
            </a:r>
            <a:r>
              <a:rPr lang="zh-CN" altLang="en-US" sz="2400" b="1" dirty="0">
                <a:solidFill>
                  <a:prstClr val="black"/>
                </a:solidFill>
                <a:latin typeface="微软雅黑" panose="020B0503020204020204" pitchFamily="34" charset="-122"/>
                <a:ea typeface="微软雅黑" panose="020B0503020204020204" pitchFamily="34" charset="-122"/>
              </a:rPr>
              <a:t>，直接证明即可。</a:t>
            </a:r>
            <a:endParaRPr lang="zh-CN" altLang="en-US" sz="2400" b="1" dirty="0">
              <a:solidFill>
                <a:prstClr val="black"/>
              </a:solidFill>
              <a:latin typeface="Arial" panose="020B0604020202020204"/>
              <a:ea typeface="微软雅黑" panose="020B0503020204020204" pitchFamily="34" charset="-122"/>
            </a:endParaRPr>
          </a:p>
        </p:txBody>
      </p:sp>
      <p:grpSp>
        <p:nvGrpSpPr>
          <p:cNvPr id="11" name="组合 10"/>
          <p:cNvGrpSpPr/>
          <p:nvPr/>
        </p:nvGrpSpPr>
        <p:grpSpPr>
          <a:xfrm>
            <a:off x="6022997" y="4956504"/>
            <a:ext cx="5408636" cy="1178503"/>
            <a:chOff x="6251575" y="4642255"/>
            <a:chExt cx="5410200" cy="1178844"/>
          </a:xfrm>
        </p:grpSpPr>
        <p:sp>
          <p:nvSpPr>
            <p:cNvPr id="12" name="波形 11"/>
            <p:cNvSpPr/>
            <p:nvPr/>
          </p:nvSpPr>
          <p:spPr>
            <a:xfrm>
              <a:off x="6251575" y="4642255"/>
              <a:ext cx="5410200" cy="1178844"/>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2400">
                <a:solidFill>
                  <a:prstClr val="white"/>
                </a:solidFill>
                <a:latin typeface="Arial" panose="020B0604020202020204"/>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 name="矩形 12"/>
                <p:cNvSpPr/>
                <p:nvPr/>
              </p:nvSpPr>
              <p:spPr>
                <a:xfrm>
                  <a:off x="6327775" y="4941822"/>
                  <a:ext cx="5257800" cy="579710"/>
                </a:xfrm>
                <a:prstGeom prst="rect">
                  <a:avLst/>
                </a:prstGeom>
                <a:solidFill>
                  <a:srgbClr val="74B836"/>
                </a:solidFill>
              </p:spPr>
              <p:txBody>
                <a:bodyPr wrap="square">
                  <a:spAutoFit/>
                </a:bodyPr>
                <a:lstStyle/>
                <a:p>
                  <a:pPr defTabSz="1219200">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B</a:t>
                  </a:r>
                  <a:r>
                    <a:rPr kumimoji="1" lang="zh-CN" altLang="en-US"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 </a:t>
                  </a:r>
                  <a:r>
                    <a:rPr kumimoji="1" lang="en-US" altLang="zh-CN"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a:t>
                  </a:r>
                  <a:r>
                    <a:rPr lang="zh-CN" altLang="en-US" sz="2400" b="1" dirty="0">
                      <a:solidFill>
                        <a:prstClr val="black"/>
                      </a:solidFill>
                      <a:latin typeface="微软雅黑" panose="020B0503020204020204" pitchFamily="34" charset="-122"/>
                      <a:ea typeface="微软雅黑" panose="020B0503020204020204" pitchFamily="34" charset="-122"/>
                    </a:rPr>
                    <a:t> </a:t>
                  </a:r>
                  <a:r>
                    <a:rPr lang="zh-CN" altLang="en-US"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b="1" dirty="0">
                      <a:solidFill>
                        <a:prstClr val="black"/>
                      </a:solidFill>
                      <a:latin typeface="微软雅黑" panose="020B0503020204020204" pitchFamily="34" charset="-122"/>
                      <a:ea typeface="微软雅黑" panose="020B0503020204020204" pitchFamily="34" charset="-122"/>
                    </a:rPr>
                    <a:t>对</a:t>
                  </a:r>
                  <a14:m>
                    <m:oMath xmlns:m="http://schemas.openxmlformats.org/officeDocument/2006/math">
                      <m:r>
                        <a:rPr lang="zh-CN" altLang="en-US" sz="2400" b="1" i="1">
                          <a:solidFill>
                            <a:prstClr val="black"/>
                          </a:solidFill>
                          <a:latin typeface="Cambria Math" panose="02040503050406030204" pitchFamily="18" charset="0"/>
                        </a:rPr>
                        <m:t>∀</m:t>
                      </m:r>
                    </m:oMath>
                  </a14:m>
                  <a:r>
                    <a:rPr lang="en-US" altLang="zh-CN" sz="2400" b="1">
                      <a:solidFill>
                        <a:prstClr val="black"/>
                      </a:solidFill>
                      <a:latin typeface="微软雅黑" panose="020B0503020204020204" pitchFamily="34" charset="-122"/>
                      <a:ea typeface="微软雅黑" panose="020B0503020204020204" pitchFamily="34" charset="-122"/>
                    </a:rPr>
                    <a:t>x </a:t>
                  </a:r>
                  <a:r>
                    <a:rPr lang="zh-CN" altLang="en-US" sz="2400" b="1">
                      <a:solidFill>
                        <a:prstClr val="black"/>
                      </a:solidFill>
                      <a:latin typeface="微软雅黑" panose="020B0503020204020204" pitchFamily="34" charset="-122"/>
                      <a:ea typeface="微软雅黑" panose="020B0503020204020204" pitchFamily="34" charset="-122"/>
                    </a:rPr>
                    <a:t>，如果</a:t>
                  </a:r>
                  <a:r>
                    <a:rPr lang="en-US" altLang="zh-CN" sz="2400" b="1" dirty="0" err="1">
                      <a:solidFill>
                        <a:prstClr val="black"/>
                      </a:solidFill>
                      <a:latin typeface="微软雅黑" panose="020B0503020204020204" pitchFamily="34" charset="-122"/>
                      <a:ea typeface="微软雅黑" panose="020B0503020204020204" pitchFamily="34" charset="-122"/>
                    </a:rPr>
                    <a:t>x</a:t>
                  </a:r>
                  <a:r>
                    <a:rPr lang="en-US" altLang="zh-CN" sz="2400" b="1" err="1">
                      <a:solidFill>
                        <a:prstClr val="black"/>
                      </a:solidFill>
                      <a:latin typeface="微软雅黑" panose="020B0503020204020204" pitchFamily="34" charset="-122"/>
                      <a:ea typeface="微软雅黑" panose="020B0503020204020204" pitchFamily="34" charset="-122"/>
                    </a:rPr>
                    <a:t>∈</a:t>
                  </a:r>
                  <a:r>
                    <a:rPr lang="en-US" altLang="zh-CN" sz="2400" b="1">
                      <a:solidFill>
                        <a:prstClr val="black"/>
                      </a:solidFill>
                      <a:latin typeface="微软雅黑" panose="020B0503020204020204" pitchFamily="34" charset="-122"/>
                      <a:ea typeface="微软雅黑" panose="020B0503020204020204" pitchFamily="34" charset="-122"/>
                    </a:rPr>
                    <a:t>B</a:t>
                  </a:r>
                  <a:r>
                    <a:rPr lang="zh-CN" altLang="en-US" sz="2400" b="1">
                      <a:solidFill>
                        <a:prstClr val="black"/>
                      </a:solidFill>
                      <a:latin typeface="微软雅黑" panose="020B0503020204020204" pitchFamily="34" charset="-122"/>
                      <a:ea typeface="微软雅黑" panose="020B0503020204020204" pitchFamily="34" charset="-122"/>
                    </a:rPr>
                    <a:t>，则</a:t>
                  </a:r>
                  <a:r>
                    <a:rPr lang="en-US" altLang="zh-CN" sz="2400" b="1" dirty="0" err="1">
                      <a:solidFill>
                        <a:prstClr val="black"/>
                      </a:solidFill>
                      <a:latin typeface="微软雅黑" panose="020B0503020204020204" pitchFamily="34" charset="-122"/>
                      <a:ea typeface="微软雅黑" panose="020B0503020204020204" pitchFamily="34" charset="-122"/>
                    </a:rPr>
                    <a:t>x∈A</a:t>
                  </a:r>
                  <a:r>
                    <a:rPr lang="zh-CN" altLang="en-US" sz="2400" b="1" dirty="0">
                      <a:solidFill>
                        <a:prstClr val="black"/>
                      </a:solidFill>
                      <a:latin typeface="微软雅黑" panose="020B0503020204020204" pitchFamily="34" charset="-122"/>
                      <a:ea typeface="微软雅黑" panose="020B0503020204020204" pitchFamily="34" charset="-122"/>
                    </a:rPr>
                    <a:t> 。</a:t>
                  </a:r>
                  <a:endParaRPr lang="zh-CN" altLang="en-US" sz="2400" b="1" dirty="0">
                    <a:solidFill>
                      <a:prstClr val="black"/>
                    </a:solidFill>
                    <a:latin typeface="微软雅黑" panose="020B0503020204020204" pitchFamily="34" charset="-122"/>
                    <a:ea typeface="微软雅黑" panose="020B0503020204020204" pitchFamily="34" charset="-122"/>
                  </a:endParaRPr>
                </a:p>
              </p:txBody>
            </p:sp>
          </mc:Choice>
          <mc:Fallback>
            <p:sp>
              <p:nvSpPr>
                <p:cNvPr id="13" name="矩形 12"/>
                <p:cNvSpPr>
                  <a:spLocks noRot="1" noChangeAspect="1" noMove="1" noResize="1" noEditPoints="1" noAdjustHandles="1" noChangeArrowheads="1" noChangeShapeType="1" noTextEdit="1"/>
                </p:cNvSpPr>
                <p:nvPr/>
              </p:nvSpPr>
              <p:spPr>
                <a:xfrm>
                  <a:off x="6327775" y="4941822"/>
                  <a:ext cx="5257800" cy="579710"/>
                </a:xfrm>
                <a:prstGeom prst="rect">
                  <a:avLst/>
                </a:prstGeom>
                <a:blipFill rotWithShape="1">
                  <a:blip r:embed="rId1"/>
                </a:blipFill>
              </p:spPr>
              <p:txBody>
                <a:bodyPr/>
                <a:lstStyle/>
                <a:p>
                  <a:r>
                    <a:rPr lang="zh-CN" altLang="en-US">
                      <a:noFill/>
                    </a:rPr>
                    <a:t> </a:t>
                  </a:r>
                </a:p>
              </p:txBody>
            </p:sp>
          </mc:Fallback>
        </mc:AlternateContent>
      </p:gr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1000" fill="hold"/>
                                        <p:tgtEl>
                                          <p:spTgt spid="11"/>
                                        </p:tgtEl>
                                        <p:attrNameLst>
                                          <p:attrName>ppt_w</p:attrName>
                                        </p:attrNameLst>
                                      </p:cBhvr>
                                      <p:tavLst>
                                        <p:tav tm="0">
                                          <p:val>
                                            <p:fltVal val="0"/>
                                          </p:val>
                                        </p:tav>
                                        <p:tav tm="100000">
                                          <p:val>
                                            <p:strVal val="#ppt_w"/>
                                          </p:val>
                                        </p:tav>
                                      </p:tavLst>
                                    </p:anim>
                                    <p:anim calcmode="lin" valueType="num">
                                      <p:cBhvr>
                                        <p:cTn id="37" dur="1000" fill="hold"/>
                                        <p:tgtEl>
                                          <p:spTgt spid="11"/>
                                        </p:tgtEl>
                                        <p:attrNameLst>
                                          <p:attrName>ppt_h</p:attrName>
                                        </p:attrNameLst>
                                      </p:cBhvr>
                                      <p:tavLst>
                                        <p:tav tm="0">
                                          <p:val>
                                            <p:fltVal val="0"/>
                                          </p:val>
                                        </p:tav>
                                        <p:tav tm="100000">
                                          <p:val>
                                            <p:strVal val="#ppt_h"/>
                                          </p:val>
                                        </p:tav>
                                      </p:tavLst>
                                    </p:anim>
                                    <p:anim calcmode="lin" valueType="num">
                                      <p:cBhvr>
                                        <p:cTn id="38" dur="1000" fill="hold"/>
                                        <p:tgtEl>
                                          <p:spTgt spid="11"/>
                                        </p:tgtEl>
                                        <p:attrNameLst>
                                          <p:attrName>style.rotation</p:attrName>
                                        </p:attrNameLst>
                                      </p:cBhvr>
                                      <p:tavLst>
                                        <p:tav tm="0">
                                          <p:val>
                                            <p:fltVal val="90"/>
                                          </p:val>
                                        </p:tav>
                                        <p:tav tm="100000">
                                          <p:val>
                                            <p:fltVal val="0"/>
                                          </p:val>
                                        </p:tav>
                                      </p:tavLst>
                                    </p:anim>
                                    <p:animEffect transition="in" filter="fade">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p:txBody>
          <a:bodyPr/>
          <a:lstStyle/>
          <a:p>
            <a:pPr eaLnBrk="1" hangingPunct="1"/>
            <a:r>
              <a:rPr lang="zh-CN" altLang="en-US"/>
              <a:t>证明</a:t>
            </a:r>
            <a:endParaRPr lang="en-US" altLang="zh-CN">
              <a:sym typeface="Wingdings" panose="05000000000000000000" pitchFamily="2" charset="2"/>
            </a:endParaRPr>
          </a:p>
        </p:txBody>
      </p:sp>
      <p:sp>
        <p:nvSpPr>
          <p:cNvPr id="1458179" name="Rectangle 3"/>
          <p:cNvSpPr>
            <a:spLocks noGrp="1" noChangeArrowheads="1"/>
          </p:cNvSpPr>
          <p:nvPr>
            <p:ph type="body" idx="1"/>
          </p:nvPr>
        </p:nvSpPr>
        <p:spPr>
          <a:xfrm>
            <a:off x="309650" y="2450934"/>
            <a:ext cx="11018598" cy="4048220"/>
          </a:xfrm>
        </p:spPr>
        <p:txBody>
          <a:bodyPr vert="horz" lIns="35997" tIns="35997" rIns="35997" bIns="35997" rtlCol="0">
            <a:normAutofit/>
          </a:bodyPr>
          <a:lstStyle/>
          <a:p>
            <a:pPr marL="533400" indent="-533400">
              <a:lnSpc>
                <a:spcPct val="150000"/>
              </a:lnSpc>
              <a:spcBef>
                <a:spcPct val="0"/>
              </a:spcBef>
              <a:buNone/>
            </a:pPr>
            <a:r>
              <a:rPr lang="zh-CN" altLang="en-US" dirty="0">
                <a:solidFill>
                  <a:srgbClr val="C00000"/>
                </a:solidFill>
              </a:rPr>
              <a:t>证明</a:t>
            </a:r>
            <a:r>
              <a:rPr lang="zh-CN" altLang="en-US" dirty="0">
                <a:solidFill>
                  <a:schemeClr val="tx1"/>
                </a:solidFill>
              </a:rPr>
              <a:t>（</a:t>
            </a:r>
            <a:r>
              <a:rPr lang="en-US" altLang="zh-CN" dirty="0">
                <a:solidFill>
                  <a:schemeClr val="tx1"/>
                </a:solidFill>
              </a:rPr>
              <a:t>2</a:t>
            </a:r>
            <a:r>
              <a:rPr lang="zh-CN" altLang="en-US" dirty="0">
                <a:solidFill>
                  <a:schemeClr val="tx1"/>
                </a:solidFill>
              </a:rPr>
              <a:t>）∀</a:t>
            </a:r>
            <a:r>
              <a:rPr lang="en-US" altLang="zh-CN" dirty="0">
                <a:solidFill>
                  <a:schemeClr val="tx1"/>
                </a:solidFill>
              </a:rPr>
              <a:t>&lt;</a:t>
            </a:r>
            <a:r>
              <a:rPr lang="en-US" altLang="zh-CN" dirty="0" err="1">
                <a:solidFill>
                  <a:schemeClr val="tx1"/>
                </a:solidFill>
              </a:rPr>
              <a:t>a,b</a:t>
            </a:r>
            <a:r>
              <a:rPr lang="en-US" altLang="zh-CN" dirty="0">
                <a:solidFill>
                  <a:schemeClr val="tx1"/>
                </a:solidFill>
              </a:rPr>
              <a:t>&gt;</a:t>
            </a:r>
            <a:endParaRPr lang="zh-CN" altLang="en-US" dirty="0">
              <a:solidFill>
                <a:schemeClr val="tx1"/>
              </a:solidFill>
            </a:endParaRPr>
          </a:p>
          <a:p>
            <a:pPr marL="533400" indent="-533400">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a:solidFill>
                  <a:schemeClr val="tx1"/>
                </a:solidFill>
              </a:rPr>
              <a:t>&lt;</a:t>
            </a:r>
            <a:r>
              <a:rPr lang="en-US" altLang="zh-CN" dirty="0" err="1">
                <a:solidFill>
                  <a:schemeClr val="tx1"/>
                </a:solidFill>
              </a:rPr>
              <a:t>a,b</a:t>
            </a:r>
            <a:r>
              <a:rPr lang="en-US" altLang="zh-CN" dirty="0">
                <a:solidFill>
                  <a:schemeClr val="tx1"/>
                </a:solidFill>
              </a:rPr>
              <a:t>&gt;∈I</a:t>
            </a:r>
            <a:r>
              <a:rPr lang="en-US" altLang="zh-CN" baseline="-25000" dirty="0">
                <a:solidFill>
                  <a:schemeClr val="tx1"/>
                </a:solidFill>
              </a:rPr>
              <a:t>A</a:t>
            </a:r>
            <a:r>
              <a:rPr lang="en-US" altLang="zh-CN" dirty="0">
                <a:solidFill>
                  <a:schemeClr val="tx1"/>
                </a:solidFill>
              </a:rPr>
              <a:t> </a:t>
            </a:r>
            <a:r>
              <a:rPr lang="en-US" altLang="zh-CN" dirty="0" err="1">
                <a:solidFill>
                  <a:schemeClr val="tx1"/>
                </a:solidFill>
              </a:rPr>
              <a:t>oR</a:t>
            </a:r>
            <a:endParaRPr lang="en-US" altLang="zh-CN" dirty="0">
              <a:solidFill>
                <a:schemeClr val="tx1"/>
              </a:solidFill>
            </a:endParaRPr>
          </a:p>
          <a:p>
            <a:pPr marL="533400" indent="-533400">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a:t>
            </a:r>
            <a:r>
              <a:rPr lang="en-US" altLang="zh-CN" dirty="0">
                <a:solidFill>
                  <a:schemeClr val="tx1"/>
                </a:solidFill>
              </a:rPr>
              <a:t>   </a:t>
            </a:r>
            <a:r>
              <a:rPr lang="en-US" altLang="zh-CN" dirty="0" err="1">
                <a:solidFill>
                  <a:schemeClr val="tx1"/>
                </a:solidFill>
              </a:rPr>
              <a:t>a∈A</a:t>
            </a:r>
            <a:r>
              <a:rPr lang="en-US" altLang="zh-CN" dirty="0">
                <a:solidFill>
                  <a:schemeClr val="tx1"/>
                </a:solidFill>
              </a:rPr>
              <a:t>∧&lt;</a:t>
            </a:r>
            <a:r>
              <a:rPr lang="en-US" altLang="zh-CN" dirty="0" err="1">
                <a:solidFill>
                  <a:schemeClr val="tx1"/>
                </a:solidFill>
              </a:rPr>
              <a:t>a,a</a:t>
            </a:r>
            <a:r>
              <a:rPr lang="en-US" altLang="zh-CN" dirty="0">
                <a:solidFill>
                  <a:schemeClr val="tx1"/>
                </a:solidFill>
              </a:rPr>
              <a:t>&gt;∈I</a:t>
            </a:r>
            <a:r>
              <a:rPr lang="en-US" altLang="zh-CN" baseline="-25000" dirty="0">
                <a:solidFill>
                  <a:schemeClr val="tx1"/>
                </a:solidFill>
              </a:rPr>
              <a:t>A</a:t>
            </a:r>
            <a:r>
              <a:rPr lang="en-US" altLang="zh-CN" dirty="0">
                <a:solidFill>
                  <a:schemeClr val="tx1"/>
                </a:solidFill>
              </a:rPr>
              <a:t>∧&lt;</a:t>
            </a:r>
            <a:r>
              <a:rPr lang="en-US" altLang="zh-CN" dirty="0" err="1">
                <a:solidFill>
                  <a:schemeClr val="tx1"/>
                </a:solidFill>
              </a:rPr>
              <a:t>a,b</a:t>
            </a:r>
            <a:r>
              <a:rPr lang="en-US" altLang="zh-CN" dirty="0">
                <a:solidFill>
                  <a:schemeClr val="tx1"/>
                </a:solidFill>
              </a:rPr>
              <a:t>&gt;∈R</a:t>
            </a:r>
            <a:endParaRPr lang="en-US" altLang="zh-CN" dirty="0">
              <a:solidFill>
                <a:schemeClr val="tx1"/>
              </a:solidFill>
            </a:endParaRPr>
          </a:p>
          <a:p>
            <a:pPr marL="533400" indent="-533400">
              <a:lnSpc>
                <a:spcPct val="150000"/>
              </a:lnSpc>
              <a:spcBef>
                <a:spcPct val="0"/>
              </a:spcBef>
              <a:buNone/>
            </a:pPr>
            <a:r>
              <a:rPr lang="en-US" altLang="zh-CN" dirty="0">
                <a:solidFill>
                  <a:schemeClr val="tx1"/>
                </a:solidFill>
              </a:rPr>
              <a:t>    </a:t>
            </a:r>
            <a:r>
              <a:rPr lang="zh-CN" altLang="en-US" dirty="0">
                <a:solidFill>
                  <a:schemeClr val="tx1"/>
                </a:solidFill>
                <a:sym typeface="Symbol" panose="05050102010706020507" pitchFamily="18" charset="2"/>
              </a:rPr>
              <a:t> </a:t>
            </a:r>
            <a:r>
              <a:rPr lang="en-US" altLang="zh-CN" dirty="0">
                <a:solidFill>
                  <a:schemeClr val="tx1"/>
                </a:solidFill>
              </a:rPr>
              <a:t>&lt;</a:t>
            </a:r>
            <a:r>
              <a:rPr lang="en-US" altLang="zh-CN" dirty="0" err="1">
                <a:solidFill>
                  <a:schemeClr val="tx1"/>
                </a:solidFill>
              </a:rPr>
              <a:t>a,b</a:t>
            </a:r>
            <a:r>
              <a:rPr lang="en-US" altLang="zh-CN" dirty="0">
                <a:solidFill>
                  <a:schemeClr val="tx1"/>
                </a:solidFill>
              </a:rPr>
              <a:t>&gt;∈R</a:t>
            </a:r>
            <a:endParaRPr lang="zh-CN" altLang="en-US" dirty="0">
              <a:solidFill>
                <a:schemeClr val="tx1"/>
              </a:solidFill>
            </a:endParaRPr>
          </a:p>
          <a:p>
            <a:pPr marL="533400" indent="-533400">
              <a:lnSpc>
                <a:spcPct val="150000"/>
              </a:lnSpc>
              <a:spcBef>
                <a:spcPct val="0"/>
              </a:spcBef>
              <a:buNone/>
            </a:pPr>
            <a:r>
              <a:rPr lang="zh-CN" altLang="en-US" dirty="0">
                <a:solidFill>
                  <a:schemeClr val="tx1"/>
                </a:solidFill>
              </a:rPr>
              <a:t> 即   </a:t>
            </a:r>
            <a:r>
              <a:rPr lang="en-US" altLang="zh-CN" dirty="0" err="1">
                <a:solidFill>
                  <a:schemeClr val="tx1"/>
                </a:solidFill>
              </a:rPr>
              <a:t>I</a:t>
            </a:r>
            <a:r>
              <a:rPr lang="en-US" altLang="zh-CN" baseline="-25000" dirty="0" err="1">
                <a:solidFill>
                  <a:schemeClr val="tx1"/>
                </a:solidFill>
              </a:rPr>
              <a:t>A</a:t>
            </a:r>
            <a:r>
              <a:rPr lang="en-US" altLang="zh-CN" dirty="0" err="1">
                <a:solidFill>
                  <a:schemeClr val="tx1"/>
                </a:solidFill>
              </a:rPr>
              <a:t>oR</a:t>
            </a:r>
            <a:r>
              <a:rPr lang="en-US" altLang="zh-CN" dirty="0">
                <a:solidFill>
                  <a:schemeClr val="tx1"/>
                </a:solidFill>
              </a:rPr>
              <a:t>=R</a:t>
            </a:r>
            <a:endParaRPr lang="zh-CN" altLang="en-US" dirty="0">
              <a:solidFill>
                <a:schemeClr val="tx1"/>
              </a:solidFill>
            </a:endParaRPr>
          </a:p>
          <a:p>
            <a:pPr marL="533400" indent="-533400">
              <a:lnSpc>
                <a:spcPct val="150000"/>
              </a:lnSpc>
              <a:spcBef>
                <a:spcPct val="0"/>
              </a:spcBef>
              <a:buNone/>
            </a:pPr>
            <a:r>
              <a:rPr lang="zh-CN" altLang="en-US" dirty="0">
                <a:solidFill>
                  <a:schemeClr val="tx1"/>
                </a:solidFill>
              </a:rPr>
              <a:t>同理可证  </a:t>
            </a:r>
            <a:r>
              <a:rPr lang="en-US" altLang="zh-CN" dirty="0" err="1">
                <a:solidFill>
                  <a:schemeClr val="tx1"/>
                </a:solidFill>
              </a:rPr>
              <a:t>RoI</a:t>
            </a:r>
            <a:r>
              <a:rPr lang="en-US" altLang="zh-CN" baseline="-25000" dirty="0" err="1">
                <a:solidFill>
                  <a:schemeClr val="tx1"/>
                </a:solidFill>
              </a:rPr>
              <a:t>B</a:t>
            </a:r>
            <a:r>
              <a:rPr lang="en-US" altLang="zh-CN" dirty="0">
                <a:solidFill>
                  <a:schemeClr val="tx1"/>
                </a:solidFill>
              </a:rPr>
              <a:t>=R</a:t>
            </a:r>
            <a:endParaRPr lang="zh-CN" altLang="en-US" dirty="0">
              <a:solidFill>
                <a:schemeClr val="tx1"/>
              </a:solidFill>
            </a:endParaRPr>
          </a:p>
          <a:p>
            <a:pPr marL="533400" indent="-533400">
              <a:lnSpc>
                <a:spcPct val="150000"/>
              </a:lnSpc>
              <a:spcBef>
                <a:spcPct val="0"/>
              </a:spcBef>
              <a:buNone/>
            </a:pPr>
            <a:r>
              <a:rPr lang="zh-CN" altLang="en-US" dirty="0">
                <a:solidFill>
                  <a:schemeClr val="tx1"/>
                </a:solidFill>
              </a:rPr>
              <a:t>于是  </a:t>
            </a:r>
            <a:r>
              <a:rPr lang="en-US" altLang="zh-CN" dirty="0" err="1">
                <a:solidFill>
                  <a:schemeClr val="tx1"/>
                </a:solidFill>
              </a:rPr>
              <a:t>I</a:t>
            </a:r>
            <a:r>
              <a:rPr lang="en-US" altLang="zh-CN" baseline="-25000" dirty="0" err="1">
                <a:solidFill>
                  <a:schemeClr val="tx1"/>
                </a:solidFill>
              </a:rPr>
              <a:t>A</a:t>
            </a:r>
            <a:r>
              <a:rPr lang="en-US" altLang="zh-CN" dirty="0" err="1">
                <a:solidFill>
                  <a:schemeClr val="tx1"/>
                </a:solidFill>
              </a:rPr>
              <a:t>oR</a:t>
            </a:r>
            <a:r>
              <a:rPr lang="en-US" altLang="zh-CN" dirty="0">
                <a:solidFill>
                  <a:schemeClr val="tx1"/>
                </a:solidFill>
              </a:rPr>
              <a:t>=</a:t>
            </a:r>
            <a:r>
              <a:rPr lang="en-US" altLang="zh-CN" dirty="0" err="1">
                <a:solidFill>
                  <a:schemeClr val="tx1"/>
                </a:solidFill>
              </a:rPr>
              <a:t>RoI</a:t>
            </a:r>
            <a:r>
              <a:rPr lang="en-US" altLang="zh-CN" baseline="-25000" dirty="0" err="1">
                <a:solidFill>
                  <a:schemeClr val="tx1"/>
                </a:solidFill>
              </a:rPr>
              <a:t>B</a:t>
            </a:r>
            <a:r>
              <a:rPr lang="en-US" altLang="zh-CN" dirty="0">
                <a:solidFill>
                  <a:schemeClr val="tx1"/>
                </a:solidFill>
              </a:rPr>
              <a:t>=R  </a:t>
            </a:r>
            <a:r>
              <a:rPr lang="zh-CN" altLang="en-US" dirty="0">
                <a:solidFill>
                  <a:schemeClr val="tx1"/>
                </a:solidFill>
              </a:rPr>
              <a:t>得证</a:t>
            </a:r>
            <a:endParaRPr lang="zh-CN" altLang="en-US" dirty="0">
              <a:solidFill>
                <a:schemeClr val="tx1"/>
              </a:solidFill>
            </a:endParaRPr>
          </a:p>
        </p:txBody>
      </p:sp>
      <p:sp>
        <p:nvSpPr>
          <p:cNvPr id="2" name="Rectangle 2"/>
          <p:cNvSpPr>
            <a:spLocks noChangeArrowheads="1"/>
          </p:cNvSpPr>
          <p:nvPr/>
        </p:nvSpPr>
        <p:spPr bwMode="auto">
          <a:xfrm>
            <a:off x="1764" y="-229709"/>
            <a:ext cx="184678" cy="46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3" tIns="45707" rIns="91413" bIns="45707" numCol="1" anchor="ctr" anchorCtr="0" compatLnSpc="1">
            <a:spAutoFit/>
          </a:bodyPr>
          <a:lstStyle/>
          <a:p>
            <a:pPr defTabSz="1219200"/>
            <a:endParaRPr lang="zh-CN" altLang="en-US" sz="2400">
              <a:solidFill>
                <a:prstClr val="black"/>
              </a:solidFill>
              <a:latin typeface="Arial" panose="020B0604020202020204"/>
              <a:ea typeface="微软雅黑" panose="020B0503020204020204" pitchFamily="34" charset="-122"/>
            </a:endParaRPr>
          </a:p>
        </p:txBody>
      </p:sp>
      <p:graphicFrame>
        <p:nvGraphicFramePr>
          <p:cNvPr id="3" name="对象 2"/>
          <p:cNvGraphicFramePr>
            <a:graphicFrameLocks noChangeAspect="1"/>
          </p:cNvGraphicFramePr>
          <p:nvPr/>
        </p:nvGraphicFramePr>
        <p:xfrm>
          <a:off x="1764" y="992"/>
          <a:ext cx="190445" cy="133312"/>
        </p:xfrm>
        <a:graphic>
          <a:graphicData uri="http://schemas.openxmlformats.org/presentationml/2006/ole">
            <mc:AlternateContent xmlns:mc="http://schemas.openxmlformats.org/markup-compatibility/2006">
              <mc:Choice xmlns:v="urn:schemas-microsoft-com:vml" Requires="v">
                <p:oleObj spid="_x0000_s7169" name="Equation" r:id="rId1" imgW="4572000" imgH="3352800" progId="Equation.DSMT4">
                  <p:embed/>
                </p:oleObj>
              </mc:Choice>
              <mc:Fallback>
                <p:oleObj name="Equation" r:id="rId1" imgW="4572000" imgH="3352800" progId="Equation.DSMT4">
                  <p:embed/>
                  <p:pic>
                    <p:nvPicPr>
                      <p:cNvPr id="0" name="对象 2" descr="image35"/>
                      <p:cNvPicPr>
                        <a:picLocks noChangeAspect="1"/>
                      </p:cNvPicPr>
                      <p:nvPr/>
                    </p:nvPicPr>
                    <p:blipFill>
                      <a:blip r:embed="rId2"/>
                      <a:stretch>
                        <a:fillRect/>
                      </a:stretch>
                    </p:blipFill>
                    <p:spPr>
                      <a:xfrm>
                        <a:off x="1764" y="992"/>
                        <a:ext cx="190445" cy="133312"/>
                      </a:xfrm>
                      <a:prstGeom prst="rect">
                        <a:avLst/>
                      </a:prstGeom>
                      <a:noFill/>
                      <a:ln w="9525">
                        <a:noFill/>
                      </a:ln>
                    </p:spPr>
                  </p:pic>
                </p:oleObj>
              </mc:Fallback>
            </mc:AlternateContent>
          </a:graphicData>
        </a:graphic>
      </p:graphicFrame>
      <p:sp>
        <p:nvSpPr>
          <p:cNvPr id="6" name="Rectangle 3"/>
          <p:cNvSpPr txBox="1">
            <a:spLocks noChangeArrowheads="1"/>
          </p:cNvSpPr>
          <p:nvPr/>
        </p:nvSpPr>
        <p:spPr>
          <a:xfrm>
            <a:off x="233472" y="992099"/>
            <a:ext cx="11426694" cy="1371203"/>
          </a:xfrm>
          <a:prstGeom prst="rect">
            <a:avLst/>
          </a:prstGeom>
        </p:spPr>
        <p:txBody>
          <a:bodyPr vert="horz" lIns="121882" tIns="60940" rIns="121882" bIns="60940"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defTabSz="1219200">
              <a:lnSpc>
                <a:spcPct val="160000"/>
              </a:lnSpc>
              <a:buNone/>
            </a:pPr>
            <a:r>
              <a:rPr lang="zh-CN" altLang="en-US" sz="2400" dirty="0">
                <a:solidFill>
                  <a:srgbClr val="C00000"/>
                </a:solidFill>
                <a:latin typeface="微软雅黑" panose="020B0503020204020204" pitchFamily="34" charset="-122"/>
                <a:ea typeface="微软雅黑" panose="020B0503020204020204" pitchFamily="34" charset="-122"/>
              </a:rPr>
              <a:t>定理</a:t>
            </a:r>
            <a:r>
              <a:rPr lang="en-US" altLang="zh-CN" sz="2400" dirty="0">
                <a:solidFill>
                  <a:srgbClr val="C00000"/>
                </a:solidFill>
                <a:latin typeface="微软雅黑" panose="020B0503020204020204" pitchFamily="34" charset="-122"/>
                <a:ea typeface="微软雅黑" panose="020B0503020204020204" pitchFamily="34" charset="-122"/>
              </a:rPr>
              <a:t>4.4</a:t>
            </a:r>
            <a:r>
              <a:rPr lang="en-US" altLang="zh-CN"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设</a:t>
            </a:r>
            <a:r>
              <a:rPr lang="en-US" altLang="zh-CN" sz="2400" dirty="0">
                <a:solidFill>
                  <a:prstClr val="black"/>
                </a:solidFill>
                <a:latin typeface="微软雅黑" panose="020B0503020204020204" pitchFamily="34" charset="-122"/>
                <a:ea typeface="微软雅黑" panose="020B0503020204020204" pitchFamily="34" charset="-122"/>
              </a:rPr>
              <a:t>A</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B</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C</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D</a:t>
            </a:r>
            <a:r>
              <a:rPr lang="zh-CN" altLang="en-US" sz="2400" dirty="0">
                <a:solidFill>
                  <a:prstClr val="black"/>
                </a:solidFill>
                <a:latin typeface="微软雅黑" panose="020B0503020204020204" pitchFamily="34" charset="-122"/>
                <a:ea typeface="微软雅黑" panose="020B0503020204020204" pitchFamily="34" charset="-122"/>
              </a:rPr>
              <a:t>是任意四个集合，</a:t>
            </a:r>
            <a:r>
              <a:rPr lang="en-US" altLang="zh-CN" sz="2400" dirty="0">
                <a:solidFill>
                  <a:prstClr val="black"/>
                </a:solidFill>
                <a:latin typeface="微软雅黑" panose="020B0503020204020204" pitchFamily="34" charset="-122"/>
                <a:ea typeface="微软雅黑" panose="020B0503020204020204" pitchFamily="34" charset="-122"/>
              </a:rPr>
              <a:t>R:A→B</a:t>
            </a:r>
            <a:r>
              <a:rPr lang="zh-CN" altLang="zh-CN"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S:B→C</a:t>
            </a:r>
            <a:r>
              <a:rPr lang="zh-CN" altLang="zh-CN"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T:C→D</a:t>
            </a:r>
            <a:r>
              <a:rPr lang="zh-CN"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则</a:t>
            </a:r>
            <a:endParaRPr lang="zh-CN" altLang="en-US" sz="2400" dirty="0">
              <a:solidFill>
                <a:prstClr val="black"/>
              </a:solidFill>
              <a:latin typeface="微软雅黑" panose="020B0503020204020204" pitchFamily="34" charset="-122"/>
              <a:ea typeface="微软雅黑" panose="020B0503020204020204" pitchFamily="34" charset="-122"/>
            </a:endParaRPr>
          </a:p>
          <a:p>
            <a:pPr marL="0" indent="0" defTabSz="1219200">
              <a:lnSpc>
                <a:spcPct val="160000"/>
              </a:lnSpc>
              <a:buNone/>
            </a:pP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err="1">
                <a:solidFill>
                  <a:prstClr val="black"/>
                </a:solidFill>
                <a:latin typeface="微软雅黑" panose="020B0503020204020204" pitchFamily="34" charset="-122"/>
                <a:ea typeface="微软雅黑" panose="020B0503020204020204" pitchFamily="34" charset="-122"/>
              </a:rPr>
              <a:t>I</a:t>
            </a:r>
            <a:r>
              <a:rPr lang="en-US" altLang="zh-CN" sz="2400" baseline="-25000" dirty="0" err="1">
                <a:solidFill>
                  <a:prstClr val="black"/>
                </a:solidFill>
                <a:latin typeface="微软雅黑" panose="020B0503020204020204" pitchFamily="34" charset="-122"/>
                <a:ea typeface="微软雅黑" panose="020B0503020204020204" pitchFamily="34" charset="-122"/>
              </a:rPr>
              <a:t>A</a:t>
            </a:r>
            <a:r>
              <a:rPr lang="en-US" altLang="zh-CN" sz="2400" dirty="0" err="1">
                <a:solidFill>
                  <a:prstClr val="black"/>
                </a:solidFill>
                <a:latin typeface="微软雅黑" panose="020B0503020204020204" pitchFamily="34" charset="-122"/>
                <a:ea typeface="微软雅黑" panose="020B0503020204020204" pitchFamily="34" charset="-122"/>
              </a:rPr>
              <a:t>oR</a:t>
            </a:r>
            <a:r>
              <a:rPr lang="en-US" altLang="zh-CN" sz="2400" dirty="0">
                <a:solidFill>
                  <a:prstClr val="black"/>
                </a:solidFill>
                <a:latin typeface="微软雅黑" panose="020B0503020204020204" pitchFamily="34" charset="-122"/>
                <a:ea typeface="微软雅黑" panose="020B0503020204020204" pitchFamily="34" charset="-122"/>
              </a:rPr>
              <a:t>=</a:t>
            </a:r>
            <a:r>
              <a:rPr lang="en-US" altLang="zh-CN" sz="2400" dirty="0" err="1">
                <a:solidFill>
                  <a:prstClr val="black"/>
                </a:solidFill>
                <a:latin typeface="微软雅黑" panose="020B0503020204020204" pitchFamily="34" charset="-122"/>
                <a:ea typeface="微软雅黑" panose="020B0503020204020204" pitchFamily="34" charset="-122"/>
              </a:rPr>
              <a:t>RoI</a:t>
            </a:r>
            <a:r>
              <a:rPr lang="en-US" altLang="zh-CN" sz="2400" baseline="-25000" dirty="0" err="1">
                <a:solidFill>
                  <a:prstClr val="black"/>
                </a:solidFill>
                <a:latin typeface="微软雅黑" panose="020B0503020204020204" pitchFamily="34" charset="-122"/>
                <a:ea typeface="微软雅黑" panose="020B0503020204020204" pitchFamily="34" charset="-122"/>
              </a:rPr>
              <a:t>B</a:t>
            </a:r>
            <a:r>
              <a:rPr lang="en-US" altLang="zh-CN" sz="2400" dirty="0">
                <a:solidFill>
                  <a:prstClr val="black"/>
                </a:solidFill>
                <a:latin typeface="微软雅黑" panose="020B0503020204020204" pitchFamily="34" charset="-122"/>
                <a:ea typeface="微软雅黑" panose="020B0503020204020204" pitchFamily="34" charset="-122"/>
              </a:rPr>
              <a:t>=R</a:t>
            </a:r>
            <a:r>
              <a:rPr lang="zh-CN" altLang="en-US" sz="2400" dirty="0">
                <a:solidFill>
                  <a:prstClr val="black"/>
                </a:solidFill>
                <a:latin typeface="微软雅黑" panose="020B0503020204020204" pitchFamily="34" charset="-122"/>
                <a:ea typeface="微软雅黑" panose="020B0503020204020204" pitchFamily="34" charset="-122"/>
              </a:rPr>
              <a:t>，其中</a:t>
            </a:r>
            <a:r>
              <a:rPr lang="en-US" altLang="zh-CN" sz="2400" dirty="0">
                <a:solidFill>
                  <a:prstClr val="black"/>
                </a:solidFill>
                <a:latin typeface="微软雅黑" panose="020B0503020204020204" pitchFamily="34" charset="-122"/>
                <a:ea typeface="微软雅黑" panose="020B0503020204020204" pitchFamily="34" charset="-122"/>
              </a:rPr>
              <a:t>I</a:t>
            </a:r>
            <a:r>
              <a:rPr lang="en-US" altLang="zh-CN" sz="2400" baseline="-25000" dirty="0">
                <a:solidFill>
                  <a:prstClr val="black"/>
                </a:solidFill>
                <a:latin typeface="微软雅黑" panose="020B0503020204020204" pitchFamily="34" charset="-122"/>
                <a:ea typeface="微软雅黑" panose="020B0503020204020204" pitchFamily="34" charset="-122"/>
              </a:rPr>
              <a:t>A</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I</a:t>
            </a:r>
            <a:r>
              <a:rPr lang="en-US" altLang="zh-CN" sz="2400" baseline="-25000" dirty="0">
                <a:solidFill>
                  <a:prstClr val="black"/>
                </a:solidFill>
                <a:latin typeface="微软雅黑" panose="020B0503020204020204" pitchFamily="34" charset="-122"/>
                <a:ea typeface="微软雅黑" panose="020B0503020204020204" pitchFamily="34" charset="-122"/>
              </a:rPr>
              <a:t>B</a:t>
            </a:r>
            <a:r>
              <a:rPr lang="zh-CN" altLang="en-US" sz="2400" dirty="0">
                <a:solidFill>
                  <a:prstClr val="black"/>
                </a:solidFill>
                <a:latin typeface="微软雅黑" panose="020B0503020204020204" pitchFamily="34" charset="-122"/>
                <a:ea typeface="微软雅黑" panose="020B0503020204020204" pitchFamily="34" charset="-122"/>
              </a:rPr>
              <a:t>分别称为</a:t>
            </a:r>
            <a:r>
              <a:rPr lang="en-US" altLang="zh-CN" sz="2400" dirty="0">
                <a:solidFill>
                  <a:prstClr val="black"/>
                </a:solidFill>
                <a:latin typeface="微软雅黑" panose="020B0503020204020204" pitchFamily="34" charset="-122"/>
                <a:ea typeface="微软雅黑" panose="020B0503020204020204" pitchFamily="34" charset="-122"/>
              </a:rPr>
              <a:t>A</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B</a:t>
            </a:r>
            <a:r>
              <a:rPr lang="zh-CN" altLang="en-US" sz="2400" dirty="0">
                <a:solidFill>
                  <a:prstClr val="black"/>
                </a:solidFill>
                <a:latin typeface="微软雅黑" panose="020B0503020204020204" pitchFamily="34" charset="-122"/>
                <a:ea typeface="微软雅黑" panose="020B0503020204020204" pitchFamily="34" charset="-122"/>
              </a:rPr>
              <a:t>上的恒等关系。</a:t>
            </a:r>
            <a:endParaRPr lang="zh-CN" altLang="en-US" sz="2400" dirty="0">
              <a:solidFill>
                <a:prstClr val="black"/>
              </a:solidFill>
              <a:latin typeface="微软雅黑" panose="020B0503020204020204" pitchFamily="34" charset="-122"/>
              <a:ea typeface="微软雅黑" panose="020B0503020204020204" pitchFamily="34" charset="-12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58179">
                                            <p:txEl>
                                              <p:pRg st="0" end="0"/>
                                            </p:txEl>
                                          </p:spTgt>
                                        </p:tgtEl>
                                        <p:attrNameLst>
                                          <p:attrName>style.visibility</p:attrName>
                                        </p:attrNameLst>
                                      </p:cBhvr>
                                      <p:to>
                                        <p:strVal val="visible"/>
                                      </p:to>
                                    </p:set>
                                    <p:animEffect transition="in" filter="randombar(horizontal)">
                                      <p:cBhvr>
                                        <p:cTn id="7" dur="500"/>
                                        <p:tgtEl>
                                          <p:spTgt spid="1458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58179">
                                            <p:txEl>
                                              <p:pRg st="1" end="1"/>
                                            </p:txEl>
                                          </p:spTgt>
                                        </p:tgtEl>
                                        <p:attrNameLst>
                                          <p:attrName>style.visibility</p:attrName>
                                        </p:attrNameLst>
                                      </p:cBhvr>
                                      <p:to>
                                        <p:strVal val="visible"/>
                                      </p:to>
                                    </p:set>
                                    <p:animEffect transition="in" filter="randombar(horizontal)">
                                      <p:cBhvr>
                                        <p:cTn id="12" dur="500"/>
                                        <p:tgtEl>
                                          <p:spTgt spid="1458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58179">
                                            <p:txEl>
                                              <p:pRg st="2" end="2"/>
                                            </p:txEl>
                                          </p:spTgt>
                                        </p:tgtEl>
                                        <p:attrNameLst>
                                          <p:attrName>style.visibility</p:attrName>
                                        </p:attrNameLst>
                                      </p:cBhvr>
                                      <p:to>
                                        <p:strVal val="visible"/>
                                      </p:to>
                                    </p:set>
                                    <p:animEffect transition="in" filter="randombar(horizontal)">
                                      <p:cBhvr>
                                        <p:cTn id="17" dur="500"/>
                                        <p:tgtEl>
                                          <p:spTgt spid="1458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58179">
                                            <p:txEl>
                                              <p:pRg st="3" end="3"/>
                                            </p:txEl>
                                          </p:spTgt>
                                        </p:tgtEl>
                                        <p:attrNameLst>
                                          <p:attrName>style.visibility</p:attrName>
                                        </p:attrNameLst>
                                      </p:cBhvr>
                                      <p:to>
                                        <p:strVal val="visible"/>
                                      </p:to>
                                    </p:set>
                                    <p:animEffect transition="in" filter="randombar(horizontal)">
                                      <p:cBhvr>
                                        <p:cTn id="22" dur="500"/>
                                        <p:tgtEl>
                                          <p:spTgt spid="14581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458179">
                                            <p:txEl>
                                              <p:pRg st="4" end="4"/>
                                            </p:txEl>
                                          </p:spTgt>
                                        </p:tgtEl>
                                        <p:attrNameLst>
                                          <p:attrName>style.visibility</p:attrName>
                                        </p:attrNameLst>
                                      </p:cBhvr>
                                      <p:to>
                                        <p:strVal val="visible"/>
                                      </p:to>
                                    </p:set>
                                    <p:animEffect transition="in" filter="randombar(horizontal)">
                                      <p:cBhvr>
                                        <p:cTn id="27" dur="500"/>
                                        <p:tgtEl>
                                          <p:spTgt spid="14581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458179">
                                            <p:txEl>
                                              <p:pRg st="5" end="5"/>
                                            </p:txEl>
                                          </p:spTgt>
                                        </p:tgtEl>
                                        <p:attrNameLst>
                                          <p:attrName>style.visibility</p:attrName>
                                        </p:attrNameLst>
                                      </p:cBhvr>
                                      <p:to>
                                        <p:strVal val="visible"/>
                                      </p:to>
                                    </p:set>
                                    <p:animEffect transition="in" filter="randombar(horizontal)">
                                      <p:cBhvr>
                                        <p:cTn id="32" dur="500"/>
                                        <p:tgtEl>
                                          <p:spTgt spid="14581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458179">
                                            <p:txEl>
                                              <p:pRg st="6" end="6"/>
                                            </p:txEl>
                                          </p:spTgt>
                                        </p:tgtEl>
                                        <p:attrNameLst>
                                          <p:attrName>style.visibility</p:attrName>
                                        </p:attrNameLst>
                                      </p:cBhvr>
                                      <p:to>
                                        <p:strVal val="visible"/>
                                      </p:to>
                                    </p:set>
                                    <p:animEffect transition="in" filter="randombar(horizontal)">
                                      <p:cBhvr>
                                        <p:cTn id="37" dur="500"/>
                                        <p:tgtEl>
                                          <p:spTgt spid="1458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问题引入</a:t>
            </a:r>
            <a:endParaRPr lang="zh-CN" altLang="en-US" dirty="0"/>
          </a:p>
        </p:txBody>
      </p:sp>
      <p:sp>
        <p:nvSpPr>
          <p:cNvPr id="4" name="内容占位符 2"/>
          <p:cNvSpPr>
            <a:spLocks noGrp="1"/>
          </p:cNvSpPr>
          <p:nvPr>
            <p:ph idx="1"/>
          </p:nvPr>
        </p:nvSpPr>
        <p:spPr>
          <a:xfrm>
            <a:off x="969963" y="1412875"/>
            <a:ext cx="7200900" cy="3022600"/>
          </a:xfrm>
        </p:spPr>
        <p:txBody>
          <a:bodyPr/>
          <a:lstStyle/>
          <a:p>
            <a:pPr marL="0" indent="0">
              <a:lnSpc>
                <a:spcPct val="150000"/>
              </a:lnSpc>
              <a:buFont typeface="Wingdings" panose="05000000000000000000" pitchFamily="2" charset="2"/>
              <a:buNone/>
              <a:defRPr/>
            </a:pPr>
            <a:r>
              <a:rPr lang="zh-CN" altLang="zh-CN" dirty="0">
                <a:solidFill>
                  <a:srgbClr val="C00000"/>
                </a:solidFill>
              </a:rPr>
              <a:t>问题</a:t>
            </a:r>
            <a:r>
              <a:rPr lang="zh-CN" altLang="zh-CN" dirty="0"/>
              <a:t> 假设</a:t>
            </a:r>
            <a:r>
              <a:rPr lang="pt-BR" altLang="zh-CN" dirty="0"/>
              <a:t>A={1, 2, 3}</a:t>
            </a:r>
            <a:r>
              <a:rPr lang="zh-CN" altLang="zh-CN" dirty="0"/>
              <a:t>，</a:t>
            </a:r>
            <a:r>
              <a:rPr lang="pt-BR" altLang="zh-CN" dirty="0"/>
              <a:t>A</a:t>
            </a:r>
            <a:r>
              <a:rPr lang="zh-CN" altLang="zh-CN" dirty="0"/>
              <a:t>上的关系</a:t>
            </a:r>
            <a:endParaRPr lang="en-US" altLang="zh-CN" dirty="0"/>
          </a:p>
          <a:p>
            <a:pPr marL="0" indent="0">
              <a:lnSpc>
                <a:spcPct val="150000"/>
              </a:lnSpc>
              <a:buFont typeface="Wingdings" panose="05000000000000000000" pitchFamily="2" charset="2"/>
              <a:buNone/>
              <a:defRPr/>
            </a:pPr>
            <a:r>
              <a:rPr lang="en-US" altLang="zh-CN" dirty="0"/>
              <a:t>    </a:t>
            </a:r>
            <a:r>
              <a:rPr lang="pt-BR" altLang="zh-CN" dirty="0"/>
              <a:t>R</a:t>
            </a:r>
            <a:r>
              <a:rPr lang="zh-CN" altLang="zh-CN" dirty="0"/>
              <a:t>＝</a:t>
            </a:r>
            <a:r>
              <a:rPr lang="pt-BR" altLang="zh-CN" dirty="0"/>
              <a:t>{&lt;1</a:t>
            </a:r>
            <a:r>
              <a:rPr lang="zh-CN" altLang="zh-CN" dirty="0"/>
              <a:t>，</a:t>
            </a:r>
            <a:r>
              <a:rPr lang="pt-BR" altLang="zh-CN" dirty="0"/>
              <a:t>2&gt;</a:t>
            </a:r>
            <a:r>
              <a:rPr lang="zh-CN" altLang="zh-CN" dirty="0"/>
              <a:t>，</a:t>
            </a:r>
            <a:r>
              <a:rPr lang="pt-BR" altLang="zh-CN" dirty="0"/>
              <a:t>&lt;2</a:t>
            </a:r>
            <a:r>
              <a:rPr lang="zh-CN" altLang="zh-CN" dirty="0"/>
              <a:t>，</a:t>
            </a:r>
            <a:r>
              <a:rPr lang="pt-BR" altLang="zh-CN" dirty="0"/>
              <a:t>3&gt;}</a:t>
            </a:r>
            <a:endParaRPr lang="en-US" altLang="zh-CN" dirty="0"/>
          </a:p>
          <a:p>
            <a:pPr marL="0" indent="0">
              <a:lnSpc>
                <a:spcPct val="150000"/>
              </a:lnSpc>
              <a:buFont typeface="Wingdings" panose="05000000000000000000" pitchFamily="2" charset="2"/>
              <a:buNone/>
              <a:defRPr/>
            </a:pPr>
            <a:r>
              <a:rPr lang="en-US" altLang="zh-CN" dirty="0"/>
              <a:t>    </a:t>
            </a:r>
            <a:r>
              <a:rPr lang="pt-BR" altLang="zh-CN" dirty="0"/>
              <a:t>S</a:t>
            </a:r>
            <a:r>
              <a:rPr lang="zh-CN" altLang="zh-CN" dirty="0"/>
              <a:t>＝</a:t>
            </a:r>
            <a:r>
              <a:rPr lang="pt-BR" altLang="zh-CN" dirty="0"/>
              <a:t>{&lt;2</a:t>
            </a:r>
            <a:r>
              <a:rPr lang="zh-CN" altLang="zh-CN" dirty="0"/>
              <a:t>，</a:t>
            </a:r>
            <a:r>
              <a:rPr lang="pt-BR" altLang="zh-CN" dirty="0"/>
              <a:t>1&gt;</a:t>
            </a:r>
            <a:r>
              <a:rPr lang="zh-CN" altLang="zh-CN" dirty="0"/>
              <a:t>，</a:t>
            </a:r>
            <a:r>
              <a:rPr lang="pt-BR" altLang="zh-CN" dirty="0"/>
              <a:t>&lt;3</a:t>
            </a:r>
            <a:r>
              <a:rPr lang="zh-CN" altLang="zh-CN" dirty="0"/>
              <a:t>，</a:t>
            </a:r>
            <a:r>
              <a:rPr lang="pt-BR" altLang="zh-CN" dirty="0"/>
              <a:t>2&gt;}</a:t>
            </a:r>
            <a:endParaRPr lang="en-US" altLang="zh-CN" dirty="0"/>
          </a:p>
          <a:p>
            <a:pPr marL="0" indent="0">
              <a:lnSpc>
                <a:spcPct val="150000"/>
              </a:lnSpc>
              <a:buFont typeface="Wingdings" panose="05000000000000000000" pitchFamily="2" charset="2"/>
              <a:buNone/>
              <a:defRPr/>
            </a:pPr>
            <a:r>
              <a:rPr lang="zh-CN" altLang="zh-CN" dirty="0"/>
              <a:t>则</a:t>
            </a:r>
            <a:r>
              <a:rPr lang="pt-BR" altLang="zh-CN" dirty="0"/>
              <a:t>R</a:t>
            </a:r>
            <a:r>
              <a:rPr lang="zh-CN" altLang="zh-CN" dirty="0"/>
              <a:t>和</a:t>
            </a:r>
            <a:r>
              <a:rPr lang="pt-BR" altLang="zh-CN" dirty="0"/>
              <a:t>S</a:t>
            </a:r>
            <a:r>
              <a:rPr lang="zh-CN" altLang="zh-CN" dirty="0"/>
              <a:t>具有怎样的关系？</a:t>
            </a:r>
            <a:endParaRPr lang="zh-CN" altLang="zh-CN" dirty="0"/>
          </a:p>
          <a:p>
            <a:pPr>
              <a:lnSpc>
                <a:spcPct val="150000"/>
              </a:lnSpc>
              <a:defRPr/>
            </a:pPr>
            <a:endParaRPr lang="zh-CN" altLang="en-US" dirty="0"/>
          </a:p>
        </p:txBody>
      </p:sp>
      <p:sp>
        <p:nvSpPr>
          <p:cNvPr id="5" name="Rectangle 2"/>
          <p:cNvSpPr txBox="1">
            <a:spLocks noChangeArrowheads="1"/>
          </p:cNvSpPr>
          <p:nvPr/>
        </p:nvSpPr>
        <p:spPr bwMode="auto">
          <a:xfrm>
            <a:off x="987425" y="4168775"/>
            <a:ext cx="5891213" cy="497316"/>
          </a:xfrm>
          <a:prstGeom prst="rect">
            <a:avLst/>
          </a:prstGeom>
          <a:solidFill>
            <a:srgbClr val="1157AB"/>
          </a:solidFill>
          <a:ln>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en-US" altLang="zh-CN" sz="2400" kern="0" dirty="0">
                <a:solidFill>
                  <a:srgbClr val="FFFF00"/>
                </a:solidFill>
              </a:rPr>
              <a:t>&lt;</a:t>
            </a:r>
            <a:r>
              <a:rPr lang="en-US" altLang="zh-CN" sz="2400" kern="0" dirty="0" err="1">
                <a:solidFill>
                  <a:srgbClr val="FFFF00"/>
                </a:solidFill>
              </a:rPr>
              <a:t>a,b</a:t>
            </a:r>
            <a:r>
              <a:rPr lang="en-US" altLang="zh-CN" sz="2400" kern="0" dirty="0">
                <a:solidFill>
                  <a:srgbClr val="FFFF00"/>
                </a:solidFill>
              </a:rPr>
              <a:t>&gt;∈</a:t>
            </a:r>
            <a:r>
              <a:rPr lang="pt-BR" altLang="zh-CN" sz="2400" kern="0" dirty="0">
                <a:solidFill>
                  <a:schemeClr val="bg1"/>
                </a:solidFill>
              </a:rPr>
              <a:t>R</a:t>
            </a:r>
            <a:r>
              <a:rPr lang="pt-BR" altLang="zh-CN" sz="2400" kern="0" dirty="0">
                <a:solidFill>
                  <a:schemeClr val="tx2"/>
                </a:solidFill>
              </a:rPr>
              <a:t>          </a:t>
            </a:r>
            <a:r>
              <a:rPr lang="pt-BR" altLang="zh-CN" sz="2400" kern="0" dirty="0">
                <a:solidFill>
                  <a:schemeClr val="bg1"/>
                </a:solidFill>
              </a:rPr>
              <a:t>&lt;b,a&gt;</a:t>
            </a:r>
            <a:r>
              <a:rPr lang="en-US" altLang="zh-CN" sz="2400" kern="0" dirty="0">
                <a:solidFill>
                  <a:schemeClr val="bg1"/>
                </a:solidFill>
              </a:rPr>
              <a:t>∈</a:t>
            </a:r>
            <a:r>
              <a:rPr lang="pt-BR" altLang="zh-CN" sz="2400" kern="0" dirty="0">
                <a:solidFill>
                  <a:schemeClr val="bg1"/>
                </a:solidFill>
              </a:rPr>
              <a:t>S</a:t>
            </a:r>
            <a:endParaRPr lang="pt-BR" altLang="zh-CN" sz="2400" kern="0" noProof="1">
              <a:solidFill>
                <a:schemeClr val="bg1"/>
              </a:solidFill>
            </a:endParaRPr>
          </a:p>
        </p:txBody>
      </p:sp>
      <p:sp>
        <p:nvSpPr>
          <p:cNvPr id="6" name="左右箭头 8"/>
          <p:cNvSpPr>
            <a:spLocks noChangeArrowheads="1"/>
          </p:cNvSpPr>
          <p:nvPr/>
        </p:nvSpPr>
        <p:spPr bwMode="auto">
          <a:xfrm>
            <a:off x="2419887" y="4255293"/>
            <a:ext cx="792162" cy="360363"/>
          </a:xfrm>
          <a:prstGeom prst="leftRightArrow">
            <a:avLst>
              <a:gd name="adj1" fmla="val 50000"/>
              <a:gd name="adj2" fmla="val 49959"/>
            </a:avLst>
          </a:prstGeom>
          <a:solidFill>
            <a:srgbClr val="FFFF66">
              <a:alpha val="89803"/>
            </a:srgbClr>
          </a:solidFill>
          <a:ln w="12700" algn="ctr">
            <a:solidFill>
              <a:srgbClr val="003300"/>
            </a:solidFill>
            <a:rou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endParaRPr>
          </a:p>
        </p:txBody>
      </p:sp>
      <p:sp>
        <p:nvSpPr>
          <p:cNvPr id="7" name="云形标注 10"/>
          <p:cNvSpPr/>
          <p:nvPr/>
        </p:nvSpPr>
        <p:spPr bwMode="auto">
          <a:xfrm>
            <a:off x="5967145" y="2893831"/>
            <a:ext cx="2663825" cy="1386681"/>
          </a:xfrm>
          <a:prstGeom prst="cloudCallout">
            <a:avLst>
              <a:gd name="adj1" fmla="val -67056"/>
              <a:gd name="adj2" fmla="val 51290"/>
            </a:avLst>
          </a:prstGeom>
          <a:solidFill>
            <a:srgbClr val="FFFF66">
              <a:alpha val="89999"/>
            </a:srgbClr>
          </a:solidFill>
          <a:ln w="12700" cap="flat" cmpd="sng" algn="ctr">
            <a:solidFill>
              <a:srgbClr val="003300"/>
            </a:solidFill>
            <a:prstDash val="solid"/>
            <a:round/>
            <a:headEnd type="none" w="med" len="med"/>
            <a:tailEnd type="none" w="med" len="med"/>
          </a:ln>
          <a:effectLst/>
        </p:spPr>
        <p:txBody>
          <a:bodyPr anchor="ctr"/>
          <a:lstStyle/>
          <a:p>
            <a:pPr eaLnBrk="1" hangingPunct="1">
              <a:defRPr/>
            </a:pPr>
            <a:r>
              <a:rPr lang="zh-CN" altLang="en-US" b="1" kern="0" dirty="0">
                <a:solidFill>
                  <a:srgbClr val="C00000"/>
                </a:solidFill>
              </a:rPr>
              <a:t>称</a:t>
            </a:r>
            <a:r>
              <a:rPr lang="en-US" altLang="zh-CN" b="1" kern="0" dirty="0">
                <a:solidFill>
                  <a:srgbClr val="C00000"/>
                </a:solidFill>
              </a:rPr>
              <a:t>R</a:t>
            </a:r>
            <a:r>
              <a:rPr lang="zh-CN" altLang="en-US" b="1" kern="0" dirty="0">
                <a:solidFill>
                  <a:srgbClr val="C00000"/>
                </a:solidFill>
              </a:rPr>
              <a:t>和</a:t>
            </a:r>
            <a:r>
              <a:rPr lang="en-US" altLang="zh-CN" b="1" kern="0" dirty="0">
                <a:solidFill>
                  <a:srgbClr val="C00000"/>
                </a:solidFill>
              </a:rPr>
              <a:t>S</a:t>
            </a:r>
            <a:r>
              <a:rPr lang="zh-CN" altLang="en-US" b="1" kern="0" dirty="0">
                <a:solidFill>
                  <a:srgbClr val="C00000"/>
                </a:solidFill>
              </a:rPr>
              <a:t>互为逆关系</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8" name="Rectangle 2"/>
          <p:cNvSpPr txBox="1">
            <a:spLocks noChangeArrowheads="1"/>
          </p:cNvSpPr>
          <p:nvPr/>
        </p:nvSpPr>
        <p:spPr bwMode="auto">
          <a:xfrm>
            <a:off x="754063" y="5281613"/>
            <a:ext cx="7921625" cy="497316"/>
          </a:xfrm>
          <a:prstGeom prst="rect">
            <a:avLst/>
          </a:prstGeom>
          <a:solidFill>
            <a:srgbClr val="1157AB"/>
          </a:solidFill>
          <a:ln>
            <a:noFill/>
          </a:ln>
        </p:spPr>
        <p:txBody>
          <a:bodyPr>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buFont typeface="Wingdings" panose="05000000000000000000" pitchFamily="2" charset="2"/>
              <a:buNone/>
              <a:defRPr/>
            </a:pPr>
            <a:r>
              <a:rPr lang="zh-CN" altLang="en-US" sz="2400" kern="0" dirty="0">
                <a:solidFill>
                  <a:srgbClr val="FFFF00"/>
                </a:solidFill>
              </a:rPr>
              <a:t>已知</a:t>
            </a:r>
            <a:r>
              <a:rPr lang="pt-BR" altLang="zh-CN" sz="2400" kern="0" dirty="0">
                <a:solidFill>
                  <a:schemeClr val="bg1"/>
                </a:solidFill>
              </a:rPr>
              <a:t>R</a:t>
            </a:r>
            <a:r>
              <a:rPr lang="zh-CN" altLang="en-US" sz="2400" kern="0" dirty="0">
                <a:solidFill>
                  <a:schemeClr val="bg1"/>
                </a:solidFill>
              </a:rPr>
              <a:t>，求其逆关系的运算称为</a:t>
            </a:r>
            <a:r>
              <a:rPr lang="zh-CN" altLang="en-US" sz="2400" kern="0" dirty="0">
                <a:solidFill>
                  <a:srgbClr val="FFFF00"/>
                </a:solidFill>
              </a:rPr>
              <a:t>关系的逆运算</a:t>
            </a:r>
            <a:r>
              <a:rPr lang="zh-CN" altLang="en-US" sz="2400" kern="0" dirty="0">
                <a:solidFill>
                  <a:schemeClr val="bg1"/>
                </a:solidFill>
              </a:rPr>
              <a:t>。</a:t>
            </a:r>
            <a:endParaRPr lang="pt-BR" altLang="zh-CN" sz="2400" kern="0" noProof="1">
              <a:solidFill>
                <a:schemeClr val="bg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2514" name="Rectangle 2"/>
          <p:cNvSpPr>
            <a:spLocks noGrp="1" noChangeArrowheads="1"/>
          </p:cNvSpPr>
          <p:nvPr>
            <p:ph/>
          </p:nvPr>
        </p:nvSpPr>
        <p:spPr>
          <a:xfrm>
            <a:off x="363005" y="995594"/>
            <a:ext cx="11222570" cy="2904209"/>
          </a:xfrm>
        </p:spPr>
        <p:txBody>
          <a:bodyPr vert="horz" lIns="0" tIns="0" rIns="0" bIns="0" rtlCol="0">
            <a:normAutofit/>
          </a:bodyPr>
          <a:lstStyle/>
          <a:p>
            <a:pPr marL="0" indent="0">
              <a:buNone/>
            </a:pPr>
            <a:r>
              <a:rPr lang="zh-CN" altLang="en-US" dirty="0">
                <a:solidFill>
                  <a:srgbClr val="FF0000"/>
                </a:solidFill>
              </a:rPr>
              <a:t>定义</a:t>
            </a:r>
            <a:r>
              <a:rPr lang="en-US" altLang="zh-CN" dirty="0">
                <a:solidFill>
                  <a:srgbClr val="FF0000"/>
                </a:solidFill>
              </a:rPr>
              <a:t>4.9   </a:t>
            </a:r>
            <a:r>
              <a:rPr lang="zh-CN" altLang="en-US" dirty="0"/>
              <a:t>设</a:t>
            </a:r>
            <a:r>
              <a:rPr lang="en-US" altLang="zh-CN" dirty="0"/>
              <a:t>A</a:t>
            </a:r>
            <a:r>
              <a:rPr lang="zh-CN" altLang="en-US" dirty="0"/>
              <a:t>，</a:t>
            </a:r>
            <a:r>
              <a:rPr lang="en-US" altLang="zh-CN" dirty="0"/>
              <a:t>B</a:t>
            </a:r>
            <a:r>
              <a:rPr lang="zh-CN" altLang="en-US" dirty="0"/>
              <a:t>是两个集合，</a:t>
            </a:r>
            <a:r>
              <a:rPr lang="pt-BR" altLang="zh-CN" dirty="0"/>
              <a:t> R</a:t>
            </a:r>
            <a:r>
              <a:rPr lang="zh-CN" altLang="zh-CN" dirty="0"/>
              <a:t>：</a:t>
            </a:r>
            <a:r>
              <a:rPr lang="pt-BR" altLang="zh-CN" dirty="0"/>
              <a:t>A→B </a:t>
            </a:r>
            <a:r>
              <a:rPr lang="zh-CN" altLang="en-US" dirty="0"/>
              <a:t>，则从</a:t>
            </a:r>
            <a:r>
              <a:rPr lang="en-US" altLang="zh-CN" dirty="0"/>
              <a:t>B</a:t>
            </a:r>
            <a:r>
              <a:rPr lang="zh-CN" altLang="en-US" dirty="0"/>
              <a:t>到</a:t>
            </a:r>
            <a:r>
              <a:rPr lang="en-US" altLang="zh-CN" dirty="0"/>
              <a:t>A</a:t>
            </a:r>
            <a:r>
              <a:rPr lang="zh-CN" altLang="en-US" dirty="0"/>
              <a:t>的关系</a:t>
            </a:r>
            <a:endParaRPr lang="zh-CN" altLang="en-US" dirty="0"/>
          </a:p>
          <a:p>
            <a:pPr marL="0" indent="0">
              <a:buNone/>
            </a:pPr>
            <a:r>
              <a:rPr lang="en-US" altLang="zh-CN" dirty="0"/>
              <a:t>              </a:t>
            </a:r>
            <a:r>
              <a:rPr lang="en-US" altLang="zh-CN" noProof="1">
                <a:solidFill>
                  <a:srgbClr val="0000FF"/>
                </a:solidFill>
              </a:rPr>
              <a:t>R</a:t>
            </a:r>
            <a:r>
              <a:rPr lang="en-US" altLang="zh-CN" baseline="30000" dirty="0">
                <a:solidFill>
                  <a:srgbClr val="0000FF"/>
                </a:solidFill>
              </a:rPr>
              <a:t>-1</a:t>
            </a:r>
            <a:r>
              <a:rPr lang="zh-CN" altLang="en-US" dirty="0">
                <a:solidFill>
                  <a:srgbClr val="0000FF"/>
                </a:solidFill>
              </a:rPr>
              <a:t>＝</a:t>
            </a:r>
            <a:r>
              <a:rPr lang="en-US" altLang="zh-CN" dirty="0">
                <a:solidFill>
                  <a:srgbClr val="0000FF"/>
                </a:solidFill>
              </a:rPr>
              <a:t>{&lt;</a:t>
            </a:r>
            <a:r>
              <a:rPr lang="en-US" altLang="zh-CN" dirty="0" err="1">
                <a:solidFill>
                  <a:srgbClr val="0000FF"/>
                </a:solidFill>
              </a:rPr>
              <a:t>b,a</a:t>
            </a:r>
            <a:r>
              <a:rPr lang="en-US" altLang="zh-CN" dirty="0">
                <a:solidFill>
                  <a:srgbClr val="0000FF"/>
                </a:solidFill>
              </a:rPr>
              <a:t>&gt;|&lt;</a:t>
            </a:r>
            <a:r>
              <a:rPr lang="en-US" altLang="zh-CN" dirty="0" err="1">
                <a:solidFill>
                  <a:srgbClr val="0000FF"/>
                </a:solidFill>
              </a:rPr>
              <a:t>a,b</a:t>
            </a:r>
            <a:r>
              <a:rPr lang="en-US" altLang="zh-CN" dirty="0">
                <a:solidFill>
                  <a:srgbClr val="0000FF"/>
                </a:solidFill>
              </a:rPr>
              <a:t>&gt;∈</a:t>
            </a:r>
            <a:r>
              <a:rPr lang="en-US" altLang="zh-CN" noProof="1">
                <a:solidFill>
                  <a:srgbClr val="0000FF"/>
                </a:solidFill>
              </a:rPr>
              <a:t>R}           </a:t>
            </a:r>
            <a:endParaRPr lang="en-US" altLang="zh-CN" dirty="0">
              <a:solidFill>
                <a:srgbClr val="0000FF"/>
              </a:solidFill>
            </a:endParaRPr>
          </a:p>
          <a:p>
            <a:pPr marL="0" indent="0">
              <a:buNone/>
            </a:pPr>
            <a:r>
              <a:rPr lang="zh-CN" altLang="en-US" noProof="1">
                <a:latin typeface="宋体" panose="02010600030101010101" pitchFamily="2" charset="-122"/>
              </a:rPr>
              <a:t>称为</a:t>
            </a:r>
            <a:r>
              <a:rPr lang="en-US" altLang="zh-CN" noProof="1">
                <a:latin typeface="宋体" panose="02010600030101010101" pitchFamily="2" charset="-122"/>
              </a:rPr>
              <a:t>R</a:t>
            </a:r>
            <a:r>
              <a:rPr lang="zh-CN" altLang="en-US" noProof="1">
                <a:latin typeface="宋体" panose="02010600030101010101" pitchFamily="2" charset="-122"/>
              </a:rPr>
              <a:t>的</a:t>
            </a:r>
            <a:r>
              <a:rPr lang="zh-CN" altLang="en-US" noProof="1">
                <a:solidFill>
                  <a:srgbClr val="FF0000"/>
                </a:solidFill>
                <a:latin typeface="宋体" panose="02010600030101010101" pitchFamily="2" charset="-122"/>
              </a:rPr>
              <a:t>逆关系</a:t>
            </a:r>
            <a:r>
              <a:rPr lang="en-US" altLang="zh-CN" dirty="0"/>
              <a:t>(Inverse Relation)</a:t>
            </a:r>
            <a:r>
              <a:rPr lang="zh-CN" altLang="zh-CN" dirty="0">
                <a:latin typeface="宋体" panose="02010600030101010101" pitchFamily="2" charset="-122"/>
              </a:rPr>
              <a:t>，</a:t>
            </a:r>
            <a:endParaRPr lang="zh-CN" altLang="en-US" dirty="0">
              <a:latin typeface="宋体" panose="02010600030101010101" pitchFamily="2" charset="-122"/>
            </a:endParaRPr>
          </a:p>
          <a:p>
            <a:pPr marL="0" indent="0">
              <a:buNone/>
            </a:pPr>
            <a:r>
              <a:rPr lang="zh-CN" altLang="en-US" noProof="1">
                <a:latin typeface="宋体" panose="02010600030101010101" pitchFamily="2" charset="-122"/>
              </a:rPr>
              <a:t>运算“</a:t>
            </a:r>
            <a:r>
              <a:rPr lang="zh-CN" altLang="en-US" baseline="30000" noProof="1">
                <a:latin typeface="宋体" panose="02010600030101010101" pitchFamily="2" charset="-122"/>
              </a:rPr>
              <a:t>-1</a:t>
            </a:r>
            <a:r>
              <a:rPr lang="zh-CN" altLang="en-US" noProof="1">
                <a:latin typeface="宋体" panose="02010600030101010101" pitchFamily="2" charset="-122"/>
              </a:rPr>
              <a:t>”称为</a:t>
            </a:r>
            <a:r>
              <a:rPr lang="zh-CN" altLang="en-US" noProof="1">
                <a:solidFill>
                  <a:srgbClr val="FF0000"/>
                </a:solidFill>
                <a:latin typeface="宋体" panose="02010600030101010101" pitchFamily="2" charset="-122"/>
              </a:rPr>
              <a:t>逆运算</a:t>
            </a:r>
            <a:r>
              <a:rPr lang="en-US" altLang="zh-CN" dirty="0"/>
              <a:t>(Inverse Operation) </a:t>
            </a:r>
            <a:r>
              <a:rPr lang="zh-CN" altLang="en-US" dirty="0">
                <a:latin typeface="宋体" panose="02010600030101010101" pitchFamily="2" charset="-122"/>
              </a:rPr>
              <a:t>。</a:t>
            </a:r>
            <a:endParaRPr lang="zh-CN" altLang="en-US" dirty="0">
              <a:latin typeface="宋体" panose="02010600030101010101" pitchFamily="2" charset="-122"/>
            </a:endParaRPr>
          </a:p>
        </p:txBody>
      </p:sp>
      <p:sp>
        <p:nvSpPr>
          <p:cNvPr id="144388" name="Rectangle 3"/>
          <p:cNvSpPr>
            <a:spLocks noGrp="1" noChangeArrowheads="1"/>
          </p:cNvSpPr>
          <p:nvPr>
            <p:ph type="title" idx="4294967295"/>
          </p:nvPr>
        </p:nvSpPr>
        <p:spPr/>
        <p:txBody>
          <a:bodyPr/>
          <a:lstStyle/>
          <a:p>
            <a:pPr eaLnBrk="1" hangingPunct="1"/>
            <a:r>
              <a:rPr lang="zh-CN" altLang="en-US" dirty="0"/>
              <a:t>逆运算的定义</a:t>
            </a:r>
            <a:endParaRPr lang="zh-CN" altLang="en-US" dirty="0"/>
          </a:p>
        </p:txBody>
      </p:sp>
      <p:sp>
        <p:nvSpPr>
          <p:cNvPr id="1472520" name="Rectangle 8"/>
          <p:cNvSpPr>
            <a:spLocks noChangeArrowheads="1"/>
          </p:cNvSpPr>
          <p:nvPr/>
        </p:nvSpPr>
        <p:spPr bwMode="auto">
          <a:xfrm>
            <a:off x="382221" y="3899803"/>
            <a:ext cx="11453124" cy="497957"/>
          </a:xfrm>
          <a:prstGeom prst="rect">
            <a:avLst/>
          </a:prstGeom>
          <a:solidFill>
            <a:srgbClr val="1157AB">
              <a:alpha val="89803"/>
            </a:srgb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spcBef>
                <a:spcPts val="600"/>
              </a:spcBef>
              <a:buClrTx/>
              <a:buNone/>
            </a:pPr>
            <a:r>
              <a:rPr kumimoji="1" lang="zh-CN" altLang="en-US" sz="2400" dirty="0">
                <a:solidFill>
                  <a:schemeClr val="bg1"/>
                </a:solidFill>
                <a:latin typeface="+mn-ea"/>
                <a:ea typeface="+mn-ea"/>
              </a:rPr>
              <a:t>由定义</a:t>
            </a:r>
            <a:r>
              <a:rPr kumimoji="1" lang="en-US" altLang="zh-CN" sz="2400" dirty="0">
                <a:solidFill>
                  <a:schemeClr val="bg1"/>
                </a:solidFill>
                <a:latin typeface="+mn-ea"/>
                <a:ea typeface="+mn-ea"/>
              </a:rPr>
              <a:t>4.9</a:t>
            </a:r>
            <a:r>
              <a:rPr kumimoji="1" lang="zh-CN" altLang="en-US" sz="2400" dirty="0">
                <a:solidFill>
                  <a:schemeClr val="bg1"/>
                </a:solidFill>
                <a:latin typeface="+mn-ea"/>
                <a:ea typeface="+mn-ea"/>
              </a:rPr>
              <a:t>知：</a:t>
            </a:r>
            <a:r>
              <a:rPr kumimoji="1" lang="en-US" altLang="zh-CN" sz="2400" dirty="0">
                <a:solidFill>
                  <a:schemeClr val="bg1"/>
                </a:solidFill>
                <a:latin typeface="+mn-ea"/>
                <a:ea typeface="+mn-ea"/>
              </a:rPr>
              <a:t> (R</a:t>
            </a:r>
            <a:r>
              <a:rPr kumimoji="1" lang="en-US" altLang="zh-CN" sz="2400" baseline="30000" dirty="0">
                <a:solidFill>
                  <a:schemeClr val="bg1"/>
                </a:solidFill>
                <a:latin typeface="+mn-ea"/>
                <a:ea typeface="+mn-ea"/>
              </a:rPr>
              <a:t>-1</a:t>
            </a:r>
            <a:r>
              <a:rPr kumimoji="1" lang="en-US" altLang="zh-CN" sz="2400" dirty="0">
                <a:solidFill>
                  <a:schemeClr val="bg1"/>
                </a:solidFill>
                <a:latin typeface="+mn-ea"/>
                <a:ea typeface="+mn-ea"/>
              </a:rPr>
              <a:t>)</a:t>
            </a:r>
            <a:r>
              <a:rPr kumimoji="1" lang="en-US" altLang="zh-CN" sz="2400" baseline="30000" dirty="0">
                <a:solidFill>
                  <a:schemeClr val="bg1"/>
                </a:solidFill>
                <a:latin typeface="+mn-ea"/>
                <a:ea typeface="+mn-ea"/>
              </a:rPr>
              <a:t>-1</a:t>
            </a:r>
            <a:r>
              <a:rPr kumimoji="1" lang="en-US" altLang="zh-CN" sz="2400" dirty="0">
                <a:solidFill>
                  <a:schemeClr val="bg1"/>
                </a:solidFill>
                <a:latin typeface="+mn-ea"/>
                <a:ea typeface="+mn-ea"/>
              </a:rPr>
              <a:t>=R</a:t>
            </a:r>
            <a:r>
              <a:rPr kumimoji="1" lang="zh-CN" altLang="en-US" sz="2400" dirty="0">
                <a:solidFill>
                  <a:schemeClr val="bg1"/>
                </a:solidFill>
                <a:latin typeface="+mn-ea"/>
                <a:ea typeface="+mn-ea"/>
              </a:rPr>
              <a:t>；</a:t>
            </a:r>
            <a:r>
              <a:rPr kumimoji="1" lang="en-US" altLang="zh-CN" sz="2400" dirty="0">
                <a:solidFill>
                  <a:schemeClr val="bg1"/>
                </a:solidFill>
                <a:latin typeface="+mn-ea"/>
                <a:ea typeface="+mn-ea"/>
              </a:rPr>
              <a:t>       Φ</a:t>
            </a:r>
            <a:r>
              <a:rPr kumimoji="1" lang="en-US" altLang="zh-CN" sz="2400" baseline="30000" dirty="0">
                <a:solidFill>
                  <a:schemeClr val="bg1"/>
                </a:solidFill>
                <a:latin typeface="+mn-ea"/>
                <a:ea typeface="+mn-ea"/>
              </a:rPr>
              <a:t>-1</a:t>
            </a:r>
            <a:r>
              <a:rPr kumimoji="1" lang="en-US" altLang="zh-CN" sz="2400" dirty="0">
                <a:solidFill>
                  <a:schemeClr val="bg1"/>
                </a:solidFill>
                <a:latin typeface="+mn-ea"/>
                <a:ea typeface="+mn-ea"/>
              </a:rPr>
              <a:t>=Φ</a:t>
            </a:r>
            <a:r>
              <a:rPr kumimoji="1" lang="zh-CN" altLang="en-US" sz="2400" dirty="0">
                <a:solidFill>
                  <a:schemeClr val="bg1"/>
                </a:solidFill>
                <a:latin typeface="+mn-ea"/>
                <a:ea typeface="+mn-ea"/>
              </a:rPr>
              <a:t>；    </a:t>
            </a:r>
            <a:r>
              <a:rPr lang="pt-BR" altLang="zh-CN" sz="2400" dirty="0">
                <a:solidFill>
                  <a:schemeClr val="bg1"/>
                </a:solidFill>
                <a:latin typeface="+mn-ea"/>
                <a:ea typeface="+mn-ea"/>
              </a:rPr>
              <a:t>(A×B)</a:t>
            </a:r>
            <a:r>
              <a:rPr lang="en-US" altLang="zh-CN" sz="2400" baseline="30000" dirty="0">
                <a:solidFill>
                  <a:schemeClr val="bg1"/>
                </a:solidFill>
                <a:latin typeface="+mn-ea"/>
                <a:ea typeface="+mn-ea"/>
              </a:rPr>
              <a:t>−1</a:t>
            </a:r>
            <a:r>
              <a:rPr lang="zh-CN" altLang="zh-CN" sz="2400" dirty="0">
                <a:solidFill>
                  <a:schemeClr val="bg1"/>
                </a:solidFill>
                <a:latin typeface="+mn-ea"/>
                <a:ea typeface="+mn-ea"/>
              </a:rPr>
              <a:t>＝</a:t>
            </a:r>
            <a:r>
              <a:rPr lang="pt-BR" altLang="zh-CN" sz="2400" dirty="0">
                <a:solidFill>
                  <a:schemeClr val="bg1"/>
                </a:solidFill>
                <a:latin typeface="+mn-ea"/>
                <a:ea typeface="+mn-ea"/>
              </a:rPr>
              <a:t>B×</a:t>
            </a:r>
            <a:r>
              <a:rPr lang="en-US" altLang="zh-CN" sz="2400" dirty="0">
                <a:solidFill>
                  <a:schemeClr val="bg1"/>
                </a:solidFill>
                <a:latin typeface="+mn-ea"/>
                <a:ea typeface="+mn-ea"/>
              </a:rPr>
              <a:t>A</a:t>
            </a:r>
            <a:endParaRPr kumimoji="1" lang="zh-CN" altLang="en-US" sz="2400" dirty="0">
              <a:solidFill>
                <a:schemeClr val="bg1"/>
              </a:solidFill>
              <a:latin typeface="+mn-ea"/>
              <a:ea typeface="+mn-ea"/>
            </a:endParaRPr>
          </a:p>
        </p:txBody>
      </p:sp>
      <p:sp>
        <p:nvSpPr>
          <p:cNvPr id="9" name="Text Box 556"/>
          <p:cNvSpPr txBox="1">
            <a:spLocks noChangeArrowheads="1"/>
          </p:cNvSpPr>
          <p:nvPr/>
        </p:nvSpPr>
        <p:spPr bwMode="auto">
          <a:xfrm>
            <a:off x="405449" y="5106194"/>
            <a:ext cx="11453123" cy="1390560"/>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effectLst/>
                <a:latin typeface="+mn-ea"/>
                <a:cs typeface="宋体" panose="02010600030101010101" pitchFamily="2" charset="-122"/>
              </a:rPr>
              <a:t>解题小贴士—</a:t>
            </a:r>
            <a:r>
              <a:rPr lang="zh-CN" b="1" kern="100" dirty="0">
                <a:solidFill>
                  <a:srgbClr val="3333FF"/>
                </a:solidFill>
                <a:effectLst/>
                <a:latin typeface="+mn-ea"/>
                <a:cs typeface="宋体" panose="02010600030101010101" pitchFamily="2" charset="-122"/>
              </a:rPr>
              <a:t>关系</a:t>
            </a: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的</a:t>
            </a:r>
            <a:r>
              <a:rPr lang="en-US" b="1" kern="100" dirty="0">
                <a:solidFill>
                  <a:srgbClr val="3333FF"/>
                </a:solidFill>
                <a:effectLst/>
                <a:latin typeface="+mn-ea"/>
                <a:cs typeface="宋体" panose="02010600030101010101" pitchFamily="2" charset="-122"/>
              </a:rPr>
              <a:t>R</a:t>
            </a:r>
            <a:r>
              <a:rPr lang="en-US" b="1" kern="100" baseline="30000" dirty="0">
                <a:solidFill>
                  <a:srgbClr val="3333FF"/>
                </a:solidFill>
                <a:effectLst/>
                <a:latin typeface="+mn-ea"/>
                <a:cs typeface="宋体" panose="02010600030101010101" pitchFamily="2" charset="-122"/>
              </a:rPr>
              <a:t>−1</a:t>
            </a:r>
            <a:r>
              <a:rPr lang="zh-CN" b="1" kern="100" dirty="0">
                <a:solidFill>
                  <a:srgbClr val="3333FF"/>
                </a:solidFill>
                <a:effectLst/>
                <a:latin typeface="+mn-ea"/>
                <a:cs typeface="宋体" panose="02010600030101010101" pitchFamily="2" charset="-122"/>
              </a:rPr>
              <a:t>的计算方法</a:t>
            </a:r>
            <a:endParaRPr lang="zh-CN" b="1" kern="100" dirty="0">
              <a:solidFill>
                <a:srgbClr val="3333FF"/>
              </a:solidFill>
              <a:effectLst/>
              <a:latin typeface="+mn-ea"/>
              <a:cs typeface="宋体" panose="02010600030101010101" pitchFamily="2" charset="-122"/>
            </a:endParaRPr>
          </a:p>
          <a:p>
            <a:pPr indent="266700" algn="just">
              <a:lnSpc>
                <a:spcPct val="150000"/>
              </a:lnSpc>
              <a:spcAft>
                <a:spcPts val="0"/>
              </a:spcAft>
            </a:pPr>
            <a:r>
              <a:rPr lang="zh-CN" b="1" kern="100" dirty="0">
                <a:effectLst/>
                <a:latin typeface="+mn-ea"/>
                <a:cs typeface="宋体" panose="02010600030101010101" pitchFamily="2" charset="-122"/>
              </a:rPr>
              <a:t>将</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中所有序偶中两个元素的位置交换即得</a:t>
            </a:r>
            <a:r>
              <a:rPr lang="en-US" b="1" kern="100" dirty="0">
                <a:effectLst/>
                <a:latin typeface="+mn-ea"/>
                <a:cs typeface="宋体" panose="02010600030101010101" pitchFamily="2" charset="-122"/>
              </a:rPr>
              <a:t>R</a:t>
            </a:r>
            <a:r>
              <a:rPr lang="en-US" b="1" kern="100" baseline="30000" dirty="0">
                <a:effectLst/>
                <a:latin typeface="+mn-ea"/>
                <a:cs typeface="宋体" panose="02010600030101010101" pitchFamily="2" charset="-122"/>
              </a:rPr>
              <a:t>−1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1472520"/>
                                        </p:tgtEl>
                                        <p:attrNameLst>
                                          <p:attrName>style.visibility</p:attrName>
                                        </p:attrNameLst>
                                      </p:cBhvr>
                                      <p:to>
                                        <p:strVal val="visible"/>
                                      </p:to>
                                    </p:set>
                                    <p:anim calcmode="lin" valueType="num">
                                      <p:cBhvr>
                                        <p:cTn id="7" dur="500" decel="50000" fill="hold">
                                          <p:stCondLst>
                                            <p:cond delay="0"/>
                                          </p:stCondLst>
                                        </p:cTn>
                                        <p:tgtEl>
                                          <p:spTgt spid="1472520"/>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472520"/>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472520"/>
                                        </p:tgtEl>
                                        <p:attrNameLst>
                                          <p:attrName>ppt_w</p:attrName>
                                        </p:attrNameLst>
                                      </p:cBhvr>
                                      <p:tavLst>
                                        <p:tav tm="0">
                                          <p:val>
                                            <p:strVal val="#ppt_w*.05"/>
                                          </p:val>
                                        </p:tav>
                                        <p:tav tm="100000">
                                          <p:val>
                                            <p:strVal val="#ppt_w"/>
                                          </p:val>
                                        </p:tav>
                                      </p:tavLst>
                                    </p:anim>
                                    <p:anim calcmode="lin" valueType="num">
                                      <p:cBhvr>
                                        <p:cTn id="10" dur="1000" fill="hold"/>
                                        <p:tgtEl>
                                          <p:spTgt spid="1472520"/>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472520"/>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472520"/>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472520"/>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4725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2520" grpId="0" animBg="1"/>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2"/>
          <p:cNvSpPr>
            <a:spLocks noGrp="1" noChangeArrowheads="1"/>
          </p:cNvSpPr>
          <p:nvPr>
            <p:ph type="title"/>
          </p:nvPr>
        </p:nvSpPr>
        <p:spPr/>
        <p:txBody>
          <a:bodyPr/>
          <a:lstStyle/>
          <a:p>
            <a:pPr eaLnBrk="1" hangingPunct="1"/>
            <a:r>
              <a:rPr lang="zh-CN" altLang="en-US" dirty="0"/>
              <a:t>例</a:t>
            </a:r>
            <a:r>
              <a:rPr lang="en-US" altLang="zh-CN" dirty="0"/>
              <a:t>4.17</a:t>
            </a:r>
            <a:endParaRPr lang="zh-CN" altLang="en-US" dirty="0"/>
          </a:p>
        </p:txBody>
      </p:sp>
      <p:sp>
        <p:nvSpPr>
          <p:cNvPr id="1474563" name="Rectangle 3"/>
          <p:cNvSpPr>
            <a:spLocks noGrp="1" noChangeArrowheads="1"/>
          </p:cNvSpPr>
          <p:nvPr>
            <p:ph type="body" idx="1"/>
          </p:nvPr>
        </p:nvSpPr>
        <p:spPr>
          <a:xfrm>
            <a:off x="384175" y="1067594"/>
            <a:ext cx="11353800" cy="4800600"/>
          </a:xfrm>
        </p:spPr>
        <p:txBody>
          <a:bodyPr>
            <a:normAutofit/>
          </a:bodyPr>
          <a:lstStyle/>
          <a:p>
            <a:pPr marL="0" indent="0">
              <a:lnSpc>
                <a:spcPct val="200000"/>
              </a:lnSpc>
              <a:buNone/>
            </a:pPr>
            <a:r>
              <a:rPr lang="zh-CN" altLang="en-US" dirty="0">
                <a:solidFill>
                  <a:srgbClr val="C00000"/>
                </a:solidFill>
              </a:rPr>
              <a:t>例</a:t>
            </a:r>
            <a:r>
              <a:rPr lang="en-US" altLang="zh-CN" dirty="0">
                <a:solidFill>
                  <a:srgbClr val="C00000"/>
                </a:solidFill>
              </a:rPr>
              <a:t>4.17  </a:t>
            </a:r>
            <a:r>
              <a:rPr lang="zh-CN" altLang="en-US" dirty="0">
                <a:solidFill>
                  <a:schemeClr val="tx1"/>
                </a:solidFill>
              </a:rPr>
              <a:t>设</a:t>
            </a:r>
            <a:r>
              <a:rPr lang="en-US" altLang="zh-CN" dirty="0">
                <a:solidFill>
                  <a:schemeClr val="tx1"/>
                </a:solidFill>
              </a:rPr>
              <a:t>A={1,2,3,4}</a:t>
            </a:r>
            <a:r>
              <a:rPr lang="zh-CN" altLang="en-US" dirty="0">
                <a:solidFill>
                  <a:schemeClr val="tx1"/>
                </a:solidFill>
              </a:rPr>
              <a:t>，</a:t>
            </a:r>
            <a:r>
              <a:rPr lang="en-US" altLang="zh-CN" dirty="0">
                <a:solidFill>
                  <a:schemeClr val="tx1"/>
                </a:solidFill>
              </a:rPr>
              <a:t>B={</a:t>
            </a:r>
            <a:r>
              <a:rPr lang="en-US" altLang="zh-CN" dirty="0" err="1">
                <a:solidFill>
                  <a:schemeClr val="tx1"/>
                </a:solidFill>
              </a:rPr>
              <a:t>a,b,c,d</a:t>
            </a:r>
            <a:r>
              <a:rPr lang="en-US" altLang="zh-CN" dirty="0">
                <a:solidFill>
                  <a:schemeClr val="tx1"/>
                </a:solidFill>
              </a:rPr>
              <a:t>}</a:t>
            </a:r>
            <a:r>
              <a:rPr lang="zh-CN" altLang="en-US" dirty="0">
                <a:solidFill>
                  <a:schemeClr val="tx1"/>
                </a:solidFill>
              </a:rPr>
              <a:t>，</a:t>
            </a:r>
            <a:r>
              <a:rPr lang="en-US" altLang="zh-CN" dirty="0">
                <a:solidFill>
                  <a:schemeClr val="tx1"/>
                </a:solidFill>
              </a:rPr>
              <a:t>C={2,3,4,5}</a:t>
            </a:r>
            <a:r>
              <a:rPr lang="zh-CN" altLang="en-US" dirty="0">
                <a:solidFill>
                  <a:schemeClr val="tx1"/>
                </a:solidFill>
              </a:rPr>
              <a:t>，</a:t>
            </a:r>
            <a:endParaRPr lang="en-US" altLang="zh-CN" dirty="0">
              <a:solidFill>
                <a:schemeClr val="tx1"/>
              </a:solidFill>
            </a:endParaRPr>
          </a:p>
          <a:p>
            <a:pPr marL="0" indent="0">
              <a:lnSpc>
                <a:spcPct val="200000"/>
              </a:lnSpc>
              <a:buNone/>
            </a:pPr>
            <a:r>
              <a:rPr lang="pt-BR" altLang="zh-CN" dirty="0"/>
              <a:t>            R</a:t>
            </a:r>
            <a:r>
              <a:rPr lang="zh-CN" altLang="zh-CN" dirty="0"/>
              <a:t>：</a:t>
            </a:r>
            <a:r>
              <a:rPr lang="pt-BR" altLang="zh-CN" dirty="0"/>
              <a:t>A→B</a:t>
            </a:r>
            <a:r>
              <a:rPr lang="zh-CN" altLang="en-US" dirty="0">
                <a:solidFill>
                  <a:schemeClr val="tx1"/>
                </a:solidFill>
              </a:rPr>
              <a:t>且</a:t>
            </a:r>
            <a:r>
              <a:rPr lang="en-US" altLang="zh-CN" dirty="0">
                <a:solidFill>
                  <a:schemeClr val="tx1"/>
                </a:solidFill>
              </a:rPr>
              <a:t>R={&lt;1,a&gt;, &lt;2,c&gt;,&lt;3,b&gt;,&lt;4,b&gt;,&lt;4,d&gt;}</a:t>
            </a:r>
            <a:endParaRPr lang="en-US" altLang="zh-CN" dirty="0">
              <a:solidFill>
                <a:schemeClr val="tx1"/>
              </a:solidFill>
            </a:endParaRPr>
          </a:p>
          <a:p>
            <a:pPr marL="0" indent="0">
              <a:lnSpc>
                <a:spcPct val="200000"/>
              </a:lnSpc>
              <a:buNone/>
            </a:pPr>
            <a:r>
              <a:rPr lang="pt-BR" altLang="zh-CN" dirty="0"/>
              <a:t>           S</a:t>
            </a:r>
            <a:r>
              <a:rPr lang="zh-CN" altLang="zh-CN" dirty="0"/>
              <a:t>：</a:t>
            </a:r>
            <a:r>
              <a:rPr lang="pt-BR" altLang="zh-CN" dirty="0"/>
              <a:t>B→C</a:t>
            </a:r>
            <a:r>
              <a:rPr lang="zh-CN" altLang="en-US" dirty="0">
                <a:solidFill>
                  <a:schemeClr val="tx1"/>
                </a:solidFill>
              </a:rPr>
              <a:t>且</a:t>
            </a:r>
            <a:r>
              <a:rPr lang="en-US" altLang="zh-CN" dirty="0">
                <a:solidFill>
                  <a:schemeClr val="tx1"/>
                </a:solidFill>
              </a:rPr>
              <a:t>S={&lt;a,2&gt;, &lt;b,4&gt;, &lt;c,3&gt;,&lt;c,5&gt;, &lt;d,5&gt;}</a:t>
            </a:r>
            <a:endParaRPr lang="zh-CN" altLang="en-US" dirty="0">
              <a:solidFill>
                <a:schemeClr val="tx1"/>
              </a:solidFill>
            </a:endParaRPr>
          </a:p>
          <a:p>
            <a:pPr marL="0" indent="0">
              <a:lnSpc>
                <a:spcPct val="200000"/>
              </a:lnSpc>
              <a:buNone/>
            </a:pPr>
            <a:r>
              <a:rPr lang="zh-CN" altLang="en-US" dirty="0">
                <a:solidFill>
                  <a:schemeClr val="tx1"/>
                </a:solidFill>
              </a:rPr>
              <a:t>（</a:t>
            </a:r>
            <a:r>
              <a:rPr lang="en-US" altLang="zh-CN" dirty="0">
                <a:solidFill>
                  <a:schemeClr val="tx1"/>
                </a:solidFill>
              </a:rPr>
              <a:t>1</a:t>
            </a:r>
            <a:r>
              <a:rPr lang="zh-CN" altLang="en-US" dirty="0">
                <a:solidFill>
                  <a:schemeClr val="tx1"/>
                </a:solidFill>
              </a:rPr>
              <a:t>）计算</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，并画出</a:t>
            </a:r>
            <a:r>
              <a:rPr lang="en-US" altLang="zh-CN" dirty="0">
                <a:solidFill>
                  <a:schemeClr val="tx1"/>
                </a:solidFill>
              </a:rPr>
              <a:t>R</a:t>
            </a:r>
            <a:r>
              <a:rPr lang="zh-CN" altLang="en-US" dirty="0">
                <a:solidFill>
                  <a:schemeClr val="tx1"/>
                </a:solidFill>
              </a:rPr>
              <a:t>和</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的关系图。</a:t>
            </a:r>
            <a:endParaRPr lang="zh-CN" altLang="en-US" dirty="0">
              <a:solidFill>
                <a:schemeClr val="tx1"/>
              </a:solidFill>
            </a:endParaRPr>
          </a:p>
          <a:p>
            <a:pPr marL="0" indent="0">
              <a:lnSpc>
                <a:spcPct val="200000"/>
              </a:lnSpc>
              <a:buNone/>
            </a:pPr>
            <a:r>
              <a:rPr lang="zh-CN" altLang="en-US" dirty="0">
                <a:solidFill>
                  <a:schemeClr val="tx1"/>
                </a:solidFill>
              </a:rPr>
              <a:t>（</a:t>
            </a:r>
            <a:r>
              <a:rPr lang="en-US" altLang="zh-CN" dirty="0">
                <a:solidFill>
                  <a:schemeClr val="tx1"/>
                </a:solidFill>
              </a:rPr>
              <a:t>2</a:t>
            </a:r>
            <a:r>
              <a:rPr lang="zh-CN" altLang="en-US" dirty="0">
                <a:solidFill>
                  <a:schemeClr val="tx1"/>
                </a:solidFill>
              </a:rPr>
              <a:t>）写出</a:t>
            </a:r>
            <a:r>
              <a:rPr lang="en-US" altLang="zh-CN" dirty="0">
                <a:solidFill>
                  <a:schemeClr val="tx1"/>
                </a:solidFill>
              </a:rPr>
              <a:t>R</a:t>
            </a:r>
            <a:r>
              <a:rPr lang="zh-CN" altLang="en-US" dirty="0">
                <a:solidFill>
                  <a:schemeClr val="tx1"/>
                </a:solidFill>
              </a:rPr>
              <a:t>和</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的关系矩阵。</a:t>
            </a:r>
            <a:endParaRPr lang="zh-CN" altLang="en-US" dirty="0">
              <a:solidFill>
                <a:schemeClr val="tx1"/>
              </a:solidFill>
            </a:endParaRPr>
          </a:p>
          <a:p>
            <a:pPr marL="0" indent="0">
              <a:lnSpc>
                <a:spcPct val="200000"/>
              </a:lnSpc>
              <a:buNone/>
            </a:pPr>
            <a:r>
              <a:rPr lang="zh-CN" altLang="en-US" dirty="0">
                <a:solidFill>
                  <a:schemeClr val="tx1"/>
                </a:solidFill>
              </a:rPr>
              <a:t>（</a:t>
            </a:r>
            <a:r>
              <a:rPr lang="en-US" altLang="zh-CN" dirty="0">
                <a:solidFill>
                  <a:schemeClr val="tx1"/>
                </a:solidFill>
              </a:rPr>
              <a:t>3</a:t>
            </a:r>
            <a:r>
              <a:rPr lang="zh-CN" altLang="en-US" dirty="0">
                <a:solidFill>
                  <a:schemeClr val="tx1"/>
                </a:solidFill>
              </a:rPr>
              <a:t>）计算</a:t>
            </a:r>
            <a:r>
              <a:rPr lang="en-US" altLang="zh-CN" dirty="0">
                <a:solidFill>
                  <a:schemeClr val="tx1"/>
                </a:solidFill>
              </a:rPr>
              <a:t>(</a:t>
            </a:r>
            <a:r>
              <a:rPr lang="en-US" altLang="zh-CN" dirty="0" err="1">
                <a:solidFill>
                  <a:schemeClr val="tx1"/>
                </a:solidFill>
              </a:rPr>
              <a:t>RoS</a:t>
            </a:r>
            <a:r>
              <a:rPr lang="en-US" altLang="zh-CN" dirty="0">
                <a:solidFill>
                  <a:schemeClr val="tx1"/>
                </a:solidFill>
              </a:rPr>
              <a:t>)</a:t>
            </a:r>
            <a:r>
              <a:rPr lang="en-US" altLang="zh-CN" baseline="30000" dirty="0">
                <a:solidFill>
                  <a:schemeClr val="tx1"/>
                </a:solidFill>
              </a:rPr>
              <a:t>-1</a:t>
            </a:r>
            <a:r>
              <a:rPr lang="zh-CN" altLang="en-US" dirty="0">
                <a:solidFill>
                  <a:schemeClr val="tx1"/>
                </a:solidFill>
              </a:rPr>
              <a:t>和</a:t>
            </a:r>
            <a:r>
              <a:rPr lang="en-US" altLang="zh-CN" dirty="0">
                <a:solidFill>
                  <a:schemeClr val="tx1"/>
                </a:solidFill>
              </a:rPr>
              <a:t>S</a:t>
            </a:r>
            <a:r>
              <a:rPr lang="en-US" altLang="zh-CN" baseline="30000" dirty="0">
                <a:solidFill>
                  <a:schemeClr val="tx1"/>
                </a:solidFill>
              </a:rPr>
              <a:t>-1o</a:t>
            </a:r>
            <a:r>
              <a:rPr lang="en-US" altLang="zh-CN" dirty="0">
                <a:solidFill>
                  <a:schemeClr val="tx1"/>
                </a:solidFill>
              </a:rPr>
              <a:t>R</a:t>
            </a:r>
            <a:r>
              <a:rPr lang="en-US" altLang="zh-CN" baseline="30000" dirty="0">
                <a:solidFill>
                  <a:schemeClr val="tx1"/>
                </a:solidFill>
              </a:rPr>
              <a:t>-1</a:t>
            </a:r>
            <a:r>
              <a:rPr lang="zh-CN" altLang="en-US" dirty="0">
                <a:solidFill>
                  <a:schemeClr val="tx1"/>
                </a:solidFill>
              </a:rPr>
              <a:t>。</a:t>
            </a:r>
            <a:endParaRPr lang="zh-CN" altLang="en-US" dirty="0">
              <a:solidFill>
                <a:schemeClr val="tx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p:txBody>
          <a:bodyPr/>
          <a:lstStyle/>
          <a:p>
            <a:pPr eaLnBrk="1" hangingPunct="1"/>
            <a:r>
              <a:rPr lang="zh-CN" altLang="en-US" dirty="0"/>
              <a:t>例</a:t>
            </a:r>
            <a:r>
              <a:rPr lang="en-US" altLang="zh-CN" dirty="0"/>
              <a:t>4.17</a:t>
            </a:r>
            <a:r>
              <a:rPr lang="zh-CN" altLang="en-US" dirty="0"/>
              <a:t>（续）</a:t>
            </a:r>
            <a:endParaRPr lang="zh-CN" altLang="en-US" dirty="0"/>
          </a:p>
        </p:txBody>
      </p:sp>
      <p:sp>
        <p:nvSpPr>
          <p:cNvPr id="1476611" name="Rectangle 3"/>
          <p:cNvSpPr>
            <a:spLocks noGrp="1" noChangeArrowheads="1"/>
          </p:cNvSpPr>
          <p:nvPr>
            <p:ph type="body" idx="1"/>
          </p:nvPr>
        </p:nvSpPr>
        <p:spPr>
          <a:xfrm>
            <a:off x="534494" y="1083720"/>
            <a:ext cx="11127281" cy="2107893"/>
          </a:xfrm>
        </p:spPr>
        <p:txBody>
          <a:bodyPr>
            <a:normAutofit/>
          </a:bodyPr>
          <a:lstStyle/>
          <a:p>
            <a:pPr marL="0" indent="0">
              <a:lnSpc>
                <a:spcPct val="150000"/>
              </a:lnSpc>
              <a:spcBef>
                <a:spcPct val="10000"/>
              </a:spcBef>
              <a:buNone/>
            </a:pPr>
            <a:r>
              <a:rPr lang="en-US" altLang="zh-CN" dirty="0"/>
              <a:t>(1)R</a:t>
            </a:r>
            <a:r>
              <a:rPr lang="en-US" altLang="zh-CN" baseline="30000" dirty="0"/>
              <a:t>-1</a:t>
            </a:r>
            <a:r>
              <a:rPr lang="en-US" altLang="zh-CN" dirty="0"/>
              <a:t>={&lt;1,a&gt;,&lt;2,c&gt;,&lt;3,b&gt;,&lt;4,b&gt;,&lt;4,d&gt;}</a:t>
            </a:r>
            <a:r>
              <a:rPr lang="en-US" altLang="zh-CN" baseline="30000" dirty="0"/>
              <a:t>-1</a:t>
            </a:r>
            <a:endParaRPr lang="en-US" altLang="zh-CN" baseline="30000" dirty="0"/>
          </a:p>
          <a:p>
            <a:pPr marL="0" indent="0">
              <a:lnSpc>
                <a:spcPct val="150000"/>
              </a:lnSpc>
              <a:spcBef>
                <a:spcPct val="10000"/>
              </a:spcBef>
              <a:buNone/>
            </a:pPr>
            <a:r>
              <a:rPr lang="en-US" altLang="zh-CN" dirty="0"/>
              <a:t>     ={&lt;a,1&gt;,&lt;c,2&gt;,&lt;b,3&gt;,&lt;b,4&gt;,&lt;d,4&gt;}</a:t>
            </a:r>
            <a:endParaRPr lang="zh-CN" altLang="en-US" dirty="0"/>
          </a:p>
          <a:p>
            <a:pPr marL="0" indent="0">
              <a:lnSpc>
                <a:spcPct val="150000"/>
              </a:lnSpc>
              <a:spcBef>
                <a:spcPct val="10000"/>
              </a:spcBef>
              <a:buNone/>
            </a:pPr>
            <a:r>
              <a:rPr lang="en-US" altLang="zh-CN" dirty="0"/>
              <a:t>R</a:t>
            </a:r>
            <a:r>
              <a:rPr lang="zh-CN" altLang="en-US" dirty="0"/>
              <a:t>和</a:t>
            </a:r>
            <a:r>
              <a:rPr lang="en-US" altLang="zh-CN" dirty="0"/>
              <a:t>R</a:t>
            </a:r>
            <a:r>
              <a:rPr lang="en-US" altLang="zh-CN" baseline="30000" dirty="0"/>
              <a:t>-1</a:t>
            </a:r>
            <a:r>
              <a:rPr lang="zh-CN" altLang="en-US" dirty="0"/>
              <a:t>的关系图分别见下面的左图与右图。</a:t>
            </a:r>
            <a:endParaRPr lang="zh-CN" altLang="en-US" dirty="0"/>
          </a:p>
        </p:txBody>
      </p:sp>
      <p:grpSp>
        <p:nvGrpSpPr>
          <p:cNvPr id="58" name="Group 65"/>
          <p:cNvGrpSpPr/>
          <p:nvPr/>
        </p:nvGrpSpPr>
        <p:grpSpPr bwMode="auto">
          <a:xfrm>
            <a:off x="1314450" y="3246439"/>
            <a:ext cx="2105025" cy="2679700"/>
            <a:chOff x="628" y="2045"/>
            <a:chExt cx="1326" cy="1688"/>
          </a:xfrm>
        </p:grpSpPr>
        <p:sp>
          <p:nvSpPr>
            <p:cNvPr id="59" name="Freeform 6"/>
            <p:cNvSpPr>
              <a:spLocks noChangeAspect="1"/>
            </p:cNvSpPr>
            <p:nvPr/>
          </p:nvSpPr>
          <p:spPr bwMode="auto">
            <a:xfrm>
              <a:off x="849" y="3648"/>
              <a:ext cx="813" cy="2"/>
            </a:xfrm>
            <a:custGeom>
              <a:avLst/>
              <a:gdLst>
                <a:gd name="T0" fmla="*/ 0 w 703"/>
                <a:gd name="T1" fmla="*/ 0 h 1"/>
                <a:gd name="T2" fmla="*/ 17215 w 703"/>
                <a:gd name="T3" fmla="*/ 0 h 1"/>
                <a:gd name="T4" fmla="*/ 0 60000 65536"/>
                <a:gd name="T5" fmla="*/ 0 60000 65536"/>
                <a:gd name="T6" fmla="*/ 0 w 703"/>
                <a:gd name="T7" fmla="*/ 0 h 1"/>
                <a:gd name="T8" fmla="*/ 703 w 703"/>
                <a:gd name="T9" fmla="*/ 1 h 1"/>
              </a:gdLst>
              <a:ahLst/>
              <a:cxnLst>
                <a:cxn ang="T4">
                  <a:pos x="T0" y="T1"/>
                </a:cxn>
                <a:cxn ang="T5">
                  <a:pos x="T2" y="T3"/>
                </a:cxn>
              </a:cxnLst>
              <a:rect l="T6" t="T7" r="T8" b="T9"/>
              <a:pathLst>
                <a:path w="703" h="1">
                  <a:moveTo>
                    <a:pt x="0" y="0"/>
                  </a:moveTo>
                  <a:lnTo>
                    <a:pt x="703"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0" name="Freeform 7"/>
            <p:cNvSpPr>
              <a:spLocks noChangeAspect="1"/>
            </p:cNvSpPr>
            <p:nvPr/>
          </p:nvSpPr>
          <p:spPr bwMode="auto">
            <a:xfrm>
              <a:off x="837" y="3016"/>
              <a:ext cx="860" cy="641"/>
            </a:xfrm>
            <a:custGeom>
              <a:avLst/>
              <a:gdLst>
                <a:gd name="T0" fmla="*/ 0 w 743"/>
                <a:gd name="T1" fmla="*/ 287 h 666"/>
                <a:gd name="T2" fmla="*/ 18536 w 743"/>
                <a:gd name="T3" fmla="*/ 0 h 666"/>
                <a:gd name="T4" fmla="*/ 0 60000 65536"/>
                <a:gd name="T5" fmla="*/ 0 60000 65536"/>
                <a:gd name="T6" fmla="*/ 0 w 743"/>
                <a:gd name="T7" fmla="*/ 0 h 666"/>
                <a:gd name="T8" fmla="*/ 743 w 743"/>
                <a:gd name="T9" fmla="*/ 666 h 666"/>
              </a:gdLst>
              <a:ahLst/>
              <a:cxnLst>
                <a:cxn ang="T4">
                  <a:pos x="T0" y="T1"/>
                </a:cxn>
                <a:cxn ang="T5">
                  <a:pos x="T2" y="T3"/>
                </a:cxn>
              </a:cxnLst>
              <a:rect l="T6" t="T7" r="T8" b="T9"/>
              <a:pathLst>
                <a:path w="743" h="666">
                  <a:moveTo>
                    <a:pt x="0" y="666"/>
                  </a:moveTo>
                  <a:lnTo>
                    <a:pt x="743"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1" name="Freeform 8"/>
            <p:cNvSpPr>
              <a:spLocks noChangeAspect="1"/>
            </p:cNvSpPr>
            <p:nvPr/>
          </p:nvSpPr>
          <p:spPr bwMode="auto">
            <a:xfrm>
              <a:off x="833" y="2959"/>
              <a:ext cx="836" cy="319"/>
            </a:xfrm>
            <a:custGeom>
              <a:avLst/>
              <a:gdLst>
                <a:gd name="T0" fmla="*/ 0 w 723"/>
                <a:gd name="T1" fmla="*/ 0 h 330"/>
                <a:gd name="T2" fmla="*/ 17650 w 723"/>
                <a:gd name="T3" fmla="*/ 156 h 330"/>
                <a:gd name="T4" fmla="*/ 0 60000 65536"/>
                <a:gd name="T5" fmla="*/ 0 60000 65536"/>
                <a:gd name="T6" fmla="*/ 0 w 723"/>
                <a:gd name="T7" fmla="*/ 0 h 330"/>
                <a:gd name="T8" fmla="*/ 723 w 723"/>
                <a:gd name="T9" fmla="*/ 330 h 330"/>
              </a:gdLst>
              <a:ahLst/>
              <a:cxnLst>
                <a:cxn ang="T4">
                  <a:pos x="T0" y="T1"/>
                </a:cxn>
                <a:cxn ang="T5">
                  <a:pos x="T2" y="T3"/>
                </a:cxn>
              </a:cxnLst>
              <a:rect l="T6" t="T7" r="T8" b="T9"/>
              <a:pathLst>
                <a:path w="723" h="330">
                  <a:moveTo>
                    <a:pt x="0" y="0"/>
                  </a:moveTo>
                  <a:lnTo>
                    <a:pt x="723" y="33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2" name="Freeform 10"/>
            <p:cNvSpPr>
              <a:spLocks noChangeAspect="1"/>
            </p:cNvSpPr>
            <p:nvPr/>
          </p:nvSpPr>
          <p:spPr bwMode="auto">
            <a:xfrm>
              <a:off x="849" y="2971"/>
              <a:ext cx="824" cy="294"/>
            </a:xfrm>
            <a:custGeom>
              <a:avLst/>
              <a:gdLst>
                <a:gd name="T0" fmla="*/ 0 w 713"/>
                <a:gd name="T1" fmla="*/ 127 h 306"/>
                <a:gd name="T2" fmla="*/ 17190 w 713"/>
                <a:gd name="T3" fmla="*/ 0 h 306"/>
                <a:gd name="T4" fmla="*/ 0 60000 65536"/>
                <a:gd name="T5" fmla="*/ 0 60000 65536"/>
                <a:gd name="T6" fmla="*/ 0 w 713"/>
                <a:gd name="T7" fmla="*/ 0 h 306"/>
                <a:gd name="T8" fmla="*/ 713 w 713"/>
                <a:gd name="T9" fmla="*/ 306 h 306"/>
              </a:gdLst>
              <a:ahLst/>
              <a:cxnLst>
                <a:cxn ang="T4">
                  <a:pos x="T0" y="T1"/>
                </a:cxn>
                <a:cxn ang="T5">
                  <a:pos x="T2" y="T3"/>
                </a:cxn>
              </a:cxnLst>
              <a:rect l="T6" t="T7" r="T8" b="T9"/>
              <a:pathLst>
                <a:path w="713" h="306">
                  <a:moveTo>
                    <a:pt x="0" y="306"/>
                  </a:moveTo>
                  <a:lnTo>
                    <a:pt x="713"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4" name="Text Box 36"/>
            <p:cNvSpPr txBox="1">
              <a:spLocks noChangeAspect="1" noChangeArrowheads="1"/>
            </p:cNvSpPr>
            <p:nvPr/>
          </p:nvSpPr>
          <p:spPr bwMode="auto">
            <a:xfrm>
              <a:off x="1221" y="2045"/>
              <a:ext cx="136" cy="230"/>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R</a:t>
              </a:r>
              <a:endParaRPr lang="en-US" altLang="zh-CN" sz="2400">
                <a:solidFill>
                  <a:srgbClr val="FF0000"/>
                </a:solidFill>
              </a:endParaRPr>
            </a:p>
          </p:txBody>
        </p:sp>
        <p:sp>
          <p:nvSpPr>
            <p:cNvPr id="65" name="Text Box 39"/>
            <p:cNvSpPr txBox="1">
              <a:spLocks noChangeAspect="1" noChangeArrowheads="1"/>
            </p:cNvSpPr>
            <p:nvPr/>
          </p:nvSpPr>
          <p:spPr bwMode="auto">
            <a:xfrm>
              <a:off x="628"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endParaRPr lang="en-US" altLang="zh-CN" sz="2400">
                <a:solidFill>
                  <a:srgbClr val="FF0000"/>
                </a:solidFill>
              </a:endParaRPr>
            </a:p>
          </p:txBody>
        </p:sp>
        <p:sp>
          <p:nvSpPr>
            <p:cNvPr id="66" name="Text Box 42"/>
            <p:cNvSpPr txBox="1">
              <a:spLocks noChangeAspect="1" noChangeArrowheads="1"/>
            </p:cNvSpPr>
            <p:nvPr/>
          </p:nvSpPr>
          <p:spPr bwMode="auto">
            <a:xfrm>
              <a:off x="628"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endParaRPr lang="en-US" altLang="zh-CN" sz="2400">
                <a:solidFill>
                  <a:srgbClr val="FF0000"/>
                </a:solidFill>
              </a:endParaRPr>
            </a:p>
          </p:txBody>
        </p:sp>
        <p:sp>
          <p:nvSpPr>
            <p:cNvPr id="67" name="Text Box 45"/>
            <p:cNvSpPr txBox="1">
              <a:spLocks noChangeAspect="1" noChangeArrowheads="1"/>
            </p:cNvSpPr>
            <p:nvPr/>
          </p:nvSpPr>
          <p:spPr bwMode="auto">
            <a:xfrm>
              <a:off x="628"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endParaRPr lang="en-US" altLang="zh-CN" sz="2400">
                <a:solidFill>
                  <a:srgbClr val="FF0000"/>
                </a:solidFill>
              </a:endParaRPr>
            </a:p>
          </p:txBody>
        </p:sp>
        <p:sp>
          <p:nvSpPr>
            <p:cNvPr id="68" name="Text Box 48"/>
            <p:cNvSpPr txBox="1">
              <a:spLocks noChangeAspect="1" noChangeArrowheads="1"/>
            </p:cNvSpPr>
            <p:nvPr/>
          </p:nvSpPr>
          <p:spPr bwMode="auto">
            <a:xfrm>
              <a:off x="628"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4</a:t>
              </a:r>
              <a:endParaRPr lang="en-US" altLang="zh-CN" sz="2400">
                <a:solidFill>
                  <a:srgbClr val="FF0000"/>
                </a:solidFill>
              </a:endParaRPr>
            </a:p>
          </p:txBody>
        </p:sp>
        <p:sp>
          <p:nvSpPr>
            <p:cNvPr id="69" name="Text Box 52"/>
            <p:cNvSpPr txBox="1">
              <a:spLocks noChangeAspect="1" noChangeArrowheads="1"/>
            </p:cNvSpPr>
            <p:nvPr/>
          </p:nvSpPr>
          <p:spPr bwMode="auto">
            <a:xfrm>
              <a:off x="1815"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endParaRPr lang="en-US" altLang="zh-CN" sz="2400">
                <a:solidFill>
                  <a:srgbClr val="FF0000"/>
                </a:solidFill>
              </a:endParaRPr>
            </a:p>
          </p:txBody>
        </p:sp>
        <p:sp>
          <p:nvSpPr>
            <p:cNvPr id="70" name="Text Box 53"/>
            <p:cNvSpPr txBox="1">
              <a:spLocks noChangeAspect="1" noChangeArrowheads="1"/>
            </p:cNvSpPr>
            <p:nvPr/>
          </p:nvSpPr>
          <p:spPr bwMode="auto">
            <a:xfrm>
              <a:off x="1815"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endParaRPr lang="en-US" altLang="zh-CN" sz="2400">
                <a:solidFill>
                  <a:srgbClr val="FF0000"/>
                </a:solidFill>
              </a:endParaRPr>
            </a:p>
          </p:txBody>
        </p:sp>
        <p:sp>
          <p:nvSpPr>
            <p:cNvPr id="71" name="Text Box 54"/>
            <p:cNvSpPr txBox="1">
              <a:spLocks noChangeAspect="1" noChangeArrowheads="1"/>
            </p:cNvSpPr>
            <p:nvPr/>
          </p:nvSpPr>
          <p:spPr bwMode="auto">
            <a:xfrm>
              <a:off x="1815"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endParaRPr lang="en-US" altLang="zh-CN" sz="2400">
                <a:solidFill>
                  <a:srgbClr val="FF0000"/>
                </a:solidFill>
              </a:endParaRPr>
            </a:p>
          </p:txBody>
        </p:sp>
        <p:sp>
          <p:nvSpPr>
            <p:cNvPr id="72" name="Freeform 55"/>
            <p:cNvSpPr>
              <a:spLocks noChangeAspect="1"/>
            </p:cNvSpPr>
            <p:nvPr/>
          </p:nvSpPr>
          <p:spPr bwMode="auto">
            <a:xfrm>
              <a:off x="849" y="2582"/>
              <a:ext cx="836" cy="1"/>
            </a:xfrm>
            <a:custGeom>
              <a:avLst/>
              <a:gdLst>
                <a:gd name="T0" fmla="*/ 0 w 723"/>
                <a:gd name="T1" fmla="*/ 0 h 1"/>
                <a:gd name="T2" fmla="*/ 17650 w 723"/>
                <a:gd name="T3" fmla="*/ 0 h 1"/>
                <a:gd name="T4" fmla="*/ 0 60000 65536"/>
                <a:gd name="T5" fmla="*/ 0 60000 65536"/>
                <a:gd name="T6" fmla="*/ 0 w 723"/>
                <a:gd name="T7" fmla="*/ 0 h 1"/>
                <a:gd name="T8" fmla="*/ 723 w 723"/>
                <a:gd name="T9" fmla="*/ 1 h 1"/>
              </a:gdLst>
              <a:ahLst/>
              <a:cxnLst>
                <a:cxn ang="T4">
                  <a:pos x="T0" y="T1"/>
                </a:cxn>
                <a:cxn ang="T5">
                  <a:pos x="T2" y="T3"/>
                </a:cxn>
              </a:cxnLst>
              <a:rect l="T6" t="T7" r="T8" b="T9"/>
              <a:pathLst>
                <a:path w="723" h="1">
                  <a:moveTo>
                    <a:pt x="0" y="0"/>
                  </a:moveTo>
                  <a:lnTo>
                    <a:pt x="723"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3" name="Freeform 56"/>
            <p:cNvSpPr>
              <a:spLocks noChangeAspect="1"/>
            </p:cNvSpPr>
            <p:nvPr/>
          </p:nvSpPr>
          <p:spPr bwMode="auto">
            <a:xfrm>
              <a:off x="797" y="2272"/>
              <a:ext cx="984" cy="1"/>
            </a:xfrm>
            <a:custGeom>
              <a:avLst/>
              <a:gdLst>
                <a:gd name="T0" fmla="*/ 0 w 740"/>
                <a:gd name="T1" fmla="*/ 0 h 1"/>
                <a:gd name="T2" fmla="*/ 390562 w 740"/>
                <a:gd name="T3" fmla="*/ 0 h 1"/>
                <a:gd name="T4" fmla="*/ 0 60000 65536"/>
                <a:gd name="T5" fmla="*/ 0 60000 65536"/>
                <a:gd name="T6" fmla="*/ 0 w 740"/>
                <a:gd name="T7" fmla="*/ 0 h 1"/>
                <a:gd name="T8" fmla="*/ 740 w 740"/>
                <a:gd name="T9" fmla="*/ 1 h 1"/>
              </a:gdLst>
              <a:ahLst/>
              <a:cxnLst>
                <a:cxn ang="T4">
                  <a:pos x="T0" y="T1"/>
                </a:cxn>
                <a:cxn ang="T5">
                  <a:pos x="T2" y="T3"/>
                </a:cxn>
              </a:cxnLst>
              <a:rect l="T6" t="T7" r="T8" b="T9"/>
              <a:pathLst>
                <a:path w="740" h="1">
                  <a:moveTo>
                    <a:pt x="0" y="0"/>
                  </a:moveTo>
                  <a:lnTo>
                    <a:pt x="74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4" name="Text Box 59"/>
            <p:cNvSpPr txBox="1">
              <a:spLocks noChangeAspect="1" noChangeArrowheads="1"/>
            </p:cNvSpPr>
            <p:nvPr/>
          </p:nvSpPr>
          <p:spPr bwMode="auto">
            <a:xfrm>
              <a:off x="1818"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c</a:t>
              </a:r>
              <a:endParaRPr lang="en-US" altLang="zh-CN" sz="2400">
                <a:solidFill>
                  <a:srgbClr val="FF0000"/>
                </a:solidFill>
              </a:endParaRPr>
            </a:p>
          </p:txBody>
        </p:sp>
        <p:sp>
          <p:nvSpPr>
            <p:cNvPr id="75" name="Text Box 62"/>
            <p:cNvSpPr txBox="1">
              <a:spLocks noChangeAspect="1" noChangeArrowheads="1"/>
            </p:cNvSpPr>
            <p:nvPr/>
          </p:nvSpPr>
          <p:spPr bwMode="auto">
            <a:xfrm>
              <a:off x="1815" y="21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endParaRPr lang="en-US" altLang="zh-CN" sz="2400">
                <a:solidFill>
                  <a:srgbClr val="FF0000"/>
                </a:solidFill>
              </a:endParaRPr>
            </a:p>
          </p:txBody>
        </p:sp>
        <p:sp>
          <p:nvSpPr>
            <p:cNvPr id="76" name="Text Box 63"/>
            <p:cNvSpPr txBox="1">
              <a:spLocks noChangeAspect="1" noChangeArrowheads="1"/>
            </p:cNvSpPr>
            <p:nvPr/>
          </p:nvSpPr>
          <p:spPr bwMode="auto">
            <a:xfrm>
              <a:off x="628" y="21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endParaRPr lang="en-US" altLang="zh-CN" sz="2400">
                <a:solidFill>
                  <a:srgbClr val="FF0000"/>
                </a:solidFill>
              </a:endParaRPr>
            </a:p>
          </p:txBody>
        </p:sp>
        <p:sp>
          <p:nvSpPr>
            <p:cNvPr id="77" name="Oval 38"/>
            <p:cNvSpPr>
              <a:spLocks noChangeArrowheads="1"/>
            </p:cNvSpPr>
            <p:nvPr/>
          </p:nvSpPr>
          <p:spPr bwMode="auto">
            <a:xfrm>
              <a:off x="790" y="2537"/>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78" name="Oval 41"/>
            <p:cNvSpPr>
              <a:spLocks noChangeArrowheads="1"/>
            </p:cNvSpPr>
            <p:nvPr/>
          </p:nvSpPr>
          <p:spPr bwMode="auto">
            <a:xfrm>
              <a:off x="790" y="2896"/>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79" name="Oval 44"/>
            <p:cNvSpPr>
              <a:spLocks noChangeArrowheads="1"/>
            </p:cNvSpPr>
            <p:nvPr/>
          </p:nvSpPr>
          <p:spPr bwMode="auto">
            <a:xfrm>
              <a:off x="790" y="3242"/>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0" name="Oval 47"/>
            <p:cNvSpPr>
              <a:spLocks noChangeArrowheads="1"/>
            </p:cNvSpPr>
            <p:nvPr/>
          </p:nvSpPr>
          <p:spPr bwMode="auto">
            <a:xfrm>
              <a:off x="790" y="3603"/>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1" name="Oval 49"/>
            <p:cNvSpPr>
              <a:spLocks noChangeArrowheads="1"/>
            </p:cNvSpPr>
            <p:nvPr/>
          </p:nvSpPr>
          <p:spPr bwMode="auto">
            <a:xfrm>
              <a:off x="1670" y="2537"/>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2" name="Oval 50"/>
            <p:cNvSpPr>
              <a:spLocks noChangeArrowheads="1"/>
            </p:cNvSpPr>
            <p:nvPr/>
          </p:nvSpPr>
          <p:spPr bwMode="auto">
            <a:xfrm>
              <a:off x="1670" y="3603"/>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3" name="Oval 51"/>
            <p:cNvSpPr>
              <a:spLocks noChangeArrowheads="1"/>
            </p:cNvSpPr>
            <p:nvPr/>
          </p:nvSpPr>
          <p:spPr bwMode="auto">
            <a:xfrm>
              <a:off x="1670" y="2934"/>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4" name="Oval 57"/>
            <p:cNvSpPr>
              <a:spLocks noChangeArrowheads="1"/>
            </p:cNvSpPr>
            <p:nvPr/>
          </p:nvSpPr>
          <p:spPr bwMode="auto">
            <a:xfrm>
              <a:off x="1670" y="3260"/>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pSp>
      <p:grpSp>
        <p:nvGrpSpPr>
          <p:cNvPr id="85" name="Group 66"/>
          <p:cNvGrpSpPr/>
          <p:nvPr/>
        </p:nvGrpSpPr>
        <p:grpSpPr bwMode="auto">
          <a:xfrm>
            <a:off x="6681790" y="3159921"/>
            <a:ext cx="2097087" cy="2679700"/>
            <a:chOff x="3608" y="2045"/>
            <a:chExt cx="1321" cy="1688"/>
          </a:xfrm>
        </p:grpSpPr>
        <p:sp>
          <p:nvSpPr>
            <p:cNvPr id="86" name="Freeform 5"/>
            <p:cNvSpPr>
              <a:spLocks noChangeAspect="1"/>
            </p:cNvSpPr>
            <p:nvPr/>
          </p:nvSpPr>
          <p:spPr bwMode="auto">
            <a:xfrm>
              <a:off x="3817" y="2950"/>
              <a:ext cx="830" cy="661"/>
            </a:xfrm>
            <a:custGeom>
              <a:avLst/>
              <a:gdLst>
                <a:gd name="T0" fmla="*/ 0 w 717"/>
                <a:gd name="T1" fmla="*/ 0 h 686"/>
                <a:gd name="T2" fmla="*/ 17936 w 717"/>
                <a:gd name="T3" fmla="*/ 304 h 686"/>
                <a:gd name="T4" fmla="*/ 0 60000 65536"/>
                <a:gd name="T5" fmla="*/ 0 60000 65536"/>
                <a:gd name="T6" fmla="*/ 0 w 717"/>
                <a:gd name="T7" fmla="*/ 0 h 686"/>
                <a:gd name="T8" fmla="*/ 717 w 717"/>
                <a:gd name="T9" fmla="*/ 686 h 686"/>
              </a:gdLst>
              <a:ahLst/>
              <a:cxnLst>
                <a:cxn ang="T4">
                  <a:pos x="T0" y="T1"/>
                </a:cxn>
                <a:cxn ang="T5">
                  <a:pos x="T2" y="T3"/>
                </a:cxn>
              </a:cxnLst>
              <a:rect l="T6" t="T7" r="T8" b="T9"/>
              <a:pathLst>
                <a:path w="717" h="686">
                  <a:moveTo>
                    <a:pt x="0" y="0"/>
                  </a:moveTo>
                  <a:lnTo>
                    <a:pt x="717" y="686"/>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7" name="Text Box 9"/>
            <p:cNvSpPr txBox="1">
              <a:spLocks noChangeAspect="1" noChangeArrowheads="1"/>
            </p:cNvSpPr>
            <p:nvPr/>
          </p:nvSpPr>
          <p:spPr bwMode="auto">
            <a:xfrm>
              <a:off x="4084" y="2045"/>
              <a:ext cx="369" cy="230"/>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R</a:t>
              </a:r>
              <a:r>
                <a:rPr lang="en-US" altLang="zh-CN" sz="2400" baseline="30000">
                  <a:solidFill>
                    <a:srgbClr val="FF0000"/>
                  </a:solidFill>
                </a:rPr>
                <a:t>-1</a:t>
              </a:r>
              <a:endParaRPr lang="en-US" altLang="zh-CN" sz="2400">
                <a:solidFill>
                  <a:srgbClr val="FF0000"/>
                </a:solidFill>
              </a:endParaRPr>
            </a:p>
          </p:txBody>
        </p:sp>
        <p:sp>
          <p:nvSpPr>
            <p:cNvPr id="88" name="Text Box 13"/>
            <p:cNvSpPr txBox="1">
              <a:spLocks noChangeAspect="1" noChangeArrowheads="1"/>
            </p:cNvSpPr>
            <p:nvPr/>
          </p:nvSpPr>
          <p:spPr bwMode="auto">
            <a:xfrm>
              <a:off x="3608"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endParaRPr lang="en-US" altLang="zh-CN" sz="2400">
                <a:solidFill>
                  <a:srgbClr val="FF0000"/>
                </a:solidFill>
              </a:endParaRPr>
            </a:p>
          </p:txBody>
        </p:sp>
        <p:sp>
          <p:nvSpPr>
            <p:cNvPr id="89" name="Text Box 16"/>
            <p:cNvSpPr txBox="1">
              <a:spLocks noChangeAspect="1" noChangeArrowheads="1"/>
            </p:cNvSpPr>
            <p:nvPr/>
          </p:nvSpPr>
          <p:spPr bwMode="auto">
            <a:xfrm>
              <a:off x="3608"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endParaRPr lang="en-US" altLang="zh-CN" sz="2400">
                <a:solidFill>
                  <a:srgbClr val="FF0000"/>
                </a:solidFill>
              </a:endParaRPr>
            </a:p>
          </p:txBody>
        </p:sp>
        <p:sp>
          <p:nvSpPr>
            <p:cNvPr id="90" name="Text Box 19"/>
            <p:cNvSpPr txBox="1">
              <a:spLocks noChangeAspect="1" noChangeArrowheads="1"/>
            </p:cNvSpPr>
            <p:nvPr/>
          </p:nvSpPr>
          <p:spPr bwMode="auto">
            <a:xfrm>
              <a:off x="3608"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c</a:t>
              </a:r>
              <a:endParaRPr lang="en-US" altLang="zh-CN" sz="2400">
                <a:solidFill>
                  <a:srgbClr val="FF0000"/>
                </a:solidFill>
              </a:endParaRPr>
            </a:p>
          </p:txBody>
        </p:sp>
        <p:sp>
          <p:nvSpPr>
            <p:cNvPr id="91" name="Text Box 22"/>
            <p:cNvSpPr txBox="1">
              <a:spLocks noChangeAspect="1" noChangeArrowheads="1"/>
            </p:cNvSpPr>
            <p:nvPr/>
          </p:nvSpPr>
          <p:spPr bwMode="auto">
            <a:xfrm>
              <a:off x="3608"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endParaRPr lang="en-US" altLang="zh-CN" sz="2400">
                <a:solidFill>
                  <a:srgbClr val="FF0000"/>
                </a:solidFill>
              </a:endParaRPr>
            </a:p>
          </p:txBody>
        </p:sp>
        <p:sp>
          <p:nvSpPr>
            <p:cNvPr id="92" name="Text Box 26"/>
            <p:cNvSpPr txBox="1">
              <a:spLocks noChangeAspect="1" noChangeArrowheads="1"/>
            </p:cNvSpPr>
            <p:nvPr/>
          </p:nvSpPr>
          <p:spPr bwMode="auto">
            <a:xfrm>
              <a:off x="4793" y="2464"/>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endParaRPr lang="en-US" altLang="zh-CN" sz="2400">
                <a:solidFill>
                  <a:srgbClr val="FF0000"/>
                </a:solidFill>
              </a:endParaRPr>
            </a:p>
          </p:txBody>
        </p:sp>
        <p:sp>
          <p:nvSpPr>
            <p:cNvPr id="93" name="Text Box 27"/>
            <p:cNvSpPr txBox="1">
              <a:spLocks noChangeAspect="1" noChangeArrowheads="1"/>
            </p:cNvSpPr>
            <p:nvPr/>
          </p:nvSpPr>
          <p:spPr bwMode="auto">
            <a:xfrm>
              <a:off x="4793" y="2810"/>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endParaRPr lang="en-US" altLang="zh-CN" sz="2400">
                <a:solidFill>
                  <a:srgbClr val="FF0000"/>
                </a:solidFill>
              </a:endParaRPr>
            </a:p>
          </p:txBody>
        </p:sp>
        <p:sp>
          <p:nvSpPr>
            <p:cNvPr id="94" name="Text Box 28"/>
            <p:cNvSpPr txBox="1">
              <a:spLocks noChangeAspect="1" noChangeArrowheads="1"/>
            </p:cNvSpPr>
            <p:nvPr/>
          </p:nvSpPr>
          <p:spPr bwMode="auto">
            <a:xfrm>
              <a:off x="4793" y="350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4</a:t>
              </a:r>
              <a:endParaRPr lang="en-US" altLang="zh-CN" sz="2400">
                <a:solidFill>
                  <a:srgbClr val="FF0000"/>
                </a:solidFill>
              </a:endParaRPr>
            </a:p>
          </p:txBody>
        </p:sp>
        <p:sp>
          <p:nvSpPr>
            <p:cNvPr id="95" name="Freeform 29"/>
            <p:cNvSpPr>
              <a:spLocks noChangeAspect="1"/>
            </p:cNvSpPr>
            <p:nvPr/>
          </p:nvSpPr>
          <p:spPr bwMode="auto">
            <a:xfrm>
              <a:off x="3849" y="3646"/>
              <a:ext cx="818" cy="4"/>
            </a:xfrm>
            <a:custGeom>
              <a:avLst/>
              <a:gdLst>
                <a:gd name="T0" fmla="*/ 0 w 707"/>
                <a:gd name="T1" fmla="*/ 4 h 4"/>
                <a:gd name="T2" fmla="*/ 17485 w 707"/>
                <a:gd name="T3" fmla="*/ 0 h 4"/>
                <a:gd name="T4" fmla="*/ 0 60000 65536"/>
                <a:gd name="T5" fmla="*/ 0 60000 65536"/>
                <a:gd name="T6" fmla="*/ 0 w 707"/>
                <a:gd name="T7" fmla="*/ 0 h 4"/>
                <a:gd name="T8" fmla="*/ 707 w 707"/>
                <a:gd name="T9" fmla="*/ 4 h 4"/>
              </a:gdLst>
              <a:ahLst/>
              <a:cxnLst>
                <a:cxn ang="T4">
                  <a:pos x="T0" y="T1"/>
                </a:cxn>
                <a:cxn ang="T5">
                  <a:pos x="T2" y="T3"/>
                </a:cxn>
              </a:cxnLst>
              <a:rect l="T6" t="T7" r="T8" b="T9"/>
              <a:pathLst>
                <a:path w="707" h="4">
                  <a:moveTo>
                    <a:pt x="0" y="4"/>
                  </a:moveTo>
                  <a:lnTo>
                    <a:pt x="707"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6" name="Freeform 30"/>
            <p:cNvSpPr>
              <a:spLocks noChangeAspect="1"/>
            </p:cNvSpPr>
            <p:nvPr/>
          </p:nvSpPr>
          <p:spPr bwMode="auto">
            <a:xfrm>
              <a:off x="3849" y="2581"/>
              <a:ext cx="798" cy="2"/>
            </a:xfrm>
            <a:custGeom>
              <a:avLst/>
              <a:gdLst>
                <a:gd name="T0" fmla="*/ 0 w 690"/>
                <a:gd name="T1" fmla="*/ 0 h 1"/>
                <a:gd name="T2" fmla="*/ 16897 w 690"/>
                <a:gd name="T3" fmla="*/ 0 h 1"/>
                <a:gd name="T4" fmla="*/ 0 60000 65536"/>
                <a:gd name="T5" fmla="*/ 0 60000 65536"/>
                <a:gd name="T6" fmla="*/ 0 w 690"/>
                <a:gd name="T7" fmla="*/ 0 h 1"/>
                <a:gd name="T8" fmla="*/ 690 w 690"/>
                <a:gd name="T9" fmla="*/ 1 h 1"/>
              </a:gdLst>
              <a:ahLst/>
              <a:cxnLst>
                <a:cxn ang="T4">
                  <a:pos x="T0" y="T1"/>
                </a:cxn>
                <a:cxn ang="T5">
                  <a:pos x="T2" y="T3"/>
                </a:cxn>
              </a:cxnLst>
              <a:rect l="T6" t="T7" r="T8" b="T9"/>
              <a:pathLst>
                <a:path w="690" h="1">
                  <a:moveTo>
                    <a:pt x="0" y="0"/>
                  </a:moveTo>
                  <a:lnTo>
                    <a:pt x="69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7" name="Freeform 31"/>
            <p:cNvSpPr>
              <a:spLocks noChangeAspect="1"/>
            </p:cNvSpPr>
            <p:nvPr/>
          </p:nvSpPr>
          <p:spPr bwMode="auto">
            <a:xfrm>
              <a:off x="3845" y="2958"/>
              <a:ext cx="818" cy="314"/>
            </a:xfrm>
            <a:custGeom>
              <a:avLst/>
              <a:gdLst>
                <a:gd name="T0" fmla="*/ 0 w 707"/>
                <a:gd name="T1" fmla="*/ 0 h 326"/>
                <a:gd name="T2" fmla="*/ 17485 w 707"/>
                <a:gd name="T3" fmla="*/ 142 h 326"/>
                <a:gd name="T4" fmla="*/ 0 60000 65536"/>
                <a:gd name="T5" fmla="*/ 0 60000 65536"/>
                <a:gd name="T6" fmla="*/ 0 w 707"/>
                <a:gd name="T7" fmla="*/ 0 h 326"/>
                <a:gd name="T8" fmla="*/ 707 w 707"/>
                <a:gd name="T9" fmla="*/ 326 h 326"/>
              </a:gdLst>
              <a:ahLst/>
              <a:cxnLst>
                <a:cxn ang="T4">
                  <a:pos x="T0" y="T1"/>
                </a:cxn>
                <a:cxn ang="T5">
                  <a:pos x="T2" y="T3"/>
                </a:cxn>
              </a:cxnLst>
              <a:rect l="T6" t="T7" r="T8" b="T9"/>
              <a:pathLst>
                <a:path w="707" h="326">
                  <a:moveTo>
                    <a:pt x="0" y="0"/>
                  </a:moveTo>
                  <a:lnTo>
                    <a:pt x="707" y="326"/>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8" name="Freeform 32"/>
            <p:cNvSpPr>
              <a:spLocks noChangeAspect="1"/>
            </p:cNvSpPr>
            <p:nvPr/>
          </p:nvSpPr>
          <p:spPr bwMode="auto">
            <a:xfrm>
              <a:off x="3788" y="2269"/>
              <a:ext cx="961" cy="5"/>
            </a:xfrm>
            <a:custGeom>
              <a:avLst/>
              <a:gdLst>
                <a:gd name="T0" fmla="*/ 0 w 723"/>
                <a:gd name="T1" fmla="*/ 0 h 4"/>
                <a:gd name="T2" fmla="*/ 378327 w 723"/>
                <a:gd name="T3" fmla="*/ 529 h 4"/>
                <a:gd name="T4" fmla="*/ 0 60000 65536"/>
                <a:gd name="T5" fmla="*/ 0 60000 65536"/>
                <a:gd name="T6" fmla="*/ 0 w 723"/>
                <a:gd name="T7" fmla="*/ 0 h 4"/>
                <a:gd name="T8" fmla="*/ 723 w 723"/>
                <a:gd name="T9" fmla="*/ 4 h 4"/>
              </a:gdLst>
              <a:ahLst/>
              <a:cxnLst>
                <a:cxn ang="T4">
                  <a:pos x="T0" y="T1"/>
                </a:cxn>
                <a:cxn ang="T5">
                  <a:pos x="T2" y="T3"/>
                </a:cxn>
              </a:cxnLst>
              <a:rect l="T6" t="T7" r="T8" b="T9"/>
              <a:pathLst>
                <a:path w="723" h="4">
                  <a:moveTo>
                    <a:pt x="0" y="0"/>
                  </a:moveTo>
                  <a:lnTo>
                    <a:pt x="723" y="4"/>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9" name="Text Box 35"/>
            <p:cNvSpPr txBox="1">
              <a:spLocks noChangeAspect="1" noChangeArrowheads="1"/>
            </p:cNvSpPr>
            <p:nvPr/>
          </p:nvSpPr>
          <p:spPr bwMode="auto">
            <a:xfrm>
              <a:off x="4793" y="3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endParaRPr lang="en-US" altLang="zh-CN" sz="2400">
                <a:solidFill>
                  <a:srgbClr val="FF0000"/>
                </a:solidFill>
              </a:endParaRPr>
            </a:p>
          </p:txBody>
        </p:sp>
        <p:sp>
          <p:nvSpPr>
            <p:cNvPr id="100" name="Freeform 58"/>
            <p:cNvSpPr>
              <a:spLocks noChangeAspect="1"/>
            </p:cNvSpPr>
            <p:nvPr/>
          </p:nvSpPr>
          <p:spPr bwMode="auto">
            <a:xfrm>
              <a:off x="3845" y="2982"/>
              <a:ext cx="818" cy="282"/>
            </a:xfrm>
            <a:custGeom>
              <a:avLst/>
              <a:gdLst>
                <a:gd name="T0" fmla="*/ 0 w 707"/>
                <a:gd name="T1" fmla="*/ 117 h 294"/>
                <a:gd name="T2" fmla="*/ 17485 w 707"/>
                <a:gd name="T3" fmla="*/ 0 h 294"/>
                <a:gd name="T4" fmla="*/ 0 60000 65536"/>
                <a:gd name="T5" fmla="*/ 0 60000 65536"/>
                <a:gd name="T6" fmla="*/ 0 w 707"/>
                <a:gd name="T7" fmla="*/ 0 h 294"/>
                <a:gd name="T8" fmla="*/ 707 w 707"/>
                <a:gd name="T9" fmla="*/ 294 h 294"/>
              </a:gdLst>
              <a:ahLst/>
              <a:cxnLst>
                <a:cxn ang="T4">
                  <a:pos x="T0" y="T1"/>
                </a:cxn>
                <a:cxn ang="T5">
                  <a:pos x="T2" y="T3"/>
                </a:cxn>
              </a:cxnLst>
              <a:rect l="T6" t="T7" r="T8" b="T9"/>
              <a:pathLst>
                <a:path w="707" h="294">
                  <a:moveTo>
                    <a:pt x="0" y="294"/>
                  </a:moveTo>
                  <a:lnTo>
                    <a:pt x="707"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01" name="Text Box 60"/>
            <p:cNvSpPr txBox="1">
              <a:spLocks noChangeAspect="1" noChangeArrowheads="1"/>
            </p:cNvSpPr>
            <p:nvPr/>
          </p:nvSpPr>
          <p:spPr bwMode="auto">
            <a:xfrm>
              <a:off x="4793" y="2156"/>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endParaRPr lang="en-US" altLang="zh-CN" sz="2400">
                <a:solidFill>
                  <a:srgbClr val="FF0000"/>
                </a:solidFill>
              </a:endParaRPr>
            </a:p>
          </p:txBody>
        </p:sp>
        <p:sp>
          <p:nvSpPr>
            <p:cNvPr id="102" name="Text Box 61"/>
            <p:cNvSpPr txBox="1">
              <a:spLocks noChangeAspect="1" noChangeArrowheads="1"/>
            </p:cNvSpPr>
            <p:nvPr/>
          </p:nvSpPr>
          <p:spPr bwMode="auto">
            <a:xfrm>
              <a:off x="3608" y="21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endParaRPr lang="en-US" altLang="zh-CN" sz="2400">
                <a:solidFill>
                  <a:srgbClr val="FF0000"/>
                </a:solidFill>
              </a:endParaRPr>
            </a:p>
          </p:txBody>
        </p:sp>
        <p:sp>
          <p:nvSpPr>
            <p:cNvPr id="103" name="Oval 12"/>
            <p:cNvSpPr>
              <a:spLocks noChangeArrowheads="1"/>
            </p:cNvSpPr>
            <p:nvPr/>
          </p:nvSpPr>
          <p:spPr bwMode="auto">
            <a:xfrm>
              <a:off x="3776" y="2537"/>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4" name="Oval 15"/>
            <p:cNvSpPr>
              <a:spLocks noChangeArrowheads="1"/>
            </p:cNvSpPr>
            <p:nvPr/>
          </p:nvSpPr>
          <p:spPr bwMode="auto">
            <a:xfrm>
              <a:off x="3776" y="2902"/>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5" name="Oval 18"/>
            <p:cNvSpPr>
              <a:spLocks noChangeArrowheads="1"/>
            </p:cNvSpPr>
            <p:nvPr/>
          </p:nvSpPr>
          <p:spPr bwMode="auto">
            <a:xfrm>
              <a:off x="3776" y="3230"/>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6" name="Oval 21"/>
            <p:cNvSpPr>
              <a:spLocks noChangeArrowheads="1"/>
            </p:cNvSpPr>
            <p:nvPr/>
          </p:nvSpPr>
          <p:spPr bwMode="auto">
            <a:xfrm>
              <a:off x="3776" y="3603"/>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7" name="Oval 23"/>
            <p:cNvSpPr>
              <a:spLocks noChangeArrowheads="1"/>
            </p:cNvSpPr>
            <p:nvPr/>
          </p:nvSpPr>
          <p:spPr bwMode="auto">
            <a:xfrm>
              <a:off x="4655" y="2537"/>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8" name="Oval 24"/>
            <p:cNvSpPr>
              <a:spLocks noChangeArrowheads="1"/>
            </p:cNvSpPr>
            <p:nvPr/>
          </p:nvSpPr>
          <p:spPr bwMode="auto">
            <a:xfrm>
              <a:off x="4655" y="3603"/>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09" name="Oval 25"/>
            <p:cNvSpPr>
              <a:spLocks noChangeArrowheads="1"/>
            </p:cNvSpPr>
            <p:nvPr/>
          </p:nvSpPr>
          <p:spPr bwMode="auto">
            <a:xfrm>
              <a:off x="4655" y="2921"/>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10" name="Oval 34"/>
            <p:cNvSpPr>
              <a:spLocks noChangeArrowheads="1"/>
            </p:cNvSpPr>
            <p:nvPr/>
          </p:nvSpPr>
          <p:spPr bwMode="auto">
            <a:xfrm>
              <a:off x="4655" y="3246"/>
              <a:ext cx="91" cy="91"/>
            </a:xfrm>
            <a:prstGeom prst="ellipse">
              <a:avLst/>
            </a:prstGeom>
            <a:solidFill>
              <a:srgbClr val="FFFFFF"/>
            </a:solidFill>
            <a:ln w="25400">
              <a:solidFill>
                <a:srgbClr val="0000FF"/>
              </a:solidFill>
              <a:rou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76611">
                                            <p:txEl>
                                              <p:pRg st="0" end="0"/>
                                            </p:txEl>
                                          </p:spTgt>
                                        </p:tgtEl>
                                        <p:attrNameLst>
                                          <p:attrName>style.visibility</p:attrName>
                                        </p:attrNameLst>
                                      </p:cBhvr>
                                      <p:to>
                                        <p:strVal val="visible"/>
                                      </p:to>
                                    </p:set>
                                    <p:anim calcmode="lin" valueType="num">
                                      <p:cBhvr additive="base">
                                        <p:cTn id="7" dur="500" fill="hold"/>
                                        <p:tgtEl>
                                          <p:spTgt spid="1476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6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6611">
                                            <p:txEl>
                                              <p:pRg st="1" end="1"/>
                                            </p:txEl>
                                          </p:spTgt>
                                        </p:tgtEl>
                                        <p:attrNameLst>
                                          <p:attrName>style.visibility</p:attrName>
                                        </p:attrNameLst>
                                      </p:cBhvr>
                                      <p:to>
                                        <p:strVal val="visible"/>
                                      </p:to>
                                    </p:set>
                                    <p:anim calcmode="lin" valueType="num">
                                      <p:cBhvr additive="base">
                                        <p:cTn id="13" dur="500" fill="hold"/>
                                        <p:tgtEl>
                                          <p:spTgt spid="1476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6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76611">
                                            <p:txEl>
                                              <p:pRg st="2" end="2"/>
                                            </p:txEl>
                                          </p:spTgt>
                                        </p:tgtEl>
                                        <p:attrNameLst>
                                          <p:attrName>style.visibility</p:attrName>
                                        </p:attrNameLst>
                                      </p:cBhvr>
                                      <p:to>
                                        <p:strVal val="visible"/>
                                      </p:to>
                                    </p:set>
                                    <p:anim calcmode="lin" valueType="num">
                                      <p:cBhvr additive="base">
                                        <p:cTn id="19" dur="500" fill="hold"/>
                                        <p:tgtEl>
                                          <p:spTgt spid="1476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76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500" decel="50000" fill="hold">
                                          <p:stCondLst>
                                            <p:cond delay="0"/>
                                          </p:stCondLst>
                                        </p:cTn>
                                        <p:tgtEl>
                                          <p:spTgt spid="58"/>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58"/>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58"/>
                                        </p:tgtEl>
                                        <p:attrNameLst>
                                          <p:attrName>ppt_w</p:attrName>
                                        </p:attrNameLst>
                                      </p:cBhvr>
                                      <p:tavLst>
                                        <p:tav tm="0">
                                          <p:val>
                                            <p:strVal val="#ppt_w*.05"/>
                                          </p:val>
                                        </p:tav>
                                        <p:tav tm="100000">
                                          <p:val>
                                            <p:strVal val="#ppt_w"/>
                                          </p:val>
                                        </p:tav>
                                      </p:tavLst>
                                    </p:anim>
                                    <p:anim calcmode="lin" valueType="num">
                                      <p:cBhvr>
                                        <p:cTn id="28" dur="1000" fill="hold"/>
                                        <p:tgtEl>
                                          <p:spTgt spid="58"/>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58"/>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58"/>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58"/>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58"/>
                                        </p:tgtEl>
                                      </p:cBhvr>
                                    </p:animEffect>
                                  </p:childTnLst>
                                </p:cTn>
                              </p:par>
                            </p:childTnLst>
                          </p:cTn>
                        </p:par>
                      </p:childTnLst>
                    </p:cTn>
                  </p:par>
                  <p:par>
                    <p:cTn id="33" fill="hold">
                      <p:stCondLst>
                        <p:cond delay="indefinite"/>
                      </p:stCondLst>
                      <p:childTnLst>
                        <p:par>
                          <p:cTn id="34" fill="hold">
                            <p:stCondLst>
                              <p:cond delay="0"/>
                            </p:stCondLst>
                            <p:childTnLst>
                              <p:par>
                                <p:cTn id="35" presetID="25" presetClass="entr" presetSubtype="0" fill="hold" nodeType="clickEffect">
                                  <p:stCondLst>
                                    <p:cond delay="0"/>
                                  </p:stCondLst>
                                  <p:childTnLst>
                                    <p:set>
                                      <p:cBhvr>
                                        <p:cTn id="36" dur="1" fill="hold">
                                          <p:stCondLst>
                                            <p:cond delay="0"/>
                                          </p:stCondLst>
                                        </p:cTn>
                                        <p:tgtEl>
                                          <p:spTgt spid="85"/>
                                        </p:tgtEl>
                                        <p:attrNameLst>
                                          <p:attrName>style.visibility</p:attrName>
                                        </p:attrNameLst>
                                      </p:cBhvr>
                                      <p:to>
                                        <p:strVal val="visible"/>
                                      </p:to>
                                    </p:set>
                                    <p:anim calcmode="lin" valueType="num">
                                      <p:cBhvr>
                                        <p:cTn id="37" dur="500" decel="50000" fill="hold">
                                          <p:stCondLst>
                                            <p:cond delay="0"/>
                                          </p:stCondLst>
                                        </p:cTn>
                                        <p:tgtEl>
                                          <p:spTgt spid="85"/>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85"/>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85"/>
                                        </p:tgtEl>
                                        <p:attrNameLst>
                                          <p:attrName>ppt_w</p:attrName>
                                        </p:attrNameLst>
                                      </p:cBhvr>
                                      <p:tavLst>
                                        <p:tav tm="0">
                                          <p:val>
                                            <p:strVal val="#ppt_w*.05"/>
                                          </p:val>
                                        </p:tav>
                                        <p:tav tm="100000">
                                          <p:val>
                                            <p:strVal val="#ppt_w"/>
                                          </p:val>
                                        </p:tav>
                                      </p:tavLst>
                                    </p:anim>
                                    <p:anim calcmode="lin" valueType="num">
                                      <p:cBhvr>
                                        <p:cTn id="40" dur="1000" fill="hold"/>
                                        <p:tgtEl>
                                          <p:spTgt spid="85"/>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85"/>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85"/>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85"/>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661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2"/>
          <p:cNvSpPr>
            <a:spLocks noGrp="1" noChangeArrowheads="1"/>
          </p:cNvSpPr>
          <p:nvPr>
            <p:ph type="title"/>
          </p:nvPr>
        </p:nvSpPr>
        <p:spPr/>
        <p:txBody>
          <a:bodyPr/>
          <a:lstStyle/>
          <a:p>
            <a:pPr eaLnBrk="1" hangingPunct="1"/>
            <a:r>
              <a:rPr lang="zh-CN" altLang="en-US" dirty="0"/>
              <a:t>例</a:t>
            </a:r>
            <a:r>
              <a:rPr lang="en-US" altLang="zh-CN" dirty="0"/>
              <a:t>4.2.7 </a:t>
            </a:r>
            <a:r>
              <a:rPr lang="zh-CN" altLang="en-US" dirty="0"/>
              <a:t>（续）</a:t>
            </a:r>
            <a:endParaRPr lang="zh-CN" altLang="en-US" dirty="0"/>
          </a:p>
        </p:txBody>
      </p:sp>
      <p:sp>
        <p:nvSpPr>
          <p:cNvPr id="150532" name="Rectangle 3"/>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aphicFrame>
        <p:nvGraphicFramePr>
          <p:cNvPr id="1478660" name="Object 4"/>
          <p:cNvGraphicFramePr>
            <a:graphicFrameLocks noChangeAspect="1"/>
          </p:cNvGraphicFramePr>
          <p:nvPr/>
        </p:nvGraphicFramePr>
        <p:xfrm>
          <a:off x="1374775" y="1798602"/>
          <a:ext cx="5062122" cy="1687903"/>
        </p:xfrm>
        <a:graphic>
          <a:graphicData uri="http://schemas.openxmlformats.org/presentationml/2006/ole">
            <mc:AlternateContent xmlns:mc="http://schemas.openxmlformats.org/markup-compatibility/2006">
              <mc:Choice xmlns:v="urn:schemas-microsoft-com:vml" Requires="v">
                <p:oleObj spid="_x0000_s8193" name="Equation" r:id="rId1" imgW="2895600" imgH="965200" progId="Equation.DSMT4">
                  <p:embed/>
                </p:oleObj>
              </mc:Choice>
              <mc:Fallback>
                <p:oleObj name="Equation" r:id="rId1" imgW="2895600" imgH="965200" progId="Equation.DSMT4">
                  <p:embed/>
                  <p:pic>
                    <p:nvPicPr>
                      <p:cNvPr id="0" name="Object 4" descr="image37"/>
                      <p:cNvPicPr>
                        <a:picLocks noChangeAspect="1"/>
                      </p:cNvPicPr>
                      <p:nvPr/>
                    </p:nvPicPr>
                    <p:blipFill>
                      <a:blip r:embed="rId2"/>
                      <a:stretch>
                        <a:fillRect/>
                      </a:stretch>
                    </p:blipFill>
                    <p:spPr>
                      <a:xfrm>
                        <a:off x="1374775" y="1798602"/>
                        <a:ext cx="5062122" cy="1687903"/>
                      </a:xfrm>
                      <a:prstGeom prst="rect">
                        <a:avLst/>
                      </a:prstGeom>
                      <a:noFill/>
                      <a:ln w="9525">
                        <a:noFill/>
                      </a:ln>
                    </p:spPr>
                  </p:pic>
                </p:oleObj>
              </mc:Fallback>
            </mc:AlternateContent>
          </a:graphicData>
        </a:graphic>
      </p:graphicFrame>
      <p:sp>
        <p:nvSpPr>
          <p:cNvPr id="1478661" name="Text Box 5"/>
          <p:cNvSpPr txBox="1">
            <a:spLocks noChangeArrowheads="1"/>
          </p:cNvSpPr>
          <p:nvPr/>
        </p:nvSpPr>
        <p:spPr bwMode="auto">
          <a:xfrm>
            <a:off x="384175" y="3733858"/>
            <a:ext cx="8822192" cy="2544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buClrTx/>
              <a:buFontTx/>
              <a:buNone/>
            </a:pPr>
            <a:r>
              <a:rPr lang="en-US" altLang="zh-CN" sz="2400" dirty="0">
                <a:latin typeface="+mn-ea"/>
                <a:ea typeface="+mn-ea"/>
              </a:rPr>
              <a:t>(3) </a:t>
            </a:r>
            <a:r>
              <a:rPr lang="en-US" altLang="en-US" sz="2400" dirty="0">
                <a:latin typeface="+mn-ea"/>
                <a:ea typeface="+mn-ea"/>
              </a:rPr>
              <a:t>∵ </a:t>
            </a:r>
            <a:r>
              <a:rPr lang="en-US" altLang="zh-CN" sz="2400" dirty="0" err="1">
                <a:latin typeface="+mn-ea"/>
                <a:ea typeface="+mn-ea"/>
              </a:rPr>
              <a:t>RoS</a:t>
            </a:r>
            <a:r>
              <a:rPr lang="en-US" altLang="zh-CN" sz="2400" dirty="0">
                <a:latin typeface="+mn-ea"/>
                <a:ea typeface="+mn-ea"/>
              </a:rPr>
              <a:t>={&lt;1,2&gt;,&lt;2,3&gt;,&lt;2,5&gt;,&lt;3,4&gt;,&lt;4,4&gt;,&lt;4,5&gt;}</a:t>
            </a:r>
            <a:endParaRPr lang="zh-CN" altLang="en-US" sz="2400" dirty="0">
              <a:latin typeface="+mn-ea"/>
              <a:ea typeface="+mn-ea"/>
            </a:endParaRPr>
          </a:p>
          <a:p>
            <a:pPr algn="l" eaLnBrk="1" hangingPunct="1">
              <a:buClrTx/>
              <a:buFontTx/>
              <a:buNone/>
            </a:pPr>
            <a:r>
              <a:rPr lang="zh-CN" altLang="en-US" sz="2400" dirty="0">
                <a:latin typeface="+mn-ea"/>
                <a:ea typeface="+mn-ea"/>
              </a:rPr>
              <a:t>     ∴  </a:t>
            </a:r>
            <a:r>
              <a:rPr lang="en-US" altLang="zh-CN" sz="2400" dirty="0">
                <a:solidFill>
                  <a:srgbClr val="0000CC"/>
                </a:solidFill>
                <a:latin typeface="+mn-ea"/>
                <a:ea typeface="+mn-ea"/>
              </a:rPr>
              <a:t>(</a:t>
            </a:r>
            <a:r>
              <a:rPr lang="en-US" altLang="zh-CN" sz="2400" dirty="0" err="1">
                <a:solidFill>
                  <a:srgbClr val="0000CC"/>
                </a:solidFill>
                <a:latin typeface="+mn-ea"/>
                <a:ea typeface="+mn-ea"/>
              </a:rPr>
              <a:t>RoS</a:t>
            </a:r>
            <a:r>
              <a:rPr lang="en-US" altLang="zh-CN" sz="2400" dirty="0">
                <a:solidFill>
                  <a:srgbClr val="0000CC"/>
                </a:solidFill>
                <a:latin typeface="+mn-ea"/>
                <a:ea typeface="+mn-ea"/>
              </a:rPr>
              <a:t>)</a:t>
            </a:r>
            <a:r>
              <a:rPr lang="en-US" altLang="zh-CN" sz="2400" baseline="30000" dirty="0">
                <a:solidFill>
                  <a:srgbClr val="0000CC"/>
                </a:solidFill>
                <a:latin typeface="+mn-ea"/>
                <a:ea typeface="+mn-ea"/>
              </a:rPr>
              <a:t>-1</a:t>
            </a:r>
            <a:r>
              <a:rPr lang="en-US" altLang="zh-CN" sz="2400" dirty="0">
                <a:solidFill>
                  <a:srgbClr val="0000CC"/>
                </a:solidFill>
                <a:latin typeface="+mn-ea"/>
                <a:ea typeface="+mn-ea"/>
              </a:rPr>
              <a:t>={&lt;2,1&gt;,&lt;3,2&gt;,&lt;5,2&gt;,&lt;4,3&gt;,&lt;4,4&gt;,&lt;5,4&gt;}</a:t>
            </a:r>
            <a:r>
              <a:rPr lang="zh-CN" altLang="en-US" sz="2400" dirty="0">
                <a:solidFill>
                  <a:srgbClr val="0000CC"/>
                </a:solidFill>
                <a:latin typeface="+mn-ea"/>
                <a:ea typeface="+mn-ea"/>
              </a:rPr>
              <a:t> </a:t>
            </a:r>
            <a:endParaRPr lang="zh-CN" altLang="en-US" sz="2400" dirty="0">
              <a:solidFill>
                <a:srgbClr val="0000CC"/>
              </a:solidFill>
              <a:latin typeface="+mn-ea"/>
              <a:ea typeface="+mn-ea"/>
            </a:endParaRPr>
          </a:p>
          <a:p>
            <a:pPr algn="l" eaLnBrk="1" hangingPunct="1">
              <a:buClrTx/>
              <a:buFontTx/>
              <a:buNone/>
            </a:pPr>
            <a:r>
              <a:rPr lang="en-US" altLang="en-US" sz="2400" dirty="0">
                <a:latin typeface="+mn-ea"/>
                <a:ea typeface="+mn-ea"/>
              </a:rPr>
              <a:t>      ∵</a:t>
            </a:r>
            <a:r>
              <a:rPr lang="zh-CN" altLang="en-US" sz="2400" dirty="0">
                <a:latin typeface="+mn-ea"/>
                <a:ea typeface="+mn-ea"/>
              </a:rPr>
              <a:t>  </a:t>
            </a:r>
            <a:r>
              <a:rPr lang="en-US" altLang="zh-CN" sz="2400" dirty="0">
                <a:latin typeface="+mn-ea"/>
                <a:ea typeface="+mn-ea"/>
              </a:rPr>
              <a:t>R</a:t>
            </a:r>
            <a:r>
              <a:rPr lang="en-US" altLang="zh-CN" sz="2400" baseline="30000" dirty="0">
                <a:latin typeface="+mn-ea"/>
                <a:ea typeface="+mn-ea"/>
              </a:rPr>
              <a:t>-1</a:t>
            </a:r>
            <a:r>
              <a:rPr lang="en-US" altLang="zh-CN" sz="2400" dirty="0">
                <a:latin typeface="+mn-ea"/>
                <a:ea typeface="+mn-ea"/>
              </a:rPr>
              <a:t>={&lt;a,1&gt;,&lt;c,2&gt;,&lt;b,3&gt;,&lt;b,4&gt;,&lt;d,4&gt;}</a:t>
            </a:r>
            <a:endParaRPr lang="zh-CN" altLang="en-US" sz="2400" dirty="0">
              <a:latin typeface="+mn-ea"/>
              <a:ea typeface="+mn-ea"/>
            </a:endParaRPr>
          </a:p>
          <a:p>
            <a:pPr algn="l" eaLnBrk="1" hangingPunct="1">
              <a:buClrTx/>
              <a:buFontTx/>
              <a:buNone/>
            </a:pPr>
            <a:r>
              <a:rPr lang="en-US" altLang="zh-CN" sz="2400" dirty="0">
                <a:latin typeface="+mn-ea"/>
                <a:ea typeface="+mn-ea"/>
              </a:rPr>
              <a:t>          S</a:t>
            </a:r>
            <a:r>
              <a:rPr lang="en-US" altLang="zh-CN" sz="2400" baseline="30000" dirty="0">
                <a:latin typeface="+mn-ea"/>
                <a:ea typeface="+mn-ea"/>
              </a:rPr>
              <a:t>-1</a:t>
            </a:r>
            <a:r>
              <a:rPr lang="en-US" altLang="zh-CN" sz="2400" dirty="0">
                <a:latin typeface="+mn-ea"/>
                <a:ea typeface="+mn-ea"/>
              </a:rPr>
              <a:t>={&lt;2,a&gt;,&lt;4,b&gt;,&lt;3,c&gt;,&lt;5,c&gt;,&lt;5,d&gt;}</a:t>
            </a:r>
            <a:endParaRPr lang="zh-CN" altLang="en-US" sz="2400" dirty="0">
              <a:latin typeface="+mn-ea"/>
              <a:ea typeface="+mn-ea"/>
            </a:endParaRPr>
          </a:p>
          <a:p>
            <a:pPr algn="l" eaLnBrk="1" hangingPunct="1">
              <a:buClrTx/>
              <a:buFontTx/>
              <a:buNone/>
            </a:pPr>
            <a:r>
              <a:rPr lang="zh-CN" altLang="en-US" sz="2400" dirty="0">
                <a:solidFill>
                  <a:srgbClr val="3333FF"/>
                </a:solidFill>
                <a:latin typeface="+mn-ea"/>
                <a:ea typeface="+mn-ea"/>
              </a:rPr>
              <a:t>      ∴  </a:t>
            </a:r>
            <a:r>
              <a:rPr lang="en-US" altLang="zh-CN" sz="2400" dirty="0">
                <a:solidFill>
                  <a:srgbClr val="3333FF"/>
                </a:solidFill>
                <a:latin typeface="+mn-ea"/>
                <a:ea typeface="+mn-ea"/>
              </a:rPr>
              <a:t>S</a:t>
            </a:r>
            <a:r>
              <a:rPr lang="en-US" altLang="zh-CN" sz="2400" baseline="30000" dirty="0">
                <a:solidFill>
                  <a:srgbClr val="3333FF"/>
                </a:solidFill>
                <a:latin typeface="+mn-ea"/>
                <a:ea typeface="+mn-ea"/>
              </a:rPr>
              <a:t>-1</a:t>
            </a:r>
            <a:r>
              <a:rPr lang="en-US" altLang="zh-CN" sz="2400" dirty="0">
                <a:solidFill>
                  <a:srgbClr val="3333FF"/>
                </a:solidFill>
                <a:latin typeface="+mn-ea"/>
                <a:ea typeface="+mn-ea"/>
              </a:rPr>
              <a:t>oR</a:t>
            </a:r>
            <a:r>
              <a:rPr lang="en-US" altLang="zh-CN" sz="2400" baseline="30000" dirty="0">
                <a:solidFill>
                  <a:srgbClr val="3333FF"/>
                </a:solidFill>
                <a:latin typeface="+mn-ea"/>
                <a:ea typeface="+mn-ea"/>
              </a:rPr>
              <a:t>-1</a:t>
            </a:r>
            <a:r>
              <a:rPr lang="en-US" altLang="zh-CN" sz="2400" dirty="0">
                <a:solidFill>
                  <a:srgbClr val="3333FF"/>
                </a:solidFill>
                <a:latin typeface="+mn-ea"/>
                <a:ea typeface="+mn-ea"/>
              </a:rPr>
              <a:t>={&lt;2,1&gt;,&lt;3,2&gt;,&lt;5,2&gt;,&lt;4,3&gt;,&lt;4,4&gt;,&lt;5,4&gt;}</a:t>
            </a:r>
            <a:endParaRPr lang="zh-CN" altLang="en-US" sz="2400" dirty="0">
              <a:solidFill>
                <a:srgbClr val="3333FF"/>
              </a:solidFill>
              <a:latin typeface="+mn-ea"/>
              <a:ea typeface="+mn-ea"/>
            </a:endParaRPr>
          </a:p>
        </p:txBody>
      </p:sp>
      <p:sp>
        <p:nvSpPr>
          <p:cNvPr id="150535" name="Rectangle 6"/>
          <p:cNvSpPr>
            <a:spLocks noChangeArrowheads="1"/>
          </p:cNvSpPr>
          <p:nvPr/>
        </p:nvSpPr>
        <p:spPr bwMode="auto">
          <a:xfrm>
            <a:off x="102015" y="1089584"/>
            <a:ext cx="70930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chemeClr val="tx1"/>
                </a:solidFill>
                <a:latin typeface="+mn-ea"/>
                <a:ea typeface="+mn-ea"/>
              </a:rPr>
              <a:t>（</a:t>
            </a:r>
            <a:r>
              <a:rPr lang="en-US" altLang="zh-CN" sz="2400" dirty="0">
                <a:solidFill>
                  <a:schemeClr val="tx1"/>
                </a:solidFill>
                <a:latin typeface="+mn-ea"/>
                <a:ea typeface="+mn-ea"/>
              </a:rPr>
              <a:t>2</a:t>
            </a:r>
            <a:r>
              <a:rPr lang="zh-CN" altLang="en-US" sz="2400" dirty="0">
                <a:solidFill>
                  <a:schemeClr val="tx1"/>
                </a:solidFill>
                <a:latin typeface="+mn-ea"/>
                <a:ea typeface="+mn-ea"/>
              </a:rPr>
              <a:t>）</a:t>
            </a:r>
            <a:r>
              <a:rPr lang="en-US" altLang="zh-CN" sz="2400" dirty="0">
                <a:solidFill>
                  <a:schemeClr val="tx1"/>
                </a:solidFill>
                <a:latin typeface="+mn-ea"/>
                <a:ea typeface="+mn-ea"/>
              </a:rPr>
              <a:t>R</a:t>
            </a:r>
            <a:r>
              <a:rPr lang="zh-CN" altLang="en-US" sz="2400" dirty="0">
                <a:solidFill>
                  <a:schemeClr val="tx1"/>
                </a:solidFill>
                <a:latin typeface="+mn-ea"/>
                <a:ea typeface="+mn-ea"/>
              </a:rPr>
              <a:t>和</a:t>
            </a:r>
            <a:r>
              <a:rPr lang="en-US" altLang="zh-CN" sz="2400" dirty="0">
                <a:solidFill>
                  <a:schemeClr val="tx1"/>
                </a:solidFill>
                <a:latin typeface="+mn-ea"/>
                <a:ea typeface="+mn-ea"/>
              </a:rPr>
              <a:t>R</a:t>
            </a:r>
            <a:r>
              <a:rPr lang="en-US" altLang="zh-CN" sz="2400" baseline="30000" dirty="0">
                <a:solidFill>
                  <a:schemeClr val="tx1"/>
                </a:solidFill>
                <a:latin typeface="+mn-ea"/>
                <a:ea typeface="+mn-ea"/>
              </a:rPr>
              <a:t>-1</a:t>
            </a:r>
            <a:r>
              <a:rPr lang="zh-CN" altLang="en-US" sz="2400" dirty="0">
                <a:solidFill>
                  <a:schemeClr val="tx1"/>
                </a:solidFill>
                <a:latin typeface="+mn-ea"/>
                <a:ea typeface="+mn-ea"/>
              </a:rPr>
              <a:t>的关系矩阵为：</a:t>
            </a:r>
            <a:endParaRPr lang="zh-CN" altLang="en-US" sz="2400" dirty="0">
              <a:solidFill>
                <a:schemeClr val="tx1"/>
              </a:solidFill>
              <a:latin typeface="+mn-ea"/>
              <a:ea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78660"/>
                                        </p:tgtEl>
                                        <p:attrNameLst>
                                          <p:attrName>style.visibility</p:attrName>
                                        </p:attrNameLst>
                                      </p:cBhvr>
                                      <p:to>
                                        <p:strVal val="visible"/>
                                      </p:to>
                                    </p:set>
                                    <p:anim calcmode="lin" valueType="num">
                                      <p:cBhvr additive="base">
                                        <p:cTn id="7" dur="500" fill="hold"/>
                                        <p:tgtEl>
                                          <p:spTgt spid="1478660"/>
                                        </p:tgtEl>
                                        <p:attrNameLst>
                                          <p:attrName>ppt_x</p:attrName>
                                        </p:attrNameLst>
                                      </p:cBhvr>
                                      <p:tavLst>
                                        <p:tav tm="0">
                                          <p:val>
                                            <p:strVal val="#ppt_x"/>
                                          </p:val>
                                        </p:tav>
                                        <p:tav tm="100000">
                                          <p:val>
                                            <p:strVal val="#ppt_x"/>
                                          </p:val>
                                        </p:tav>
                                      </p:tavLst>
                                    </p:anim>
                                    <p:anim calcmode="lin" valueType="num">
                                      <p:cBhvr additive="base">
                                        <p:cTn id="8" dur="500" fill="hold"/>
                                        <p:tgtEl>
                                          <p:spTgt spid="14786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78661">
                                            <p:txEl>
                                              <p:pRg st="0" end="0"/>
                                            </p:txEl>
                                          </p:spTgt>
                                        </p:tgtEl>
                                        <p:attrNameLst>
                                          <p:attrName>style.visibility</p:attrName>
                                        </p:attrNameLst>
                                      </p:cBhvr>
                                      <p:to>
                                        <p:strVal val="visible"/>
                                      </p:to>
                                    </p:set>
                                    <p:anim calcmode="lin" valueType="num">
                                      <p:cBhvr additive="base">
                                        <p:cTn id="13" dur="500" fill="hold"/>
                                        <p:tgtEl>
                                          <p:spTgt spid="147866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86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78661">
                                            <p:txEl>
                                              <p:pRg st="1" end="1"/>
                                            </p:txEl>
                                          </p:spTgt>
                                        </p:tgtEl>
                                        <p:attrNameLst>
                                          <p:attrName>style.visibility</p:attrName>
                                        </p:attrNameLst>
                                      </p:cBhvr>
                                      <p:to>
                                        <p:strVal val="visible"/>
                                      </p:to>
                                    </p:set>
                                    <p:anim calcmode="lin" valueType="num">
                                      <p:cBhvr additive="base">
                                        <p:cTn id="19" dur="500" fill="hold"/>
                                        <p:tgtEl>
                                          <p:spTgt spid="147866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786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78661">
                                            <p:txEl>
                                              <p:pRg st="2" end="2"/>
                                            </p:txEl>
                                          </p:spTgt>
                                        </p:tgtEl>
                                        <p:attrNameLst>
                                          <p:attrName>style.visibility</p:attrName>
                                        </p:attrNameLst>
                                      </p:cBhvr>
                                      <p:to>
                                        <p:strVal val="visible"/>
                                      </p:to>
                                    </p:set>
                                    <p:anim calcmode="lin" valueType="num">
                                      <p:cBhvr additive="base">
                                        <p:cTn id="25" dur="500" fill="hold"/>
                                        <p:tgtEl>
                                          <p:spTgt spid="147866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7866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78661">
                                            <p:txEl>
                                              <p:pRg st="3" end="3"/>
                                            </p:txEl>
                                          </p:spTgt>
                                        </p:tgtEl>
                                        <p:attrNameLst>
                                          <p:attrName>style.visibility</p:attrName>
                                        </p:attrNameLst>
                                      </p:cBhvr>
                                      <p:to>
                                        <p:strVal val="visible"/>
                                      </p:to>
                                    </p:set>
                                    <p:anim calcmode="lin" valueType="num">
                                      <p:cBhvr additive="base">
                                        <p:cTn id="31" dur="500" fill="hold"/>
                                        <p:tgtEl>
                                          <p:spTgt spid="147866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7866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78661">
                                            <p:txEl>
                                              <p:pRg st="4" end="4"/>
                                            </p:txEl>
                                          </p:spTgt>
                                        </p:tgtEl>
                                        <p:attrNameLst>
                                          <p:attrName>style.visibility</p:attrName>
                                        </p:attrNameLst>
                                      </p:cBhvr>
                                      <p:to>
                                        <p:strVal val="visible"/>
                                      </p:to>
                                    </p:set>
                                    <p:anim calcmode="lin" valueType="num">
                                      <p:cBhvr additive="base">
                                        <p:cTn id="37" dur="500" fill="hold"/>
                                        <p:tgtEl>
                                          <p:spTgt spid="147866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7866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2"/>
          <p:cNvSpPr>
            <a:spLocks noGrp="1" noChangeArrowheads="1"/>
          </p:cNvSpPr>
          <p:nvPr>
            <p:ph type="title"/>
          </p:nvPr>
        </p:nvSpPr>
        <p:spPr/>
        <p:txBody>
          <a:bodyPr/>
          <a:lstStyle/>
          <a:p>
            <a:pPr eaLnBrk="1" hangingPunct="1"/>
            <a:r>
              <a:rPr lang="zh-CN" altLang="en-US"/>
              <a:t>注意</a:t>
            </a:r>
            <a:endParaRPr lang="zh-CN" altLang="en-US"/>
          </a:p>
        </p:txBody>
      </p:sp>
      <p:sp>
        <p:nvSpPr>
          <p:cNvPr id="152580" name="Rectangle 3"/>
          <p:cNvSpPr>
            <a:spLocks noGrp="1" noChangeArrowheads="1"/>
          </p:cNvSpPr>
          <p:nvPr>
            <p:ph type="body" idx="1"/>
          </p:nvPr>
        </p:nvSpPr>
        <p:spPr>
          <a:xfrm>
            <a:off x="460375" y="1143794"/>
            <a:ext cx="11887200" cy="4114800"/>
          </a:xfrm>
        </p:spPr>
        <p:txBody>
          <a:bodyPr>
            <a:normAutofit/>
          </a:bodyPr>
          <a:lstStyle/>
          <a:p>
            <a:pPr marL="533400" indent="-533400">
              <a:lnSpc>
                <a:spcPct val="200000"/>
              </a:lnSpc>
              <a:buFont typeface="Wingdings" panose="05000000000000000000" pitchFamily="2" charset="2"/>
              <a:buAutoNum type="arabicPeriod"/>
            </a:pPr>
            <a:r>
              <a:rPr kumimoji="1" lang="zh-CN" altLang="en-US" dirty="0"/>
              <a:t>将</a:t>
            </a:r>
            <a:r>
              <a:rPr kumimoji="1" lang="en-US" altLang="zh-CN" dirty="0"/>
              <a:t>R</a:t>
            </a:r>
            <a:r>
              <a:rPr kumimoji="1" lang="zh-CN" altLang="en-US" dirty="0"/>
              <a:t>的关系图中</a:t>
            </a:r>
            <a:r>
              <a:rPr kumimoji="1" lang="zh-CN" altLang="en-US" dirty="0">
                <a:solidFill>
                  <a:srgbClr val="FF0000"/>
                </a:solidFill>
              </a:rPr>
              <a:t>有向边的方向改变成相反方向</a:t>
            </a:r>
            <a:r>
              <a:rPr kumimoji="1" lang="zh-CN" altLang="en-US" dirty="0"/>
              <a:t>即得</a:t>
            </a:r>
            <a:r>
              <a:rPr kumimoji="1" lang="en-US" altLang="zh-CN" dirty="0"/>
              <a:t>R</a:t>
            </a:r>
            <a:r>
              <a:rPr kumimoji="1" lang="en-US" altLang="zh-CN" baseline="30000" dirty="0"/>
              <a:t>-1</a:t>
            </a:r>
            <a:r>
              <a:rPr kumimoji="1" lang="zh-CN" altLang="en-US" dirty="0"/>
              <a:t>的关系图，反之亦然。</a:t>
            </a:r>
            <a:endParaRPr kumimoji="1" lang="zh-CN" altLang="en-US" dirty="0"/>
          </a:p>
          <a:p>
            <a:pPr marL="533400" indent="-533400">
              <a:lnSpc>
                <a:spcPct val="200000"/>
              </a:lnSpc>
              <a:buFont typeface="Wingdings" panose="05000000000000000000" pitchFamily="2" charset="2"/>
              <a:buAutoNum type="arabicPeriod"/>
            </a:pPr>
            <a:r>
              <a:rPr kumimoji="1" lang="zh-CN" altLang="en-US" dirty="0"/>
              <a:t>将</a:t>
            </a:r>
            <a:r>
              <a:rPr kumimoji="1" lang="en-US" altLang="zh-CN" dirty="0"/>
              <a:t>R</a:t>
            </a:r>
            <a:r>
              <a:rPr kumimoji="1" lang="zh-CN" altLang="en-US" dirty="0"/>
              <a:t>的关系</a:t>
            </a:r>
            <a:r>
              <a:rPr kumimoji="1" lang="zh-CN" altLang="en-US" dirty="0">
                <a:solidFill>
                  <a:srgbClr val="FF0000"/>
                </a:solidFill>
              </a:rPr>
              <a:t>矩阵转置</a:t>
            </a:r>
            <a:r>
              <a:rPr kumimoji="1" lang="zh-CN" altLang="en-US" dirty="0"/>
              <a:t>即得</a:t>
            </a:r>
            <a:r>
              <a:rPr kumimoji="1" lang="en-US" altLang="zh-CN" dirty="0"/>
              <a:t>R</a:t>
            </a:r>
            <a:r>
              <a:rPr kumimoji="1" lang="en-US" altLang="zh-CN" baseline="30000" dirty="0"/>
              <a:t>-1</a:t>
            </a:r>
            <a:r>
              <a:rPr kumimoji="1" lang="zh-CN" altLang="en-US" dirty="0"/>
              <a:t>的关系矩阵，即</a:t>
            </a:r>
            <a:r>
              <a:rPr kumimoji="1" lang="en-US" altLang="zh-CN" dirty="0">
                <a:solidFill>
                  <a:srgbClr val="0000CC"/>
                </a:solidFill>
              </a:rPr>
              <a:t>R</a:t>
            </a:r>
            <a:r>
              <a:rPr kumimoji="1" lang="zh-CN" altLang="en-US" dirty="0">
                <a:solidFill>
                  <a:srgbClr val="0000CC"/>
                </a:solidFill>
              </a:rPr>
              <a:t>和</a:t>
            </a:r>
            <a:r>
              <a:rPr kumimoji="1" lang="en-US" altLang="zh-CN" dirty="0">
                <a:solidFill>
                  <a:srgbClr val="0000CC"/>
                </a:solidFill>
              </a:rPr>
              <a:t>R</a:t>
            </a:r>
            <a:r>
              <a:rPr kumimoji="1" lang="en-US" altLang="zh-CN" baseline="30000" dirty="0">
                <a:solidFill>
                  <a:srgbClr val="0000CC"/>
                </a:solidFill>
              </a:rPr>
              <a:t>-1</a:t>
            </a:r>
            <a:r>
              <a:rPr kumimoji="1" lang="zh-CN" altLang="en-US" dirty="0">
                <a:solidFill>
                  <a:srgbClr val="0000CC"/>
                </a:solidFill>
              </a:rPr>
              <a:t>的关系矩阵互为转置矩阵。</a:t>
            </a:r>
            <a:endParaRPr kumimoji="1" lang="zh-CN" altLang="en-US" dirty="0">
              <a:solidFill>
                <a:srgbClr val="0000CC"/>
              </a:solidFill>
            </a:endParaRPr>
          </a:p>
          <a:p>
            <a:pPr marL="533400" indent="-533400">
              <a:lnSpc>
                <a:spcPct val="200000"/>
              </a:lnSpc>
              <a:buFont typeface="Wingdings" panose="05000000000000000000" pitchFamily="2" charset="2"/>
              <a:buAutoNum type="arabicPeriod"/>
            </a:pPr>
            <a:r>
              <a:rPr kumimoji="1" lang="en-US" altLang="zh-CN" dirty="0"/>
              <a:t>R</a:t>
            </a:r>
            <a:r>
              <a:rPr kumimoji="1" lang="en-US" altLang="zh-CN" baseline="30000" dirty="0"/>
              <a:t>-1</a:t>
            </a:r>
            <a:r>
              <a:rPr kumimoji="1" lang="zh-CN" altLang="en-US" dirty="0"/>
              <a:t>的定义域与值域正好是</a:t>
            </a:r>
            <a:r>
              <a:rPr kumimoji="1" lang="en-US" altLang="zh-CN" dirty="0"/>
              <a:t>R</a:t>
            </a:r>
            <a:r>
              <a:rPr kumimoji="1" lang="zh-CN" altLang="en-US" dirty="0"/>
              <a:t>的值域和定义域，即</a:t>
            </a:r>
            <a:r>
              <a:rPr kumimoji="1" lang="en-US" altLang="zh-CN" dirty="0" err="1">
                <a:solidFill>
                  <a:srgbClr val="FF0000"/>
                </a:solidFill>
              </a:rPr>
              <a:t>domR</a:t>
            </a:r>
            <a:r>
              <a:rPr kumimoji="1" lang="en-US" altLang="zh-CN" dirty="0">
                <a:solidFill>
                  <a:srgbClr val="FF0000"/>
                </a:solidFill>
              </a:rPr>
              <a:t>=ranR</a:t>
            </a:r>
            <a:r>
              <a:rPr kumimoji="1" lang="en-US" altLang="zh-CN" baseline="30000" dirty="0">
                <a:solidFill>
                  <a:srgbClr val="FF0000"/>
                </a:solidFill>
              </a:rPr>
              <a:t>-1</a:t>
            </a:r>
            <a:r>
              <a:rPr kumimoji="1" lang="zh-CN" altLang="en-US" dirty="0">
                <a:solidFill>
                  <a:srgbClr val="FF0000"/>
                </a:solidFill>
              </a:rPr>
              <a:t>，</a:t>
            </a:r>
            <a:r>
              <a:rPr kumimoji="1" lang="en-US" altLang="zh-CN" dirty="0">
                <a:solidFill>
                  <a:srgbClr val="FF0000"/>
                </a:solidFill>
              </a:rPr>
              <a:t>domR</a:t>
            </a:r>
            <a:r>
              <a:rPr kumimoji="1" lang="en-US" altLang="zh-CN" baseline="30000" dirty="0">
                <a:solidFill>
                  <a:srgbClr val="FF0000"/>
                </a:solidFill>
              </a:rPr>
              <a:t>-1</a:t>
            </a:r>
            <a:r>
              <a:rPr kumimoji="1" lang="en-US" altLang="zh-CN" dirty="0">
                <a:solidFill>
                  <a:srgbClr val="FF0000"/>
                </a:solidFill>
              </a:rPr>
              <a:t>=</a:t>
            </a:r>
            <a:r>
              <a:rPr kumimoji="1" lang="en-US" altLang="zh-CN" dirty="0" err="1">
                <a:solidFill>
                  <a:srgbClr val="FF0000"/>
                </a:solidFill>
              </a:rPr>
              <a:t>ranR</a:t>
            </a:r>
            <a:r>
              <a:rPr kumimoji="1" lang="zh-CN" altLang="en-US" dirty="0">
                <a:solidFill>
                  <a:srgbClr val="FF0000"/>
                </a:solidFill>
              </a:rPr>
              <a:t>。</a:t>
            </a:r>
            <a:endParaRPr kumimoji="1" lang="zh-CN" altLang="en-US" dirty="0">
              <a:solidFill>
                <a:srgbClr val="FF0000"/>
              </a:solidFill>
            </a:endParaRPr>
          </a:p>
          <a:p>
            <a:pPr marL="533400" indent="-533400">
              <a:lnSpc>
                <a:spcPct val="200000"/>
              </a:lnSpc>
              <a:buFont typeface="Wingdings" panose="05000000000000000000" pitchFamily="2" charset="2"/>
              <a:buAutoNum type="arabicPeriod"/>
            </a:pPr>
            <a:r>
              <a:rPr kumimoji="1" lang="pt-BR" altLang="zh-CN" dirty="0"/>
              <a:t>|R|=|R</a:t>
            </a:r>
            <a:r>
              <a:rPr kumimoji="1" lang="pt-BR" altLang="zh-CN" baseline="30000" dirty="0"/>
              <a:t>-1</a:t>
            </a:r>
            <a:r>
              <a:rPr kumimoji="1" lang="pt-BR" altLang="zh-CN" dirty="0"/>
              <a:t>|</a:t>
            </a:r>
            <a:r>
              <a:rPr kumimoji="1" lang="zh-CN" altLang="en-US" dirty="0"/>
              <a:t>。</a:t>
            </a:r>
            <a:endParaRPr kumimoji="1" lang="zh-CN" altLang="en-US" dirty="0"/>
          </a:p>
          <a:p>
            <a:pPr marL="533400" indent="-533400">
              <a:lnSpc>
                <a:spcPct val="200000"/>
              </a:lnSpc>
              <a:buFont typeface="Wingdings" panose="05000000000000000000" pitchFamily="2" charset="2"/>
              <a:buAutoNum type="arabicPeriod"/>
            </a:pPr>
            <a:r>
              <a:rPr kumimoji="1" lang="pt-BR" altLang="zh-CN" dirty="0"/>
              <a:t>(RoS)</a:t>
            </a:r>
            <a:r>
              <a:rPr kumimoji="1" lang="pt-BR" altLang="zh-CN" baseline="30000" dirty="0"/>
              <a:t>-1</a:t>
            </a:r>
            <a:r>
              <a:rPr kumimoji="1" lang="pt-BR" altLang="zh-CN" dirty="0"/>
              <a:t>=S</a:t>
            </a:r>
            <a:r>
              <a:rPr kumimoji="1" lang="pt-BR" altLang="zh-CN" baseline="30000" dirty="0"/>
              <a:t>-1</a:t>
            </a:r>
            <a:r>
              <a:rPr kumimoji="1" lang="pt-BR" altLang="zh-CN" dirty="0"/>
              <a:t>oR</a:t>
            </a:r>
            <a:r>
              <a:rPr kumimoji="1" lang="pt-BR" altLang="zh-CN" baseline="30000" dirty="0"/>
              <a:t>-1</a:t>
            </a:r>
            <a:r>
              <a:rPr kumimoji="1" lang="zh-CN" altLang="pt-BR" dirty="0"/>
              <a:t>。</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853407" y="289552"/>
            <a:ext cx="8066367" cy="585923"/>
          </a:xfrm>
        </p:spPr>
        <p:txBody>
          <a:bodyPr/>
          <a:lstStyle/>
          <a:p>
            <a:pPr eaLnBrk="1" hangingPunct="1"/>
            <a:r>
              <a:rPr lang="zh-CN" altLang="en-US" dirty="0"/>
              <a:t>定理</a:t>
            </a:r>
            <a:r>
              <a:rPr lang="en-US" altLang="zh-CN" dirty="0"/>
              <a:t>4.6</a:t>
            </a:r>
            <a:endParaRPr lang="zh-CN" altLang="en-US" dirty="0"/>
          </a:p>
        </p:txBody>
      </p:sp>
      <p:sp>
        <p:nvSpPr>
          <p:cNvPr id="1648643" name="Rectangle 3"/>
          <p:cNvSpPr>
            <a:spLocks noGrp="1" noChangeArrowheads="1"/>
          </p:cNvSpPr>
          <p:nvPr>
            <p:ph type="body" idx="1"/>
          </p:nvPr>
        </p:nvSpPr>
        <p:spPr>
          <a:xfrm>
            <a:off x="307975" y="1082017"/>
            <a:ext cx="11582400" cy="1295400"/>
          </a:xfrm>
        </p:spPr>
        <p:txBody>
          <a:bodyPr/>
          <a:lstStyle/>
          <a:p>
            <a:pPr marL="0" indent="0">
              <a:lnSpc>
                <a:spcPct val="150000"/>
              </a:lnSpc>
              <a:buNone/>
            </a:pPr>
            <a:r>
              <a:rPr lang="zh-CN" altLang="en-US" dirty="0">
                <a:solidFill>
                  <a:srgbClr val="C00000"/>
                </a:solidFill>
              </a:rPr>
              <a:t>定理</a:t>
            </a:r>
            <a:r>
              <a:rPr lang="en-US" altLang="zh-CN" dirty="0">
                <a:solidFill>
                  <a:srgbClr val="C00000"/>
                </a:solidFill>
              </a:rPr>
              <a:t>4.6  </a:t>
            </a:r>
            <a:r>
              <a:rPr lang="zh-CN" altLang="pt-BR" dirty="0"/>
              <a:t>设</a:t>
            </a:r>
            <a:r>
              <a:rPr lang="pt-BR" altLang="zh-CN" dirty="0"/>
              <a:t>A</a:t>
            </a:r>
            <a:r>
              <a:rPr lang="zh-CN" altLang="pt-BR" dirty="0"/>
              <a:t>、</a:t>
            </a:r>
            <a:r>
              <a:rPr lang="pt-BR" altLang="zh-CN" dirty="0"/>
              <a:t>B</a:t>
            </a:r>
            <a:r>
              <a:rPr lang="zh-CN" altLang="pt-BR" dirty="0"/>
              <a:t>和</a:t>
            </a:r>
            <a:r>
              <a:rPr lang="pt-BR" altLang="zh-CN" dirty="0"/>
              <a:t>C</a:t>
            </a:r>
            <a:r>
              <a:rPr lang="zh-CN" altLang="pt-BR" dirty="0"/>
              <a:t>是任意三个集合，</a:t>
            </a:r>
            <a:r>
              <a:rPr lang="pt-BR" altLang="zh-CN" dirty="0"/>
              <a:t>R,S</a:t>
            </a:r>
            <a:r>
              <a:rPr lang="zh-CN" altLang="pt-BR" dirty="0"/>
              <a:t>分别是从</a:t>
            </a:r>
            <a:r>
              <a:rPr lang="pt-BR" altLang="zh-CN" dirty="0"/>
              <a:t>A</a:t>
            </a:r>
            <a:r>
              <a:rPr lang="zh-CN" altLang="pt-BR" dirty="0"/>
              <a:t>到</a:t>
            </a:r>
            <a:r>
              <a:rPr lang="pt-BR" altLang="zh-CN" dirty="0"/>
              <a:t>B</a:t>
            </a:r>
            <a:r>
              <a:rPr lang="zh-CN" altLang="pt-BR" dirty="0"/>
              <a:t>，</a:t>
            </a:r>
            <a:r>
              <a:rPr lang="pt-BR" altLang="zh-CN" dirty="0"/>
              <a:t>B</a:t>
            </a:r>
            <a:r>
              <a:rPr lang="zh-CN" altLang="pt-BR" dirty="0"/>
              <a:t>到</a:t>
            </a:r>
            <a:r>
              <a:rPr lang="pt-BR" altLang="zh-CN" dirty="0"/>
              <a:t>C</a:t>
            </a:r>
            <a:r>
              <a:rPr lang="zh-CN" altLang="pt-BR" dirty="0"/>
              <a:t>的二元关系，则</a:t>
            </a:r>
            <a:endParaRPr lang="zh-CN" altLang="pt-BR" dirty="0"/>
          </a:p>
          <a:p>
            <a:pPr marL="0" indent="0" algn="r">
              <a:lnSpc>
                <a:spcPct val="150000"/>
              </a:lnSpc>
              <a:buNone/>
            </a:pPr>
            <a:r>
              <a:rPr lang="pt-BR" altLang="zh-CN" dirty="0"/>
              <a:t>(RoS)</a:t>
            </a:r>
            <a:r>
              <a:rPr lang="pt-BR" altLang="zh-CN" baseline="30000" dirty="0">
                <a:solidFill>
                  <a:srgbClr val="0000FF"/>
                </a:solidFill>
              </a:rPr>
              <a:t>-1</a:t>
            </a:r>
            <a:r>
              <a:rPr lang="pt-BR" altLang="zh-CN" dirty="0"/>
              <a:t>=S</a:t>
            </a:r>
            <a:r>
              <a:rPr lang="pt-BR" altLang="zh-CN" baseline="30000" dirty="0">
                <a:solidFill>
                  <a:srgbClr val="0000FF"/>
                </a:solidFill>
              </a:rPr>
              <a:t>-1</a:t>
            </a:r>
            <a:r>
              <a:rPr lang="pt-BR" altLang="zh-CN" dirty="0"/>
              <a:t>oR</a:t>
            </a:r>
            <a:r>
              <a:rPr lang="pt-BR" altLang="zh-CN" baseline="30000" dirty="0">
                <a:solidFill>
                  <a:srgbClr val="0000FF"/>
                </a:solidFill>
              </a:rPr>
              <a:t>-1</a:t>
            </a:r>
            <a:r>
              <a:rPr lang="zh-CN" altLang="en-US" baseline="30000" dirty="0">
                <a:solidFill>
                  <a:srgbClr val="0000FF"/>
                </a:solidFill>
              </a:rPr>
              <a:t>   </a:t>
            </a:r>
            <a:r>
              <a:rPr lang="zh-CN" altLang="pt-BR" dirty="0"/>
              <a:t>                                          </a:t>
            </a:r>
            <a:r>
              <a:rPr lang="zh-CN" altLang="en-US" dirty="0"/>
              <a:t>（</a:t>
            </a:r>
            <a:r>
              <a:rPr lang="en-US" altLang="zh-CN" dirty="0"/>
              <a:t>4-9</a:t>
            </a:r>
            <a:r>
              <a:rPr lang="zh-CN" altLang="en-US" dirty="0"/>
              <a:t>）</a:t>
            </a:r>
            <a:endParaRPr lang="zh-CN" altLang="en-US" dirty="0"/>
          </a:p>
        </p:txBody>
      </p:sp>
      <p:sp>
        <p:nvSpPr>
          <p:cNvPr id="2" name="矩形 1"/>
          <p:cNvSpPr/>
          <p:nvPr/>
        </p:nvSpPr>
        <p:spPr>
          <a:xfrm>
            <a:off x="327192" y="2252651"/>
            <a:ext cx="11258383" cy="4459041"/>
          </a:xfrm>
          <a:prstGeom prst="rect">
            <a:avLst/>
          </a:prstGeom>
        </p:spPr>
        <p:txBody>
          <a:bodyPr wrap="square">
            <a:spAutoFit/>
          </a:bodyPr>
          <a:lstStyle/>
          <a:p>
            <a:pPr>
              <a:lnSpc>
                <a:spcPct val="150000"/>
              </a:lnSpc>
            </a:pPr>
            <a:r>
              <a:rPr lang="zh-CN" altLang="en-US" b="1" dirty="0">
                <a:solidFill>
                  <a:srgbClr val="C00000"/>
                </a:solidFill>
                <a:latin typeface="+mn-ea"/>
              </a:rPr>
              <a:t>证明</a:t>
            </a:r>
            <a:r>
              <a:rPr lang="zh-CN" altLang="en-US" b="1" dirty="0">
                <a:latin typeface="+mn-ea"/>
              </a:rPr>
              <a:t>  ∀</a:t>
            </a:r>
            <a:r>
              <a:rPr lang="en-US" altLang="zh-CN" b="1" dirty="0">
                <a:latin typeface="+mn-ea"/>
              </a:rPr>
              <a:t>&lt;</a:t>
            </a:r>
            <a:r>
              <a:rPr lang="en-US" altLang="zh-CN" b="1" dirty="0" err="1">
                <a:latin typeface="+mn-ea"/>
              </a:rPr>
              <a:t>c,a</a:t>
            </a:r>
            <a:r>
              <a:rPr lang="en-US" altLang="zh-CN" b="1" dirty="0">
                <a:latin typeface="+mn-ea"/>
              </a:rPr>
              <a:t>&gt;</a:t>
            </a:r>
            <a:r>
              <a:rPr lang="zh-CN" altLang="en-US" b="1" dirty="0">
                <a:latin typeface="+mn-ea"/>
              </a:rPr>
              <a:t>，</a:t>
            </a:r>
            <a:endParaRPr lang="zh-CN" altLang="en-US" b="1" dirty="0">
              <a:latin typeface="+mn-ea"/>
            </a:endParaRPr>
          </a:p>
          <a:p>
            <a:pPr>
              <a:lnSpc>
                <a:spcPct val="150000"/>
              </a:lnSpc>
            </a:pPr>
            <a:r>
              <a:rPr lang="en-US" altLang="zh-CN" b="1" dirty="0">
                <a:latin typeface="+mn-ea"/>
              </a:rPr>
              <a:t>           &lt;</a:t>
            </a:r>
            <a:r>
              <a:rPr lang="en-US" altLang="zh-CN" b="1" dirty="0" err="1">
                <a:latin typeface="+mn-ea"/>
              </a:rPr>
              <a:t>c,a</a:t>
            </a:r>
            <a:r>
              <a:rPr lang="en-US" altLang="zh-CN" b="1" dirty="0">
                <a:latin typeface="+mn-ea"/>
              </a:rPr>
              <a:t>&gt;</a:t>
            </a:r>
            <a:r>
              <a:rPr lang="en-US" altLang="zh-CN" dirty="0"/>
              <a:t>∈</a:t>
            </a:r>
            <a:r>
              <a:rPr lang="en-US" altLang="zh-CN" b="1" dirty="0">
                <a:latin typeface="+mn-ea"/>
              </a:rPr>
              <a:t>(</a:t>
            </a:r>
            <a:r>
              <a:rPr lang="en-US" altLang="zh-CN" b="1" dirty="0" err="1">
                <a:latin typeface="+mn-ea"/>
              </a:rPr>
              <a:t>RoS</a:t>
            </a:r>
            <a:r>
              <a:rPr lang="en-US" altLang="zh-CN" b="1" dirty="0">
                <a:latin typeface="+mn-ea"/>
              </a:rPr>
              <a:t>)</a:t>
            </a:r>
            <a:r>
              <a:rPr lang="en-US" altLang="zh-CN" b="1" baseline="30000" dirty="0">
                <a:latin typeface="+mn-ea"/>
              </a:rPr>
              <a:t>−1</a:t>
            </a:r>
            <a:endParaRPr lang="en-US" altLang="zh-CN" b="1" baseline="30000" dirty="0">
              <a:latin typeface="+mn-ea"/>
            </a:endParaRP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∧&lt;</a:t>
            </a:r>
            <a:r>
              <a:rPr lang="en-US" altLang="zh-CN" b="1" dirty="0" err="1">
                <a:latin typeface="+mn-ea"/>
              </a:rPr>
              <a:t>a,c</a:t>
            </a:r>
            <a:r>
              <a:rPr lang="en-US" altLang="zh-CN" b="1" dirty="0">
                <a:latin typeface="+mn-ea"/>
              </a:rPr>
              <a:t>&gt;</a:t>
            </a:r>
            <a:r>
              <a:rPr lang="en-US" altLang="zh-CN" dirty="0"/>
              <a:t>∈</a:t>
            </a:r>
            <a:r>
              <a:rPr lang="en-US" altLang="zh-CN" b="1" dirty="0" err="1">
                <a:latin typeface="+mn-ea"/>
              </a:rPr>
              <a:t>RoS</a:t>
            </a:r>
            <a:endParaRPr lang="en-US" altLang="zh-CN" b="1" dirty="0">
              <a:latin typeface="+mn-ea"/>
            </a:endParaRP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a:t>
            </a:r>
            <a:r>
              <a:rPr lang="en-US" altLang="zh-CN" dirty="0">
                <a:sym typeface="Symbol" panose="05050102010706020507" pitchFamily="18" charset="2"/>
              </a:rPr>
              <a:t></a:t>
            </a:r>
            <a:r>
              <a:rPr lang="en-US" altLang="zh-CN" b="1" dirty="0">
                <a:latin typeface="+mn-ea"/>
              </a:rPr>
              <a:t>b(</a:t>
            </a:r>
            <a:r>
              <a:rPr lang="en-US" altLang="zh-CN" b="1" dirty="0" err="1">
                <a:latin typeface="+mn-ea"/>
              </a:rPr>
              <a:t>b</a:t>
            </a:r>
            <a:r>
              <a:rPr lang="en-US" altLang="zh-CN" dirty="0" err="1"/>
              <a:t>∈</a:t>
            </a:r>
            <a:r>
              <a:rPr lang="en-US" altLang="zh-CN" b="1" dirty="0" err="1">
                <a:latin typeface="+mn-ea"/>
              </a:rPr>
              <a:t>B</a:t>
            </a:r>
            <a:r>
              <a:rPr lang="en-US" altLang="zh-CN" b="1" dirty="0">
                <a:latin typeface="+mn-ea"/>
              </a:rPr>
              <a:t>∧&lt;</a:t>
            </a:r>
            <a:r>
              <a:rPr lang="en-US" altLang="zh-CN" b="1" dirty="0" err="1">
                <a:latin typeface="+mn-ea"/>
              </a:rPr>
              <a:t>a,b</a:t>
            </a:r>
            <a:r>
              <a:rPr lang="en-US" altLang="zh-CN" b="1" dirty="0">
                <a:latin typeface="+mn-ea"/>
              </a:rPr>
              <a:t>&gt;∈R∧&lt;</a:t>
            </a:r>
            <a:r>
              <a:rPr lang="en-US" altLang="zh-CN" b="1" dirty="0" err="1">
                <a:latin typeface="+mn-ea"/>
              </a:rPr>
              <a:t>b,c</a:t>
            </a:r>
            <a:r>
              <a:rPr lang="en-US" altLang="zh-CN" b="1" dirty="0">
                <a:latin typeface="+mn-ea"/>
              </a:rPr>
              <a:t>&gt;</a:t>
            </a:r>
            <a:r>
              <a:rPr lang="en-US" altLang="zh-CN" dirty="0"/>
              <a:t>∈</a:t>
            </a:r>
            <a:r>
              <a:rPr lang="en-US" altLang="zh-CN" b="1" dirty="0">
                <a:latin typeface="+mn-ea"/>
              </a:rPr>
              <a:t>S)</a:t>
            </a:r>
            <a:endParaRPr lang="en-US" altLang="zh-CN" b="1" dirty="0">
              <a:latin typeface="+mn-ea"/>
            </a:endParaRP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a:t>
            </a:r>
            <a:r>
              <a:rPr lang="en-US" altLang="zh-CN" dirty="0">
                <a:sym typeface="Symbol" panose="05050102010706020507" pitchFamily="18" charset="2"/>
              </a:rPr>
              <a:t></a:t>
            </a:r>
            <a:r>
              <a:rPr lang="en-US" altLang="zh-CN" b="1" dirty="0">
                <a:latin typeface="+mn-ea"/>
              </a:rPr>
              <a:t>b(b</a:t>
            </a:r>
            <a:r>
              <a:rPr lang="en-US" altLang="zh-CN" dirty="0"/>
              <a:t>∈</a:t>
            </a:r>
            <a:r>
              <a:rPr lang="en-US" altLang="zh-CN" b="1" dirty="0">
                <a:latin typeface="+mn-ea"/>
              </a:rPr>
              <a:t> B∧&lt;</a:t>
            </a:r>
            <a:r>
              <a:rPr lang="en-US" altLang="zh-CN" b="1" dirty="0" err="1">
                <a:latin typeface="+mn-ea"/>
              </a:rPr>
              <a:t>b,a</a:t>
            </a:r>
            <a:r>
              <a:rPr lang="en-US" altLang="zh-CN" b="1" dirty="0">
                <a:latin typeface="+mn-ea"/>
              </a:rPr>
              <a:t>&gt;</a:t>
            </a:r>
            <a:r>
              <a:rPr lang="en-US" altLang="zh-CN" dirty="0"/>
              <a:t>∈</a:t>
            </a:r>
            <a:r>
              <a:rPr lang="en-US" altLang="zh-CN" b="1" dirty="0">
                <a:latin typeface="+mn-ea"/>
              </a:rPr>
              <a:t>R</a:t>
            </a:r>
            <a:r>
              <a:rPr lang="en-US" altLang="zh-CN" b="1" baseline="30000" dirty="0">
                <a:latin typeface="+mn-ea"/>
              </a:rPr>
              <a:t>−1</a:t>
            </a:r>
            <a:r>
              <a:rPr lang="en-US" altLang="zh-CN" b="1" dirty="0">
                <a:latin typeface="+mn-ea"/>
              </a:rPr>
              <a:t>∧&lt;</a:t>
            </a:r>
            <a:r>
              <a:rPr lang="en-US" altLang="zh-CN" b="1" dirty="0" err="1">
                <a:latin typeface="+mn-ea"/>
              </a:rPr>
              <a:t>c,b</a:t>
            </a:r>
            <a:r>
              <a:rPr lang="en-US" altLang="zh-CN" b="1" dirty="0">
                <a:latin typeface="+mn-ea"/>
              </a:rPr>
              <a:t>&gt;</a:t>
            </a:r>
            <a:r>
              <a:rPr lang="en-US" altLang="zh-CN" dirty="0"/>
              <a:t>∈</a:t>
            </a:r>
            <a:r>
              <a:rPr lang="en-US" altLang="zh-CN" b="1" dirty="0">
                <a:latin typeface="+mn-ea"/>
              </a:rPr>
              <a:t>S</a:t>
            </a:r>
            <a:r>
              <a:rPr lang="en-US" altLang="zh-CN" b="1" baseline="30000" dirty="0">
                <a:latin typeface="+mn-ea"/>
              </a:rPr>
              <a:t>−1</a:t>
            </a:r>
            <a:r>
              <a:rPr lang="en-US" altLang="zh-CN" b="1" dirty="0">
                <a:latin typeface="+mn-ea"/>
              </a:rPr>
              <a:t>)</a:t>
            </a:r>
            <a:endParaRPr lang="en-US" altLang="zh-CN" b="1" dirty="0">
              <a:latin typeface="+mn-ea"/>
            </a:endParaRP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err="1">
                <a:latin typeface="+mn-ea"/>
              </a:rPr>
              <a:t>a∈A∧c</a:t>
            </a:r>
            <a:r>
              <a:rPr lang="en-US" altLang="zh-CN" dirty="0" err="1"/>
              <a:t>∈</a:t>
            </a:r>
            <a:r>
              <a:rPr lang="en-US" altLang="zh-CN" b="1" dirty="0" err="1">
                <a:latin typeface="+mn-ea"/>
              </a:rPr>
              <a:t>C</a:t>
            </a:r>
            <a:r>
              <a:rPr lang="en-US" altLang="zh-CN" b="1" dirty="0">
                <a:latin typeface="+mn-ea"/>
              </a:rPr>
              <a:t>∧&lt;</a:t>
            </a:r>
            <a:r>
              <a:rPr lang="en-US" altLang="zh-CN" b="1" dirty="0" err="1">
                <a:latin typeface="+mn-ea"/>
              </a:rPr>
              <a:t>c,a</a:t>
            </a:r>
            <a:r>
              <a:rPr lang="en-US" altLang="zh-CN" b="1" dirty="0">
                <a:latin typeface="+mn-ea"/>
              </a:rPr>
              <a:t>&gt;</a:t>
            </a:r>
            <a:r>
              <a:rPr lang="en-US" altLang="zh-CN" dirty="0"/>
              <a:t>∈</a:t>
            </a:r>
            <a:r>
              <a:rPr lang="en-US" altLang="zh-CN" b="1" dirty="0">
                <a:latin typeface="+mn-ea"/>
              </a:rPr>
              <a:t>S</a:t>
            </a:r>
            <a:r>
              <a:rPr lang="en-US" altLang="zh-CN" b="1" baseline="30000" dirty="0">
                <a:latin typeface="+mn-ea"/>
              </a:rPr>
              <a:t>−1</a:t>
            </a:r>
            <a:r>
              <a:rPr lang="en-US" altLang="zh-CN" b="1" dirty="0">
                <a:latin typeface="+mn-ea"/>
              </a:rPr>
              <a:t>oR</a:t>
            </a:r>
            <a:r>
              <a:rPr lang="en-US" altLang="zh-CN" b="1" baseline="30000" dirty="0">
                <a:latin typeface="+mn-ea"/>
              </a:rPr>
              <a:t>−1</a:t>
            </a:r>
            <a:endParaRPr lang="en-US" altLang="zh-CN" b="1" baseline="30000" dirty="0">
              <a:latin typeface="+mn-ea"/>
            </a:endParaRPr>
          </a:p>
          <a:p>
            <a:pPr>
              <a:lnSpc>
                <a:spcPct val="150000"/>
              </a:lnSpc>
            </a:pPr>
            <a:r>
              <a:rPr lang="en-US" altLang="zh-CN" b="1" dirty="0">
                <a:latin typeface="+mn-ea"/>
              </a:rPr>
              <a:t>        </a:t>
            </a:r>
            <a:r>
              <a:rPr lang="zh-CN" altLang="en-US" dirty="0">
                <a:sym typeface="Symbol" panose="05050102010706020507" pitchFamily="18" charset="2"/>
              </a:rPr>
              <a:t> </a:t>
            </a:r>
            <a:r>
              <a:rPr lang="en-US" altLang="zh-CN" b="1" dirty="0">
                <a:latin typeface="+mn-ea"/>
              </a:rPr>
              <a:t>&lt;</a:t>
            </a:r>
            <a:r>
              <a:rPr lang="en-US" altLang="zh-CN" b="1" dirty="0" err="1">
                <a:latin typeface="+mn-ea"/>
              </a:rPr>
              <a:t>c,a</a:t>
            </a:r>
            <a:r>
              <a:rPr lang="en-US" altLang="zh-CN" b="1" dirty="0">
                <a:latin typeface="+mn-ea"/>
              </a:rPr>
              <a:t>&gt;</a:t>
            </a:r>
            <a:r>
              <a:rPr lang="en-US" altLang="zh-CN" dirty="0"/>
              <a:t>∈</a:t>
            </a:r>
            <a:r>
              <a:rPr lang="en-US" altLang="zh-CN" b="1" dirty="0">
                <a:latin typeface="+mn-ea"/>
              </a:rPr>
              <a:t>S</a:t>
            </a:r>
            <a:r>
              <a:rPr lang="en-US" altLang="zh-CN" b="1" baseline="30000" dirty="0">
                <a:latin typeface="+mn-ea"/>
              </a:rPr>
              <a:t>−1</a:t>
            </a:r>
            <a:r>
              <a:rPr lang="en-US" altLang="zh-CN" b="1" dirty="0">
                <a:latin typeface="+mn-ea"/>
              </a:rPr>
              <a:t>oR</a:t>
            </a:r>
            <a:r>
              <a:rPr lang="en-US" altLang="zh-CN" b="1" baseline="30000" dirty="0">
                <a:latin typeface="+mn-ea"/>
              </a:rPr>
              <a:t>−1</a:t>
            </a:r>
            <a:endParaRPr lang="zh-CN" altLang="en-US" b="1" dirty="0">
              <a:latin typeface="+mn-ea"/>
            </a:endParaRPr>
          </a:p>
          <a:p>
            <a:pPr>
              <a:lnSpc>
                <a:spcPct val="150000"/>
              </a:lnSpc>
            </a:pPr>
            <a:r>
              <a:rPr lang="zh-CN" altLang="en-US" b="1" dirty="0">
                <a:latin typeface="+mn-ea"/>
              </a:rPr>
              <a:t>即</a:t>
            </a:r>
            <a:r>
              <a:rPr lang="en-US" altLang="zh-CN" b="1" dirty="0">
                <a:latin typeface="+mn-ea"/>
              </a:rPr>
              <a:t>(Ro S)</a:t>
            </a:r>
            <a:r>
              <a:rPr lang="en-US" altLang="zh-CN" b="1" baseline="30000" dirty="0">
                <a:latin typeface="+mn-ea"/>
              </a:rPr>
              <a:t>−1</a:t>
            </a:r>
            <a:r>
              <a:rPr lang="zh-CN" altLang="en-US" b="1" dirty="0">
                <a:latin typeface="+mn-ea"/>
              </a:rPr>
              <a:t>＝</a:t>
            </a:r>
            <a:r>
              <a:rPr lang="en-US" altLang="zh-CN" b="1" dirty="0">
                <a:latin typeface="+mn-ea"/>
              </a:rPr>
              <a:t>S</a:t>
            </a:r>
            <a:r>
              <a:rPr lang="en-US" altLang="zh-CN" b="1" baseline="30000" dirty="0">
                <a:latin typeface="+mn-ea"/>
              </a:rPr>
              <a:t>−1</a:t>
            </a:r>
            <a:r>
              <a:rPr lang="en-US" altLang="zh-CN" b="1" dirty="0">
                <a:latin typeface="+mn-ea"/>
              </a:rPr>
              <a:t>oR</a:t>
            </a:r>
            <a:r>
              <a:rPr lang="en-US" altLang="zh-CN" b="1" baseline="30000" dirty="0">
                <a:latin typeface="+mn-ea"/>
              </a:rPr>
              <a:t>−1</a:t>
            </a:r>
            <a:r>
              <a:rPr lang="zh-CN" altLang="en-US" b="1" dirty="0">
                <a:latin typeface="+mn-ea"/>
              </a:rPr>
              <a:t>。</a:t>
            </a:r>
            <a:endParaRPr lang="zh-CN" altLang="en-US" b="1"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wipe(down)">
                                      <p:cBhvr>
                                        <p:cTn id="33" dur="500"/>
                                        <p:tgtEl>
                                          <p:spTgt spid="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circle(in)">
                                      <p:cBhvr>
                                        <p:cTn id="38" dur="2000"/>
                                        <p:tgtEl>
                                          <p:spTgt spid="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circle(in)">
                                      <p:cBhvr>
                                        <p:cTn id="43" dur="2000"/>
                                        <p:tgtEl>
                                          <p:spTgt spid="2">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Effect transition="in" filter="circle(in)">
                                      <p:cBhvr>
                                        <p:cTn id="48" dur="2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6850" name="Rectangle 2"/>
          <p:cNvSpPr>
            <a:spLocks noGrp="1" noChangeArrowheads="1"/>
          </p:cNvSpPr>
          <p:nvPr>
            <p:ph type="body" idx="1"/>
          </p:nvPr>
        </p:nvSpPr>
        <p:spPr>
          <a:xfrm>
            <a:off x="428901" y="991393"/>
            <a:ext cx="10318474" cy="5029201"/>
          </a:xfrm>
        </p:spPr>
        <p:txBody>
          <a:bodyPr/>
          <a:lstStyle/>
          <a:p>
            <a:pPr marL="533400" indent="-533400">
              <a:lnSpc>
                <a:spcPct val="150000"/>
              </a:lnSpc>
              <a:spcBef>
                <a:spcPct val="30000"/>
              </a:spcBef>
              <a:buNone/>
            </a:pPr>
            <a:r>
              <a:rPr lang="zh-CN" altLang="en-US" dirty="0">
                <a:solidFill>
                  <a:srgbClr val="C00000"/>
                </a:solidFill>
              </a:rPr>
              <a:t>定理</a:t>
            </a:r>
            <a:r>
              <a:rPr lang="en-US" altLang="zh-CN" dirty="0">
                <a:solidFill>
                  <a:srgbClr val="C00000"/>
                </a:solidFill>
              </a:rPr>
              <a:t>4.7  </a:t>
            </a:r>
            <a:r>
              <a:rPr lang="zh-CN" altLang="en-US" dirty="0"/>
              <a:t>设</a:t>
            </a:r>
            <a:r>
              <a:rPr lang="pt-BR" altLang="zh-CN" dirty="0"/>
              <a:t>R</a:t>
            </a:r>
            <a:r>
              <a:rPr lang="zh-CN" altLang="zh-CN" dirty="0"/>
              <a:t>：</a:t>
            </a:r>
            <a:r>
              <a:rPr lang="pt-BR" altLang="zh-CN" dirty="0"/>
              <a:t>A→B</a:t>
            </a:r>
            <a:r>
              <a:rPr lang="zh-CN" altLang="zh-CN" dirty="0"/>
              <a:t>，</a:t>
            </a:r>
            <a:r>
              <a:rPr lang="en-US" altLang="zh-CN" dirty="0"/>
              <a:t>S</a:t>
            </a:r>
            <a:r>
              <a:rPr lang="zh-CN" altLang="zh-CN" dirty="0"/>
              <a:t>：</a:t>
            </a:r>
            <a:r>
              <a:rPr lang="pt-BR" altLang="zh-CN" dirty="0"/>
              <a:t>A→B</a:t>
            </a:r>
            <a:r>
              <a:rPr lang="zh-CN" altLang="zh-CN" dirty="0"/>
              <a:t>，则有</a:t>
            </a:r>
            <a:endParaRPr lang="zh-CN" altLang="en-US" dirty="0"/>
          </a:p>
          <a:p>
            <a:pPr marL="0" indent="0">
              <a:lnSpc>
                <a:spcPct val="150000"/>
              </a:lnSpc>
              <a:spcBef>
                <a:spcPct val="30000"/>
              </a:spcBef>
              <a:buClr>
                <a:srgbClr val="800080"/>
              </a:buClr>
              <a:buNone/>
            </a:pPr>
            <a:r>
              <a:rPr lang="en-US" altLang="zh-CN" dirty="0"/>
              <a:t>    (1)  (R∪S)</a:t>
            </a:r>
            <a:r>
              <a:rPr lang="en-US" altLang="zh-CN" baseline="30000" dirty="0"/>
              <a:t>-1</a:t>
            </a:r>
            <a:r>
              <a:rPr lang="zh-CN" altLang="en-US" dirty="0"/>
              <a:t>＝</a:t>
            </a:r>
            <a:r>
              <a:rPr lang="en-US" altLang="zh-CN" dirty="0"/>
              <a:t>R</a:t>
            </a:r>
            <a:r>
              <a:rPr lang="en-US" altLang="zh-CN" baseline="30000" dirty="0"/>
              <a:t>-1</a:t>
            </a:r>
            <a:r>
              <a:rPr lang="en-US" altLang="zh-CN" dirty="0"/>
              <a:t>∪S</a:t>
            </a:r>
            <a:r>
              <a:rPr lang="en-US" altLang="zh-CN" baseline="30000" dirty="0"/>
              <a:t>-1</a:t>
            </a:r>
            <a:r>
              <a:rPr lang="zh-CN" altLang="en-US" dirty="0"/>
              <a:t>                       </a:t>
            </a:r>
            <a:r>
              <a:rPr lang="en-US" altLang="zh-CN" dirty="0">
                <a:solidFill>
                  <a:srgbClr val="3333FF"/>
                </a:solidFill>
              </a:rPr>
              <a:t>(</a:t>
            </a:r>
            <a:r>
              <a:rPr lang="zh-CN" altLang="en-US" dirty="0">
                <a:solidFill>
                  <a:srgbClr val="3333FF"/>
                </a:solidFill>
              </a:rPr>
              <a:t>分配性</a:t>
            </a:r>
            <a:r>
              <a:rPr lang="en-US" altLang="zh-CN" dirty="0">
                <a:solidFill>
                  <a:srgbClr val="3333FF"/>
                </a:solidFill>
              </a:rPr>
              <a:t>)</a:t>
            </a:r>
            <a:endParaRPr lang="en-US" altLang="zh-CN" baseline="30000" dirty="0">
              <a:solidFill>
                <a:srgbClr val="3333FF"/>
              </a:solidFill>
            </a:endParaRPr>
          </a:p>
          <a:p>
            <a:pPr marL="0" indent="0">
              <a:lnSpc>
                <a:spcPct val="150000"/>
              </a:lnSpc>
              <a:spcBef>
                <a:spcPct val="30000"/>
              </a:spcBef>
              <a:buClr>
                <a:srgbClr val="800080"/>
              </a:buClr>
              <a:buNone/>
            </a:pPr>
            <a:r>
              <a:rPr lang="en-US" altLang="zh-CN" dirty="0"/>
              <a:t>           (R∩S)</a:t>
            </a:r>
            <a:r>
              <a:rPr lang="en-US" altLang="zh-CN" baseline="30000" dirty="0"/>
              <a:t>-1</a:t>
            </a:r>
            <a:r>
              <a:rPr lang="zh-CN" altLang="en-US" dirty="0"/>
              <a:t>＝</a:t>
            </a:r>
            <a:r>
              <a:rPr lang="en-US" altLang="zh-CN" dirty="0"/>
              <a:t>R</a:t>
            </a:r>
            <a:r>
              <a:rPr lang="en-US" altLang="zh-CN" baseline="30000" dirty="0"/>
              <a:t>-1</a:t>
            </a:r>
            <a:r>
              <a:rPr lang="en-US" altLang="zh-CN" dirty="0"/>
              <a:t>∩S</a:t>
            </a:r>
            <a:r>
              <a:rPr lang="en-US" altLang="zh-CN" baseline="30000" dirty="0"/>
              <a:t>-1</a:t>
            </a:r>
            <a:endParaRPr lang="zh-CN" altLang="en-US" dirty="0"/>
          </a:p>
          <a:p>
            <a:pPr marL="0" indent="0">
              <a:lnSpc>
                <a:spcPct val="150000"/>
              </a:lnSpc>
              <a:spcBef>
                <a:spcPct val="30000"/>
              </a:spcBef>
              <a:buClr>
                <a:srgbClr val="800080"/>
              </a:buClr>
              <a:buNone/>
            </a:pPr>
            <a:r>
              <a:rPr lang="en-US" altLang="zh-CN" dirty="0"/>
              <a:t>           (R-S)</a:t>
            </a:r>
            <a:r>
              <a:rPr lang="en-US" altLang="zh-CN" baseline="30000" dirty="0"/>
              <a:t>-1</a:t>
            </a:r>
            <a:r>
              <a:rPr lang="zh-CN" altLang="en-US" dirty="0"/>
              <a:t>＝</a:t>
            </a:r>
            <a:r>
              <a:rPr lang="en-US" altLang="zh-CN" dirty="0"/>
              <a:t>R</a:t>
            </a:r>
            <a:r>
              <a:rPr lang="en-US" altLang="zh-CN" baseline="30000" dirty="0"/>
              <a:t>-1</a:t>
            </a:r>
            <a:r>
              <a:rPr lang="en-US" altLang="zh-CN" dirty="0"/>
              <a:t>-S</a:t>
            </a:r>
            <a:r>
              <a:rPr lang="en-US" altLang="zh-CN" baseline="30000" dirty="0"/>
              <a:t>-1</a:t>
            </a:r>
            <a:endParaRPr lang="zh-CN" altLang="en-US" dirty="0"/>
          </a:p>
          <a:p>
            <a:pPr marL="0" indent="0">
              <a:lnSpc>
                <a:spcPct val="150000"/>
              </a:lnSpc>
              <a:spcBef>
                <a:spcPct val="30000"/>
              </a:spcBef>
              <a:buClr>
                <a:srgbClr val="800080"/>
              </a:buClr>
              <a:buNone/>
            </a:pPr>
            <a:r>
              <a:rPr lang="en-US" altLang="zh-CN" dirty="0"/>
              <a:t>    (2)   (R</a:t>
            </a:r>
            <a:r>
              <a:rPr lang="en-US" altLang="zh-CN" baseline="30000" dirty="0"/>
              <a:t>C</a:t>
            </a:r>
            <a:r>
              <a:rPr lang="en-US" altLang="zh-CN" dirty="0"/>
              <a:t>)</a:t>
            </a:r>
            <a:r>
              <a:rPr lang="en-US" altLang="zh-CN" baseline="30000" dirty="0"/>
              <a:t>−1</a:t>
            </a:r>
            <a:r>
              <a:rPr lang="zh-CN" altLang="en-US" dirty="0"/>
              <a:t>＝</a:t>
            </a:r>
            <a:r>
              <a:rPr lang="en-US" altLang="zh-CN" dirty="0"/>
              <a:t>(R</a:t>
            </a:r>
            <a:r>
              <a:rPr lang="en-US" altLang="zh-CN" baseline="30000" dirty="0"/>
              <a:t>−1</a:t>
            </a:r>
            <a:r>
              <a:rPr lang="en-US" altLang="zh-CN" dirty="0"/>
              <a:t>)</a:t>
            </a:r>
            <a:r>
              <a:rPr lang="en-US" altLang="zh-CN" baseline="30000" dirty="0"/>
              <a:t>C</a:t>
            </a:r>
            <a:r>
              <a:rPr lang="zh-CN" altLang="en-US" dirty="0"/>
              <a:t> 			</a:t>
            </a:r>
            <a:r>
              <a:rPr lang="en-US" altLang="zh-CN" dirty="0">
                <a:solidFill>
                  <a:srgbClr val="3333FF"/>
                </a:solidFill>
              </a:rPr>
              <a:t>(</a:t>
            </a:r>
            <a:r>
              <a:rPr lang="en-US" altLang="en-US" dirty="0" err="1">
                <a:solidFill>
                  <a:srgbClr val="3333FF"/>
                </a:solidFill>
              </a:rPr>
              <a:t>可换性</a:t>
            </a:r>
            <a:r>
              <a:rPr lang="en-US" altLang="en-US" dirty="0">
                <a:solidFill>
                  <a:srgbClr val="3333FF"/>
                </a:solidFill>
              </a:rPr>
              <a:t>)</a:t>
            </a:r>
            <a:endParaRPr lang="en-US" altLang="en-US" dirty="0">
              <a:solidFill>
                <a:srgbClr val="3333FF"/>
              </a:solidFill>
            </a:endParaRPr>
          </a:p>
          <a:p>
            <a:pPr marL="0" indent="0">
              <a:lnSpc>
                <a:spcPct val="150000"/>
              </a:lnSpc>
              <a:spcBef>
                <a:spcPct val="30000"/>
              </a:spcBef>
              <a:buClr>
                <a:srgbClr val="800080"/>
              </a:buClr>
              <a:buNone/>
            </a:pPr>
            <a:r>
              <a:rPr lang="en-US" altLang="zh-CN" dirty="0"/>
              <a:t>            (A×B)</a:t>
            </a:r>
            <a:r>
              <a:rPr lang="en-US" altLang="zh-CN" baseline="30000" dirty="0"/>
              <a:t>-1</a:t>
            </a:r>
            <a:r>
              <a:rPr lang="zh-CN" altLang="en-US" dirty="0"/>
              <a:t>＝</a:t>
            </a:r>
            <a:r>
              <a:rPr lang="en-US" altLang="zh-CN" dirty="0"/>
              <a:t>B×A</a:t>
            </a:r>
            <a:r>
              <a:rPr lang="zh-CN" altLang="en-US" dirty="0"/>
              <a:t>　</a:t>
            </a:r>
            <a:endParaRPr lang="zh-CN" altLang="en-US" dirty="0"/>
          </a:p>
          <a:p>
            <a:pPr marL="0" indent="0">
              <a:lnSpc>
                <a:spcPct val="150000"/>
              </a:lnSpc>
              <a:spcBef>
                <a:spcPct val="30000"/>
              </a:spcBef>
              <a:buClr>
                <a:srgbClr val="800080"/>
              </a:buClr>
              <a:buNone/>
            </a:pPr>
            <a:r>
              <a:rPr lang="en-US" altLang="zh-CN" dirty="0"/>
              <a:t>     (3)   S</a:t>
            </a:r>
            <a:r>
              <a:rPr lang="en-US" altLang="zh-CN" dirty="0">
                <a:sym typeface="Symbol" panose="05050102010706020507" pitchFamily="18" charset="2"/>
              </a:rPr>
              <a:t></a:t>
            </a:r>
            <a:r>
              <a:rPr lang="en-US" altLang="zh-CN" dirty="0"/>
              <a:t>R </a:t>
            </a:r>
            <a:r>
              <a:rPr lang="en-US" altLang="zh-CN" dirty="0">
                <a:sym typeface="Symbol" panose="05050102010706020507" pitchFamily="18" charset="2"/>
              </a:rPr>
              <a:t> </a:t>
            </a:r>
            <a:r>
              <a:rPr lang="en-US" altLang="zh-CN" dirty="0"/>
              <a:t>S</a:t>
            </a:r>
            <a:r>
              <a:rPr lang="en-US" altLang="zh-CN" baseline="30000" dirty="0"/>
              <a:t>-1</a:t>
            </a:r>
            <a:r>
              <a:rPr lang="en-US" altLang="zh-CN" dirty="0">
                <a:sym typeface="Symbol" panose="05050102010706020507" pitchFamily="18" charset="2"/>
              </a:rPr>
              <a:t></a:t>
            </a:r>
            <a:r>
              <a:rPr lang="en-US" altLang="zh-CN" dirty="0"/>
              <a:t>R</a:t>
            </a:r>
            <a:r>
              <a:rPr lang="en-US" altLang="zh-CN" baseline="30000" dirty="0"/>
              <a:t>-1</a:t>
            </a:r>
            <a:r>
              <a:rPr lang="zh-CN" altLang="en-US" dirty="0"/>
              <a:t>			</a:t>
            </a:r>
            <a:r>
              <a:rPr lang="en-US" altLang="zh-CN" dirty="0">
                <a:solidFill>
                  <a:srgbClr val="3333FF"/>
                </a:solidFill>
              </a:rPr>
              <a:t>(</a:t>
            </a:r>
            <a:r>
              <a:rPr lang="zh-CN" altLang="en-US" dirty="0">
                <a:solidFill>
                  <a:srgbClr val="3333FF"/>
                </a:solidFill>
              </a:rPr>
              <a:t>单调性</a:t>
            </a:r>
            <a:r>
              <a:rPr lang="en-US" altLang="zh-CN" dirty="0">
                <a:solidFill>
                  <a:srgbClr val="3333FF"/>
                </a:solidFill>
              </a:rPr>
              <a:t>)</a:t>
            </a:r>
            <a:endParaRPr lang="zh-CN" altLang="en-US" dirty="0">
              <a:solidFill>
                <a:srgbClr val="3333FF"/>
              </a:solidFill>
            </a:endParaRPr>
          </a:p>
        </p:txBody>
      </p:sp>
      <p:sp>
        <p:nvSpPr>
          <p:cNvPr id="156676" name="Rectangle 3"/>
          <p:cNvSpPr>
            <a:spLocks noGrp="1" noChangeArrowheads="1"/>
          </p:cNvSpPr>
          <p:nvPr>
            <p:ph type="title"/>
          </p:nvPr>
        </p:nvSpPr>
        <p:spPr>
          <a:xfrm>
            <a:off x="830935" y="358321"/>
            <a:ext cx="7559838" cy="412845"/>
          </a:xfrm>
        </p:spPr>
        <p:txBody>
          <a:bodyPr/>
          <a:lstStyle/>
          <a:p>
            <a:pPr eaLnBrk="1" hangingPunct="1"/>
            <a:r>
              <a:rPr lang="zh-CN" altLang="en-US" dirty="0"/>
              <a:t>定理</a:t>
            </a:r>
            <a:r>
              <a:rPr lang="en-US" altLang="zh-CN" dirty="0"/>
              <a:t>4.7</a:t>
            </a:r>
            <a:endParaRPr lang="en-US" altLang="zh-CN"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86850">
                                            <p:txEl>
                                              <p:pRg st="1" end="1"/>
                                            </p:txEl>
                                          </p:spTgt>
                                        </p:tgtEl>
                                        <p:attrNameLst>
                                          <p:attrName>style.visibility</p:attrName>
                                        </p:attrNameLst>
                                      </p:cBhvr>
                                      <p:to>
                                        <p:strVal val="visible"/>
                                      </p:to>
                                    </p:set>
                                    <p:anim calcmode="lin" valueType="num">
                                      <p:cBhvr additive="base">
                                        <p:cTn id="7" dur="500" fill="hold"/>
                                        <p:tgtEl>
                                          <p:spTgt spid="14868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68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86850">
                                            <p:txEl>
                                              <p:pRg st="2" end="2"/>
                                            </p:txEl>
                                          </p:spTgt>
                                        </p:tgtEl>
                                        <p:attrNameLst>
                                          <p:attrName>style.visibility</p:attrName>
                                        </p:attrNameLst>
                                      </p:cBhvr>
                                      <p:to>
                                        <p:strVal val="visible"/>
                                      </p:to>
                                    </p:set>
                                    <p:anim calcmode="lin" valueType="num">
                                      <p:cBhvr additive="base">
                                        <p:cTn id="13" dur="500" fill="hold"/>
                                        <p:tgtEl>
                                          <p:spTgt spid="148685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68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6850">
                                            <p:txEl>
                                              <p:pRg st="3" end="3"/>
                                            </p:txEl>
                                          </p:spTgt>
                                        </p:tgtEl>
                                        <p:attrNameLst>
                                          <p:attrName>style.visibility</p:attrName>
                                        </p:attrNameLst>
                                      </p:cBhvr>
                                      <p:to>
                                        <p:strVal val="visible"/>
                                      </p:to>
                                    </p:set>
                                    <p:anim calcmode="lin" valueType="num">
                                      <p:cBhvr additive="base">
                                        <p:cTn id="19" dur="500" fill="hold"/>
                                        <p:tgtEl>
                                          <p:spTgt spid="148685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685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86850">
                                            <p:txEl>
                                              <p:pRg st="4" end="4"/>
                                            </p:txEl>
                                          </p:spTgt>
                                        </p:tgtEl>
                                        <p:attrNameLst>
                                          <p:attrName>style.visibility</p:attrName>
                                        </p:attrNameLst>
                                      </p:cBhvr>
                                      <p:to>
                                        <p:strVal val="visible"/>
                                      </p:to>
                                    </p:set>
                                    <p:anim calcmode="lin" valueType="num">
                                      <p:cBhvr additive="base">
                                        <p:cTn id="25" dur="500" fill="hold"/>
                                        <p:tgtEl>
                                          <p:spTgt spid="148685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8685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86850">
                                            <p:txEl>
                                              <p:pRg st="5" end="5"/>
                                            </p:txEl>
                                          </p:spTgt>
                                        </p:tgtEl>
                                        <p:attrNameLst>
                                          <p:attrName>style.visibility</p:attrName>
                                        </p:attrNameLst>
                                      </p:cBhvr>
                                      <p:to>
                                        <p:strVal val="visible"/>
                                      </p:to>
                                    </p:set>
                                    <p:anim calcmode="lin" valueType="num">
                                      <p:cBhvr additive="base">
                                        <p:cTn id="31" dur="500" fill="hold"/>
                                        <p:tgtEl>
                                          <p:spTgt spid="148685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8685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86850">
                                            <p:txEl>
                                              <p:pRg st="6" end="6"/>
                                            </p:txEl>
                                          </p:spTgt>
                                        </p:tgtEl>
                                        <p:attrNameLst>
                                          <p:attrName>style.visibility</p:attrName>
                                        </p:attrNameLst>
                                      </p:cBhvr>
                                      <p:to>
                                        <p:strVal val="visible"/>
                                      </p:to>
                                    </p:set>
                                    <p:anim calcmode="lin" valueType="num">
                                      <p:cBhvr additive="base">
                                        <p:cTn id="37" dur="500" fill="hold"/>
                                        <p:tgtEl>
                                          <p:spTgt spid="1486850">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8685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6850"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8898" name="Rectangle 2"/>
          <p:cNvSpPr>
            <a:spLocks noGrp="1" noChangeArrowheads="1"/>
          </p:cNvSpPr>
          <p:nvPr>
            <p:ph/>
          </p:nvPr>
        </p:nvSpPr>
        <p:spPr>
          <a:xfrm>
            <a:off x="1069975" y="1130729"/>
            <a:ext cx="10363200" cy="3035155"/>
          </a:xfrm>
        </p:spPr>
        <p:txBody>
          <a:bodyPr vert="horz" lIns="0" tIns="0" rIns="0" bIns="0" rtlCol="0">
            <a:normAutofit/>
          </a:bodyPr>
          <a:lstStyle/>
          <a:p>
            <a:pPr marL="533400" indent="-533400">
              <a:lnSpc>
                <a:spcPct val="200000"/>
              </a:lnSpc>
              <a:buNone/>
            </a:pPr>
            <a:r>
              <a:rPr lang="zh-CN" altLang="zh-CN" dirty="0"/>
              <a:t>设</a:t>
            </a:r>
            <a:r>
              <a:rPr lang="pt-BR" altLang="zh-CN" dirty="0"/>
              <a:t>R</a:t>
            </a:r>
            <a:r>
              <a:rPr lang="zh-CN" altLang="zh-CN" dirty="0"/>
              <a:t>：</a:t>
            </a:r>
            <a:r>
              <a:rPr lang="pt-BR" altLang="zh-CN" dirty="0"/>
              <a:t>A→</a:t>
            </a:r>
            <a:r>
              <a:rPr lang="en-US" altLang="zh-CN" dirty="0"/>
              <a:t>A</a:t>
            </a:r>
            <a:endParaRPr lang="en-US" altLang="zh-CN" dirty="0"/>
          </a:p>
          <a:p>
            <a:pPr marL="533400" indent="-533400">
              <a:lnSpc>
                <a:spcPct val="200000"/>
              </a:lnSpc>
              <a:buNone/>
            </a:pPr>
            <a:r>
              <a:rPr lang="zh-CN" altLang="en-US" dirty="0"/>
              <a:t>当</a:t>
            </a:r>
            <a:r>
              <a:rPr lang="en-US" altLang="zh-CN" dirty="0"/>
              <a:t>2</a:t>
            </a:r>
            <a:r>
              <a:rPr lang="zh-CN" altLang="en-US" dirty="0"/>
              <a:t>个</a:t>
            </a:r>
            <a:r>
              <a:rPr lang="en-US" altLang="zh-CN" dirty="0"/>
              <a:t>R</a:t>
            </a:r>
            <a:r>
              <a:rPr lang="zh-CN" altLang="en-US" dirty="0"/>
              <a:t>进行复合运算时，有</a:t>
            </a:r>
            <a:r>
              <a:rPr lang="en-US" altLang="zh-CN" dirty="0" err="1"/>
              <a:t>RoR</a:t>
            </a:r>
            <a:r>
              <a:rPr lang="zh-CN" altLang="en-US" dirty="0"/>
              <a:t> </a:t>
            </a:r>
            <a:endParaRPr lang="en-US" altLang="zh-CN" dirty="0"/>
          </a:p>
          <a:p>
            <a:pPr marL="533400" indent="-533400">
              <a:lnSpc>
                <a:spcPct val="200000"/>
              </a:lnSpc>
              <a:buNone/>
            </a:pPr>
            <a:r>
              <a:rPr lang="zh-CN" altLang="en-US" dirty="0"/>
              <a:t>当</a:t>
            </a:r>
            <a:r>
              <a:rPr lang="en-US" altLang="zh-CN" dirty="0"/>
              <a:t>3</a:t>
            </a:r>
            <a:r>
              <a:rPr lang="zh-CN" altLang="en-US" dirty="0"/>
              <a:t>个</a:t>
            </a:r>
            <a:r>
              <a:rPr lang="en-US" altLang="zh-CN" dirty="0"/>
              <a:t>R</a:t>
            </a:r>
            <a:r>
              <a:rPr lang="zh-CN" altLang="en-US" dirty="0"/>
              <a:t>进行复合运算时，有 </a:t>
            </a:r>
            <a:r>
              <a:rPr lang="en-US" altLang="zh-CN" dirty="0" err="1"/>
              <a:t>RoRoR</a:t>
            </a:r>
            <a:endParaRPr lang="en-US" altLang="zh-CN" dirty="0"/>
          </a:p>
          <a:p>
            <a:pPr marL="533400" indent="-533400">
              <a:lnSpc>
                <a:spcPct val="200000"/>
              </a:lnSpc>
              <a:buNone/>
            </a:pPr>
            <a:r>
              <a:rPr lang="zh-CN" altLang="en-US" dirty="0"/>
              <a:t>以此类推，当</a:t>
            </a:r>
            <a:r>
              <a:rPr lang="en-US" altLang="zh-CN" dirty="0"/>
              <a:t>n</a:t>
            </a:r>
            <a:r>
              <a:rPr lang="zh-CN" altLang="en-US" dirty="0"/>
              <a:t>个</a:t>
            </a:r>
            <a:r>
              <a:rPr lang="en-US" altLang="zh-CN" dirty="0"/>
              <a:t>R</a:t>
            </a:r>
            <a:r>
              <a:rPr lang="zh-CN" altLang="en-US" dirty="0"/>
              <a:t>进行复合运算时，有 </a:t>
            </a:r>
            <a:endParaRPr lang="en-US" altLang="zh-CN" dirty="0"/>
          </a:p>
          <a:p>
            <a:pPr marL="533400" indent="-533400">
              <a:lnSpc>
                <a:spcPct val="200000"/>
              </a:lnSpc>
              <a:buNone/>
            </a:pPr>
            <a:endParaRPr lang="en-US" altLang="zh-CN" dirty="0"/>
          </a:p>
        </p:txBody>
      </p:sp>
      <p:sp>
        <p:nvSpPr>
          <p:cNvPr id="158724" name="Rectangle 3"/>
          <p:cNvSpPr>
            <a:spLocks noGrp="1" noChangeArrowheads="1"/>
          </p:cNvSpPr>
          <p:nvPr>
            <p:ph type="title" idx="4294967295"/>
          </p:nvPr>
        </p:nvSpPr>
        <p:spPr>
          <a:xfrm>
            <a:off x="841375" y="234430"/>
            <a:ext cx="8066367" cy="644515"/>
          </a:xfrm>
        </p:spPr>
        <p:txBody>
          <a:bodyPr/>
          <a:lstStyle/>
          <a:p>
            <a:pPr eaLnBrk="1" hangingPunct="1"/>
            <a:r>
              <a:rPr lang="zh-CN" altLang="en-US" dirty="0"/>
              <a:t>问题引入</a:t>
            </a:r>
            <a:endParaRPr lang="zh-CN" altLang="en-US" dirty="0"/>
          </a:p>
        </p:txBody>
      </p:sp>
      <p:graphicFrame>
        <p:nvGraphicFramePr>
          <p:cNvPr id="10" name="对象 9"/>
          <p:cNvGraphicFramePr>
            <a:graphicFrameLocks noChangeAspect="1"/>
          </p:cNvGraphicFramePr>
          <p:nvPr/>
        </p:nvGraphicFramePr>
        <p:xfrm>
          <a:off x="6403975" y="3500991"/>
          <a:ext cx="1524000" cy="682388"/>
        </p:xfrm>
        <a:graphic>
          <a:graphicData uri="http://schemas.openxmlformats.org/presentationml/2006/ole">
            <mc:AlternateContent xmlns:mc="http://schemas.openxmlformats.org/markup-compatibility/2006">
              <mc:Choice xmlns:v="urn:schemas-microsoft-com:vml" Requires="v">
                <p:oleObj spid="_x0000_s9217" name="Equation" r:id="rId1" imgW="15544800" imgH="7010400" progId="Equation.DSMT4">
                  <p:embed/>
                </p:oleObj>
              </mc:Choice>
              <mc:Fallback>
                <p:oleObj name="Equation" r:id="rId1" imgW="15544800" imgH="7010400" progId="Equation.DSMT4">
                  <p:embed/>
                  <p:pic>
                    <p:nvPicPr>
                      <p:cNvPr id="0" name="Object 8" descr="image38"/>
                      <p:cNvPicPr>
                        <a:picLocks noChangeAspect="1"/>
                      </p:cNvPicPr>
                      <p:nvPr/>
                    </p:nvPicPr>
                    <p:blipFill>
                      <a:blip r:embed="rId2"/>
                      <a:stretch>
                        <a:fillRect/>
                      </a:stretch>
                    </p:blipFill>
                    <p:spPr>
                      <a:xfrm>
                        <a:off x="6403975" y="3500991"/>
                        <a:ext cx="1524000" cy="682388"/>
                      </a:xfrm>
                      <a:prstGeom prst="rect">
                        <a:avLst/>
                      </a:prstGeom>
                      <a:noFill/>
                      <a:ln w="9525">
                        <a:noFill/>
                      </a:ln>
                    </p:spPr>
                  </p:pic>
                </p:oleObj>
              </mc:Fallback>
            </mc:AlternateContent>
          </a:graphicData>
        </a:graphic>
      </p:graphicFrame>
      <p:sp>
        <p:nvSpPr>
          <p:cNvPr id="2" name="矩形 1"/>
          <p:cNvSpPr/>
          <p:nvPr/>
        </p:nvSpPr>
        <p:spPr>
          <a:xfrm>
            <a:off x="5383924" y="2067033"/>
            <a:ext cx="833883" cy="461665"/>
          </a:xfrm>
          <a:prstGeom prst="rect">
            <a:avLst/>
          </a:prstGeom>
        </p:spPr>
        <p:txBody>
          <a:bodyPr wrap="none">
            <a:spAutoFit/>
          </a:bodyPr>
          <a:lstStyle/>
          <a:p>
            <a:r>
              <a:rPr lang="en-US" altLang="zh-CN" b="1" noProof="1">
                <a:solidFill>
                  <a:srgbClr val="3333FF"/>
                </a:solidFill>
                <a:latin typeface="+mn-ea"/>
              </a:rPr>
              <a:t>＝R</a:t>
            </a:r>
            <a:r>
              <a:rPr lang="en-US" altLang="zh-CN" b="1" baseline="30000" noProof="1">
                <a:solidFill>
                  <a:srgbClr val="3333FF"/>
                </a:solidFill>
                <a:latin typeface="+mn-ea"/>
              </a:rPr>
              <a:t>2</a:t>
            </a:r>
            <a:endParaRPr lang="zh-CN" altLang="en-US" b="1" dirty="0">
              <a:solidFill>
                <a:srgbClr val="3333FF"/>
              </a:solidFill>
              <a:latin typeface="+mn-ea"/>
            </a:endParaRPr>
          </a:p>
        </p:txBody>
      </p:sp>
      <p:sp>
        <p:nvSpPr>
          <p:cNvPr id="13" name="矩形 12"/>
          <p:cNvSpPr/>
          <p:nvPr/>
        </p:nvSpPr>
        <p:spPr>
          <a:xfrm>
            <a:off x="5987033" y="2780482"/>
            <a:ext cx="833883" cy="461665"/>
          </a:xfrm>
          <a:prstGeom prst="rect">
            <a:avLst/>
          </a:prstGeom>
        </p:spPr>
        <p:txBody>
          <a:bodyPr wrap="none">
            <a:spAutoFit/>
          </a:bodyPr>
          <a:lstStyle/>
          <a:p>
            <a:r>
              <a:rPr lang="en-US" altLang="zh-CN" b="1" noProof="1">
                <a:solidFill>
                  <a:srgbClr val="3333FF"/>
                </a:solidFill>
                <a:latin typeface="+mn-ea"/>
              </a:rPr>
              <a:t>＝R</a:t>
            </a:r>
            <a:r>
              <a:rPr lang="en-US" altLang="zh-CN" b="1" baseline="30000" noProof="1">
                <a:solidFill>
                  <a:srgbClr val="3333FF"/>
                </a:solidFill>
                <a:latin typeface="+mn-ea"/>
              </a:rPr>
              <a:t>3</a:t>
            </a:r>
            <a:endParaRPr lang="zh-CN" altLang="en-US" b="1" dirty="0">
              <a:solidFill>
                <a:srgbClr val="3333FF"/>
              </a:solidFill>
              <a:latin typeface="+mn-ea"/>
            </a:endParaRPr>
          </a:p>
        </p:txBody>
      </p:sp>
      <p:sp>
        <p:nvSpPr>
          <p:cNvPr id="14" name="矩形 13"/>
          <p:cNvSpPr/>
          <p:nvPr/>
        </p:nvSpPr>
        <p:spPr>
          <a:xfrm>
            <a:off x="7851775" y="3482134"/>
            <a:ext cx="840295" cy="461665"/>
          </a:xfrm>
          <a:prstGeom prst="rect">
            <a:avLst/>
          </a:prstGeom>
        </p:spPr>
        <p:txBody>
          <a:bodyPr wrap="none">
            <a:spAutoFit/>
          </a:bodyPr>
          <a:lstStyle/>
          <a:p>
            <a:r>
              <a:rPr lang="en-US" altLang="zh-CN" b="1" noProof="1">
                <a:solidFill>
                  <a:srgbClr val="3333FF"/>
                </a:solidFill>
                <a:latin typeface="+mn-ea"/>
              </a:rPr>
              <a:t>＝R</a:t>
            </a:r>
            <a:r>
              <a:rPr lang="en-US" altLang="zh-CN" b="1" baseline="30000" noProof="1">
                <a:solidFill>
                  <a:srgbClr val="3333FF"/>
                </a:solidFill>
                <a:latin typeface="+mn-ea"/>
              </a:rPr>
              <a:t>n</a:t>
            </a:r>
            <a:endParaRPr lang="zh-CN" altLang="en-US" b="1" dirty="0">
              <a:solidFill>
                <a:srgbClr val="3333FF"/>
              </a:solidFill>
              <a:latin typeface="+mn-ea"/>
            </a:endParaRPr>
          </a:p>
        </p:txBody>
      </p:sp>
      <p:sp>
        <p:nvSpPr>
          <p:cNvPr id="3" name="爆炸形: 8 pt  2"/>
          <p:cNvSpPr/>
          <p:nvPr/>
        </p:nvSpPr>
        <p:spPr>
          <a:xfrm>
            <a:off x="8461375" y="3615139"/>
            <a:ext cx="2667000" cy="20574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关系的幂</a:t>
            </a:r>
            <a:endParaRPr lang="zh-CN" altLang="en-US" b="1" dirty="0"/>
          </a:p>
        </p:txBody>
      </p:sp>
    </p:spTree>
    <p:custDataLst>
      <p:tags r:id="rId3"/>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88898">
                                            <p:txEl>
                                              <p:pRg st="0" end="0"/>
                                            </p:txEl>
                                          </p:spTgt>
                                        </p:tgtEl>
                                        <p:attrNameLst>
                                          <p:attrName>style.visibility</p:attrName>
                                        </p:attrNameLst>
                                      </p:cBhvr>
                                      <p:to>
                                        <p:strVal val="visible"/>
                                      </p:to>
                                    </p:set>
                                    <p:anim calcmode="lin" valueType="num">
                                      <p:cBhvr additive="base">
                                        <p:cTn id="7" dur="500" fill="hold"/>
                                        <p:tgtEl>
                                          <p:spTgt spid="14888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889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88898">
                                            <p:txEl>
                                              <p:pRg st="1" end="1"/>
                                            </p:txEl>
                                          </p:spTgt>
                                        </p:tgtEl>
                                        <p:attrNameLst>
                                          <p:attrName>style.visibility</p:attrName>
                                        </p:attrNameLst>
                                      </p:cBhvr>
                                      <p:to>
                                        <p:strVal val="visible"/>
                                      </p:to>
                                    </p:set>
                                    <p:anim calcmode="lin" valueType="num">
                                      <p:cBhvr additive="base">
                                        <p:cTn id="12" dur="500" fill="hold"/>
                                        <p:tgtEl>
                                          <p:spTgt spid="148889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888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88898">
                                            <p:txEl>
                                              <p:pRg st="2" end="2"/>
                                            </p:txEl>
                                          </p:spTgt>
                                        </p:tgtEl>
                                        <p:attrNameLst>
                                          <p:attrName>style.visibility</p:attrName>
                                        </p:attrNameLst>
                                      </p:cBhvr>
                                      <p:to>
                                        <p:strVal val="visible"/>
                                      </p:to>
                                    </p:set>
                                    <p:anim calcmode="lin" valueType="num">
                                      <p:cBhvr additive="base">
                                        <p:cTn id="18" dur="500" fill="hold"/>
                                        <p:tgtEl>
                                          <p:spTgt spid="1488898">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888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88898">
                                            <p:txEl>
                                              <p:pRg st="3" end="3"/>
                                            </p:txEl>
                                          </p:spTgt>
                                        </p:tgtEl>
                                        <p:attrNameLst>
                                          <p:attrName>style.visibility</p:attrName>
                                        </p:attrNameLst>
                                      </p:cBhvr>
                                      <p:to>
                                        <p:strVal val="visible"/>
                                      </p:to>
                                    </p:set>
                                    <p:anim calcmode="lin" valueType="num">
                                      <p:cBhvr additive="base">
                                        <p:cTn id="24" dur="500" fill="hold"/>
                                        <p:tgtEl>
                                          <p:spTgt spid="1488898">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88898">
                                            <p:txEl>
                                              <p:pRg st="3" end="3"/>
                                            </p:txEl>
                                          </p:spTgt>
                                        </p:tgtEl>
                                        <p:attrNameLst>
                                          <p:attrName>ppt_y</p:attrName>
                                        </p:attrNameLst>
                                      </p:cBhvr>
                                      <p:tavLst>
                                        <p:tav tm="0">
                                          <p:val>
                                            <p:strVal val="1+#ppt_h/2"/>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1000" fill="hold"/>
                                        <p:tgtEl>
                                          <p:spTgt spid="2"/>
                                        </p:tgtEl>
                                        <p:attrNameLst>
                                          <p:attrName>ppt_w</p:attrName>
                                        </p:attrNameLst>
                                      </p:cBhvr>
                                      <p:tavLst>
                                        <p:tav tm="0">
                                          <p:val>
                                            <p:fltVal val="0"/>
                                          </p:val>
                                        </p:tav>
                                        <p:tav tm="100000">
                                          <p:val>
                                            <p:strVal val="#ppt_w"/>
                                          </p:val>
                                        </p:tav>
                                      </p:tavLst>
                                    </p:anim>
                                    <p:anim calcmode="lin" valueType="num">
                                      <p:cBhvr>
                                        <p:cTn id="36" dur="1000" fill="hold"/>
                                        <p:tgtEl>
                                          <p:spTgt spid="2"/>
                                        </p:tgtEl>
                                        <p:attrNameLst>
                                          <p:attrName>ppt_h</p:attrName>
                                        </p:attrNameLst>
                                      </p:cBhvr>
                                      <p:tavLst>
                                        <p:tav tm="0">
                                          <p:val>
                                            <p:fltVal val="0"/>
                                          </p:val>
                                        </p:tav>
                                        <p:tav tm="100000">
                                          <p:val>
                                            <p:strVal val="#ppt_h"/>
                                          </p:val>
                                        </p:tav>
                                      </p:tavLst>
                                    </p:anim>
                                    <p:anim calcmode="lin" valueType="num">
                                      <p:cBhvr>
                                        <p:cTn id="37" dur="1000" fill="hold"/>
                                        <p:tgtEl>
                                          <p:spTgt spid="2"/>
                                        </p:tgtEl>
                                        <p:attrNameLst>
                                          <p:attrName>style.rotation</p:attrName>
                                        </p:attrNameLst>
                                      </p:cBhvr>
                                      <p:tavLst>
                                        <p:tav tm="0">
                                          <p:val>
                                            <p:fltVal val="90"/>
                                          </p:val>
                                        </p:tav>
                                        <p:tav tm="100000">
                                          <p:val>
                                            <p:fltVal val="0"/>
                                          </p:val>
                                        </p:tav>
                                      </p:tavLst>
                                    </p:anim>
                                    <p:animEffect transition="in" filter="fade">
                                      <p:cBhvr>
                                        <p:cTn id="38" dur="10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1000" fill="hold"/>
                                        <p:tgtEl>
                                          <p:spTgt spid="13"/>
                                        </p:tgtEl>
                                        <p:attrNameLst>
                                          <p:attrName>ppt_w</p:attrName>
                                        </p:attrNameLst>
                                      </p:cBhvr>
                                      <p:tavLst>
                                        <p:tav tm="0">
                                          <p:val>
                                            <p:fltVal val="0"/>
                                          </p:val>
                                        </p:tav>
                                        <p:tav tm="100000">
                                          <p:val>
                                            <p:strVal val="#ppt_w"/>
                                          </p:val>
                                        </p:tav>
                                      </p:tavLst>
                                    </p:anim>
                                    <p:anim calcmode="lin" valueType="num">
                                      <p:cBhvr>
                                        <p:cTn id="44" dur="1000" fill="hold"/>
                                        <p:tgtEl>
                                          <p:spTgt spid="13"/>
                                        </p:tgtEl>
                                        <p:attrNameLst>
                                          <p:attrName>ppt_h</p:attrName>
                                        </p:attrNameLst>
                                      </p:cBhvr>
                                      <p:tavLst>
                                        <p:tav tm="0">
                                          <p:val>
                                            <p:fltVal val="0"/>
                                          </p:val>
                                        </p:tav>
                                        <p:tav tm="100000">
                                          <p:val>
                                            <p:strVal val="#ppt_h"/>
                                          </p:val>
                                        </p:tav>
                                      </p:tavLst>
                                    </p:anim>
                                    <p:anim calcmode="lin" valueType="num">
                                      <p:cBhvr>
                                        <p:cTn id="45" dur="1000" fill="hold"/>
                                        <p:tgtEl>
                                          <p:spTgt spid="13"/>
                                        </p:tgtEl>
                                        <p:attrNameLst>
                                          <p:attrName>style.rotation</p:attrName>
                                        </p:attrNameLst>
                                      </p:cBhvr>
                                      <p:tavLst>
                                        <p:tav tm="0">
                                          <p:val>
                                            <p:fltVal val="90"/>
                                          </p:val>
                                        </p:tav>
                                        <p:tav tm="100000">
                                          <p:val>
                                            <p:fltVal val="0"/>
                                          </p:val>
                                        </p:tav>
                                      </p:tavLst>
                                    </p:anim>
                                    <p:animEffect transition="in" filter="fade">
                                      <p:cBhvr>
                                        <p:cTn id="46" dur="10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1000" fill="hold"/>
                                        <p:tgtEl>
                                          <p:spTgt spid="14"/>
                                        </p:tgtEl>
                                        <p:attrNameLst>
                                          <p:attrName>ppt_w</p:attrName>
                                        </p:attrNameLst>
                                      </p:cBhvr>
                                      <p:tavLst>
                                        <p:tav tm="0">
                                          <p:val>
                                            <p:fltVal val="0"/>
                                          </p:val>
                                        </p:tav>
                                        <p:tav tm="100000">
                                          <p:val>
                                            <p:strVal val="#ppt_w"/>
                                          </p:val>
                                        </p:tav>
                                      </p:tavLst>
                                    </p:anim>
                                    <p:anim calcmode="lin" valueType="num">
                                      <p:cBhvr>
                                        <p:cTn id="52" dur="1000" fill="hold"/>
                                        <p:tgtEl>
                                          <p:spTgt spid="14"/>
                                        </p:tgtEl>
                                        <p:attrNameLst>
                                          <p:attrName>ppt_h</p:attrName>
                                        </p:attrNameLst>
                                      </p:cBhvr>
                                      <p:tavLst>
                                        <p:tav tm="0">
                                          <p:val>
                                            <p:fltVal val="0"/>
                                          </p:val>
                                        </p:tav>
                                        <p:tav tm="100000">
                                          <p:val>
                                            <p:strVal val="#ppt_h"/>
                                          </p:val>
                                        </p:tav>
                                      </p:tavLst>
                                    </p:anim>
                                    <p:anim calcmode="lin" valueType="num">
                                      <p:cBhvr>
                                        <p:cTn id="53" dur="1000" fill="hold"/>
                                        <p:tgtEl>
                                          <p:spTgt spid="14"/>
                                        </p:tgtEl>
                                        <p:attrNameLst>
                                          <p:attrName>style.rotation</p:attrName>
                                        </p:attrNameLst>
                                      </p:cBhvr>
                                      <p:tavLst>
                                        <p:tav tm="0">
                                          <p:val>
                                            <p:fltVal val="90"/>
                                          </p:val>
                                        </p:tav>
                                        <p:tav tm="100000">
                                          <p:val>
                                            <p:fltVal val="0"/>
                                          </p:val>
                                        </p:tav>
                                      </p:tavLst>
                                    </p:anim>
                                    <p:animEffect transition="in" filter="fade">
                                      <p:cBhvr>
                                        <p:cTn id="54" dur="10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anim calcmode="lin" valueType="num">
                                      <p:cBhvr>
                                        <p:cTn id="59" dur="1000" fill="hold"/>
                                        <p:tgtEl>
                                          <p:spTgt spid="3"/>
                                        </p:tgtEl>
                                        <p:attrNameLst>
                                          <p:attrName>ppt_w</p:attrName>
                                        </p:attrNameLst>
                                      </p:cBhvr>
                                      <p:tavLst>
                                        <p:tav tm="0">
                                          <p:val>
                                            <p:fltVal val="0"/>
                                          </p:val>
                                        </p:tav>
                                        <p:tav tm="100000">
                                          <p:val>
                                            <p:strVal val="#ppt_w"/>
                                          </p:val>
                                        </p:tav>
                                      </p:tavLst>
                                    </p:anim>
                                    <p:anim calcmode="lin" valueType="num">
                                      <p:cBhvr>
                                        <p:cTn id="60" dur="1000" fill="hold"/>
                                        <p:tgtEl>
                                          <p:spTgt spid="3"/>
                                        </p:tgtEl>
                                        <p:attrNameLst>
                                          <p:attrName>ppt_h</p:attrName>
                                        </p:attrNameLst>
                                      </p:cBhvr>
                                      <p:tavLst>
                                        <p:tav tm="0">
                                          <p:val>
                                            <p:fltVal val="0"/>
                                          </p:val>
                                        </p:tav>
                                        <p:tav tm="100000">
                                          <p:val>
                                            <p:strVal val="#ppt_h"/>
                                          </p:val>
                                        </p:tav>
                                      </p:tavLst>
                                    </p:anim>
                                    <p:anim calcmode="lin" valueType="num">
                                      <p:cBhvr>
                                        <p:cTn id="61" dur="1000" fill="hold"/>
                                        <p:tgtEl>
                                          <p:spTgt spid="3"/>
                                        </p:tgtEl>
                                        <p:attrNameLst>
                                          <p:attrName>style.rotation</p:attrName>
                                        </p:attrNameLst>
                                      </p:cBhvr>
                                      <p:tavLst>
                                        <p:tav tm="0">
                                          <p:val>
                                            <p:fltVal val="90"/>
                                          </p:val>
                                        </p:tav>
                                        <p:tav tm="100000">
                                          <p:val>
                                            <p:fltVal val="0"/>
                                          </p:val>
                                        </p:tav>
                                      </p:tavLst>
                                    </p:anim>
                                    <p:animEffect transition="in" filter="fade">
                                      <p:cBhvr>
                                        <p:cTn id="6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8898" grpId="0" advAuto="0" autoUpdateAnimBg="0" uiExpand="1" build="p"/>
      <p:bldP spid="2" grpId="0"/>
      <p:bldP spid="13" grpId="0"/>
      <p:bldP spid="14" grpId="0"/>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p:cNvSpPr>
          <p:nvPr>
            <p:ph type="title"/>
          </p:nvPr>
        </p:nvSpPr>
        <p:spPr>
          <a:xfrm>
            <a:off x="912759" y="549402"/>
            <a:ext cx="10978515" cy="1371918"/>
          </a:xfrm>
        </p:spPr>
        <p:txBody>
          <a:bodyPr vert="horz" wrap="square" lIns="108896" tIns="54448" rIns="108896" bIns="54448" anchor="ctr" anchorCtr="0"/>
          <a:lstStyle/>
          <a:p>
            <a:pPr eaLnBrk="1" hangingPunct="1"/>
            <a:r>
              <a:rPr lang="en-US" altLang="zh-CN" sz="3200" b="1" i="1" dirty="0">
                <a:solidFill>
                  <a:schemeClr val="tx1"/>
                </a:solidFill>
                <a:latin typeface="Times New Roman" panose="02020603050405020304" pitchFamily="18" charset="0"/>
              </a:rPr>
              <a:t>A</a:t>
            </a:r>
            <a:r>
              <a:rPr lang="zh-CN" altLang="en-US" sz="3200" b="1" dirty="0">
                <a:solidFill>
                  <a:schemeClr val="tx1"/>
                </a:solidFill>
              </a:rPr>
              <a:t>上关系的幂运算</a:t>
            </a:r>
            <a:endParaRPr lang="zh-CN" altLang="en-US" sz="3200" b="1" dirty="0">
              <a:solidFill>
                <a:schemeClr val="tx1"/>
              </a:solidFill>
            </a:endParaRPr>
          </a:p>
        </p:txBody>
      </p:sp>
      <p:sp>
        <p:nvSpPr>
          <p:cNvPr id="29700" name="Text Box 3"/>
          <p:cNvSpPr txBox="1"/>
          <p:nvPr/>
        </p:nvSpPr>
        <p:spPr>
          <a:xfrm>
            <a:off x="815342" y="1753394"/>
            <a:ext cx="8428897" cy="4718401"/>
          </a:xfrm>
          <a:prstGeom prst="rect">
            <a:avLst/>
          </a:prstGeom>
          <a:noFill/>
          <a:ln w="9525">
            <a:noFill/>
          </a:ln>
        </p:spPr>
        <p:txBody>
          <a:bodyPr wrap="none" lIns="108896" tIns="54448" rIns="108896" bIns="54448">
            <a:spAutoFit/>
          </a:bodyPr>
          <a:lstStyle/>
          <a:p>
            <a:pPr marL="544195" indent="-544195">
              <a:lnSpc>
                <a:spcPct val="120000"/>
              </a:lnSpc>
            </a:pPr>
            <a:r>
              <a:rPr lang="zh-CN" altLang="en-US" sz="2800" b="1" dirty="0">
                <a:latin typeface="Times New Roman" panose="02020603050405020304" pitchFamily="18" charset="0"/>
              </a:rPr>
              <a:t>设</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为</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上的关系</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为自然数</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则 </a:t>
            </a:r>
            <a:r>
              <a:rPr lang="en-US" altLang="zh-CN" sz="2800" b="1" i="1" dirty="0">
                <a:latin typeface="Times New Roman" panose="02020603050405020304" pitchFamily="18" charset="0"/>
              </a:rPr>
              <a:t>R </a:t>
            </a:r>
            <a:r>
              <a:rPr lang="zh-CN" altLang="en-US" sz="2800" b="1" dirty="0">
                <a:latin typeface="Times New Roman" panose="02020603050405020304" pitchFamily="18" charset="0"/>
              </a:rPr>
              <a:t>的 </a:t>
            </a:r>
            <a:r>
              <a:rPr lang="en-US" altLang="zh-CN" sz="2800" b="1" i="1" dirty="0">
                <a:solidFill>
                  <a:srgbClr val="FF3300"/>
                </a:solidFill>
                <a:latin typeface="Times New Roman" panose="02020603050405020304" pitchFamily="18" charset="0"/>
              </a:rPr>
              <a:t>n</a:t>
            </a:r>
            <a:r>
              <a:rPr lang="zh-CN" altLang="en-US" sz="2800" b="1" dirty="0">
                <a:solidFill>
                  <a:srgbClr val="FF3300"/>
                </a:solidFill>
                <a:latin typeface="Times New Roman" panose="02020603050405020304" pitchFamily="18" charset="0"/>
              </a:rPr>
              <a:t>次幂</a:t>
            </a:r>
            <a:r>
              <a:rPr lang="zh-CN" altLang="en-US" sz="2800" b="1" dirty="0">
                <a:latin typeface="Times New Roman" panose="02020603050405020304" pitchFamily="18" charset="0"/>
              </a:rPr>
              <a:t>定义为：</a:t>
            </a:r>
            <a:endParaRPr lang="zh-CN" altLang="en-US" sz="2800" b="1" dirty="0">
              <a:latin typeface="Times New Roman" panose="02020603050405020304" pitchFamily="18" charset="0"/>
            </a:endParaRPr>
          </a:p>
          <a:p>
            <a:pPr marL="544195" indent="-544195">
              <a:lnSpc>
                <a:spcPct val="120000"/>
              </a:lnSpc>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(1)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&gt; |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endParaRPr lang="en-US" altLang="zh-CN" sz="2800" b="1" i="1" baseline="-25000" dirty="0">
              <a:latin typeface="Times New Roman" panose="02020603050405020304" pitchFamily="18" charset="0"/>
            </a:endParaRPr>
          </a:p>
          <a:p>
            <a:pPr marL="544195" indent="-544195">
              <a:lnSpc>
                <a:spcPct val="120000"/>
              </a:lnSpc>
            </a:pPr>
            <a:r>
              <a:rPr lang="en-US" altLang="zh-CN" sz="2800" b="1" i="1" dirty="0">
                <a:latin typeface="Times New Roman" panose="02020603050405020304" pitchFamily="18" charset="0"/>
              </a:rPr>
              <a:t> </a:t>
            </a:r>
            <a:r>
              <a:rPr lang="en-US" altLang="zh-CN" sz="2800" b="1" dirty="0">
                <a:latin typeface="Times New Roman" panose="02020603050405020304" pitchFamily="18" charset="0"/>
              </a:rPr>
              <a:t>  (2)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baseline="30000" dirty="0">
                <a:latin typeface="Times New Roman" panose="02020603050405020304" pitchFamily="18" charset="0"/>
              </a:rPr>
              <a:t>+1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endParaRPr lang="en-US" altLang="zh-CN" sz="2800" b="1" dirty="0">
              <a:latin typeface="Times New Roman" panose="02020603050405020304" pitchFamily="18" charset="0"/>
            </a:endParaRPr>
          </a:p>
          <a:p>
            <a:pPr marL="544195" indent="-544195">
              <a:lnSpc>
                <a:spcPct val="120000"/>
              </a:lnSpc>
            </a:pP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marL="544195" indent="-544195">
              <a:lnSpc>
                <a:spcPct val="120000"/>
              </a:lnSpc>
            </a:pPr>
            <a:r>
              <a:rPr lang="zh-CN" altLang="en-US" sz="2800" b="1" dirty="0">
                <a:latin typeface="Times New Roman" panose="02020603050405020304" pitchFamily="18" charset="0"/>
              </a:rPr>
              <a:t>注意：</a:t>
            </a:r>
            <a:endParaRPr lang="zh-CN" altLang="en-US" sz="2800" b="1" dirty="0">
              <a:latin typeface="Times New Roman" panose="02020603050405020304" pitchFamily="18" charset="0"/>
            </a:endParaRPr>
          </a:p>
          <a:p>
            <a:pPr marL="544195" indent="-544195">
              <a:lnSpc>
                <a:spcPct val="120000"/>
              </a:lnSpc>
            </a:pPr>
            <a:r>
              <a:rPr lang="zh-CN" altLang="en-US" sz="2800" b="1" dirty="0">
                <a:latin typeface="Times New Roman" panose="02020603050405020304" pitchFamily="18" charset="0"/>
              </a:rPr>
              <a:t>       对于</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上的任何关系</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和</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都有 </a:t>
            </a:r>
            <a:endParaRPr lang="zh-CN" altLang="en-US" sz="2800" b="1" dirty="0">
              <a:latin typeface="Times New Roman" panose="02020603050405020304" pitchFamily="18" charset="0"/>
            </a:endParaRPr>
          </a:p>
          <a:p>
            <a:pPr marL="544195" indent="-544195">
              <a:lnSpc>
                <a:spcPct val="120000"/>
              </a:lnSpc>
            </a:pPr>
            <a:r>
              <a:rPr lang="zh-CN" altLang="en-US"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rPr>
              <a:t>1</a:t>
            </a:r>
            <a:r>
              <a:rPr lang="en-US" altLang="zh-CN" sz="2800" b="1" baseline="30000" dirty="0">
                <a:latin typeface="Times New Roman" panose="02020603050405020304" pitchFamily="18" charset="0"/>
              </a:rPr>
              <a:t>0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rPr>
              <a:t>2</a:t>
            </a:r>
            <a:r>
              <a:rPr lang="en-US" altLang="zh-CN" sz="2800" b="1" baseline="30000" dirty="0">
                <a:latin typeface="Times New Roman" panose="02020603050405020304" pitchFamily="18" charset="0"/>
              </a:rPr>
              <a:t>0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 </a:t>
            </a:r>
            <a:br>
              <a:rPr lang="en-US" altLang="zh-CN" sz="2800" b="1" dirty="0">
                <a:latin typeface="Times New Roman" panose="02020603050405020304" pitchFamily="18" charset="0"/>
              </a:rPr>
            </a:br>
            <a:r>
              <a:rPr lang="en-US" altLang="zh-CN" sz="2800" b="1" dirty="0">
                <a:latin typeface="Times New Roman" panose="02020603050405020304" pitchFamily="18" charset="0"/>
              </a:rPr>
              <a:t> </a:t>
            </a:r>
            <a:r>
              <a:rPr lang="zh-CN" altLang="en-US" sz="2800" b="1" dirty="0">
                <a:latin typeface="Times New Roman" panose="02020603050405020304" pitchFamily="18" charset="0"/>
              </a:rPr>
              <a:t>对于</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上的任何关系 </a:t>
            </a:r>
            <a:r>
              <a:rPr lang="en-US" altLang="zh-CN" sz="2800" b="1" i="1" dirty="0">
                <a:latin typeface="Times New Roman" panose="02020603050405020304" pitchFamily="18" charset="0"/>
              </a:rPr>
              <a:t>R </a:t>
            </a:r>
            <a:r>
              <a:rPr lang="zh-CN" altLang="en-US" sz="2800" b="1" dirty="0">
                <a:latin typeface="Times New Roman" panose="02020603050405020304" pitchFamily="18" charset="0"/>
              </a:rPr>
              <a:t>都有 </a:t>
            </a:r>
            <a:endParaRPr lang="zh-CN" altLang="en-US" sz="2800" b="1" dirty="0">
              <a:latin typeface="Times New Roman" panose="02020603050405020304" pitchFamily="18" charset="0"/>
            </a:endParaRPr>
          </a:p>
          <a:p>
            <a:pPr marL="544195" indent="-544195">
              <a:lnSpc>
                <a:spcPct val="120000"/>
              </a:lnSpc>
            </a:pPr>
            <a:r>
              <a:rPr lang="zh-CN" altLang="en-US"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1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 </a:t>
            </a:r>
            <a:endParaRPr lang="en-US" altLang="zh-CN" sz="2800" b="1" i="1" dirty="0">
              <a:latin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p:cNvSpPr>
          <p:nvPr>
            <p:ph type="title"/>
          </p:nvPr>
        </p:nvSpPr>
        <p:spPr>
          <a:xfrm>
            <a:off x="912759" y="333452"/>
            <a:ext cx="10978515" cy="1371918"/>
          </a:xfrm>
        </p:spPr>
        <p:txBody>
          <a:bodyPr vert="horz" wrap="square" lIns="108896" tIns="54448" rIns="108896" bIns="54448" anchor="ctr" anchorCtr="0"/>
          <a:lstStyle/>
          <a:p>
            <a:pPr eaLnBrk="1" hangingPunct="1"/>
            <a:r>
              <a:rPr lang="zh-CN" altLang="en-US" sz="2800" b="1" dirty="0">
                <a:solidFill>
                  <a:schemeClr val="tx1"/>
                </a:solidFill>
              </a:rPr>
              <a:t>幂的求法</a:t>
            </a:r>
            <a:endParaRPr lang="zh-CN" altLang="en-US" sz="2800" b="1" dirty="0">
              <a:solidFill>
                <a:schemeClr val="tx1"/>
              </a:solidFill>
            </a:endParaRPr>
          </a:p>
        </p:txBody>
      </p:sp>
      <p:sp>
        <p:nvSpPr>
          <p:cNvPr id="3078" name="Text Box 3"/>
          <p:cNvSpPr txBox="1"/>
          <p:nvPr/>
        </p:nvSpPr>
        <p:spPr>
          <a:xfrm>
            <a:off x="912759" y="1524794"/>
            <a:ext cx="10595198" cy="2522928"/>
          </a:xfrm>
          <a:prstGeom prst="rect">
            <a:avLst/>
          </a:prstGeom>
          <a:noFill/>
          <a:ln w="9525">
            <a:noFill/>
          </a:ln>
        </p:spPr>
        <p:txBody>
          <a:bodyPr lIns="108896" tIns="54448" rIns="108896" bIns="54448">
            <a:spAutoFit/>
          </a:bodyPr>
          <a:lstStyle/>
          <a:p>
            <a:r>
              <a:rPr lang="zh-CN" altLang="en-US" sz="2800" b="1" dirty="0">
                <a:latin typeface="Times New Roman" panose="02020603050405020304" pitchFamily="18" charset="0"/>
              </a:rPr>
              <a:t>对于集合表示的关系</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，计算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 </a:t>
            </a:r>
            <a:r>
              <a:rPr lang="zh-CN" altLang="en-US" sz="2800" b="1" dirty="0">
                <a:latin typeface="Times New Roman" panose="02020603050405020304" pitchFamily="18" charset="0"/>
              </a:rPr>
              <a:t>就是</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个</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复合 </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r>
              <a:rPr lang="zh-CN" altLang="en-US" sz="2800" b="1" dirty="0">
                <a:latin typeface="Times New Roman" panose="02020603050405020304" pitchFamily="18" charset="0"/>
              </a:rPr>
              <a:t>矩阵表示就是</a:t>
            </a:r>
            <a:r>
              <a:rPr lang="en-US" altLang="zh-CN" sz="2800" b="1" i="1" dirty="0">
                <a:solidFill>
                  <a:srgbClr val="FF0000"/>
                </a:solidFill>
                <a:latin typeface="Times New Roman" panose="02020603050405020304" pitchFamily="18" charset="0"/>
              </a:rPr>
              <a:t>n</a:t>
            </a:r>
            <a:r>
              <a:rPr lang="zh-CN" altLang="en-US" sz="2800" b="1" dirty="0">
                <a:solidFill>
                  <a:srgbClr val="FF0000"/>
                </a:solidFill>
                <a:latin typeface="Times New Roman" panose="02020603050405020304" pitchFamily="18" charset="0"/>
              </a:rPr>
              <a:t>个矩阵相乘</a:t>
            </a:r>
            <a:r>
              <a:rPr lang="en-US" altLang="zh-CN" sz="2800" b="1" dirty="0">
                <a:solidFill>
                  <a:srgbClr val="FF0000"/>
                </a:solidFill>
                <a:latin typeface="Times New Roman" panose="02020603050405020304" pitchFamily="18" charset="0"/>
              </a:rPr>
              <a:t>, </a:t>
            </a:r>
            <a:r>
              <a:rPr lang="zh-CN" altLang="en-US" sz="2800" b="1" dirty="0">
                <a:solidFill>
                  <a:srgbClr val="FF0000"/>
                </a:solidFill>
                <a:latin typeface="Times New Roman" panose="02020603050405020304" pitchFamily="18" charset="0"/>
              </a:rPr>
              <a:t>其中相加采用逻辑加</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例</a:t>
            </a:r>
            <a:r>
              <a:rPr lang="en-US" altLang="zh-CN" sz="2800" b="1" dirty="0">
                <a:latin typeface="Times New Roman" panose="02020603050405020304" pitchFamily="18" charset="0"/>
              </a:rPr>
              <a:t>3  </a:t>
            </a:r>
            <a:r>
              <a:rPr lang="zh-CN" altLang="en-US" sz="2800" b="1" dirty="0">
                <a:latin typeface="Times New Roman" panose="02020603050405020304" pitchFamily="18" charset="0"/>
              </a:rPr>
              <a:t>设</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c</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d</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dirty="0">
                <a:latin typeface="Times New Roman" panose="02020603050405020304" pitchFamily="18" charset="0"/>
              </a:rPr>
              <a:t>={&lt;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c</a:t>
            </a:r>
            <a:r>
              <a:rPr lang="en-US" altLang="zh-CN" sz="2800" b="1" dirty="0">
                <a:latin typeface="Times New Roman" panose="02020603050405020304" pitchFamily="18" charset="0"/>
              </a:rPr>
              <a:t>&gt;,&lt;</a:t>
            </a:r>
            <a:r>
              <a:rPr lang="en-US" altLang="zh-CN" sz="2800" b="1" i="1" dirty="0">
                <a:latin typeface="Times New Roman" panose="02020603050405020304" pitchFamily="18" charset="0"/>
              </a:rPr>
              <a:t>c</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d</a:t>
            </a:r>
            <a:r>
              <a:rPr lang="en-US" altLang="zh-CN" sz="2800" b="1" dirty="0">
                <a:latin typeface="Times New Roman" panose="02020603050405020304" pitchFamily="18" charset="0"/>
              </a:rPr>
              <a:t>&gt;}, </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求</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的各次幂</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分别用矩阵和关系图表示</a:t>
            </a:r>
            <a:r>
              <a:rPr lang="en-US" altLang="zh-CN" sz="2800" b="1" dirty="0">
                <a:latin typeface="Times New Roman" panose="02020603050405020304" pitchFamily="18" charset="0"/>
              </a:rPr>
              <a:t>.</a:t>
            </a:r>
            <a:br>
              <a:rPr lang="en-US" altLang="zh-CN" sz="2800" b="1" dirty="0">
                <a:latin typeface="Times New Roman" panose="02020603050405020304" pitchFamily="18" charset="0"/>
              </a:rPr>
            </a:br>
            <a:r>
              <a:rPr lang="zh-CN" altLang="en-US" sz="2800" b="1" dirty="0">
                <a:latin typeface="Times New Roman" panose="02020603050405020304" pitchFamily="18" charset="0"/>
              </a:rPr>
              <a:t>解 </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与</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2</a:t>
            </a:r>
            <a:r>
              <a:rPr lang="zh-CN" altLang="en-US" sz="2800" b="1" dirty="0">
                <a:latin typeface="Times New Roman" panose="02020603050405020304" pitchFamily="18" charset="0"/>
              </a:rPr>
              <a:t>的关系矩阵分别为</a:t>
            </a:r>
            <a:endParaRPr lang="zh-CN" altLang="en-US" sz="2800" b="1" dirty="0">
              <a:latin typeface="Arial" panose="020B0604020202020204" pitchFamily="34" charset="0"/>
            </a:endParaRPr>
          </a:p>
        </p:txBody>
      </p:sp>
      <p:sp>
        <p:nvSpPr>
          <p:cNvPr id="3079" name="Rectangle 4"/>
          <p:cNvSpPr/>
          <p:nvPr/>
        </p:nvSpPr>
        <p:spPr>
          <a:xfrm>
            <a:off x="0" y="-239645"/>
            <a:ext cx="219984" cy="479291"/>
          </a:xfrm>
          <a:prstGeom prst="rect">
            <a:avLst/>
          </a:prstGeom>
          <a:noFill/>
          <a:ln w="9525">
            <a:noFill/>
          </a:ln>
        </p:spPr>
        <p:txBody>
          <a:bodyPr wrap="none" lIns="108896" tIns="54448" rIns="108896" bIns="54448" anchor="ctr" anchorCtr="0">
            <a:spAutoFit/>
          </a:bodyPr>
          <a:lstStyle/>
          <a:p>
            <a:endParaRPr lang="zh-CN" altLang="en-US" dirty="0">
              <a:latin typeface="Arial" panose="020B0604020202020204" pitchFamily="34" charset="0"/>
            </a:endParaRPr>
          </a:p>
        </p:txBody>
      </p:sp>
      <p:graphicFrame>
        <p:nvGraphicFramePr>
          <p:cNvPr id="3074" name="Object 5"/>
          <p:cNvGraphicFramePr/>
          <p:nvPr/>
        </p:nvGraphicFramePr>
        <p:xfrm>
          <a:off x="1103359" y="4222141"/>
          <a:ext cx="2977583" cy="1706957"/>
        </p:xfrm>
        <a:graphic>
          <a:graphicData uri="http://schemas.openxmlformats.org/presentationml/2006/ole">
            <mc:AlternateContent xmlns:mc="http://schemas.openxmlformats.org/markup-compatibility/2006">
              <mc:Choice xmlns:v="urn:schemas-microsoft-com:vml" Requires="v">
                <p:oleObj spid="_x0000_s10241" name="" r:id="rId1" imgW="27127200" imgH="20726400" progId="Equation.3">
                  <p:embed/>
                </p:oleObj>
              </mc:Choice>
              <mc:Fallback>
                <p:oleObj name="" r:id="rId1" imgW="27127200" imgH="20726400" progId="Equation.3">
                  <p:embed/>
                  <p:pic>
                    <p:nvPicPr>
                      <p:cNvPr id="0" name="图片 10240" descr="image35"/>
                      <p:cNvPicPr/>
                      <p:nvPr/>
                    </p:nvPicPr>
                    <p:blipFill>
                      <a:blip r:embed="rId2"/>
                      <a:stretch>
                        <a:fillRect/>
                      </a:stretch>
                    </p:blipFill>
                    <p:spPr>
                      <a:xfrm>
                        <a:off x="1103359" y="4222141"/>
                        <a:ext cx="2977583" cy="1706957"/>
                      </a:xfrm>
                      <a:prstGeom prst="rect">
                        <a:avLst/>
                      </a:prstGeom>
                      <a:noFill/>
                      <a:ln w="38100">
                        <a:noFill/>
                      </a:ln>
                    </p:spPr>
                  </p:pic>
                </p:oleObj>
              </mc:Fallback>
            </mc:AlternateContent>
          </a:graphicData>
        </a:graphic>
      </p:graphicFrame>
      <p:graphicFrame>
        <p:nvGraphicFramePr>
          <p:cNvPr id="3075" name="Object 6"/>
          <p:cNvGraphicFramePr/>
          <p:nvPr/>
        </p:nvGraphicFramePr>
        <p:xfrm>
          <a:off x="4080943" y="4277716"/>
          <a:ext cx="7685383" cy="1673612"/>
        </p:xfrm>
        <a:graphic>
          <a:graphicData uri="http://schemas.openxmlformats.org/presentationml/2006/ole">
            <mc:AlternateContent xmlns:mc="http://schemas.openxmlformats.org/markup-compatibility/2006">
              <mc:Choice xmlns:v="urn:schemas-microsoft-com:vml" Requires="v">
                <p:oleObj spid="_x0000_s10242" name="" r:id="rId3" imgW="71323200" imgH="20726400" progId="Equation.3">
                  <p:embed/>
                </p:oleObj>
              </mc:Choice>
              <mc:Fallback>
                <p:oleObj name="" r:id="rId3" imgW="71323200" imgH="20726400" progId="Equation.3">
                  <p:embed/>
                  <p:pic>
                    <p:nvPicPr>
                      <p:cNvPr id="0" name="图片 10241" descr="image36"/>
                      <p:cNvPicPr/>
                      <p:nvPr/>
                    </p:nvPicPr>
                    <p:blipFill>
                      <a:blip r:embed="rId4"/>
                      <a:stretch>
                        <a:fillRect/>
                      </a:stretch>
                    </p:blipFill>
                    <p:spPr>
                      <a:xfrm>
                        <a:off x="4080943" y="4277716"/>
                        <a:ext cx="7685383" cy="1673612"/>
                      </a:xfrm>
                      <a:prstGeom prst="rect">
                        <a:avLst/>
                      </a:prstGeom>
                      <a:noFill/>
                      <a:ln w="38100">
                        <a:noFill/>
                      </a:ln>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Text Box 2"/>
          <p:cNvSpPr txBox="1"/>
          <p:nvPr/>
        </p:nvSpPr>
        <p:spPr>
          <a:xfrm>
            <a:off x="1296075" y="1916557"/>
            <a:ext cx="5931419" cy="4632223"/>
          </a:xfrm>
          <a:prstGeom prst="rect">
            <a:avLst/>
          </a:prstGeom>
          <a:noFill/>
          <a:ln w="9525">
            <a:noFill/>
          </a:ln>
        </p:spPr>
        <p:txBody>
          <a:bodyPr wrap="none" lIns="108896" tIns="54448" rIns="108896" bIns="54448">
            <a:spAutoFit/>
          </a:bodyPr>
          <a:lstStyle/>
          <a:p>
            <a:r>
              <a:rPr lang="zh-CN" altLang="en-US" sz="2800" b="1" dirty="0">
                <a:latin typeface="Times New Roman" panose="02020603050405020304" pitchFamily="18" charset="0"/>
              </a:rPr>
              <a:t>同理，</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3</a:t>
            </a:r>
            <a:r>
              <a:rPr lang="zh-CN" altLang="en-US" sz="2800" b="1" dirty="0">
                <a:latin typeface="Times New Roman" panose="02020603050405020304" pitchFamily="18" charset="0"/>
              </a:rPr>
              <a:t>和</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4</a:t>
            </a:r>
            <a:r>
              <a:rPr lang="zh-CN" altLang="en-US" sz="2800" b="1" dirty="0">
                <a:latin typeface="Times New Roman" panose="02020603050405020304" pitchFamily="18" charset="0"/>
              </a:rPr>
              <a:t>的矩阵分别是：</a:t>
            </a:r>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因此</a:t>
            </a:r>
            <a:r>
              <a:rPr lang="en-US" altLang="zh-CN" sz="2800" b="1" i="1" dirty="0">
                <a:latin typeface="Times New Roman" panose="02020603050405020304" pitchFamily="18" charset="0"/>
              </a:rPr>
              <a:t>M</a:t>
            </a:r>
            <a:r>
              <a:rPr lang="en-US" altLang="zh-CN" sz="2800" b="1" baseline="30000" dirty="0">
                <a:latin typeface="Times New Roman" panose="02020603050405020304" pitchFamily="18" charset="0"/>
              </a:rPr>
              <a:t>4</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M</a:t>
            </a:r>
            <a:r>
              <a:rPr lang="en-US" altLang="zh-CN" sz="2800" b="1" baseline="30000" dirty="0">
                <a:latin typeface="Times New Roman" panose="02020603050405020304" pitchFamily="18" charset="0"/>
              </a:rPr>
              <a:t>2</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即</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4</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2</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因此可以得到</a:t>
            </a:r>
            <a:br>
              <a:rPr lang="zh-CN" altLang="en-US" sz="2800" b="1" dirty="0">
                <a:latin typeface="Times New Roman" panose="02020603050405020304" pitchFamily="18" charset="0"/>
              </a:rPr>
            </a:br>
            <a:r>
              <a:rPr lang="zh-CN" altLang="en-US"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2</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4</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6</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3</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5</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7</a:t>
            </a:r>
            <a:r>
              <a:rPr lang="en-US" altLang="zh-CN" sz="2800" b="1" dirty="0">
                <a:latin typeface="Times New Roman" panose="02020603050405020304" pitchFamily="18" charset="0"/>
              </a:rPr>
              <a:t>=…</a:t>
            </a:r>
            <a:br>
              <a:rPr lang="en-US" altLang="zh-CN" sz="2800" b="1" dirty="0">
                <a:latin typeface="Times New Roman" panose="02020603050405020304" pitchFamily="18" charset="0"/>
              </a:rPr>
            </a:br>
            <a:endParaRPr lang="en-US" altLang="zh-CN" sz="2800" b="1" dirty="0">
              <a:latin typeface="Times New Roman" panose="02020603050405020304" pitchFamily="18" charset="0"/>
            </a:endParaRPr>
          </a:p>
        </p:txBody>
      </p:sp>
      <p:sp>
        <p:nvSpPr>
          <p:cNvPr id="4102" name="Rectangle 3"/>
          <p:cNvSpPr/>
          <p:nvPr/>
        </p:nvSpPr>
        <p:spPr>
          <a:xfrm>
            <a:off x="0" y="2828115"/>
            <a:ext cx="219984" cy="479291"/>
          </a:xfrm>
          <a:prstGeom prst="rect">
            <a:avLst/>
          </a:prstGeom>
          <a:noFill/>
          <a:ln w="9525">
            <a:noFill/>
          </a:ln>
        </p:spPr>
        <p:txBody>
          <a:bodyPr wrap="none" lIns="108896" tIns="54448" rIns="108896" bIns="54448" anchor="ctr" anchorCtr="0">
            <a:spAutoFit/>
          </a:bodyPr>
          <a:lstStyle/>
          <a:p>
            <a:endParaRPr lang="zh-CN" altLang="en-US" dirty="0">
              <a:latin typeface="Arial" panose="020B0604020202020204" pitchFamily="34" charset="0"/>
            </a:endParaRPr>
          </a:p>
        </p:txBody>
      </p:sp>
      <p:graphicFrame>
        <p:nvGraphicFramePr>
          <p:cNvPr id="4098" name="Object 4"/>
          <p:cNvGraphicFramePr/>
          <p:nvPr/>
        </p:nvGraphicFramePr>
        <p:xfrm>
          <a:off x="4561675" y="2753363"/>
          <a:ext cx="6435901" cy="1673612"/>
        </p:xfrm>
        <a:graphic>
          <a:graphicData uri="http://schemas.openxmlformats.org/presentationml/2006/ole">
            <mc:AlternateContent xmlns:mc="http://schemas.openxmlformats.org/markup-compatibility/2006">
              <mc:Choice xmlns:v="urn:schemas-microsoft-com:vml" Requires="v">
                <p:oleObj spid="_x0000_s11265" name="" r:id="rId1" imgW="60045600" imgH="20726400" progId="Equation.3">
                  <p:embed/>
                </p:oleObj>
              </mc:Choice>
              <mc:Fallback>
                <p:oleObj name="" r:id="rId1" imgW="60045600" imgH="20726400" progId="Equation.3">
                  <p:embed/>
                  <p:pic>
                    <p:nvPicPr>
                      <p:cNvPr id="0" name="图片 11264" descr="image37"/>
                      <p:cNvPicPr/>
                      <p:nvPr/>
                    </p:nvPicPr>
                    <p:blipFill>
                      <a:blip r:embed="rId2"/>
                      <a:stretch>
                        <a:fillRect/>
                      </a:stretch>
                    </p:blipFill>
                    <p:spPr>
                      <a:xfrm>
                        <a:off x="4561675" y="2753363"/>
                        <a:ext cx="6435901" cy="1673612"/>
                      </a:xfrm>
                      <a:prstGeom prst="rect">
                        <a:avLst/>
                      </a:prstGeom>
                      <a:noFill/>
                      <a:ln w="38100">
                        <a:noFill/>
                      </a:ln>
                    </p:spPr>
                  </p:pic>
                </p:oleObj>
              </mc:Fallback>
            </mc:AlternateContent>
          </a:graphicData>
        </a:graphic>
      </p:graphicFrame>
      <p:graphicFrame>
        <p:nvGraphicFramePr>
          <p:cNvPr id="4099" name="Object 5"/>
          <p:cNvGraphicFramePr/>
          <p:nvPr/>
        </p:nvGraphicFramePr>
        <p:xfrm>
          <a:off x="1296075" y="2767654"/>
          <a:ext cx="3072884" cy="1681551"/>
        </p:xfrm>
        <a:graphic>
          <a:graphicData uri="http://schemas.openxmlformats.org/presentationml/2006/ole">
            <mc:AlternateContent xmlns:mc="http://schemas.openxmlformats.org/markup-compatibility/2006">
              <mc:Choice xmlns:v="urn:schemas-microsoft-com:vml" Requires="v">
                <p:oleObj spid="_x0000_s11266" name="" r:id="rId3" imgW="28651200" imgH="20726400" progId="Equation.3">
                  <p:embed/>
                </p:oleObj>
              </mc:Choice>
              <mc:Fallback>
                <p:oleObj name="" r:id="rId3" imgW="28651200" imgH="20726400" progId="Equation.3">
                  <p:embed/>
                  <p:pic>
                    <p:nvPicPr>
                      <p:cNvPr id="0" name="图片 11265" descr="image38"/>
                      <p:cNvPicPr/>
                      <p:nvPr/>
                    </p:nvPicPr>
                    <p:blipFill>
                      <a:blip r:embed="rId4"/>
                      <a:stretch>
                        <a:fillRect/>
                      </a:stretch>
                    </p:blipFill>
                    <p:spPr>
                      <a:xfrm>
                        <a:off x="1296075" y="2767654"/>
                        <a:ext cx="3072884" cy="1681551"/>
                      </a:xfrm>
                      <a:prstGeom prst="rect">
                        <a:avLst/>
                      </a:prstGeom>
                      <a:noFill/>
                      <a:ln w="38100">
                        <a:noFill/>
                      </a:ln>
                    </p:spPr>
                  </p:pic>
                </p:oleObj>
              </mc:Fallback>
            </mc:AlternateContent>
          </a:graphicData>
        </a:graphic>
      </p:graphicFrame>
      <p:sp>
        <p:nvSpPr>
          <p:cNvPr id="4103" name="Rectangle 6"/>
          <p:cNvSpPr>
            <a:spLocks noGrp="1"/>
          </p:cNvSpPr>
          <p:nvPr>
            <p:ph type="title"/>
          </p:nvPr>
        </p:nvSpPr>
        <p:spPr>
          <a:xfrm>
            <a:off x="1219835" y="476360"/>
            <a:ext cx="10978515" cy="1371918"/>
          </a:xfrm>
        </p:spPr>
        <p:txBody>
          <a:bodyPr vert="horz" wrap="square" lIns="108896" tIns="54448" rIns="108896" bIns="54448" anchor="ctr" anchorCtr="0"/>
          <a:lstStyle/>
          <a:p>
            <a:pPr eaLnBrk="1" hangingPunct="1"/>
            <a:r>
              <a:rPr lang="zh-CN" altLang="en-US" sz="2800" b="1" dirty="0">
                <a:solidFill>
                  <a:schemeClr val="tx1"/>
                </a:solidFill>
              </a:rPr>
              <a:t>幂的求法（续）</a:t>
            </a:r>
            <a:endParaRPr lang="zh-CN" altLang="en-US" sz="2800" b="1" dirty="0">
              <a:solidFill>
                <a:schemeClr val="tx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2"/>
          <p:cNvSpPr txBox="1"/>
          <p:nvPr/>
        </p:nvSpPr>
        <p:spPr>
          <a:xfrm>
            <a:off x="815342" y="1845103"/>
            <a:ext cx="10662967" cy="540847"/>
          </a:xfrm>
          <a:prstGeom prst="rect">
            <a:avLst/>
          </a:prstGeom>
          <a:noFill/>
          <a:ln w="9525">
            <a:noFill/>
          </a:ln>
        </p:spPr>
        <p:txBody>
          <a:bodyPr lIns="108896" tIns="54448" rIns="108896" bIns="54448">
            <a:spAutoFit/>
          </a:bodyPr>
          <a:lstStyle/>
          <a:p>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2</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3</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的关系图如下图所示</a:t>
            </a:r>
            <a:endParaRPr lang="zh-CN" altLang="en-US" sz="2800" b="1" dirty="0">
              <a:latin typeface="Times New Roman" panose="02020603050405020304" pitchFamily="18" charset="0"/>
            </a:endParaRPr>
          </a:p>
        </p:txBody>
      </p:sp>
      <p:sp>
        <p:nvSpPr>
          <p:cNvPr id="30724" name="Rectangle 3"/>
          <p:cNvSpPr>
            <a:spLocks noGrp="1"/>
          </p:cNvSpPr>
          <p:nvPr>
            <p:ph type="title"/>
          </p:nvPr>
        </p:nvSpPr>
        <p:spPr>
          <a:xfrm>
            <a:off x="624743" y="476360"/>
            <a:ext cx="10978515" cy="1371918"/>
          </a:xfrm>
        </p:spPr>
        <p:txBody>
          <a:bodyPr vert="horz" wrap="square" lIns="108896" tIns="54448" rIns="108896" bIns="54448" anchor="ctr" anchorCtr="0"/>
          <a:lstStyle/>
          <a:p>
            <a:pPr eaLnBrk="1" hangingPunct="1"/>
            <a:r>
              <a:rPr lang="zh-CN" altLang="en-US" sz="2800" b="1" dirty="0">
                <a:solidFill>
                  <a:schemeClr val="tx1"/>
                </a:solidFill>
              </a:rPr>
              <a:t>幂的求法（续）</a:t>
            </a:r>
            <a:endParaRPr lang="zh-CN" altLang="en-US" sz="2800" b="1" dirty="0">
              <a:solidFill>
                <a:schemeClr val="tx1"/>
              </a:solidFill>
            </a:endParaRPr>
          </a:p>
        </p:txBody>
      </p:sp>
      <p:pic>
        <p:nvPicPr>
          <p:cNvPr id="30725" name="Picture 4" descr="图片2"/>
          <p:cNvPicPr>
            <a:picLocks noChangeAspect="1"/>
          </p:cNvPicPr>
          <p:nvPr/>
        </p:nvPicPr>
        <p:blipFill>
          <a:blip r:embed="rId1" cstate="print"/>
          <a:srcRect b="72855"/>
          <a:stretch>
            <a:fillRect/>
          </a:stretch>
        </p:blipFill>
        <p:spPr>
          <a:xfrm>
            <a:off x="815342" y="2880392"/>
            <a:ext cx="10470250" cy="863800"/>
          </a:xfrm>
          <a:prstGeom prst="rect">
            <a:avLst/>
          </a:prstGeom>
          <a:noFill/>
          <a:ln w="9525">
            <a:noFill/>
          </a:ln>
        </p:spPr>
      </p:pic>
      <p:pic>
        <p:nvPicPr>
          <p:cNvPr id="30726" name="Picture 7" descr="图片2"/>
          <p:cNvPicPr>
            <a:picLocks noChangeAspect="1"/>
          </p:cNvPicPr>
          <p:nvPr/>
        </p:nvPicPr>
        <p:blipFill>
          <a:blip r:embed="rId1" cstate="print"/>
          <a:srcRect t="49800" b="9482"/>
          <a:stretch>
            <a:fillRect/>
          </a:stretch>
        </p:blipFill>
        <p:spPr>
          <a:xfrm>
            <a:off x="720042" y="4222140"/>
            <a:ext cx="10470250" cy="1295700"/>
          </a:xfrm>
          <a:prstGeom prst="rect">
            <a:avLst/>
          </a:prstGeom>
          <a:noFill/>
          <a:ln w="9525">
            <a:noFill/>
          </a:ln>
        </p:spPr>
      </p:pic>
      <p:sp>
        <p:nvSpPr>
          <p:cNvPr id="30727" name="Text Box 8"/>
          <p:cNvSpPr txBox="1"/>
          <p:nvPr/>
        </p:nvSpPr>
        <p:spPr>
          <a:xfrm>
            <a:off x="2852636" y="3764834"/>
            <a:ext cx="591816" cy="556235"/>
          </a:xfrm>
          <a:prstGeom prst="rect">
            <a:avLst/>
          </a:prstGeom>
          <a:noFill/>
          <a:ln w="9525">
            <a:noFill/>
          </a:ln>
        </p:spPr>
        <p:txBody>
          <a:bodyPr wrap="none" lIns="108896" tIns="54448" rIns="108896" bIns="54448">
            <a:spAutoFit/>
          </a:bodyPr>
          <a:lstStyle/>
          <a:p>
            <a:r>
              <a:rPr lang="en-US" altLang="zh-CN" sz="2900" b="1" i="1" dirty="0">
                <a:latin typeface="Times New Roman" panose="02020603050405020304" pitchFamily="18" charset="0"/>
              </a:rPr>
              <a:t>R</a:t>
            </a:r>
            <a:r>
              <a:rPr lang="en-US" altLang="zh-CN" sz="2900" b="1" baseline="30000" dirty="0">
                <a:latin typeface="Times New Roman" panose="02020603050405020304" pitchFamily="18" charset="0"/>
              </a:rPr>
              <a:t>0</a:t>
            </a:r>
            <a:endParaRPr lang="en-US" altLang="zh-CN" sz="2900" b="1" baseline="30000" dirty="0">
              <a:latin typeface="Times New Roman" panose="02020603050405020304" pitchFamily="18" charset="0"/>
            </a:endParaRPr>
          </a:p>
        </p:txBody>
      </p:sp>
      <p:sp>
        <p:nvSpPr>
          <p:cNvPr id="30728" name="Text Box 9"/>
          <p:cNvSpPr txBox="1"/>
          <p:nvPr/>
        </p:nvSpPr>
        <p:spPr>
          <a:xfrm>
            <a:off x="8691324" y="3744192"/>
            <a:ext cx="591816" cy="556235"/>
          </a:xfrm>
          <a:prstGeom prst="rect">
            <a:avLst/>
          </a:prstGeom>
          <a:noFill/>
          <a:ln w="9525">
            <a:noFill/>
          </a:ln>
        </p:spPr>
        <p:txBody>
          <a:bodyPr wrap="none" lIns="108896" tIns="54448" rIns="108896" bIns="54448">
            <a:spAutoFit/>
          </a:bodyPr>
          <a:lstStyle/>
          <a:p>
            <a:r>
              <a:rPr lang="en-US" altLang="zh-CN" sz="2900" b="1" i="1" dirty="0">
                <a:latin typeface="Times New Roman" panose="02020603050405020304" pitchFamily="18" charset="0"/>
              </a:rPr>
              <a:t>R</a:t>
            </a:r>
            <a:r>
              <a:rPr lang="en-US" altLang="zh-CN" sz="2900" b="1" baseline="30000" dirty="0">
                <a:latin typeface="Times New Roman" panose="02020603050405020304" pitchFamily="18" charset="0"/>
              </a:rPr>
              <a:t>1</a:t>
            </a:r>
            <a:endParaRPr lang="en-US" altLang="zh-CN" sz="2900" b="1" baseline="30000" dirty="0">
              <a:latin typeface="Times New Roman" panose="02020603050405020304" pitchFamily="18" charset="0"/>
            </a:endParaRPr>
          </a:p>
        </p:txBody>
      </p:sp>
      <p:sp>
        <p:nvSpPr>
          <p:cNvPr id="30729" name="Text Box 10"/>
          <p:cNvSpPr txBox="1"/>
          <p:nvPr/>
        </p:nvSpPr>
        <p:spPr>
          <a:xfrm>
            <a:off x="2545559" y="5517840"/>
            <a:ext cx="1758802" cy="556235"/>
          </a:xfrm>
          <a:prstGeom prst="rect">
            <a:avLst/>
          </a:prstGeom>
          <a:noFill/>
          <a:ln w="9525">
            <a:noFill/>
          </a:ln>
        </p:spPr>
        <p:txBody>
          <a:bodyPr wrap="none" lIns="108896" tIns="54448" rIns="108896" bIns="54448">
            <a:spAutoFit/>
          </a:bodyPr>
          <a:lstStyle/>
          <a:p>
            <a:r>
              <a:rPr lang="en-US" altLang="zh-CN" sz="2900" b="1" i="1" dirty="0">
                <a:latin typeface="Times New Roman" panose="02020603050405020304" pitchFamily="18" charset="0"/>
              </a:rPr>
              <a:t>R</a:t>
            </a:r>
            <a:r>
              <a:rPr lang="en-US" altLang="zh-CN" sz="2900" b="1" baseline="30000" dirty="0">
                <a:latin typeface="Times New Roman" panose="02020603050405020304" pitchFamily="18" charset="0"/>
              </a:rPr>
              <a:t>2</a:t>
            </a:r>
            <a:r>
              <a:rPr lang="en-US" altLang="zh-CN" sz="2900" b="1" dirty="0">
                <a:latin typeface="Times New Roman" panose="02020603050405020304" pitchFamily="18" charset="0"/>
              </a:rPr>
              <a:t>=</a:t>
            </a:r>
            <a:r>
              <a:rPr lang="en-US" altLang="zh-CN" sz="2900" b="1" i="1" dirty="0">
                <a:latin typeface="Times New Roman" panose="02020603050405020304" pitchFamily="18" charset="0"/>
              </a:rPr>
              <a:t>R</a:t>
            </a:r>
            <a:r>
              <a:rPr lang="en-US" altLang="zh-CN" sz="2900" b="1" baseline="30000" dirty="0">
                <a:latin typeface="Times New Roman" panose="02020603050405020304" pitchFamily="18" charset="0"/>
              </a:rPr>
              <a:t>4</a:t>
            </a:r>
            <a:r>
              <a:rPr lang="en-US" altLang="zh-CN" sz="2900" b="1" dirty="0">
                <a:latin typeface="Times New Roman" panose="02020603050405020304" pitchFamily="18" charset="0"/>
              </a:rPr>
              <a:t>=…</a:t>
            </a:r>
            <a:endParaRPr lang="en-US" altLang="zh-CN" sz="2900" b="1" baseline="30000" dirty="0">
              <a:latin typeface="Times New Roman" panose="02020603050405020304" pitchFamily="18" charset="0"/>
            </a:endParaRPr>
          </a:p>
        </p:txBody>
      </p:sp>
      <p:sp>
        <p:nvSpPr>
          <p:cNvPr id="30730" name="Text Box 11"/>
          <p:cNvSpPr txBox="1"/>
          <p:nvPr/>
        </p:nvSpPr>
        <p:spPr>
          <a:xfrm>
            <a:off x="8405427" y="5517840"/>
            <a:ext cx="1758802" cy="556235"/>
          </a:xfrm>
          <a:prstGeom prst="rect">
            <a:avLst/>
          </a:prstGeom>
          <a:noFill/>
          <a:ln w="9525">
            <a:noFill/>
          </a:ln>
        </p:spPr>
        <p:txBody>
          <a:bodyPr wrap="none" lIns="108896" tIns="54448" rIns="108896" bIns="54448">
            <a:spAutoFit/>
          </a:bodyPr>
          <a:lstStyle/>
          <a:p>
            <a:r>
              <a:rPr lang="en-US" altLang="zh-CN" sz="2900" b="1" i="1" dirty="0">
                <a:latin typeface="Times New Roman" panose="02020603050405020304" pitchFamily="18" charset="0"/>
              </a:rPr>
              <a:t>R</a:t>
            </a:r>
            <a:r>
              <a:rPr lang="en-US" altLang="zh-CN" sz="2900" b="1" baseline="30000" dirty="0">
                <a:latin typeface="Times New Roman" panose="02020603050405020304" pitchFamily="18" charset="0"/>
              </a:rPr>
              <a:t>3</a:t>
            </a:r>
            <a:r>
              <a:rPr lang="en-US" altLang="zh-CN" sz="2900" b="1" dirty="0">
                <a:latin typeface="Times New Roman" panose="02020603050405020304" pitchFamily="18" charset="0"/>
              </a:rPr>
              <a:t>=</a:t>
            </a:r>
            <a:r>
              <a:rPr lang="en-US" altLang="zh-CN" sz="2900" b="1" i="1" dirty="0">
                <a:latin typeface="Times New Roman" panose="02020603050405020304" pitchFamily="18" charset="0"/>
              </a:rPr>
              <a:t>R</a:t>
            </a:r>
            <a:r>
              <a:rPr lang="en-US" altLang="zh-CN" sz="2900" b="1" baseline="30000" dirty="0">
                <a:latin typeface="Times New Roman" panose="02020603050405020304" pitchFamily="18" charset="0"/>
              </a:rPr>
              <a:t>5</a:t>
            </a:r>
            <a:r>
              <a:rPr lang="en-US" altLang="zh-CN" sz="2900" b="1" dirty="0">
                <a:latin typeface="Times New Roman" panose="02020603050405020304" pitchFamily="18" charset="0"/>
              </a:rPr>
              <a:t>=…</a:t>
            </a:r>
            <a:endParaRPr lang="en-US" altLang="zh-CN" sz="2900" b="1" baseline="30000" dirty="0">
              <a:latin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a:xfrm>
            <a:off x="912759" y="476360"/>
            <a:ext cx="10978515" cy="1371918"/>
          </a:xfrm>
        </p:spPr>
        <p:txBody>
          <a:bodyPr vert="horz" wrap="square" lIns="108896" tIns="54448" rIns="108896" bIns="54448" anchor="ctr" anchorCtr="0"/>
          <a:lstStyle/>
          <a:p>
            <a:pPr eaLnBrk="1" hangingPunct="1"/>
            <a:r>
              <a:rPr lang="zh-CN" altLang="en-US" sz="2800" b="1" dirty="0">
                <a:solidFill>
                  <a:schemeClr val="tx1"/>
                </a:solidFill>
              </a:rPr>
              <a:t>幂运算的性质</a:t>
            </a:r>
            <a:endParaRPr lang="zh-CN" altLang="en-US" sz="2800" b="1" dirty="0">
              <a:solidFill>
                <a:schemeClr val="tx1"/>
              </a:solidFill>
            </a:endParaRPr>
          </a:p>
        </p:txBody>
      </p:sp>
      <p:grpSp>
        <p:nvGrpSpPr>
          <p:cNvPr id="2" name="Group 5"/>
          <p:cNvGrpSpPr/>
          <p:nvPr/>
        </p:nvGrpSpPr>
        <p:grpSpPr>
          <a:xfrm>
            <a:off x="1103359" y="1916557"/>
            <a:ext cx="10470250" cy="3667973"/>
            <a:chOff x="521" y="1207"/>
            <a:chExt cx="4944" cy="2310"/>
          </a:xfrm>
        </p:grpSpPr>
        <p:sp>
          <p:nvSpPr>
            <p:cNvPr id="5126" name="Text Box 3"/>
            <p:cNvSpPr txBox="1"/>
            <p:nvPr/>
          </p:nvSpPr>
          <p:spPr>
            <a:xfrm>
              <a:off x="521" y="1207"/>
              <a:ext cx="4944" cy="2310"/>
            </a:xfrm>
            <a:prstGeom prst="rect">
              <a:avLst/>
            </a:prstGeom>
            <a:noFill/>
            <a:ln w="9525">
              <a:noFill/>
            </a:ln>
          </p:spPr>
          <p:txBody>
            <a:bodyPr>
              <a:spAutoFit/>
            </a:bodyPr>
            <a:lstStyle/>
            <a:p>
              <a:pPr>
                <a:lnSpc>
                  <a:spcPct val="120000"/>
                </a:lnSpc>
              </a:pPr>
              <a:r>
                <a:rPr lang="zh-CN" altLang="en-US" sz="2800" b="1" dirty="0">
                  <a:solidFill>
                    <a:srgbClr val="FF3300"/>
                  </a:solidFill>
                  <a:latin typeface="Times New Roman" panose="02020603050405020304" pitchFamily="18" charset="0"/>
                </a:rPr>
                <a:t>定理</a:t>
              </a:r>
              <a:r>
                <a:rPr lang="en-US" altLang="zh-CN" sz="2800" b="1" dirty="0">
                  <a:solidFill>
                    <a:srgbClr val="FF3300"/>
                  </a:solidFill>
                  <a:latin typeface="Times New Roman" panose="02020603050405020304" pitchFamily="18" charset="0"/>
                </a:rPr>
                <a:t>3   </a:t>
              </a:r>
              <a:r>
                <a:rPr lang="zh-CN" altLang="en-US" sz="2800" b="1" dirty="0">
                  <a:latin typeface="Times New Roman" panose="02020603050405020304" pitchFamily="18" charset="0"/>
                </a:rPr>
                <a:t>设</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为</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元集</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是</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上的关系</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则存在自然数 </a:t>
              </a:r>
              <a:r>
                <a:rPr lang="en-US" altLang="zh-CN" sz="2800" b="1" i="1" dirty="0">
                  <a:latin typeface="Times New Roman" panose="02020603050405020304" pitchFamily="18" charset="0"/>
                </a:rPr>
                <a:t>s </a:t>
              </a:r>
              <a:r>
                <a:rPr lang="zh-CN" altLang="en-US" sz="2800" b="1" dirty="0">
                  <a:latin typeface="Times New Roman" panose="02020603050405020304" pitchFamily="18" charset="0"/>
                </a:rPr>
                <a:t>和 </a:t>
              </a:r>
              <a:r>
                <a:rPr lang="en-US" altLang="zh-CN" sz="2800" b="1" i="1" dirty="0">
                  <a:latin typeface="Times New Roman" panose="02020603050405020304" pitchFamily="18" charset="0"/>
                </a:rPr>
                <a:t>t</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使得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s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t</a:t>
              </a: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a:p>
              <a:pPr>
                <a:lnSpc>
                  <a:spcPct val="120000"/>
                </a:lnSpc>
              </a:pP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证  </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为</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上的关系</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由于</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上的不同关系只有      个</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当列出 </a:t>
              </a:r>
              <a:r>
                <a:rPr lang="en-US" altLang="zh-CN" sz="2800" b="1" i="1" dirty="0">
                  <a:latin typeface="Times New Roman" panose="02020603050405020304" pitchFamily="18" charset="0"/>
                </a:rPr>
                <a:t>R </a:t>
              </a:r>
              <a:r>
                <a:rPr lang="zh-CN" altLang="en-US" sz="2800" b="1" dirty="0">
                  <a:latin typeface="Times New Roman" panose="02020603050405020304" pitchFamily="18" charset="0"/>
                </a:rPr>
                <a:t>的各次幂</a:t>
              </a:r>
              <a:endParaRPr lang="zh-CN" altLang="en-US" sz="2800" b="1" i="1" dirty="0">
                <a:latin typeface="Times New Roman" panose="02020603050405020304" pitchFamily="18" charset="0"/>
              </a:endParaRPr>
            </a:p>
            <a:p>
              <a:pPr>
                <a:lnSpc>
                  <a:spcPct val="120000"/>
                </a:lnSpc>
              </a:pP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2</a:t>
              </a:r>
              <a:r>
                <a:rPr lang="en-US" altLang="zh-CN" sz="2800" b="1" dirty="0">
                  <a:latin typeface="Times New Roman" panose="02020603050405020304" pitchFamily="18" charset="0"/>
                </a:rPr>
                <a:t>, …, , …, </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必存在自然数 </a:t>
              </a:r>
              <a:r>
                <a:rPr lang="en-US" altLang="zh-CN" sz="2800" b="1" i="1" dirty="0">
                  <a:latin typeface="Times New Roman" panose="02020603050405020304" pitchFamily="18" charset="0"/>
                </a:rPr>
                <a:t>s </a:t>
              </a:r>
              <a:r>
                <a:rPr lang="zh-CN" altLang="en-US" sz="2800" b="1" dirty="0">
                  <a:latin typeface="Times New Roman" panose="02020603050405020304" pitchFamily="18" charset="0"/>
                </a:rPr>
                <a:t>和 </a:t>
              </a:r>
              <a:r>
                <a:rPr lang="en-US" altLang="zh-CN" sz="2800" b="1" i="1" dirty="0">
                  <a:latin typeface="Times New Roman" panose="02020603050405020304" pitchFamily="18" charset="0"/>
                </a:rPr>
                <a:t>t </a:t>
              </a:r>
              <a:r>
                <a:rPr lang="zh-CN" altLang="en-US" sz="2800" b="1" dirty="0">
                  <a:latin typeface="Times New Roman" panose="02020603050405020304" pitchFamily="18" charset="0"/>
                </a:rPr>
                <a:t>使得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s</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t</a:t>
              </a: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p:txBody>
        </p:sp>
        <p:graphicFrame>
          <p:nvGraphicFramePr>
            <p:cNvPr id="5122" name="Object 4"/>
            <p:cNvGraphicFramePr/>
            <p:nvPr/>
          </p:nvGraphicFramePr>
          <p:xfrm>
            <a:off x="4247" y="2256"/>
            <a:ext cx="363" cy="262"/>
          </p:xfrm>
          <a:graphic>
            <a:graphicData uri="http://schemas.openxmlformats.org/presentationml/2006/ole">
              <mc:AlternateContent xmlns:mc="http://schemas.openxmlformats.org/markup-compatibility/2006">
                <mc:Choice xmlns:v="urn:schemas-microsoft-com:vml" Requires="v">
                  <p:oleObj spid="_x0000_s12289" name="" r:id="rId1" imgW="5486400" imgH="4876800" progId="Equation.3">
                    <p:embed/>
                  </p:oleObj>
                </mc:Choice>
                <mc:Fallback>
                  <p:oleObj name="" r:id="rId1" imgW="5486400" imgH="4876800" progId="Equation.3">
                    <p:embed/>
                    <p:pic>
                      <p:nvPicPr>
                        <p:cNvPr id="0" name="图片 12288" descr="image40"/>
                        <p:cNvPicPr/>
                        <p:nvPr/>
                      </p:nvPicPr>
                      <p:blipFill>
                        <a:blip r:embed="rId2"/>
                        <a:stretch>
                          <a:fillRect/>
                        </a:stretch>
                      </p:blipFill>
                      <p:spPr>
                        <a:xfrm>
                          <a:off x="4247" y="2256"/>
                          <a:ext cx="363" cy="262"/>
                        </a:xfrm>
                        <a:prstGeom prst="rect">
                          <a:avLst/>
                        </a:prstGeom>
                        <a:noFill/>
                        <a:ln w="38100">
                          <a:noFill/>
                        </a:ln>
                      </p:spPr>
                    </p:pic>
                  </p:oleObj>
                </mc:Fallback>
              </mc:AlternateContent>
            </a:graphicData>
          </a:graphic>
        </p:graphicFrame>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 Box 2"/>
          <p:cNvSpPr txBox="1"/>
          <p:nvPr/>
        </p:nvSpPr>
        <p:spPr>
          <a:xfrm>
            <a:off x="1296075" y="1845103"/>
            <a:ext cx="7874258" cy="4835356"/>
          </a:xfrm>
          <a:prstGeom prst="rect">
            <a:avLst/>
          </a:prstGeom>
          <a:noFill/>
          <a:ln w="9525">
            <a:noFill/>
          </a:ln>
        </p:spPr>
        <p:txBody>
          <a:bodyPr wrap="none" lIns="108896" tIns="54448" rIns="108896" bIns="54448">
            <a:spAutoFit/>
          </a:bodyPr>
          <a:lstStyle/>
          <a:p>
            <a:r>
              <a:rPr lang="zh-CN" altLang="en-US" sz="2800" b="1" dirty="0">
                <a:solidFill>
                  <a:srgbClr val="FF3300"/>
                </a:solidFill>
                <a:latin typeface="Times New Roman" panose="02020603050405020304" pitchFamily="18" charset="0"/>
              </a:rPr>
              <a:t>定理</a:t>
            </a:r>
            <a:r>
              <a:rPr lang="en-US" altLang="zh-CN" sz="2800" b="1" dirty="0">
                <a:solidFill>
                  <a:srgbClr val="FF3300"/>
                </a:solidFill>
                <a:latin typeface="Times New Roman" panose="02020603050405020304" pitchFamily="18" charset="0"/>
              </a:rPr>
              <a:t>4  </a:t>
            </a:r>
            <a:r>
              <a:rPr lang="zh-CN" altLang="en-US" sz="2800" b="1" dirty="0">
                <a:latin typeface="Times New Roman" panose="02020603050405020304" pitchFamily="18" charset="0"/>
              </a:rPr>
              <a:t>设 </a:t>
            </a:r>
            <a:r>
              <a:rPr lang="en-US" altLang="zh-CN" sz="2800" b="1" i="1" dirty="0">
                <a:latin typeface="Times New Roman" panose="02020603050405020304" pitchFamily="18" charset="0"/>
              </a:rPr>
              <a:t>R </a:t>
            </a:r>
            <a:r>
              <a:rPr lang="zh-CN" altLang="en-US" sz="2800" b="1" dirty="0">
                <a:latin typeface="Times New Roman" panose="02020603050405020304" pitchFamily="18" charset="0"/>
              </a:rPr>
              <a:t>是 </a:t>
            </a:r>
            <a:r>
              <a:rPr lang="en-US" altLang="zh-CN" sz="2800" b="1" i="1" dirty="0">
                <a:latin typeface="Times New Roman" panose="02020603050405020304" pitchFamily="18" charset="0"/>
              </a:rPr>
              <a:t>A </a:t>
            </a:r>
            <a:r>
              <a:rPr lang="zh-CN" altLang="en-US" sz="2800" b="1" dirty="0">
                <a:latin typeface="Times New Roman" panose="02020603050405020304" pitchFamily="18" charset="0"/>
              </a:rPr>
              <a:t>上的关系</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m</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∈N, </a:t>
            </a:r>
            <a:r>
              <a:rPr lang="zh-CN" altLang="en-US" sz="2800" b="1" dirty="0">
                <a:latin typeface="Times New Roman" panose="02020603050405020304" pitchFamily="18" charset="0"/>
              </a:rPr>
              <a:t>则 </a:t>
            </a:r>
            <a:endParaRPr lang="zh-CN" altLang="en-US" sz="2800" b="1" dirty="0">
              <a:latin typeface="Times New Roman" panose="02020603050405020304" pitchFamily="18" charset="0"/>
            </a:endParaRPr>
          </a:p>
          <a:p>
            <a:r>
              <a:rPr lang="zh-CN" altLang="en-US" sz="2800" b="1" dirty="0">
                <a:latin typeface="Times New Roman" panose="02020603050405020304" pitchFamily="18" charset="0"/>
              </a:rPr>
              <a:t>  </a:t>
            </a:r>
            <a:r>
              <a:rPr lang="en-US" altLang="zh-CN" sz="2800" b="1" dirty="0">
                <a:latin typeface="Times New Roman" panose="02020603050405020304" pitchFamily="18" charset="0"/>
              </a:rPr>
              <a:t>(1)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a:t>
            </a:r>
            <a:r>
              <a:rPr lang="en-US" altLang="zh-CN" sz="2800" b="1" i="1" baseline="30000" dirty="0">
                <a:latin typeface="Times New Roman" panose="02020603050405020304" pitchFamily="18" charset="0"/>
              </a:rPr>
              <a:t>n</a:t>
            </a:r>
            <a:br>
              <a:rPr lang="en-US" altLang="zh-CN" sz="2800" b="1" dirty="0">
                <a:latin typeface="Times New Roman" panose="02020603050405020304" pitchFamily="18" charset="0"/>
              </a:rPr>
            </a:br>
            <a:r>
              <a:rPr lang="en-US" altLang="zh-CN" sz="2800" b="1" dirty="0">
                <a:latin typeface="Times New Roman" panose="02020603050405020304" pitchFamily="18" charset="0"/>
              </a:rPr>
              <a:t>  (2)  (</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mn</a:t>
            </a:r>
            <a:r>
              <a:rPr lang="en-US" altLang="zh-CN" sz="2800" b="1" baseline="30000" dirty="0">
                <a:latin typeface="Times New Roman" panose="02020603050405020304" pitchFamily="18" charset="0"/>
              </a:rPr>
              <a:t>  </a:t>
            </a:r>
            <a:endParaRPr lang="en-US" altLang="zh-CN" sz="2800" b="1" baseline="30000" dirty="0">
              <a:latin typeface="Times New Roman" panose="02020603050405020304" pitchFamily="18" charset="0"/>
            </a:endParaRPr>
          </a:p>
          <a:p>
            <a:r>
              <a:rPr lang="zh-CN" altLang="en-US" sz="2800" b="1" dirty="0">
                <a:latin typeface="Times New Roman" panose="02020603050405020304" pitchFamily="18" charset="0"/>
              </a:rPr>
              <a:t>证 </a:t>
            </a:r>
            <a:r>
              <a:rPr lang="zh-CN" altLang="en-US" sz="2800" b="1" dirty="0" smtClean="0">
                <a:latin typeface="Times New Roman" panose="02020603050405020304" pitchFamily="18" charset="0"/>
              </a:rPr>
              <a:t>：用</a:t>
            </a:r>
            <a:r>
              <a:rPr lang="zh-CN" altLang="en-US" sz="2800" b="1" dirty="0">
                <a:latin typeface="Times New Roman" panose="02020603050405020304" pitchFamily="18" charset="0"/>
              </a:rPr>
              <a:t>归纳法  </a:t>
            </a:r>
            <a:br>
              <a:rPr lang="zh-CN" altLang="en-US" sz="2800" b="1" dirty="0">
                <a:latin typeface="Times New Roman" panose="02020603050405020304" pitchFamily="18" charset="0"/>
              </a:rPr>
            </a:br>
            <a:r>
              <a:rPr lang="zh-CN" altLang="en-US" sz="2800" b="1" dirty="0">
                <a:latin typeface="Times New Roman" panose="02020603050405020304" pitchFamily="18" charset="0"/>
              </a:rPr>
              <a:t></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对于任意给定的</a:t>
            </a:r>
            <a:r>
              <a:rPr lang="en-US" altLang="zh-CN" sz="2800" b="1" i="1" dirty="0">
                <a:latin typeface="Times New Roman" panose="02020603050405020304" pitchFamily="18" charset="0"/>
              </a:rPr>
              <a:t>m</a:t>
            </a:r>
            <a:r>
              <a:rPr lang="en-US" altLang="zh-CN" sz="2800" b="1" dirty="0">
                <a:latin typeface="Times New Roman" panose="02020603050405020304" pitchFamily="18" charset="0"/>
              </a:rPr>
              <a:t>∈N,  </a:t>
            </a:r>
            <a:r>
              <a:rPr lang="zh-CN" altLang="en-US" sz="2800" b="1" dirty="0">
                <a:latin typeface="Times New Roman" panose="02020603050405020304" pitchFamily="18" charset="0"/>
              </a:rPr>
              <a:t>施归纳于</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a:t>
            </a:r>
            <a:br>
              <a:rPr lang="en-US" altLang="zh-CN" sz="2800" b="1" dirty="0">
                <a:latin typeface="Times New Roman" panose="02020603050405020304" pitchFamily="18" charset="0"/>
              </a:rPr>
            </a:br>
            <a:r>
              <a:rPr lang="zh-CN" altLang="en-US" sz="2800" b="1" dirty="0">
                <a:latin typeface="Times New Roman" panose="02020603050405020304" pitchFamily="18" charset="0"/>
              </a:rPr>
              <a:t>若</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=0, </a:t>
            </a:r>
            <a:r>
              <a:rPr lang="zh-CN" altLang="en-US" sz="2800" b="1" dirty="0">
                <a:latin typeface="Times New Roman" panose="02020603050405020304" pitchFamily="18" charset="0"/>
              </a:rPr>
              <a:t>则有 </a:t>
            </a:r>
            <a:br>
              <a:rPr lang="zh-CN" altLang="en-US" sz="2800" b="1" dirty="0">
                <a:latin typeface="Times New Roman" panose="02020603050405020304" pitchFamily="18" charset="0"/>
              </a:rPr>
            </a:br>
            <a:r>
              <a:rPr lang="zh-CN" altLang="en-US"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+0 </a:t>
            </a:r>
            <a:endParaRPr lang="en-US" altLang="zh-CN" sz="2800" b="1" baseline="30000" dirty="0">
              <a:latin typeface="Times New Roman" panose="02020603050405020304" pitchFamily="18" charset="0"/>
            </a:endParaRPr>
          </a:p>
          <a:p>
            <a:pPr>
              <a:lnSpc>
                <a:spcPct val="110000"/>
              </a:lnSpc>
            </a:pPr>
            <a:r>
              <a:rPr lang="zh-CN" altLang="en-US" sz="2800" b="1" dirty="0">
                <a:latin typeface="Times New Roman" panose="02020603050405020304" pitchFamily="18" charset="0"/>
              </a:rPr>
              <a:t>假设</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则有</a:t>
            </a:r>
            <a:br>
              <a:rPr lang="zh-CN" altLang="en-US" sz="2800" b="1" dirty="0">
                <a:latin typeface="Times New Roman" panose="02020603050405020304" pitchFamily="18" charset="0"/>
              </a:rPr>
            </a:br>
            <a:r>
              <a:rPr lang="zh-CN" altLang="en-US"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 , </a:t>
            </a:r>
            <a:endParaRPr lang="en-US" altLang="zh-CN" sz="2800" b="1" dirty="0">
              <a:latin typeface="Times New Roman" panose="02020603050405020304" pitchFamily="18" charset="0"/>
            </a:endParaRPr>
          </a:p>
          <a:p>
            <a:pPr>
              <a:lnSpc>
                <a:spcPct val="110000"/>
              </a:lnSpc>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所以对一切</a:t>
            </a:r>
            <a:r>
              <a:rPr lang="en-US" altLang="zh-CN" sz="2800" b="1" i="1" dirty="0">
                <a:latin typeface="Times New Roman" panose="02020603050405020304" pitchFamily="18" charset="0"/>
              </a:rPr>
              <a:t>m</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∈N</a:t>
            </a:r>
            <a:r>
              <a:rPr lang="zh-CN" altLang="en-US" sz="2800" b="1" dirty="0">
                <a:latin typeface="Times New Roman" panose="02020603050405020304" pitchFamily="18" charset="0"/>
              </a:rPr>
              <a:t>有</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 </a:t>
            </a:r>
            <a:endParaRPr lang="en-US" altLang="zh-CN" sz="2800" b="1" baseline="30000" dirty="0">
              <a:latin typeface="Times New Roman" panose="02020603050405020304" pitchFamily="18" charset="0"/>
            </a:endParaRPr>
          </a:p>
          <a:p>
            <a:endParaRPr lang="en-US" altLang="zh-CN" sz="2800" b="1" baseline="30000" dirty="0">
              <a:latin typeface="Times New Roman" panose="02020603050405020304" pitchFamily="18" charset="0"/>
            </a:endParaRPr>
          </a:p>
        </p:txBody>
      </p:sp>
      <p:sp>
        <p:nvSpPr>
          <p:cNvPr id="31748" name="Rectangle 3"/>
          <p:cNvSpPr>
            <a:spLocks noGrp="1"/>
          </p:cNvSpPr>
          <p:nvPr>
            <p:ph type="title"/>
          </p:nvPr>
        </p:nvSpPr>
        <p:spPr>
          <a:xfrm>
            <a:off x="1219835" y="476360"/>
            <a:ext cx="10978515" cy="1371918"/>
          </a:xfrm>
        </p:spPr>
        <p:txBody>
          <a:bodyPr vert="horz" wrap="square" lIns="108896" tIns="54448" rIns="108896" bIns="54448" anchor="ctr" anchorCtr="0"/>
          <a:lstStyle/>
          <a:p>
            <a:pPr eaLnBrk="1" hangingPunct="1"/>
            <a:r>
              <a:rPr lang="zh-CN" altLang="en-US" sz="2800" b="1" dirty="0">
                <a:solidFill>
                  <a:schemeClr val="tx1"/>
                </a:solidFill>
              </a:rPr>
              <a:t>幂运算的性质（续）</a:t>
            </a:r>
            <a:endParaRPr lang="zh-CN" altLang="en-US" sz="2800" b="1" dirty="0">
              <a:solidFill>
                <a:schemeClr val="tx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2"/>
          <p:cNvSpPr txBox="1"/>
          <p:nvPr/>
        </p:nvSpPr>
        <p:spPr>
          <a:xfrm>
            <a:off x="1103359" y="1800643"/>
            <a:ext cx="10279651" cy="3680937"/>
          </a:xfrm>
          <a:prstGeom prst="rect">
            <a:avLst/>
          </a:prstGeom>
          <a:noFill/>
          <a:ln w="9525">
            <a:noFill/>
          </a:ln>
        </p:spPr>
        <p:txBody>
          <a:bodyPr lIns="108896" tIns="54448" rIns="108896" bIns="54448">
            <a:spAutoFit/>
          </a:bodyPr>
          <a:lstStyle/>
          <a:p>
            <a:pPr>
              <a:lnSpc>
                <a:spcPct val="120000"/>
              </a:lnSpc>
            </a:pPr>
            <a:r>
              <a:rPr lang="en-US" altLang="zh-CN" sz="2800" b="1" dirty="0">
                <a:latin typeface="Times New Roman" panose="02020603050405020304" pitchFamily="18" charset="0"/>
              </a:rPr>
              <a:t>(</a:t>
            </a:r>
            <a:r>
              <a:rPr lang="zh-CN" altLang="en-US" sz="2800" b="1" dirty="0">
                <a:latin typeface="Times New Roman" panose="02020603050405020304" pitchFamily="18" charset="0"/>
              </a:rPr>
              <a:t>接上页证明</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a:lnSpc>
                <a:spcPct val="120000"/>
              </a:lnSpc>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对于任意给定的 </a:t>
            </a:r>
            <a:r>
              <a:rPr lang="en-US" altLang="zh-CN" sz="2800" b="1" i="1" dirty="0">
                <a:latin typeface="Times New Roman" panose="02020603050405020304" pitchFamily="18" charset="0"/>
              </a:rPr>
              <a:t>m</a:t>
            </a:r>
            <a:r>
              <a:rPr lang="en-US" altLang="zh-CN" sz="2800" b="1" dirty="0">
                <a:latin typeface="Times New Roman" panose="02020603050405020304" pitchFamily="18" charset="0"/>
              </a:rPr>
              <a:t>∈N,  </a:t>
            </a:r>
            <a:r>
              <a:rPr lang="zh-CN" altLang="en-US" sz="2800" b="1" dirty="0">
                <a:latin typeface="Times New Roman" panose="02020603050405020304" pitchFamily="18" charset="0"/>
              </a:rPr>
              <a:t>施归纳于</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若</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=0, </a:t>
            </a:r>
            <a:r>
              <a:rPr lang="zh-CN" altLang="en-US" sz="2800" b="1" dirty="0">
                <a:latin typeface="Times New Roman" panose="02020603050405020304" pitchFamily="18" charset="0"/>
              </a:rPr>
              <a:t>则有 </a:t>
            </a:r>
            <a:endParaRPr lang="zh-CN" altLang="en-US"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I</a:t>
            </a:r>
            <a:r>
              <a:rPr lang="en-US" altLang="zh-CN" sz="2800" b="1" i="1" baseline="-25000" dirty="0">
                <a:latin typeface="Times New Roman" panose="02020603050405020304" pitchFamily="18" charset="0"/>
              </a:rPr>
              <a:t>A</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×0</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假设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mn</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则有</a:t>
            </a:r>
            <a:endParaRPr lang="zh-CN" altLang="en-US"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mn</a:t>
            </a:r>
            <a:r>
              <a:rPr lang="en-US" altLang="zh-CN" sz="2800" b="1" dirty="0">
                <a:latin typeface="Times New Roman" panose="02020603050405020304" pitchFamily="18" charset="0"/>
              </a:rPr>
              <a:t>)</a:t>
            </a:r>
            <a:r>
              <a:rPr lang="en-US" altLang="zh-CN" sz="2800" b="1" dirty="0">
                <a:latin typeface="Arial" panose="020B0604020202020204" pitchFamily="34"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mn</a:t>
            </a:r>
            <a:r>
              <a:rPr lang="en-US" altLang="zh-CN" sz="2800" b="1" baseline="30000" dirty="0">
                <a:latin typeface="Times New Roman" panose="02020603050405020304" pitchFamily="18" charset="0"/>
              </a:rPr>
              <a:t>+</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pPr>
              <a:lnSpc>
                <a:spcPct val="120000"/>
              </a:lnSpc>
            </a:pPr>
            <a:r>
              <a:rPr lang="zh-CN" altLang="en-US" sz="2800" b="1" dirty="0">
                <a:latin typeface="Times New Roman" panose="02020603050405020304" pitchFamily="18" charset="0"/>
              </a:rPr>
              <a:t>所以对一切 </a:t>
            </a:r>
            <a:r>
              <a:rPr lang="en-US" altLang="zh-CN" sz="2800" b="1" i="1"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∈N</a:t>
            </a:r>
            <a:r>
              <a:rPr lang="en-US" altLang="zh-CN" sz="2800" b="1" i="1" dirty="0">
                <a:latin typeface="Times New Roman" panose="02020603050405020304" pitchFamily="18" charset="0"/>
              </a:rPr>
              <a:t> </a:t>
            </a:r>
            <a:r>
              <a:rPr lang="zh-CN" altLang="en-US" sz="2800" b="1" dirty="0">
                <a:latin typeface="Times New Roman" panose="02020603050405020304" pitchFamily="18" charset="0"/>
              </a:rPr>
              <a:t>有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a:t>
            </a:r>
            <a:r>
              <a:rPr lang="en-US" altLang="zh-CN" sz="2800" b="1" dirty="0">
                <a:latin typeface="Times New Roman" panose="02020603050405020304" pitchFamily="18" charset="0"/>
              </a:rPr>
              <a:t>)</a:t>
            </a:r>
            <a:r>
              <a:rPr lang="en-US" altLang="zh-CN" sz="2800" b="1" i="1" baseline="30000" dirty="0">
                <a:latin typeface="Times New Roman" panose="02020603050405020304" pitchFamily="18" charset="0"/>
              </a:rPr>
              <a:t>n</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i="1" baseline="30000" dirty="0">
                <a:latin typeface="Times New Roman" panose="02020603050405020304" pitchFamily="18" charset="0"/>
              </a:rPr>
              <a:t>mn</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p:txBody>
      </p:sp>
      <p:sp>
        <p:nvSpPr>
          <p:cNvPr id="32772" name="Rectangle 3"/>
          <p:cNvSpPr>
            <a:spLocks noGrp="1"/>
          </p:cNvSpPr>
          <p:nvPr>
            <p:ph type="title"/>
          </p:nvPr>
        </p:nvSpPr>
        <p:spPr>
          <a:xfrm>
            <a:off x="912759" y="476360"/>
            <a:ext cx="10978515" cy="1371918"/>
          </a:xfrm>
        </p:spPr>
        <p:txBody>
          <a:bodyPr vert="horz" wrap="square" lIns="108896" tIns="54448" rIns="108896" bIns="54448" anchor="ctr" anchorCtr="0"/>
          <a:lstStyle/>
          <a:p>
            <a:pPr eaLnBrk="1" hangingPunct="1"/>
            <a:r>
              <a:rPr lang="zh-CN" altLang="en-US" sz="2800" b="1" dirty="0">
                <a:solidFill>
                  <a:schemeClr val="tx1"/>
                </a:solidFill>
              </a:rPr>
              <a:t>幂运算的性质（续）</a:t>
            </a:r>
            <a:endParaRPr lang="zh-CN" altLang="en-US" sz="2800" b="1" dirty="0">
              <a:solidFill>
                <a:schemeClr val="tx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3812470"/>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学习要求</a:t>
            </a: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08445"/>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49041"/>
            <a:ext cx="1538883" cy="369353"/>
          </a:xfrm>
          <a:prstGeom prst="rect">
            <a:avLst/>
          </a:prstGeom>
          <a:noFill/>
        </p:spPr>
        <p:txBody>
          <a:bodyPr wrap="none" lIns="0" tIns="0" rIns="0" bIns="60981" rtlCol="0">
            <a:spAutoFit/>
          </a:bodyPr>
          <a:lstStyle/>
          <a:p>
            <a:pPr>
              <a:lnSpc>
                <a:spcPts val="2400"/>
              </a:lnSpc>
            </a:pPr>
            <a:r>
              <a:rPr lang="zh-CN" altLang="en-US" b="1" dirty="0">
                <a:solidFill>
                  <a:schemeClr val="bg1"/>
                </a:solidFill>
                <a:latin typeface="Microsoft YaHei UI" panose="020B0503020204020204" pitchFamily="18" charset="-122"/>
                <a:cs typeface="Microsoft YaHei UI" panose="020B0503020204020204" pitchFamily="18" charset="-122"/>
              </a:rPr>
              <a:t>关系的性质</a:t>
            </a:r>
            <a:endParaRPr lang="zh-CN" altLang="en-US" b="1" dirty="0">
              <a:solidFill>
                <a:schemeClr val="bg1"/>
              </a:solidFill>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a:t>
            </a:r>
            <a:r>
              <a:rPr lang="en-US" altLang="zh-CN" b="1" dirty="0">
                <a:solidFill>
                  <a:schemeClr val="bg1"/>
                </a:solidFill>
                <a:latin typeface="Microsoft YaHei UI" panose="020B0503020204020204" pitchFamily="18" charset="-122"/>
                <a:cs typeface="Microsoft YaHei UI" panose="020B0503020204020204" pitchFamily="18" charset="-122"/>
              </a:rPr>
              <a:t>4.3</a:t>
            </a:r>
            <a:endParaRPr lang="en-US" altLang="zh-CN" b="1" dirty="0">
              <a:solidFill>
                <a:schemeClr val="bg1"/>
              </a:solidFill>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gn="l">
              <a:lnSpc>
                <a:spcPts val="2400"/>
              </a:lnSpc>
            </a:pPr>
            <a:r>
              <a:rPr lang="zh-CN" altLang="en-US" b="1" dirty="0" smtClean="0">
                <a:latin typeface="Microsoft YaHei UI" panose="020B0503020204020204" pitchFamily="18" charset="-122"/>
                <a:cs typeface="Microsoft YaHei UI" panose="020B0503020204020204" pitchFamily="18" charset="-122"/>
                <a:sym typeface="+mn-ea"/>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1" name="Rectangle 2"/>
          <p:cNvSpPr>
            <a:spLocks noGrp="1" noChangeArrowheads="1"/>
          </p:cNvSpPr>
          <p:nvPr>
            <p:ph type="title"/>
          </p:nvPr>
        </p:nvSpPr>
        <p:spPr>
          <a:xfrm>
            <a:off x="993775" y="303282"/>
            <a:ext cx="7774199" cy="585924"/>
          </a:xfrm>
        </p:spPr>
        <p:txBody>
          <a:bodyPr/>
          <a:lstStyle/>
          <a:p>
            <a:r>
              <a:rPr lang="en-US" altLang="zh-CN" dirty="0"/>
              <a:t>1</a:t>
            </a:r>
            <a:r>
              <a:rPr lang="zh-CN" altLang="en-US" dirty="0"/>
              <a:t>、自反性和反自反性</a:t>
            </a:r>
            <a:endParaRPr lang="zh-CN" altLang="en-US" dirty="0"/>
          </a:p>
        </p:txBody>
      </p:sp>
      <mc:AlternateContent xmlns:mc="http://schemas.openxmlformats.org/markup-compatibility/2006">
        <mc:Choice xmlns:a14="http://schemas.microsoft.com/office/drawing/2010/main" Requires="a14">
          <p:sp>
            <p:nvSpPr>
              <p:cNvPr id="1523715" name="Rectangle 3"/>
              <p:cNvSpPr>
                <a:spLocks noGrp="1" noChangeArrowheads="1"/>
              </p:cNvSpPr>
              <p:nvPr>
                <p:ph type="body" idx="1"/>
              </p:nvPr>
            </p:nvSpPr>
            <p:spPr>
              <a:xfrm>
                <a:off x="269875" y="1296194"/>
                <a:ext cx="11658600" cy="4570072"/>
              </a:xfrm>
            </p:spPr>
            <p:txBody>
              <a:bodyPr>
                <a:normAutofit/>
              </a:bodyPr>
              <a:lstStyle/>
              <a:p>
                <a:pPr marL="533400" indent="-533400">
                  <a:lnSpc>
                    <a:spcPct val="150000"/>
                  </a:lnSpc>
                  <a:buNone/>
                </a:pPr>
                <a:r>
                  <a:rPr lang="zh-CN" altLang="en-US" dirty="0">
                    <a:solidFill>
                      <a:srgbClr val="FF0000"/>
                    </a:solidFill>
                  </a:rPr>
                  <a:t>定义</a:t>
                </a:r>
                <a:r>
                  <a:rPr lang="en-US" altLang="zh-CN" dirty="0">
                    <a:solidFill>
                      <a:srgbClr val="FF0000"/>
                    </a:solidFill>
                  </a:rPr>
                  <a:t>4.11</a:t>
                </a:r>
                <a:r>
                  <a:rPr lang="en-US" altLang="zh-CN" dirty="0"/>
                  <a:t> </a:t>
                </a:r>
                <a:r>
                  <a:rPr lang="zh-CN" altLang="en-US" dirty="0"/>
                  <a:t>设</a:t>
                </a:r>
                <a:r>
                  <a:rPr lang="en-US" altLang="zh-CN" dirty="0"/>
                  <a:t>R</a:t>
                </a:r>
                <a:r>
                  <a:rPr lang="zh-CN" altLang="en-US" dirty="0"/>
                  <a:t>是非空集合</a:t>
                </a:r>
                <a:r>
                  <a:rPr lang="en-US" altLang="zh-CN" dirty="0"/>
                  <a:t>A</a:t>
                </a:r>
                <a:r>
                  <a:rPr lang="zh-CN" altLang="en-US" dirty="0"/>
                  <a:t>上的关系，</a:t>
                </a:r>
                <a:endParaRPr lang="zh-CN" altLang="en-US" dirty="0"/>
              </a:p>
              <a:p>
                <a:pPr marL="0" indent="0">
                  <a:lnSpc>
                    <a:spcPct val="150000"/>
                  </a:lnSpc>
                  <a:buClr>
                    <a:schemeClr val="folHlink"/>
                  </a:buClr>
                  <a:buNone/>
                </a:pPr>
                <a:r>
                  <a:rPr lang="en-US" altLang="zh-CN" dirty="0"/>
                  <a:t>      (1) </a:t>
                </a:r>
                <a:r>
                  <a:rPr lang="zh-CN" altLang="en-US" dirty="0"/>
                  <a:t>如果</a:t>
                </a:r>
                <a14:m>
                  <m:oMath xmlns:m="http://schemas.openxmlformats.org/officeDocument/2006/math">
                    <m:r>
                      <a:rPr lang="es-ES" altLang="zh-CN" i="1" smtClean="0">
                        <a:solidFill>
                          <a:schemeClr val="tx1"/>
                        </a:solidFill>
                        <a:highlight>
                          <a:srgbClr val="FFFF00"/>
                        </a:highlight>
                        <a:latin typeface="Cambria Math" panose="02040503050406030204" pitchFamily="18" charset="0"/>
                        <a:ea typeface="Cambria Math" panose="02040503050406030204" pitchFamily="18" charset="0"/>
                      </a:rPr>
                      <m:t>∀</m:t>
                    </m:r>
                  </m:oMath>
                </a14:m>
                <a:r>
                  <a:rPr lang="en-US" altLang="zh-CN" noProof="1">
                    <a:highlight>
                      <a:srgbClr val="FFFF00"/>
                    </a:highlight>
                  </a:rPr>
                  <a:t>x(x∈A→&lt;x,x&gt;∈R)=1</a:t>
                </a:r>
                <a:r>
                  <a:rPr lang="zh-CN" altLang="en-US" noProof="1"/>
                  <a:t>，</a:t>
                </a:r>
                <a:r>
                  <a:rPr lang="zh-CN" altLang="en-US" dirty="0"/>
                  <a:t>那么称</a:t>
                </a:r>
                <a:r>
                  <a:rPr lang="en-US" altLang="zh-CN" noProof="1"/>
                  <a:t>R</a:t>
                </a:r>
                <a:r>
                  <a:rPr lang="zh-CN" altLang="en-US" dirty="0"/>
                  <a:t>在</a:t>
                </a:r>
                <a:r>
                  <a:rPr lang="en-US" altLang="zh-CN" dirty="0"/>
                  <a:t>A</a:t>
                </a:r>
                <a:r>
                  <a:rPr lang="zh-CN" altLang="en-US" dirty="0"/>
                  <a:t>上是</a:t>
                </a:r>
                <a:r>
                  <a:rPr lang="zh-CN" altLang="en-US" dirty="0">
                    <a:solidFill>
                      <a:srgbClr val="3333FF"/>
                    </a:solidFill>
                  </a:rPr>
                  <a:t>自反的</a:t>
                </a:r>
                <a:r>
                  <a:rPr lang="en-US" altLang="zh-CN" dirty="0"/>
                  <a:t>(Reflexive)</a:t>
                </a:r>
                <a:r>
                  <a:rPr lang="zh-CN" altLang="en-US" dirty="0"/>
                  <a:t>，或称</a:t>
                </a:r>
                <a:r>
                  <a:rPr lang="en-US" altLang="zh-CN" dirty="0"/>
                  <a:t>R</a:t>
                </a:r>
                <a:r>
                  <a:rPr lang="zh-CN" altLang="en-US" dirty="0"/>
                  <a:t>具有</a:t>
                </a:r>
                <a:r>
                  <a:rPr lang="zh-CN" altLang="en-US" dirty="0">
                    <a:solidFill>
                      <a:srgbClr val="3333FF"/>
                    </a:solidFill>
                  </a:rPr>
                  <a:t>自反性</a:t>
                </a:r>
                <a:r>
                  <a:rPr lang="en-US" altLang="zh-CN" dirty="0"/>
                  <a:t>(Reflexivity)</a:t>
                </a:r>
                <a:r>
                  <a:rPr lang="zh-CN" altLang="en-US" dirty="0"/>
                  <a:t>；</a:t>
                </a:r>
                <a:endParaRPr lang="zh-CN" altLang="en-US" dirty="0"/>
              </a:p>
              <a:p>
                <a:pPr marL="533400" indent="-533400">
                  <a:lnSpc>
                    <a:spcPct val="150000"/>
                  </a:lnSpc>
                  <a:buNone/>
                </a:pPr>
                <a:r>
                  <a:rPr lang="zh-CN" altLang="en-US" dirty="0"/>
                  <a:t>	例如：</a:t>
                </a:r>
                <a:r>
                  <a:rPr lang="zh-CN" altLang="en-US" dirty="0">
                    <a:solidFill>
                      <a:srgbClr val="0000FF"/>
                    </a:solidFill>
                  </a:rPr>
                  <a:t>同姓关系</a:t>
                </a:r>
                <a:r>
                  <a:rPr lang="zh-CN" altLang="en-US" dirty="0"/>
                  <a:t>。</a:t>
                </a:r>
                <a:endParaRPr lang="zh-CN" altLang="en-US" dirty="0"/>
              </a:p>
              <a:p>
                <a:pPr marL="0" indent="0">
                  <a:lnSpc>
                    <a:spcPct val="150000"/>
                  </a:lnSpc>
                  <a:buClr>
                    <a:schemeClr val="folHlink"/>
                  </a:buClr>
                  <a:buNone/>
                </a:pPr>
                <a:r>
                  <a:rPr lang="zh-CN" altLang="en-US" dirty="0"/>
                  <a:t>    （</a:t>
                </a:r>
                <a:r>
                  <a:rPr lang="en-US" altLang="zh-CN" dirty="0"/>
                  <a:t>2</a:t>
                </a:r>
                <a:r>
                  <a:rPr lang="zh-CN" altLang="en-US" dirty="0"/>
                  <a:t>）如果</a:t>
                </a:r>
                <a14:m>
                  <m:oMath xmlns:m="http://schemas.openxmlformats.org/officeDocument/2006/math">
                    <m:r>
                      <a:rPr lang="es-ES" altLang="zh-CN" i="1" smtClean="0">
                        <a:solidFill>
                          <a:schemeClr val="tx1"/>
                        </a:solidFill>
                        <a:highlight>
                          <a:srgbClr val="FFFF00"/>
                        </a:highlight>
                        <a:latin typeface="Cambria Math" panose="02040503050406030204" pitchFamily="18" charset="0"/>
                        <a:ea typeface="Cambria Math" panose="02040503050406030204" pitchFamily="18" charset="0"/>
                      </a:rPr>
                      <m:t>∀</m:t>
                    </m:r>
                    <m:r>
                      <a:rPr lang="es-ES" altLang="zh-CN" i="1">
                        <a:solidFill>
                          <a:srgbClr val="FF0000"/>
                        </a:solidFill>
                        <a:highlight>
                          <a:srgbClr val="FFFF00"/>
                        </a:highlight>
                        <a:latin typeface="Cambria Math" panose="02040503050406030204" pitchFamily="18" charset="0"/>
                        <a:ea typeface="Cambria Math" panose="02040503050406030204" pitchFamily="18" charset="0"/>
                      </a:rPr>
                      <m:t> </m:t>
                    </m:r>
                  </m:oMath>
                </a14:m>
                <a:r>
                  <a:rPr lang="pt-BR" altLang="zh-CN" dirty="0">
                    <a:highlight>
                      <a:srgbClr val="FFFF00"/>
                    </a:highlight>
                  </a:rPr>
                  <a:t>x(x∈A→&lt;x,x&gt;</a:t>
                </a:r>
                <a14:m>
                  <m:oMath xmlns:m="http://schemas.openxmlformats.org/officeDocument/2006/math">
                    <m:r>
                      <a:rPr lang="pt-BR" altLang="zh-CN" i="1" smtClean="0">
                        <a:highlight>
                          <a:srgbClr val="FFFF00"/>
                        </a:highlight>
                        <a:latin typeface="Cambria Math" panose="02040503050406030204" pitchFamily="18" charset="0"/>
                        <a:ea typeface="Cambria Math" panose="02040503050406030204" pitchFamily="18" charset="0"/>
                      </a:rPr>
                      <m:t>∉</m:t>
                    </m:r>
                  </m:oMath>
                </a14:m>
                <a:r>
                  <a:rPr lang="pt-BR" altLang="zh-CN" dirty="0">
                    <a:highlight>
                      <a:srgbClr val="FFFF00"/>
                    </a:highlight>
                  </a:rPr>
                  <a:t>R)=1</a:t>
                </a:r>
                <a:r>
                  <a:rPr lang="zh-CN" altLang="pt-BR" dirty="0"/>
                  <a:t>，    </a:t>
                </a:r>
                <a:r>
                  <a:rPr lang="zh-CN" altLang="en-US" dirty="0"/>
                  <a:t>那么称</a:t>
                </a:r>
                <a:r>
                  <a:rPr lang="en-US" altLang="zh-CN" dirty="0"/>
                  <a:t>R</a:t>
                </a:r>
                <a:r>
                  <a:rPr lang="zh-CN" altLang="en-US" dirty="0"/>
                  <a:t>在</a:t>
                </a:r>
                <a:r>
                  <a:rPr lang="en-US" altLang="zh-CN" dirty="0"/>
                  <a:t>A</a:t>
                </a:r>
                <a:r>
                  <a:rPr lang="zh-CN" altLang="en-US" dirty="0"/>
                  <a:t>上是</a:t>
                </a:r>
                <a:r>
                  <a:rPr lang="zh-CN" altLang="en-US" dirty="0">
                    <a:solidFill>
                      <a:srgbClr val="3333FF"/>
                    </a:solidFill>
                  </a:rPr>
                  <a:t>反自反的</a:t>
                </a:r>
                <a:r>
                  <a:rPr lang="en-US" altLang="zh-CN" dirty="0"/>
                  <a:t>(Antireflexive)</a:t>
                </a:r>
                <a:r>
                  <a:rPr lang="zh-CN" altLang="en-US" dirty="0"/>
                  <a:t>，或称</a:t>
                </a:r>
                <a:r>
                  <a:rPr lang="en-US" altLang="zh-CN" dirty="0"/>
                  <a:t>R</a:t>
                </a:r>
                <a:r>
                  <a:rPr lang="zh-CN" altLang="en-US" dirty="0"/>
                  <a:t>具有</a:t>
                </a:r>
                <a:r>
                  <a:rPr lang="zh-CN" altLang="en-US" dirty="0">
                    <a:solidFill>
                      <a:srgbClr val="3333FF"/>
                    </a:solidFill>
                  </a:rPr>
                  <a:t>反自反性</a:t>
                </a:r>
                <a:r>
                  <a:rPr lang="en-US" altLang="zh-CN" dirty="0"/>
                  <a:t>(</a:t>
                </a:r>
                <a:r>
                  <a:rPr lang="en-US" altLang="zh-CN" dirty="0" err="1"/>
                  <a:t>Antireflexivity</a:t>
                </a:r>
                <a:r>
                  <a:rPr lang="en-US" altLang="zh-CN" dirty="0"/>
                  <a:t>)</a:t>
                </a:r>
                <a:r>
                  <a:rPr lang="zh-CN" altLang="en-US" dirty="0"/>
                  <a:t>。</a:t>
                </a:r>
                <a:endParaRPr lang="zh-CN" altLang="en-US" dirty="0"/>
              </a:p>
              <a:p>
                <a:pPr marL="533400" indent="-533400">
                  <a:lnSpc>
                    <a:spcPct val="150000"/>
                  </a:lnSpc>
                  <a:buNone/>
                </a:pPr>
                <a:r>
                  <a:rPr lang="zh-CN" altLang="en-US" dirty="0"/>
                  <a:t>	例如：</a:t>
                </a:r>
                <a:r>
                  <a:rPr lang="zh-CN" altLang="zh-CN" dirty="0">
                    <a:solidFill>
                      <a:srgbClr val="0000FF"/>
                    </a:solidFill>
                  </a:rPr>
                  <a:t>父子关系</a:t>
                </a:r>
                <a:r>
                  <a:rPr lang="zh-CN" altLang="zh-CN" dirty="0"/>
                  <a:t>。</a:t>
                </a:r>
                <a:endParaRPr lang="zh-CN" altLang="zh-CN" dirty="0"/>
              </a:p>
            </p:txBody>
          </p:sp>
        </mc:Choice>
        <mc:Fallback>
          <p:sp>
            <p:nvSpPr>
              <p:cNvPr id="1523715" name="Rectangle 3"/>
              <p:cNvSpPr>
                <a:spLocks noRot="1" noChangeAspect="1" noMove="1" noResize="1" noEditPoints="1" noAdjustHandles="1" noChangeArrowheads="1" noChangeShapeType="1" noTextEdit="1"/>
              </p:cNvSpPr>
              <p:nvPr>
                <p:ph type="body" idx="1"/>
              </p:nvPr>
            </p:nvSpPr>
            <p:spPr>
              <a:xfrm>
                <a:off x="269875" y="1296194"/>
                <a:ext cx="11658600" cy="4570072"/>
              </a:xfrm>
              <a:blipFill rotWithShape="1">
                <a:blip r:embed="rId1"/>
                <a:stretch>
                  <a:fillRect t="-3" b="3"/>
                </a:stretch>
              </a:blipFill>
            </p:spPr>
            <p:txBody>
              <a:bodyPr/>
              <a:lstStyle/>
              <a:p>
                <a:r>
                  <a:rPr lang="zh-CN" altLang="en-US">
                    <a:noFill/>
                  </a:rPr>
                  <a:t> </a:t>
                </a:r>
              </a:p>
            </p:txBody>
          </p:sp>
        </mc:Fallback>
      </mc:AlternateContent>
    </p:spTree>
    <p:custDataLst>
      <p:tags r:id="rId2"/>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23715">
                                            <p:txEl>
                                              <p:pRg st="2" end="2"/>
                                            </p:txEl>
                                          </p:spTgt>
                                        </p:tgtEl>
                                        <p:attrNameLst>
                                          <p:attrName>style.visibility</p:attrName>
                                        </p:attrNameLst>
                                      </p:cBhvr>
                                      <p:to>
                                        <p:strVal val="visible"/>
                                      </p:to>
                                    </p:set>
                                    <p:anim calcmode="lin" valueType="num">
                                      <p:cBhvr additive="base">
                                        <p:cTn id="7" dur="500" fill="hold"/>
                                        <p:tgtEl>
                                          <p:spTgt spid="152371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3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23715">
                                            <p:txEl>
                                              <p:pRg st="3" end="3"/>
                                            </p:txEl>
                                          </p:spTgt>
                                        </p:tgtEl>
                                        <p:attrNameLst>
                                          <p:attrName>style.visibility</p:attrName>
                                        </p:attrNameLst>
                                      </p:cBhvr>
                                      <p:to>
                                        <p:strVal val="visible"/>
                                      </p:to>
                                    </p:set>
                                    <p:anim calcmode="lin" valueType="num">
                                      <p:cBhvr additive="base">
                                        <p:cTn id="13" dur="500" fill="hold"/>
                                        <p:tgtEl>
                                          <p:spTgt spid="152371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3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23715">
                                            <p:txEl>
                                              <p:pRg st="4" end="4"/>
                                            </p:txEl>
                                          </p:spTgt>
                                        </p:tgtEl>
                                        <p:attrNameLst>
                                          <p:attrName>style.visibility</p:attrName>
                                        </p:attrNameLst>
                                      </p:cBhvr>
                                      <p:to>
                                        <p:strVal val="visible"/>
                                      </p:to>
                                    </p:set>
                                    <p:anim calcmode="lin" valueType="num">
                                      <p:cBhvr additive="base">
                                        <p:cTn id="19" dur="500" fill="hold"/>
                                        <p:tgtEl>
                                          <p:spTgt spid="15237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37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3715" grpId="0" autoUpdateAnimBg="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2479" y="1552912"/>
            <a:ext cx="11125200" cy="477110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endParaRPr>
          </a:p>
        </p:txBody>
      </p:sp>
      <p:sp>
        <p:nvSpPr>
          <p:cNvPr id="198659" name="Rectangle 2"/>
          <p:cNvSpPr>
            <a:spLocks noGrp="1" noChangeArrowheads="1"/>
          </p:cNvSpPr>
          <p:nvPr>
            <p:ph type="title"/>
          </p:nvPr>
        </p:nvSpPr>
        <p:spPr>
          <a:xfrm>
            <a:off x="787673" y="259650"/>
            <a:ext cx="8066367" cy="585923"/>
          </a:xfrm>
        </p:spPr>
        <p:txBody>
          <a:bodyPr/>
          <a:lstStyle/>
          <a:p>
            <a:r>
              <a:rPr lang="zh-CN" altLang="en-US" dirty="0"/>
              <a:t>解题小贴士</a:t>
            </a:r>
            <a:endParaRPr lang="zh-CN" altLang="en-US" dirty="0"/>
          </a:p>
        </p:txBody>
      </p:sp>
      <mc:AlternateContent xmlns:mc="http://schemas.openxmlformats.org/markup-compatibility/2006">
        <mc:Choice xmlns:a14="http://schemas.microsoft.com/office/drawing/2010/main" Requires="a14">
          <p:sp>
            <p:nvSpPr>
              <p:cNvPr id="1525763" name="Rectangle 3"/>
              <p:cNvSpPr>
                <a:spLocks noGrp="1" noChangeArrowheads="1"/>
              </p:cNvSpPr>
              <p:nvPr>
                <p:ph type="body" sz="half" idx="1"/>
              </p:nvPr>
            </p:nvSpPr>
            <p:spPr>
              <a:xfrm>
                <a:off x="277453" y="2972594"/>
                <a:ext cx="11506200" cy="3149216"/>
              </a:xfrm>
            </p:spPr>
            <p:txBody>
              <a:bodyPr/>
              <a:lstStyle/>
              <a:p>
                <a:pPr marL="0" indent="0">
                  <a:buClr>
                    <a:srgbClr val="800080"/>
                  </a:buClr>
                  <a:buNone/>
                </a:pPr>
                <a:r>
                  <a:rPr lang="zh-CN" altLang="en-US" dirty="0">
                    <a:solidFill>
                      <a:schemeClr val="bg1"/>
                    </a:solidFill>
                  </a:rPr>
                  <a:t>（</a:t>
                </a:r>
                <a:r>
                  <a:rPr lang="en-US" altLang="zh-CN" dirty="0">
                    <a:solidFill>
                      <a:schemeClr val="bg1"/>
                    </a:solidFill>
                  </a:rPr>
                  <a:t>1</a:t>
                </a:r>
                <a:r>
                  <a:rPr lang="zh-CN" altLang="en-US" dirty="0">
                    <a:solidFill>
                      <a:schemeClr val="bg1"/>
                    </a:solidFill>
                  </a:rPr>
                  <a:t>）</a:t>
                </a:r>
                <a:r>
                  <a:rPr lang="en-US" altLang="zh-CN" dirty="0">
                    <a:solidFill>
                      <a:schemeClr val="bg1"/>
                    </a:solidFill>
                  </a:rPr>
                  <a:t>R</a:t>
                </a:r>
                <a:r>
                  <a:rPr lang="zh-CN" altLang="en-US" dirty="0">
                    <a:solidFill>
                      <a:schemeClr val="bg1"/>
                    </a:solidFill>
                  </a:rPr>
                  <a:t>在</a:t>
                </a:r>
                <a:r>
                  <a:rPr lang="en-US" altLang="zh-CN" dirty="0">
                    <a:solidFill>
                      <a:schemeClr val="bg1"/>
                    </a:solidFill>
                  </a:rPr>
                  <a:t>A</a:t>
                </a:r>
                <a:r>
                  <a:rPr lang="zh-CN" altLang="en-US" dirty="0">
                    <a:solidFill>
                      <a:schemeClr val="bg1"/>
                    </a:solidFill>
                  </a:rPr>
                  <a:t>上是自反的 </a:t>
                </a:r>
                <a:r>
                  <a:rPr lang="en-US" altLang="zh-CN" dirty="0">
                    <a:solidFill>
                      <a:schemeClr val="bg1"/>
                    </a:solidFill>
                    <a:sym typeface="Symbol" panose="05050102010706020507" pitchFamily="18" charset="2"/>
                  </a:rPr>
                  <a:t>x</a:t>
                </a:r>
                <a:r>
                  <a:rPr lang="en-US" altLang="zh-CN" dirty="0">
                    <a:solidFill>
                      <a:schemeClr val="bg1"/>
                    </a:solidFill>
                  </a:rPr>
                  <a:t>(</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&gt;∈R)=1</a:t>
                </a:r>
                <a:endParaRPr lang="en-US" altLang="zh-CN" dirty="0">
                  <a:solidFill>
                    <a:schemeClr val="bg1"/>
                  </a:solidFill>
                </a:endParaRPr>
              </a:p>
              <a:p>
                <a:pPr marL="0" indent="0">
                  <a:buClr>
                    <a:srgbClr val="800080"/>
                  </a:buClr>
                  <a:buNone/>
                </a:pPr>
                <a:r>
                  <a:rPr lang="zh-CN" altLang="en-US" dirty="0">
                    <a:solidFill>
                      <a:schemeClr val="bg1"/>
                    </a:solidFill>
                  </a:rPr>
                  <a:t>（</a:t>
                </a:r>
                <a:r>
                  <a:rPr lang="en-US" altLang="zh-CN" dirty="0">
                    <a:solidFill>
                      <a:schemeClr val="bg1"/>
                    </a:solidFill>
                  </a:rPr>
                  <a:t>2</a:t>
                </a:r>
                <a:r>
                  <a:rPr lang="zh-CN" altLang="en-US" dirty="0">
                    <a:solidFill>
                      <a:schemeClr val="bg1"/>
                    </a:solidFill>
                  </a:rPr>
                  <a:t>）</a:t>
                </a:r>
                <a:r>
                  <a:rPr lang="en-US" altLang="zh-CN" dirty="0">
                    <a:solidFill>
                      <a:schemeClr val="bg1"/>
                    </a:solidFill>
                  </a:rPr>
                  <a:t>R</a:t>
                </a:r>
                <a:r>
                  <a:rPr lang="zh-CN" altLang="en-US" dirty="0">
                    <a:solidFill>
                      <a:schemeClr val="bg1"/>
                    </a:solidFill>
                  </a:rPr>
                  <a:t>在</a:t>
                </a:r>
                <a:r>
                  <a:rPr lang="en-US" altLang="zh-CN" dirty="0">
                    <a:solidFill>
                      <a:schemeClr val="bg1"/>
                    </a:solidFill>
                  </a:rPr>
                  <a:t>A</a:t>
                </a:r>
                <a:r>
                  <a:rPr lang="zh-CN" altLang="en-US" dirty="0">
                    <a:solidFill>
                      <a:schemeClr val="bg1"/>
                    </a:solidFill>
                  </a:rPr>
                  <a:t>上是反自反的</a:t>
                </a:r>
                <a:r>
                  <a:rPr lang="en-US" altLang="zh-CN" dirty="0">
                    <a:solidFill>
                      <a:schemeClr val="bg1"/>
                    </a:solidFill>
                    <a:sym typeface="Symbol" panose="05050102010706020507" pitchFamily="18" charset="2"/>
                  </a:rPr>
                  <a:t></a:t>
                </a:r>
                <a:r>
                  <a:rPr lang="en-US" altLang="zh-CN" dirty="0">
                    <a:solidFill>
                      <a:schemeClr val="bg1"/>
                    </a:solidFill>
                  </a:rPr>
                  <a:t>x(</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a:t>
                </a:r>
                <a14:m>
                  <m:oMath xmlns:m="http://schemas.openxmlformats.org/officeDocument/2006/math">
                    <m:r>
                      <a:rPr lang="en-US" altLang="zh-CN" i="1">
                        <a:solidFill>
                          <a:schemeClr val="bg1"/>
                        </a:solidFill>
                        <a:latin typeface="Cambria Math" panose="02040503050406030204" pitchFamily="18" charset="0"/>
                        <a:ea typeface="Cambria Math" panose="02040503050406030204" pitchFamily="18" charset="0"/>
                      </a:rPr>
                      <m:t>∉</m:t>
                    </m:r>
                  </m:oMath>
                </a14:m>
                <a:r>
                  <a:rPr lang="en-US" altLang="zh-CN" dirty="0">
                    <a:solidFill>
                      <a:schemeClr val="bg1"/>
                    </a:solidFill>
                  </a:rPr>
                  <a:t>R)=1</a:t>
                </a:r>
                <a:endParaRPr lang="en-US" altLang="zh-CN" dirty="0">
                  <a:solidFill>
                    <a:schemeClr val="bg1"/>
                  </a:solidFill>
                </a:endParaRPr>
              </a:p>
              <a:p>
                <a:pPr marL="0" indent="0">
                  <a:buClr>
                    <a:srgbClr val="800080"/>
                  </a:buClr>
                  <a:buNone/>
                </a:pPr>
                <a:r>
                  <a:rPr lang="zh-CN" altLang="en-US" dirty="0">
                    <a:solidFill>
                      <a:schemeClr val="bg1"/>
                    </a:solidFill>
                  </a:rPr>
                  <a:t>（</a:t>
                </a:r>
                <a:r>
                  <a:rPr lang="en-US" altLang="zh-CN" dirty="0">
                    <a:solidFill>
                      <a:schemeClr val="bg1"/>
                    </a:solidFill>
                  </a:rPr>
                  <a:t>3</a:t>
                </a:r>
                <a:r>
                  <a:rPr lang="zh-CN" altLang="en-US" dirty="0">
                    <a:solidFill>
                      <a:schemeClr val="bg1"/>
                    </a:solidFill>
                  </a:rPr>
                  <a:t>）</a:t>
                </a:r>
                <a:r>
                  <a:rPr lang="en-US" altLang="zh-CN" dirty="0">
                    <a:solidFill>
                      <a:schemeClr val="bg1"/>
                    </a:solidFill>
                  </a:rPr>
                  <a:t>R</a:t>
                </a:r>
                <a:r>
                  <a:rPr lang="zh-CN" altLang="en-US" dirty="0">
                    <a:solidFill>
                      <a:schemeClr val="bg1"/>
                    </a:solidFill>
                  </a:rPr>
                  <a:t>在</a:t>
                </a:r>
                <a:r>
                  <a:rPr lang="en-US" altLang="zh-CN" dirty="0">
                    <a:solidFill>
                      <a:schemeClr val="bg1"/>
                    </a:solidFill>
                  </a:rPr>
                  <a:t>A</a:t>
                </a:r>
                <a:r>
                  <a:rPr lang="zh-CN" altLang="en-US" dirty="0">
                    <a:solidFill>
                      <a:schemeClr val="bg1"/>
                    </a:solidFill>
                  </a:rPr>
                  <a:t>上既不是自反的，也不是反自反的</a:t>
                </a:r>
                <a:endParaRPr lang="zh-CN" altLang="en-US" dirty="0">
                  <a:solidFill>
                    <a:schemeClr val="bg1"/>
                  </a:solidFill>
                </a:endParaRPr>
              </a:p>
              <a:p>
                <a:pPr marL="457200" indent="-457200">
                  <a:buClr>
                    <a:srgbClr val="800080"/>
                  </a:buClr>
                  <a:buNone/>
                </a:pPr>
                <a:r>
                  <a:rPr lang="en-US" altLang="zh-CN" dirty="0">
                    <a:solidFill>
                      <a:schemeClr val="bg1"/>
                    </a:solidFill>
                  </a:rPr>
                  <a:t>             </a:t>
                </a:r>
                <a:r>
                  <a:rPr lang="en-US" altLang="zh-CN" dirty="0">
                    <a:solidFill>
                      <a:schemeClr val="bg1"/>
                    </a:solidFill>
                    <a:sym typeface="Symbol" panose="05050102010706020507" pitchFamily="18" charset="2"/>
                  </a:rPr>
                  <a:t></a:t>
                </a:r>
                <a:r>
                  <a:rPr lang="en-US" altLang="zh-CN" dirty="0">
                    <a:solidFill>
                      <a:schemeClr val="bg1"/>
                    </a:solidFill>
                  </a:rPr>
                  <a:t>x(</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a:t>
                </a:r>
                <a14:m>
                  <m:oMath xmlns:m="http://schemas.openxmlformats.org/officeDocument/2006/math">
                    <m:r>
                      <a:rPr lang="en-US" altLang="zh-CN" i="1">
                        <a:solidFill>
                          <a:schemeClr val="bg1"/>
                        </a:solidFill>
                        <a:latin typeface="Cambria Math" panose="02040503050406030204" pitchFamily="18" charset="0"/>
                        <a:ea typeface="Cambria Math" panose="02040503050406030204" pitchFamily="18" charset="0"/>
                      </a:rPr>
                      <m:t>∉</m:t>
                    </m:r>
                  </m:oMath>
                </a14:m>
                <a:r>
                  <a:rPr lang="en-US" altLang="zh-CN" dirty="0">
                    <a:solidFill>
                      <a:schemeClr val="bg1"/>
                    </a:solidFill>
                  </a:rPr>
                  <a:t>R)∧</a:t>
                </a:r>
                <a:r>
                  <a:rPr lang="en-US" altLang="zh-CN" dirty="0">
                    <a:solidFill>
                      <a:schemeClr val="bg1"/>
                    </a:solidFill>
                    <a:sym typeface="Symbol" panose="05050102010706020507" pitchFamily="18" charset="2"/>
                  </a:rPr>
                  <a:t></a:t>
                </a:r>
                <a:r>
                  <a:rPr lang="en-US" altLang="zh-CN" dirty="0">
                    <a:solidFill>
                      <a:schemeClr val="bg1"/>
                    </a:solidFill>
                  </a:rPr>
                  <a:t>x(</a:t>
                </a:r>
                <a:r>
                  <a:rPr lang="en-US" altLang="zh-CN" dirty="0" err="1">
                    <a:solidFill>
                      <a:schemeClr val="bg1"/>
                    </a:solidFill>
                  </a:rPr>
                  <a:t>x∈A</a:t>
                </a:r>
                <a:r>
                  <a:rPr lang="en-US" altLang="zh-CN" dirty="0">
                    <a:solidFill>
                      <a:schemeClr val="bg1"/>
                    </a:solidFill>
                  </a:rPr>
                  <a:t>∧&lt;</a:t>
                </a:r>
                <a:r>
                  <a:rPr lang="en-US" altLang="zh-CN" dirty="0" err="1">
                    <a:solidFill>
                      <a:schemeClr val="bg1"/>
                    </a:solidFill>
                  </a:rPr>
                  <a:t>x,x</a:t>
                </a:r>
                <a:r>
                  <a:rPr lang="en-US" altLang="zh-CN" dirty="0">
                    <a:solidFill>
                      <a:schemeClr val="bg1"/>
                    </a:solidFill>
                  </a:rPr>
                  <a:t>&gt;</a:t>
                </a:r>
                <a14:m>
                  <m:oMath xmlns:m="http://schemas.openxmlformats.org/officeDocument/2006/math">
                    <m:r>
                      <m:rPr>
                        <m:nor/>
                      </m:rPr>
                      <a:rPr lang="en-US" altLang="zh-CN" dirty="0">
                        <a:solidFill>
                          <a:schemeClr val="bg1"/>
                        </a:solidFill>
                        <a:latin typeface="Cambria Math" panose="02040503050406030204" pitchFamily="18" charset="0"/>
                      </a:rPr>
                      <m:t>∈</m:t>
                    </m:r>
                  </m:oMath>
                </a14:m>
                <a:r>
                  <a:rPr lang="en-US" altLang="zh-CN" dirty="0">
                    <a:solidFill>
                      <a:schemeClr val="bg1"/>
                    </a:solidFill>
                  </a:rPr>
                  <a:t>R)=1</a:t>
                </a:r>
                <a:endParaRPr lang="zh-CN" altLang="en-US" dirty="0">
                  <a:solidFill>
                    <a:schemeClr val="bg1"/>
                  </a:solidFill>
                </a:endParaRPr>
              </a:p>
            </p:txBody>
          </p:sp>
        </mc:Choice>
        <mc:Fallback>
          <p:sp>
            <p:nvSpPr>
              <p:cNvPr id="1525763" name="Rectangle 3"/>
              <p:cNvSpPr>
                <a:spLocks noRot="1" noChangeAspect="1" noMove="1" noResize="1" noEditPoints="1" noAdjustHandles="1" noChangeArrowheads="1" noChangeShapeType="1" noTextEdit="1"/>
              </p:cNvSpPr>
              <p:nvPr>
                <p:ph type="body" sz="half" idx="1"/>
              </p:nvPr>
            </p:nvSpPr>
            <p:spPr>
              <a:xfrm>
                <a:off x="277453" y="2972594"/>
                <a:ext cx="11506200" cy="3149216"/>
              </a:xfrm>
              <a:blipFill rotWithShape="1">
                <a:blip r:embed="rId1"/>
                <a:stretch>
                  <a:fillRect l="-5" t="-5" r="5" b="13"/>
                </a:stretch>
              </a:blipFill>
            </p:spPr>
            <p:txBody>
              <a:bodyPr/>
              <a:lstStyle/>
              <a:p>
                <a:r>
                  <a:rPr lang="zh-CN" altLang="en-US">
                    <a:noFill/>
                  </a:rPr>
                  <a:t> </a:t>
                </a:r>
              </a:p>
            </p:txBody>
          </p:sp>
        </mc:Fallback>
      </mc:AlternateContent>
      <p:sp>
        <p:nvSpPr>
          <p:cNvPr id="198661" name="Rectangle 4"/>
          <p:cNvSpPr>
            <a:spLocks noChangeArrowheads="1"/>
          </p:cNvSpPr>
          <p:nvPr/>
        </p:nvSpPr>
        <p:spPr bwMode="auto">
          <a:xfrm>
            <a:off x="1432432" y="3533413"/>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 name="矩形 1"/>
          <p:cNvSpPr/>
          <p:nvPr/>
        </p:nvSpPr>
        <p:spPr>
          <a:xfrm>
            <a:off x="277453" y="2461352"/>
            <a:ext cx="3998210" cy="461665"/>
          </a:xfrm>
          <a:prstGeom prst="rect">
            <a:avLst/>
          </a:prstGeom>
        </p:spPr>
        <p:txBody>
          <a:bodyPr wrap="none">
            <a:spAutoFit/>
          </a:bodyPr>
          <a:lstStyle/>
          <a:p>
            <a:r>
              <a:rPr lang="en-US" altLang="zh-CN" b="1" kern="100" dirty="0">
                <a:solidFill>
                  <a:schemeClr val="bg1"/>
                </a:solidFill>
                <a:latin typeface="+mn-ea"/>
              </a:rPr>
              <a:t>R</a:t>
            </a:r>
            <a:r>
              <a:rPr lang="zh-CN" altLang="zh-CN" b="1" kern="100" dirty="0">
                <a:solidFill>
                  <a:schemeClr val="bg1"/>
                </a:solidFill>
                <a:latin typeface="+mn-ea"/>
                <a:cs typeface="Times New Roman" panose="02020603050405020304" pitchFamily="18" charset="0"/>
              </a:rPr>
              <a:t>是非空集合</a:t>
            </a:r>
            <a:r>
              <a:rPr lang="en-US" altLang="zh-CN" b="1" kern="100" dirty="0">
                <a:solidFill>
                  <a:schemeClr val="bg1"/>
                </a:solidFill>
                <a:latin typeface="+mn-ea"/>
              </a:rPr>
              <a:t>A</a:t>
            </a:r>
            <a:r>
              <a:rPr lang="zh-CN" altLang="zh-CN" b="1" kern="100" dirty="0">
                <a:solidFill>
                  <a:schemeClr val="bg1"/>
                </a:solidFill>
                <a:latin typeface="+mn-ea"/>
                <a:cs typeface="Times New Roman" panose="02020603050405020304" pitchFamily="18" charset="0"/>
              </a:rPr>
              <a:t>上的关系，则</a:t>
            </a:r>
            <a:endParaRPr lang="zh-CN" altLang="en-US" b="1" dirty="0">
              <a:solidFill>
                <a:schemeClr val="bg1"/>
              </a:solidFill>
              <a:latin typeface="+mn-ea"/>
            </a:endParaRPr>
          </a:p>
        </p:txBody>
      </p:sp>
      <p:sp>
        <p:nvSpPr>
          <p:cNvPr id="8" name="Rectangle 2"/>
          <p:cNvSpPr txBox="1">
            <a:spLocks noChangeArrowheads="1"/>
          </p:cNvSpPr>
          <p:nvPr/>
        </p:nvSpPr>
        <p:spPr>
          <a:xfrm>
            <a:off x="242479" y="1554290"/>
            <a:ext cx="8066367" cy="585923"/>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b="1" kern="1200">
                <a:solidFill>
                  <a:schemeClr val="bg1"/>
                </a:solidFill>
                <a:latin typeface="+mn-ea"/>
                <a:ea typeface="+mn-ea"/>
                <a:cs typeface="+mj-cs"/>
              </a:defRPr>
            </a:lvl1pPr>
          </a:lstStyle>
          <a:p>
            <a:r>
              <a:rPr lang="zh-CN" altLang="en-US" sz="2400" dirty="0">
                <a:solidFill>
                  <a:srgbClr val="FFFF00"/>
                </a:solidFill>
              </a:rPr>
              <a:t>自反性和反自反性的集合表示判断方法</a:t>
            </a:r>
            <a:endParaRPr lang="zh-CN" altLang="en-US" sz="2400" dirty="0">
              <a:solidFill>
                <a:srgbClr val="FFFF00"/>
              </a:solidFill>
            </a:endParaRPr>
          </a:p>
        </p:txBody>
      </p:sp>
    </p:spTree>
    <p:custDataLst>
      <p:tags r:id="rId2"/>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25763">
                                            <p:txEl>
                                              <p:pRg st="0" end="0"/>
                                            </p:txEl>
                                          </p:spTgt>
                                        </p:tgtEl>
                                        <p:attrNameLst>
                                          <p:attrName>style.visibility</p:attrName>
                                        </p:attrNameLst>
                                      </p:cBhvr>
                                      <p:to>
                                        <p:strVal val="visible"/>
                                      </p:to>
                                    </p:set>
                                    <p:anim calcmode="lin" valueType="num">
                                      <p:cBhvr additive="base">
                                        <p:cTn id="7" dur="500" fill="hold"/>
                                        <p:tgtEl>
                                          <p:spTgt spid="15257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57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25763">
                                            <p:txEl>
                                              <p:pRg st="1" end="1"/>
                                            </p:txEl>
                                          </p:spTgt>
                                        </p:tgtEl>
                                        <p:attrNameLst>
                                          <p:attrName>style.visibility</p:attrName>
                                        </p:attrNameLst>
                                      </p:cBhvr>
                                      <p:to>
                                        <p:strVal val="visible"/>
                                      </p:to>
                                    </p:set>
                                    <p:anim calcmode="lin" valueType="num">
                                      <p:cBhvr additive="base">
                                        <p:cTn id="13" dur="500" fill="hold"/>
                                        <p:tgtEl>
                                          <p:spTgt spid="15257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5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25763">
                                            <p:txEl>
                                              <p:pRg st="2" end="2"/>
                                            </p:txEl>
                                          </p:spTgt>
                                        </p:tgtEl>
                                        <p:attrNameLst>
                                          <p:attrName>style.visibility</p:attrName>
                                        </p:attrNameLst>
                                      </p:cBhvr>
                                      <p:to>
                                        <p:strVal val="visible"/>
                                      </p:to>
                                    </p:set>
                                    <p:anim calcmode="lin" valueType="num">
                                      <p:cBhvr additive="base">
                                        <p:cTn id="19" dur="500" fill="hold"/>
                                        <p:tgtEl>
                                          <p:spTgt spid="15257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57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25763">
                                            <p:txEl>
                                              <p:pRg st="3" end="3"/>
                                            </p:txEl>
                                          </p:spTgt>
                                        </p:tgtEl>
                                        <p:attrNameLst>
                                          <p:attrName>style.visibility</p:attrName>
                                        </p:attrNameLst>
                                      </p:cBhvr>
                                      <p:to>
                                        <p:strVal val="visible"/>
                                      </p:to>
                                    </p:set>
                                    <p:anim calcmode="lin" valueType="num">
                                      <p:cBhvr additive="base">
                                        <p:cTn id="25" dur="500" fill="hold"/>
                                        <p:tgtEl>
                                          <p:spTgt spid="15257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2576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6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Rectangle 2"/>
          <p:cNvSpPr>
            <a:spLocks noGrp="1" noChangeArrowheads="1"/>
          </p:cNvSpPr>
          <p:nvPr>
            <p:ph type="title"/>
          </p:nvPr>
        </p:nvSpPr>
        <p:spPr/>
        <p:txBody>
          <a:bodyPr/>
          <a:lstStyle/>
          <a:p>
            <a:pPr eaLnBrk="1" hangingPunct="1"/>
            <a:r>
              <a:rPr lang="zh-CN" altLang="en-US" dirty="0"/>
              <a:t>例</a:t>
            </a:r>
            <a:r>
              <a:rPr lang="en-US" altLang="zh-CN" dirty="0"/>
              <a:t>4.19</a:t>
            </a:r>
            <a:endParaRPr lang="zh-CN" altLang="en-US" dirty="0"/>
          </a:p>
        </p:txBody>
      </p:sp>
      <p:sp>
        <p:nvSpPr>
          <p:cNvPr id="200708" name="Rectangle 3"/>
          <p:cNvSpPr>
            <a:spLocks noGrp="1" noChangeArrowheads="1"/>
          </p:cNvSpPr>
          <p:nvPr>
            <p:ph type="body" idx="1"/>
          </p:nvPr>
        </p:nvSpPr>
        <p:spPr>
          <a:xfrm>
            <a:off x="335097" y="925118"/>
            <a:ext cx="11430000" cy="1895076"/>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4.19  </a:t>
            </a:r>
            <a:r>
              <a:rPr lang="zh-CN" altLang="en-US" dirty="0"/>
              <a:t>设</a:t>
            </a:r>
            <a:r>
              <a:rPr lang="en-US" altLang="zh-CN" dirty="0"/>
              <a:t>A</a:t>
            </a:r>
            <a:r>
              <a:rPr lang="zh-CN" altLang="en-US" dirty="0"/>
              <a:t>＝</a:t>
            </a:r>
            <a:r>
              <a:rPr lang="en-US" altLang="zh-CN"/>
              <a:t>{a,b,c}</a:t>
            </a:r>
            <a:r>
              <a:rPr lang="zh-CN" altLang="en-US"/>
              <a:t>，</a:t>
            </a:r>
            <a:r>
              <a:rPr lang="en-US" altLang="zh-CN"/>
              <a:t>R</a:t>
            </a:r>
            <a:r>
              <a:rPr lang="en-US" altLang="zh-CN" baseline="-25000"/>
              <a:t>1</a:t>
            </a:r>
            <a:r>
              <a:rPr lang="zh-CN" altLang="zh-CN"/>
              <a:t>，</a:t>
            </a:r>
            <a:r>
              <a:rPr lang="en-US" altLang="zh-CN"/>
              <a:t>R</a:t>
            </a:r>
            <a:r>
              <a:rPr lang="en-US" altLang="zh-CN" baseline="-25000"/>
              <a:t>2</a:t>
            </a:r>
            <a:r>
              <a:rPr lang="zh-CN" altLang="zh-CN" dirty="0"/>
              <a:t>和</a:t>
            </a:r>
            <a:r>
              <a:rPr lang="en-US" altLang="zh-CN" dirty="0"/>
              <a:t>R</a:t>
            </a:r>
            <a:r>
              <a:rPr lang="en-US" altLang="zh-CN" baseline="-25000" dirty="0"/>
              <a:t>3</a:t>
            </a:r>
            <a:r>
              <a:rPr lang="zh-CN" altLang="en-US" dirty="0"/>
              <a:t>都是</a:t>
            </a:r>
            <a:r>
              <a:rPr lang="en-US" altLang="zh-CN" dirty="0"/>
              <a:t>A</a:t>
            </a:r>
            <a:r>
              <a:rPr lang="zh-CN" altLang="en-US" dirty="0"/>
              <a:t>上</a:t>
            </a:r>
            <a:r>
              <a:rPr lang="zh-CN" altLang="en-US"/>
              <a:t>的关系，其中</a:t>
            </a:r>
            <a:r>
              <a:rPr lang="en-US" altLang="zh-CN" dirty="0"/>
              <a:t>R</a:t>
            </a:r>
            <a:r>
              <a:rPr lang="en-US" altLang="zh-CN" baseline="-25000" dirty="0"/>
              <a:t>1</a:t>
            </a:r>
            <a:r>
              <a:rPr lang="zh-CN" altLang="en-US" dirty="0"/>
              <a:t>＝</a:t>
            </a:r>
            <a:r>
              <a:rPr lang="en-US" altLang="zh-CN"/>
              <a:t>{&lt;a,a&gt;,&lt;a,c&gt;, &lt;b,b&gt;}</a:t>
            </a:r>
            <a:r>
              <a:rPr lang="zh-CN" altLang="en-US"/>
              <a:t>，</a:t>
            </a:r>
            <a:r>
              <a:rPr lang="en-US" altLang="zh-CN"/>
              <a:t>R</a:t>
            </a:r>
            <a:r>
              <a:rPr lang="en-US" altLang="zh-CN" baseline="-25000"/>
              <a:t>2</a:t>
            </a:r>
            <a:r>
              <a:rPr lang="zh-CN" altLang="en-US" dirty="0"/>
              <a:t>＝</a:t>
            </a:r>
            <a:r>
              <a:rPr lang="en-US" altLang="zh-CN"/>
              <a:t>{&lt;a,a&gt;,&lt;b,b&gt;,&lt;c,c&gt;}</a:t>
            </a:r>
            <a:r>
              <a:rPr lang="zh-CN" altLang="en-US"/>
              <a:t>，</a:t>
            </a:r>
            <a:r>
              <a:rPr lang="en-US" altLang="zh-CN"/>
              <a:t>R</a:t>
            </a:r>
            <a:r>
              <a:rPr lang="en-US" altLang="zh-CN" baseline="-25000"/>
              <a:t>3</a:t>
            </a:r>
            <a:r>
              <a:rPr lang="zh-CN" altLang="en-US" dirty="0"/>
              <a:t>＝</a:t>
            </a:r>
            <a:r>
              <a:rPr lang="en-US" altLang="zh-CN"/>
              <a:t>{&lt;a,b&gt;,&lt;b,c</a:t>
            </a:r>
            <a:r>
              <a:rPr lang="en-US" altLang="zh-CN" dirty="0"/>
              <a:t>&gt;}</a:t>
            </a:r>
            <a:r>
              <a:rPr lang="zh-CN" altLang="en-US" dirty="0"/>
              <a:t>。试判定它们是否具有自反性和</a:t>
            </a:r>
            <a:r>
              <a:rPr lang="zh-CN" altLang="en-US"/>
              <a:t>反自反性，并写出</a:t>
            </a:r>
            <a:r>
              <a:rPr lang="en-US" altLang="zh-CN"/>
              <a:t>R</a:t>
            </a:r>
            <a:r>
              <a:rPr lang="en-US" altLang="zh-CN" baseline="-25000"/>
              <a:t>1</a:t>
            </a:r>
            <a:r>
              <a:rPr lang="zh-CN" altLang="zh-CN"/>
              <a:t>，</a:t>
            </a:r>
            <a:r>
              <a:rPr lang="en-US" altLang="zh-CN"/>
              <a:t>R</a:t>
            </a:r>
            <a:r>
              <a:rPr lang="en-US" altLang="zh-CN" baseline="-25000"/>
              <a:t>2</a:t>
            </a:r>
            <a:r>
              <a:rPr lang="zh-CN" altLang="zh-CN" dirty="0"/>
              <a:t>和</a:t>
            </a:r>
            <a:r>
              <a:rPr lang="en-US" altLang="zh-CN" dirty="0"/>
              <a:t>R</a:t>
            </a:r>
            <a:r>
              <a:rPr lang="en-US" altLang="zh-CN" baseline="-25000" dirty="0"/>
              <a:t>3</a:t>
            </a:r>
            <a:r>
              <a:rPr lang="zh-CN" altLang="en-US" dirty="0"/>
              <a:t>的</a:t>
            </a:r>
            <a:r>
              <a:rPr lang="zh-CN" altLang="en-US"/>
              <a:t>关系矩阵，画</a:t>
            </a:r>
            <a:r>
              <a:rPr lang="zh-CN" altLang="en-US" dirty="0"/>
              <a:t>出相应的关系图。</a:t>
            </a:r>
            <a:endParaRPr lang="zh-CN" altLang="en-US" dirty="0"/>
          </a:p>
        </p:txBody>
      </p:sp>
      <mc:AlternateContent xmlns:mc="http://schemas.openxmlformats.org/markup-compatibility/2006">
        <mc:Choice xmlns:a14="http://schemas.microsoft.com/office/drawing/2010/main" Requires="a14">
          <p:sp>
            <p:nvSpPr>
              <p:cNvPr id="4" name="Rectangle 3"/>
              <p:cNvSpPr txBox="1">
                <a:spLocks noChangeArrowheads="1"/>
              </p:cNvSpPr>
              <p:nvPr/>
            </p:nvSpPr>
            <p:spPr>
              <a:xfrm>
                <a:off x="433253" y="2820194"/>
                <a:ext cx="11152322" cy="3114276"/>
              </a:xfrm>
              <a:prstGeom prst="rect">
                <a:avLst/>
              </a:prstGeom>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spcBef>
                    <a:spcPct val="10000"/>
                  </a:spcBef>
                  <a:buNone/>
                </a:pPr>
                <a:r>
                  <a:rPr lang="zh-CN" altLang="en-US" dirty="0">
                    <a:solidFill>
                      <a:srgbClr val="C00000"/>
                    </a:solidFill>
                  </a:rPr>
                  <a:t>解</a:t>
                </a:r>
                <a:r>
                  <a:rPr lang="zh-CN" altLang="en-US" dirty="0"/>
                  <a:t> （</a:t>
                </a:r>
                <a:r>
                  <a:rPr lang="en-US" altLang="zh-CN" dirty="0"/>
                  <a:t>1</a:t>
                </a:r>
                <a:r>
                  <a:rPr lang="zh-CN" altLang="en-US" dirty="0"/>
                  <a:t>）在</a:t>
                </a:r>
                <a:r>
                  <a:rPr lang="en-US" altLang="zh-CN" dirty="0"/>
                  <a:t>R</a:t>
                </a:r>
                <a:r>
                  <a:rPr lang="en-US" altLang="zh-CN" baseline="-25000" dirty="0"/>
                  <a:t>1</a:t>
                </a:r>
                <a:r>
                  <a:rPr lang="zh-CN" altLang="en-US" dirty="0"/>
                  <a:t>中，因为 </a:t>
                </a:r>
                <a:r>
                  <a:rPr lang="en-US" altLang="zh-CN" dirty="0">
                    <a:solidFill>
                      <a:srgbClr val="C00000"/>
                    </a:solidFill>
                    <a:sym typeface="Symbol" panose="05050102010706020507" pitchFamily="18" charset="2"/>
                  </a:rPr>
                  <a:t></a:t>
                </a:r>
                <a:r>
                  <a:rPr lang="en-US" altLang="zh-CN" dirty="0">
                    <a:solidFill>
                      <a:srgbClr val="C00000"/>
                    </a:solidFill>
                  </a:rPr>
                  <a:t>c</a:t>
                </a:r>
                <a:r>
                  <a:rPr lang="en-US" altLang="zh-CN" dirty="0"/>
                  <a:t>(</a:t>
                </a:r>
                <a:r>
                  <a:rPr lang="en-US" altLang="zh-CN" dirty="0" err="1"/>
                  <a:t>c∈A</a:t>
                </a:r>
                <a:r>
                  <a:rPr lang="en-US" altLang="zh-CN" dirty="0"/>
                  <a:t>∧&lt;</a:t>
                </a:r>
                <a:r>
                  <a:rPr lang="en-US" altLang="zh-CN" dirty="0" err="1"/>
                  <a:t>c,c</a:t>
                </a:r>
                <a:r>
                  <a:rPr lang="en-US" altLang="zh-CN" dirty="0"/>
                  <a:t>&gt;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R</a:t>
                </a:r>
                <a:r>
                  <a:rPr lang="en-US" altLang="zh-CN" baseline="-25000" dirty="0"/>
                  <a:t>1</a:t>
                </a:r>
                <a:r>
                  <a:rPr lang="en-US" altLang="zh-CN" dirty="0"/>
                  <a:t>)∧ </a:t>
                </a:r>
                <a:r>
                  <a:rPr lang="en-US" altLang="zh-CN" dirty="0">
                    <a:sym typeface="Symbol" panose="05050102010706020507" pitchFamily="18" charset="2"/>
                  </a:rPr>
                  <a:t></a:t>
                </a:r>
                <a:r>
                  <a:rPr lang="en-US" altLang="zh-CN" dirty="0"/>
                  <a:t>a(</a:t>
                </a:r>
                <a:r>
                  <a:rPr lang="en-US" altLang="zh-CN" dirty="0" err="1"/>
                  <a:t>a∈A</a:t>
                </a:r>
                <a:r>
                  <a:rPr lang="en-US" altLang="zh-CN" dirty="0"/>
                  <a:t>∧&lt;</a:t>
                </a:r>
                <a:r>
                  <a:rPr lang="en-US" altLang="zh-CN" dirty="0" err="1"/>
                  <a:t>a,a</a:t>
                </a:r>
                <a:r>
                  <a:rPr lang="en-US" altLang="zh-CN" dirty="0"/>
                  <a:t>&gt;∈R</a:t>
                </a:r>
                <a:r>
                  <a:rPr lang="en-US" altLang="zh-CN" baseline="-25000" dirty="0"/>
                  <a:t>1</a:t>
                </a:r>
                <a:r>
                  <a:rPr lang="en-US" altLang="zh-CN" dirty="0"/>
                  <a:t>)</a:t>
                </a:r>
                <a:r>
                  <a:rPr lang="zh-CN" altLang="en-US" dirty="0"/>
                  <a:t>，所以</a:t>
                </a:r>
                <a:r>
                  <a:rPr lang="en-US" altLang="zh-CN" dirty="0"/>
                  <a:t>R</a:t>
                </a:r>
                <a:r>
                  <a:rPr lang="en-US" altLang="zh-CN" baseline="-25000" dirty="0"/>
                  <a:t>1</a:t>
                </a:r>
                <a:r>
                  <a:rPr lang="zh-CN" altLang="en-US" dirty="0"/>
                  <a:t>不是自反的，也不是反自反的。</a:t>
                </a:r>
                <a:endParaRPr lang="en-US" altLang="zh-CN" dirty="0"/>
              </a:p>
              <a:p>
                <a:pPr marL="0" indent="0">
                  <a:lnSpc>
                    <a:spcPct val="150000"/>
                  </a:lnSpc>
                  <a:spcBef>
                    <a:spcPct val="10000"/>
                  </a:spcBef>
                  <a:buNone/>
                </a:pPr>
                <a:r>
                  <a:rPr lang="en-US" altLang="zh-CN" dirty="0"/>
                  <a:t>     </a:t>
                </a:r>
                <a:r>
                  <a:rPr lang="zh-CN" altLang="en-US" dirty="0"/>
                  <a:t>在</a:t>
                </a:r>
                <a:r>
                  <a:rPr lang="en-US" altLang="zh-CN" dirty="0"/>
                  <a:t>R</a:t>
                </a:r>
                <a:r>
                  <a:rPr lang="en-US" altLang="zh-CN" baseline="-25000" dirty="0"/>
                  <a:t>2</a:t>
                </a:r>
                <a:r>
                  <a:rPr lang="zh-CN" altLang="en-US" dirty="0"/>
                  <a:t>中，因为</a:t>
                </a:r>
                <a14:m>
                  <m:oMath xmlns:m="http://schemas.openxmlformats.org/officeDocument/2006/math">
                    <m:r>
                      <a:rPr lang="es-ES" altLang="zh-CN" i="1" smtClean="0">
                        <a:solidFill>
                          <a:srgbClr val="C00000"/>
                        </a:solidFill>
                        <a:latin typeface="Cambria Math" panose="02040503050406030204" pitchFamily="18" charset="0"/>
                        <a:ea typeface="Cambria Math" panose="02040503050406030204" pitchFamily="18" charset="0"/>
                      </a:rPr>
                      <m:t>∀</m:t>
                    </m:r>
                  </m:oMath>
                </a14:m>
                <a:r>
                  <a:rPr lang="en-US" altLang="zh-CN" dirty="0">
                    <a:solidFill>
                      <a:srgbClr val="C00000"/>
                    </a:solidFill>
                  </a:rPr>
                  <a:t>x</a:t>
                </a:r>
                <a:r>
                  <a:rPr lang="en-US" altLang="zh-CN" dirty="0"/>
                  <a:t>(</a:t>
                </a:r>
                <a:r>
                  <a:rPr lang="en-US" altLang="zh-CN" dirty="0" err="1"/>
                  <a:t>x∈A</a:t>
                </a:r>
                <a:r>
                  <a:rPr lang="en-US" altLang="zh-CN" dirty="0"/>
                  <a:t>→&lt;</a:t>
                </a:r>
                <a:r>
                  <a:rPr lang="en-US" altLang="zh-CN" dirty="0" err="1"/>
                  <a:t>x,x</a:t>
                </a:r>
                <a:r>
                  <a:rPr lang="en-US" altLang="zh-CN" dirty="0"/>
                  <a:t>&gt;∈R</a:t>
                </a:r>
                <a:r>
                  <a:rPr lang="en-US" altLang="zh-CN" baseline="-25000" dirty="0"/>
                  <a:t>2</a:t>
                </a:r>
                <a:r>
                  <a:rPr lang="en-US" altLang="zh-CN" dirty="0"/>
                  <a:t>)=1</a:t>
                </a:r>
                <a:r>
                  <a:rPr lang="zh-CN" altLang="en-US" dirty="0"/>
                  <a:t>，所以</a:t>
                </a:r>
                <a:r>
                  <a:rPr lang="en-US" altLang="zh-CN" dirty="0"/>
                  <a:t>R</a:t>
                </a:r>
                <a:r>
                  <a:rPr lang="en-US" altLang="zh-CN" baseline="-25000" dirty="0"/>
                  <a:t>2</a:t>
                </a:r>
                <a:r>
                  <a:rPr lang="zh-CN" altLang="en-US" dirty="0"/>
                  <a:t>是自反的。</a:t>
                </a:r>
                <a:endParaRPr lang="en-US" altLang="zh-CN" dirty="0"/>
              </a:p>
              <a:p>
                <a:pPr marL="0" indent="0">
                  <a:lnSpc>
                    <a:spcPct val="150000"/>
                  </a:lnSpc>
                  <a:spcBef>
                    <a:spcPct val="10000"/>
                  </a:spcBef>
                  <a:buNone/>
                </a:pPr>
                <a:r>
                  <a:rPr lang="en-US" altLang="zh-CN" dirty="0"/>
                  <a:t>     </a:t>
                </a:r>
                <a:r>
                  <a:rPr lang="zh-CN" altLang="en-US" dirty="0"/>
                  <a:t>在</a:t>
                </a:r>
                <a:r>
                  <a:rPr lang="en-US" altLang="zh-CN" dirty="0"/>
                  <a:t>R</a:t>
                </a:r>
                <a:r>
                  <a:rPr lang="en-US" altLang="zh-CN" baseline="-25000" dirty="0"/>
                  <a:t>3</a:t>
                </a:r>
                <a:r>
                  <a:rPr lang="zh-CN" altLang="en-US" dirty="0"/>
                  <a:t>中，因为</a:t>
                </a:r>
                <a14:m>
                  <m:oMath xmlns:m="http://schemas.openxmlformats.org/officeDocument/2006/math">
                    <m:r>
                      <a:rPr lang="es-ES" altLang="zh-CN" i="1" smtClean="0">
                        <a:solidFill>
                          <a:srgbClr val="C00000"/>
                        </a:solidFill>
                        <a:latin typeface="Cambria Math" panose="02040503050406030204" pitchFamily="18" charset="0"/>
                      </a:rPr>
                      <m:t>∀</m:t>
                    </m:r>
                  </m:oMath>
                </a14:m>
                <a:r>
                  <a:rPr lang="en-US" altLang="zh-CN" dirty="0">
                    <a:solidFill>
                      <a:srgbClr val="C00000"/>
                    </a:solidFill>
                  </a:rPr>
                  <a:t>x</a:t>
                </a:r>
                <a:r>
                  <a:rPr lang="en-US" altLang="zh-CN" dirty="0"/>
                  <a:t>(</a:t>
                </a:r>
                <a:r>
                  <a:rPr lang="en-US" altLang="zh-CN" dirty="0" err="1"/>
                  <a:t>x∈A</a:t>
                </a:r>
                <a:r>
                  <a:rPr lang="en-US" altLang="zh-CN" dirty="0"/>
                  <a:t>→&lt;</a:t>
                </a:r>
                <a:r>
                  <a:rPr lang="en-US" altLang="zh-CN" dirty="0" err="1"/>
                  <a:t>x,x</a:t>
                </a:r>
                <a:r>
                  <a:rPr lang="en-US" altLang="zh-CN" dirty="0"/>
                  <a:t>&gt;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a:t>
                </a:r>
                <a:r>
                  <a:rPr lang="en-US" altLang="zh-CN" baseline="-25000" dirty="0"/>
                  <a:t>3</a:t>
                </a:r>
                <a:r>
                  <a:rPr lang="en-US" altLang="zh-CN" dirty="0"/>
                  <a:t>)=1</a:t>
                </a:r>
                <a:r>
                  <a:rPr lang="zh-CN" altLang="en-US" dirty="0"/>
                  <a:t>，所以</a:t>
                </a:r>
                <a:r>
                  <a:rPr lang="en-US" altLang="zh-CN" dirty="0"/>
                  <a:t>R</a:t>
                </a:r>
                <a:r>
                  <a:rPr lang="en-US" altLang="zh-CN" baseline="-25000" dirty="0"/>
                  <a:t>3</a:t>
                </a:r>
                <a:r>
                  <a:rPr lang="zh-CN" altLang="en-US" dirty="0"/>
                  <a:t>是反自反的。</a:t>
                </a:r>
                <a:endParaRPr lang="zh-CN" altLang="en-US" dirty="0"/>
              </a:p>
            </p:txBody>
          </p:sp>
        </mc:Choice>
        <mc:Fallback>
          <p:sp>
            <p:nvSpPr>
              <p:cNvPr id="4" name="Rectangle 3"/>
              <p:cNvSpPr txBox="1">
                <a:spLocks noRot="1" noChangeAspect="1" noMove="1" noResize="1" noEditPoints="1" noAdjustHandles="1" noChangeArrowheads="1" noChangeShapeType="1" noTextEdit="1"/>
              </p:cNvSpPr>
              <p:nvPr/>
            </p:nvSpPr>
            <p:spPr>
              <a:xfrm>
                <a:off x="433253" y="2820194"/>
                <a:ext cx="11152322" cy="3114276"/>
              </a:xfrm>
              <a:prstGeom prst="rect">
                <a:avLst/>
              </a:prstGeom>
              <a:blipFill rotWithShape="1">
                <a:blip r:embed="rId1"/>
                <a:stretch>
                  <a:fillRect l="-2" t="-5" b="13"/>
                </a:stretch>
              </a:blipFill>
            </p:spPr>
            <p:txBody>
              <a:bodyPr/>
              <a:lstStyle/>
              <a:p>
                <a:r>
                  <a:rPr lang="zh-CN" altLang="en-US">
                    <a:noFill/>
                  </a:rPr>
                  <a:t> </a:t>
                </a:r>
              </a:p>
            </p:txBody>
          </p:sp>
        </mc:Fallback>
      </mc:AlternateContent>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Rectangle 2"/>
          <p:cNvSpPr>
            <a:spLocks noGrp="1" noChangeArrowheads="1"/>
          </p:cNvSpPr>
          <p:nvPr>
            <p:ph type="title"/>
          </p:nvPr>
        </p:nvSpPr>
        <p:spPr>
          <a:xfrm>
            <a:off x="794671" y="258442"/>
            <a:ext cx="10758267" cy="585924"/>
          </a:xfrm>
        </p:spPr>
        <p:txBody>
          <a:bodyPr/>
          <a:lstStyle/>
          <a:p>
            <a:pPr eaLnBrk="1" hangingPunct="1"/>
            <a:r>
              <a:rPr lang="zh-CN" altLang="en-US" dirty="0"/>
              <a:t>例</a:t>
            </a:r>
            <a:r>
              <a:rPr lang="en-US" altLang="zh-CN" dirty="0"/>
              <a:t>4.19 </a:t>
            </a:r>
            <a:r>
              <a:rPr lang="zh-CN" altLang="en-US" dirty="0"/>
              <a:t>（续）</a:t>
            </a:r>
            <a:endParaRPr lang="zh-CN" altLang="en-US" dirty="0"/>
          </a:p>
        </p:txBody>
      </p:sp>
      <p:sp>
        <p:nvSpPr>
          <p:cNvPr id="1529859" name="Rectangle 3"/>
          <p:cNvSpPr>
            <a:spLocks noGrp="1" noChangeArrowheads="1"/>
          </p:cNvSpPr>
          <p:nvPr>
            <p:ph type="body" sz="half" idx="1"/>
          </p:nvPr>
        </p:nvSpPr>
        <p:spPr>
          <a:xfrm>
            <a:off x="384175" y="1086896"/>
            <a:ext cx="10972800" cy="895098"/>
          </a:xfrm>
        </p:spPr>
        <p:txBody>
          <a:bodyPr>
            <a:normAutofit/>
          </a:bodyPr>
          <a:lstStyle/>
          <a:p>
            <a:pPr marL="0" indent="0">
              <a:spcBef>
                <a:spcPct val="10000"/>
              </a:spcBef>
              <a:buNone/>
            </a:pPr>
            <a:r>
              <a:rPr lang="zh-CN" altLang="en-US" dirty="0"/>
              <a:t>（</a:t>
            </a:r>
            <a:r>
              <a:rPr lang="en-US" altLang="zh-CN" dirty="0"/>
              <a:t>2</a:t>
            </a:r>
            <a:r>
              <a:rPr lang="zh-CN" altLang="en-US" dirty="0"/>
              <a:t>）</a:t>
            </a:r>
            <a:r>
              <a:rPr lang="en-US" altLang="zh-CN" dirty="0"/>
              <a:t> </a:t>
            </a:r>
            <a:r>
              <a:rPr lang="zh-CN" altLang="en-US" dirty="0"/>
              <a:t>设</a:t>
            </a:r>
            <a:r>
              <a:rPr lang="en-US" altLang="zh-CN" dirty="0"/>
              <a:t>R</a:t>
            </a:r>
            <a:r>
              <a:rPr lang="en-US" altLang="zh-CN" baseline="-25000" dirty="0"/>
              <a:t>1</a:t>
            </a:r>
            <a:r>
              <a:rPr lang="zh-CN" altLang="zh-CN" dirty="0"/>
              <a:t>，</a:t>
            </a:r>
            <a:r>
              <a:rPr lang="en-US" altLang="zh-CN" dirty="0"/>
              <a:t>R</a:t>
            </a:r>
            <a:r>
              <a:rPr lang="en-US" altLang="zh-CN" baseline="-25000" dirty="0"/>
              <a:t>2</a:t>
            </a:r>
            <a:r>
              <a:rPr lang="zh-CN" altLang="zh-CN" dirty="0"/>
              <a:t>和</a:t>
            </a:r>
            <a:r>
              <a:rPr lang="en-US" altLang="zh-CN" dirty="0"/>
              <a:t>R</a:t>
            </a:r>
            <a:r>
              <a:rPr lang="en-US" altLang="zh-CN" baseline="-25000" dirty="0"/>
              <a:t>3</a:t>
            </a:r>
            <a:r>
              <a:rPr lang="zh-CN" altLang="zh-CN" dirty="0"/>
              <a:t>的关系矩阵分别为</a:t>
            </a:r>
            <a:r>
              <a:rPr lang="en-US" altLang="zh-CN" dirty="0"/>
              <a:t>M</a:t>
            </a:r>
            <a:r>
              <a:rPr lang="en-US" altLang="zh-CN" baseline="-25000" dirty="0"/>
              <a:t>R1</a:t>
            </a:r>
            <a:r>
              <a:rPr lang="zh-CN" altLang="zh-CN" dirty="0"/>
              <a:t>，</a:t>
            </a:r>
            <a:r>
              <a:rPr lang="en-US" altLang="zh-CN" dirty="0"/>
              <a:t>M</a:t>
            </a:r>
            <a:r>
              <a:rPr lang="en-US" altLang="zh-CN" baseline="-25000" dirty="0"/>
              <a:t> R2</a:t>
            </a:r>
            <a:r>
              <a:rPr lang="zh-CN" altLang="zh-CN" dirty="0"/>
              <a:t>和</a:t>
            </a:r>
            <a:r>
              <a:rPr lang="en-US" altLang="zh-CN" dirty="0"/>
              <a:t>M</a:t>
            </a:r>
            <a:r>
              <a:rPr lang="en-US" altLang="zh-CN" baseline="-25000" dirty="0"/>
              <a:t> R3 </a:t>
            </a:r>
            <a:r>
              <a:rPr lang="zh-CN" altLang="en-US" dirty="0"/>
              <a:t>，则：</a:t>
            </a:r>
            <a:endParaRPr lang="zh-CN" altLang="en-US" dirty="0"/>
          </a:p>
        </p:txBody>
      </p:sp>
      <p:sp>
        <p:nvSpPr>
          <p:cNvPr id="11" name="Rectangle 58"/>
          <p:cNvSpPr>
            <a:spLocks noChangeArrowheads="1"/>
          </p:cNvSpPr>
          <p:nvPr/>
        </p:nvSpPr>
        <p:spPr bwMode="auto">
          <a:xfrm>
            <a:off x="804304" y="2515394"/>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2" name="对象 11"/>
          <p:cNvGraphicFramePr>
            <a:graphicFrameLocks noChangeAspect="1"/>
          </p:cNvGraphicFramePr>
          <p:nvPr/>
        </p:nvGraphicFramePr>
        <p:xfrm>
          <a:off x="1251871" y="1838710"/>
          <a:ext cx="2396648" cy="1536981"/>
        </p:xfrm>
        <a:graphic>
          <a:graphicData uri="http://schemas.openxmlformats.org/presentationml/2006/ole">
            <mc:AlternateContent xmlns:mc="http://schemas.openxmlformats.org/markup-compatibility/2006">
              <mc:Choice xmlns:v="urn:schemas-microsoft-com:vml" Requires="v">
                <p:oleObj spid="_x0000_s13313" name="Equation" r:id="rId1" imgW="21031200" imgH="13411200" progId="Equation.DSMT4">
                  <p:embed/>
                </p:oleObj>
              </mc:Choice>
              <mc:Fallback>
                <p:oleObj name="Equation" r:id="rId1" imgW="21031200" imgH="13411200" progId="Equation.DSMT4">
                  <p:embed/>
                  <p:pic>
                    <p:nvPicPr>
                      <p:cNvPr id="0" name="Object 57" descr="image65"/>
                      <p:cNvPicPr>
                        <a:picLocks noChangeAspect="1"/>
                      </p:cNvPicPr>
                      <p:nvPr/>
                    </p:nvPicPr>
                    <p:blipFill>
                      <a:blip r:embed="rId2"/>
                      <a:stretch>
                        <a:fillRect/>
                      </a:stretch>
                    </p:blipFill>
                    <p:spPr>
                      <a:xfrm>
                        <a:off x="1251871" y="1838710"/>
                        <a:ext cx="2396648" cy="1536981"/>
                      </a:xfrm>
                      <a:prstGeom prst="rect">
                        <a:avLst/>
                      </a:prstGeom>
                      <a:noFill/>
                      <a:ln w="9525">
                        <a:noFill/>
                      </a:ln>
                    </p:spPr>
                  </p:pic>
                </p:oleObj>
              </mc:Fallback>
            </mc:AlternateContent>
          </a:graphicData>
        </a:graphic>
      </p:graphicFrame>
      <p:sp>
        <p:nvSpPr>
          <p:cNvPr id="13" name="Rectangle 60"/>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对象 13"/>
          <p:cNvGraphicFramePr>
            <a:graphicFrameLocks noChangeAspect="1"/>
          </p:cNvGraphicFramePr>
          <p:nvPr/>
        </p:nvGraphicFramePr>
        <p:xfrm>
          <a:off x="4662958" y="1821577"/>
          <a:ext cx="2265782" cy="1422140"/>
        </p:xfrm>
        <a:graphic>
          <a:graphicData uri="http://schemas.openxmlformats.org/presentationml/2006/ole">
            <mc:AlternateContent xmlns:mc="http://schemas.openxmlformats.org/markup-compatibility/2006">
              <mc:Choice xmlns:v="urn:schemas-microsoft-com:vml" Requires="v">
                <p:oleObj spid="_x0000_s13314" name="Equation" r:id="rId3" imgW="21640800" imgH="13411200" progId="Equation.DSMT4">
                  <p:embed/>
                </p:oleObj>
              </mc:Choice>
              <mc:Fallback>
                <p:oleObj name="Equation" r:id="rId3" imgW="21640800" imgH="13411200" progId="Equation.DSMT4">
                  <p:embed/>
                  <p:pic>
                    <p:nvPicPr>
                      <p:cNvPr id="0" name="Object 59" descr="image66"/>
                      <p:cNvPicPr>
                        <a:picLocks noChangeAspect="1"/>
                      </p:cNvPicPr>
                      <p:nvPr/>
                    </p:nvPicPr>
                    <p:blipFill>
                      <a:blip r:embed="rId4"/>
                      <a:stretch>
                        <a:fillRect/>
                      </a:stretch>
                    </p:blipFill>
                    <p:spPr>
                      <a:xfrm>
                        <a:off x="4662958" y="1821577"/>
                        <a:ext cx="2265782" cy="1422140"/>
                      </a:xfrm>
                      <a:prstGeom prst="rect">
                        <a:avLst/>
                      </a:prstGeom>
                      <a:noFill/>
                      <a:ln w="9525">
                        <a:noFill/>
                      </a:ln>
                    </p:spPr>
                  </p:pic>
                </p:oleObj>
              </mc:Fallback>
            </mc:AlternateContent>
          </a:graphicData>
        </a:graphic>
      </p:graphicFrame>
      <p:sp>
        <p:nvSpPr>
          <p:cNvPr id="15" name="Rectangle 62"/>
          <p:cNvSpPr>
            <a:spLocks noChangeArrowheads="1"/>
          </p:cNvSpPr>
          <p:nvPr/>
        </p:nvSpPr>
        <p:spPr bwMode="auto">
          <a:xfrm>
            <a:off x="8308975" y="2629097"/>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6" name="对象 15"/>
          <p:cNvGraphicFramePr>
            <a:graphicFrameLocks noChangeAspect="1"/>
          </p:cNvGraphicFramePr>
          <p:nvPr/>
        </p:nvGraphicFramePr>
        <p:xfrm>
          <a:off x="7775575" y="1821576"/>
          <a:ext cx="2362199" cy="1422141"/>
        </p:xfrm>
        <a:graphic>
          <a:graphicData uri="http://schemas.openxmlformats.org/presentationml/2006/ole">
            <mc:AlternateContent xmlns:mc="http://schemas.openxmlformats.org/markup-compatibility/2006">
              <mc:Choice xmlns:v="urn:schemas-microsoft-com:vml" Requires="v">
                <p:oleObj spid="_x0000_s13315" name="Equation" r:id="rId5" imgW="22555200" imgH="13411200" progId="Equation.DSMT4">
                  <p:embed/>
                </p:oleObj>
              </mc:Choice>
              <mc:Fallback>
                <p:oleObj name="Equation" r:id="rId5" imgW="22555200" imgH="13411200" progId="Equation.DSMT4">
                  <p:embed/>
                  <p:pic>
                    <p:nvPicPr>
                      <p:cNvPr id="0" name="Object 61" descr="image67"/>
                      <p:cNvPicPr>
                        <a:picLocks noChangeAspect="1"/>
                      </p:cNvPicPr>
                      <p:nvPr/>
                    </p:nvPicPr>
                    <p:blipFill>
                      <a:blip r:embed="rId6"/>
                      <a:stretch>
                        <a:fillRect/>
                      </a:stretch>
                    </p:blipFill>
                    <p:spPr>
                      <a:xfrm>
                        <a:off x="7775575" y="1821576"/>
                        <a:ext cx="2362199" cy="1422141"/>
                      </a:xfrm>
                      <a:prstGeom prst="rect">
                        <a:avLst/>
                      </a:prstGeom>
                      <a:noFill/>
                      <a:ln w="9525">
                        <a:noFill/>
                      </a:ln>
                    </p:spPr>
                  </p:pic>
                </p:oleObj>
              </mc:Fallback>
            </mc:AlternateContent>
          </a:graphicData>
        </a:graphic>
      </p:graphicFrame>
      <p:sp>
        <p:nvSpPr>
          <p:cNvPr id="21" name="Text Box 10"/>
          <p:cNvSpPr txBox="1">
            <a:spLocks noChangeArrowheads="1"/>
          </p:cNvSpPr>
          <p:nvPr/>
        </p:nvSpPr>
        <p:spPr bwMode="auto">
          <a:xfrm>
            <a:off x="384175" y="3615872"/>
            <a:ext cx="96164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a:t>
            </a:r>
            <a:r>
              <a:rPr lang="en-US" altLang="zh-CN" sz="2400" dirty="0">
                <a:latin typeface="+mn-ea"/>
                <a:ea typeface="+mn-ea"/>
              </a:rPr>
              <a:t> R</a:t>
            </a:r>
            <a:r>
              <a:rPr lang="en-US" altLang="zh-CN" sz="2400" baseline="-25000" dirty="0">
                <a:latin typeface="+mn-ea"/>
                <a:ea typeface="+mn-ea"/>
              </a:rPr>
              <a:t>1</a:t>
            </a:r>
            <a:r>
              <a:rPr lang="zh-CN" altLang="zh-CN" sz="2400" dirty="0">
                <a:latin typeface="+mn-ea"/>
                <a:ea typeface="+mn-ea"/>
              </a:rPr>
              <a:t>，</a:t>
            </a:r>
            <a:r>
              <a:rPr lang="en-US" altLang="zh-CN" sz="2400" dirty="0">
                <a:latin typeface="+mn-ea"/>
                <a:ea typeface="+mn-ea"/>
              </a:rPr>
              <a:t>R</a:t>
            </a:r>
            <a:r>
              <a:rPr lang="en-US" altLang="zh-CN" sz="2400" baseline="-25000" dirty="0">
                <a:latin typeface="+mn-ea"/>
                <a:ea typeface="+mn-ea"/>
              </a:rPr>
              <a:t>2</a:t>
            </a:r>
            <a:r>
              <a:rPr lang="zh-CN" altLang="zh-CN" sz="2400" dirty="0">
                <a:latin typeface="+mn-ea"/>
                <a:ea typeface="+mn-ea"/>
              </a:rPr>
              <a:t>和</a:t>
            </a:r>
            <a:r>
              <a:rPr lang="en-US" altLang="zh-CN" sz="2400" dirty="0">
                <a:latin typeface="+mn-ea"/>
                <a:ea typeface="+mn-ea"/>
              </a:rPr>
              <a:t>R</a:t>
            </a:r>
            <a:r>
              <a:rPr lang="en-US" altLang="zh-CN" sz="2400" baseline="-25000" dirty="0">
                <a:latin typeface="+mn-ea"/>
                <a:ea typeface="+mn-ea"/>
              </a:rPr>
              <a:t>3</a:t>
            </a:r>
            <a:r>
              <a:rPr lang="zh-CN" altLang="en-US" sz="2400" dirty="0">
                <a:latin typeface="+mn-ea"/>
                <a:ea typeface="+mn-ea"/>
              </a:rPr>
              <a:t>的关系图分别是下图的</a:t>
            </a:r>
            <a:r>
              <a:rPr lang="en-US" altLang="zh-CN" sz="2400" dirty="0">
                <a:latin typeface="+mn-ea"/>
                <a:ea typeface="+mn-ea"/>
              </a:rPr>
              <a:t>(a),(b)</a:t>
            </a:r>
            <a:r>
              <a:rPr lang="zh-CN" altLang="en-US" sz="2400" dirty="0">
                <a:latin typeface="+mn-ea"/>
                <a:ea typeface="+mn-ea"/>
              </a:rPr>
              <a:t>和</a:t>
            </a:r>
            <a:r>
              <a:rPr lang="en-US" altLang="zh-CN" sz="2400" dirty="0">
                <a:latin typeface="+mn-ea"/>
                <a:ea typeface="+mn-ea"/>
              </a:rPr>
              <a:t>(c)</a:t>
            </a:r>
            <a:r>
              <a:rPr lang="zh-CN" altLang="en-US" sz="2400" dirty="0">
                <a:latin typeface="+mn-ea"/>
                <a:ea typeface="+mn-ea"/>
              </a:rPr>
              <a:t>。</a:t>
            </a:r>
            <a:endParaRPr lang="zh-CN" altLang="en-US" sz="2400" dirty="0">
              <a:solidFill>
                <a:srgbClr val="FF0000"/>
              </a:solidFill>
              <a:latin typeface="+mn-ea"/>
              <a:ea typeface="+mn-ea"/>
            </a:endParaRPr>
          </a:p>
        </p:txBody>
      </p:sp>
      <p:grpSp>
        <p:nvGrpSpPr>
          <p:cNvPr id="2" name="组合 1"/>
          <p:cNvGrpSpPr/>
          <p:nvPr/>
        </p:nvGrpSpPr>
        <p:grpSpPr>
          <a:xfrm>
            <a:off x="1981323" y="4390242"/>
            <a:ext cx="6327652" cy="2414820"/>
            <a:chOff x="1981323" y="4390242"/>
            <a:chExt cx="6327652" cy="2414820"/>
          </a:xfrm>
        </p:grpSpPr>
        <p:grpSp>
          <p:nvGrpSpPr>
            <p:cNvPr id="116" name="Group 44"/>
            <p:cNvGrpSpPr>
              <a:grpSpLocks noChangeAspect="1"/>
            </p:cNvGrpSpPr>
            <p:nvPr/>
          </p:nvGrpSpPr>
          <p:grpSpPr bwMode="auto">
            <a:xfrm>
              <a:off x="1981323" y="4390242"/>
              <a:ext cx="6327652" cy="2414820"/>
              <a:chOff x="1318" y="2814"/>
              <a:chExt cx="3322" cy="1267"/>
            </a:xfrm>
          </p:grpSpPr>
          <p:sp>
            <p:nvSpPr>
              <p:cNvPr id="117" name="Text Box 12"/>
              <p:cNvSpPr txBox="1">
                <a:spLocks noChangeAspect="1" noChangeArrowheads="1"/>
              </p:cNvSpPr>
              <p:nvPr/>
            </p:nvSpPr>
            <p:spPr bwMode="auto">
              <a:xfrm>
                <a:off x="2502" y="2924"/>
                <a:ext cx="201"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a</a:t>
                </a:r>
                <a:endParaRPr lang="en-US" altLang="zh-CN" sz="2400" dirty="0">
                  <a:solidFill>
                    <a:srgbClr val="FF0000"/>
                  </a:solidFill>
                </a:endParaRPr>
              </a:p>
            </p:txBody>
          </p:sp>
          <p:sp>
            <p:nvSpPr>
              <p:cNvPr id="118" name="Text Box 13"/>
              <p:cNvSpPr txBox="1">
                <a:spLocks noChangeAspect="1" noChangeArrowheads="1"/>
              </p:cNvSpPr>
              <p:nvPr/>
            </p:nvSpPr>
            <p:spPr bwMode="auto">
              <a:xfrm>
                <a:off x="4266" y="3380"/>
                <a:ext cx="201" cy="26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endParaRPr>
              </a:p>
            </p:txBody>
          </p:sp>
          <p:sp>
            <p:nvSpPr>
              <p:cNvPr id="119" name="Text Box 14"/>
              <p:cNvSpPr txBox="1">
                <a:spLocks noChangeAspect="1" noChangeArrowheads="1"/>
              </p:cNvSpPr>
              <p:nvPr/>
            </p:nvSpPr>
            <p:spPr bwMode="auto">
              <a:xfrm>
                <a:off x="1927" y="3211"/>
                <a:ext cx="184"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endParaRPr>
              </a:p>
            </p:txBody>
          </p:sp>
          <p:sp>
            <p:nvSpPr>
              <p:cNvPr id="120" name="Text Box 15"/>
              <p:cNvSpPr txBox="1">
                <a:spLocks noChangeAspect="1" noChangeArrowheads="1"/>
              </p:cNvSpPr>
              <p:nvPr/>
            </p:nvSpPr>
            <p:spPr bwMode="auto">
              <a:xfrm>
                <a:off x="1324" y="2863"/>
                <a:ext cx="200"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a</a:t>
                </a:r>
                <a:endParaRPr lang="en-US" altLang="zh-CN" sz="2400" dirty="0">
                  <a:solidFill>
                    <a:srgbClr val="FF0000"/>
                  </a:solidFill>
                </a:endParaRPr>
              </a:p>
            </p:txBody>
          </p:sp>
          <p:sp>
            <p:nvSpPr>
              <p:cNvPr id="121" name="Oval 16"/>
              <p:cNvSpPr>
                <a:spLocks noChangeAspect="1" noChangeArrowheads="1"/>
              </p:cNvSpPr>
              <p:nvPr/>
            </p:nvSpPr>
            <p:spPr bwMode="auto">
              <a:xfrm>
                <a:off x="1424" y="3570"/>
                <a:ext cx="32" cy="31"/>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22" name="Text Box 17"/>
              <p:cNvSpPr txBox="1">
                <a:spLocks noChangeAspect="1" noChangeArrowheads="1"/>
              </p:cNvSpPr>
              <p:nvPr/>
            </p:nvSpPr>
            <p:spPr bwMode="auto">
              <a:xfrm>
                <a:off x="1318" y="3524"/>
                <a:ext cx="201" cy="26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endParaRPr>
              </a:p>
            </p:txBody>
          </p:sp>
          <p:sp>
            <p:nvSpPr>
              <p:cNvPr id="123" name="Oval 18"/>
              <p:cNvSpPr>
                <a:spLocks noChangeAspect="1" noChangeArrowheads="1"/>
              </p:cNvSpPr>
              <p:nvPr/>
            </p:nvSpPr>
            <p:spPr bwMode="auto">
              <a:xfrm>
                <a:off x="2655" y="3029"/>
                <a:ext cx="32" cy="32"/>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24" name="Text Box 19"/>
              <p:cNvSpPr txBox="1">
                <a:spLocks noChangeAspect="1" noChangeArrowheads="1"/>
              </p:cNvSpPr>
              <p:nvPr/>
            </p:nvSpPr>
            <p:spPr bwMode="auto">
              <a:xfrm>
                <a:off x="3247" y="3295"/>
                <a:ext cx="201"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endParaRPr>
              </a:p>
            </p:txBody>
          </p:sp>
          <p:sp>
            <p:nvSpPr>
              <p:cNvPr id="125" name="Text Box 20"/>
              <p:cNvSpPr txBox="1">
                <a:spLocks noChangeAspect="1" noChangeArrowheads="1"/>
              </p:cNvSpPr>
              <p:nvPr/>
            </p:nvSpPr>
            <p:spPr bwMode="auto">
              <a:xfrm>
                <a:off x="2502" y="3508"/>
                <a:ext cx="201" cy="263"/>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endParaRPr>
              </a:p>
            </p:txBody>
          </p:sp>
          <p:sp>
            <p:nvSpPr>
              <p:cNvPr id="126" name="Text Box 21"/>
              <p:cNvSpPr txBox="1">
                <a:spLocks noChangeAspect="1" noChangeArrowheads="1"/>
              </p:cNvSpPr>
              <p:nvPr/>
            </p:nvSpPr>
            <p:spPr bwMode="auto">
              <a:xfrm>
                <a:off x="3669" y="3031"/>
                <a:ext cx="201" cy="26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a</a:t>
                </a:r>
                <a:endParaRPr lang="en-US" altLang="zh-CN" sz="2400" dirty="0">
                  <a:solidFill>
                    <a:srgbClr val="FF0000"/>
                  </a:solidFill>
                </a:endParaRPr>
              </a:p>
            </p:txBody>
          </p:sp>
          <p:sp>
            <p:nvSpPr>
              <p:cNvPr id="127" name="Text Box 22"/>
              <p:cNvSpPr txBox="1">
                <a:spLocks noChangeAspect="1" noChangeArrowheads="1"/>
              </p:cNvSpPr>
              <p:nvPr/>
            </p:nvSpPr>
            <p:spPr bwMode="auto">
              <a:xfrm>
                <a:off x="3669" y="3604"/>
                <a:ext cx="201" cy="263"/>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5913" tIns="37957" rIns="75913" bIns="3795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endParaRPr>
              </a:p>
            </p:txBody>
          </p:sp>
          <p:sp>
            <p:nvSpPr>
              <p:cNvPr id="130" name="Arc 25"/>
              <p:cNvSpPr>
                <a:spLocks noChangeAspect="1"/>
              </p:cNvSpPr>
              <p:nvPr/>
            </p:nvSpPr>
            <p:spPr bwMode="auto">
              <a:xfrm rot="4109557" flipV="1">
                <a:off x="3292" y="3300"/>
                <a:ext cx="192" cy="190"/>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1" name="Arc 26"/>
              <p:cNvSpPr>
                <a:spLocks noChangeAspect="1"/>
              </p:cNvSpPr>
              <p:nvPr/>
            </p:nvSpPr>
            <p:spPr bwMode="auto">
              <a:xfrm rot="10971685" flipV="1">
                <a:off x="1321" y="3577"/>
                <a:ext cx="189" cy="19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 name="Text Box 27"/>
              <p:cNvSpPr txBox="1">
                <a:spLocks noChangeAspect="1" noChangeArrowheads="1"/>
              </p:cNvSpPr>
              <p:nvPr/>
            </p:nvSpPr>
            <p:spPr bwMode="auto">
              <a:xfrm>
                <a:off x="1324" y="3847"/>
                <a:ext cx="331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5913" tIns="37957" rIns="75913" bIns="3795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FF0000"/>
                    </a:solidFill>
                  </a:rPr>
                  <a:t>   </a:t>
                </a:r>
                <a:r>
                  <a:rPr lang="en-US" altLang="zh-CN" sz="2400" dirty="0">
                    <a:solidFill>
                      <a:schemeClr val="tx1"/>
                    </a:solidFill>
                  </a:rPr>
                  <a:t>(a)           (b)            (c)</a:t>
                </a:r>
                <a:endParaRPr lang="en-US" altLang="zh-CN" sz="2400" dirty="0">
                  <a:solidFill>
                    <a:schemeClr val="tx1"/>
                  </a:solidFill>
                </a:endParaRPr>
              </a:p>
            </p:txBody>
          </p:sp>
          <p:sp>
            <p:nvSpPr>
              <p:cNvPr id="136" name="Freeform 31"/>
              <p:cNvSpPr>
                <a:spLocks noChangeAspect="1"/>
              </p:cNvSpPr>
              <p:nvPr/>
            </p:nvSpPr>
            <p:spPr bwMode="auto">
              <a:xfrm>
                <a:off x="3848" y="3167"/>
                <a:ext cx="0" cy="586"/>
              </a:xfrm>
              <a:custGeom>
                <a:avLst/>
                <a:gdLst>
                  <a:gd name="T0" fmla="*/ 0 w 1"/>
                  <a:gd name="T1" fmla="*/ 0 h 1040"/>
                  <a:gd name="T2" fmla="*/ 0 w 1"/>
                  <a:gd name="T3" fmla="*/ 1 h 1040"/>
                  <a:gd name="T4" fmla="*/ 0 60000 65536"/>
                  <a:gd name="T5" fmla="*/ 0 60000 65536"/>
                  <a:gd name="T6" fmla="*/ 0 w 1"/>
                  <a:gd name="T7" fmla="*/ 0 h 1040"/>
                  <a:gd name="T8" fmla="*/ 0 w 1"/>
                  <a:gd name="T9" fmla="*/ 1040 h 1040"/>
                </a:gdLst>
                <a:ahLst/>
                <a:cxnLst>
                  <a:cxn ang="T4">
                    <a:pos x="T0" y="T1"/>
                  </a:cxn>
                  <a:cxn ang="T5">
                    <a:pos x="T2" y="T3"/>
                  </a:cxn>
                </a:cxnLst>
                <a:rect l="T6" t="T7" r="T8" b="T9"/>
                <a:pathLst>
                  <a:path w="1" h="1040">
                    <a:moveTo>
                      <a:pt x="0" y="0"/>
                    </a:moveTo>
                    <a:lnTo>
                      <a:pt x="0" y="1040"/>
                    </a:lnTo>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0" name="Oval 35"/>
              <p:cNvSpPr>
                <a:spLocks noChangeAspect="1" noChangeArrowheads="1"/>
              </p:cNvSpPr>
              <p:nvPr/>
            </p:nvSpPr>
            <p:spPr bwMode="auto">
              <a:xfrm>
                <a:off x="3836" y="3738"/>
                <a:ext cx="32" cy="33"/>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1" name="Oval 36"/>
              <p:cNvSpPr>
                <a:spLocks noChangeAspect="1" noChangeArrowheads="1"/>
              </p:cNvSpPr>
              <p:nvPr/>
            </p:nvSpPr>
            <p:spPr bwMode="auto">
              <a:xfrm>
                <a:off x="4300" y="3451"/>
                <a:ext cx="31" cy="31"/>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2" name="Oval 37"/>
              <p:cNvSpPr>
                <a:spLocks noChangeAspect="1" noChangeArrowheads="1"/>
              </p:cNvSpPr>
              <p:nvPr/>
            </p:nvSpPr>
            <p:spPr bwMode="auto">
              <a:xfrm>
                <a:off x="3836" y="3136"/>
                <a:ext cx="32" cy="33"/>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3" name="Oval 38"/>
              <p:cNvSpPr>
                <a:spLocks noChangeAspect="1" noChangeArrowheads="1"/>
              </p:cNvSpPr>
              <p:nvPr/>
            </p:nvSpPr>
            <p:spPr bwMode="auto">
              <a:xfrm>
                <a:off x="1524" y="2968"/>
                <a:ext cx="32" cy="31"/>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4" name="Oval 39"/>
              <p:cNvSpPr>
                <a:spLocks noChangeAspect="1" noChangeArrowheads="1"/>
              </p:cNvSpPr>
              <p:nvPr/>
            </p:nvSpPr>
            <p:spPr bwMode="auto">
              <a:xfrm>
                <a:off x="1921" y="3346"/>
                <a:ext cx="32" cy="33"/>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5" name="Oval 40"/>
              <p:cNvSpPr>
                <a:spLocks noChangeAspect="1" noChangeArrowheads="1"/>
              </p:cNvSpPr>
              <p:nvPr/>
            </p:nvSpPr>
            <p:spPr bwMode="auto">
              <a:xfrm>
                <a:off x="2655" y="3631"/>
                <a:ext cx="32" cy="32"/>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6" name="Oval 41"/>
              <p:cNvSpPr>
                <a:spLocks noChangeAspect="1" noChangeArrowheads="1"/>
              </p:cNvSpPr>
              <p:nvPr/>
            </p:nvSpPr>
            <p:spPr bwMode="auto">
              <a:xfrm>
                <a:off x="3258" y="3409"/>
                <a:ext cx="32" cy="31"/>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7" name="Oval 42"/>
              <p:cNvSpPr>
                <a:spLocks noChangeAspect="1" noChangeArrowheads="1"/>
              </p:cNvSpPr>
              <p:nvPr/>
            </p:nvSpPr>
            <p:spPr bwMode="auto">
              <a:xfrm>
                <a:off x="1424" y="3562"/>
                <a:ext cx="32" cy="32"/>
              </a:xfrm>
              <a:prstGeom prst="ellipse">
                <a:avLst/>
              </a:prstGeom>
              <a:solidFill>
                <a:srgbClr val="FFFFFF"/>
              </a:solidFill>
              <a:ln w="28575">
                <a:solidFill>
                  <a:srgbClr val="000000"/>
                </a:solidFill>
                <a:rou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48" name="Arc 43"/>
              <p:cNvSpPr/>
              <p:nvPr/>
            </p:nvSpPr>
            <p:spPr bwMode="auto">
              <a:xfrm rot="4752660" flipH="1" flipV="1">
                <a:off x="1545" y="2814"/>
                <a:ext cx="227" cy="22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cxnSp>
          <p:nvCxnSpPr>
            <p:cNvPr id="18" name="直接箭头连接符 17"/>
            <p:cNvCxnSpPr>
              <a:stCxn id="143" idx="1"/>
              <a:endCxn id="144" idx="1"/>
            </p:cNvCxnSpPr>
            <p:nvPr/>
          </p:nvCxnSpPr>
          <p:spPr>
            <a:xfrm>
              <a:off x="2382632" y="4692409"/>
              <a:ext cx="756194" cy="7210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Arc 25"/>
            <p:cNvSpPr>
              <a:spLocks noChangeAspect="1"/>
            </p:cNvSpPr>
            <p:nvPr/>
          </p:nvSpPr>
          <p:spPr bwMode="auto">
            <a:xfrm rot="4109557" flipV="1">
              <a:off x="4528184" y="4620719"/>
              <a:ext cx="365940" cy="36190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Arc 25"/>
            <p:cNvSpPr>
              <a:spLocks noChangeAspect="1"/>
            </p:cNvSpPr>
            <p:nvPr/>
          </p:nvSpPr>
          <p:spPr bwMode="auto">
            <a:xfrm rot="4109557" flipV="1">
              <a:off x="4528184" y="5736594"/>
              <a:ext cx="365940" cy="36190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991"/>
                    <a:pt x="7703" y="1954"/>
                    <a:pt x="18176" y="272"/>
                  </a:cubicBezTo>
                  <a:lnTo>
                    <a:pt x="21600" y="21600"/>
                  </a:lnTo>
                  <a:lnTo>
                    <a:pt x="21599" y="0"/>
                  </a:lnTo>
                  <a:close/>
                </a:path>
              </a:pathLst>
            </a:custGeom>
            <a:noFill/>
            <a:ln w="28575">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cxnSp>
          <p:nvCxnSpPr>
            <p:cNvPr id="20" name="直接箭头连接符 19"/>
            <p:cNvCxnSpPr>
              <a:stCxn id="140" idx="7"/>
              <a:endCxn id="141" idx="2"/>
            </p:cNvCxnSpPr>
            <p:nvPr/>
          </p:nvCxnSpPr>
          <p:spPr>
            <a:xfrm flipV="1">
              <a:off x="6829565" y="5633865"/>
              <a:ext cx="831788" cy="5266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7"/>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ircle(in)">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1">
                                            <p:txEl>
                                              <p:pRg st="0" end="0"/>
                                            </p:txEl>
                                          </p:spTgt>
                                        </p:tgtEl>
                                        <p:attrNameLst>
                                          <p:attrName>style.visibility</p:attrName>
                                        </p:attrNameLst>
                                      </p:cBhvr>
                                      <p:to>
                                        <p:strVal val="visible"/>
                                      </p:to>
                                    </p:set>
                                    <p:animEffect transition="in" filter="box(in)">
                                      <p:cBhvr>
                                        <p:cTn id="22" dur="500"/>
                                        <p:tgtEl>
                                          <p:spTgt spid="2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ircle(in)">
                                      <p:cBhvr>
                                        <p:cTn id="2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endParaRPr lang="zh-CN" altLang="en-US" dirty="0"/>
          </a:p>
        </p:txBody>
      </p:sp>
      <mc:AlternateContent xmlns:mc="http://schemas.openxmlformats.org/markup-compatibility/2006">
        <mc:Choice xmlns:a14="http://schemas.microsoft.com/office/drawing/2010/main" Requires="a14">
          <p:sp>
            <p:nvSpPr>
              <p:cNvPr id="4" name="Text Box 556"/>
              <p:cNvSpPr txBox="1">
                <a:spLocks noChangeArrowheads="1"/>
              </p:cNvSpPr>
              <p:nvPr/>
            </p:nvSpPr>
            <p:spPr bwMode="auto">
              <a:xfrm>
                <a:off x="277812" y="963674"/>
                <a:ext cx="11661775" cy="2466120"/>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自反性和反自反性的关系矩阵表示判断方法</a:t>
                </a:r>
                <a:r>
                  <a:rPr lang="en-US" altLang="zh-CN" b="1" kern="100" dirty="0">
                    <a:latin typeface="+mn-ea"/>
                    <a:cs typeface="宋体" panose="02010600030101010101" pitchFamily="2" charset="-122"/>
                  </a:rPr>
                  <a:t>(</a:t>
                </a:r>
                <a:r>
                  <a:rPr lang="en-US" b="1" kern="0" dirty="0">
                    <a:effectLst/>
                    <a:latin typeface="+mn-ea"/>
                    <a:cs typeface="宋体" panose="02010600030101010101" pitchFamily="2" charset="-122"/>
                  </a:rPr>
                  <a:t>(</a:t>
                </a:r>
                <a:r>
                  <a:rPr lang="en-US" b="1" kern="0" dirty="0" err="1">
                    <a:effectLst/>
                    <a:latin typeface="+mn-ea"/>
                    <a:cs typeface="宋体" panose="02010600030101010101" pitchFamily="2" charset="-122"/>
                  </a:rPr>
                  <a:t>r</a:t>
                </a:r>
                <a:r>
                  <a:rPr lang="en-US" b="1" kern="0" baseline="-25000" dirty="0" err="1">
                    <a:effectLst/>
                    <a:latin typeface="+mn-ea"/>
                    <a:cs typeface="宋体" panose="02010600030101010101" pitchFamily="2" charset="-122"/>
                  </a:rPr>
                  <a:t>ij</a:t>
                </a:r>
                <a:r>
                  <a:rPr lang="en-US" b="1" kern="0" dirty="0">
                    <a:effectLst/>
                    <a:latin typeface="+mn-ea"/>
                    <a:cs typeface="宋体" panose="02010600030101010101" pitchFamily="2" charset="-122"/>
                  </a:rPr>
                  <a:t>)</a:t>
                </a:r>
                <a:r>
                  <a:rPr lang="en-US" b="1" kern="0" baseline="-25000" dirty="0">
                    <a:effectLst/>
                    <a:latin typeface="+mn-ea"/>
                    <a:cs typeface="宋体" panose="02010600030101010101" pitchFamily="2" charset="-122"/>
                  </a:rPr>
                  <a:t>n</a:t>
                </a:r>
                <a:r>
                  <a:rPr lang="zh-CN" b="1" kern="0" baseline="-25000" dirty="0">
                    <a:effectLst/>
                    <a:latin typeface="+mn-ea"/>
                    <a:cs typeface="宋体" panose="02010600030101010101" pitchFamily="2" charset="-122"/>
                  </a:rPr>
                  <a:t>×</a:t>
                </a:r>
                <a:r>
                  <a:rPr lang="en-US" b="1" kern="0" baseline="-25000" dirty="0">
                    <a:effectLst/>
                    <a:latin typeface="+mn-ea"/>
                    <a:cs typeface="宋体" panose="02010600030101010101" pitchFamily="2" charset="-122"/>
                  </a:rPr>
                  <a:t>n</a:t>
                </a:r>
                <a:r>
                  <a:rPr lang="zh-CN" b="1" kern="0" dirty="0">
                    <a:effectLst/>
                    <a:latin typeface="+mn-ea"/>
                    <a:cs typeface="宋体" panose="02010600030101010101" pitchFamily="2" charset="-122"/>
                  </a:rPr>
                  <a:t>是</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的关系矩阵</a:t>
                </a:r>
                <a:r>
                  <a:rPr lang="en-US" altLang="zh-CN" b="1" kern="100" dirty="0">
                    <a:effectLst/>
                    <a:latin typeface="+mn-ea"/>
                    <a:cs typeface="宋体" panose="02010600030101010101" pitchFamily="2" charset="-122"/>
                  </a:rPr>
                  <a:t>)</a:t>
                </a:r>
                <a:r>
                  <a:rPr lang="zh-CN" b="1" kern="100" dirty="0">
                    <a:effectLst/>
                    <a:latin typeface="+mn-ea"/>
                    <a:cs typeface="宋体" panose="02010600030101010101" pitchFamily="2" charset="-122"/>
                  </a:rPr>
                  <a:t>，则</a:t>
                </a:r>
                <a:endParaRPr lang="zh-CN" b="1" kern="100" dirty="0">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是自反</a:t>
                </a:r>
                <a:r>
                  <a:rPr lang="zh-CN" b="1" kern="0" dirty="0">
                    <a:solidFill>
                      <a:schemeClr val="tx1"/>
                    </a:solidFill>
                    <a:effectLst/>
                    <a:latin typeface="+mn-ea"/>
                    <a:cs typeface="宋体" panose="02010600030101010101" pitchFamily="2" charset="-122"/>
                  </a:rPr>
                  <a:t>的</a:t>
                </a:r>
                <a:r>
                  <a:rPr lang="en-US" altLang="zh-CN" b="1" dirty="0">
                    <a:solidFill>
                      <a:schemeClr val="tx1"/>
                    </a:solidFill>
                    <a:latin typeface="+mn-ea"/>
                    <a:sym typeface="Symbol" panose="05050102010706020507" pitchFamily="18" charset="2"/>
                  </a:rPr>
                  <a:t></a:t>
                </a:r>
                <a:r>
                  <a:rPr lang="en-US" b="1" kern="100" dirty="0">
                    <a:solidFill>
                      <a:schemeClr val="tx1"/>
                    </a:solidFill>
                    <a:effectLst/>
                    <a:latin typeface="+mn-ea"/>
                    <a:cs typeface="宋体" panose="02010600030101010101" pitchFamily="2" charset="-122"/>
                  </a:rPr>
                  <a:t> </a:t>
                </a:r>
                <a14:m>
                  <m:oMath xmlns:m="http://schemas.openxmlformats.org/officeDocument/2006/math">
                    <m:r>
                      <a:rPr lang="es-ES" altLang="zh-CN" i="1">
                        <a:solidFill>
                          <a:schemeClr val="tx1"/>
                        </a:solidFill>
                        <a:latin typeface="Cambria Math" panose="02040503050406030204" pitchFamily="18" charset="0"/>
                      </a:rPr>
                      <m:t>∀</m:t>
                    </m:r>
                  </m:oMath>
                </a14:m>
                <a:r>
                  <a:rPr lang="en-US" b="1" kern="100" dirty="0" err="1">
                    <a:solidFill>
                      <a:schemeClr val="tx1"/>
                    </a:solidFill>
                    <a:effectLst/>
                    <a:latin typeface="+mn-ea"/>
                    <a:cs typeface="宋体" panose="02010600030101010101" pitchFamily="2" charset="-122"/>
                  </a:rPr>
                  <a:t>i</a:t>
                </a:r>
                <a14:m>
                  <m:oMath xmlns:m="http://schemas.openxmlformats.org/officeDocument/2006/math">
                    <m:r>
                      <a:rPr lang="es-ES" altLang="zh-CN" i="1">
                        <a:solidFill>
                          <a:schemeClr val="tx1"/>
                        </a:solidFill>
                        <a:latin typeface="Cambria Math" panose="02040503050406030204" pitchFamily="18" charset="0"/>
                      </a:rPr>
                      <m:t>∀</m:t>
                    </m:r>
                  </m:oMath>
                </a14:m>
                <a:r>
                  <a:rPr lang="en-US" b="1" kern="100" dirty="0">
                    <a:solidFill>
                      <a:schemeClr val="tx1"/>
                    </a:solidFill>
                    <a:effectLst/>
                    <a:latin typeface="+mn-ea"/>
                    <a:cs typeface="宋体" panose="02010600030101010101" pitchFamily="2" charset="-122"/>
                  </a:rPr>
                  <a:t>j</a:t>
                </a:r>
                <a:r>
                  <a:rPr lang="en-US" b="1" kern="0" dirty="0">
                    <a:solidFill>
                      <a:schemeClr val="tx1"/>
                    </a:solidFill>
                    <a:effectLst/>
                    <a:latin typeface="+mn-ea"/>
                    <a:cs typeface="宋体" panose="02010600030101010101" pitchFamily="2" charset="-122"/>
                  </a:rPr>
                  <a:t>(</a:t>
                </a:r>
                <a:r>
                  <a:rPr lang="en-US" b="1" kern="0" dirty="0" err="1">
                    <a:effectLst/>
                    <a:latin typeface="+mn-ea"/>
                    <a:cs typeface="宋体" panose="02010600030101010101" pitchFamily="2" charset="-122"/>
                  </a:rPr>
                  <a:t>i</a:t>
                </a:r>
                <a:r>
                  <a:rPr lang="en-US" b="1" kern="0" dirty="0">
                    <a:effectLst/>
                    <a:latin typeface="+mn-ea"/>
                    <a:cs typeface="宋体" panose="02010600030101010101" pitchFamily="2" charset="-122"/>
                  </a:rPr>
                  <a:t>=j</a:t>
                </a:r>
                <a:r>
                  <a:rPr lang="en-US" altLang="zh-CN" noProof="1">
                    <a:latin typeface="+mn-ea"/>
                  </a:rPr>
                  <a:t> →</a:t>
                </a:r>
                <a:r>
                  <a:rPr lang="en-US" b="1" kern="100" dirty="0">
                    <a:effectLst/>
                    <a:latin typeface="+mn-ea"/>
                    <a:cs typeface="宋体" panose="02010600030101010101" pitchFamily="2" charset="-122"/>
                  </a:rPr>
                  <a:t> </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是反自反的</a:t>
                </a:r>
                <a:r>
                  <a:rPr lang="en-US" altLang="zh-CN" b="1" dirty="0">
                    <a:latin typeface="+mn-ea"/>
                    <a:sym typeface="Symbol" panose="05050102010706020507" pitchFamily="18" charset="2"/>
                  </a:rPr>
                  <a:t> </a:t>
                </a:r>
                <a14:m>
                  <m:oMath xmlns:m="http://schemas.openxmlformats.org/officeDocument/2006/math">
                    <m:r>
                      <a:rPr lang="es-ES" altLang="zh-CN" i="1" smtClean="0">
                        <a:solidFill>
                          <a:schemeClr val="tx1"/>
                        </a:solidFill>
                        <a:latin typeface="Cambria Math" panose="02040503050406030204" pitchFamily="18" charset="0"/>
                      </a:rPr>
                      <m:t>∀</m:t>
                    </m:r>
                  </m:oMath>
                </a14:m>
                <a:r>
                  <a:rPr lang="en-US" b="1" kern="100" dirty="0" err="1">
                    <a:solidFill>
                      <a:schemeClr val="tx1"/>
                    </a:solidFill>
                    <a:effectLst/>
                    <a:latin typeface="+mn-ea"/>
                    <a:cs typeface="宋体" panose="02010600030101010101" pitchFamily="2" charset="-122"/>
                  </a:rPr>
                  <a:t>i</a:t>
                </a:r>
                <a14:m>
                  <m:oMath xmlns:m="http://schemas.openxmlformats.org/officeDocument/2006/math">
                    <m:r>
                      <a:rPr lang="es-ES" altLang="zh-CN" i="1">
                        <a:solidFill>
                          <a:schemeClr val="tx1"/>
                        </a:solidFill>
                        <a:latin typeface="Cambria Math" panose="02040503050406030204" pitchFamily="18" charset="0"/>
                      </a:rPr>
                      <m:t>∀</m:t>
                    </m:r>
                  </m:oMath>
                </a14:m>
                <a:r>
                  <a:rPr lang="en-US" b="1" kern="100" dirty="0">
                    <a:solidFill>
                      <a:schemeClr val="tx1"/>
                    </a:solidFill>
                    <a:effectLst/>
                    <a:latin typeface="+mn-ea"/>
                    <a:cs typeface="宋体" panose="02010600030101010101" pitchFamily="2" charset="-122"/>
                  </a:rPr>
                  <a:t>j</a:t>
                </a:r>
                <a:r>
                  <a:rPr lang="en-US" b="1" kern="0" dirty="0">
                    <a:solidFill>
                      <a:schemeClr val="tx1"/>
                    </a:solidFill>
                    <a:effectLst/>
                    <a:latin typeface="+mn-ea"/>
                    <a:cs typeface="宋体" panose="02010600030101010101" pitchFamily="2" charset="-122"/>
                  </a:rPr>
                  <a:t>(</a:t>
                </a:r>
                <a:r>
                  <a:rPr lang="en-US" b="1" kern="0" dirty="0" err="1">
                    <a:effectLst/>
                    <a:latin typeface="+mn-ea"/>
                    <a:cs typeface="宋体" panose="02010600030101010101" pitchFamily="2" charset="-122"/>
                  </a:rPr>
                  <a:t>i</a:t>
                </a:r>
                <a:r>
                  <a:rPr lang="en-US" b="1" kern="0" dirty="0">
                    <a:effectLst/>
                    <a:latin typeface="+mn-ea"/>
                    <a:cs typeface="宋体" panose="02010600030101010101" pitchFamily="2" charset="-122"/>
                  </a:rPr>
                  <a:t>=j</a:t>
                </a:r>
                <a:r>
                  <a:rPr lang="en-US" altLang="zh-CN" noProof="1">
                    <a:latin typeface="+mn-ea"/>
                  </a:rPr>
                  <a:t> →</a:t>
                </a:r>
                <a:r>
                  <a:rPr lang="en-US" b="1" kern="100" dirty="0">
                    <a:effectLst/>
                    <a:latin typeface="+mn-ea"/>
                    <a:cs typeface="宋体" panose="02010600030101010101" pitchFamily="2" charset="-122"/>
                  </a:rPr>
                  <a:t> </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en-US" b="1" kern="100" dirty="0">
                    <a:effectLst/>
                    <a:latin typeface="+mn-ea"/>
                    <a:cs typeface="宋体" panose="02010600030101010101" pitchFamily="2" charset="-122"/>
                  </a:rPr>
                  <a:t>=0)</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）关系</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不是自反的，也不是反自反的</a:t>
                </a:r>
                <a:r>
                  <a:rPr lang="en-US" altLang="zh-CN" b="1" dirty="0">
                    <a:latin typeface="+mn-ea"/>
                    <a:sym typeface="Symbol" panose="05050102010706020507" pitchFamily="18" charset="2"/>
                  </a:rPr>
                  <a:t> </a:t>
                </a:r>
                <a:r>
                  <a:rPr lang="en-US" altLang="zh-CN" dirty="0">
                    <a:latin typeface="+mn-ea"/>
                    <a:sym typeface="Symbol" panose="05050102010706020507" pitchFamily="18" charset="2"/>
                  </a:rPr>
                  <a:t></a:t>
                </a:r>
                <a:r>
                  <a:rPr lang="en-US" b="1" kern="100" dirty="0" err="1">
                    <a:effectLst/>
                    <a:latin typeface="+mn-ea"/>
                    <a:cs typeface="宋体" panose="02010600030101010101" pitchFamily="2" charset="-122"/>
                  </a:rPr>
                  <a:t>i</a:t>
                </a:r>
                <a:r>
                  <a:rPr lang="en-US" b="1" kern="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ii</a:t>
                </a:r>
                <a:r>
                  <a:rPr lang="en-US" b="1" kern="100" dirty="0">
                    <a:effectLst/>
                    <a:latin typeface="+mn-ea"/>
                    <a:cs typeface="宋体" panose="02010600030101010101" pitchFamily="2" charset="-122"/>
                  </a:rPr>
                  <a:t>=0)</a:t>
                </a:r>
                <a:r>
                  <a:rPr lang="zh-CN" b="1" kern="0" dirty="0">
                    <a:effectLst/>
                    <a:latin typeface="+mn-ea"/>
                    <a:cs typeface="宋体" panose="02010600030101010101" pitchFamily="2" charset="-122"/>
                  </a:rPr>
                  <a:t>∧</a:t>
                </a:r>
                <a:r>
                  <a:rPr lang="en-US" altLang="zh-CN" dirty="0">
                    <a:latin typeface="+mn-ea"/>
                    <a:sym typeface="Symbol" panose="05050102010706020507" pitchFamily="18" charset="2"/>
                  </a:rPr>
                  <a:t> </a:t>
                </a:r>
                <a:r>
                  <a:rPr lang="en-US" b="1" kern="100" dirty="0">
                    <a:effectLst/>
                    <a:latin typeface="+mn-ea"/>
                    <a:cs typeface="宋体" panose="02010600030101010101" pitchFamily="2" charset="-122"/>
                  </a:rPr>
                  <a:t>j</a:t>
                </a:r>
                <a:r>
                  <a:rPr lang="en-US" b="1" kern="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jj</a:t>
                </a:r>
                <a:r>
                  <a:rPr lang="en-US" b="1" kern="100" dirty="0">
                    <a:effectLst/>
                    <a:latin typeface="+mn-ea"/>
                    <a:cs typeface="宋体" panose="02010600030101010101" pitchFamily="2" charset="-122"/>
                  </a:rPr>
                  <a:t>=1)=1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p:txBody>
          </p:sp>
        </mc:Choice>
        <mc:Fallback>
          <p:sp>
            <p:nvSpPr>
              <p:cNvPr id="4" name="Text Box 556"/>
              <p:cNvSpPr txBox="1">
                <a:spLocks noRot="1" noChangeAspect="1" noMove="1" noResize="1" noEditPoints="1" noAdjustHandles="1" noChangeArrowheads="1" noChangeShapeType="1" noTextEdit="1"/>
              </p:cNvSpPr>
              <p:nvPr/>
            </p:nvSpPr>
            <p:spPr bwMode="auto">
              <a:xfrm>
                <a:off x="277812" y="963674"/>
                <a:ext cx="11661775" cy="2466120"/>
              </a:xfrm>
              <a:prstGeom prst="rect">
                <a:avLst/>
              </a:prstGeom>
              <a:blipFill rotWithShape="1">
                <a:blip r:embed="rId1"/>
                <a:stretch>
                  <a:fillRect l="-46" t="-196" r="-35" b="-174"/>
                </a:stretch>
              </a:blipFill>
              <a:ln w="9525">
                <a:solidFill>
                  <a:srgbClr val="000000"/>
                </a:solidFill>
                <a:miter lim="800000"/>
              </a:ln>
            </p:spPr>
            <p:txBody>
              <a:bodyPr/>
              <a:lstStyle/>
              <a:p>
                <a:r>
                  <a:rPr lang="zh-CN" altLang="en-US">
                    <a:noFill/>
                  </a:rPr>
                  <a:t> </a:t>
                </a:r>
              </a:p>
            </p:txBody>
          </p:sp>
        </mc:Fallback>
      </mc:AlternateContent>
      <p:sp>
        <p:nvSpPr>
          <p:cNvPr id="5" name="Text Box 556"/>
          <p:cNvSpPr txBox="1">
            <a:spLocks noChangeArrowheads="1"/>
          </p:cNvSpPr>
          <p:nvPr/>
        </p:nvSpPr>
        <p:spPr bwMode="auto">
          <a:xfrm>
            <a:off x="277811" y="3639634"/>
            <a:ext cx="11661775" cy="2896394"/>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自反性和反自反性的关系图表示判断方法</a:t>
            </a:r>
            <a:r>
              <a:rPr lang="en-US" altLang="zh-CN" b="1" kern="100" dirty="0">
                <a:latin typeface="+mn-ea"/>
                <a:cs typeface="宋体" panose="02010600030101010101" pitchFamily="2" charset="-12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是</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的关系图</a:t>
            </a:r>
            <a:r>
              <a:rPr lang="en-US" altLang="zh-CN" b="1" kern="100" dirty="0">
                <a:effectLst/>
                <a:latin typeface="+mn-ea"/>
                <a:cs typeface="宋体" panose="02010600030101010101" pitchFamily="2" charset="-122"/>
              </a:rPr>
              <a:t>)</a:t>
            </a:r>
            <a:r>
              <a:rPr lang="zh-CN" b="1" kern="100" dirty="0">
                <a:effectLst/>
                <a:latin typeface="+mn-ea"/>
                <a:cs typeface="宋体" panose="02010600030101010101" pitchFamily="2" charset="-122"/>
              </a:rPr>
              <a:t>，则</a:t>
            </a:r>
            <a:endParaRPr lang="zh-CN" b="1" kern="100" dirty="0">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是自反的</a:t>
            </a:r>
            <a:r>
              <a:rPr lang="en-US" altLang="zh-CN" b="1" dirty="0">
                <a:latin typeface="+mn-ea"/>
                <a:sym typeface="Symbol" panose="05050102010706020507" pitchFamily="18" charset="2"/>
              </a:rPr>
              <a:t></a:t>
            </a:r>
            <a:r>
              <a:rPr lang="en-US" b="1" kern="100" dirty="0">
                <a:effectLst/>
                <a:latin typeface="+mn-ea"/>
                <a:cs typeface="宋体" panose="02010600030101010101" pitchFamily="2" charset="-122"/>
              </a:rPr>
              <a:t> 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中每个结点都有自环。</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是反自反的</a:t>
            </a:r>
            <a:r>
              <a:rPr lang="en-US" altLang="zh-CN" b="1" dirty="0">
                <a:latin typeface="+mn-ea"/>
                <a:sym typeface="Symbol" panose="05050102010706020507" pitchFamily="18" charset="2"/>
              </a:rPr>
              <a:t></a:t>
            </a:r>
            <a:r>
              <a:rPr lang="en-US" b="1" kern="100" dirty="0">
                <a:effectLst/>
                <a:latin typeface="+mn-ea"/>
                <a:cs typeface="宋体" panose="02010600030101010101" pitchFamily="2" charset="-122"/>
              </a:rPr>
              <a:t> 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中每个结点都没有自环。</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）关系</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既不是自反的，也不是反自反的</a:t>
            </a:r>
            <a:endParaRPr lang="zh-CN" b="1" kern="100" dirty="0">
              <a:effectLst/>
              <a:latin typeface="+mn-ea"/>
              <a:cs typeface="宋体" panose="02010600030101010101" pitchFamily="2" charset="-122"/>
            </a:endParaRPr>
          </a:p>
          <a:p>
            <a:pPr marL="53340" indent="266700" algn="just">
              <a:lnSpc>
                <a:spcPct val="150000"/>
              </a:lnSpc>
              <a:spcAft>
                <a:spcPts val="0"/>
              </a:spcAft>
            </a:pPr>
            <a:r>
              <a:rPr lang="en-US" altLang="zh-CN" b="1" dirty="0">
                <a:latin typeface="+mn-ea"/>
                <a:sym typeface="Symbol" panose="05050102010706020507" pitchFamily="18" charset="2"/>
              </a:rPr>
              <a:t> </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中同时存在有自环的结点与没有自环的结点。</a:t>
            </a:r>
            <a:endParaRPr lang="zh-CN" b="1" kern="100" dirty="0">
              <a:effectLst/>
              <a:latin typeface="+mn-ea"/>
              <a:cs typeface="宋体" panose="02010600030101010101"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Rectangle 2"/>
          <p:cNvSpPr>
            <a:spLocks noGrp="1" noChangeArrowheads="1"/>
          </p:cNvSpPr>
          <p:nvPr>
            <p:ph type="title"/>
          </p:nvPr>
        </p:nvSpPr>
        <p:spPr>
          <a:xfrm>
            <a:off x="794881" y="260390"/>
            <a:ext cx="8066367" cy="585923"/>
          </a:xfrm>
        </p:spPr>
        <p:txBody>
          <a:bodyPr/>
          <a:lstStyle/>
          <a:p>
            <a:pPr eaLnBrk="1" hangingPunct="1"/>
            <a:r>
              <a:rPr lang="en-US" altLang="zh-CN" dirty="0"/>
              <a:t>2</a:t>
            </a:r>
            <a:r>
              <a:rPr lang="zh-CN" altLang="en-US" dirty="0"/>
              <a:t>、对称性和反对称性</a:t>
            </a:r>
            <a:endParaRPr lang="zh-CN" altLang="en-US" dirty="0"/>
          </a:p>
        </p:txBody>
      </p:sp>
      <mc:AlternateContent xmlns:mc="http://schemas.openxmlformats.org/markup-compatibility/2006">
        <mc:Choice xmlns:a14="http://schemas.microsoft.com/office/drawing/2010/main" Requires="a14">
          <p:sp>
            <p:nvSpPr>
              <p:cNvPr id="210948" name="Rectangle 3"/>
              <p:cNvSpPr>
                <a:spLocks noGrp="1" noChangeArrowheads="1"/>
              </p:cNvSpPr>
              <p:nvPr>
                <p:ph type="body" idx="1"/>
              </p:nvPr>
            </p:nvSpPr>
            <p:spPr>
              <a:xfrm>
                <a:off x="460375" y="1295701"/>
                <a:ext cx="11506199" cy="4420094"/>
              </a:xfrm>
            </p:spPr>
            <p:txBody>
              <a:bodyPr>
                <a:normAutofit/>
              </a:bodyPr>
              <a:lstStyle/>
              <a:p>
                <a:pPr marL="533400" indent="-533400">
                  <a:lnSpc>
                    <a:spcPct val="150000"/>
                  </a:lnSpc>
                  <a:buNone/>
                </a:pPr>
                <a:r>
                  <a:rPr lang="zh-CN" altLang="en-US" dirty="0">
                    <a:solidFill>
                      <a:srgbClr val="C00000"/>
                    </a:solidFill>
                  </a:rPr>
                  <a:t>定义</a:t>
                </a:r>
                <a:r>
                  <a:rPr lang="en-US" altLang="zh-CN" dirty="0">
                    <a:solidFill>
                      <a:srgbClr val="C00000"/>
                    </a:solidFill>
                  </a:rPr>
                  <a:t>4.12 </a:t>
                </a:r>
                <a:r>
                  <a:rPr lang="zh-CN" altLang="en-US" dirty="0"/>
                  <a:t>设</a:t>
                </a:r>
                <a:r>
                  <a:rPr lang="en-US" altLang="zh-CN" dirty="0"/>
                  <a:t>R</a:t>
                </a:r>
                <a:r>
                  <a:rPr lang="zh-CN" altLang="en-US" dirty="0"/>
                  <a:t>是非空集合</a:t>
                </a:r>
                <a:r>
                  <a:rPr lang="en-US" altLang="zh-CN" dirty="0"/>
                  <a:t>A</a:t>
                </a:r>
                <a:r>
                  <a:rPr lang="zh-CN" altLang="en-US" dirty="0"/>
                  <a:t>上的关系。</a:t>
                </a:r>
                <a:endParaRPr lang="zh-CN" altLang="en-US" dirty="0"/>
              </a:p>
              <a:p>
                <a:pPr marL="0" indent="0">
                  <a:lnSpc>
                    <a:spcPct val="150000"/>
                  </a:lnSpc>
                  <a:buClr>
                    <a:srgbClr val="800080"/>
                  </a:buClr>
                  <a:buNone/>
                </a:pPr>
                <a:r>
                  <a:rPr lang="zh-CN" altLang="en-US" dirty="0"/>
                  <a:t>（</a:t>
                </a:r>
                <a:r>
                  <a:rPr lang="en-US" altLang="zh-CN" dirty="0"/>
                  <a:t>1</a:t>
                </a:r>
                <a:r>
                  <a:rPr lang="zh-CN" altLang="en-US" dirty="0"/>
                  <a:t>）</a:t>
                </a:r>
                <a:r>
                  <a:rPr lang="zh-CN" altLang="en-US" dirty="0">
                    <a:solidFill>
                      <a:srgbClr val="3333FF"/>
                    </a:solidFill>
                  </a:rPr>
                  <a:t>如果</a:t>
                </a:r>
                <a14:m>
                  <m:oMath xmlns:m="http://schemas.openxmlformats.org/officeDocument/2006/math">
                    <m:r>
                      <a:rPr lang="es-ES" altLang="zh-CN" i="1">
                        <a:solidFill>
                          <a:srgbClr val="3333FF"/>
                        </a:solidFill>
                        <a:latin typeface="Cambria Math" panose="02040503050406030204" pitchFamily="18" charset="0"/>
                        <a:ea typeface="Cambria Math" panose="02040503050406030204" pitchFamily="18" charset="0"/>
                      </a:rPr>
                      <m:t>∀</m:t>
                    </m:r>
                  </m:oMath>
                </a14:m>
                <a:r>
                  <a:rPr lang="es-ES" altLang="zh-CN" dirty="0">
                    <a:solidFill>
                      <a:srgbClr val="3333FF"/>
                    </a:solidFill>
                  </a:rPr>
                  <a:t>x</a:t>
                </a:r>
                <a14:m>
                  <m:oMath xmlns:m="http://schemas.openxmlformats.org/officeDocument/2006/math">
                    <m:r>
                      <a:rPr lang="es-ES" altLang="zh-CN" i="1">
                        <a:solidFill>
                          <a:srgbClr val="3333FF"/>
                        </a:solidFill>
                        <a:latin typeface="Cambria Math" panose="02040503050406030204" pitchFamily="18" charset="0"/>
                        <a:ea typeface="Cambria Math" panose="02040503050406030204" pitchFamily="18" charset="0"/>
                      </a:rPr>
                      <m:t>∀</m:t>
                    </m:r>
                  </m:oMath>
                </a14:m>
                <a:r>
                  <a:rPr lang="es-ES" altLang="zh-CN" dirty="0">
                    <a:solidFill>
                      <a:srgbClr val="3333FF"/>
                    </a:solidFill>
                  </a:rPr>
                  <a:t>y(x∈A∧y∈A∧&lt;x,y&gt;∈R</a:t>
                </a:r>
                <a:r>
                  <a:rPr lang="zh-CN" altLang="en-US" dirty="0">
                    <a:solidFill>
                      <a:srgbClr val="3333FF"/>
                    </a:solidFill>
                    <a:latin typeface="Times New Roman" panose="02020603050405020304" pitchFamily="18" charset="0"/>
                    <a:cs typeface="Times New Roman" panose="02020603050405020304" pitchFamily="18" charset="0"/>
                  </a:rPr>
                  <a:t>→</a:t>
                </a:r>
                <a:r>
                  <a:rPr lang="es-ES" altLang="zh-CN" dirty="0">
                    <a:solidFill>
                      <a:srgbClr val="3333FF"/>
                    </a:solidFill>
                  </a:rPr>
                  <a:t>&lt;y,x&gt;∈R)=1</a:t>
                </a:r>
                <a:r>
                  <a:rPr lang="zh-CN" altLang="es-ES" dirty="0">
                    <a:solidFill>
                      <a:srgbClr val="0000CC"/>
                    </a:solidFill>
                  </a:rPr>
                  <a:t>，</a:t>
                </a:r>
                <a:r>
                  <a:rPr lang="zh-CN" altLang="en-US" dirty="0"/>
                  <a:t>则称关系</a:t>
                </a:r>
                <a:r>
                  <a:rPr lang="en-US" altLang="zh-CN" dirty="0"/>
                  <a:t>R</a:t>
                </a:r>
                <a:r>
                  <a:rPr lang="zh-CN" altLang="en-US" dirty="0"/>
                  <a:t>是</a:t>
                </a:r>
                <a:r>
                  <a:rPr lang="zh-CN" altLang="en-US" dirty="0">
                    <a:solidFill>
                      <a:srgbClr val="FF0000"/>
                    </a:solidFill>
                  </a:rPr>
                  <a:t>对称的</a:t>
                </a:r>
                <a:r>
                  <a:rPr lang="en-US" altLang="zh-CN" dirty="0"/>
                  <a:t>(Symmetric)</a:t>
                </a:r>
                <a:r>
                  <a:rPr lang="zh-CN" altLang="en-US" dirty="0"/>
                  <a:t>，或称</a:t>
                </a:r>
                <a:r>
                  <a:rPr lang="en-US" altLang="zh-CN" dirty="0"/>
                  <a:t>R</a:t>
                </a:r>
                <a:r>
                  <a:rPr lang="zh-CN" altLang="en-US" dirty="0"/>
                  <a:t>具有</a:t>
                </a:r>
                <a:r>
                  <a:rPr lang="zh-CN" altLang="en-US" dirty="0">
                    <a:solidFill>
                      <a:srgbClr val="FF0000"/>
                    </a:solidFill>
                  </a:rPr>
                  <a:t>对称性</a:t>
                </a:r>
                <a:r>
                  <a:rPr lang="en-US" altLang="zh-CN" dirty="0"/>
                  <a:t>(Symmetry)</a:t>
                </a:r>
                <a:r>
                  <a:rPr lang="zh-CN" altLang="en-US" dirty="0"/>
                  <a:t>。</a:t>
                </a:r>
                <a:endParaRPr lang="en-US" altLang="zh-CN" dirty="0"/>
              </a:p>
              <a:p>
                <a:pPr marL="0" indent="0">
                  <a:lnSpc>
                    <a:spcPct val="150000"/>
                  </a:lnSpc>
                  <a:buClr>
                    <a:srgbClr val="800080"/>
                  </a:buClr>
                  <a:buNone/>
                </a:pPr>
                <a:r>
                  <a:rPr lang="zh-CN" altLang="en-US" dirty="0"/>
                  <a:t>        </a:t>
                </a:r>
                <a:endParaRPr lang="zh-CN" altLang="en-US" dirty="0"/>
              </a:p>
              <a:p>
                <a:pPr marL="0" indent="0">
                  <a:lnSpc>
                    <a:spcPct val="150000"/>
                  </a:lnSpc>
                  <a:buClr>
                    <a:srgbClr val="800080"/>
                  </a:buClr>
                  <a:buNone/>
                </a:pPr>
                <a:r>
                  <a:rPr lang="zh-CN" altLang="en-US" dirty="0"/>
                  <a:t>（</a:t>
                </a:r>
                <a:r>
                  <a:rPr lang="en-US" altLang="zh-CN" dirty="0"/>
                  <a:t>2</a:t>
                </a:r>
                <a:r>
                  <a:rPr lang="zh-CN" altLang="en-US" dirty="0"/>
                  <a:t>）</a:t>
                </a:r>
                <a:r>
                  <a:rPr lang="zh-CN" altLang="en-US" dirty="0">
                    <a:solidFill>
                      <a:srgbClr val="0000CC"/>
                    </a:solidFill>
                  </a:rPr>
                  <a:t>如果</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s-ES" altLang="zh-CN" dirty="0">
                    <a:solidFill>
                      <a:srgbClr val="0000CC"/>
                    </a:solidFill>
                  </a:rPr>
                  <a:t>x</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s-ES" altLang="zh-CN" dirty="0">
                    <a:solidFill>
                      <a:srgbClr val="0000CC"/>
                    </a:solidFill>
                  </a:rPr>
                  <a:t>y(x∈A∧y∈A∧(&lt;x,y&gt;∈R∧&lt;y,x&gt;∈R)</a:t>
                </a:r>
                <a:r>
                  <a:rPr lang="zh-CN" altLang="en-US" dirty="0">
                    <a:latin typeface="Times New Roman" panose="02020603050405020304" pitchFamily="18" charset="0"/>
                    <a:cs typeface="Times New Roman" panose="02020603050405020304" pitchFamily="18" charset="0"/>
                  </a:rPr>
                  <a:t>→</a:t>
                </a:r>
                <a:r>
                  <a:rPr lang="es-ES" altLang="zh-CN" dirty="0">
                    <a:solidFill>
                      <a:srgbClr val="0000CC"/>
                    </a:solidFill>
                  </a:rPr>
                  <a:t> x=y)=1</a:t>
                </a:r>
                <a:r>
                  <a:rPr lang="zh-CN" altLang="es-ES" dirty="0">
                    <a:solidFill>
                      <a:srgbClr val="0000CC"/>
                    </a:solidFill>
                  </a:rPr>
                  <a:t>，</a:t>
                </a:r>
                <a:r>
                  <a:rPr lang="zh-CN" altLang="en-US" dirty="0"/>
                  <a:t>则称关系</a:t>
                </a:r>
                <a:r>
                  <a:rPr lang="en-US" altLang="zh-CN" dirty="0"/>
                  <a:t>R</a:t>
                </a:r>
                <a:r>
                  <a:rPr lang="zh-CN" altLang="en-US" dirty="0"/>
                  <a:t>是</a:t>
                </a:r>
                <a:r>
                  <a:rPr lang="zh-CN" altLang="en-US" dirty="0">
                    <a:solidFill>
                      <a:srgbClr val="FF0000"/>
                    </a:solidFill>
                  </a:rPr>
                  <a:t>反对称的</a:t>
                </a:r>
                <a:r>
                  <a:rPr lang="en-US" altLang="zh-CN" dirty="0"/>
                  <a:t>(Antisymmetric)</a:t>
                </a:r>
                <a:r>
                  <a:rPr lang="zh-CN" altLang="en-US" dirty="0"/>
                  <a:t>，或称</a:t>
                </a:r>
                <a:r>
                  <a:rPr lang="en-US" altLang="zh-CN" dirty="0"/>
                  <a:t>R</a:t>
                </a:r>
                <a:r>
                  <a:rPr lang="zh-CN" altLang="en-US" dirty="0"/>
                  <a:t>具有</a:t>
                </a:r>
                <a:r>
                  <a:rPr lang="zh-CN" altLang="en-US" dirty="0">
                    <a:solidFill>
                      <a:srgbClr val="FF0000"/>
                    </a:solidFill>
                  </a:rPr>
                  <a:t>反对称性</a:t>
                </a:r>
                <a:r>
                  <a:rPr lang="en-US" altLang="zh-CN" dirty="0"/>
                  <a:t>(</a:t>
                </a:r>
                <a:r>
                  <a:rPr lang="en-US" altLang="zh-CN" dirty="0" err="1"/>
                  <a:t>Antisymmetry</a:t>
                </a:r>
                <a:r>
                  <a:rPr lang="en-US" altLang="zh-CN" dirty="0"/>
                  <a:t>)</a:t>
                </a:r>
                <a:r>
                  <a:rPr lang="zh-CN" altLang="en-US" dirty="0"/>
                  <a:t>。</a:t>
                </a:r>
                <a:endParaRPr lang="en-US" altLang="zh-CN" dirty="0"/>
              </a:p>
              <a:p>
                <a:pPr marL="0" indent="0">
                  <a:lnSpc>
                    <a:spcPct val="150000"/>
                  </a:lnSpc>
                  <a:buClr>
                    <a:srgbClr val="800080"/>
                  </a:buClr>
                  <a:buNone/>
                </a:pPr>
                <a:r>
                  <a:rPr lang="zh-CN" altLang="en-US" dirty="0"/>
                  <a:t>        </a:t>
                </a:r>
                <a:endParaRPr lang="zh-CN" altLang="zh-CN" dirty="0"/>
              </a:p>
              <a:p>
                <a:pPr marL="0" indent="0">
                  <a:lnSpc>
                    <a:spcPct val="150000"/>
                  </a:lnSpc>
                  <a:buClr>
                    <a:srgbClr val="800080"/>
                  </a:buClr>
                  <a:buNone/>
                </a:pPr>
                <a:endParaRPr lang="zh-CN" altLang="en-US" dirty="0"/>
              </a:p>
            </p:txBody>
          </p:sp>
        </mc:Choice>
        <mc:Fallback>
          <p:sp>
            <p:nvSpPr>
              <p:cNvPr id="210948" name="Rectangle 3"/>
              <p:cNvSpPr>
                <a:spLocks noRot="1" noChangeAspect="1" noMove="1" noResize="1" noEditPoints="1" noAdjustHandles="1" noChangeArrowheads="1" noChangeShapeType="1" noTextEdit="1"/>
              </p:cNvSpPr>
              <p:nvPr>
                <p:ph type="body" idx="1"/>
              </p:nvPr>
            </p:nvSpPr>
            <p:spPr>
              <a:xfrm>
                <a:off x="460375" y="1295701"/>
                <a:ext cx="11506199" cy="4420094"/>
              </a:xfrm>
              <a:blipFill rotWithShape="1">
                <a:blip r:embed="rId1"/>
                <a:stretch>
                  <a:fillRect t="-7" r="6" b="-657"/>
                </a:stretch>
              </a:blipFill>
            </p:spPr>
            <p:txBody>
              <a:bodyPr/>
              <a:lstStyle/>
              <a:p>
                <a:r>
                  <a:rPr lang="zh-CN" altLang="en-US">
                    <a:noFill/>
                  </a:rPr>
                  <a:t> </a:t>
                </a:r>
              </a:p>
            </p:txBody>
          </p:sp>
        </mc:Fallback>
      </mc:AlternateContent>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10948">
                                            <p:txEl>
                                              <p:pRg st="2" end="2"/>
                                            </p:txEl>
                                          </p:spTgt>
                                        </p:tgtEl>
                                        <p:attrNameLst>
                                          <p:attrName>style.visibility</p:attrName>
                                        </p:attrNameLst>
                                      </p:cBhvr>
                                      <p:to>
                                        <p:strVal val="visible"/>
                                      </p:to>
                                    </p:set>
                                    <p:animEffect transition="in" filter="circle(in)">
                                      <p:cBhvr>
                                        <p:cTn id="7" dur="2000"/>
                                        <p:tgtEl>
                                          <p:spTgt spid="21094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10948">
                                            <p:txEl>
                                              <p:pRg st="3" end="3"/>
                                            </p:txEl>
                                          </p:spTgt>
                                        </p:tgtEl>
                                        <p:attrNameLst>
                                          <p:attrName>style.visibility</p:attrName>
                                        </p:attrNameLst>
                                      </p:cBhvr>
                                      <p:to>
                                        <p:strVal val="visible"/>
                                      </p:to>
                                    </p:set>
                                    <p:animEffect transition="in" filter="wheel(1)">
                                      <p:cBhvr>
                                        <p:cTn id="12" dur="2000"/>
                                        <p:tgtEl>
                                          <p:spTgt spid="21094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10948">
                                            <p:txEl>
                                              <p:pRg st="4" end="4"/>
                                            </p:txEl>
                                          </p:spTgt>
                                        </p:tgtEl>
                                        <p:attrNameLst>
                                          <p:attrName>style.visibility</p:attrName>
                                        </p:attrNameLst>
                                      </p:cBhvr>
                                      <p:to>
                                        <p:strVal val="visible"/>
                                      </p:to>
                                    </p:set>
                                    <p:animEffect transition="in" filter="wheel(1)">
                                      <p:cBhvr>
                                        <p:cTn id="17" dur="2000"/>
                                        <p:tgtEl>
                                          <p:spTgt spid="2109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endParaRPr lang="zh-CN" altLang="en-US" dirty="0"/>
          </a:p>
        </p:txBody>
      </p:sp>
      <mc:AlternateContent xmlns:mc="http://schemas.openxmlformats.org/markup-compatibility/2006">
        <mc:Choice xmlns:a14="http://schemas.microsoft.com/office/drawing/2010/main" Requires="a14">
          <p:sp>
            <p:nvSpPr>
              <p:cNvPr id="6" name="Text Box 556"/>
              <p:cNvSpPr txBox="1">
                <a:spLocks noChangeArrowheads="1"/>
              </p:cNvSpPr>
              <p:nvPr/>
            </p:nvSpPr>
            <p:spPr bwMode="auto">
              <a:xfrm>
                <a:off x="384175" y="1296194"/>
                <a:ext cx="11582400" cy="5029200"/>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3333FF"/>
                    </a:solidFill>
                    <a:effectLst/>
                    <a:latin typeface="+mn-ea"/>
                    <a:cs typeface="宋体" panose="02010600030101010101" pitchFamily="2" charset="-122"/>
                  </a:rPr>
                  <a:t>解题小贴士—</a:t>
                </a:r>
                <a:r>
                  <a:rPr lang="zh-CN" altLang="en-US" b="1" dirty="0">
                    <a:solidFill>
                      <a:srgbClr val="3333FF"/>
                    </a:solidFill>
                    <a:latin typeface="+mn-ea"/>
                  </a:rPr>
                  <a:t>对称性和反对称性的</a:t>
                </a:r>
                <a:r>
                  <a:rPr lang="zh-CN" altLang="zh-CN" b="1" dirty="0">
                    <a:solidFill>
                      <a:srgbClr val="3333FF"/>
                    </a:solidFill>
                    <a:latin typeface="+mn-ea"/>
                  </a:rPr>
                  <a:t>集合表示判断方法</a:t>
                </a:r>
                <a:endParaRPr lang="en-US" altLang="zh-CN" b="1" dirty="0">
                  <a:solidFill>
                    <a:srgbClr val="3333FF"/>
                  </a:solidFill>
                  <a:latin typeface="+mn-ea"/>
                </a:endParaRPr>
              </a:p>
              <a:p>
                <a:pPr algn="just">
                  <a:lnSpc>
                    <a:spcPct val="150000"/>
                  </a:lnSpc>
                  <a:spcAft>
                    <a:spcPts val="0"/>
                  </a:spcAft>
                </a:pP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是非空集合</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上的关系，则</a:t>
                </a:r>
                <a:endParaRPr lang="zh-CN" b="1" kern="100" dirty="0">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solidFill>
                      <a:srgbClr val="C00000"/>
                    </a:solidFill>
                    <a:effectLst/>
                    <a:latin typeface="+mn-ea"/>
                    <a:cs typeface="宋体" panose="02010600030101010101" pitchFamily="2" charset="-122"/>
                  </a:rPr>
                  <a:t>R</a:t>
                </a:r>
                <a:r>
                  <a:rPr lang="zh-CN" b="1" kern="0" dirty="0">
                    <a:solidFill>
                      <a:srgbClr val="C00000"/>
                    </a:solidFill>
                    <a:effectLst/>
                    <a:latin typeface="+mn-ea"/>
                    <a:cs typeface="宋体" panose="02010600030101010101" pitchFamily="2" charset="-122"/>
                  </a:rPr>
                  <a:t>是对称的</a:t>
                </a:r>
                <a:r>
                  <a:rPr lang="en-US" b="1" kern="100" dirty="0">
                    <a:solidFill>
                      <a:srgbClr val="C00000"/>
                    </a:solidFill>
                    <a:effectLst/>
                    <a:latin typeface="+mn-ea"/>
                    <a:cs typeface="宋体" panose="02010600030101010101" pitchFamily="2" charset="-122"/>
                  </a:rPr>
                  <a:t> </a:t>
                </a:r>
                <a:r>
                  <a:rPr lang="en-US" altLang="zh-CN" dirty="0">
                    <a:solidFill>
                      <a:srgbClr val="FF0000"/>
                    </a:solidFill>
                    <a:sym typeface="Symbol" panose="05050102010706020507" pitchFamily="18" charset="2"/>
                  </a:rPr>
                  <a:t> </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14:m>
                  <m:oMath xmlns:m="http://schemas.openxmlformats.org/officeDocument/2006/math">
                    <m:r>
                      <a:rPr lang="es-ES" altLang="zh-CN"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en-US" b="1" dirty="0">
                    <a:latin typeface="+mn-ea"/>
                    <a:cs typeface="Times New Roman" panose="02020603050405020304" pitchFamily="18" charset="0"/>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solidFill>
                      <a:srgbClr val="C00000"/>
                    </a:solidFill>
                    <a:effectLst/>
                    <a:latin typeface="+mn-ea"/>
                    <a:cs typeface="宋体" panose="02010600030101010101" pitchFamily="2" charset="-122"/>
                  </a:rPr>
                  <a:t>R</a:t>
                </a:r>
                <a:r>
                  <a:rPr lang="zh-CN" b="1" kern="0" dirty="0">
                    <a:solidFill>
                      <a:srgbClr val="C00000"/>
                    </a:solidFill>
                    <a:effectLst/>
                    <a:latin typeface="+mn-ea"/>
                    <a:cs typeface="宋体" panose="02010600030101010101" pitchFamily="2" charset="-122"/>
                  </a:rPr>
                  <a:t>是反对称的</a:t>
                </a:r>
                <a:r>
                  <a:rPr lang="en-US" altLang="zh-CN" dirty="0">
                    <a:solidFill>
                      <a:srgbClr val="FF0000"/>
                    </a:solidFill>
                    <a:sym typeface="Symbol" panose="05050102010706020507" pitchFamily="18" charset="2"/>
                  </a:rPr>
                  <a:t></a:t>
                </a:r>
                <a:r>
                  <a:rPr lang="en-US" b="1" kern="100" dirty="0">
                    <a:solidFill>
                      <a:srgbClr val="C00000"/>
                    </a:solidFill>
                    <a:effectLst/>
                    <a:latin typeface="+mn-ea"/>
                    <a:cs typeface="宋体" panose="02010600030101010101" pitchFamily="2" charset="-122"/>
                  </a:rPr>
                  <a:t> </a:t>
                </a:r>
                <a:endParaRPr lang="zh-CN" b="1" kern="100" dirty="0">
                  <a:solidFill>
                    <a:srgbClr val="C00000"/>
                  </a:solidFill>
                  <a:effectLst/>
                  <a:latin typeface="+mn-ea"/>
                  <a:cs typeface="宋体" panose="02010600030101010101" pitchFamily="2" charset="-122"/>
                </a:endParaRPr>
              </a:p>
              <a:p>
                <a:pPr algn="ctr">
                  <a:lnSpc>
                    <a:spcPct val="150000"/>
                  </a:lnSpc>
                  <a:spcAft>
                    <a:spcPts val="0"/>
                  </a:spcAft>
                </a:pPr>
                <a14:m>
                  <m:oMath xmlns:m="http://schemas.openxmlformats.org/officeDocument/2006/math">
                    <m:r>
                      <a:rPr lang="es-ES" altLang="zh-CN" b="1" i="1">
                        <a:latin typeface="Cambria Math" panose="02040503050406030204" pitchFamily="18" charset="0"/>
                      </a:rPr>
                      <m:t>∀</m:t>
                    </m:r>
                  </m:oMath>
                </a14:m>
                <a:r>
                  <a:rPr lang="es-ES" altLang="zh-CN" b="1" dirty="0">
                    <a:solidFill>
                      <a:srgbClr val="0000CC"/>
                    </a:solidFill>
                    <a:latin typeface="+mn-ea"/>
                  </a:rPr>
                  <a:t>x</a:t>
                </a:r>
                <a14:m>
                  <m:oMath xmlns:m="http://schemas.openxmlformats.org/officeDocument/2006/math">
                    <m:r>
                      <a:rPr lang="es-ES" altLang="zh-CN" b="1" i="1">
                        <a:latin typeface="Cambria Math" panose="02040503050406030204" pitchFamily="18" charset="0"/>
                      </a:rPr>
                      <m:t>∀</m:t>
                    </m:r>
                  </m:oMath>
                </a14:m>
                <a:r>
                  <a:rPr lang="es-ES" altLang="zh-CN" b="1" dirty="0">
                    <a:solidFill>
                      <a:srgbClr val="0000CC"/>
                    </a:solidFill>
                    <a:latin typeface="+mn-ea"/>
                  </a:rPr>
                  <a:t>y(x∈A∧y∈A∧(&lt;x,y&gt;∈R∧&lt;y,x&gt;∈R)</a:t>
                </a:r>
                <a:r>
                  <a:rPr lang="zh-CN" altLang="en-US" b="1" dirty="0">
                    <a:latin typeface="+mn-ea"/>
                    <a:cs typeface="Times New Roman" panose="02020603050405020304" pitchFamily="18" charset="0"/>
                  </a:rPr>
                  <a:t>→</a:t>
                </a:r>
                <a:r>
                  <a:rPr lang="es-ES" altLang="zh-CN" b="1" dirty="0">
                    <a:solidFill>
                      <a:srgbClr val="0000CC"/>
                    </a:solidFill>
                    <a:latin typeface="+mn-ea"/>
                  </a:rPr>
                  <a:t>x=y)=1 </a:t>
                </a:r>
                <a:endParaRPr lang="es-ES" altLang="zh-CN" b="1" dirty="0">
                  <a:solidFill>
                    <a:srgbClr val="0000CC"/>
                  </a:solidFill>
                  <a:latin typeface="+mn-ea"/>
                </a:endParaRPr>
              </a:p>
              <a:p>
                <a:pPr>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a:t>
                </a:r>
                <a:r>
                  <a:rPr lang="zh-CN" b="1" kern="100" dirty="0">
                    <a:solidFill>
                      <a:srgbClr val="C00000"/>
                    </a:solidFill>
                    <a:effectLst/>
                    <a:latin typeface="+mn-ea"/>
                    <a:cs typeface="宋体" panose="02010600030101010101" pitchFamily="2" charset="-122"/>
                  </a:rPr>
                  <a:t>关系</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既不是对称的，也不是反对称的</a:t>
                </a:r>
                <a:r>
                  <a:rPr lang="en-US" altLang="zh-CN" dirty="0">
                    <a:solidFill>
                      <a:srgbClr val="FF0000"/>
                    </a:solidFill>
                    <a:sym typeface="Symbol" panose="05050102010706020507" pitchFamily="18" charset="2"/>
                  </a:rPr>
                  <a:t></a:t>
                </a:r>
                <a:endParaRPr lang="en-US" altLang="zh-CN" b="1" kern="100" dirty="0">
                  <a:solidFill>
                    <a:srgbClr val="C00000"/>
                  </a:solidFill>
                  <a:effectLst/>
                  <a:latin typeface="+mn-ea"/>
                  <a:cs typeface="宋体" panose="02010600030101010101" pitchFamily="2" charset="-122"/>
                </a:endParaRPr>
              </a:p>
              <a:p>
                <a:pPr algn="ctr">
                  <a:lnSpc>
                    <a:spcPct val="150000"/>
                  </a:lnSpc>
                  <a:spcAft>
                    <a:spcPts val="0"/>
                  </a:spcAft>
                </a:pPr>
                <a:r>
                  <a:rPr lang="zh-CN" b="1" kern="100" dirty="0">
                    <a:solidFill>
                      <a:srgbClr val="C00000"/>
                    </a:solidFill>
                    <a:effectLst/>
                    <a:latin typeface="+mn-ea"/>
                    <a:cs typeface="宋体" panose="02010600030101010101" pitchFamily="2" charset="-122"/>
                  </a:rPr>
                  <a:t> </a:t>
                </a:r>
                <a:r>
                  <a:rPr lang="en-US" altLang="zh-CN" dirty="0">
                    <a:sym typeface="Symbol" panose="05050102010706020507" pitchFamily="18" charset="2"/>
                  </a:rPr>
                  <a:t></a:t>
                </a:r>
                <a:r>
                  <a:rPr lang="en-US" b="1" kern="100" dirty="0" err="1">
                    <a:effectLst/>
                    <a:latin typeface="+mn-ea"/>
                    <a:cs typeface="宋体" panose="02010600030101010101" pitchFamily="2" charset="-122"/>
                  </a:rPr>
                  <a:t>x</a:t>
                </a:r>
                <a:r>
                  <a:rPr lang="en-US" altLang="zh-CN" dirty="0" err="1">
                    <a:sym typeface="Symbol" panose="05050102010706020507" pitchFamily="18" charset="2"/>
                  </a:rPr>
                  <a:t></a:t>
                </a:r>
                <a:r>
                  <a:rPr lang="en-US" b="1" kern="100" dirty="0" err="1">
                    <a:effectLst/>
                    <a:latin typeface="+mn-ea"/>
                    <a:cs typeface="宋体" panose="02010600030101010101" pitchFamily="2" charset="-122"/>
                  </a:rPr>
                  <a:t>y</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14:m>
                  <m:oMath xmlns:m="http://schemas.openxmlformats.org/officeDocument/2006/math">
                    <m:r>
                      <a:rPr lang="en-US" b="1" i="1" kern="100" smtClean="0">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effectLst/>
                    <a:latin typeface="+mn-ea"/>
                    <a:cs typeface="宋体" panose="02010600030101010101" pitchFamily="2" charset="-122"/>
                  </a:rPr>
                  <a:t>R)</a:t>
                </a:r>
                <a:endParaRPr lang="en-US" b="1" kern="100" dirty="0">
                  <a:effectLst/>
                  <a:latin typeface="+mn-ea"/>
                  <a:cs typeface="宋体" panose="02010600030101010101" pitchFamily="2" charset="-122"/>
                </a:endParaRPr>
              </a:p>
              <a:p>
                <a:pPr algn="ctr">
                  <a:lnSpc>
                    <a:spcPct val="150000"/>
                  </a:lnSpc>
                  <a:spcAft>
                    <a:spcPts val="0"/>
                  </a:spcAft>
                </a:pPr>
                <a:r>
                  <a:rPr lang="en-US" altLang="zh-CN" b="1" kern="100" dirty="0">
                    <a:latin typeface="+mn-ea"/>
                    <a:cs typeface="宋体" panose="02010600030101010101" pitchFamily="2" charset="-122"/>
                  </a:rPr>
                  <a:t> </a:t>
                </a:r>
                <a:r>
                  <a:rPr lang="zh-CN" b="1" kern="0" dirty="0">
                    <a:effectLst/>
                    <a:latin typeface="+mn-ea"/>
                    <a:cs typeface="宋体" panose="02010600030101010101" pitchFamily="2" charset="-122"/>
                  </a:rPr>
                  <a:t>∧</a:t>
                </a:r>
                <a:r>
                  <a:rPr lang="en-US" altLang="zh-CN" dirty="0">
                    <a:sym typeface="Symbol" panose="05050102010706020507" pitchFamily="18" charset="2"/>
                  </a:rPr>
                  <a:t></a:t>
                </a:r>
                <a:r>
                  <a:rPr lang="en-US" b="1" kern="100" dirty="0" err="1">
                    <a:effectLst/>
                    <a:latin typeface="+mn-ea"/>
                    <a:cs typeface="宋体" panose="02010600030101010101" pitchFamily="2" charset="-122"/>
                  </a:rPr>
                  <a:t>s</a:t>
                </a:r>
                <a:r>
                  <a:rPr lang="en-US" altLang="zh-CN" dirty="0" err="1">
                    <a:sym typeface="Symbol" panose="05050102010706020507" pitchFamily="18" charset="2"/>
                  </a:rPr>
                  <a:t></a:t>
                </a:r>
                <a:r>
                  <a:rPr lang="en-US" b="1" kern="100" dirty="0" err="1">
                    <a:effectLst/>
                    <a:latin typeface="+mn-ea"/>
                    <a:cs typeface="宋体" panose="02010600030101010101" pitchFamily="2" charset="-122"/>
                  </a:rPr>
                  <a:t>t</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s</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s,t</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t,s</a:t>
                </a:r>
                <a:r>
                  <a:rPr lang="en-US" b="1" kern="100" dirty="0">
                    <a:effectLst/>
                    <a:latin typeface="+mn-ea"/>
                    <a:cs typeface="宋体" panose="02010600030101010101" pitchFamily="2" charset="-122"/>
                  </a:rPr>
                  <a:t>&gt;</a:t>
                </a:r>
                <a:r>
                  <a:rPr lang="zh-CN" altLang="zh-CN" b="1" kern="100" dirty="0">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0" dirty="0">
                    <a:latin typeface="+mn-ea"/>
                    <a:cs typeface="宋体" panose="02010600030101010101" pitchFamily="2" charset="-122"/>
                  </a:rPr>
                  <a:t>∧</a:t>
                </a:r>
                <a:r>
                  <a:rPr lang="en-US" altLang="zh-CN" b="1" kern="0" dirty="0">
                    <a:latin typeface="+mn-ea"/>
                    <a:cs typeface="宋体" panose="02010600030101010101" pitchFamily="2" charset="-122"/>
                  </a:rPr>
                  <a:t>s</a:t>
                </a:r>
                <a14:m>
                  <m:oMath xmlns:m="http://schemas.openxmlformats.org/officeDocument/2006/math">
                    <m:r>
                      <a:rPr lang="en-US" altLang="zh-CN" b="1" i="1" kern="0" smtClean="0">
                        <a:latin typeface="Cambria Math" panose="02040503050406030204" pitchFamily="18" charset="0"/>
                        <a:ea typeface="Cambria Math" panose="02040503050406030204" pitchFamily="18" charset="0"/>
                        <a:cs typeface="宋体" panose="02010600030101010101" pitchFamily="2" charset="-122"/>
                      </a:rPr>
                      <m:t>≠</m:t>
                    </m:r>
                  </m:oMath>
                </a14:m>
                <a:r>
                  <a:rPr lang="en-US" altLang="zh-CN" b="1" kern="0" dirty="0">
                    <a:latin typeface="+mn-ea"/>
                    <a:cs typeface="宋体" panose="02010600030101010101" pitchFamily="2" charset="-122"/>
                  </a:rPr>
                  <a:t>t</a:t>
                </a:r>
                <a:r>
                  <a:rPr lang="en-US" b="1" kern="100" dirty="0">
                    <a:effectLst/>
                    <a:latin typeface="+mn-ea"/>
                    <a:cs typeface="宋体" panose="02010600030101010101" pitchFamily="2" charset="-122"/>
                  </a:rPr>
                  <a:t>)=1</a:t>
                </a:r>
                <a:endParaRPr lang="zh-CN" b="1" kern="100" dirty="0">
                  <a:effectLst/>
                  <a:latin typeface="+mn-ea"/>
                  <a:cs typeface="宋体" panose="02010600030101010101" pitchFamily="2" charset="-122"/>
                </a:endParaRPr>
              </a:p>
            </p:txBody>
          </p:sp>
        </mc:Choice>
        <mc:Fallback>
          <p:sp>
            <p:nvSpPr>
              <p:cNvPr id="6" name="Text Box 556"/>
              <p:cNvSpPr txBox="1">
                <a:spLocks noRot="1" noChangeAspect="1" noMove="1" noResize="1" noEditPoints="1" noAdjustHandles="1" noChangeArrowheads="1" noChangeShapeType="1" noTextEdit="1"/>
              </p:cNvSpPr>
              <p:nvPr/>
            </p:nvSpPr>
            <p:spPr bwMode="auto">
              <a:xfrm>
                <a:off x="384175" y="1296194"/>
                <a:ext cx="11582400" cy="5029200"/>
              </a:xfrm>
              <a:prstGeom prst="rect">
                <a:avLst/>
              </a:prstGeom>
              <a:blipFill rotWithShape="1">
                <a:blip r:embed="rId1"/>
                <a:stretch>
                  <a:fillRect l="-44" t="-104" r="-38" b="-85"/>
                </a:stretch>
              </a:blipFill>
              <a:ln w="9525">
                <a:solidFill>
                  <a:srgbClr val="000000"/>
                </a:solidFill>
                <a:miter lim="800000"/>
              </a:ln>
            </p:spPr>
            <p:txBody>
              <a:bodyPr/>
              <a:lstStyle/>
              <a:p>
                <a:r>
                  <a:rPr lang="zh-CN" altLang="en-US">
                    <a:noFill/>
                  </a:rPr>
                  <a:t> </a:t>
                </a:r>
              </a:p>
            </p:txBody>
          </p:sp>
        </mc:Fallback>
      </mc:AlternateContent>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2"/>
          <p:cNvSpPr>
            <a:spLocks noGrp="1" noChangeArrowheads="1"/>
          </p:cNvSpPr>
          <p:nvPr>
            <p:ph type="title"/>
          </p:nvPr>
        </p:nvSpPr>
        <p:spPr/>
        <p:txBody>
          <a:bodyPr/>
          <a:lstStyle/>
          <a:p>
            <a:pPr eaLnBrk="1" hangingPunct="1"/>
            <a:r>
              <a:rPr lang="zh-CN" altLang="en-US" dirty="0"/>
              <a:t>例</a:t>
            </a:r>
            <a:r>
              <a:rPr lang="es-ES" altLang="zh-CN" dirty="0"/>
              <a:t>4.21</a:t>
            </a:r>
            <a:endParaRPr lang="zh-CN" altLang="en-US" dirty="0"/>
          </a:p>
        </p:txBody>
      </p:sp>
      <p:sp>
        <p:nvSpPr>
          <p:cNvPr id="1544195" name="Rectangle 3"/>
          <p:cNvSpPr>
            <a:spLocks noGrp="1" noChangeArrowheads="1"/>
          </p:cNvSpPr>
          <p:nvPr>
            <p:ph type="body" idx="1"/>
          </p:nvPr>
        </p:nvSpPr>
        <p:spPr>
          <a:xfrm>
            <a:off x="460375" y="1313168"/>
            <a:ext cx="11277599" cy="4709615"/>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4.21  </a:t>
            </a:r>
            <a:r>
              <a:rPr lang="zh-CN" altLang="es-ES" dirty="0"/>
              <a:t>设</a:t>
            </a:r>
            <a:r>
              <a:rPr lang="es-ES" altLang="zh-CN" dirty="0"/>
              <a:t>A={1,2,3,4}</a:t>
            </a:r>
            <a:r>
              <a:rPr lang="zh-CN" altLang="es-ES" dirty="0"/>
              <a:t>，</a:t>
            </a:r>
            <a:r>
              <a:rPr lang="en-US" altLang="zh-CN" dirty="0"/>
              <a:t> R</a:t>
            </a:r>
            <a:r>
              <a:rPr lang="zh-CN" altLang="en-US" dirty="0"/>
              <a:t>、</a:t>
            </a:r>
            <a:r>
              <a:rPr lang="en-US" altLang="zh-CN" dirty="0"/>
              <a:t>S</a:t>
            </a:r>
            <a:r>
              <a:rPr lang="zh-CN" altLang="en-US" dirty="0"/>
              <a:t>、</a:t>
            </a:r>
            <a:r>
              <a:rPr lang="en-US" altLang="zh-CN" dirty="0"/>
              <a:t>T</a:t>
            </a:r>
            <a:r>
              <a:rPr lang="zh-CN" altLang="en-US" dirty="0"/>
              <a:t>和</a:t>
            </a:r>
            <a:r>
              <a:rPr lang="en-US" altLang="zh-CN" dirty="0"/>
              <a:t>V</a:t>
            </a:r>
            <a:r>
              <a:rPr lang="zh-CN" altLang="en-US" dirty="0"/>
              <a:t>都是Ａ 上的关系，其中</a:t>
            </a:r>
            <a:r>
              <a:rPr lang="es-ES" altLang="zh-CN" dirty="0"/>
              <a:t>R={&lt;1,1&gt;,&lt;1,3&gt;, &lt;3,1&gt;}</a:t>
            </a:r>
            <a:r>
              <a:rPr lang="zh-CN" altLang="en-US" dirty="0"/>
              <a:t>，</a:t>
            </a:r>
            <a:r>
              <a:rPr lang="es-ES" altLang="zh-CN" dirty="0"/>
              <a:t>S={&lt;1,1&gt;,&lt;2,3&gt;,&lt;2,4&gt;}</a:t>
            </a:r>
            <a:r>
              <a:rPr lang="zh-CN" altLang="en-US" dirty="0"/>
              <a:t>，</a:t>
            </a:r>
            <a:r>
              <a:rPr lang="es-ES" altLang="zh-CN" dirty="0"/>
              <a:t>T={&lt;1,1&gt;,&lt;1,2&gt;,&lt;1,3&gt;,&lt;3,1&gt;}</a:t>
            </a:r>
            <a:r>
              <a:rPr lang="zh-CN" altLang="en-US" dirty="0"/>
              <a:t>，</a:t>
            </a:r>
            <a:r>
              <a:rPr lang="es-ES" altLang="zh-CN" dirty="0"/>
              <a:t>V={&lt;1,1&gt;,&lt;2,2&gt;,&lt;3,3&gt;,&lt;4,4&gt;}</a:t>
            </a:r>
            <a:r>
              <a:rPr lang="zh-CN" altLang="es-ES" dirty="0"/>
              <a:t>。</a:t>
            </a:r>
            <a:endParaRPr lang="zh-CN" altLang="es-ES" dirty="0"/>
          </a:p>
          <a:p>
            <a:pPr marL="0" indent="0">
              <a:lnSpc>
                <a:spcPct val="150000"/>
              </a:lnSpc>
              <a:buNone/>
            </a:pPr>
            <a:r>
              <a:rPr lang="zh-CN" altLang="en-US" dirty="0"/>
              <a:t>（</a:t>
            </a:r>
            <a:r>
              <a:rPr lang="en-US" altLang="zh-CN" dirty="0"/>
              <a:t>1</a:t>
            </a:r>
            <a:r>
              <a:rPr lang="zh-CN" altLang="en-US" dirty="0"/>
              <a:t>）</a:t>
            </a:r>
            <a:r>
              <a:rPr lang="zh-CN" altLang="es-ES" dirty="0"/>
              <a:t>试判定它们是否具有对称性和反对称性</a:t>
            </a:r>
            <a:r>
              <a:rPr lang="zh-CN" altLang="en-US" dirty="0"/>
              <a:t>。</a:t>
            </a:r>
            <a:endParaRPr lang="en-US" altLang="zh-CN" dirty="0"/>
          </a:p>
          <a:p>
            <a:pPr marL="0" indent="0">
              <a:lnSpc>
                <a:spcPct val="150000"/>
              </a:lnSpc>
              <a:buNone/>
            </a:pPr>
            <a:r>
              <a:rPr lang="zh-CN" altLang="en-US" dirty="0"/>
              <a:t>（</a:t>
            </a:r>
            <a:r>
              <a:rPr lang="en-US" altLang="zh-CN" dirty="0"/>
              <a:t>2</a:t>
            </a:r>
            <a:r>
              <a:rPr lang="zh-CN" altLang="en-US" dirty="0"/>
              <a:t>）分别</a:t>
            </a:r>
            <a:r>
              <a:rPr lang="zh-CN" altLang="es-ES" dirty="0"/>
              <a:t>写出</a:t>
            </a:r>
            <a:r>
              <a:rPr lang="es-ES" altLang="zh-CN" dirty="0"/>
              <a:t>R,S,T</a:t>
            </a:r>
            <a:r>
              <a:rPr lang="zh-CN" altLang="es-ES" dirty="0"/>
              <a:t>和</a:t>
            </a:r>
            <a:r>
              <a:rPr lang="en-US" altLang="zh-CN" dirty="0"/>
              <a:t>V</a:t>
            </a:r>
            <a:r>
              <a:rPr lang="zh-CN" altLang="en-US" dirty="0"/>
              <a:t>的关系矩阵。</a:t>
            </a:r>
            <a:endParaRPr lang="en-US" altLang="zh-CN" dirty="0"/>
          </a:p>
          <a:p>
            <a:pPr marL="0" indent="0">
              <a:lnSpc>
                <a:spcPct val="150000"/>
              </a:lnSpc>
              <a:buNone/>
            </a:pPr>
            <a:r>
              <a:rPr lang="zh-CN" altLang="en-US" dirty="0"/>
              <a:t>（</a:t>
            </a:r>
            <a:r>
              <a:rPr lang="en-US" altLang="zh-CN" dirty="0"/>
              <a:t>3</a:t>
            </a:r>
            <a:r>
              <a:rPr lang="zh-CN" altLang="en-US" dirty="0"/>
              <a:t>）分别画出</a:t>
            </a:r>
            <a:r>
              <a:rPr lang="es-ES" altLang="zh-CN" dirty="0"/>
              <a:t>R,S,T</a:t>
            </a:r>
            <a:r>
              <a:rPr lang="zh-CN" altLang="es-ES" dirty="0"/>
              <a:t>和</a:t>
            </a:r>
            <a:r>
              <a:rPr lang="en-US" altLang="zh-CN" dirty="0"/>
              <a:t>V</a:t>
            </a:r>
            <a:r>
              <a:rPr lang="zh-CN" altLang="en-US" dirty="0"/>
              <a:t>的关系图。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44195">
                                            <p:txEl>
                                              <p:pRg st="0" end="0"/>
                                            </p:txEl>
                                          </p:spTgt>
                                        </p:tgtEl>
                                        <p:attrNameLst>
                                          <p:attrName>style.visibility</p:attrName>
                                        </p:attrNameLst>
                                      </p:cBhvr>
                                      <p:to>
                                        <p:strVal val="visible"/>
                                      </p:to>
                                    </p:set>
                                    <p:anim calcmode="lin" valueType="num">
                                      <p:cBhvr additive="base">
                                        <p:cTn id="7" dur="500" fill="hold"/>
                                        <p:tgtEl>
                                          <p:spTgt spid="1544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419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44195">
                                            <p:txEl>
                                              <p:pRg st="1" end="1"/>
                                            </p:txEl>
                                          </p:spTgt>
                                        </p:tgtEl>
                                        <p:attrNameLst>
                                          <p:attrName>style.visibility</p:attrName>
                                        </p:attrNameLst>
                                      </p:cBhvr>
                                      <p:to>
                                        <p:strVal val="visible"/>
                                      </p:to>
                                    </p:set>
                                    <p:anim calcmode="lin" valueType="num">
                                      <p:cBhvr additive="base">
                                        <p:cTn id="12" dur="500" fill="hold"/>
                                        <p:tgtEl>
                                          <p:spTgt spid="154419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4419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544195">
                                            <p:txEl>
                                              <p:pRg st="2" end="2"/>
                                            </p:txEl>
                                          </p:spTgt>
                                        </p:tgtEl>
                                        <p:attrNameLst>
                                          <p:attrName>style.visibility</p:attrName>
                                        </p:attrNameLst>
                                      </p:cBhvr>
                                      <p:to>
                                        <p:strVal val="visible"/>
                                      </p:to>
                                    </p:set>
                                    <p:anim calcmode="lin" valueType="num">
                                      <p:cBhvr additive="base">
                                        <p:cTn id="17" dur="500" fill="hold"/>
                                        <p:tgtEl>
                                          <p:spTgt spid="15441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44195">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544195">
                                            <p:txEl>
                                              <p:pRg st="3" end="3"/>
                                            </p:txEl>
                                          </p:spTgt>
                                        </p:tgtEl>
                                        <p:attrNameLst>
                                          <p:attrName>style.visibility</p:attrName>
                                        </p:attrNameLst>
                                      </p:cBhvr>
                                      <p:to>
                                        <p:strVal val="visible"/>
                                      </p:to>
                                    </p:set>
                                    <p:anim calcmode="lin" valueType="num">
                                      <p:cBhvr additive="base">
                                        <p:cTn id="22" dur="500" fill="hold"/>
                                        <p:tgtEl>
                                          <p:spTgt spid="154419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5441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4195"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Rectangle 2"/>
          <p:cNvSpPr>
            <a:spLocks noGrp="1" noChangeArrowheads="1"/>
          </p:cNvSpPr>
          <p:nvPr>
            <p:ph type="title"/>
          </p:nvPr>
        </p:nvSpPr>
        <p:spPr>
          <a:xfrm>
            <a:off x="841375" y="305594"/>
            <a:ext cx="8066367" cy="585923"/>
          </a:xfrm>
        </p:spPr>
        <p:txBody>
          <a:bodyPr/>
          <a:lstStyle/>
          <a:p>
            <a:r>
              <a:rPr lang="zh-CN" altLang="en-US" dirty="0"/>
              <a:t>例</a:t>
            </a:r>
            <a:r>
              <a:rPr lang="es-ES" altLang="zh-CN" dirty="0"/>
              <a:t>4.21 </a:t>
            </a:r>
            <a:r>
              <a:rPr lang="zh-CN" altLang="en-US" dirty="0"/>
              <a:t>（续）</a:t>
            </a:r>
            <a:endParaRPr lang="zh-CN" altLang="en-US" dirty="0"/>
          </a:p>
        </p:txBody>
      </p:sp>
      <p:sp>
        <p:nvSpPr>
          <p:cNvPr id="1546243" name="Rectangle 3"/>
          <p:cNvSpPr>
            <a:spLocks noGrp="1" noChangeArrowheads="1"/>
          </p:cNvSpPr>
          <p:nvPr>
            <p:ph type="body" sz="half" idx="1"/>
          </p:nvPr>
        </p:nvSpPr>
        <p:spPr>
          <a:xfrm>
            <a:off x="536575" y="672753"/>
            <a:ext cx="11430000" cy="3595242"/>
          </a:xfrm>
        </p:spPr>
        <p:txBody>
          <a:bodyPr/>
          <a:lstStyle/>
          <a:p>
            <a:pPr marL="0" indent="0">
              <a:spcBef>
                <a:spcPct val="0"/>
              </a:spcBef>
              <a:buClr>
                <a:srgbClr val="800080"/>
              </a:buClr>
              <a:buNone/>
            </a:pPr>
            <a:r>
              <a:rPr lang="zh-CN" altLang="en-US" sz="2000" dirty="0"/>
              <a:t>（</a:t>
            </a:r>
            <a:r>
              <a:rPr lang="en-US" altLang="zh-CN" sz="2000" dirty="0"/>
              <a:t>1</a:t>
            </a:r>
            <a:r>
              <a:rPr lang="zh-CN" altLang="en-US" sz="2000" dirty="0"/>
              <a:t>）关系</a:t>
            </a:r>
            <a:r>
              <a:rPr lang="en-US" altLang="zh-CN" sz="2000" dirty="0"/>
              <a:t>R</a:t>
            </a:r>
            <a:r>
              <a:rPr lang="zh-CN" altLang="en-US" sz="2000" dirty="0">
                <a:solidFill>
                  <a:srgbClr val="0000CC"/>
                </a:solidFill>
              </a:rPr>
              <a:t>是对称的</a:t>
            </a:r>
            <a:r>
              <a:rPr lang="zh-CN" altLang="en-US" sz="2000" dirty="0"/>
              <a:t>。</a:t>
            </a:r>
            <a:endParaRPr lang="zh-CN" altLang="en-US" sz="2000" dirty="0"/>
          </a:p>
          <a:p>
            <a:pPr marL="0" indent="0">
              <a:spcBef>
                <a:spcPct val="0"/>
              </a:spcBef>
              <a:buClr>
                <a:srgbClr val="800080"/>
              </a:buClr>
              <a:buNone/>
            </a:pPr>
            <a:r>
              <a:rPr lang="zh-CN" altLang="en-US" sz="2000" dirty="0"/>
              <a:t>         关系</a:t>
            </a:r>
            <a:r>
              <a:rPr lang="en-US" altLang="zh-CN" sz="2000" dirty="0"/>
              <a:t>S</a:t>
            </a:r>
            <a:r>
              <a:rPr lang="zh-CN" altLang="en-US" sz="2000" dirty="0">
                <a:solidFill>
                  <a:srgbClr val="0000CC"/>
                </a:solidFill>
              </a:rPr>
              <a:t>是反对称的</a:t>
            </a:r>
            <a:r>
              <a:rPr lang="zh-CN" altLang="en-US" sz="2000" dirty="0"/>
              <a:t>。</a:t>
            </a:r>
            <a:endParaRPr lang="zh-CN" altLang="en-US" sz="2000" dirty="0"/>
          </a:p>
          <a:p>
            <a:pPr marL="0" indent="0">
              <a:spcBef>
                <a:spcPct val="0"/>
              </a:spcBef>
              <a:buClr>
                <a:srgbClr val="800080"/>
              </a:buClr>
              <a:buNone/>
            </a:pPr>
            <a:r>
              <a:rPr lang="zh-CN" altLang="en-US" sz="2000" dirty="0"/>
              <a:t>         关系</a:t>
            </a:r>
            <a:r>
              <a:rPr lang="en-US" altLang="zh-CN" sz="2000" dirty="0"/>
              <a:t>T</a:t>
            </a:r>
            <a:r>
              <a:rPr lang="zh-CN" altLang="en-US" sz="2000" dirty="0"/>
              <a:t>既不是对称的，也不是反对称的。</a:t>
            </a:r>
            <a:endParaRPr lang="en-US" altLang="zh-CN" sz="2000" dirty="0"/>
          </a:p>
          <a:p>
            <a:pPr marL="0" indent="0">
              <a:spcBef>
                <a:spcPct val="0"/>
              </a:spcBef>
              <a:buClr>
                <a:srgbClr val="800080"/>
              </a:buClr>
              <a:buNone/>
            </a:pPr>
            <a:r>
              <a:rPr lang="en-US" altLang="zh-CN" sz="2000" dirty="0"/>
              <a:t>         </a:t>
            </a:r>
            <a:r>
              <a:rPr lang="zh-CN" altLang="en-US" sz="2000" dirty="0"/>
              <a:t>因为</a:t>
            </a:r>
            <a:r>
              <a:rPr lang="zh-CN" altLang="en-US" sz="2000" dirty="0">
                <a:solidFill>
                  <a:srgbClr val="FF0000"/>
                </a:solidFill>
              </a:rPr>
              <a:t>有</a:t>
            </a:r>
            <a:r>
              <a:rPr lang="en-US" altLang="zh-CN" sz="2000" dirty="0">
                <a:solidFill>
                  <a:srgbClr val="FF0000"/>
                </a:solidFill>
              </a:rPr>
              <a:t>&lt;1,2&gt;</a:t>
            </a:r>
            <a:r>
              <a:rPr lang="zh-CN" altLang="en-US" sz="2000" dirty="0">
                <a:solidFill>
                  <a:srgbClr val="FF0000"/>
                </a:solidFill>
              </a:rPr>
              <a:t>，但没有</a:t>
            </a:r>
            <a:r>
              <a:rPr lang="en-US" altLang="zh-CN" sz="2000" dirty="0">
                <a:solidFill>
                  <a:srgbClr val="FF0000"/>
                </a:solidFill>
              </a:rPr>
              <a:t>&lt;2,1&gt;</a:t>
            </a:r>
            <a:r>
              <a:rPr lang="zh-CN" altLang="en-US" sz="2000" dirty="0">
                <a:solidFill>
                  <a:srgbClr val="FF0000"/>
                </a:solidFill>
              </a:rPr>
              <a:t>，</a:t>
            </a:r>
            <a:r>
              <a:rPr lang="zh-CN" altLang="en-US" sz="2000" dirty="0"/>
              <a:t>即</a:t>
            </a:r>
            <a:r>
              <a:rPr lang="en-US" altLang="zh-CN" sz="2000" dirty="0"/>
              <a:t>T</a:t>
            </a:r>
            <a:r>
              <a:rPr lang="zh-CN" altLang="en-US" sz="2000" dirty="0"/>
              <a:t>不是对称的； </a:t>
            </a:r>
            <a:endParaRPr lang="en-US" altLang="zh-CN" sz="2000" dirty="0"/>
          </a:p>
          <a:p>
            <a:pPr marL="0" indent="0">
              <a:spcBef>
                <a:spcPct val="0"/>
              </a:spcBef>
              <a:buClr>
                <a:srgbClr val="800080"/>
              </a:buClr>
              <a:buNone/>
            </a:pPr>
            <a:r>
              <a:rPr lang="en-US" altLang="zh-CN" sz="2000" dirty="0"/>
              <a:t>         </a:t>
            </a:r>
            <a:r>
              <a:rPr lang="zh-CN" altLang="en-US" sz="2000" dirty="0"/>
              <a:t>另外</a:t>
            </a:r>
            <a:r>
              <a:rPr lang="zh-CN" altLang="en-US" sz="2000" dirty="0">
                <a:solidFill>
                  <a:srgbClr val="FF0000"/>
                </a:solidFill>
              </a:rPr>
              <a:t>有</a:t>
            </a:r>
            <a:r>
              <a:rPr lang="en-US" altLang="zh-CN" sz="2000" dirty="0">
                <a:solidFill>
                  <a:srgbClr val="FF0000"/>
                </a:solidFill>
              </a:rPr>
              <a:t>&lt;1,3&gt;</a:t>
            </a:r>
            <a:r>
              <a:rPr lang="zh-CN" altLang="en-US" sz="2000" dirty="0">
                <a:solidFill>
                  <a:srgbClr val="FF0000"/>
                </a:solidFill>
              </a:rPr>
              <a:t>，且有</a:t>
            </a:r>
            <a:r>
              <a:rPr lang="en-US" altLang="zh-CN" sz="2000" dirty="0">
                <a:solidFill>
                  <a:srgbClr val="FF0000"/>
                </a:solidFill>
              </a:rPr>
              <a:t>&lt;3,1&gt;</a:t>
            </a:r>
            <a:r>
              <a:rPr lang="zh-CN" altLang="en-US" sz="2000" dirty="0"/>
              <a:t>，但是</a:t>
            </a:r>
            <a:r>
              <a:rPr lang="en-US" altLang="zh-CN" sz="2000" dirty="0"/>
              <a:t>1≠3</a:t>
            </a:r>
            <a:r>
              <a:rPr lang="zh-CN" altLang="en-US" sz="2000" dirty="0"/>
              <a:t>，即</a:t>
            </a:r>
            <a:r>
              <a:rPr lang="en-US" altLang="zh-CN" sz="2000" dirty="0"/>
              <a:t>T</a:t>
            </a:r>
            <a:r>
              <a:rPr lang="zh-CN" altLang="en-US" sz="2000" dirty="0"/>
              <a:t>不是反对称的。</a:t>
            </a:r>
            <a:endParaRPr lang="zh-CN" altLang="en-US" sz="2000" dirty="0"/>
          </a:p>
          <a:p>
            <a:pPr marL="0" indent="0">
              <a:spcBef>
                <a:spcPct val="0"/>
              </a:spcBef>
              <a:buClr>
                <a:srgbClr val="800080"/>
              </a:buClr>
              <a:buNone/>
            </a:pPr>
            <a:r>
              <a:rPr lang="zh-CN" altLang="en-US" sz="2000" dirty="0"/>
              <a:t>         关系</a:t>
            </a:r>
            <a:r>
              <a:rPr lang="en-US" altLang="zh-CN" sz="2000" dirty="0"/>
              <a:t>V</a:t>
            </a:r>
            <a:r>
              <a:rPr lang="zh-CN" altLang="en-US" sz="2000" dirty="0">
                <a:solidFill>
                  <a:srgbClr val="0000CC"/>
                </a:solidFill>
              </a:rPr>
              <a:t>既是对称的，也是反对称的。</a:t>
            </a:r>
            <a:endParaRPr lang="zh-CN" altLang="en-US" sz="2000" dirty="0">
              <a:solidFill>
                <a:srgbClr val="0000CC"/>
              </a:solidFill>
            </a:endParaRPr>
          </a:p>
        </p:txBody>
      </p:sp>
      <p:sp>
        <p:nvSpPr>
          <p:cNvPr id="59" name="Rectangle 3"/>
          <p:cNvSpPr txBox="1">
            <a:spLocks noChangeArrowheads="1"/>
          </p:cNvSpPr>
          <p:nvPr/>
        </p:nvSpPr>
        <p:spPr>
          <a:xfrm>
            <a:off x="1129781" y="3674013"/>
            <a:ext cx="8432379" cy="2922033"/>
          </a:xfrm>
          <a:prstGeom prst="rect">
            <a:avLst/>
          </a:prstGeom>
          <a:solidFill>
            <a:schemeClr val="accent5">
              <a:lumMod val="20000"/>
              <a:lumOff val="80000"/>
            </a:schemeClr>
          </a:solidFill>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dirty="0">
                <a:solidFill>
                  <a:srgbClr val="C00000"/>
                </a:solidFill>
              </a:rPr>
              <a:t>例</a:t>
            </a:r>
            <a:r>
              <a:rPr lang="en-US" altLang="zh-CN" dirty="0">
                <a:solidFill>
                  <a:srgbClr val="C00000"/>
                </a:solidFill>
              </a:rPr>
              <a:t>4.21  </a:t>
            </a:r>
            <a:r>
              <a:rPr lang="zh-CN" altLang="es-ES" dirty="0"/>
              <a:t>设</a:t>
            </a:r>
            <a:r>
              <a:rPr lang="es-ES" altLang="zh-CN" dirty="0"/>
              <a:t>A={1,2,3,4}</a:t>
            </a:r>
            <a:r>
              <a:rPr lang="zh-CN" altLang="es-ES" dirty="0"/>
              <a:t>，定义</a:t>
            </a:r>
            <a:r>
              <a:rPr lang="es-ES" altLang="zh-CN" dirty="0"/>
              <a:t>A</a:t>
            </a:r>
            <a:r>
              <a:rPr lang="zh-CN" altLang="es-ES" dirty="0"/>
              <a:t>上的关系</a:t>
            </a:r>
            <a:r>
              <a:rPr lang="es-ES" altLang="zh-CN" dirty="0"/>
              <a:t>R,S,T</a:t>
            </a:r>
            <a:r>
              <a:rPr lang="zh-CN" altLang="es-ES" dirty="0"/>
              <a:t>和</a:t>
            </a:r>
            <a:r>
              <a:rPr lang="es-ES" altLang="zh-CN" dirty="0"/>
              <a:t>V</a:t>
            </a:r>
            <a:r>
              <a:rPr lang="zh-CN" altLang="es-ES" dirty="0"/>
              <a:t>如下：</a:t>
            </a:r>
            <a:endParaRPr lang="zh-CN" altLang="es-ES" dirty="0"/>
          </a:p>
          <a:p>
            <a:pPr marL="0" indent="0">
              <a:lnSpc>
                <a:spcPct val="150000"/>
              </a:lnSpc>
              <a:buFont typeface="Wingdings" panose="05000000000000000000" pitchFamily="2" charset="2"/>
              <a:buNone/>
            </a:pPr>
            <a:r>
              <a:rPr lang="zh-CN" altLang="es-ES" dirty="0"/>
              <a:t>（</a:t>
            </a:r>
            <a:r>
              <a:rPr lang="es-ES" altLang="zh-CN" dirty="0"/>
              <a:t>1</a:t>
            </a:r>
            <a:r>
              <a:rPr lang="zh-CN" altLang="es-ES" dirty="0"/>
              <a:t>）</a:t>
            </a:r>
            <a:r>
              <a:rPr lang="es-ES" altLang="zh-CN" dirty="0"/>
              <a:t>R={&lt;1,1&gt;,&lt;1,3&gt;,&lt;3,1&gt;}</a:t>
            </a:r>
            <a:r>
              <a:rPr lang="zh-CN" altLang="en-US" dirty="0"/>
              <a:t>。</a:t>
            </a:r>
            <a:endParaRPr lang="zh-CN" altLang="es-ES" dirty="0"/>
          </a:p>
          <a:p>
            <a:pPr marL="0" indent="0">
              <a:lnSpc>
                <a:spcPct val="150000"/>
              </a:lnSpc>
              <a:buFont typeface="Wingdings" panose="05000000000000000000" pitchFamily="2" charset="2"/>
              <a:buNone/>
            </a:pPr>
            <a:r>
              <a:rPr lang="zh-CN" altLang="es-ES" dirty="0"/>
              <a:t>（</a:t>
            </a:r>
            <a:r>
              <a:rPr lang="es-ES" altLang="zh-CN" dirty="0"/>
              <a:t>2</a:t>
            </a:r>
            <a:r>
              <a:rPr lang="zh-CN" altLang="es-ES" dirty="0"/>
              <a:t>）</a:t>
            </a:r>
            <a:r>
              <a:rPr lang="es-ES" altLang="zh-CN" dirty="0"/>
              <a:t>S={&lt;1,1&gt;,&lt;2,3&gt;,&lt;2,4&gt;}</a:t>
            </a:r>
            <a:r>
              <a:rPr lang="zh-CN" altLang="en-US" dirty="0"/>
              <a:t>。</a:t>
            </a:r>
            <a:endParaRPr lang="zh-CN" altLang="es-ES" dirty="0"/>
          </a:p>
          <a:p>
            <a:pPr marL="0" indent="0">
              <a:lnSpc>
                <a:spcPct val="150000"/>
              </a:lnSpc>
              <a:buFont typeface="Wingdings" panose="05000000000000000000" pitchFamily="2" charset="2"/>
              <a:buNone/>
            </a:pPr>
            <a:r>
              <a:rPr lang="zh-CN" altLang="es-ES" dirty="0"/>
              <a:t>（</a:t>
            </a:r>
            <a:r>
              <a:rPr lang="es-ES" altLang="zh-CN" dirty="0"/>
              <a:t>3</a:t>
            </a:r>
            <a:r>
              <a:rPr lang="zh-CN" altLang="es-ES" dirty="0"/>
              <a:t>）</a:t>
            </a:r>
            <a:r>
              <a:rPr lang="es-ES" altLang="zh-CN" dirty="0"/>
              <a:t>T={&lt;1,1&gt;,&lt;1,2&gt;,&lt;1,3&gt;,&lt;3,1&gt;}</a:t>
            </a:r>
            <a:r>
              <a:rPr lang="zh-CN" altLang="en-US" dirty="0"/>
              <a:t>。</a:t>
            </a:r>
            <a:endParaRPr lang="zh-CN" altLang="es-ES" dirty="0"/>
          </a:p>
          <a:p>
            <a:pPr marL="0" indent="0">
              <a:lnSpc>
                <a:spcPct val="150000"/>
              </a:lnSpc>
              <a:buFont typeface="Wingdings" panose="05000000000000000000" pitchFamily="2" charset="2"/>
              <a:buNone/>
            </a:pPr>
            <a:r>
              <a:rPr lang="zh-CN" altLang="es-ES" dirty="0"/>
              <a:t>（</a:t>
            </a:r>
            <a:r>
              <a:rPr lang="es-ES" altLang="zh-CN" dirty="0"/>
              <a:t>4</a:t>
            </a:r>
            <a:r>
              <a:rPr lang="zh-CN" altLang="es-ES" dirty="0"/>
              <a:t>）</a:t>
            </a:r>
            <a:r>
              <a:rPr lang="es-ES" altLang="zh-CN" dirty="0"/>
              <a:t>V={&lt;1,1&gt;,&lt;2,2&gt;,&lt;3,3&gt;,&lt;4,4&gt;}</a:t>
            </a:r>
            <a:r>
              <a:rPr lang="zh-CN" altLang="es-ES" dirty="0"/>
              <a:t>。</a:t>
            </a:r>
            <a:endParaRPr lang="zh-CN" altLang="es-ES" dirty="0"/>
          </a:p>
        </p:txBody>
      </p:sp>
    </p:spTree>
    <p:custDataLst>
      <p:tags r:id="rId1"/>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46243">
                                            <p:txEl>
                                              <p:pRg st="0" end="0"/>
                                            </p:txEl>
                                          </p:spTgt>
                                        </p:tgtEl>
                                        <p:attrNameLst>
                                          <p:attrName>style.visibility</p:attrName>
                                        </p:attrNameLst>
                                      </p:cBhvr>
                                      <p:to>
                                        <p:strVal val="visible"/>
                                      </p:to>
                                    </p:set>
                                    <p:anim calcmode="lin" valueType="num">
                                      <p:cBhvr additive="base">
                                        <p:cTn id="7" dur="500" fill="hold"/>
                                        <p:tgtEl>
                                          <p:spTgt spid="1546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6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46243">
                                            <p:txEl>
                                              <p:pRg st="1" end="1"/>
                                            </p:txEl>
                                          </p:spTgt>
                                        </p:tgtEl>
                                        <p:attrNameLst>
                                          <p:attrName>style.visibility</p:attrName>
                                        </p:attrNameLst>
                                      </p:cBhvr>
                                      <p:to>
                                        <p:strVal val="visible"/>
                                      </p:to>
                                    </p:set>
                                    <p:anim calcmode="lin" valueType="num">
                                      <p:cBhvr additive="base">
                                        <p:cTn id="13" dur="500" fill="hold"/>
                                        <p:tgtEl>
                                          <p:spTgt spid="15462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462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46243">
                                            <p:txEl>
                                              <p:pRg st="2" end="2"/>
                                            </p:txEl>
                                          </p:spTgt>
                                        </p:tgtEl>
                                        <p:attrNameLst>
                                          <p:attrName>style.visibility</p:attrName>
                                        </p:attrNameLst>
                                      </p:cBhvr>
                                      <p:to>
                                        <p:strVal val="visible"/>
                                      </p:to>
                                    </p:set>
                                    <p:anim calcmode="lin" valueType="num">
                                      <p:cBhvr additive="base">
                                        <p:cTn id="19" dur="500" fill="hold"/>
                                        <p:tgtEl>
                                          <p:spTgt spid="15462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46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46243">
                                            <p:txEl>
                                              <p:pRg st="3" end="3"/>
                                            </p:txEl>
                                          </p:spTgt>
                                        </p:tgtEl>
                                        <p:attrNameLst>
                                          <p:attrName>style.visibility</p:attrName>
                                        </p:attrNameLst>
                                      </p:cBhvr>
                                      <p:to>
                                        <p:strVal val="visible"/>
                                      </p:to>
                                    </p:set>
                                    <p:anim calcmode="lin" valueType="num">
                                      <p:cBhvr additive="base">
                                        <p:cTn id="25" dur="500" fill="hold"/>
                                        <p:tgtEl>
                                          <p:spTgt spid="15462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462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46243">
                                            <p:txEl>
                                              <p:pRg st="4" end="4"/>
                                            </p:txEl>
                                          </p:spTgt>
                                        </p:tgtEl>
                                        <p:attrNameLst>
                                          <p:attrName>style.visibility</p:attrName>
                                        </p:attrNameLst>
                                      </p:cBhvr>
                                      <p:to>
                                        <p:strVal val="visible"/>
                                      </p:to>
                                    </p:set>
                                    <p:anim calcmode="lin" valueType="num">
                                      <p:cBhvr additive="base">
                                        <p:cTn id="31" dur="500" fill="hold"/>
                                        <p:tgtEl>
                                          <p:spTgt spid="15462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462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46243">
                                            <p:txEl>
                                              <p:pRg st="5" end="5"/>
                                            </p:txEl>
                                          </p:spTgt>
                                        </p:tgtEl>
                                        <p:attrNameLst>
                                          <p:attrName>style.visibility</p:attrName>
                                        </p:attrNameLst>
                                      </p:cBhvr>
                                      <p:to>
                                        <p:strVal val="visible"/>
                                      </p:to>
                                    </p:set>
                                    <p:anim calcmode="lin" valueType="num">
                                      <p:cBhvr additive="base">
                                        <p:cTn id="37" dur="500" fill="hold"/>
                                        <p:tgtEl>
                                          <p:spTgt spid="15462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462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grpId="0" nodeType="clickEffect">
                                  <p:stCondLst>
                                    <p:cond delay="0"/>
                                  </p:stCondLst>
                                  <p:childTnLst>
                                    <p:animMotion origin="layout" path="M 0.19976 -0.39574 L 0.19976 -0.1458 " pathEditMode="relative" rAng="0" ptsTypes="AA">
                                      <p:cBhvr>
                                        <p:cTn id="42" dur="2000" spd="-100000" fill="hold"/>
                                        <p:tgtEl>
                                          <p:spTgt spid="59"/>
                                        </p:tgtEl>
                                        <p:attrNameLst>
                                          <p:attrName>ppt_x</p:attrName>
                                          <p:attrName>ppt_y</p:attrName>
                                        </p:attrNameLst>
                                      </p:cBhvr>
                                      <p:rCtr x="0" y="1249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43" grpId="0" build="p"/>
      <p:bldP spid="59"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Rectangle 2"/>
          <p:cNvSpPr>
            <a:spLocks noGrp="1" noChangeArrowheads="1"/>
          </p:cNvSpPr>
          <p:nvPr>
            <p:ph type="title"/>
          </p:nvPr>
        </p:nvSpPr>
        <p:spPr/>
        <p:txBody>
          <a:bodyPr/>
          <a:lstStyle/>
          <a:p>
            <a:r>
              <a:rPr lang="zh-CN" altLang="en-US" dirty="0"/>
              <a:t>例</a:t>
            </a:r>
            <a:r>
              <a:rPr lang="es-ES" altLang="zh-CN" dirty="0"/>
              <a:t>4.21 </a:t>
            </a:r>
            <a:r>
              <a:rPr lang="zh-CN" altLang="en-US" dirty="0"/>
              <a:t>（续）</a:t>
            </a:r>
            <a:endParaRPr lang="zh-CN" altLang="en-US" dirty="0"/>
          </a:p>
        </p:txBody>
      </p:sp>
      <p:sp>
        <p:nvSpPr>
          <p:cNvPr id="219140" name="Rectangle 3"/>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41" name="Rectangle 4"/>
          <p:cNvSpPr>
            <a:spLocks noChangeArrowheads="1"/>
          </p:cNvSpPr>
          <p:nvPr/>
        </p:nvSpPr>
        <p:spPr bwMode="auto">
          <a:xfrm>
            <a:off x="1526117" y="-29251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42" name="Rectangle 5"/>
          <p:cNvSpPr>
            <a:spLocks noChangeArrowheads="1"/>
          </p:cNvSpPr>
          <p:nvPr/>
        </p:nvSpPr>
        <p:spPr bwMode="auto">
          <a:xfrm>
            <a:off x="1526117" y="2775241"/>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grpSp>
        <p:nvGrpSpPr>
          <p:cNvPr id="2" name="Group 11"/>
          <p:cNvGrpSpPr>
            <a:grpSpLocks noChangeAspect="1"/>
          </p:cNvGrpSpPr>
          <p:nvPr/>
        </p:nvGrpSpPr>
        <p:grpSpPr bwMode="auto">
          <a:xfrm>
            <a:off x="2642388" y="4438091"/>
            <a:ext cx="7378820" cy="2048349"/>
            <a:chOff x="936" y="2866"/>
            <a:chExt cx="3718" cy="1032"/>
          </a:xfrm>
        </p:grpSpPr>
        <p:sp>
          <p:nvSpPr>
            <p:cNvPr id="219149" name="Freeform 12"/>
            <p:cNvSpPr>
              <a:spLocks noChangeAspect="1"/>
            </p:cNvSpPr>
            <p:nvPr/>
          </p:nvSpPr>
          <p:spPr bwMode="auto">
            <a:xfrm flipV="1">
              <a:off x="2105" y="3042"/>
              <a:ext cx="567" cy="476"/>
            </a:xfrm>
            <a:custGeom>
              <a:avLst/>
              <a:gdLst>
                <a:gd name="T0" fmla="*/ 0 w 890"/>
                <a:gd name="T1" fmla="*/ 0 h 1"/>
                <a:gd name="T2" fmla="*/ 1 w 890"/>
                <a:gd name="T3" fmla="*/ 0 h 1"/>
                <a:gd name="T4" fmla="*/ 0 60000 65536"/>
                <a:gd name="T5" fmla="*/ 0 60000 65536"/>
                <a:gd name="T6" fmla="*/ 0 w 890"/>
                <a:gd name="T7" fmla="*/ 0 h 1"/>
                <a:gd name="T8" fmla="*/ 890 w 890"/>
                <a:gd name="T9" fmla="*/ 1 h 1"/>
                <a:gd name="connsiteX0" fmla="*/ 0 w 11196"/>
                <a:gd name="connsiteY0" fmla="*/ 0 h 9304"/>
                <a:gd name="connsiteX1" fmla="*/ 11196 w 11196"/>
                <a:gd name="connsiteY1" fmla="*/ 9304 h 9304"/>
                <a:gd name="connsiteX0-1" fmla="*/ 0 w 9237"/>
                <a:gd name="connsiteY0-2" fmla="*/ 0 h 10536"/>
                <a:gd name="connsiteX1-3" fmla="*/ 9237 w 9237"/>
                <a:gd name="connsiteY1-4" fmla="*/ 10536 h 10536"/>
                <a:gd name="connsiteX0-5" fmla="*/ 0 w 11981"/>
                <a:gd name="connsiteY0-6" fmla="*/ 0 h 10339"/>
                <a:gd name="connsiteX1-7" fmla="*/ 11981 w 11981"/>
                <a:gd name="connsiteY1-8" fmla="*/ 10339 h 10339"/>
              </a:gdLst>
              <a:ahLst/>
              <a:cxnLst>
                <a:cxn ang="0">
                  <a:pos x="connsiteX0-1" y="connsiteY0-2"/>
                </a:cxn>
                <a:cxn ang="0">
                  <a:pos x="connsiteX1-3" y="connsiteY1-4"/>
                </a:cxn>
              </a:cxnLst>
              <a:rect l="l" t="t" r="r" b="b"/>
              <a:pathLst>
                <a:path w="11981" h="10339">
                  <a:moveTo>
                    <a:pt x="0" y="0"/>
                  </a:moveTo>
                  <a:cubicBezTo>
                    <a:pt x="3223" y="0"/>
                    <a:pt x="8758" y="10339"/>
                    <a:pt x="11981" y="10339"/>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50" name="Arc 13"/>
            <p:cNvSpPr>
              <a:spLocks noChangeAspect="1"/>
            </p:cNvSpPr>
            <p:nvPr/>
          </p:nvSpPr>
          <p:spPr bwMode="auto">
            <a:xfrm rot="240000" flipH="1">
              <a:off x="936" y="2963"/>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51" name="Text Box 14"/>
            <p:cNvSpPr txBox="1">
              <a:spLocks noChangeAspect="1" noChangeArrowheads="1"/>
            </p:cNvSpPr>
            <p:nvPr/>
          </p:nvSpPr>
          <p:spPr bwMode="auto">
            <a:xfrm>
              <a:off x="954" y="2918"/>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52" name="Oval 15"/>
            <p:cNvSpPr>
              <a:spLocks noChangeAspect="1" noChangeArrowheads="1"/>
            </p:cNvSpPr>
            <p:nvPr/>
          </p:nvSpPr>
          <p:spPr bwMode="auto">
            <a:xfrm>
              <a:off x="1667" y="3031"/>
              <a:ext cx="33"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53" name="Oval 16"/>
            <p:cNvSpPr>
              <a:spLocks noChangeAspect="1" noChangeArrowheads="1"/>
            </p:cNvSpPr>
            <p:nvPr/>
          </p:nvSpPr>
          <p:spPr bwMode="auto">
            <a:xfrm>
              <a:off x="1116" y="3517"/>
              <a:ext cx="33" cy="30"/>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54" name="Text Box 17"/>
            <p:cNvSpPr txBox="1">
              <a:spLocks noChangeAspect="1" noChangeArrowheads="1"/>
            </p:cNvSpPr>
            <p:nvPr/>
          </p:nvSpPr>
          <p:spPr bwMode="auto">
            <a:xfrm>
              <a:off x="954" y="3397"/>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2</a:t>
              </a:r>
              <a:endParaRPr lang="en-US" altLang="zh-CN" sz="2400">
                <a:solidFill>
                  <a:srgbClr val="FF0000"/>
                </a:solidFill>
              </a:endParaRPr>
            </a:p>
          </p:txBody>
        </p:sp>
        <p:sp>
          <p:nvSpPr>
            <p:cNvPr id="219155" name="Oval 18"/>
            <p:cNvSpPr>
              <a:spLocks noChangeAspect="1" noChangeArrowheads="1"/>
            </p:cNvSpPr>
            <p:nvPr/>
          </p:nvSpPr>
          <p:spPr bwMode="auto">
            <a:xfrm>
              <a:off x="1667" y="3517"/>
              <a:ext cx="33" cy="30"/>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56" name="Text Box 19"/>
            <p:cNvSpPr txBox="1">
              <a:spLocks noChangeAspect="1" noChangeArrowheads="1"/>
            </p:cNvSpPr>
            <p:nvPr/>
          </p:nvSpPr>
          <p:spPr bwMode="auto">
            <a:xfrm>
              <a:off x="1667" y="2918"/>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3</a:t>
              </a:r>
              <a:endParaRPr lang="en-US" altLang="zh-CN" sz="2400">
                <a:solidFill>
                  <a:srgbClr val="FF0000"/>
                </a:solidFill>
              </a:endParaRPr>
            </a:p>
          </p:txBody>
        </p:sp>
        <p:sp>
          <p:nvSpPr>
            <p:cNvPr id="219157" name="Text Box 20"/>
            <p:cNvSpPr txBox="1">
              <a:spLocks noChangeAspect="1" noChangeArrowheads="1"/>
            </p:cNvSpPr>
            <p:nvPr/>
          </p:nvSpPr>
          <p:spPr bwMode="auto">
            <a:xfrm>
              <a:off x="1667" y="3397"/>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60" name="Freeform 23"/>
            <p:cNvSpPr>
              <a:spLocks noChangeAspect="1"/>
            </p:cNvSpPr>
            <p:nvPr/>
          </p:nvSpPr>
          <p:spPr bwMode="auto">
            <a:xfrm>
              <a:off x="2140" y="3518"/>
              <a:ext cx="528" cy="1"/>
            </a:xfrm>
            <a:custGeom>
              <a:avLst/>
              <a:gdLst>
                <a:gd name="T0" fmla="*/ 0 w 910"/>
                <a:gd name="T1" fmla="*/ 0 h 1"/>
                <a:gd name="T2" fmla="*/ 1 w 910"/>
                <a:gd name="T3" fmla="*/ 0 h 1"/>
                <a:gd name="T4" fmla="*/ 0 60000 65536"/>
                <a:gd name="T5" fmla="*/ 0 60000 65536"/>
                <a:gd name="T6" fmla="*/ 0 w 910"/>
                <a:gd name="T7" fmla="*/ 0 h 1"/>
                <a:gd name="T8" fmla="*/ 910 w 910"/>
                <a:gd name="T9" fmla="*/ 1 h 1"/>
              </a:gdLst>
              <a:ahLst/>
              <a:cxnLst>
                <a:cxn ang="T4">
                  <a:pos x="T0" y="T1"/>
                </a:cxn>
                <a:cxn ang="T5">
                  <a:pos x="T2" y="T3"/>
                </a:cxn>
              </a:cxnLst>
              <a:rect l="T6" t="T7" r="T8" b="T9"/>
              <a:pathLst>
                <a:path w="910" h="1">
                  <a:moveTo>
                    <a:pt x="0" y="0"/>
                  </a:moveTo>
                  <a:lnTo>
                    <a:pt x="910" y="0"/>
                  </a:ln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1" name="Text Box 24"/>
            <p:cNvSpPr txBox="1">
              <a:spLocks noChangeAspect="1" noChangeArrowheads="1"/>
            </p:cNvSpPr>
            <p:nvPr/>
          </p:nvSpPr>
          <p:spPr bwMode="auto">
            <a:xfrm>
              <a:off x="1104" y="3648"/>
              <a:ext cx="35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zh-CN" altLang="en-US" sz="2400" dirty="0">
                  <a:solidFill>
                    <a:srgbClr val="330066"/>
                  </a:solidFill>
                </a:rPr>
                <a:t> </a:t>
              </a:r>
              <a:r>
                <a:rPr lang="en-US" altLang="zh-CN" sz="2400" dirty="0">
                  <a:solidFill>
                    <a:srgbClr val="330066"/>
                  </a:solidFill>
                </a:rPr>
                <a:t>(a)           (b)         (c)        (d)</a:t>
              </a:r>
              <a:endParaRPr lang="en-US" altLang="zh-CN" sz="2400" dirty="0">
                <a:solidFill>
                  <a:srgbClr val="330066"/>
                </a:solidFill>
              </a:endParaRPr>
            </a:p>
          </p:txBody>
        </p:sp>
        <p:sp>
          <p:nvSpPr>
            <p:cNvPr id="219163" name="Freeform 26"/>
            <p:cNvSpPr>
              <a:spLocks noChangeAspect="1"/>
            </p:cNvSpPr>
            <p:nvPr/>
          </p:nvSpPr>
          <p:spPr bwMode="auto">
            <a:xfrm>
              <a:off x="3106" y="3052"/>
              <a:ext cx="0" cy="455"/>
            </a:xfrm>
            <a:custGeom>
              <a:avLst/>
              <a:gdLst>
                <a:gd name="T0" fmla="*/ 0 w 1"/>
                <a:gd name="T1" fmla="*/ 0 h 850"/>
                <a:gd name="T2" fmla="*/ 0 w 1"/>
                <a:gd name="T3" fmla="*/ 1 h 850"/>
                <a:gd name="T4" fmla="*/ 0 60000 65536"/>
                <a:gd name="T5" fmla="*/ 0 60000 65536"/>
                <a:gd name="T6" fmla="*/ 0 w 1"/>
                <a:gd name="T7" fmla="*/ 0 h 850"/>
                <a:gd name="T8" fmla="*/ 0 w 1"/>
                <a:gd name="T9" fmla="*/ 850 h 850"/>
              </a:gdLst>
              <a:ahLst/>
              <a:cxnLst>
                <a:cxn ang="T4">
                  <a:pos x="T0" y="T1"/>
                </a:cxn>
                <a:cxn ang="T5">
                  <a:pos x="T2" y="T3"/>
                </a:cxn>
              </a:cxnLst>
              <a:rect l="T6" t="T7" r="T8" b="T9"/>
              <a:pathLst>
                <a:path w="1" h="850">
                  <a:moveTo>
                    <a:pt x="0" y="0"/>
                  </a:moveTo>
                  <a:lnTo>
                    <a:pt x="0" y="850"/>
                  </a:ln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4" name="Freeform 27"/>
            <p:cNvSpPr>
              <a:spLocks noChangeAspect="1"/>
            </p:cNvSpPr>
            <p:nvPr/>
          </p:nvSpPr>
          <p:spPr bwMode="auto">
            <a:xfrm>
              <a:off x="1128" y="2988"/>
              <a:ext cx="551" cy="48"/>
            </a:xfrm>
            <a:custGeom>
              <a:avLst/>
              <a:gdLst>
                <a:gd name="T0" fmla="*/ 1 w 950"/>
                <a:gd name="T1" fmla="*/ 1 h 90"/>
                <a:gd name="T2" fmla="*/ 1 w 950"/>
                <a:gd name="T3" fmla="*/ 0 h 90"/>
                <a:gd name="T4" fmla="*/ 0 w 950"/>
                <a:gd name="T5" fmla="*/ 1 h 90"/>
                <a:gd name="T6" fmla="*/ 0 60000 65536"/>
                <a:gd name="T7" fmla="*/ 0 60000 65536"/>
                <a:gd name="T8" fmla="*/ 0 60000 65536"/>
                <a:gd name="T9" fmla="*/ 0 w 950"/>
                <a:gd name="T10" fmla="*/ 0 h 90"/>
                <a:gd name="T11" fmla="*/ 950 w 950"/>
                <a:gd name="T12" fmla="*/ 90 h 90"/>
              </a:gdLst>
              <a:ahLst/>
              <a:cxnLst>
                <a:cxn ang="T6">
                  <a:pos x="T0" y="T1"/>
                </a:cxn>
                <a:cxn ang="T7">
                  <a:pos x="T2" y="T3"/>
                </a:cxn>
                <a:cxn ang="T8">
                  <a:pos x="T4" y="T5"/>
                </a:cxn>
              </a:cxnLst>
              <a:rect l="T9" t="T10" r="T11" b="T12"/>
              <a:pathLst>
                <a:path w="950" h="90">
                  <a:moveTo>
                    <a:pt x="950" y="90"/>
                  </a:moveTo>
                  <a:cubicBezTo>
                    <a:pt x="872" y="75"/>
                    <a:pt x="638" y="0"/>
                    <a:pt x="480" y="0"/>
                  </a:cubicBezTo>
                  <a:cubicBezTo>
                    <a:pt x="322" y="0"/>
                    <a:pt x="100" y="71"/>
                    <a:pt x="0" y="9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5" name="Freeform 28"/>
            <p:cNvSpPr>
              <a:spLocks noChangeAspect="1"/>
            </p:cNvSpPr>
            <p:nvPr/>
          </p:nvSpPr>
          <p:spPr bwMode="auto">
            <a:xfrm>
              <a:off x="1139" y="3036"/>
              <a:ext cx="540" cy="77"/>
            </a:xfrm>
            <a:custGeom>
              <a:avLst/>
              <a:gdLst>
                <a:gd name="T0" fmla="*/ 0 w 930"/>
                <a:gd name="T1" fmla="*/ 1 h 143"/>
                <a:gd name="T2" fmla="*/ 1 w 930"/>
                <a:gd name="T3" fmla="*/ 1 h 143"/>
                <a:gd name="T4" fmla="*/ 1 w 930"/>
                <a:gd name="T5" fmla="*/ 1 h 143"/>
                <a:gd name="T6" fmla="*/ 1 w 930"/>
                <a:gd name="T7" fmla="*/ 0 h 143"/>
                <a:gd name="T8" fmla="*/ 0 60000 65536"/>
                <a:gd name="T9" fmla="*/ 0 60000 65536"/>
                <a:gd name="T10" fmla="*/ 0 60000 65536"/>
                <a:gd name="T11" fmla="*/ 0 60000 65536"/>
                <a:gd name="T12" fmla="*/ 0 w 930"/>
                <a:gd name="T13" fmla="*/ 0 h 143"/>
                <a:gd name="T14" fmla="*/ 930 w 930"/>
                <a:gd name="T15" fmla="*/ 143 h 143"/>
              </a:gdLst>
              <a:ahLst/>
              <a:cxnLst>
                <a:cxn ang="T8">
                  <a:pos x="T0" y="T1"/>
                </a:cxn>
                <a:cxn ang="T9">
                  <a:pos x="T2" y="T3"/>
                </a:cxn>
                <a:cxn ang="T10">
                  <a:pos x="T4" y="T5"/>
                </a:cxn>
                <a:cxn ang="T11">
                  <a:pos x="T6" y="T7"/>
                </a:cxn>
              </a:cxnLst>
              <a:rect l="T12" t="T13" r="T14" b="T15"/>
              <a:pathLst>
                <a:path w="930" h="143">
                  <a:moveTo>
                    <a:pt x="0" y="30"/>
                  </a:moveTo>
                  <a:cubicBezTo>
                    <a:pt x="58" y="47"/>
                    <a:pt x="240" y="117"/>
                    <a:pt x="350" y="130"/>
                  </a:cubicBezTo>
                  <a:cubicBezTo>
                    <a:pt x="460" y="143"/>
                    <a:pt x="563" y="132"/>
                    <a:pt x="660" y="110"/>
                  </a:cubicBezTo>
                  <a:cubicBezTo>
                    <a:pt x="757" y="88"/>
                    <a:pt x="874" y="23"/>
                    <a:pt x="930" y="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6" name="Oval 29"/>
            <p:cNvSpPr>
              <a:spLocks noChangeAspect="1" noChangeArrowheads="1"/>
            </p:cNvSpPr>
            <p:nvPr/>
          </p:nvSpPr>
          <p:spPr bwMode="auto">
            <a:xfrm>
              <a:off x="1116" y="3031"/>
              <a:ext cx="33"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67" name="Arc 30"/>
            <p:cNvSpPr>
              <a:spLocks noChangeAspect="1"/>
            </p:cNvSpPr>
            <p:nvPr/>
          </p:nvSpPr>
          <p:spPr bwMode="auto">
            <a:xfrm rot="240000" flipH="1">
              <a:off x="1931" y="2950"/>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68" name="Text Box 31"/>
            <p:cNvSpPr txBox="1">
              <a:spLocks noChangeAspect="1" noChangeArrowheads="1"/>
            </p:cNvSpPr>
            <p:nvPr/>
          </p:nvSpPr>
          <p:spPr bwMode="auto">
            <a:xfrm>
              <a:off x="1948" y="290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69" name="Oval 32"/>
            <p:cNvSpPr>
              <a:spLocks noChangeAspect="1" noChangeArrowheads="1"/>
            </p:cNvSpPr>
            <p:nvPr/>
          </p:nvSpPr>
          <p:spPr bwMode="auto">
            <a:xfrm>
              <a:off x="2662" y="3018"/>
              <a:ext cx="33"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70" name="Oval 33"/>
            <p:cNvSpPr>
              <a:spLocks noChangeAspect="1" noChangeArrowheads="1"/>
            </p:cNvSpPr>
            <p:nvPr/>
          </p:nvSpPr>
          <p:spPr bwMode="auto">
            <a:xfrm>
              <a:off x="2111" y="3504"/>
              <a:ext cx="33" cy="30"/>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71" name="Text Box 34"/>
            <p:cNvSpPr txBox="1">
              <a:spLocks noChangeAspect="1" noChangeArrowheads="1"/>
            </p:cNvSpPr>
            <p:nvPr/>
          </p:nvSpPr>
          <p:spPr bwMode="auto">
            <a:xfrm>
              <a:off x="1948" y="338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330066"/>
                  </a:solidFill>
                </a:rPr>
                <a:t>2</a:t>
              </a:r>
              <a:endParaRPr lang="en-US" altLang="zh-CN" sz="2400" dirty="0">
                <a:solidFill>
                  <a:srgbClr val="FF0000"/>
                </a:solidFill>
              </a:endParaRPr>
            </a:p>
          </p:txBody>
        </p:sp>
        <p:sp>
          <p:nvSpPr>
            <p:cNvPr id="219172" name="Oval 35"/>
            <p:cNvSpPr>
              <a:spLocks noChangeAspect="1" noChangeArrowheads="1"/>
            </p:cNvSpPr>
            <p:nvPr/>
          </p:nvSpPr>
          <p:spPr bwMode="auto">
            <a:xfrm>
              <a:off x="2662" y="3504"/>
              <a:ext cx="33" cy="30"/>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73" name="Text Box 36"/>
            <p:cNvSpPr txBox="1">
              <a:spLocks noChangeAspect="1" noChangeArrowheads="1"/>
            </p:cNvSpPr>
            <p:nvPr/>
          </p:nvSpPr>
          <p:spPr bwMode="auto">
            <a:xfrm>
              <a:off x="2662" y="290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330066"/>
                  </a:solidFill>
                </a:rPr>
                <a:t>3</a:t>
              </a:r>
              <a:endParaRPr lang="en-US" altLang="zh-CN" sz="2400" dirty="0">
                <a:solidFill>
                  <a:srgbClr val="FF0000"/>
                </a:solidFill>
              </a:endParaRPr>
            </a:p>
          </p:txBody>
        </p:sp>
        <p:sp>
          <p:nvSpPr>
            <p:cNvPr id="219174" name="Text Box 37"/>
            <p:cNvSpPr txBox="1">
              <a:spLocks noChangeAspect="1" noChangeArrowheads="1"/>
            </p:cNvSpPr>
            <p:nvPr/>
          </p:nvSpPr>
          <p:spPr bwMode="auto">
            <a:xfrm>
              <a:off x="2662" y="3384"/>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75" name="Oval 38"/>
            <p:cNvSpPr>
              <a:spLocks noChangeAspect="1" noChangeArrowheads="1"/>
            </p:cNvSpPr>
            <p:nvPr/>
          </p:nvSpPr>
          <p:spPr bwMode="auto">
            <a:xfrm>
              <a:off x="2111" y="3018"/>
              <a:ext cx="33"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76" name="Arc 39"/>
            <p:cNvSpPr>
              <a:spLocks noChangeAspect="1"/>
            </p:cNvSpPr>
            <p:nvPr/>
          </p:nvSpPr>
          <p:spPr bwMode="auto">
            <a:xfrm rot="240000" flipH="1">
              <a:off x="2908" y="2950"/>
              <a:ext cx="198"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77" name="Text Box 40"/>
            <p:cNvSpPr txBox="1">
              <a:spLocks noChangeAspect="1" noChangeArrowheads="1"/>
            </p:cNvSpPr>
            <p:nvPr/>
          </p:nvSpPr>
          <p:spPr bwMode="auto">
            <a:xfrm>
              <a:off x="2926" y="2903"/>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78" name="Oval 41"/>
            <p:cNvSpPr>
              <a:spLocks noChangeAspect="1" noChangeArrowheads="1"/>
            </p:cNvSpPr>
            <p:nvPr/>
          </p:nvSpPr>
          <p:spPr bwMode="auto">
            <a:xfrm>
              <a:off x="3639" y="3017"/>
              <a:ext cx="33"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79" name="Oval 42"/>
            <p:cNvSpPr>
              <a:spLocks noChangeAspect="1" noChangeArrowheads="1"/>
            </p:cNvSpPr>
            <p:nvPr/>
          </p:nvSpPr>
          <p:spPr bwMode="auto">
            <a:xfrm>
              <a:off x="3087" y="3502"/>
              <a:ext cx="34" cy="32"/>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80" name="Text Box 43"/>
            <p:cNvSpPr txBox="1">
              <a:spLocks noChangeAspect="1" noChangeArrowheads="1"/>
            </p:cNvSpPr>
            <p:nvPr/>
          </p:nvSpPr>
          <p:spPr bwMode="auto">
            <a:xfrm>
              <a:off x="2926" y="3383"/>
              <a:ext cx="20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2</a:t>
              </a:r>
              <a:endParaRPr lang="en-US" altLang="zh-CN" sz="2400">
                <a:solidFill>
                  <a:srgbClr val="FF0000"/>
                </a:solidFill>
              </a:endParaRPr>
            </a:p>
          </p:txBody>
        </p:sp>
        <p:sp>
          <p:nvSpPr>
            <p:cNvPr id="219181" name="Oval 44"/>
            <p:cNvSpPr>
              <a:spLocks noChangeAspect="1" noChangeArrowheads="1"/>
            </p:cNvSpPr>
            <p:nvPr/>
          </p:nvSpPr>
          <p:spPr bwMode="auto">
            <a:xfrm>
              <a:off x="3639" y="3502"/>
              <a:ext cx="33" cy="32"/>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82" name="Text Box 45"/>
            <p:cNvSpPr txBox="1">
              <a:spLocks noChangeAspect="1" noChangeArrowheads="1"/>
            </p:cNvSpPr>
            <p:nvPr/>
          </p:nvSpPr>
          <p:spPr bwMode="auto">
            <a:xfrm>
              <a:off x="3639" y="2903"/>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3</a:t>
              </a:r>
              <a:endParaRPr lang="en-US" altLang="zh-CN" sz="2400">
                <a:solidFill>
                  <a:srgbClr val="FF0000"/>
                </a:solidFill>
              </a:endParaRPr>
            </a:p>
          </p:txBody>
        </p:sp>
        <p:sp>
          <p:nvSpPr>
            <p:cNvPr id="219183" name="Text Box 46"/>
            <p:cNvSpPr txBox="1">
              <a:spLocks noChangeAspect="1" noChangeArrowheads="1"/>
            </p:cNvSpPr>
            <p:nvPr/>
          </p:nvSpPr>
          <p:spPr bwMode="auto">
            <a:xfrm>
              <a:off x="3639" y="3383"/>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84" name="Freeform 47"/>
            <p:cNvSpPr>
              <a:spLocks noChangeAspect="1"/>
            </p:cNvSpPr>
            <p:nvPr/>
          </p:nvSpPr>
          <p:spPr bwMode="auto">
            <a:xfrm>
              <a:off x="3100" y="2974"/>
              <a:ext cx="551" cy="49"/>
            </a:xfrm>
            <a:custGeom>
              <a:avLst/>
              <a:gdLst>
                <a:gd name="T0" fmla="*/ 1 w 950"/>
                <a:gd name="T1" fmla="*/ 1 h 90"/>
                <a:gd name="T2" fmla="*/ 1 w 950"/>
                <a:gd name="T3" fmla="*/ 0 h 90"/>
                <a:gd name="T4" fmla="*/ 0 w 950"/>
                <a:gd name="T5" fmla="*/ 1 h 90"/>
                <a:gd name="T6" fmla="*/ 0 60000 65536"/>
                <a:gd name="T7" fmla="*/ 0 60000 65536"/>
                <a:gd name="T8" fmla="*/ 0 60000 65536"/>
                <a:gd name="T9" fmla="*/ 0 w 950"/>
                <a:gd name="T10" fmla="*/ 0 h 90"/>
                <a:gd name="T11" fmla="*/ 950 w 950"/>
                <a:gd name="T12" fmla="*/ 90 h 90"/>
              </a:gdLst>
              <a:ahLst/>
              <a:cxnLst>
                <a:cxn ang="T6">
                  <a:pos x="T0" y="T1"/>
                </a:cxn>
                <a:cxn ang="T7">
                  <a:pos x="T2" y="T3"/>
                </a:cxn>
                <a:cxn ang="T8">
                  <a:pos x="T4" y="T5"/>
                </a:cxn>
              </a:cxnLst>
              <a:rect l="T9" t="T10" r="T11" b="T12"/>
              <a:pathLst>
                <a:path w="950" h="90">
                  <a:moveTo>
                    <a:pt x="950" y="90"/>
                  </a:moveTo>
                  <a:cubicBezTo>
                    <a:pt x="872" y="75"/>
                    <a:pt x="638" y="0"/>
                    <a:pt x="480" y="0"/>
                  </a:cubicBezTo>
                  <a:cubicBezTo>
                    <a:pt x="322" y="0"/>
                    <a:pt x="100" y="71"/>
                    <a:pt x="0" y="9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85" name="Freeform 48"/>
            <p:cNvSpPr>
              <a:spLocks noChangeAspect="1"/>
            </p:cNvSpPr>
            <p:nvPr/>
          </p:nvSpPr>
          <p:spPr bwMode="auto">
            <a:xfrm>
              <a:off x="3111" y="3023"/>
              <a:ext cx="540" cy="76"/>
            </a:xfrm>
            <a:custGeom>
              <a:avLst/>
              <a:gdLst>
                <a:gd name="T0" fmla="*/ 0 w 930"/>
                <a:gd name="T1" fmla="*/ 1 h 143"/>
                <a:gd name="T2" fmla="*/ 1 w 930"/>
                <a:gd name="T3" fmla="*/ 1 h 143"/>
                <a:gd name="T4" fmla="*/ 1 w 930"/>
                <a:gd name="T5" fmla="*/ 1 h 143"/>
                <a:gd name="T6" fmla="*/ 1 w 930"/>
                <a:gd name="T7" fmla="*/ 0 h 143"/>
                <a:gd name="T8" fmla="*/ 0 60000 65536"/>
                <a:gd name="T9" fmla="*/ 0 60000 65536"/>
                <a:gd name="T10" fmla="*/ 0 60000 65536"/>
                <a:gd name="T11" fmla="*/ 0 60000 65536"/>
                <a:gd name="T12" fmla="*/ 0 w 930"/>
                <a:gd name="T13" fmla="*/ 0 h 143"/>
                <a:gd name="T14" fmla="*/ 930 w 930"/>
                <a:gd name="T15" fmla="*/ 143 h 143"/>
              </a:gdLst>
              <a:ahLst/>
              <a:cxnLst>
                <a:cxn ang="T8">
                  <a:pos x="T0" y="T1"/>
                </a:cxn>
                <a:cxn ang="T9">
                  <a:pos x="T2" y="T3"/>
                </a:cxn>
                <a:cxn ang="T10">
                  <a:pos x="T4" y="T5"/>
                </a:cxn>
                <a:cxn ang="T11">
                  <a:pos x="T6" y="T7"/>
                </a:cxn>
              </a:cxnLst>
              <a:rect l="T12" t="T13" r="T14" b="T15"/>
              <a:pathLst>
                <a:path w="930" h="143">
                  <a:moveTo>
                    <a:pt x="0" y="30"/>
                  </a:moveTo>
                  <a:cubicBezTo>
                    <a:pt x="58" y="47"/>
                    <a:pt x="240" y="117"/>
                    <a:pt x="350" y="130"/>
                  </a:cubicBezTo>
                  <a:cubicBezTo>
                    <a:pt x="460" y="143"/>
                    <a:pt x="563" y="132"/>
                    <a:pt x="660" y="110"/>
                  </a:cubicBezTo>
                  <a:cubicBezTo>
                    <a:pt x="757" y="88"/>
                    <a:pt x="874" y="23"/>
                    <a:pt x="930" y="0"/>
                  </a:cubicBezTo>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86" name="Arc 49"/>
            <p:cNvSpPr>
              <a:spLocks noChangeAspect="1"/>
            </p:cNvSpPr>
            <p:nvPr/>
          </p:nvSpPr>
          <p:spPr bwMode="auto">
            <a:xfrm rot="240000" flipH="1">
              <a:off x="3848" y="2913"/>
              <a:ext cx="197" cy="18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87" name="Text Box 50"/>
            <p:cNvSpPr txBox="1">
              <a:spLocks noChangeAspect="1" noChangeArrowheads="1"/>
            </p:cNvSpPr>
            <p:nvPr/>
          </p:nvSpPr>
          <p:spPr bwMode="auto">
            <a:xfrm>
              <a:off x="3865" y="2866"/>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1</a:t>
              </a:r>
              <a:endParaRPr lang="en-US" altLang="zh-CN" sz="2400">
                <a:solidFill>
                  <a:srgbClr val="FF0000"/>
                </a:solidFill>
              </a:endParaRPr>
            </a:p>
          </p:txBody>
        </p:sp>
        <p:sp>
          <p:nvSpPr>
            <p:cNvPr id="219188" name="Oval 51"/>
            <p:cNvSpPr>
              <a:spLocks noChangeAspect="1" noChangeArrowheads="1"/>
            </p:cNvSpPr>
            <p:nvPr/>
          </p:nvSpPr>
          <p:spPr bwMode="auto">
            <a:xfrm>
              <a:off x="4433" y="2980"/>
              <a:ext cx="34" cy="30"/>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89" name="Oval 52"/>
            <p:cNvSpPr>
              <a:spLocks noChangeAspect="1" noChangeArrowheads="1"/>
            </p:cNvSpPr>
            <p:nvPr/>
          </p:nvSpPr>
          <p:spPr bwMode="auto">
            <a:xfrm>
              <a:off x="4028" y="3465"/>
              <a:ext cx="33"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90" name="Text Box 53"/>
            <p:cNvSpPr txBox="1">
              <a:spLocks noChangeAspect="1" noChangeArrowheads="1"/>
            </p:cNvSpPr>
            <p:nvPr/>
          </p:nvSpPr>
          <p:spPr bwMode="auto">
            <a:xfrm>
              <a:off x="3865" y="334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2</a:t>
              </a:r>
              <a:endParaRPr lang="en-US" altLang="zh-CN" sz="2400">
                <a:solidFill>
                  <a:srgbClr val="FF0000"/>
                </a:solidFill>
              </a:endParaRPr>
            </a:p>
          </p:txBody>
        </p:sp>
        <p:sp>
          <p:nvSpPr>
            <p:cNvPr id="219191" name="Oval 54"/>
            <p:cNvSpPr>
              <a:spLocks noChangeAspect="1" noChangeArrowheads="1"/>
            </p:cNvSpPr>
            <p:nvPr/>
          </p:nvSpPr>
          <p:spPr bwMode="auto">
            <a:xfrm>
              <a:off x="4433" y="3465"/>
              <a:ext cx="34"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92" name="Text Box 55"/>
            <p:cNvSpPr txBox="1">
              <a:spLocks noChangeAspect="1" noChangeArrowheads="1"/>
            </p:cNvSpPr>
            <p:nvPr/>
          </p:nvSpPr>
          <p:spPr bwMode="auto">
            <a:xfrm>
              <a:off x="4433" y="2866"/>
              <a:ext cx="20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3</a:t>
              </a:r>
              <a:endParaRPr lang="en-US" altLang="zh-CN" sz="2400">
                <a:solidFill>
                  <a:srgbClr val="FF0000"/>
                </a:solidFill>
              </a:endParaRPr>
            </a:p>
          </p:txBody>
        </p:sp>
        <p:sp>
          <p:nvSpPr>
            <p:cNvPr id="219193" name="Text Box 56"/>
            <p:cNvSpPr txBox="1">
              <a:spLocks noChangeAspect="1" noChangeArrowheads="1"/>
            </p:cNvSpPr>
            <p:nvPr/>
          </p:nvSpPr>
          <p:spPr bwMode="auto">
            <a:xfrm>
              <a:off x="4433" y="334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med"/>
                </a14:hiddenLine>
              </a:ext>
            </a:extLst>
          </p:spPr>
          <p:txBody>
            <a:bodyPr lIns="74083" tIns="37042" rIns="74083" bIns="37042"/>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330066"/>
                  </a:solidFill>
                </a:rPr>
                <a:t>4</a:t>
              </a:r>
              <a:endParaRPr lang="en-US" altLang="zh-CN" sz="2400">
                <a:solidFill>
                  <a:srgbClr val="FF0000"/>
                </a:solidFill>
              </a:endParaRPr>
            </a:p>
          </p:txBody>
        </p:sp>
        <p:sp>
          <p:nvSpPr>
            <p:cNvPr id="219194" name="Arc 57"/>
            <p:cNvSpPr>
              <a:spLocks noChangeAspect="1"/>
            </p:cNvSpPr>
            <p:nvPr/>
          </p:nvSpPr>
          <p:spPr bwMode="auto">
            <a:xfrm rot="11820000" flipH="1">
              <a:off x="4437" y="3400"/>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1601" y="13436"/>
                  </a:lnTo>
                  <a:close/>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95" name="Oval 58"/>
            <p:cNvSpPr>
              <a:spLocks noChangeAspect="1" noChangeArrowheads="1"/>
            </p:cNvSpPr>
            <p:nvPr/>
          </p:nvSpPr>
          <p:spPr bwMode="auto">
            <a:xfrm>
              <a:off x="4028" y="2980"/>
              <a:ext cx="33" cy="30"/>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96" name="Oval 59"/>
            <p:cNvSpPr>
              <a:spLocks noChangeAspect="1" noChangeArrowheads="1"/>
            </p:cNvSpPr>
            <p:nvPr/>
          </p:nvSpPr>
          <p:spPr bwMode="auto">
            <a:xfrm>
              <a:off x="3087" y="3017"/>
              <a:ext cx="34" cy="31"/>
            </a:xfrm>
            <a:prstGeom prst="ellipse">
              <a:avLst/>
            </a:prstGeom>
            <a:noFill/>
            <a:ln w="28575" algn="ctr">
              <a:solidFill>
                <a:srgbClr val="000000"/>
              </a:solidFill>
              <a:round/>
              <a:tailEnd type="none" w="sm" len="me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219197" name="Arc 60"/>
            <p:cNvSpPr>
              <a:spLocks noChangeAspect="1"/>
            </p:cNvSpPr>
            <p:nvPr/>
          </p:nvSpPr>
          <p:spPr bwMode="auto">
            <a:xfrm rot="240000" flipH="1">
              <a:off x="3854" y="3397"/>
              <a:ext cx="196"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814" y="15725"/>
                  </a:moveTo>
                  <a:cubicBezTo>
                    <a:pt x="3443" y="6422"/>
                    <a:pt x="1193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814" y="15725"/>
                  </a:lnTo>
                  <a:close/>
                </a:path>
              </a:pathLst>
            </a:custGeom>
            <a:noFill/>
            <a:ln w="28575">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9198" name="Arc 61"/>
            <p:cNvSpPr>
              <a:spLocks noChangeAspect="1"/>
            </p:cNvSpPr>
            <p:nvPr/>
          </p:nvSpPr>
          <p:spPr bwMode="auto">
            <a:xfrm rot="11937356" flipH="1">
              <a:off x="4445" y="2904"/>
              <a:ext cx="197" cy="18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path>
                <a:path w="43200" h="43200" stroke="0" extrusionOk="0">
                  <a:moveTo>
                    <a:pt x="1601" y="13436"/>
                  </a:moveTo>
                  <a:cubicBezTo>
                    <a:pt x="4918" y="5310"/>
                    <a:pt x="12823" y="-1"/>
                    <a:pt x="21600" y="0"/>
                  </a:cubicBezTo>
                  <a:cubicBezTo>
                    <a:pt x="33529" y="0"/>
                    <a:pt x="43200" y="9670"/>
                    <a:pt x="43200" y="21600"/>
                  </a:cubicBezTo>
                  <a:cubicBezTo>
                    <a:pt x="43200" y="33529"/>
                    <a:pt x="33529" y="43200"/>
                    <a:pt x="21600" y="43200"/>
                  </a:cubicBezTo>
                  <a:cubicBezTo>
                    <a:pt x="9670" y="43200"/>
                    <a:pt x="0" y="33529"/>
                    <a:pt x="0" y="21600"/>
                  </a:cubicBezTo>
                  <a:cubicBezTo>
                    <a:pt x="-1" y="21527"/>
                    <a:pt x="0" y="21455"/>
                    <a:pt x="1" y="21384"/>
                  </a:cubicBezTo>
                  <a:lnTo>
                    <a:pt x="21600" y="21600"/>
                  </a:lnTo>
                  <a:lnTo>
                    <a:pt x="1601" y="13436"/>
                  </a:lnTo>
                  <a:close/>
                </a:path>
              </a:pathLst>
            </a:custGeom>
            <a:noFill/>
            <a:ln w="28575">
              <a:solidFill>
                <a:srgbClr val="000000"/>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48350" name="Text Box 62"/>
          <p:cNvSpPr txBox="1">
            <a:spLocks noChangeArrowheads="1"/>
          </p:cNvSpPr>
          <p:nvPr/>
        </p:nvSpPr>
        <p:spPr bwMode="auto">
          <a:xfrm>
            <a:off x="347551" y="1061704"/>
            <a:ext cx="10628424" cy="327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400" dirty="0">
                <a:solidFill>
                  <a:schemeClr val="tx1"/>
                </a:solidFill>
                <a:latin typeface="+mn-ea"/>
                <a:ea typeface="+mn-ea"/>
              </a:rPr>
              <a:t>（</a:t>
            </a:r>
            <a:r>
              <a:rPr lang="en-US" altLang="zh-CN" sz="2400" dirty="0">
                <a:solidFill>
                  <a:schemeClr val="tx1"/>
                </a:solidFill>
                <a:latin typeface="+mn-ea"/>
                <a:ea typeface="+mn-ea"/>
              </a:rPr>
              <a:t>2</a:t>
            </a:r>
            <a:r>
              <a:rPr lang="zh-CN" altLang="en-US" sz="2400" dirty="0">
                <a:solidFill>
                  <a:schemeClr val="tx1"/>
                </a:solidFill>
                <a:latin typeface="+mn-ea"/>
                <a:ea typeface="+mn-ea"/>
              </a:rPr>
              <a:t>）设</a:t>
            </a:r>
            <a:r>
              <a:rPr lang="es-ES" altLang="zh-CN" sz="2400" dirty="0">
                <a:solidFill>
                  <a:schemeClr val="tx1"/>
                </a:solidFill>
                <a:latin typeface="+mn-ea"/>
                <a:ea typeface="+mn-ea"/>
              </a:rPr>
              <a:t>R,S,T</a:t>
            </a:r>
            <a:r>
              <a:rPr lang="zh-CN" altLang="es-ES" sz="2400" dirty="0">
                <a:solidFill>
                  <a:schemeClr val="tx1"/>
                </a:solidFill>
                <a:latin typeface="+mn-ea"/>
                <a:ea typeface="+mn-ea"/>
              </a:rPr>
              <a:t>和</a:t>
            </a:r>
            <a:r>
              <a:rPr lang="en-US" altLang="zh-CN" sz="2400" dirty="0">
                <a:solidFill>
                  <a:schemeClr val="tx1"/>
                </a:solidFill>
                <a:latin typeface="+mn-ea"/>
                <a:ea typeface="+mn-ea"/>
              </a:rPr>
              <a:t>V</a:t>
            </a:r>
            <a:r>
              <a:rPr lang="zh-CN" altLang="en-US" sz="2400" dirty="0">
                <a:solidFill>
                  <a:schemeClr val="tx1"/>
                </a:solidFill>
                <a:latin typeface="+mn-ea"/>
                <a:ea typeface="+mn-ea"/>
              </a:rPr>
              <a:t>的关系矩阵分别为</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R</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S</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T</a:t>
            </a:r>
            <a:r>
              <a:rPr lang="zh-CN" altLang="en-US" sz="2400" dirty="0">
                <a:solidFill>
                  <a:schemeClr val="tx1"/>
                </a:solidFill>
                <a:latin typeface="+mn-ea"/>
                <a:ea typeface="+mn-ea"/>
              </a:rPr>
              <a:t>和</a:t>
            </a:r>
            <a:r>
              <a:rPr lang="en-US" altLang="zh-CN" sz="2400" dirty="0">
                <a:solidFill>
                  <a:schemeClr val="tx1"/>
                </a:solidFill>
                <a:latin typeface="+mn-ea"/>
                <a:ea typeface="+mn-ea"/>
              </a:rPr>
              <a:t>M</a:t>
            </a:r>
            <a:r>
              <a:rPr lang="en-US" altLang="zh-CN" sz="2400" baseline="-25000" dirty="0">
                <a:solidFill>
                  <a:schemeClr val="tx1"/>
                </a:solidFill>
                <a:latin typeface="+mn-ea"/>
                <a:ea typeface="+mn-ea"/>
              </a:rPr>
              <a:t>V</a:t>
            </a:r>
            <a:r>
              <a:rPr lang="zh-CN" altLang="en-US" sz="2400" dirty="0">
                <a:solidFill>
                  <a:schemeClr val="tx1"/>
                </a:solidFill>
                <a:latin typeface="+mn-ea"/>
                <a:ea typeface="+mn-ea"/>
              </a:rPr>
              <a:t>，则</a:t>
            </a:r>
            <a:endParaRPr lang="zh-CN" altLang="en-US" sz="2400" dirty="0">
              <a:solidFill>
                <a:schemeClr val="tx1"/>
              </a:solidFill>
              <a:latin typeface="+mn-ea"/>
              <a:ea typeface="+mn-ea"/>
            </a:endParaRPr>
          </a:p>
          <a:p>
            <a:pPr algn="l" eaLnBrk="1" hangingPunct="1">
              <a:lnSpc>
                <a:spcPct val="100000"/>
              </a:lnSpc>
              <a:spcBef>
                <a:spcPct val="0"/>
              </a:spcBef>
              <a:buClrTx/>
              <a:buFontTx/>
              <a:buNone/>
            </a:pPr>
            <a:endParaRPr lang="zh-CN" altLang="en-US" sz="2800" dirty="0">
              <a:solidFill>
                <a:srgbClr val="FF0000"/>
              </a:solidFill>
            </a:endParaRPr>
          </a:p>
          <a:p>
            <a:pPr algn="l" eaLnBrk="1" hangingPunct="1">
              <a:lnSpc>
                <a:spcPct val="100000"/>
              </a:lnSpc>
              <a:spcBef>
                <a:spcPct val="0"/>
              </a:spcBef>
              <a:buClrTx/>
              <a:buFontTx/>
              <a:buNone/>
            </a:pPr>
            <a:endParaRPr lang="zh-CN" altLang="en-US" sz="2800" dirty="0"/>
          </a:p>
          <a:p>
            <a:pPr algn="l" eaLnBrk="1" hangingPunct="1">
              <a:lnSpc>
                <a:spcPct val="100000"/>
              </a:lnSpc>
              <a:spcBef>
                <a:spcPct val="0"/>
              </a:spcBef>
              <a:buClrTx/>
              <a:buFontTx/>
              <a:buNone/>
            </a:pPr>
            <a:endParaRPr lang="zh-CN" altLang="en-US" sz="2800" dirty="0"/>
          </a:p>
          <a:p>
            <a:pPr algn="l" eaLnBrk="1" hangingPunct="1">
              <a:lnSpc>
                <a:spcPct val="100000"/>
              </a:lnSpc>
              <a:spcBef>
                <a:spcPct val="0"/>
              </a:spcBef>
              <a:buClrTx/>
              <a:buFontTx/>
              <a:buNone/>
            </a:pPr>
            <a:endParaRPr lang="zh-CN" altLang="en-US" sz="2800" dirty="0"/>
          </a:p>
          <a:p>
            <a:pPr algn="l" eaLnBrk="1" hangingPunct="1">
              <a:lnSpc>
                <a:spcPct val="100000"/>
              </a:lnSpc>
              <a:spcBef>
                <a:spcPct val="0"/>
              </a:spcBef>
              <a:buClrTx/>
              <a:buFontTx/>
              <a:buNone/>
            </a:pPr>
            <a:endParaRPr lang="en-US" altLang="zh-CN" sz="2800" dirty="0">
              <a:solidFill>
                <a:srgbClr val="0000CC"/>
              </a:solidFill>
            </a:endParaRPr>
          </a:p>
          <a:p>
            <a:pPr algn="l" eaLnBrk="1" hangingPunct="1">
              <a:lnSpc>
                <a:spcPct val="100000"/>
              </a:lnSpc>
              <a:spcBef>
                <a:spcPts val="1800"/>
              </a:spcBef>
              <a:buClrTx/>
              <a:buFontTx/>
              <a:buNone/>
            </a:pPr>
            <a:r>
              <a:rPr lang="en-US" altLang="zh-CN" sz="2800" dirty="0">
                <a:solidFill>
                  <a:srgbClr val="0000CC"/>
                </a:solidFill>
              </a:rPr>
              <a:t> </a:t>
            </a:r>
            <a:r>
              <a:rPr lang="en-US" altLang="zh-CN" sz="2400" dirty="0">
                <a:solidFill>
                  <a:schemeClr val="tx1"/>
                </a:solidFill>
                <a:latin typeface="+mn-ea"/>
                <a:ea typeface="+mn-ea"/>
              </a:rPr>
              <a:t>(3)</a:t>
            </a:r>
            <a:r>
              <a:rPr lang="es-ES" altLang="zh-CN" sz="2400" dirty="0">
                <a:solidFill>
                  <a:schemeClr val="tx1"/>
                </a:solidFill>
                <a:latin typeface="+mn-ea"/>
                <a:ea typeface="+mn-ea"/>
              </a:rPr>
              <a:t>R,S,T</a:t>
            </a:r>
            <a:r>
              <a:rPr lang="zh-CN" altLang="es-ES" sz="2400" dirty="0">
                <a:solidFill>
                  <a:schemeClr val="tx1"/>
                </a:solidFill>
                <a:latin typeface="+mn-ea"/>
                <a:ea typeface="+mn-ea"/>
              </a:rPr>
              <a:t>和Ｖ的关系图分别是图</a:t>
            </a:r>
            <a:r>
              <a:rPr lang="en-US" altLang="zh-CN" sz="2400" dirty="0">
                <a:solidFill>
                  <a:schemeClr val="tx1"/>
                </a:solidFill>
                <a:latin typeface="+mn-ea"/>
                <a:ea typeface="+mn-ea"/>
              </a:rPr>
              <a:t>(a),(b),(c)</a:t>
            </a:r>
            <a:r>
              <a:rPr lang="zh-CN" altLang="en-US" sz="2400" dirty="0">
                <a:solidFill>
                  <a:schemeClr val="tx1"/>
                </a:solidFill>
                <a:latin typeface="+mn-ea"/>
                <a:ea typeface="+mn-ea"/>
              </a:rPr>
              <a:t>和</a:t>
            </a:r>
            <a:r>
              <a:rPr lang="en-US" altLang="zh-CN" sz="2400" dirty="0">
                <a:solidFill>
                  <a:schemeClr val="tx1"/>
                </a:solidFill>
                <a:latin typeface="+mn-ea"/>
                <a:ea typeface="+mn-ea"/>
              </a:rPr>
              <a:t>(d)</a:t>
            </a:r>
            <a:r>
              <a:rPr lang="zh-CN" altLang="en-US" sz="2400" dirty="0">
                <a:solidFill>
                  <a:schemeClr val="tx1"/>
                </a:solidFill>
                <a:latin typeface="+mn-ea"/>
                <a:ea typeface="+mn-ea"/>
              </a:rPr>
              <a:t>。</a:t>
            </a:r>
            <a:endParaRPr lang="zh-CN" altLang="en-US" sz="2400" dirty="0">
              <a:solidFill>
                <a:schemeClr val="tx1"/>
              </a:solidFill>
              <a:latin typeface="+mn-ea"/>
              <a:ea typeface="+mn-ea"/>
            </a:endParaRPr>
          </a:p>
        </p:txBody>
      </p:sp>
      <p:graphicFrame>
        <p:nvGraphicFramePr>
          <p:cNvPr id="1548295" name="Object 7"/>
          <p:cNvGraphicFramePr>
            <a:graphicFrameLocks noChangeAspect="1"/>
          </p:cNvGraphicFramePr>
          <p:nvPr/>
        </p:nvGraphicFramePr>
        <p:xfrm>
          <a:off x="1311275" y="1878013"/>
          <a:ext cx="1955800" cy="1447800"/>
        </p:xfrm>
        <a:graphic>
          <a:graphicData uri="http://schemas.openxmlformats.org/presentationml/2006/ole">
            <mc:AlternateContent xmlns:mc="http://schemas.openxmlformats.org/markup-compatibility/2006">
              <mc:Choice xmlns:v="urn:schemas-microsoft-com:vml" Requires="v">
                <p:oleObj spid="_x0000_s14337" name="Equation" r:id="rId1" imgW="23469600" imgH="17373600" progId="Equation.DSMT4">
                  <p:embed/>
                </p:oleObj>
              </mc:Choice>
              <mc:Fallback>
                <p:oleObj name="Equation" r:id="rId1" imgW="23469600" imgH="17373600" progId="Equation.DSMT4">
                  <p:embed/>
                  <p:pic>
                    <p:nvPicPr>
                      <p:cNvPr id="0" name="Object 7" descr="image72"/>
                      <p:cNvPicPr>
                        <a:picLocks noChangeAspect="1"/>
                      </p:cNvPicPr>
                      <p:nvPr/>
                    </p:nvPicPr>
                    <p:blipFill>
                      <a:blip r:embed="rId2"/>
                      <a:stretch>
                        <a:fillRect/>
                      </a:stretch>
                    </p:blipFill>
                    <p:spPr>
                      <a:xfrm>
                        <a:off x="1311275" y="1878013"/>
                        <a:ext cx="1955800" cy="1447800"/>
                      </a:xfrm>
                      <a:prstGeom prst="rect">
                        <a:avLst/>
                      </a:prstGeom>
                      <a:noFill/>
                      <a:ln w="9525">
                        <a:noFill/>
                      </a:ln>
                    </p:spPr>
                  </p:pic>
                </p:oleObj>
              </mc:Fallback>
            </mc:AlternateContent>
          </a:graphicData>
        </a:graphic>
      </p:graphicFrame>
      <p:graphicFrame>
        <p:nvGraphicFramePr>
          <p:cNvPr id="1548296" name="Object 8"/>
          <p:cNvGraphicFramePr>
            <a:graphicFrameLocks noChangeAspect="1"/>
          </p:cNvGraphicFramePr>
          <p:nvPr/>
        </p:nvGraphicFramePr>
        <p:xfrm>
          <a:off x="3400425" y="1878013"/>
          <a:ext cx="1928813" cy="1446212"/>
        </p:xfrm>
        <a:graphic>
          <a:graphicData uri="http://schemas.openxmlformats.org/presentationml/2006/ole">
            <mc:AlternateContent xmlns:mc="http://schemas.openxmlformats.org/markup-compatibility/2006">
              <mc:Choice xmlns:v="urn:schemas-microsoft-com:vml" Requires="v">
                <p:oleObj spid="_x0000_s14338" name="Equation" r:id="rId3" imgW="23164800" imgH="17373600" progId="Equation.DSMT4">
                  <p:embed/>
                </p:oleObj>
              </mc:Choice>
              <mc:Fallback>
                <p:oleObj name="Equation" r:id="rId3" imgW="23164800" imgH="17373600" progId="Equation.DSMT4">
                  <p:embed/>
                  <p:pic>
                    <p:nvPicPr>
                      <p:cNvPr id="0" name="Object 8" descr="image73"/>
                      <p:cNvPicPr>
                        <a:picLocks noChangeAspect="1"/>
                      </p:cNvPicPr>
                      <p:nvPr/>
                    </p:nvPicPr>
                    <p:blipFill>
                      <a:blip r:embed="rId4"/>
                      <a:stretch>
                        <a:fillRect/>
                      </a:stretch>
                    </p:blipFill>
                    <p:spPr>
                      <a:xfrm>
                        <a:off x="3400425" y="1878013"/>
                        <a:ext cx="1928813" cy="1446212"/>
                      </a:xfrm>
                      <a:prstGeom prst="rect">
                        <a:avLst/>
                      </a:prstGeom>
                      <a:noFill/>
                      <a:ln w="9525">
                        <a:noFill/>
                      </a:ln>
                    </p:spPr>
                  </p:pic>
                </p:oleObj>
              </mc:Fallback>
            </mc:AlternateContent>
          </a:graphicData>
        </a:graphic>
      </p:graphicFrame>
      <p:graphicFrame>
        <p:nvGraphicFramePr>
          <p:cNvPr id="1548297" name="Object 9"/>
          <p:cNvGraphicFramePr>
            <a:graphicFrameLocks noChangeAspect="1"/>
          </p:cNvGraphicFramePr>
          <p:nvPr/>
        </p:nvGraphicFramePr>
        <p:xfrm>
          <a:off x="5499100" y="1878013"/>
          <a:ext cx="1930400" cy="1446212"/>
        </p:xfrm>
        <a:graphic>
          <a:graphicData uri="http://schemas.openxmlformats.org/presentationml/2006/ole">
            <mc:AlternateContent xmlns:mc="http://schemas.openxmlformats.org/markup-compatibility/2006">
              <mc:Choice xmlns:v="urn:schemas-microsoft-com:vml" Requires="v">
                <p:oleObj spid="_x0000_s14339" name="Equation" r:id="rId5" imgW="23164800" imgH="17373600" progId="Equation.DSMT4">
                  <p:embed/>
                </p:oleObj>
              </mc:Choice>
              <mc:Fallback>
                <p:oleObj name="Equation" r:id="rId5" imgW="23164800" imgH="17373600" progId="Equation.DSMT4">
                  <p:embed/>
                  <p:pic>
                    <p:nvPicPr>
                      <p:cNvPr id="0" name="Object 9" descr="image74"/>
                      <p:cNvPicPr>
                        <a:picLocks noChangeAspect="1"/>
                      </p:cNvPicPr>
                      <p:nvPr/>
                    </p:nvPicPr>
                    <p:blipFill>
                      <a:blip r:embed="rId6"/>
                      <a:stretch>
                        <a:fillRect/>
                      </a:stretch>
                    </p:blipFill>
                    <p:spPr>
                      <a:xfrm>
                        <a:off x="5499100" y="1878013"/>
                        <a:ext cx="1930400" cy="1446212"/>
                      </a:xfrm>
                      <a:prstGeom prst="rect">
                        <a:avLst/>
                      </a:prstGeom>
                      <a:noFill/>
                      <a:ln w="9525">
                        <a:noFill/>
                      </a:ln>
                    </p:spPr>
                  </p:pic>
                </p:oleObj>
              </mc:Fallback>
            </mc:AlternateContent>
          </a:graphicData>
        </a:graphic>
      </p:graphicFrame>
      <p:graphicFrame>
        <p:nvGraphicFramePr>
          <p:cNvPr id="1548298" name="Object 10"/>
          <p:cNvGraphicFramePr>
            <a:graphicFrameLocks noChangeAspect="1"/>
          </p:cNvGraphicFramePr>
          <p:nvPr/>
        </p:nvGraphicFramePr>
        <p:xfrm>
          <a:off x="7538494" y="1877942"/>
          <a:ext cx="2005477" cy="1446547"/>
        </p:xfrm>
        <a:graphic>
          <a:graphicData uri="http://schemas.openxmlformats.org/presentationml/2006/ole">
            <mc:AlternateContent xmlns:mc="http://schemas.openxmlformats.org/markup-compatibility/2006">
              <mc:Choice xmlns:v="urn:schemas-microsoft-com:vml" Requires="v">
                <p:oleObj spid="_x0000_s14340" name="Equation" r:id="rId7" imgW="24079200" imgH="17373600" progId="Equation.DSMT4">
                  <p:embed/>
                </p:oleObj>
              </mc:Choice>
              <mc:Fallback>
                <p:oleObj name="Equation" r:id="rId7" imgW="24079200" imgH="17373600" progId="Equation.DSMT4">
                  <p:embed/>
                  <p:pic>
                    <p:nvPicPr>
                      <p:cNvPr id="0" name="Object 10" descr="image75"/>
                      <p:cNvPicPr>
                        <a:picLocks noChangeAspect="1"/>
                      </p:cNvPicPr>
                      <p:nvPr/>
                    </p:nvPicPr>
                    <p:blipFill>
                      <a:blip r:embed="rId8"/>
                      <a:stretch>
                        <a:fillRect/>
                      </a:stretch>
                    </p:blipFill>
                    <p:spPr>
                      <a:xfrm>
                        <a:off x="7538494" y="1877942"/>
                        <a:ext cx="2005477" cy="1446547"/>
                      </a:xfrm>
                      <a:prstGeom prst="rect">
                        <a:avLst/>
                      </a:prstGeom>
                      <a:noFill/>
                      <a:ln w="9525">
                        <a:noFill/>
                      </a:ln>
                    </p:spPr>
                  </p:pic>
                </p:oleObj>
              </mc:Fallback>
            </mc:AlternateContent>
          </a:graphicData>
        </a:graphic>
      </p:graphicFrame>
      <p:sp>
        <p:nvSpPr>
          <p:cNvPr id="59" name="Rectangle 3"/>
          <p:cNvSpPr txBox="1">
            <a:spLocks noChangeArrowheads="1"/>
          </p:cNvSpPr>
          <p:nvPr/>
        </p:nvSpPr>
        <p:spPr>
          <a:xfrm>
            <a:off x="596381" y="3597813"/>
            <a:ext cx="8432379" cy="2922033"/>
          </a:xfrm>
          <a:prstGeom prst="rect">
            <a:avLst/>
          </a:prstGeom>
          <a:solidFill>
            <a:schemeClr val="accent5">
              <a:lumMod val="20000"/>
              <a:lumOff val="80000"/>
            </a:schemeClr>
          </a:solidFill>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dirty="0">
                <a:solidFill>
                  <a:srgbClr val="C00000"/>
                </a:solidFill>
              </a:rPr>
              <a:t>例</a:t>
            </a:r>
            <a:r>
              <a:rPr lang="en-US" altLang="zh-CN" dirty="0">
                <a:solidFill>
                  <a:srgbClr val="C00000"/>
                </a:solidFill>
              </a:rPr>
              <a:t>4.21  </a:t>
            </a:r>
            <a:r>
              <a:rPr lang="zh-CN" altLang="es-ES" dirty="0"/>
              <a:t>设</a:t>
            </a:r>
            <a:r>
              <a:rPr lang="es-ES" altLang="zh-CN" dirty="0"/>
              <a:t>A={1,2,3,4}</a:t>
            </a:r>
            <a:r>
              <a:rPr lang="zh-CN" altLang="es-ES" dirty="0"/>
              <a:t>，定义</a:t>
            </a:r>
            <a:r>
              <a:rPr lang="es-ES" altLang="zh-CN" dirty="0"/>
              <a:t>A</a:t>
            </a:r>
            <a:r>
              <a:rPr lang="zh-CN" altLang="es-ES" dirty="0"/>
              <a:t>上的关系</a:t>
            </a:r>
            <a:r>
              <a:rPr lang="es-ES" altLang="zh-CN" dirty="0"/>
              <a:t>R,S,T</a:t>
            </a:r>
            <a:r>
              <a:rPr lang="zh-CN" altLang="es-ES" dirty="0"/>
              <a:t>和</a:t>
            </a:r>
            <a:r>
              <a:rPr lang="es-ES" altLang="zh-CN" dirty="0"/>
              <a:t>V</a:t>
            </a:r>
            <a:r>
              <a:rPr lang="zh-CN" altLang="es-ES" dirty="0"/>
              <a:t>如下：</a:t>
            </a:r>
            <a:endParaRPr lang="zh-CN" altLang="es-ES" dirty="0"/>
          </a:p>
          <a:p>
            <a:pPr marL="0" indent="0">
              <a:lnSpc>
                <a:spcPct val="150000"/>
              </a:lnSpc>
              <a:buFont typeface="Wingdings" panose="05000000000000000000" pitchFamily="2" charset="2"/>
              <a:buNone/>
            </a:pPr>
            <a:r>
              <a:rPr lang="zh-CN" altLang="es-ES" dirty="0"/>
              <a:t>（</a:t>
            </a:r>
            <a:r>
              <a:rPr lang="es-ES" altLang="zh-CN" dirty="0"/>
              <a:t>1</a:t>
            </a:r>
            <a:r>
              <a:rPr lang="zh-CN" altLang="es-ES" dirty="0"/>
              <a:t>）</a:t>
            </a:r>
            <a:r>
              <a:rPr lang="es-ES" altLang="zh-CN" dirty="0"/>
              <a:t>R={&lt;1,1&gt;,&lt;1,3&gt;,&lt;3,1&gt;}</a:t>
            </a:r>
            <a:r>
              <a:rPr lang="zh-CN" altLang="en-US" dirty="0"/>
              <a:t>。</a:t>
            </a:r>
            <a:endParaRPr lang="zh-CN" altLang="es-ES" dirty="0"/>
          </a:p>
          <a:p>
            <a:pPr marL="0" indent="0">
              <a:lnSpc>
                <a:spcPct val="150000"/>
              </a:lnSpc>
              <a:buFont typeface="Wingdings" panose="05000000000000000000" pitchFamily="2" charset="2"/>
              <a:buNone/>
            </a:pPr>
            <a:r>
              <a:rPr lang="zh-CN" altLang="es-ES" dirty="0"/>
              <a:t>（</a:t>
            </a:r>
            <a:r>
              <a:rPr lang="es-ES" altLang="zh-CN" dirty="0"/>
              <a:t>2</a:t>
            </a:r>
            <a:r>
              <a:rPr lang="zh-CN" altLang="es-ES" dirty="0"/>
              <a:t>）</a:t>
            </a:r>
            <a:r>
              <a:rPr lang="es-ES" altLang="zh-CN" dirty="0"/>
              <a:t>S={&lt;1,1&gt;,&lt;2,3&gt;,&lt;2,4&gt;}</a:t>
            </a:r>
            <a:r>
              <a:rPr lang="zh-CN" altLang="en-US" dirty="0"/>
              <a:t>。</a:t>
            </a:r>
            <a:endParaRPr lang="zh-CN" altLang="es-ES" dirty="0"/>
          </a:p>
          <a:p>
            <a:pPr marL="0" indent="0">
              <a:lnSpc>
                <a:spcPct val="150000"/>
              </a:lnSpc>
              <a:buFont typeface="Wingdings" panose="05000000000000000000" pitchFamily="2" charset="2"/>
              <a:buNone/>
            </a:pPr>
            <a:r>
              <a:rPr lang="zh-CN" altLang="es-ES" dirty="0"/>
              <a:t>（</a:t>
            </a:r>
            <a:r>
              <a:rPr lang="es-ES" altLang="zh-CN" dirty="0"/>
              <a:t>3</a:t>
            </a:r>
            <a:r>
              <a:rPr lang="zh-CN" altLang="es-ES" dirty="0"/>
              <a:t>）</a:t>
            </a:r>
            <a:r>
              <a:rPr lang="es-ES" altLang="zh-CN" dirty="0"/>
              <a:t>T={&lt;1,1&gt;,&lt;1,2&gt;,&lt;1,3&gt;,&lt;3,1&gt;}</a:t>
            </a:r>
            <a:r>
              <a:rPr lang="zh-CN" altLang="en-US" dirty="0"/>
              <a:t>。</a:t>
            </a:r>
            <a:endParaRPr lang="zh-CN" altLang="es-ES" dirty="0"/>
          </a:p>
          <a:p>
            <a:pPr marL="0" indent="0">
              <a:lnSpc>
                <a:spcPct val="150000"/>
              </a:lnSpc>
              <a:buFont typeface="Wingdings" panose="05000000000000000000" pitchFamily="2" charset="2"/>
              <a:buNone/>
            </a:pPr>
            <a:r>
              <a:rPr lang="zh-CN" altLang="es-ES" dirty="0"/>
              <a:t>（</a:t>
            </a:r>
            <a:r>
              <a:rPr lang="es-ES" altLang="zh-CN" dirty="0"/>
              <a:t>4</a:t>
            </a:r>
            <a:r>
              <a:rPr lang="zh-CN" altLang="es-ES" dirty="0"/>
              <a:t>）</a:t>
            </a:r>
            <a:r>
              <a:rPr lang="es-ES" altLang="zh-CN" dirty="0"/>
              <a:t>V={&lt;1,1&gt;,&lt;2,2&gt;,&lt;3,3&gt;,&lt;4,4&gt;}</a:t>
            </a:r>
            <a:r>
              <a:rPr lang="zh-CN" altLang="es-ES" dirty="0"/>
              <a:t>。</a:t>
            </a:r>
            <a:endParaRPr lang="zh-CN" altLang="es-ES" dirty="0"/>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48350">
                                            <p:txEl>
                                              <p:pRg st="0" end="0"/>
                                            </p:txEl>
                                          </p:spTgt>
                                        </p:tgtEl>
                                        <p:attrNameLst>
                                          <p:attrName>style.visibility</p:attrName>
                                        </p:attrNameLst>
                                      </p:cBhvr>
                                      <p:to>
                                        <p:strVal val="visible"/>
                                      </p:to>
                                    </p:set>
                                    <p:animEffect transition="in" filter="box(in)">
                                      <p:cBhvr>
                                        <p:cTn id="7" dur="500"/>
                                        <p:tgtEl>
                                          <p:spTgt spid="1548350">
                                            <p:txEl>
                                              <p:pRg st="0" end="0"/>
                                            </p:txEl>
                                          </p:spTgt>
                                        </p:tgtEl>
                                      </p:cBhvr>
                                    </p:animEffect>
                                  </p:childTnLst>
                                </p:cTn>
                              </p:par>
                            </p:childTnLst>
                          </p:cTn>
                        </p:par>
                        <p:par>
                          <p:cTn id="8" fill="hold">
                            <p:stCondLst>
                              <p:cond delay="500"/>
                            </p:stCondLst>
                            <p:childTnLst>
                              <p:par>
                                <p:cTn id="9" presetID="25" presetClass="entr" presetSubtype="0" fill="hold" nodeType="afterEffect">
                                  <p:stCondLst>
                                    <p:cond delay="0"/>
                                  </p:stCondLst>
                                  <p:childTnLst>
                                    <p:set>
                                      <p:cBhvr>
                                        <p:cTn id="10" dur="1" fill="hold">
                                          <p:stCondLst>
                                            <p:cond delay="0"/>
                                          </p:stCondLst>
                                        </p:cTn>
                                        <p:tgtEl>
                                          <p:spTgt spid="1548295"/>
                                        </p:tgtEl>
                                        <p:attrNameLst>
                                          <p:attrName>style.visibility</p:attrName>
                                        </p:attrNameLst>
                                      </p:cBhvr>
                                      <p:to>
                                        <p:strVal val="visible"/>
                                      </p:to>
                                    </p:set>
                                    <p:anim calcmode="lin" valueType="num">
                                      <p:cBhvr>
                                        <p:cTn id="11" dur="500" decel="50000" fill="hold">
                                          <p:stCondLst>
                                            <p:cond delay="0"/>
                                          </p:stCondLst>
                                        </p:cTn>
                                        <p:tgtEl>
                                          <p:spTgt spid="1548295"/>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1548295"/>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1548295"/>
                                        </p:tgtEl>
                                        <p:attrNameLst>
                                          <p:attrName>ppt_w</p:attrName>
                                        </p:attrNameLst>
                                      </p:cBhvr>
                                      <p:tavLst>
                                        <p:tav tm="0">
                                          <p:val>
                                            <p:strVal val="#ppt_w*.05"/>
                                          </p:val>
                                        </p:tav>
                                        <p:tav tm="100000">
                                          <p:val>
                                            <p:strVal val="#ppt_w"/>
                                          </p:val>
                                        </p:tav>
                                      </p:tavLst>
                                    </p:anim>
                                    <p:anim calcmode="lin" valueType="num">
                                      <p:cBhvr>
                                        <p:cTn id="14" dur="1000" fill="hold"/>
                                        <p:tgtEl>
                                          <p:spTgt spid="1548295"/>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1548295"/>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1548295"/>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1548295"/>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1548295"/>
                                        </p:tgtEl>
                                      </p:cBhvr>
                                    </p:animEffect>
                                  </p:childTnLst>
                                </p:cTn>
                              </p:par>
                            </p:childTnLst>
                          </p:cTn>
                        </p:par>
                        <p:par>
                          <p:cTn id="19" fill="hold">
                            <p:stCondLst>
                              <p:cond delay="1500"/>
                            </p:stCondLst>
                            <p:childTnLst>
                              <p:par>
                                <p:cTn id="20" presetID="25" presetClass="entr" presetSubtype="0" fill="hold" nodeType="afterEffect">
                                  <p:stCondLst>
                                    <p:cond delay="0"/>
                                  </p:stCondLst>
                                  <p:childTnLst>
                                    <p:set>
                                      <p:cBhvr>
                                        <p:cTn id="21" dur="1" fill="hold">
                                          <p:stCondLst>
                                            <p:cond delay="0"/>
                                          </p:stCondLst>
                                        </p:cTn>
                                        <p:tgtEl>
                                          <p:spTgt spid="1548296"/>
                                        </p:tgtEl>
                                        <p:attrNameLst>
                                          <p:attrName>style.visibility</p:attrName>
                                        </p:attrNameLst>
                                      </p:cBhvr>
                                      <p:to>
                                        <p:strVal val="visible"/>
                                      </p:to>
                                    </p:set>
                                    <p:anim calcmode="lin" valueType="num">
                                      <p:cBhvr>
                                        <p:cTn id="22" dur="500" decel="50000" fill="hold">
                                          <p:stCondLst>
                                            <p:cond delay="0"/>
                                          </p:stCondLst>
                                        </p:cTn>
                                        <p:tgtEl>
                                          <p:spTgt spid="1548296"/>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1548296"/>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1548296"/>
                                        </p:tgtEl>
                                        <p:attrNameLst>
                                          <p:attrName>ppt_w</p:attrName>
                                        </p:attrNameLst>
                                      </p:cBhvr>
                                      <p:tavLst>
                                        <p:tav tm="0">
                                          <p:val>
                                            <p:strVal val="#ppt_w*.05"/>
                                          </p:val>
                                        </p:tav>
                                        <p:tav tm="100000">
                                          <p:val>
                                            <p:strVal val="#ppt_w"/>
                                          </p:val>
                                        </p:tav>
                                      </p:tavLst>
                                    </p:anim>
                                    <p:anim calcmode="lin" valueType="num">
                                      <p:cBhvr>
                                        <p:cTn id="25" dur="1000" fill="hold"/>
                                        <p:tgtEl>
                                          <p:spTgt spid="1548296"/>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1548296"/>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1548296"/>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1548296"/>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1548296"/>
                                        </p:tgtEl>
                                      </p:cBhvr>
                                    </p:animEffect>
                                  </p:childTnLst>
                                </p:cTn>
                              </p:par>
                            </p:childTnLst>
                          </p:cTn>
                        </p:par>
                        <p:par>
                          <p:cTn id="30" fill="hold">
                            <p:stCondLst>
                              <p:cond delay="2500"/>
                            </p:stCondLst>
                            <p:childTnLst>
                              <p:par>
                                <p:cTn id="31" presetID="25" presetClass="entr" presetSubtype="0" fill="hold" nodeType="afterEffect">
                                  <p:stCondLst>
                                    <p:cond delay="0"/>
                                  </p:stCondLst>
                                  <p:childTnLst>
                                    <p:set>
                                      <p:cBhvr>
                                        <p:cTn id="32" dur="1" fill="hold">
                                          <p:stCondLst>
                                            <p:cond delay="0"/>
                                          </p:stCondLst>
                                        </p:cTn>
                                        <p:tgtEl>
                                          <p:spTgt spid="1548297"/>
                                        </p:tgtEl>
                                        <p:attrNameLst>
                                          <p:attrName>style.visibility</p:attrName>
                                        </p:attrNameLst>
                                      </p:cBhvr>
                                      <p:to>
                                        <p:strVal val="visible"/>
                                      </p:to>
                                    </p:set>
                                    <p:anim calcmode="lin" valueType="num">
                                      <p:cBhvr>
                                        <p:cTn id="33" dur="500" decel="50000" fill="hold">
                                          <p:stCondLst>
                                            <p:cond delay="0"/>
                                          </p:stCondLst>
                                        </p:cTn>
                                        <p:tgtEl>
                                          <p:spTgt spid="1548297"/>
                                        </p:tgtEl>
                                        <p:attrNameLst>
                                          <p:attrName>style.rotation</p:attrName>
                                        </p:attrNameLst>
                                      </p:cBhvr>
                                      <p:tavLst>
                                        <p:tav tm="0">
                                          <p:val>
                                            <p:fltVal val="-90"/>
                                          </p:val>
                                        </p:tav>
                                        <p:tav tm="100000">
                                          <p:val>
                                            <p:fltVal val="0"/>
                                          </p:val>
                                        </p:tav>
                                      </p:tavLst>
                                    </p:anim>
                                    <p:anim calcmode="lin" valueType="num">
                                      <p:cBhvr>
                                        <p:cTn id="34" dur="500" decel="50000" fill="hold">
                                          <p:stCondLst>
                                            <p:cond delay="0"/>
                                          </p:stCondLst>
                                        </p:cTn>
                                        <p:tgtEl>
                                          <p:spTgt spid="1548297"/>
                                        </p:tgtEl>
                                        <p:attrNameLst>
                                          <p:attrName>ppt_w</p:attrName>
                                        </p:attrNameLst>
                                      </p:cBhvr>
                                      <p:tavLst>
                                        <p:tav tm="0">
                                          <p:val>
                                            <p:strVal val="#ppt_w"/>
                                          </p:val>
                                        </p:tav>
                                        <p:tav tm="100000">
                                          <p:val>
                                            <p:strVal val="#ppt_w*.05"/>
                                          </p:val>
                                        </p:tav>
                                      </p:tavLst>
                                    </p:anim>
                                    <p:anim calcmode="lin" valueType="num">
                                      <p:cBhvr>
                                        <p:cTn id="35" dur="500" accel="50000" fill="hold">
                                          <p:stCondLst>
                                            <p:cond delay="500"/>
                                          </p:stCondLst>
                                        </p:cTn>
                                        <p:tgtEl>
                                          <p:spTgt spid="1548297"/>
                                        </p:tgtEl>
                                        <p:attrNameLst>
                                          <p:attrName>ppt_w</p:attrName>
                                        </p:attrNameLst>
                                      </p:cBhvr>
                                      <p:tavLst>
                                        <p:tav tm="0">
                                          <p:val>
                                            <p:strVal val="#ppt_w*.05"/>
                                          </p:val>
                                        </p:tav>
                                        <p:tav tm="100000">
                                          <p:val>
                                            <p:strVal val="#ppt_w"/>
                                          </p:val>
                                        </p:tav>
                                      </p:tavLst>
                                    </p:anim>
                                    <p:anim calcmode="lin" valueType="num">
                                      <p:cBhvr>
                                        <p:cTn id="36" dur="1000" fill="hold"/>
                                        <p:tgtEl>
                                          <p:spTgt spid="1548297"/>
                                        </p:tgtEl>
                                        <p:attrNameLst>
                                          <p:attrName>ppt_h</p:attrName>
                                        </p:attrNameLst>
                                      </p:cBhvr>
                                      <p:tavLst>
                                        <p:tav tm="0">
                                          <p:val>
                                            <p:strVal val="#ppt_h"/>
                                          </p:val>
                                        </p:tav>
                                        <p:tav tm="100000">
                                          <p:val>
                                            <p:strVal val="#ppt_h"/>
                                          </p:val>
                                        </p:tav>
                                      </p:tavLst>
                                    </p:anim>
                                    <p:anim calcmode="lin" valueType="num">
                                      <p:cBhvr>
                                        <p:cTn id="37" dur="500" decel="50000" fill="hold">
                                          <p:stCondLst>
                                            <p:cond delay="0"/>
                                          </p:stCondLst>
                                        </p:cTn>
                                        <p:tgtEl>
                                          <p:spTgt spid="1548297"/>
                                        </p:tgtEl>
                                        <p:attrNameLst>
                                          <p:attrName>ppt_x</p:attrName>
                                        </p:attrNameLst>
                                      </p:cBhvr>
                                      <p:tavLst>
                                        <p:tav tm="0">
                                          <p:val>
                                            <p:strVal val="#ppt_x+.4"/>
                                          </p:val>
                                        </p:tav>
                                        <p:tav tm="100000">
                                          <p:val>
                                            <p:strVal val="#ppt_x"/>
                                          </p:val>
                                        </p:tav>
                                      </p:tavLst>
                                    </p:anim>
                                    <p:anim calcmode="lin" valueType="num">
                                      <p:cBhvr>
                                        <p:cTn id="38" dur="500" decel="50000" fill="hold">
                                          <p:stCondLst>
                                            <p:cond delay="0"/>
                                          </p:stCondLst>
                                        </p:cTn>
                                        <p:tgtEl>
                                          <p:spTgt spid="1548297"/>
                                        </p:tgtEl>
                                        <p:attrNameLst>
                                          <p:attrName>ppt_y</p:attrName>
                                        </p:attrNameLst>
                                      </p:cBhvr>
                                      <p:tavLst>
                                        <p:tav tm="0">
                                          <p:val>
                                            <p:strVal val="#ppt_y-.2"/>
                                          </p:val>
                                        </p:tav>
                                        <p:tav tm="100000">
                                          <p:val>
                                            <p:strVal val="#ppt_y+.1"/>
                                          </p:val>
                                        </p:tav>
                                      </p:tavLst>
                                    </p:anim>
                                    <p:anim calcmode="lin" valueType="num">
                                      <p:cBhvr>
                                        <p:cTn id="39" dur="500" accel="50000" fill="hold">
                                          <p:stCondLst>
                                            <p:cond delay="500"/>
                                          </p:stCondLst>
                                        </p:cTn>
                                        <p:tgtEl>
                                          <p:spTgt spid="1548297"/>
                                        </p:tgtEl>
                                        <p:attrNameLst>
                                          <p:attrName>ppt_y</p:attrName>
                                        </p:attrNameLst>
                                      </p:cBhvr>
                                      <p:tavLst>
                                        <p:tav tm="0">
                                          <p:val>
                                            <p:strVal val="#ppt_y+.1"/>
                                          </p:val>
                                        </p:tav>
                                        <p:tav tm="100000">
                                          <p:val>
                                            <p:strVal val="#ppt_y"/>
                                          </p:val>
                                        </p:tav>
                                      </p:tavLst>
                                    </p:anim>
                                    <p:animEffect transition="in" filter="fade">
                                      <p:cBhvr>
                                        <p:cTn id="40" dur="1000" decel="50000">
                                          <p:stCondLst>
                                            <p:cond delay="0"/>
                                          </p:stCondLst>
                                        </p:cTn>
                                        <p:tgtEl>
                                          <p:spTgt spid="1548297"/>
                                        </p:tgtEl>
                                      </p:cBhvr>
                                    </p:animEffect>
                                  </p:childTnLst>
                                </p:cTn>
                              </p:par>
                            </p:childTnLst>
                          </p:cTn>
                        </p:par>
                        <p:par>
                          <p:cTn id="41" fill="hold">
                            <p:stCondLst>
                              <p:cond delay="3500"/>
                            </p:stCondLst>
                            <p:childTnLst>
                              <p:par>
                                <p:cTn id="42" presetID="25" presetClass="entr" presetSubtype="0" fill="hold" nodeType="afterEffect">
                                  <p:stCondLst>
                                    <p:cond delay="0"/>
                                  </p:stCondLst>
                                  <p:childTnLst>
                                    <p:set>
                                      <p:cBhvr>
                                        <p:cTn id="43" dur="1" fill="hold">
                                          <p:stCondLst>
                                            <p:cond delay="0"/>
                                          </p:stCondLst>
                                        </p:cTn>
                                        <p:tgtEl>
                                          <p:spTgt spid="1548298"/>
                                        </p:tgtEl>
                                        <p:attrNameLst>
                                          <p:attrName>style.visibility</p:attrName>
                                        </p:attrNameLst>
                                      </p:cBhvr>
                                      <p:to>
                                        <p:strVal val="visible"/>
                                      </p:to>
                                    </p:set>
                                    <p:anim calcmode="lin" valueType="num">
                                      <p:cBhvr>
                                        <p:cTn id="44" dur="500" decel="50000" fill="hold">
                                          <p:stCondLst>
                                            <p:cond delay="0"/>
                                          </p:stCondLst>
                                        </p:cTn>
                                        <p:tgtEl>
                                          <p:spTgt spid="1548298"/>
                                        </p:tgtEl>
                                        <p:attrNameLst>
                                          <p:attrName>style.rotation</p:attrName>
                                        </p:attrNameLst>
                                      </p:cBhvr>
                                      <p:tavLst>
                                        <p:tav tm="0">
                                          <p:val>
                                            <p:fltVal val="-90"/>
                                          </p:val>
                                        </p:tav>
                                        <p:tav tm="100000">
                                          <p:val>
                                            <p:fltVal val="0"/>
                                          </p:val>
                                        </p:tav>
                                      </p:tavLst>
                                    </p:anim>
                                    <p:anim calcmode="lin" valueType="num">
                                      <p:cBhvr>
                                        <p:cTn id="45" dur="500" decel="50000" fill="hold">
                                          <p:stCondLst>
                                            <p:cond delay="0"/>
                                          </p:stCondLst>
                                        </p:cTn>
                                        <p:tgtEl>
                                          <p:spTgt spid="1548298"/>
                                        </p:tgtEl>
                                        <p:attrNameLst>
                                          <p:attrName>ppt_w</p:attrName>
                                        </p:attrNameLst>
                                      </p:cBhvr>
                                      <p:tavLst>
                                        <p:tav tm="0">
                                          <p:val>
                                            <p:strVal val="#ppt_w"/>
                                          </p:val>
                                        </p:tav>
                                        <p:tav tm="100000">
                                          <p:val>
                                            <p:strVal val="#ppt_w*.05"/>
                                          </p:val>
                                        </p:tav>
                                      </p:tavLst>
                                    </p:anim>
                                    <p:anim calcmode="lin" valueType="num">
                                      <p:cBhvr>
                                        <p:cTn id="46" dur="500" accel="50000" fill="hold">
                                          <p:stCondLst>
                                            <p:cond delay="500"/>
                                          </p:stCondLst>
                                        </p:cTn>
                                        <p:tgtEl>
                                          <p:spTgt spid="1548298"/>
                                        </p:tgtEl>
                                        <p:attrNameLst>
                                          <p:attrName>ppt_w</p:attrName>
                                        </p:attrNameLst>
                                      </p:cBhvr>
                                      <p:tavLst>
                                        <p:tav tm="0">
                                          <p:val>
                                            <p:strVal val="#ppt_w*.05"/>
                                          </p:val>
                                        </p:tav>
                                        <p:tav tm="100000">
                                          <p:val>
                                            <p:strVal val="#ppt_w"/>
                                          </p:val>
                                        </p:tav>
                                      </p:tavLst>
                                    </p:anim>
                                    <p:anim calcmode="lin" valueType="num">
                                      <p:cBhvr>
                                        <p:cTn id="47" dur="1000" fill="hold"/>
                                        <p:tgtEl>
                                          <p:spTgt spid="1548298"/>
                                        </p:tgtEl>
                                        <p:attrNameLst>
                                          <p:attrName>ppt_h</p:attrName>
                                        </p:attrNameLst>
                                      </p:cBhvr>
                                      <p:tavLst>
                                        <p:tav tm="0">
                                          <p:val>
                                            <p:strVal val="#ppt_h"/>
                                          </p:val>
                                        </p:tav>
                                        <p:tav tm="100000">
                                          <p:val>
                                            <p:strVal val="#ppt_h"/>
                                          </p:val>
                                        </p:tav>
                                      </p:tavLst>
                                    </p:anim>
                                    <p:anim calcmode="lin" valueType="num">
                                      <p:cBhvr>
                                        <p:cTn id="48" dur="500" decel="50000" fill="hold">
                                          <p:stCondLst>
                                            <p:cond delay="0"/>
                                          </p:stCondLst>
                                        </p:cTn>
                                        <p:tgtEl>
                                          <p:spTgt spid="1548298"/>
                                        </p:tgtEl>
                                        <p:attrNameLst>
                                          <p:attrName>ppt_x</p:attrName>
                                        </p:attrNameLst>
                                      </p:cBhvr>
                                      <p:tavLst>
                                        <p:tav tm="0">
                                          <p:val>
                                            <p:strVal val="#ppt_x+.4"/>
                                          </p:val>
                                        </p:tav>
                                        <p:tav tm="100000">
                                          <p:val>
                                            <p:strVal val="#ppt_x"/>
                                          </p:val>
                                        </p:tav>
                                      </p:tavLst>
                                    </p:anim>
                                    <p:anim calcmode="lin" valueType="num">
                                      <p:cBhvr>
                                        <p:cTn id="49" dur="500" decel="50000" fill="hold">
                                          <p:stCondLst>
                                            <p:cond delay="0"/>
                                          </p:stCondLst>
                                        </p:cTn>
                                        <p:tgtEl>
                                          <p:spTgt spid="1548298"/>
                                        </p:tgtEl>
                                        <p:attrNameLst>
                                          <p:attrName>ppt_y</p:attrName>
                                        </p:attrNameLst>
                                      </p:cBhvr>
                                      <p:tavLst>
                                        <p:tav tm="0">
                                          <p:val>
                                            <p:strVal val="#ppt_y-.2"/>
                                          </p:val>
                                        </p:tav>
                                        <p:tav tm="100000">
                                          <p:val>
                                            <p:strVal val="#ppt_y+.1"/>
                                          </p:val>
                                        </p:tav>
                                      </p:tavLst>
                                    </p:anim>
                                    <p:anim calcmode="lin" valueType="num">
                                      <p:cBhvr>
                                        <p:cTn id="50" dur="500" accel="50000" fill="hold">
                                          <p:stCondLst>
                                            <p:cond delay="500"/>
                                          </p:stCondLst>
                                        </p:cTn>
                                        <p:tgtEl>
                                          <p:spTgt spid="1548298"/>
                                        </p:tgtEl>
                                        <p:attrNameLst>
                                          <p:attrName>ppt_y</p:attrName>
                                        </p:attrNameLst>
                                      </p:cBhvr>
                                      <p:tavLst>
                                        <p:tav tm="0">
                                          <p:val>
                                            <p:strVal val="#ppt_y+.1"/>
                                          </p:val>
                                        </p:tav>
                                        <p:tav tm="100000">
                                          <p:val>
                                            <p:strVal val="#ppt_y"/>
                                          </p:val>
                                        </p:tav>
                                      </p:tavLst>
                                    </p:anim>
                                    <p:animEffect transition="in" filter="fade">
                                      <p:cBhvr>
                                        <p:cTn id="51" dur="1000" decel="50000">
                                          <p:stCondLst>
                                            <p:cond delay="0"/>
                                          </p:stCondLst>
                                        </p:cTn>
                                        <p:tgtEl>
                                          <p:spTgt spid="1548298"/>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path" presetSubtype="0" accel="50000" decel="50000" fill="hold" grpId="0" nodeType="clickEffect">
                                  <p:stCondLst>
                                    <p:cond delay="0"/>
                                  </p:stCondLst>
                                  <p:childTnLst>
                                    <p:animMotion origin="layout" path="M 0.19976 -0.39574 L 0.19976 -0.1458 " pathEditMode="relative" rAng="0" ptsTypes="AA">
                                      <p:cBhvr>
                                        <p:cTn id="55" dur="2000" spd="-100000" fill="hold"/>
                                        <p:tgtEl>
                                          <p:spTgt spid="59"/>
                                        </p:tgtEl>
                                        <p:attrNameLst>
                                          <p:attrName>ppt_x</p:attrName>
                                          <p:attrName>ppt_y</p:attrName>
                                        </p:attrNameLst>
                                      </p:cBhvr>
                                      <p:rCtr x="0" y="12497"/>
                                    </p:animMotion>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548350">
                                            <p:txEl>
                                              <p:pRg st="6" end="6"/>
                                            </p:txEl>
                                          </p:spTgt>
                                        </p:tgtEl>
                                        <p:attrNameLst>
                                          <p:attrName>style.visibility</p:attrName>
                                        </p:attrNameLst>
                                      </p:cBhvr>
                                      <p:to>
                                        <p:strVal val="visible"/>
                                      </p:to>
                                    </p:set>
                                    <p:anim calcmode="lin" valueType="num">
                                      <p:cBhvr additive="base">
                                        <p:cTn id="60" dur="500" fill="hold"/>
                                        <p:tgtEl>
                                          <p:spTgt spid="1548350">
                                            <p:txEl>
                                              <p:pRg st="6" end="6"/>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54835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2"/>
                                        </p:tgtEl>
                                        <p:attrNameLst>
                                          <p:attrName>style.visibility</p:attrName>
                                        </p:attrNameLst>
                                      </p:cBhvr>
                                      <p:to>
                                        <p:strVal val="visible"/>
                                      </p:to>
                                    </p:set>
                                    <p:anim calcmode="lin" valueType="num">
                                      <p:cBhvr additive="base">
                                        <p:cTn id="66" dur="500" fill="hold"/>
                                        <p:tgtEl>
                                          <p:spTgt spid="2"/>
                                        </p:tgtEl>
                                        <p:attrNameLst>
                                          <p:attrName>ppt_x</p:attrName>
                                        </p:attrNameLst>
                                      </p:cBhvr>
                                      <p:tavLst>
                                        <p:tav tm="0">
                                          <p:val>
                                            <p:strVal val="#ppt_x"/>
                                          </p:val>
                                        </p:tav>
                                        <p:tav tm="100000">
                                          <p:val>
                                            <p:strVal val="#ppt_x"/>
                                          </p:val>
                                        </p:tav>
                                      </p:tavLst>
                                    </p:anim>
                                    <p:anim calcmode="lin" valueType="num">
                                      <p:cBhvr additive="base">
                                        <p:cTn id="6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endParaRPr lang="zh-CN" altLang="en-US" dirty="0"/>
          </a:p>
        </p:txBody>
      </p:sp>
      <mc:AlternateContent xmlns:mc="http://schemas.openxmlformats.org/markup-compatibility/2006">
        <mc:Choice xmlns:a14="http://schemas.microsoft.com/office/drawing/2010/main" Requires="a14">
          <p:sp>
            <p:nvSpPr>
              <p:cNvPr id="6" name="Text Box 556"/>
              <p:cNvSpPr txBox="1">
                <a:spLocks noChangeArrowheads="1"/>
              </p:cNvSpPr>
              <p:nvPr/>
            </p:nvSpPr>
            <p:spPr bwMode="auto">
              <a:xfrm>
                <a:off x="384175" y="1410642"/>
                <a:ext cx="11506200" cy="1790552"/>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rPr>
                  <a:t>对称性和反对称性关系</a:t>
                </a:r>
                <a:r>
                  <a:rPr lang="zh-CN" altLang="en-US" b="1" kern="100" dirty="0">
                    <a:solidFill>
                      <a:srgbClr val="C00000"/>
                    </a:solidFill>
                    <a:latin typeface="+mn-ea"/>
                    <a:cs typeface="宋体" panose="02010600030101010101" pitchFamily="2" charset="-122"/>
                  </a:rPr>
                  <a:t>矩阵表示判断方法</a:t>
                </a:r>
                <a:r>
                  <a:rPr lang="en-US" altLang="zh-CN" b="1" kern="100" dirty="0">
                    <a:latin typeface="+mn-ea"/>
                    <a:cs typeface="宋体" panose="02010600030101010101" pitchFamily="2" charset="-122"/>
                  </a:rPr>
                  <a:t>(</a:t>
                </a:r>
                <a:r>
                  <a:rPr lang="en-US" altLang="zh-CN" b="1" kern="0" dirty="0">
                    <a:latin typeface="+mn-ea"/>
                    <a:cs typeface="宋体" panose="02010600030101010101" pitchFamily="2" charset="-122"/>
                  </a:rPr>
                  <a:t>(</a:t>
                </a:r>
                <a:r>
                  <a:rPr lang="en-US" altLang="zh-CN" b="1" kern="0" dirty="0" err="1">
                    <a:latin typeface="+mn-ea"/>
                    <a:cs typeface="宋体" panose="02010600030101010101" pitchFamily="2" charset="-122"/>
                  </a:rPr>
                  <a:t>r</a:t>
                </a:r>
                <a:r>
                  <a:rPr lang="en-US" altLang="zh-CN" b="1" kern="0" baseline="-25000" dirty="0" err="1">
                    <a:latin typeface="+mn-ea"/>
                    <a:cs typeface="宋体" panose="02010600030101010101" pitchFamily="2" charset="-122"/>
                  </a:rPr>
                  <a:t>ij</a:t>
                </a:r>
                <a:r>
                  <a:rPr lang="en-US" altLang="zh-CN" b="1" kern="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baseline="-2500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的关系矩阵</a:t>
                </a:r>
                <a:r>
                  <a:rPr lang="zh-CN" altLang="en-US" b="1" kern="100" dirty="0">
                    <a:latin typeface="+mn-ea"/>
                    <a:cs typeface="宋体" panose="02010600030101010101" pitchFamily="2" charset="-122"/>
                  </a:rPr>
                  <a:t>）</a:t>
                </a:r>
                <a:r>
                  <a:rPr lang="zh-CN" b="1" kern="100" dirty="0">
                    <a:effectLst/>
                    <a:latin typeface="+mn-ea"/>
                    <a:cs typeface="宋体" panose="02010600030101010101" pitchFamily="2" charset="-122"/>
                  </a:rPr>
                  <a:t>，则</a:t>
                </a:r>
                <a:endParaRPr lang="zh-CN" b="1" kern="100" dirty="0">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a:t>
                </a:r>
                <a:r>
                  <a:rPr lang="zh-CN" b="1" kern="100" dirty="0">
                    <a:effectLst/>
                    <a:latin typeface="+mn-ea"/>
                    <a:cs typeface="宋体" panose="02010600030101010101" pitchFamily="2" charset="-122"/>
                  </a:rPr>
                  <a:t>对称</a:t>
                </a:r>
                <a:r>
                  <a:rPr lang="zh-CN" b="1" kern="0" dirty="0">
                    <a:effectLst/>
                    <a:latin typeface="+mn-ea"/>
                    <a:cs typeface="宋体" panose="02010600030101010101" pitchFamily="2" charset="-122"/>
                  </a:rPr>
                  <a:t>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s-ES" altLang="zh-CN" b="1" dirty="0">
                    <a:ea typeface="Cambria Math" panose="02040503050406030204" pitchFamily="18" charset="0"/>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err="1">
                    <a:effectLst/>
                    <a:latin typeface="+mn-ea"/>
                    <a:cs typeface="宋体" panose="02010600030101010101" pitchFamily="2" charset="-122"/>
                  </a:rPr>
                  <a:t>i</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j(</a:t>
                </a:r>
                <a:r>
                  <a:rPr lang="en-US" b="1" kern="100" dirty="0" err="1">
                    <a:effectLst/>
                    <a:latin typeface="+mn-ea"/>
                    <a:cs typeface="宋体" panose="02010600030101010101" pitchFamily="2" charset="-122"/>
                  </a:rPr>
                  <a:t>i≠j</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r>
                  <a:rPr lang="en-US" b="1" kern="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zh-CN" b="1" kern="10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ji</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是反对称的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s-ES" altLang="zh-CN" b="1" dirty="0">
                    <a:ea typeface="Cambria Math" panose="02040503050406030204" pitchFamily="18" charset="0"/>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i</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j(</a:t>
                </a:r>
                <a:r>
                  <a:rPr lang="en-US" b="1" kern="100" dirty="0" err="1">
                    <a:effectLst/>
                    <a:latin typeface="+mn-ea"/>
                    <a:cs typeface="宋体" panose="02010600030101010101" pitchFamily="2" charset="-122"/>
                  </a:rPr>
                  <a:t>i≠j</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ij</a:t>
                </a:r>
                <a:r>
                  <a:rPr lang="zh-CN" b="1" kern="100" dirty="0">
                    <a:effectLst/>
                    <a:latin typeface="+mn-ea"/>
                    <a:cs typeface="宋体" panose="02010600030101010101" pitchFamily="2" charset="-122"/>
                  </a:rPr>
                  <a:t>×</a:t>
                </a:r>
                <a:r>
                  <a:rPr lang="en-US" b="1" kern="10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ji</a:t>
                </a:r>
                <a:r>
                  <a:rPr lang="en-US" b="1" kern="100" dirty="0">
                    <a:effectLst/>
                    <a:latin typeface="+mn-ea"/>
                    <a:cs typeface="宋体" panose="02010600030101010101" pitchFamily="2" charset="-122"/>
                  </a:rPr>
                  <a:t>=0)</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p:txBody>
          </p:sp>
        </mc:Choice>
        <mc:Fallback>
          <p:sp>
            <p:nvSpPr>
              <p:cNvPr id="6" name="Text Box 556"/>
              <p:cNvSpPr txBox="1">
                <a:spLocks noRot="1" noChangeAspect="1" noMove="1" noResize="1" noEditPoints="1" noAdjustHandles="1" noChangeArrowheads="1" noChangeShapeType="1" noTextEdit="1"/>
              </p:cNvSpPr>
              <p:nvPr/>
            </p:nvSpPr>
            <p:spPr bwMode="auto">
              <a:xfrm>
                <a:off x="384175" y="1410642"/>
                <a:ext cx="11506200" cy="1790552"/>
              </a:xfrm>
              <a:prstGeom prst="rect">
                <a:avLst/>
              </a:prstGeom>
              <a:blipFill rotWithShape="1">
                <a:blip r:embed="rId1"/>
                <a:stretch>
                  <a:fillRect l="-44" t="-301" r="-39" b="-239"/>
                </a:stretch>
              </a:blipFill>
              <a:ln w="9525">
                <a:solidFill>
                  <a:srgbClr val="000000"/>
                </a:solidFill>
                <a:miter lim="800000"/>
              </a:ln>
            </p:spPr>
            <p:txBody>
              <a:bodyPr/>
              <a:lstStyle/>
              <a:p>
                <a:r>
                  <a:rPr lang="zh-CN" altLang="en-US">
                    <a:noFill/>
                  </a:rPr>
                  <a:t> </a:t>
                </a:r>
              </a:p>
            </p:txBody>
          </p:sp>
        </mc:Fallback>
      </mc:AlternateContent>
      <p:sp>
        <p:nvSpPr>
          <p:cNvPr id="7" name="Text Box 4293"/>
          <p:cNvSpPr txBox="1">
            <a:spLocks noChangeArrowheads="1"/>
          </p:cNvSpPr>
          <p:nvPr/>
        </p:nvSpPr>
        <p:spPr bwMode="auto">
          <a:xfrm>
            <a:off x="384175" y="3849042"/>
            <a:ext cx="11506200" cy="2400152"/>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rPr>
              <a:t>对称性和反对称性关系</a:t>
            </a:r>
            <a:r>
              <a:rPr lang="zh-CN" altLang="en-US" b="1" kern="100" dirty="0">
                <a:solidFill>
                  <a:srgbClr val="C00000"/>
                </a:solidFill>
                <a:latin typeface="+mn-ea"/>
                <a:cs typeface="宋体" panose="02010600030101010101" pitchFamily="2" charset="-122"/>
              </a:rPr>
              <a:t>图表示判断方法</a:t>
            </a:r>
            <a:r>
              <a:rPr lang="en-US" altLang="zh-CN" b="1" kern="100" dirty="0">
                <a:latin typeface="+mn-ea"/>
                <a:cs typeface="宋体" panose="02010600030101010101" pitchFamily="2" charset="-122"/>
              </a:rPr>
              <a:t>(G</a:t>
            </a:r>
            <a:r>
              <a:rPr lang="en-US" altLang="zh-CN" b="1" kern="100" baseline="-25000" dirty="0">
                <a:latin typeface="+mn-ea"/>
                <a:cs typeface="宋体" panose="02010600030101010101" pitchFamily="2" charset="-122"/>
              </a:rPr>
              <a:t>R</a:t>
            </a:r>
            <a:r>
              <a:rPr lang="zh-CN" altLang="zh-CN" b="1" kern="10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的关系图</a:t>
            </a:r>
            <a:r>
              <a:rPr lang="en-US" altLang="zh-CN" b="1" kern="100" dirty="0">
                <a:latin typeface="+mn-ea"/>
                <a:cs typeface="宋体" panose="02010600030101010101" pitchFamily="2" charset="-122"/>
              </a:rPr>
              <a:t>)</a:t>
            </a:r>
            <a:r>
              <a:rPr lang="zh-CN" b="1" kern="100" dirty="0">
                <a:effectLst/>
                <a:latin typeface="+mn-ea"/>
                <a:cs typeface="宋体" panose="02010600030101010101" pitchFamily="2" charset="-122"/>
              </a:rPr>
              <a:t>，则</a:t>
            </a:r>
            <a:endParaRPr lang="zh-CN" b="1" kern="100" dirty="0">
              <a:effectLst/>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是对称的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中任何一对结点之间，要么有方向相反的两条边，要么无</a:t>
            </a:r>
            <a:endParaRPr lang="en-US" altLang="zh-CN" b="1" kern="100" dirty="0">
              <a:effectLst/>
              <a:latin typeface="+mn-ea"/>
              <a:cs typeface="宋体" panose="02010600030101010101" pitchFamily="2" charset="-122"/>
            </a:endParaRPr>
          </a:p>
          <a:p>
            <a:pPr algn="just">
              <a:lnSpc>
                <a:spcPct val="150000"/>
              </a:lnSpc>
              <a:spcAft>
                <a:spcPts val="0"/>
              </a:spcAft>
            </a:pPr>
            <a:r>
              <a:rPr lang="en-US" altLang="zh-CN" b="1" kern="100" dirty="0">
                <a:latin typeface="+mn-ea"/>
                <a:cs typeface="宋体" panose="02010600030101010101" pitchFamily="2" charset="-122"/>
              </a:rPr>
              <a:t>         </a:t>
            </a:r>
            <a:r>
              <a:rPr lang="zh-CN" b="1" kern="100" dirty="0">
                <a:effectLst/>
                <a:latin typeface="+mn-ea"/>
                <a:cs typeface="宋体" panose="02010600030101010101" pitchFamily="2" charset="-122"/>
              </a:rPr>
              <a:t>任何边。</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是反对称的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中任何一对结点之间，至多有一条边。</a:t>
            </a:r>
            <a:endParaRPr lang="zh-CN" b="1" kern="100" dirty="0">
              <a:effectLst/>
              <a:latin typeface="+mn-ea"/>
              <a:cs typeface="宋体" panose="02010600030101010101" pitchFamily="2"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2"/>
          <p:cNvSpPr>
            <a:spLocks noGrp="1" noChangeArrowheads="1"/>
          </p:cNvSpPr>
          <p:nvPr>
            <p:ph type="title"/>
          </p:nvPr>
        </p:nvSpPr>
        <p:spPr>
          <a:xfrm>
            <a:off x="756562" y="257985"/>
            <a:ext cx="10758267" cy="585924"/>
          </a:xfrm>
        </p:spPr>
        <p:txBody>
          <a:bodyPr/>
          <a:lstStyle/>
          <a:p>
            <a:pPr eaLnBrk="1" hangingPunct="1"/>
            <a:r>
              <a:rPr lang="en-US" altLang="zh-CN" dirty="0"/>
              <a:t>3</a:t>
            </a:r>
            <a:r>
              <a:rPr lang="zh-CN" altLang="en-US" dirty="0"/>
              <a:t>、传递性</a:t>
            </a:r>
            <a:endParaRPr lang="zh-CN" altLang="en-US" dirty="0"/>
          </a:p>
        </p:txBody>
      </p:sp>
      <p:sp>
        <p:nvSpPr>
          <p:cNvPr id="1552387" name="Rectangle 3"/>
          <p:cNvSpPr>
            <a:spLocks noGrp="1" noChangeArrowheads="1"/>
          </p:cNvSpPr>
          <p:nvPr>
            <p:ph type="body" sz="half" idx="1"/>
          </p:nvPr>
        </p:nvSpPr>
        <p:spPr>
          <a:xfrm>
            <a:off x="276350" y="1014700"/>
            <a:ext cx="11645649" cy="2415094"/>
          </a:xfrm>
        </p:spPr>
        <p:txBody>
          <a:bodyPr>
            <a:normAutofit lnSpcReduction="10000"/>
          </a:bodyPr>
          <a:lstStyle/>
          <a:p>
            <a:pPr marL="0" indent="0">
              <a:spcBef>
                <a:spcPct val="10000"/>
              </a:spcBef>
              <a:buNone/>
            </a:pPr>
            <a:r>
              <a:rPr lang="zh-CN" altLang="en-US" dirty="0">
                <a:solidFill>
                  <a:srgbClr val="FF0000"/>
                </a:solidFill>
              </a:rPr>
              <a:t>定义</a:t>
            </a:r>
            <a:r>
              <a:rPr lang="en-US" altLang="zh-CN" dirty="0">
                <a:solidFill>
                  <a:srgbClr val="FF0000"/>
                </a:solidFill>
              </a:rPr>
              <a:t>4.13  </a:t>
            </a:r>
            <a:r>
              <a:rPr lang="zh-CN" altLang="en-US" dirty="0"/>
              <a:t>设</a:t>
            </a:r>
            <a:r>
              <a:rPr lang="en-US" altLang="zh-CN" dirty="0"/>
              <a:t>R</a:t>
            </a:r>
            <a:r>
              <a:rPr lang="zh-CN" altLang="en-US" dirty="0"/>
              <a:t>是非空集合</a:t>
            </a:r>
            <a:r>
              <a:rPr lang="en-US" altLang="zh-CN" dirty="0"/>
              <a:t>A</a:t>
            </a:r>
            <a:r>
              <a:rPr lang="zh-CN" altLang="en-US" dirty="0"/>
              <a:t>上的关系。如果</a:t>
            </a:r>
            <a:endParaRPr lang="en-US" altLang="zh-CN" dirty="0"/>
          </a:p>
          <a:p>
            <a:pPr marL="0" indent="0" algn="ctr">
              <a:spcBef>
                <a:spcPct val="10000"/>
              </a:spcBef>
              <a:buNone/>
            </a:pPr>
            <a:r>
              <a:rPr lang="zh-CN" altLang="en-US" dirty="0">
                <a:solidFill>
                  <a:srgbClr val="0000CC"/>
                </a:solidFill>
                <a:sym typeface="Symbol" panose="05050102010706020507" pitchFamily="18" charset="2"/>
              </a:rPr>
              <a:t></a:t>
            </a:r>
            <a:r>
              <a:rPr lang="en-US" altLang="zh-CN" dirty="0"/>
              <a:t>x</a:t>
            </a:r>
            <a:r>
              <a:rPr lang="zh-CN" altLang="en-US" dirty="0">
                <a:solidFill>
                  <a:srgbClr val="0000CC"/>
                </a:solidFill>
                <a:sym typeface="Symbol" panose="05050102010706020507" pitchFamily="18" charset="2"/>
              </a:rPr>
              <a:t></a:t>
            </a:r>
            <a:r>
              <a:rPr lang="en-US" altLang="zh-CN" dirty="0"/>
              <a:t>y</a:t>
            </a:r>
            <a:r>
              <a:rPr lang="zh-CN" altLang="en-US" dirty="0">
                <a:solidFill>
                  <a:srgbClr val="0000CC"/>
                </a:solidFill>
                <a:sym typeface="Symbol" panose="05050102010706020507" pitchFamily="18" charset="2"/>
              </a:rPr>
              <a:t></a:t>
            </a:r>
            <a:r>
              <a:rPr lang="en-US" altLang="zh-CN" dirty="0"/>
              <a:t>z(</a:t>
            </a:r>
            <a:r>
              <a:rPr lang="en-US" altLang="zh-CN" dirty="0" err="1"/>
              <a:t>x∈A∧y∈A∧z∈A</a:t>
            </a:r>
            <a:r>
              <a:rPr lang="en-US" altLang="zh-CN" dirty="0"/>
              <a:t>∧&lt;</a:t>
            </a:r>
            <a:r>
              <a:rPr lang="en-US" altLang="zh-CN" dirty="0" err="1"/>
              <a:t>x,y</a:t>
            </a:r>
            <a:r>
              <a:rPr lang="en-US" altLang="zh-CN" dirty="0"/>
              <a:t>&gt;∈R∧&lt;</a:t>
            </a:r>
            <a:r>
              <a:rPr lang="en-US" altLang="zh-CN" dirty="0" err="1"/>
              <a:t>y,z</a:t>
            </a:r>
            <a:r>
              <a:rPr lang="en-US" altLang="zh-CN" dirty="0"/>
              <a:t>&gt;∈R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t>&lt;</a:t>
            </a:r>
            <a:r>
              <a:rPr lang="en-US" altLang="zh-CN" dirty="0" err="1"/>
              <a:t>x,z</a:t>
            </a:r>
            <a:r>
              <a:rPr lang="en-US" altLang="zh-CN" dirty="0"/>
              <a:t>&gt;∈R)=1</a:t>
            </a:r>
            <a:r>
              <a:rPr lang="zh-CN" altLang="en-US" dirty="0"/>
              <a:t>，</a:t>
            </a:r>
            <a:endParaRPr lang="en-US" altLang="zh-CN" dirty="0"/>
          </a:p>
          <a:p>
            <a:pPr marL="0" indent="0">
              <a:spcBef>
                <a:spcPct val="10000"/>
              </a:spcBef>
              <a:buNone/>
            </a:pPr>
            <a:r>
              <a:rPr lang="zh-CN" altLang="en-US" dirty="0"/>
              <a:t>则称关系</a:t>
            </a:r>
            <a:r>
              <a:rPr lang="en-US" altLang="zh-CN" dirty="0"/>
              <a:t>R</a:t>
            </a:r>
            <a:r>
              <a:rPr lang="zh-CN" altLang="en-US" dirty="0"/>
              <a:t>是</a:t>
            </a:r>
            <a:r>
              <a:rPr lang="zh-CN" altLang="en-US" dirty="0">
                <a:solidFill>
                  <a:srgbClr val="0000CC"/>
                </a:solidFill>
              </a:rPr>
              <a:t>传递的</a:t>
            </a:r>
            <a:r>
              <a:rPr lang="en-US" altLang="zh-CN" dirty="0"/>
              <a:t>(Transitive)</a:t>
            </a:r>
            <a:r>
              <a:rPr lang="zh-CN" altLang="en-US" dirty="0"/>
              <a:t>，或称</a:t>
            </a:r>
            <a:r>
              <a:rPr lang="en-US" altLang="zh-CN" dirty="0"/>
              <a:t>R</a:t>
            </a:r>
            <a:r>
              <a:rPr lang="zh-CN" altLang="en-US" dirty="0"/>
              <a:t>具有</a:t>
            </a:r>
            <a:r>
              <a:rPr lang="zh-CN" altLang="en-US" dirty="0">
                <a:solidFill>
                  <a:srgbClr val="0000CC"/>
                </a:solidFill>
              </a:rPr>
              <a:t>传递性</a:t>
            </a:r>
            <a:r>
              <a:rPr lang="en-US" altLang="zh-CN" dirty="0"/>
              <a:t>(Transitivity)</a:t>
            </a:r>
            <a:r>
              <a:rPr lang="zh-CN" altLang="en-US" dirty="0"/>
              <a:t>。</a:t>
            </a:r>
            <a:endParaRPr lang="zh-CN" altLang="en-US" dirty="0"/>
          </a:p>
          <a:p>
            <a:pPr marL="0" indent="0">
              <a:spcBef>
                <a:spcPct val="10000"/>
              </a:spcBef>
              <a:buNone/>
            </a:pPr>
            <a:r>
              <a:rPr lang="zh-CN" altLang="zh-CN" dirty="0">
                <a:solidFill>
                  <a:srgbClr val="3333FF"/>
                </a:solidFill>
              </a:rPr>
              <a:t>例如：同姓关系是传递的，父子关系不是传递的。</a:t>
            </a:r>
            <a:endParaRPr lang="zh-CN" altLang="zh-CN" dirty="0">
              <a:solidFill>
                <a:srgbClr val="3333FF"/>
              </a:solidFill>
            </a:endParaRPr>
          </a:p>
          <a:p>
            <a:pPr marL="0" indent="0">
              <a:spcBef>
                <a:spcPct val="10000"/>
              </a:spcBef>
              <a:buNone/>
            </a:pPr>
            <a:endParaRPr lang="zh-CN" altLang="es-ES" dirty="0">
              <a:solidFill>
                <a:srgbClr val="0000CC"/>
              </a:solidFill>
            </a:endParaRPr>
          </a:p>
        </p:txBody>
      </p:sp>
      <mc:AlternateContent xmlns:mc="http://schemas.openxmlformats.org/markup-compatibility/2006">
        <mc:Choice xmlns:a14="http://schemas.microsoft.com/office/drawing/2010/main" Requires="a14">
          <p:sp>
            <p:nvSpPr>
              <p:cNvPr id="16" name="Text Box 556"/>
              <p:cNvSpPr txBox="1">
                <a:spLocks noChangeArrowheads="1"/>
              </p:cNvSpPr>
              <p:nvPr/>
            </p:nvSpPr>
            <p:spPr bwMode="auto">
              <a:xfrm>
                <a:off x="415799" y="3504517"/>
                <a:ext cx="11506200" cy="3355071"/>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effectLst/>
                    <a:latin typeface="+mn-ea"/>
                    <a:cs typeface="宋体" panose="02010600030101010101" pitchFamily="2" charset="-122"/>
                  </a:rPr>
                  <a:t>传递性</a:t>
                </a:r>
                <a:r>
                  <a:rPr lang="zh-CN" altLang="en-US" b="1" kern="100" dirty="0">
                    <a:solidFill>
                      <a:srgbClr val="C00000"/>
                    </a:solidFill>
                    <a:latin typeface="+mn-ea"/>
                    <a:cs typeface="宋体" panose="02010600030101010101" pitchFamily="2" charset="-122"/>
                  </a:rPr>
                  <a:t>的</a:t>
                </a:r>
                <a:r>
                  <a:rPr lang="zh-CN" altLang="zh-CN" b="1" kern="100" dirty="0">
                    <a:solidFill>
                      <a:srgbClr val="C00000"/>
                    </a:solidFill>
                    <a:latin typeface="+mn-ea"/>
                    <a:cs typeface="宋体" panose="02010600030101010101" pitchFamily="2" charset="-122"/>
                  </a:rPr>
                  <a:t>集合表示判断方法</a:t>
                </a:r>
                <a:endParaRPr lang="zh-CN" altLang="en-US" b="1" kern="100" dirty="0">
                  <a:solidFill>
                    <a:srgbClr val="C00000"/>
                  </a:solidFill>
                  <a:latin typeface="+mn-ea"/>
                  <a:cs typeface="宋体" panose="02010600030101010101" pitchFamily="2" charset="-122"/>
                </a:endParaRPr>
              </a:p>
              <a:p>
                <a:pPr algn="just">
                  <a:lnSpc>
                    <a:spcPct val="150000"/>
                  </a:lnSpc>
                  <a:spcAft>
                    <a:spcPts val="0"/>
                  </a:spcAft>
                </a:pPr>
                <a:r>
                  <a:rPr lang="en-US" altLang="zh-CN" b="1" kern="100" dirty="0">
                    <a:solidFill>
                      <a:srgbClr val="3333FF"/>
                    </a:solidFill>
                    <a:latin typeface="+mn-ea"/>
                    <a:cs typeface="宋体" panose="02010600030101010101" pitchFamily="2" charset="-122"/>
                  </a:rPr>
                  <a:t>R</a:t>
                </a:r>
                <a:r>
                  <a:rPr lang="zh-CN" altLang="en-US" b="1" kern="100" dirty="0">
                    <a:solidFill>
                      <a:srgbClr val="3333FF"/>
                    </a:solidFill>
                    <a:latin typeface="+mn-ea"/>
                    <a:cs typeface="宋体" panose="02010600030101010101" pitchFamily="2" charset="-122"/>
                  </a:rPr>
                  <a:t>是非空集合</a:t>
                </a:r>
                <a:r>
                  <a:rPr lang="en-US" altLang="zh-CN" b="1" kern="100" dirty="0">
                    <a:solidFill>
                      <a:srgbClr val="3333FF"/>
                    </a:solidFill>
                    <a:latin typeface="+mn-ea"/>
                    <a:cs typeface="宋体" panose="02010600030101010101" pitchFamily="2" charset="-122"/>
                  </a:rPr>
                  <a:t>A</a:t>
                </a:r>
                <a:r>
                  <a:rPr lang="zh-CN" altLang="en-US" b="1" kern="100" dirty="0">
                    <a:solidFill>
                      <a:srgbClr val="3333FF"/>
                    </a:solidFill>
                    <a:latin typeface="+mn-ea"/>
                    <a:cs typeface="宋体" panose="02010600030101010101" pitchFamily="2" charset="-122"/>
                  </a:rPr>
                  <a:t>上的关系，则</a:t>
                </a:r>
                <a:endParaRPr lang="zh-CN" altLang="en-US" b="1" kern="100" dirty="0">
                  <a:solidFill>
                    <a:srgbClr val="3333FF"/>
                  </a:solidFill>
                  <a:latin typeface="+mn-ea"/>
                  <a:cs typeface="宋体" panose="02010600030101010101" pitchFamily="2" charset="-122"/>
                </a:endParaRPr>
              </a:p>
              <a:p>
                <a:pPr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是传递的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endParaRPr lang="zh-CN" b="1" kern="100" dirty="0">
                  <a:effectLst/>
                  <a:latin typeface="+mn-ea"/>
                  <a:cs typeface="宋体" panose="02010600030101010101" pitchFamily="2" charset="-122"/>
                </a:endParaRPr>
              </a:p>
              <a:p>
                <a:pPr algn="just">
                  <a:lnSpc>
                    <a:spcPct val="150000"/>
                  </a:lnSpc>
                  <a:spcAft>
                    <a:spcPts val="0"/>
                  </a:spcAft>
                </a:pPr>
                <a:r>
                  <a:rPr lang="zh-CN" altLang="en-US" dirty="0">
                    <a:solidFill>
                      <a:srgbClr val="0000CC"/>
                    </a:solidFill>
                    <a:sym typeface="Symbol" panose="05050102010706020507" pitchFamily="18" charset="2"/>
                  </a:rPr>
                  <a:t>          </a:t>
                </a:r>
                <a:r>
                  <a:rPr lang="zh-CN" altLang="en-US" b="1" dirty="0">
                    <a:latin typeface="+mn-ea"/>
                    <a:sym typeface="Symbol" panose="05050102010706020507" pitchFamily="18" charset="2"/>
                  </a:rPr>
                  <a:t></a:t>
                </a:r>
                <a:r>
                  <a:rPr lang="en-US" altLang="zh-CN" b="1" dirty="0">
                    <a:latin typeface="+mn-ea"/>
                  </a:rPr>
                  <a:t>x</a:t>
                </a:r>
                <a:r>
                  <a:rPr lang="zh-CN" altLang="en-US" b="1" dirty="0">
                    <a:latin typeface="+mn-ea"/>
                    <a:sym typeface="Symbol" panose="05050102010706020507" pitchFamily="18" charset="2"/>
                  </a:rPr>
                  <a:t></a:t>
                </a:r>
                <a:r>
                  <a:rPr lang="en-US" altLang="zh-CN" b="1" dirty="0">
                    <a:latin typeface="+mn-ea"/>
                  </a:rPr>
                  <a:t>y</a:t>
                </a:r>
                <a:r>
                  <a:rPr lang="zh-CN" altLang="en-US" b="1" dirty="0">
                    <a:latin typeface="+mn-ea"/>
                    <a:sym typeface="Symbol" panose="05050102010706020507" pitchFamily="18" charset="2"/>
                  </a:rPr>
                  <a:t></a:t>
                </a:r>
                <a:r>
                  <a:rPr lang="en-US" altLang="zh-CN" b="1" dirty="0">
                    <a:latin typeface="+mn-ea"/>
                  </a:rPr>
                  <a:t>z(</a:t>
                </a:r>
                <a:r>
                  <a:rPr lang="en-US" altLang="zh-CN" b="1" dirty="0" err="1">
                    <a:latin typeface="+mn-ea"/>
                  </a:rPr>
                  <a:t>x∈A∧y∈A∧z∈A</a:t>
                </a:r>
                <a:r>
                  <a:rPr lang="en-US" altLang="zh-CN" b="1" dirty="0">
                    <a:latin typeface="+mn-ea"/>
                  </a:rPr>
                  <a:t>∧&lt;</a:t>
                </a:r>
                <a:r>
                  <a:rPr lang="en-US" altLang="zh-CN" b="1" dirty="0" err="1">
                    <a:latin typeface="+mn-ea"/>
                  </a:rPr>
                  <a:t>x,y</a:t>
                </a:r>
                <a:r>
                  <a:rPr lang="en-US" altLang="zh-CN" b="1" dirty="0">
                    <a:latin typeface="+mn-ea"/>
                  </a:rPr>
                  <a:t>&gt;∈R∧&lt;</a:t>
                </a:r>
                <a:r>
                  <a:rPr lang="en-US" altLang="zh-CN" b="1" dirty="0" err="1">
                    <a:latin typeface="+mn-ea"/>
                  </a:rPr>
                  <a:t>y,z</a:t>
                </a:r>
                <a:r>
                  <a:rPr lang="en-US" altLang="zh-CN" b="1" dirty="0">
                    <a:latin typeface="+mn-ea"/>
                  </a:rPr>
                  <a:t>&gt;∈R</a:t>
                </a:r>
                <a:r>
                  <a:rPr lang="zh-CN" altLang="en-US" b="1" dirty="0">
                    <a:latin typeface="+mn-ea"/>
                    <a:cs typeface="Times New Roman" panose="02020603050405020304" pitchFamily="18" charset="0"/>
                  </a:rPr>
                  <a:t>→</a:t>
                </a:r>
                <a:r>
                  <a:rPr lang="en-US" altLang="zh-CN" b="1" dirty="0">
                    <a:latin typeface="+mn-ea"/>
                  </a:rPr>
                  <a:t>&lt;</a:t>
                </a:r>
                <a:r>
                  <a:rPr lang="en-US" altLang="zh-CN" b="1" dirty="0" err="1">
                    <a:latin typeface="+mn-ea"/>
                  </a:rPr>
                  <a:t>x,z</a:t>
                </a:r>
                <a:r>
                  <a:rPr lang="en-US" altLang="zh-CN" b="1" dirty="0">
                    <a:latin typeface="+mn-ea"/>
                  </a:rPr>
                  <a:t>&gt;∈R)=1 </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a:p>
                <a:pPr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en-US" b="1" kern="0" dirty="0">
                    <a:effectLst/>
                    <a:latin typeface="+mn-ea"/>
                    <a:cs typeface="宋体" panose="02010600030101010101" pitchFamily="2" charset="-122"/>
                  </a:rPr>
                  <a:t>R</a:t>
                </a:r>
                <a:r>
                  <a:rPr lang="zh-CN" b="1" kern="0" dirty="0">
                    <a:effectLst/>
                    <a:latin typeface="+mn-ea"/>
                    <a:cs typeface="宋体" panose="02010600030101010101" pitchFamily="2" charset="-122"/>
                  </a:rPr>
                  <a:t>不是传递的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 </a:t>
                </a:r>
                <a:endParaRPr lang="zh-CN" b="1" kern="100" dirty="0">
                  <a:effectLst/>
                  <a:latin typeface="+mn-ea"/>
                  <a:cs typeface="宋体" panose="02010600030101010101" pitchFamily="2" charset="-122"/>
                </a:endParaRPr>
              </a:p>
              <a:p>
                <a:pPr algn="just">
                  <a:lnSpc>
                    <a:spcPct val="150000"/>
                  </a:lnSpc>
                  <a:spcAft>
                    <a:spcPts val="0"/>
                  </a:spcAft>
                </a:pPr>
                <a:r>
                  <a:rPr lang="en-US" altLang="zh-CN" b="1" dirty="0">
                    <a:latin typeface="微软雅黑" panose="020B0503020204020204" pitchFamily="34" charset="-122"/>
                    <a:ea typeface="微软雅黑" panose="020B0503020204020204" pitchFamily="34" charset="-122"/>
                    <a:sym typeface="Symbol" panose="05050102010706020507" pitchFamily="18" charset="2"/>
                  </a:rPr>
                  <a:t>         </a:t>
                </a:r>
                <a:r>
                  <a:rPr lang="en-US" b="1" kern="100" dirty="0" err="1">
                    <a:effectLst/>
                    <a:latin typeface="+mn-ea"/>
                    <a:cs typeface="宋体" panose="02010600030101010101" pitchFamily="2" charset="-122"/>
                  </a:rPr>
                  <a:t>x</a:t>
                </a:r>
                <a:r>
                  <a:rPr lang="en-US" altLang="zh-CN" b="1" dirty="0" err="1">
                    <a:latin typeface="微软雅黑" panose="020B0503020204020204" pitchFamily="34" charset="-122"/>
                    <a:ea typeface="微软雅黑" panose="020B0503020204020204" pitchFamily="34" charset="-122"/>
                    <a:sym typeface="Symbol" panose="05050102010706020507" pitchFamily="18" charset="2"/>
                  </a:rPr>
                  <a:t></a:t>
                </a:r>
                <a:r>
                  <a:rPr lang="en-US" b="1" kern="100" dirty="0" err="1">
                    <a:effectLst/>
                    <a:latin typeface="+mn-ea"/>
                    <a:cs typeface="宋体" panose="02010600030101010101" pitchFamily="2" charset="-122"/>
                  </a:rPr>
                  <a:t>y</a:t>
                </a:r>
                <a:r>
                  <a:rPr lang="en-US" altLang="zh-CN" b="1" dirty="0" err="1">
                    <a:latin typeface="微软雅黑" panose="020B0503020204020204" pitchFamily="34" charset="-122"/>
                    <a:ea typeface="微软雅黑" panose="020B0503020204020204" pitchFamily="34" charset="-122"/>
                    <a:sym typeface="Symbol" panose="05050102010706020507" pitchFamily="18" charset="2"/>
                  </a:rPr>
                  <a:t></a:t>
                </a:r>
                <a:r>
                  <a:rPr lang="en-US" b="1" kern="100" dirty="0" err="1">
                    <a:effectLst/>
                    <a:latin typeface="+mn-ea"/>
                    <a:cs typeface="宋体" panose="02010600030101010101" pitchFamily="2" charset="-122"/>
                  </a:rPr>
                  <a:t>z</a:t>
                </a:r>
                <a:r>
                  <a:rPr lang="zh-CN" altLang="en-US" b="1" kern="100" dirty="0">
                    <a:effectLst/>
                    <a:latin typeface="+mn-ea"/>
                    <a:cs typeface="宋体" panose="02010600030101010101" pitchFamily="2" charset="-122"/>
                  </a:rPr>
                  <a:t>（</a:t>
                </a:r>
                <a:r>
                  <a:rPr lang="en-US" b="1" kern="100" dirty="0">
                    <a:effectLst/>
                    <a:latin typeface="+mn-ea"/>
                    <a:cs typeface="宋体" panose="02010600030101010101" pitchFamily="2" charset="-122"/>
                  </a:rPr>
                  <a:t>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z</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y,z</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x,z</a:t>
                </a:r>
                <a:r>
                  <a:rPr lang="en-US" b="1" kern="100" dirty="0">
                    <a:effectLst/>
                    <a:latin typeface="+mn-ea"/>
                    <a:cs typeface="宋体" panose="02010600030101010101" pitchFamily="2" charset="-122"/>
                  </a:rPr>
                  <a:t>&gt;</a:t>
                </a:r>
                <a14:m>
                  <m:oMath xmlns:m="http://schemas.openxmlformats.org/officeDocument/2006/math">
                    <m:r>
                      <a:rPr lang="en-US" b="1" i="1" kern="100" smtClean="0">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effectLst/>
                    <a:latin typeface="+mn-ea"/>
                    <a:cs typeface="宋体" panose="02010600030101010101" pitchFamily="2" charset="-122"/>
                  </a:rPr>
                  <a:t>R)=1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p:txBody>
          </p:sp>
        </mc:Choice>
        <mc:Fallback>
          <p:sp>
            <p:nvSpPr>
              <p:cNvPr id="16" name="Text Box 556"/>
              <p:cNvSpPr txBox="1">
                <a:spLocks noRot="1" noChangeAspect="1" noMove="1" noResize="1" noEditPoints="1" noAdjustHandles="1" noChangeArrowheads="1" noChangeShapeType="1" noTextEdit="1"/>
              </p:cNvSpPr>
              <p:nvPr/>
            </p:nvSpPr>
            <p:spPr bwMode="auto">
              <a:xfrm>
                <a:off x="415799" y="3504517"/>
                <a:ext cx="11506200" cy="3355071"/>
              </a:xfrm>
              <a:prstGeom prst="rect">
                <a:avLst/>
              </a:prstGeom>
              <a:blipFill rotWithShape="1">
                <a:blip r:embed="rId1"/>
                <a:stretch>
                  <a:fillRect l="-43" t="-150" r="-40" b="-142"/>
                </a:stretch>
              </a:blipFill>
              <a:ln w="9525">
                <a:solidFill>
                  <a:srgbClr val="000000"/>
                </a:solidFill>
                <a:miter lim="800000"/>
              </a:ln>
            </p:spPr>
            <p:txBody>
              <a:bodyPr/>
              <a:lstStyle/>
              <a:p>
                <a:r>
                  <a:rPr lang="zh-CN" altLang="en-US">
                    <a:noFill/>
                  </a:rPr>
                  <a:t> </a:t>
                </a:r>
              </a:p>
            </p:txBody>
          </p:sp>
        </mc:Fallback>
      </mc:AlternateContent>
    </p:spTree>
    <p:custDataLst>
      <p:tags r:id="rId2"/>
    </p:custData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Rectangle 2"/>
          <p:cNvSpPr>
            <a:spLocks noGrp="1" noChangeArrowheads="1"/>
          </p:cNvSpPr>
          <p:nvPr>
            <p:ph type="title"/>
          </p:nvPr>
        </p:nvSpPr>
        <p:spPr/>
        <p:txBody>
          <a:bodyPr/>
          <a:lstStyle/>
          <a:p>
            <a:pPr eaLnBrk="1" hangingPunct="1"/>
            <a:r>
              <a:rPr lang="zh-CN" altLang="en-US" dirty="0"/>
              <a:t>例</a:t>
            </a:r>
            <a:r>
              <a:rPr lang="es-ES" altLang="zh-CN" dirty="0"/>
              <a:t>4.22</a:t>
            </a:r>
            <a:endParaRPr lang="zh-CN" altLang="en-US" dirty="0"/>
          </a:p>
        </p:txBody>
      </p:sp>
      <p:sp>
        <p:nvSpPr>
          <p:cNvPr id="1556483" name="Rectangle 3"/>
          <p:cNvSpPr>
            <a:spLocks noGrp="1" noChangeArrowheads="1"/>
          </p:cNvSpPr>
          <p:nvPr>
            <p:ph type="body" idx="1"/>
          </p:nvPr>
        </p:nvSpPr>
        <p:spPr>
          <a:xfrm>
            <a:off x="460375" y="1067594"/>
            <a:ext cx="11353800" cy="5105400"/>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4.22  </a:t>
            </a:r>
            <a:r>
              <a:rPr lang="zh-CN" altLang="es-ES" dirty="0"/>
              <a:t>设</a:t>
            </a:r>
            <a:r>
              <a:rPr lang="es-ES" altLang="zh-CN" dirty="0"/>
              <a:t>A={1,2,3}</a:t>
            </a:r>
            <a:r>
              <a:rPr lang="zh-CN" altLang="es-ES" dirty="0"/>
              <a:t>，</a:t>
            </a:r>
            <a:r>
              <a:rPr lang="en-US" altLang="zh-CN" dirty="0"/>
              <a:t>R</a:t>
            </a:r>
            <a:r>
              <a:rPr lang="zh-CN" altLang="en-US" dirty="0"/>
              <a:t>、</a:t>
            </a:r>
            <a:r>
              <a:rPr lang="en-US" altLang="zh-CN" dirty="0"/>
              <a:t>S</a:t>
            </a:r>
            <a:r>
              <a:rPr lang="zh-CN" altLang="en-US" dirty="0"/>
              <a:t>、</a:t>
            </a:r>
            <a:r>
              <a:rPr lang="en-US" altLang="zh-CN" dirty="0"/>
              <a:t>T</a:t>
            </a:r>
            <a:r>
              <a:rPr lang="zh-CN" altLang="en-US" dirty="0"/>
              <a:t>和</a:t>
            </a:r>
            <a:r>
              <a:rPr lang="en-US" altLang="zh-CN" dirty="0"/>
              <a:t>V</a:t>
            </a:r>
            <a:r>
              <a:rPr lang="zh-CN" altLang="en-US" dirty="0"/>
              <a:t>都是Ａ 上的关系，其中，</a:t>
            </a:r>
            <a:r>
              <a:rPr lang="es-ES" altLang="zh-CN" dirty="0"/>
              <a:t>R={&lt;1,1&gt;,&lt;1,2&gt;, &lt;1,3&gt;,&lt;2,3&gt;}</a:t>
            </a:r>
            <a:r>
              <a:rPr lang="zh-CN" altLang="en-US" dirty="0"/>
              <a:t>，</a:t>
            </a:r>
            <a:r>
              <a:rPr lang="es-ES" altLang="zh-CN" dirty="0"/>
              <a:t>S={&lt;1,2&gt;}</a:t>
            </a:r>
            <a:r>
              <a:rPr lang="zh-CN" altLang="en-US" dirty="0"/>
              <a:t>，</a:t>
            </a:r>
            <a:r>
              <a:rPr lang="en-US" altLang="zh-CN" dirty="0"/>
              <a:t>T={&lt;1,1&gt;,&lt;1,2&gt;,&lt;2,3&gt;}</a:t>
            </a:r>
            <a:r>
              <a:rPr lang="zh-CN" altLang="en-US" dirty="0"/>
              <a:t>，</a:t>
            </a:r>
            <a:r>
              <a:rPr lang="en-US" altLang="zh-CN" dirty="0"/>
              <a:t>V={&lt;1,2&gt;,&lt;2,3&gt;, &lt;1,3&gt;,&lt;2,1&gt;}</a:t>
            </a:r>
            <a:r>
              <a:rPr lang="zh-CN" altLang="en-US" dirty="0"/>
              <a:t>。</a:t>
            </a:r>
            <a:endParaRPr lang="zh-CN" altLang="en-US" dirty="0"/>
          </a:p>
          <a:p>
            <a:pPr marL="0" indent="0">
              <a:lnSpc>
                <a:spcPct val="150000"/>
              </a:lnSpc>
              <a:buNone/>
            </a:pPr>
            <a:r>
              <a:rPr lang="zh-CN" altLang="zh-CN" dirty="0"/>
              <a:t>（</a:t>
            </a:r>
            <a:r>
              <a:rPr lang="es-ES" altLang="zh-CN" dirty="0"/>
              <a:t>1</a:t>
            </a:r>
            <a:r>
              <a:rPr lang="zh-CN" altLang="zh-CN" dirty="0"/>
              <a:t>）试判定它们是否具有传递性。</a:t>
            </a:r>
            <a:endParaRPr lang="zh-CN" altLang="zh-CN" dirty="0"/>
          </a:p>
          <a:p>
            <a:pPr marL="0" indent="0">
              <a:lnSpc>
                <a:spcPct val="150000"/>
              </a:lnSpc>
              <a:buNone/>
            </a:pPr>
            <a:r>
              <a:rPr lang="zh-CN" altLang="zh-CN" dirty="0"/>
              <a:t>（</a:t>
            </a:r>
            <a:r>
              <a:rPr lang="en-US" altLang="zh-CN" dirty="0"/>
              <a:t>2</a:t>
            </a:r>
            <a:r>
              <a:rPr lang="zh-CN" altLang="zh-CN" dirty="0"/>
              <a:t>）分别写出</a:t>
            </a:r>
            <a:r>
              <a:rPr lang="en-US" altLang="zh-CN" dirty="0"/>
              <a:t>R</a:t>
            </a:r>
            <a:r>
              <a:rPr lang="zh-CN" altLang="zh-CN" dirty="0"/>
              <a:t>，</a:t>
            </a:r>
            <a:r>
              <a:rPr lang="en-US" altLang="zh-CN" dirty="0"/>
              <a:t>S</a:t>
            </a:r>
            <a:r>
              <a:rPr lang="zh-CN" altLang="zh-CN" dirty="0"/>
              <a:t>，</a:t>
            </a:r>
            <a:r>
              <a:rPr lang="en-US" altLang="zh-CN" dirty="0"/>
              <a:t>T</a:t>
            </a:r>
            <a:r>
              <a:rPr lang="zh-CN" altLang="zh-CN" dirty="0"/>
              <a:t>和</a:t>
            </a:r>
            <a:r>
              <a:rPr lang="en-US" altLang="zh-CN" dirty="0"/>
              <a:t>V</a:t>
            </a:r>
            <a:r>
              <a:rPr lang="zh-CN" altLang="zh-CN" dirty="0"/>
              <a:t>的关系矩阵。</a:t>
            </a:r>
            <a:endParaRPr lang="zh-CN" altLang="zh-CN" dirty="0"/>
          </a:p>
          <a:p>
            <a:pPr marL="0" indent="0">
              <a:lnSpc>
                <a:spcPct val="150000"/>
              </a:lnSpc>
              <a:buNone/>
            </a:pPr>
            <a:r>
              <a:rPr lang="zh-CN" altLang="zh-CN" dirty="0"/>
              <a:t>（</a:t>
            </a:r>
            <a:r>
              <a:rPr lang="en-US" altLang="zh-CN" dirty="0"/>
              <a:t>3</a:t>
            </a:r>
            <a:r>
              <a:rPr lang="zh-CN" altLang="zh-CN" dirty="0"/>
              <a:t>）分别画出</a:t>
            </a:r>
            <a:r>
              <a:rPr lang="en-US" altLang="zh-CN" dirty="0"/>
              <a:t>R</a:t>
            </a:r>
            <a:r>
              <a:rPr lang="zh-CN" altLang="zh-CN" dirty="0"/>
              <a:t>，</a:t>
            </a:r>
            <a:r>
              <a:rPr lang="en-US" altLang="zh-CN" dirty="0"/>
              <a:t>S</a:t>
            </a:r>
            <a:r>
              <a:rPr lang="zh-CN" altLang="zh-CN" dirty="0"/>
              <a:t>，</a:t>
            </a:r>
            <a:r>
              <a:rPr lang="en-US" altLang="zh-CN" dirty="0"/>
              <a:t>T</a:t>
            </a:r>
            <a:r>
              <a:rPr lang="zh-CN" altLang="zh-CN" dirty="0"/>
              <a:t>和</a:t>
            </a:r>
            <a:r>
              <a:rPr lang="en-US" altLang="zh-CN" dirty="0"/>
              <a:t>V</a:t>
            </a:r>
            <a:r>
              <a:rPr lang="zh-CN" altLang="zh-CN" dirty="0"/>
              <a:t>的关系图。</a:t>
            </a:r>
            <a:endParaRPr lang="zh-CN" altLang="zh-CN"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58530" name="Rectangle 2"/>
              <p:cNvSpPr>
                <a:spLocks noChangeArrowheads="1"/>
              </p:cNvSpPr>
              <p:nvPr/>
            </p:nvSpPr>
            <p:spPr bwMode="auto">
              <a:xfrm>
                <a:off x="460375" y="2896206"/>
                <a:ext cx="11277600" cy="31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buClrTx/>
                  <a:buFontTx/>
                  <a:buNone/>
                </a:pP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0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0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R</a:t>
                </a:r>
                <a:r>
                  <a:rPr kumimoji="1" lang="zh-CN" altLang="en-US" sz="20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是传递的</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50000"/>
                  </a:lnSpc>
                  <a:buClrTx/>
                  <a:buFontTx/>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0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S</a:t>
                </a:r>
                <a:r>
                  <a:rPr kumimoji="1" lang="zh-CN" altLang="en-US" sz="2000" dirty="0">
                    <a:solidFill>
                      <a:srgbClr val="3333FF"/>
                    </a:solidFill>
                    <a:latin typeface="微软雅黑" panose="020B0503020204020204" pitchFamily="34" charset="-122"/>
                    <a:ea typeface="微软雅黑" panose="020B0503020204020204" pitchFamily="34" charset="-122"/>
                    <a:cs typeface="Times New Roman" panose="02020603050405020304" pitchFamily="18" charset="0"/>
                  </a:rPr>
                  <a:t>是传递的</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50000"/>
                  </a:lnSpc>
                  <a:buClrTx/>
                  <a:buFontTx/>
                  <a:buNone/>
                </a:pPr>
                <a:r>
                  <a:rPr kumimoji="1"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T</a:t>
                </a:r>
                <a:r>
                  <a:rPr kumimoji="1"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是不传递的</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50000"/>
                  </a:lnSpc>
                  <a:buClrTx/>
                  <a:buFontTx/>
                  <a:buNone/>
                </a:pP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   因为存在</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x=1</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y=2</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z=3∈A</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且</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&lt;1,2&gt;, &lt;2,3&gt;∈T</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，但</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&lt;1,3&gt;</a:t>
                </a:r>
                <a14:m>
                  <m:oMath xmlns:m="http://schemas.openxmlformats.org/officeDocument/2006/math">
                    <m:r>
                      <a:rPr kumimoji="1"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T</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algn="l" eaLnBrk="1" hangingPunct="1">
                  <a:lnSpc>
                    <a:spcPct val="150000"/>
                  </a:lnSpc>
                  <a:buClrTx/>
                  <a:buFontTx/>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关系</a:t>
                </a:r>
                <a:r>
                  <a:rPr kumimoji="1"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V</a:t>
                </a:r>
                <a:r>
                  <a:rPr kumimoji="1"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是不传递的。</a:t>
                </a:r>
                <a:endParaRPr kumimoji="1"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50000"/>
                  </a:lnSpc>
                  <a:buClrTx/>
                  <a:buNone/>
                </a:pP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   因为</a:t>
                </a:r>
                <a:r>
                  <a:rPr kumimoji="1" lang="zh-CN" altLang="es-ES" sz="2000" dirty="0">
                    <a:latin typeface="微软雅黑" panose="020B0503020204020204" pitchFamily="34" charset="-122"/>
                    <a:ea typeface="微软雅黑" panose="020B0503020204020204" pitchFamily="34" charset="-122"/>
                    <a:cs typeface="Times New Roman" panose="02020603050405020304" pitchFamily="18" charset="0"/>
                  </a:rPr>
                  <a:t>存在</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x=1</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y=2</a:t>
                </a:r>
                <a:r>
                  <a:rPr kumimoji="1" lang="zh-CN" altLang="es-ES" sz="2000" dirty="0">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z=1∈A</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s-ES" sz="2000" dirty="0">
                    <a:latin typeface="微软雅黑" panose="020B0503020204020204" pitchFamily="34" charset="-122"/>
                    <a:ea typeface="微软雅黑" panose="020B0503020204020204" pitchFamily="34" charset="-122"/>
                    <a:cs typeface="Times New Roman" panose="02020603050405020304" pitchFamily="18" charset="0"/>
                  </a:rPr>
                  <a:t>使得</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&lt;1,2&gt;∈V</a:t>
                </a:r>
                <a:r>
                  <a:rPr kumimoji="1" lang="zh-CN" altLang="es-ES" sz="2000" dirty="0">
                    <a:latin typeface="微软雅黑" panose="020B0503020204020204" pitchFamily="34" charset="-122"/>
                    <a:ea typeface="微软雅黑" panose="020B0503020204020204" pitchFamily="34" charset="-122"/>
                    <a:cs typeface="Times New Roman" panose="02020603050405020304" pitchFamily="18" charset="0"/>
                  </a:rPr>
                  <a:t>且</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&lt;2,1&gt;∈V</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s-ES" sz="2000" dirty="0">
                    <a:latin typeface="微软雅黑" panose="020B0503020204020204" pitchFamily="34" charset="-122"/>
                    <a:ea typeface="微软雅黑" panose="020B0503020204020204" pitchFamily="34" charset="-122"/>
                    <a:cs typeface="Times New Roman" panose="02020603050405020304" pitchFamily="18" charset="0"/>
                  </a:rPr>
                  <a:t>但是</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&lt;1,1&gt;</a:t>
                </a:r>
                <a14:m>
                  <m:oMath xmlns:m="http://schemas.openxmlformats.org/officeDocument/2006/math">
                    <m:r>
                      <a:rPr kumimoji="1"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V</a:t>
                </a:r>
                <a:r>
                  <a:rPr kumimoji="1"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p:sp>
            <p:nvSpPr>
              <p:cNvPr id="1558530" name="Rectangle 2"/>
              <p:cNvSpPr>
                <a:spLocks noRot="1" noChangeAspect="1" noMove="1" noResize="1" noEditPoints="1" noAdjustHandles="1" noChangeArrowheads="1" noChangeShapeType="1" noTextEdit="1"/>
              </p:cNvSpPr>
              <p:nvPr/>
            </p:nvSpPr>
            <p:spPr bwMode="auto">
              <a:xfrm>
                <a:off x="460375" y="2896206"/>
                <a:ext cx="11277600" cy="3169285"/>
              </a:xfrm>
              <a:prstGeom prst="rect">
                <a:avLst/>
              </a:prstGeom>
              <a:blipFill rotWithShape="1">
                <a:blip r:embed="rId1"/>
                <a:stretch>
                  <a:fillRect t="-19" b="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noFill/>
                  </a:rPr>
                  <a:t> </a:t>
                </a:r>
              </a:p>
            </p:txBody>
          </p:sp>
        </mc:Fallback>
      </mc:AlternateContent>
      <p:sp>
        <p:nvSpPr>
          <p:cNvPr id="227332" name="Rectangle 3"/>
          <p:cNvSpPr>
            <a:spLocks noGrp="1" noChangeArrowheads="1"/>
          </p:cNvSpPr>
          <p:nvPr>
            <p:ph type="title"/>
          </p:nvPr>
        </p:nvSpPr>
        <p:spPr/>
        <p:txBody>
          <a:bodyPr/>
          <a:lstStyle/>
          <a:p>
            <a:r>
              <a:rPr lang="zh-CN" altLang="en-US" dirty="0"/>
              <a:t>例</a:t>
            </a:r>
            <a:r>
              <a:rPr lang="es-ES" altLang="zh-CN" dirty="0"/>
              <a:t>4.22 </a:t>
            </a:r>
            <a:r>
              <a:rPr kumimoji="1" lang="zh-CN" altLang="en-US" dirty="0"/>
              <a:t>解</a:t>
            </a:r>
            <a:endParaRPr kumimoji="1" lang="zh-CN" altLang="en-US" dirty="0"/>
          </a:p>
        </p:txBody>
      </p:sp>
      <p:sp>
        <p:nvSpPr>
          <p:cNvPr id="1556483" name="Rectangle 3"/>
          <p:cNvSpPr>
            <a:spLocks noGrp="1" noChangeArrowheads="1"/>
          </p:cNvSpPr>
          <p:nvPr>
            <p:ph type="body" idx="1"/>
          </p:nvPr>
        </p:nvSpPr>
        <p:spPr>
          <a:xfrm>
            <a:off x="460375" y="915035"/>
            <a:ext cx="11353800" cy="2265045"/>
          </a:xfrm>
        </p:spPr>
        <p:txBody>
          <a:bodyPr/>
          <a:p>
            <a:pPr marL="0" indent="0">
              <a:lnSpc>
                <a:spcPct val="150000"/>
              </a:lnSpc>
              <a:buNone/>
            </a:pPr>
            <a:r>
              <a:rPr lang="zh-CN" altLang="en-US" dirty="0">
                <a:solidFill>
                  <a:srgbClr val="C00000"/>
                </a:solidFill>
              </a:rPr>
              <a:t>例</a:t>
            </a:r>
            <a:r>
              <a:rPr lang="en-US" altLang="zh-CN" dirty="0">
                <a:solidFill>
                  <a:srgbClr val="C00000"/>
                </a:solidFill>
              </a:rPr>
              <a:t>4.22  </a:t>
            </a:r>
            <a:r>
              <a:rPr lang="zh-CN" altLang="es-ES" dirty="0"/>
              <a:t>设</a:t>
            </a:r>
            <a:r>
              <a:rPr lang="es-ES" altLang="zh-CN" dirty="0"/>
              <a:t>A={1,2,3}</a:t>
            </a:r>
            <a:r>
              <a:rPr lang="zh-CN" altLang="es-ES" dirty="0"/>
              <a:t>，</a:t>
            </a:r>
            <a:r>
              <a:rPr lang="en-US" altLang="zh-CN" dirty="0"/>
              <a:t>R</a:t>
            </a:r>
            <a:r>
              <a:rPr lang="zh-CN" altLang="en-US" dirty="0"/>
              <a:t>、</a:t>
            </a:r>
            <a:r>
              <a:rPr lang="en-US" altLang="zh-CN" dirty="0"/>
              <a:t>S</a:t>
            </a:r>
            <a:r>
              <a:rPr lang="zh-CN" altLang="en-US" dirty="0"/>
              <a:t>、</a:t>
            </a:r>
            <a:r>
              <a:rPr lang="en-US" altLang="zh-CN" dirty="0"/>
              <a:t>T</a:t>
            </a:r>
            <a:r>
              <a:rPr lang="zh-CN" altLang="en-US" dirty="0"/>
              <a:t>和</a:t>
            </a:r>
            <a:r>
              <a:rPr lang="en-US" altLang="zh-CN" dirty="0"/>
              <a:t>V</a:t>
            </a:r>
            <a:r>
              <a:rPr lang="zh-CN" altLang="en-US" dirty="0"/>
              <a:t>都是Ａ 上的关系，其中，</a:t>
            </a:r>
            <a:r>
              <a:rPr lang="es-ES" altLang="zh-CN" dirty="0"/>
              <a:t>R={&lt;1,1&gt;,&lt;1,2&gt;, &lt;1,3&gt;,&lt;2,3&gt;}</a:t>
            </a:r>
            <a:r>
              <a:rPr lang="zh-CN" altLang="en-US" dirty="0"/>
              <a:t>，</a:t>
            </a:r>
            <a:r>
              <a:rPr lang="es-ES" altLang="zh-CN" dirty="0"/>
              <a:t>S={&lt;1,2&gt;}</a:t>
            </a:r>
            <a:r>
              <a:rPr lang="zh-CN" altLang="en-US" dirty="0"/>
              <a:t>，</a:t>
            </a:r>
            <a:r>
              <a:rPr lang="en-US" altLang="zh-CN" dirty="0"/>
              <a:t>T={&lt;1,1&gt;,&lt;1,2&gt;,&lt;2,3&gt;}</a:t>
            </a:r>
            <a:r>
              <a:rPr lang="zh-CN" altLang="en-US" dirty="0"/>
              <a:t>，</a:t>
            </a:r>
            <a:r>
              <a:rPr lang="en-US" altLang="zh-CN" dirty="0"/>
              <a:t>V={&lt;1,2&gt;,&lt;2,3&gt;, &lt;1,3&gt;,&lt;2,1&gt;}</a:t>
            </a:r>
            <a:r>
              <a:rPr lang="zh-CN" altLang="en-US" dirty="0"/>
              <a:t>。</a:t>
            </a:r>
            <a:endParaRPr lang="zh-CN" altLang="zh-CN"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8530">
                                            <p:txEl>
                                              <p:pRg st="0" end="0"/>
                                            </p:txEl>
                                          </p:spTgt>
                                        </p:tgtEl>
                                        <p:attrNameLst>
                                          <p:attrName>style.visibility</p:attrName>
                                        </p:attrNameLst>
                                      </p:cBhvr>
                                      <p:to>
                                        <p:strVal val="visible"/>
                                      </p:to>
                                    </p:set>
                                    <p:anim calcmode="lin" valueType="num">
                                      <p:cBhvr additive="base">
                                        <p:cTn id="7" dur="500" fill="hold"/>
                                        <p:tgtEl>
                                          <p:spTgt spid="15585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585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58530">
                                            <p:txEl>
                                              <p:pRg st="1" end="1"/>
                                            </p:txEl>
                                          </p:spTgt>
                                        </p:tgtEl>
                                        <p:attrNameLst>
                                          <p:attrName>style.visibility</p:attrName>
                                        </p:attrNameLst>
                                      </p:cBhvr>
                                      <p:to>
                                        <p:strVal val="visible"/>
                                      </p:to>
                                    </p:set>
                                    <p:anim calcmode="lin" valueType="num">
                                      <p:cBhvr additive="base">
                                        <p:cTn id="13" dur="500" fill="hold"/>
                                        <p:tgtEl>
                                          <p:spTgt spid="155853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585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58530">
                                            <p:txEl>
                                              <p:pRg st="2" end="2"/>
                                            </p:txEl>
                                          </p:spTgt>
                                        </p:tgtEl>
                                        <p:attrNameLst>
                                          <p:attrName>style.visibility</p:attrName>
                                        </p:attrNameLst>
                                      </p:cBhvr>
                                      <p:to>
                                        <p:strVal val="visible"/>
                                      </p:to>
                                    </p:set>
                                    <p:anim calcmode="lin" valueType="num">
                                      <p:cBhvr additive="base">
                                        <p:cTn id="19" dur="500" fill="hold"/>
                                        <p:tgtEl>
                                          <p:spTgt spid="155853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585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58530">
                                            <p:txEl>
                                              <p:pRg st="3" end="3"/>
                                            </p:txEl>
                                          </p:spTgt>
                                        </p:tgtEl>
                                        <p:attrNameLst>
                                          <p:attrName>style.visibility</p:attrName>
                                        </p:attrNameLst>
                                      </p:cBhvr>
                                      <p:to>
                                        <p:strVal val="visible"/>
                                      </p:to>
                                    </p:set>
                                    <p:anim calcmode="lin" valueType="num">
                                      <p:cBhvr additive="base">
                                        <p:cTn id="25" dur="500" fill="hold"/>
                                        <p:tgtEl>
                                          <p:spTgt spid="155853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585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58530">
                                            <p:txEl>
                                              <p:pRg st="4" end="4"/>
                                            </p:txEl>
                                          </p:spTgt>
                                        </p:tgtEl>
                                        <p:attrNameLst>
                                          <p:attrName>style.visibility</p:attrName>
                                        </p:attrNameLst>
                                      </p:cBhvr>
                                      <p:to>
                                        <p:strVal val="visible"/>
                                      </p:to>
                                    </p:set>
                                    <p:anim calcmode="lin" valueType="num">
                                      <p:cBhvr additive="base">
                                        <p:cTn id="31" dur="500" fill="hold"/>
                                        <p:tgtEl>
                                          <p:spTgt spid="155853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585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58530">
                                            <p:txEl>
                                              <p:pRg st="5" end="5"/>
                                            </p:txEl>
                                          </p:spTgt>
                                        </p:tgtEl>
                                        <p:attrNameLst>
                                          <p:attrName>style.visibility</p:attrName>
                                        </p:attrNameLst>
                                      </p:cBhvr>
                                      <p:to>
                                        <p:strVal val="visible"/>
                                      </p:to>
                                    </p:set>
                                    <p:anim calcmode="lin" valueType="num">
                                      <p:cBhvr additive="base">
                                        <p:cTn id="37" dur="500" fill="hold"/>
                                        <p:tgtEl>
                                          <p:spTgt spid="155853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5853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1" name="Rectangle 3"/>
          <p:cNvSpPr>
            <a:spLocks noGrp="1" noChangeArrowheads="1"/>
          </p:cNvSpPr>
          <p:nvPr>
            <p:ph type="body" idx="1"/>
          </p:nvPr>
        </p:nvSpPr>
        <p:spPr>
          <a:xfrm>
            <a:off x="192431" y="1048188"/>
            <a:ext cx="8355359" cy="512881"/>
          </a:xfrm>
        </p:spPr>
        <p:txBody>
          <a:bodyPr vert="horz" lIns="0" tIns="0" rIns="0" bIns="0" rtlCol="0">
            <a:normAutofit/>
          </a:bodyPr>
          <a:lstStyle/>
          <a:p>
            <a:pPr marL="0" indent="0">
              <a:buNone/>
            </a:pPr>
            <a:r>
              <a:rPr kumimoji="1" lang="zh-CN" altLang="en-US" dirty="0"/>
              <a:t>（</a:t>
            </a:r>
            <a:r>
              <a:rPr kumimoji="1" lang="en-US" altLang="zh-CN" dirty="0"/>
              <a:t>2</a:t>
            </a:r>
            <a:r>
              <a:rPr kumimoji="1" lang="zh-CN" altLang="en-US" dirty="0"/>
              <a:t>）设</a:t>
            </a:r>
            <a:r>
              <a:rPr kumimoji="1" lang="en-US" altLang="zh-CN" dirty="0"/>
              <a:t>R,S,T</a:t>
            </a:r>
            <a:r>
              <a:rPr kumimoji="1" lang="zh-CN" altLang="en-US" dirty="0"/>
              <a:t>和</a:t>
            </a:r>
            <a:r>
              <a:rPr kumimoji="1" lang="en-US" altLang="zh-CN" dirty="0"/>
              <a:t>V</a:t>
            </a:r>
            <a:r>
              <a:rPr kumimoji="1" lang="zh-CN" altLang="en-US" dirty="0"/>
              <a:t>的关系矩阵分别为</a:t>
            </a:r>
            <a:r>
              <a:rPr kumimoji="1" lang="en-US" altLang="zh-CN" dirty="0"/>
              <a:t>M</a:t>
            </a:r>
            <a:r>
              <a:rPr kumimoji="1" lang="en-US" altLang="zh-CN" baseline="-25000" dirty="0"/>
              <a:t>R</a:t>
            </a:r>
            <a:r>
              <a:rPr kumimoji="1" lang="en-US" altLang="zh-CN" dirty="0"/>
              <a:t>,M</a:t>
            </a:r>
            <a:r>
              <a:rPr kumimoji="1" lang="en-US" altLang="zh-CN" baseline="-25000" dirty="0"/>
              <a:t>S</a:t>
            </a:r>
            <a:r>
              <a:rPr kumimoji="1" lang="en-US" altLang="zh-CN" dirty="0"/>
              <a:t>,M</a:t>
            </a:r>
            <a:r>
              <a:rPr kumimoji="1" lang="en-US" altLang="zh-CN" baseline="-25000" dirty="0"/>
              <a:t>T</a:t>
            </a:r>
            <a:r>
              <a:rPr kumimoji="1" lang="zh-CN" altLang="en-US" dirty="0"/>
              <a:t>和</a:t>
            </a:r>
            <a:r>
              <a:rPr kumimoji="1" lang="en-US" altLang="zh-CN" dirty="0"/>
              <a:t>M</a:t>
            </a:r>
            <a:r>
              <a:rPr kumimoji="1" lang="en-US" altLang="zh-CN" baseline="-25000" dirty="0"/>
              <a:t>V</a:t>
            </a:r>
            <a:r>
              <a:rPr kumimoji="1" lang="zh-CN" altLang="en-US" dirty="0"/>
              <a:t>，则</a:t>
            </a:r>
            <a:endParaRPr kumimoji="1" lang="zh-CN" altLang="en-US" dirty="0"/>
          </a:p>
        </p:txBody>
      </p:sp>
      <p:grpSp>
        <p:nvGrpSpPr>
          <p:cNvPr id="2" name="Group 4"/>
          <p:cNvGrpSpPr/>
          <p:nvPr/>
        </p:nvGrpSpPr>
        <p:grpSpPr bwMode="auto">
          <a:xfrm>
            <a:off x="1030702" y="1831199"/>
            <a:ext cx="8336304" cy="1373506"/>
            <a:chOff x="305" y="1395"/>
            <a:chExt cx="5250" cy="865"/>
          </a:xfrm>
        </p:grpSpPr>
        <p:graphicFrame>
          <p:nvGraphicFramePr>
            <p:cNvPr id="229424" name="Object 5"/>
            <p:cNvGraphicFramePr>
              <a:graphicFrameLocks noChangeAspect="1"/>
            </p:cNvGraphicFramePr>
            <p:nvPr/>
          </p:nvGraphicFramePr>
          <p:xfrm>
            <a:off x="305" y="1407"/>
            <a:ext cx="1255" cy="841"/>
          </p:xfrm>
          <a:graphic>
            <a:graphicData uri="http://schemas.openxmlformats.org/presentationml/2006/ole">
              <mc:AlternateContent xmlns:mc="http://schemas.openxmlformats.org/markup-compatibility/2006">
                <mc:Choice xmlns:v="urn:schemas-microsoft-com:vml" Requires="v">
                  <p:oleObj spid="_x0000_s15361" name="Equation" r:id="rId1" imgW="20116800" imgH="13411200" progId="Equation.DSMT4">
                    <p:embed/>
                  </p:oleObj>
                </mc:Choice>
                <mc:Fallback>
                  <p:oleObj name="Equation" r:id="rId1" imgW="20116800" imgH="13411200" progId="Equation.DSMT4">
                    <p:embed/>
                    <p:pic>
                      <p:nvPicPr>
                        <p:cNvPr id="0" name="Object 5" descr="image79"/>
                        <p:cNvPicPr>
                          <a:picLocks noChangeAspect="1"/>
                        </p:cNvPicPr>
                        <p:nvPr/>
                      </p:nvPicPr>
                      <p:blipFill>
                        <a:blip r:embed="rId2"/>
                        <a:stretch>
                          <a:fillRect/>
                        </a:stretch>
                      </p:blipFill>
                      <p:spPr>
                        <a:xfrm>
                          <a:off x="305" y="1407"/>
                          <a:ext cx="1255" cy="841"/>
                        </a:xfrm>
                        <a:prstGeom prst="rect">
                          <a:avLst/>
                        </a:prstGeom>
                        <a:noFill/>
                        <a:ln w="9525">
                          <a:noFill/>
                        </a:ln>
                      </p:spPr>
                    </p:pic>
                  </p:oleObj>
                </mc:Fallback>
              </mc:AlternateContent>
            </a:graphicData>
          </a:graphic>
        </p:graphicFrame>
        <p:graphicFrame>
          <p:nvGraphicFramePr>
            <p:cNvPr id="229425" name="Object 6"/>
            <p:cNvGraphicFramePr>
              <a:graphicFrameLocks noChangeAspect="1"/>
            </p:cNvGraphicFramePr>
            <p:nvPr/>
          </p:nvGraphicFramePr>
          <p:xfrm>
            <a:off x="1648" y="1395"/>
            <a:ext cx="1241" cy="841"/>
          </p:xfrm>
          <a:graphic>
            <a:graphicData uri="http://schemas.openxmlformats.org/presentationml/2006/ole">
              <mc:AlternateContent xmlns:mc="http://schemas.openxmlformats.org/markup-compatibility/2006">
                <mc:Choice xmlns:v="urn:schemas-microsoft-com:vml" Requires="v">
                  <p:oleObj spid="_x0000_s15362" name="Equation" r:id="rId3" imgW="19812000" imgH="13411200" progId="Equation.DSMT4">
                    <p:embed/>
                  </p:oleObj>
                </mc:Choice>
                <mc:Fallback>
                  <p:oleObj name="Equation" r:id="rId3" imgW="19812000" imgH="13411200" progId="Equation.DSMT4">
                    <p:embed/>
                    <p:pic>
                      <p:nvPicPr>
                        <p:cNvPr id="0" name="Object 6" descr="image80"/>
                        <p:cNvPicPr>
                          <a:picLocks noChangeAspect="1"/>
                        </p:cNvPicPr>
                        <p:nvPr/>
                      </p:nvPicPr>
                      <p:blipFill>
                        <a:blip r:embed="rId4"/>
                        <a:stretch>
                          <a:fillRect/>
                        </a:stretch>
                      </p:blipFill>
                      <p:spPr>
                        <a:xfrm>
                          <a:off x="1648" y="1395"/>
                          <a:ext cx="1241" cy="841"/>
                        </a:xfrm>
                        <a:prstGeom prst="rect">
                          <a:avLst/>
                        </a:prstGeom>
                        <a:noFill/>
                        <a:ln w="9525">
                          <a:noFill/>
                        </a:ln>
                      </p:spPr>
                    </p:pic>
                  </p:oleObj>
                </mc:Fallback>
              </mc:AlternateContent>
            </a:graphicData>
          </a:graphic>
        </p:graphicFrame>
        <p:graphicFrame>
          <p:nvGraphicFramePr>
            <p:cNvPr id="229426" name="Object 7"/>
            <p:cNvGraphicFramePr>
              <a:graphicFrameLocks noChangeAspect="1"/>
            </p:cNvGraphicFramePr>
            <p:nvPr/>
          </p:nvGraphicFramePr>
          <p:xfrm>
            <a:off x="2945" y="1415"/>
            <a:ext cx="1255" cy="841"/>
          </p:xfrm>
          <a:graphic>
            <a:graphicData uri="http://schemas.openxmlformats.org/presentationml/2006/ole">
              <mc:AlternateContent xmlns:mc="http://schemas.openxmlformats.org/markup-compatibility/2006">
                <mc:Choice xmlns:v="urn:schemas-microsoft-com:vml" Requires="v">
                  <p:oleObj spid="_x0000_s15363" name="Equation" r:id="rId5" imgW="20116800" imgH="13411200" progId="Equation.DSMT4">
                    <p:embed/>
                  </p:oleObj>
                </mc:Choice>
                <mc:Fallback>
                  <p:oleObj name="Equation" r:id="rId5" imgW="20116800" imgH="13411200" progId="Equation.DSMT4">
                    <p:embed/>
                    <p:pic>
                      <p:nvPicPr>
                        <p:cNvPr id="0" name="Object 7" descr="image81"/>
                        <p:cNvPicPr>
                          <a:picLocks noChangeAspect="1"/>
                        </p:cNvPicPr>
                        <p:nvPr/>
                      </p:nvPicPr>
                      <p:blipFill>
                        <a:blip r:embed="rId6"/>
                        <a:stretch>
                          <a:fillRect/>
                        </a:stretch>
                      </p:blipFill>
                      <p:spPr>
                        <a:xfrm>
                          <a:off x="2945" y="1415"/>
                          <a:ext cx="1255" cy="841"/>
                        </a:xfrm>
                        <a:prstGeom prst="rect">
                          <a:avLst/>
                        </a:prstGeom>
                        <a:noFill/>
                        <a:ln w="9525">
                          <a:noFill/>
                        </a:ln>
                      </p:spPr>
                    </p:pic>
                  </p:oleObj>
                </mc:Fallback>
              </mc:AlternateContent>
            </a:graphicData>
          </a:graphic>
        </p:graphicFrame>
        <p:graphicFrame>
          <p:nvGraphicFramePr>
            <p:cNvPr id="229427" name="Object 8"/>
            <p:cNvGraphicFramePr>
              <a:graphicFrameLocks noChangeAspect="1"/>
            </p:cNvGraphicFramePr>
            <p:nvPr/>
          </p:nvGraphicFramePr>
          <p:xfrm>
            <a:off x="4243" y="1419"/>
            <a:ext cx="1312" cy="841"/>
          </p:xfrm>
          <a:graphic>
            <a:graphicData uri="http://schemas.openxmlformats.org/presentationml/2006/ole">
              <mc:AlternateContent xmlns:mc="http://schemas.openxmlformats.org/markup-compatibility/2006">
                <mc:Choice xmlns:v="urn:schemas-microsoft-com:vml" Requires="v">
                  <p:oleObj spid="_x0000_s15364" name="Equation" r:id="rId7" imgW="21031200" imgH="13411200" progId="Equation.DSMT4">
                    <p:embed/>
                  </p:oleObj>
                </mc:Choice>
                <mc:Fallback>
                  <p:oleObj name="Equation" r:id="rId7" imgW="21031200" imgH="13411200" progId="Equation.DSMT4">
                    <p:embed/>
                    <p:pic>
                      <p:nvPicPr>
                        <p:cNvPr id="0" name="Object 8" descr="image82"/>
                        <p:cNvPicPr>
                          <a:picLocks noChangeAspect="1"/>
                        </p:cNvPicPr>
                        <p:nvPr/>
                      </p:nvPicPr>
                      <p:blipFill>
                        <a:blip r:embed="rId8"/>
                        <a:stretch>
                          <a:fillRect/>
                        </a:stretch>
                      </p:blipFill>
                      <p:spPr>
                        <a:xfrm>
                          <a:off x="4243" y="1419"/>
                          <a:ext cx="1312" cy="841"/>
                        </a:xfrm>
                        <a:prstGeom prst="rect">
                          <a:avLst/>
                        </a:prstGeom>
                        <a:noFill/>
                        <a:ln w="9525">
                          <a:noFill/>
                        </a:ln>
                      </p:spPr>
                    </p:pic>
                  </p:oleObj>
                </mc:Fallback>
              </mc:AlternateContent>
            </a:graphicData>
          </a:graphic>
        </p:graphicFrame>
      </p:grpSp>
      <p:sp>
        <p:nvSpPr>
          <p:cNvPr id="1655817" name="Rectangle 9"/>
          <p:cNvSpPr>
            <a:spLocks noChangeArrowheads="1"/>
          </p:cNvSpPr>
          <p:nvPr/>
        </p:nvSpPr>
        <p:spPr bwMode="auto">
          <a:xfrm>
            <a:off x="192431" y="3323602"/>
            <a:ext cx="8355359" cy="48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ts val="0"/>
              </a:spcBef>
              <a:buFont typeface="Wingdings" panose="05000000000000000000" pitchFamily="2" charset="2"/>
              <a:buNone/>
            </a:pPr>
            <a:r>
              <a:rPr kumimoji="1" lang="zh-CN" altLang="en-US" sz="2400" dirty="0">
                <a:latin typeface="+mn-ea"/>
                <a:ea typeface="+mn-ea"/>
              </a:rPr>
              <a:t>（</a:t>
            </a:r>
            <a:r>
              <a:rPr kumimoji="1" lang="en-US" altLang="zh-CN" sz="2400" dirty="0">
                <a:latin typeface="+mn-ea"/>
                <a:ea typeface="+mn-ea"/>
              </a:rPr>
              <a:t>3</a:t>
            </a:r>
            <a:r>
              <a:rPr kumimoji="1" lang="zh-CN" altLang="en-US" sz="2400" dirty="0">
                <a:latin typeface="+mn-ea"/>
                <a:ea typeface="+mn-ea"/>
              </a:rPr>
              <a:t>）</a:t>
            </a:r>
            <a:r>
              <a:rPr kumimoji="1" lang="en-US" altLang="zh-CN" sz="2400" dirty="0">
                <a:latin typeface="+mn-ea"/>
                <a:ea typeface="+mn-ea"/>
              </a:rPr>
              <a:t>R,S,T</a:t>
            </a:r>
            <a:r>
              <a:rPr kumimoji="1" lang="zh-CN" altLang="en-US" sz="2400" dirty="0">
                <a:latin typeface="+mn-ea"/>
                <a:ea typeface="+mn-ea"/>
              </a:rPr>
              <a:t>和Ｖ的关系图分别是图</a:t>
            </a:r>
            <a:r>
              <a:rPr kumimoji="1" lang="en-US" altLang="zh-CN" sz="2400" dirty="0">
                <a:latin typeface="+mn-ea"/>
                <a:ea typeface="+mn-ea"/>
              </a:rPr>
              <a:t>(a),(b),(c)</a:t>
            </a:r>
            <a:r>
              <a:rPr kumimoji="1" lang="zh-CN" altLang="en-US" sz="2400" dirty="0">
                <a:latin typeface="+mn-ea"/>
                <a:ea typeface="+mn-ea"/>
              </a:rPr>
              <a:t>和</a:t>
            </a:r>
            <a:r>
              <a:rPr kumimoji="1" lang="en-US" altLang="zh-CN" sz="2400" dirty="0">
                <a:latin typeface="+mn-ea"/>
                <a:ea typeface="+mn-ea"/>
              </a:rPr>
              <a:t>(d)</a:t>
            </a:r>
            <a:r>
              <a:rPr kumimoji="1" lang="zh-CN" altLang="en-US" sz="2400" dirty="0">
                <a:latin typeface="+mn-ea"/>
                <a:ea typeface="+mn-ea"/>
              </a:rPr>
              <a:t>。</a:t>
            </a:r>
            <a:endParaRPr kumimoji="1" lang="zh-CN" altLang="en-US" sz="2400" dirty="0">
              <a:latin typeface="+mn-ea"/>
              <a:ea typeface="+mn-ea"/>
            </a:endParaRPr>
          </a:p>
        </p:txBody>
      </p:sp>
      <p:sp>
        <p:nvSpPr>
          <p:cNvPr id="53" name="Rectangle 3"/>
          <p:cNvSpPr txBox="1">
            <a:spLocks noChangeArrowheads="1"/>
          </p:cNvSpPr>
          <p:nvPr/>
        </p:nvSpPr>
        <p:spPr>
          <a:xfrm>
            <a:off x="870357" y="348639"/>
            <a:ext cx="5334000" cy="429419"/>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b="1" kern="1200">
                <a:solidFill>
                  <a:schemeClr val="bg1"/>
                </a:solidFill>
                <a:latin typeface="+mn-ea"/>
                <a:ea typeface="+mn-ea"/>
                <a:cs typeface="+mj-cs"/>
              </a:defRPr>
            </a:lvl1pPr>
          </a:lstStyle>
          <a:p>
            <a:r>
              <a:rPr lang="zh-CN" altLang="en-US" dirty="0"/>
              <a:t>例</a:t>
            </a:r>
            <a:r>
              <a:rPr lang="es-ES" altLang="zh-CN" dirty="0"/>
              <a:t>4.22 </a:t>
            </a:r>
            <a:r>
              <a:rPr kumimoji="1" lang="zh-CN" altLang="en-US" dirty="0"/>
              <a:t>解（续）</a:t>
            </a:r>
            <a:endParaRPr kumimoji="1" lang="zh-CN" altLang="en-US" dirty="0"/>
          </a:p>
        </p:txBody>
      </p:sp>
      <p:grpSp>
        <p:nvGrpSpPr>
          <p:cNvPr id="54" name="Group 10"/>
          <p:cNvGrpSpPr/>
          <p:nvPr/>
        </p:nvGrpSpPr>
        <p:grpSpPr bwMode="auto">
          <a:xfrm>
            <a:off x="1168197" y="4191794"/>
            <a:ext cx="8108950" cy="2147888"/>
            <a:chOff x="403" y="2724"/>
            <a:chExt cx="5108" cy="1353"/>
          </a:xfrm>
        </p:grpSpPr>
        <p:sp>
          <p:nvSpPr>
            <p:cNvPr id="55" name="Text Box 11"/>
            <p:cNvSpPr txBox="1">
              <a:spLocks noChangeAspect="1" noChangeArrowheads="1"/>
            </p:cNvSpPr>
            <p:nvPr/>
          </p:nvSpPr>
          <p:spPr bwMode="auto">
            <a:xfrm>
              <a:off x="519"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endParaRPr lang="en-US" altLang="zh-CN" sz="2400">
                <a:solidFill>
                  <a:srgbClr val="FF0000"/>
                </a:solidFill>
              </a:endParaRPr>
            </a:p>
          </p:txBody>
        </p:sp>
        <p:sp>
          <p:nvSpPr>
            <p:cNvPr id="56" name="Text Box 12"/>
            <p:cNvSpPr txBox="1">
              <a:spLocks noChangeAspect="1" noChangeArrowheads="1"/>
            </p:cNvSpPr>
            <p:nvPr/>
          </p:nvSpPr>
          <p:spPr bwMode="auto">
            <a:xfrm>
              <a:off x="769" y="3540"/>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endParaRPr lang="en-US" altLang="zh-CN" sz="2400">
                <a:solidFill>
                  <a:srgbClr val="FF0000"/>
                </a:solidFill>
              </a:endParaRPr>
            </a:p>
          </p:txBody>
        </p:sp>
        <p:sp>
          <p:nvSpPr>
            <p:cNvPr id="57" name="Text Box 13"/>
            <p:cNvSpPr txBox="1">
              <a:spLocks noChangeAspect="1" noChangeArrowheads="1"/>
            </p:cNvSpPr>
            <p:nvPr/>
          </p:nvSpPr>
          <p:spPr bwMode="auto">
            <a:xfrm>
              <a:off x="1435"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endParaRPr lang="en-US" altLang="zh-CN" sz="2400">
                <a:solidFill>
                  <a:srgbClr val="FF0000"/>
                </a:solidFill>
              </a:endParaRPr>
            </a:p>
          </p:txBody>
        </p:sp>
        <p:sp>
          <p:nvSpPr>
            <p:cNvPr id="58" name="Arc 14"/>
            <p:cNvSpPr>
              <a:spLocks noChangeAspect="1"/>
            </p:cNvSpPr>
            <p:nvPr/>
          </p:nvSpPr>
          <p:spPr bwMode="auto">
            <a:xfrm rot="480000" flipH="1">
              <a:off x="403" y="2724"/>
              <a:ext cx="299" cy="29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path>
                <a:path w="43200" h="43200" stroke="0"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lnTo>
                    <a:pt x="21600" y="21600"/>
                  </a:lnTo>
                  <a:lnTo>
                    <a:pt x="177" y="24360"/>
                  </a:lnTo>
                  <a:close/>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9" name="Freeform 15"/>
            <p:cNvSpPr>
              <a:spLocks noChangeAspect="1"/>
            </p:cNvSpPr>
            <p:nvPr/>
          </p:nvSpPr>
          <p:spPr bwMode="auto">
            <a:xfrm>
              <a:off x="685" y="2936"/>
              <a:ext cx="653" cy="2"/>
            </a:xfrm>
            <a:custGeom>
              <a:avLst/>
              <a:gdLst>
                <a:gd name="T0" fmla="*/ 0 w 780"/>
                <a:gd name="T1" fmla="*/ 0 h 1"/>
                <a:gd name="T2" fmla="*/ 13 w 780"/>
                <a:gd name="T3" fmla="*/ 0 h 1"/>
                <a:gd name="T4" fmla="*/ 0 60000 65536"/>
                <a:gd name="T5" fmla="*/ 0 60000 65536"/>
                <a:gd name="T6" fmla="*/ 0 w 780"/>
                <a:gd name="T7" fmla="*/ 0 h 1"/>
                <a:gd name="T8" fmla="*/ 780 w 780"/>
                <a:gd name="T9" fmla="*/ 1 h 1"/>
              </a:gdLst>
              <a:ahLst/>
              <a:cxnLst>
                <a:cxn ang="T4">
                  <a:pos x="T0" y="T1"/>
                </a:cxn>
                <a:cxn ang="T5">
                  <a:pos x="T2" y="T3"/>
                </a:cxn>
              </a:cxnLst>
              <a:rect l="T6" t="T7" r="T8" b="T9"/>
              <a:pathLst>
                <a:path w="780" h="1">
                  <a:moveTo>
                    <a:pt x="0" y="0"/>
                  </a:moveTo>
                  <a:lnTo>
                    <a:pt x="78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0" name="Text Box 16"/>
            <p:cNvSpPr txBox="1">
              <a:spLocks noChangeAspect="1" noChangeArrowheads="1"/>
            </p:cNvSpPr>
            <p:nvPr/>
          </p:nvSpPr>
          <p:spPr bwMode="auto">
            <a:xfrm>
              <a:off x="785" y="3847"/>
              <a:ext cx="4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(a)</a:t>
              </a:r>
              <a:endParaRPr lang="en-US" altLang="zh-CN" sz="2400">
                <a:solidFill>
                  <a:srgbClr val="FF0000"/>
                </a:solidFill>
              </a:endParaRPr>
            </a:p>
          </p:txBody>
        </p:sp>
        <p:sp>
          <p:nvSpPr>
            <p:cNvPr id="61" name="Freeform 17"/>
            <p:cNvSpPr>
              <a:spLocks noChangeAspect="1"/>
            </p:cNvSpPr>
            <p:nvPr/>
          </p:nvSpPr>
          <p:spPr bwMode="auto">
            <a:xfrm>
              <a:off x="693" y="2954"/>
              <a:ext cx="1" cy="679"/>
            </a:xfrm>
            <a:custGeom>
              <a:avLst/>
              <a:gdLst>
                <a:gd name="T0" fmla="*/ 0 w 1"/>
                <a:gd name="T1" fmla="*/ 0 h 740"/>
                <a:gd name="T2" fmla="*/ 0 w 1"/>
                <a:gd name="T3" fmla="*/ 103 h 740"/>
                <a:gd name="T4" fmla="*/ 0 60000 65536"/>
                <a:gd name="T5" fmla="*/ 0 60000 65536"/>
                <a:gd name="T6" fmla="*/ 0 w 1"/>
                <a:gd name="T7" fmla="*/ 0 h 740"/>
                <a:gd name="T8" fmla="*/ 1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2" name="Freeform 18"/>
            <p:cNvSpPr>
              <a:spLocks noChangeAspect="1"/>
            </p:cNvSpPr>
            <p:nvPr/>
          </p:nvSpPr>
          <p:spPr bwMode="auto">
            <a:xfrm>
              <a:off x="685" y="3003"/>
              <a:ext cx="653" cy="699"/>
            </a:xfrm>
            <a:custGeom>
              <a:avLst/>
              <a:gdLst>
                <a:gd name="T0" fmla="*/ 0 w 780"/>
                <a:gd name="T1" fmla="*/ 111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3" name="Text Box 19"/>
            <p:cNvSpPr txBox="1">
              <a:spLocks noChangeAspect="1" noChangeArrowheads="1"/>
            </p:cNvSpPr>
            <p:nvPr/>
          </p:nvSpPr>
          <p:spPr bwMode="auto">
            <a:xfrm>
              <a:off x="1783" y="2725"/>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endParaRPr lang="en-US" altLang="zh-CN" sz="2400">
                <a:solidFill>
                  <a:srgbClr val="FF0000"/>
                </a:solidFill>
              </a:endParaRPr>
            </a:p>
          </p:txBody>
        </p:sp>
        <p:sp>
          <p:nvSpPr>
            <p:cNvPr id="64" name="Text Box 20"/>
            <p:cNvSpPr txBox="1">
              <a:spLocks noChangeAspect="1" noChangeArrowheads="1"/>
            </p:cNvSpPr>
            <p:nvPr/>
          </p:nvSpPr>
          <p:spPr bwMode="auto">
            <a:xfrm>
              <a:off x="2034" y="3540"/>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endParaRPr lang="en-US" altLang="zh-CN" sz="2400">
                <a:solidFill>
                  <a:srgbClr val="FF0000"/>
                </a:solidFill>
              </a:endParaRPr>
            </a:p>
          </p:txBody>
        </p:sp>
        <p:sp>
          <p:nvSpPr>
            <p:cNvPr id="65" name="Text Box 21"/>
            <p:cNvSpPr txBox="1">
              <a:spLocks noChangeAspect="1" noChangeArrowheads="1"/>
            </p:cNvSpPr>
            <p:nvPr/>
          </p:nvSpPr>
          <p:spPr bwMode="auto">
            <a:xfrm>
              <a:off x="2597" y="2725"/>
              <a:ext cx="30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endParaRPr lang="en-US" altLang="zh-CN" sz="2400">
                <a:solidFill>
                  <a:srgbClr val="FF0000"/>
                </a:solidFill>
              </a:endParaRPr>
            </a:p>
          </p:txBody>
        </p:sp>
        <p:sp>
          <p:nvSpPr>
            <p:cNvPr id="66" name="Freeform 22"/>
            <p:cNvSpPr>
              <a:spLocks noChangeAspect="1"/>
            </p:cNvSpPr>
            <p:nvPr/>
          </p:nvSpPr>
          <p:spPr bwMode="auto">
            <a:xfrm>
              <a:off x="1970" y="2956"/>
              <a:ext cx="0" cy="678"/>
            </a:xfrm>
            <a:custGeom>
              <a:avLst/>
              <a:gdLst>
                <a:gd name="T0" fmla="*/ 0 w 1"/>
                <a:gd name="T1" fmla="*/ 0 h 740"/>
                <a:gd name="T2" fmla="*/ 0 w 1"/>
                <a:gd name="T3" fmla="*/ 96 h 740"/>
                <a:gd name="T4" fmla="*/ 0 60000 65536"/>
                <a:gd name="T5" fmla="*/ 0 60000 65536"/>
                <a:gd name="T6" fmla="*/ 0 w 1"/>
                <a:gd name="T7" fmla="*/ 0 h 740"/>
                <a:gd name="T8" fmla="*/ 0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67" name="Text Box 23"/>
            <p:cNvSpPr txBox="1">
              <a:spLocks noChangeAspect="1" noChangeArrowheads="1"/>
            </p:cNvSpPr>
            <p:nvPr/>
          </p:nvSpPr>
          <p:spPr bwMode="auto">
            <a:xfrm>
              <a:off x="3107" y="2725"/>
              <a:ext cx="3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endParaRPr lang="en-US" altLang="zh-CN" sz="2400">
                <a:solidFill>
                  <a:srgbClr val="FF0000"/>
                </a:solidFill>
              </a:endParaRPr>
            </a:p>
          </p:txBody>
        </p:sp>
        <p:sp>
          <p:nvSpPr>
            <p:cNvPr id="68" name="Text Box 24"/>
            <p:cNvSpPr txBox="1">
              <a:spLocks noChangeAspect="1" noChangeArrowheads="1"/>
            </p:cNvSpPr>
            <p:nvPr/>
          </p:nvSpPr>
          <p:spPr bwMode="auto">
            <a:xfrm>
              <a:off x="3406" y="3540"/>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endParaRPr lang="en-US" altLang="zh-CN" sz="2400">
                <a:solidFill>
                  <a:srgbClr val="FF0000"/>
                </a:solidFill>
              </a:endParaRPr>
            </a:p>
          </p:txBody>
        </p:sp>
        <p:sp>
          <p:nvSpPr>
            <p:cNvPr id="69" name="Text Box 25"/>
            <p:cNvSpPr txBox="1">
              <a:spLocks noChangeAspect="1" noChangeArrowheads="1"/>
            </p:cNvSpPr>
            <p:nvPr/>
          </p:nvSpPr>
          <p:spPr bwMode="auto">
            <a:xfrm>
              <a:off x="4081" y="2725"/>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endParaRPr lang="en-US" altLang="zh-CN" sz="2400">
                <a:solidFill>
                  <a:srgbClr val="FF0000"/>
                </a:solidFill>
              </a:endParaRPr>
            </a:p>
          </p:txBody>
        </p:sp>
        <p:sp>
          <p:nvSpPr>
            <p:cNvPr id="70" name="Freeform 26"/>
            <p:cNvSpPr>
              <a:spLocks noChangeAspect="1"/>
            </p:cNvSpPr>
            <p:nvPr/>
          </p:nvSpPr>
          <p:spPr bwMode="auto">
            <a:xfrm>
              <a:off x="3308" y="2965"/>
              <a:ext cx="1" cy="679"/>
            </a:xfrm>
            <a:custGeom>
              <a:avLst/>
              <a:gdLst>
                <a:gd name="T0" fmla="*/ 0 w 1"/>
                <a:gd name="T1" fmla="*/ 0 h 740"/>
                <a:gd name="T2" fmla="*/ 0 w 1"/>
                <a:gd name="T3" fmla="*/ 103 h 740"/>
                <a:gd name="T4" fmla="*/ 0 60000 65536"/>
                <a:gd name="T5" fmla="*/ 0 60000 65536"/>
                <a:gd name="T6" fmla="*/ 0 w 1"/>
                <a:gd name="T7" fmla="*/ 0 h 740"/>
                <a:gd name="T8" fmla="*/ 1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1" name="Freeform 27"/>
            <p:cNvSpPr>
              <a:spLocks noChangeAspect="1"/>
            </p:cNvSpPr>
            <p:nvPr/>
          </p:nvSpPr>
          <p:spPr bwMode="auto">
            <a:xfrm>
              <a:off x="3301" y="2956"/>
              <a:ext cx="653" cy="697"/>
            </a:xfrm>
            <a:custGeom>
              <a:avLst/>
              <a:gdLst>
                <a:gd name="T0" fmla="*/ 0 w 780"/>
                <a:gd name="T1" fmla="*/ 105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2" name="Text Box 28"/>
            <p:cNvSpPr txBox="1">
              <a:spLocks noChangeAspect="1" noChangeArrowheads="1"/>
            </p:cNvSpPr>
            <p:nvPr/>
          </p:nvSpPr>
          <p:spPr bwMode="auto">
            <a:xfrm>
              <a:off x="4403"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endParaRPr lang="en-US" altLang="zh-CN" sz="2400">
                <a:solidFill>
                  <a:srgbClr val="FF0000"/>
                </a:solidFill>
              </a:endParaRPr>
            </a:p>
          </p:txBody>
        </p:sp>
        <p:sp>
          <p:nvSpPr>
            <p:cNvPr id="73" name="Text Box 29"/>
            <p:cNvSpPr txBox="1">
              <a:spLocks noChangeAspect="1" noChangeArrowheads="1"/>
            </p:cNvSpPr>
            <p:nvPr/>
          </p:nvSpPr>
          <p:spPr bwMode="auto">
            <a:xfrm>
              <a:off x="4680" y="3540"/>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endParaRPr lang="en-US" altLang="zh-CN" sz="2400">
                <a:solidFill>
                  <a:srgbClr val="FF0000"/>
                </a:solidFill>
              </a:endParaRPr>
            </a:p>
          </p:txBody>
        </p:sp>
        <p:sp>
          <p:nvSpPr>
            <p:cNvPr id="74" name="Text Box 30"/>
            <p:cNvSpPr txBox="1">
              <a:spLocks noChangeAspect="1" noChangeArrowheads="1"/>
            </p:cNvSpPr>
            <p:nvPr/>
          </p:nvSpPr>
          <p:spPr bwMode="auto">
            <a:xfrm>
              <a:off x="5330" y="2725"/>
              <a:ext cx="18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endParaRPr lang="en-US" altLang="zh-CN" sz="2400">
                <a:solidFill>
                  <a:srgbClr val="FF0000"/>
                </a:solidFill>
              </a:endParaRPr>
            </a:p>
          </p:txBody>
        </p:sp>
        <p:sp>
          <p:nvSpPr>
            <p:cNvPr id="75" name="Freeform 31"/>
            <p:cNvSpPr>
              <a:spLocks noChangeAspect="1"/>
            </p:cNvSpPr>
            <p:nvPr/>
          </p:nvSpPr>
          <p:spPr bwMode="auto">
            <a:xfrm>
              <a:off x="4573" y="2945"/>
              <a:ext cx="654" cy="1"/>
            </a:xfrm>
            <a:custGeom>
              <a:avLst/>
              <a:gdLst>
                <a:gd name="T0" fmla="*/ 0 w 780"/>
                <a:gd name="T1" fmla="*/ 0 h 1"/>
                <a:gd name="T2" fmla="*/ 13 w 780"/>
                <a:gd name="T3" fmla="*/ 0 h 1"/>
                <a:gd name="T4" fmla="*/ 0 60000 65536"/>
                <a:gd name="T5" fmla="*/ 0 60000 65536"/>
                <a:gd name="T6" fmla="*/ 0 w 780"/>
                <a:gd name="T7" fmla="*/ 0 h 1"/>
                <a:gd name="T8" fmla="*/ 780 w 780"/>
                <a:gd name="T9" fmla="*/ 1 h 1"/>
              </a:gdLst>
              <a:ahLst/>
              <a:cxnLst>
                <a:cxn ang="T4">
                  <a:pos x="T0" y="T1"/>
                </a:cxn>
                <a:cxn ang="T5">
                  <a:pos x="T2" y="T3"/>
                </a:cxn>
              </a:cxnLst>
              <a:rect l="T6" t="T7" r="T8" b="T9"/>
              <a:pathLst>
                <a:path w="780" h="1">
                  <a:moveTo>
                    <a:pt x="0" y="0"/>
                  </a:moveTo>
                  <a:lnTo>
                    <a:pt x="78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6" name="Freeform 32"/>
            <p:cNvSpPr>
              <a:spLocks noChangeAspect="1"/>
            </p:cNvSpPr>
            <p:nvPr/>
          </p:nvSpPr>
          <p:spPr bwMode="auto">
            <a:xfrm>
              <a:off x="4562" y="2936"/>
              <a:ext cx="69" cy="713"/>
            </a:xfrm>
            <a:custGeom>
              <a:avLst/>
              <a:gdLst>
                <a:gd name="T0" fmla="*/ 0 w 80"/>
                <a:gd name="T1" fmla="*/ 0 h 740"/>
                <a:gd name="T2" fmla="*/ 3 w 80"/>
                <a:gd name="T3" fmla="*/ 129 h 740"/>
                <a:gd name="T4" fmla="*/ 0 w 80"/>
                <a:gd name="T5" fmla="*/ 316 h 740"/>
                <a:gd name="T6" fmla="*/ 0 60000 65536"/>
                <a:gd name="T7" fmla="*/ 0 60000 65536"/>
                <a:gd name="T8" fmla="*/ 0 60000 65536"/>
                <a:gd name="T9" fmla="*/ 0 w 80"/>
                <a:gd name="T10" fmla="*/ 0 h 740"/>
                <a:gd name="T11" fmla="*/ 80 w 80"/>
                <a:gd name="T12" fmla="*/ 740 h 740"/>
              </a:gdLst>
              <a:ahLst/>
              <a:cxnLst>
                <a:cxn ang="T6">
                  <a:pos x="T0" y="T1"/>
                </a:cxn>
                <a:cxn ang="T7">
                  <a:pos x="T2" y="T3"/>
                </a:cxn>
                <a:cxn ang="T8">
                  <a:pos x="T4" y="T5"/>
                </a:cxn>
              </a:cxnLst>
              <a:rect l="T9" t="T10" r="T11" b="T12"/>
              <a:pathLst>
                <a:path w="80" h="740">
                  <a:moveTo>
                    <a:pt x="0" y="0"/>
                  </a:moveTo>
                  <a:cubicBezTo>
                    <a:pt x="13" y="51"/>
                    <a:pt x="80" y="181"/>
                    <a:pt x="80" y="304"/>
                  </a:cubicBezTo>
                  <a:cubicBezTo>
                    <a:pt x="80" y="427"/>
                    <a:pt x="17" y="649"/>
                    <a:pt x="0" y="740"/>
                  </a:cubicBez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7" name="Freeform 33"/>
            <p:cNvSpPr>
              <a:spLocks noChangeAspect="1"/>
            </p:cNvSpPr>
            <p:nvPr/>
          </p:nvSpPr>
          <p:spPr bwMode="auto">
            <a:xfrm>
              <a:off x="4604" y="2981"/>
              <a:ext cx="654" cy="697"/>
            </a:xfrm>
            <a:custGeom>
              <a:avLst/>
              <a:gdLst>
                <a:gd name="T0" fmla="*/ 0 w 780"/>
                <a:gd name="T1" fmla="*/ 105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8" name="Freeform 34"/>
            <p:cNvSpPr>
              <a:spLocks noChangeAspect="1"/>
            </p:cNvSpPr>
            <p:nvPr/>
          </p:nvSpPr>
          <p:spPr bwMode="auto">
            <a:xfrm>
              <a:off x="4468" y="2952"/>
              <a:ext cx="72" cy="687"/>
            </a:xfrm>
            <a:custGeom>
              <a:avLst/>
              <a:gdLst>
                <a:gd name="T0" fmla="*/ 8 w 80"/>
                <a:gd name="T1" fmla="*/ 100 h 750"/>
                <a:gd name="T2" fmla="*/ 5 w 80"/>
                <a:gd name="T3" fmla="*/ 71 h 750"/>
                <a:gd name="T4" fmla="*/ 5 w 80"/>
                <a:gd name="T5" fmla="*/ 56 h 750"/>
                <a:gd name="T6" fmla="*/ 5 w 80"/>
                <a:gd name="T7" fmla="*/ 37 h 750"/>
                <a:gd name="T8" fmla="*/ 6 w 80"/>
                <a:gd name="T9" fmla="*/ 0 h 750"/>
                <a:gd name="T10" fmla="*/ 0 60000 65536"/>
                <a:gd name="T11" fmla="*/ 0 60000 65536"/>
                <a:gd name="T12" fmla="*/ 0 60000 65536"/>
                <a:gd name="T13" fmla="*/ 0 60000 65536"/>
                <a:gd name="T14" fmla="*/ 0 60000 65536"/>
                <a:gd name="T15" fmla="*/ 0 w 80"/>
                <a:gd name="T16" fmla="*/ 0 h 750"/>
                <a:gd name="T17" fmla="*/ 80 w 80"/>
                <a:gd name="T18" fmla="*/ 750 h 750"/>
              </a:gdLst>
              <a:ahLst/>
              <a:cxnLst>
                <a:cxn ang="T10">
                  <a:pos x="T0" y="T1"/>
                </a:cxn>
                <a:cxn ang="T11">
                  <a:pos x="T2" y="T3"/>
                </a:cxn>
                <a:cxn ang="T12">
                  <a:pos x="T4" y="T5"/>
                </a:cxn>
                <a:cxn ang="T13">
                  <a:pos x="T6" y="T7"/>
                </a:cxn>
                <a:cxn ang="T14">
                  <a:pos x="T8" y="T9"/>
                </a:cxn>
              </a:cxnLst>
              <a:rect l="T15" t="T16" r="T17" b="T18"/>
              <a:pathLst>
                <a:path w="80" h="750">
                  <a:moveTo>
                    <a:pt x="80" y="750"/>
                  </a:moveTo>
                  <a:cubicBezTo>
                    <a:pt x="70" y="713"/>
                    <a:pt x="32" y="585"/>
                    <a:pt x="20" y="530"/>
                  </a:cubicBezTo>
                  <a:cubicBezTo>
                    <a:pt x="8" y="475"/>
                    <a:pt x="12" y="462"/>
                    <a:pt x="10" y="420"/>
                  </a:cubicBezTo>
                  <a:cubicBezTo>
                    <a:pt x="2" y="344"/>
                    <a:pt x="0" y="350"/>
                    <a:pt x="10" y="280"/>
                  </a:cubicBezTo>
                  <a:cubicBezTo>
                    <a:pt x="20" y="210"/>
                    <a:pt x="57" y="58"/>
                    <a:pt x="70" y="0"/>
                  </a:cubicBezTo>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9" name="Oval 35"/>
            <p:cNvSpPr>
              <a:spLocks noChangeAspect="1" noChangeArrowheads="1"/>
            </p:cNvSpPr>
            <p:nvPr/>
          </p:nvSpPr>
          <p:spPr bwMode="auto">
            <a:xfrm>
              <a:off x="643" y="2905"/>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0" name="Oval 36"/>
            <p:cNvSpPr>
              <a:spLocks noChangeAspect="1" noChangeArrowheads="1"/>
            </p:cNvSpPr>
            <p:nvPr/>
          </p:nvSpPr>
          <p:spPr bwMode="auto">
            <a:xfrm>
              <a:off x="1333" y="2905"/>
              <a:ext cx="101"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1" name="Oval 37"/>
            <p:cNvSpPr>
              <a:spLocks noChangeAspect="1" noChangeArrowheads="1"/>
            </p:cNvSpPr>
            <p:nvPr/>
          </p:nvSpPr>
          <p:spPr bwMode="auto">
            <a:xfrm>
              <a:off x="643" y="3627"/>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2" name="Oval 38"/>
            <p:cNvSpPr>
              <a:spLocks noChangeAspect="1" noChangeArrowheads="1"/>
            </p:cNvSpPr>
            <p:nvPr/>
          </p:nvSpPr>
          <p:spPr bwMode="auto">
            <a:xfrm>
              <a:off x="1920" y="2907"/>
              <a:ext cx="101"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3" name="Oval 39"/>
            <p:cNvSpPr>
              <a:spLocks noChangeAspect="1" noChangeArrowheads="1"/>
            </p:cNvSpPr>
            <p:nvPr/>
          </p:nvSpPr>
          <p:spPr bwMode="auto">
            <a:xfrm>
              <a:off x="2483" y="2907"/>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4" name="Oval 40"/>
            <p:cNvSpPr>
              <a:spLocks noChangeAspect="1" noChangeArrowheads="1"/>
            </p:cNvSpPr>
            <p:nvPr/>
          </p:nvSpPr>
          <p:spPr bwMode="auto">
            <a:xfrm>
              <a:off x="1920" y="3629"/>
              <a:ext cx="101"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5" name="Oval 41"/>
            <p:cNvSpPr>
              <a:spLocks noChangeAspect="1" noChangeArrowheads="1"/>
            </p:cNvSpPr>
            <p:nvPr/>
          </p:nvSpPr>
          <p:spPr bwMode="auto">
            <a:xfrm>
              <a:off x="3259" y="2916"/>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6" name="Oval 42"/>
            <p:cNvSpPr>
              <a:spLocks noChangeAspect="1" noChangeArrowheads="1"/>
            </p:cNvSpPr>
            <p:nvPr/>
          </p:nvSpPr>
          <p:spPr bwMode="auto">
            <a:xfrm>
              <a:off x="3950" y="2916"/>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7" name="Oval 43"/>
            <p:cNvSpPr>
              <a:spLocks noChangeAspect="1" noChangeArrowheads="1"/>
            </p:cNvSpPr>
            <p:nvPr/>
          </p:nvSpPr>
          <p:spPr bwMode="auto">
            <a:xfrm>
              <a:off x="3259" y="3639"/>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8" name="Oval 44"/>
            <p:cNvSpPr>
              <a:spLocks noChangeAspect="1" noChangeArrowheads="1"/>
            </p:cNvSpPr>
            <p:nvPr/>
          </p:nvSpPr>
          <p:spPr bwMode="auto">
            <a:xfrm>
              <a:off x="4532" y="2896"/>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9" name="Oval 45"/>
            <p:cNvSpPr>
              <a:spLocks noChangeAspect="1" noChangeArrowheads="1"/>
            </p:cNvSpPr>
            <p:nvPr/>
          </p:nvSpPr>
          <p:spPr bwMode="auto">
            <a:xfrm>
              <a:off x="5223" y="2896"/>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0" name="Oval 46"/>
            <p:cNvSpPr>
              <a:spLocks noChangeAspect="1" noChangeArrowheads="1"/>
            </p:cNvSpPr>
            <p:nvPr/>
          </p:nvSpPr>
          <p:spPr bwMode="auto">
            <a:xfrm>
              <a:off x="4532" y="3617"/>
              <a:ext cx="100" cy="100"/>
            </a:xfrm>
            <a:prstGeom prst="ellipse">
              <a:avLst/>
            </a:prstGeom>
            <a:solidFill>
              <a:srgbClr val="FFFFFF"/>
            </a:solidFill>
            <a:ln w="25400" algn="ctr">
              <a:solidFill>
                <a:srgbClr val="0000FF"/>
              </a:solidFill>
              <a:rou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1" name="Arc 47"/>
            <p:cNvSpPr>
              <a:spLocks noChangeAspect="1"/>
            </p:cNvSpPr>
            <p:nvPr/>
          </p:nvSpPr>
          <p:spPr bwMode="auto">
            <a:xfrm rot="480000" flipH="1">
              <a:off x="2982" y="2724"/>
              <a:ext cx="299" cy="29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path>
                <a:path w="43200" h="43200" stroke="0"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lnTo>
                    <a:pt x="21600" y="21600"/>
                  </a:lnTo>
                  <a:lnTo>
                    <a:pt x="177" y="24360"/>
                  </a:lnTo>
                  <a:close/>
                </a:path>
              </a:pathLst>
            </a:custGeom>
            <a:noFill/>
            <a:ln w="25400">
              <a:solidFill>
                <a:srgbClr val="000000"/>
              </a:solidFill>
              <a:rou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2" name="Text Box 48"/>
            <p:cNvSpPr txBox="1">
              <a:spLocks noChangeAspect="1" noChangeArrowheads="1"/>
            </p:cNvSpPr>
            <p:nvPr/>
          </p:nvSpPr>
          <p:spPr bwMode="auto">
            <a:xfrm>
              <a:off x="2122" y="3847"/>
              <a:ext cx="36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(b)</a:t>
              </a:r>
              <a:endParaRPr lang="en-US" altLang="zh-CN" sz="2400">
                <a:solidFill>
                  <a:srgbClr val="FF0000"/>
                </a:solidFill>
              </a:endParaRPr>
            </a:p>
          </p:txBody>
        </p:sp>
        <p:sp>
          <p:nvSpPr>
            <p:cNvPr id="93" name="Text Box 49"/>
            <p:cNvSpPr txBox="1">
              <a:spLocks noChangeAspect="1" noChangeArrowheads="1"/>
            </p:cNvSpPr>
            <p:nvPr/>
          </p:nvSpPr>
          <p:spPr bwMode="auto">
            <a:xfrm>
              <a:off x="3448" y="3847"/>
              <a:ext cx="2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(c)</a:t>
              </a:r>
              <a:endParaRPr lang="en-US" altLang="zh-CN" sz="2400">
                <a:solidFill>
                  <a:srgbClr val="FF0000"/>
                </a:solidFill>
              </a:endParaRPr>
            </a:p>
          </p:txBody>
        </p:sp>
        <p:sp>
          <p:nvSpPr>
            <p:cNvPr id="94" name="Text Box 50"/>
            <p:cNvSpPr txBox="1">
              <a:spLocks noChangeAspect="1" noChangeArrowheads="1"/>
            </p:cNvSpPr>
            <p:nvPr/>
          </p:nvSpPr>
          <p:spPr bwMode="auto">
            <a:xfrm>
              <a:off x="4773" y="3847"/>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(d)</a:t>
              </a:r>
              <a:endParaRPr lang="en-US" altLang="zh-CN" sz="2400">
                <a:solidFill>
                  <a:srgbClr val="FF0000"/>
                </a:solidFill>
              </a:endParaRPr>
            </a:p>
          </p:txBody>
        </p:sp>
      </p:gr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655811">
                                            <p:txEl>
                                              <p:pRg st="0" end="0"/>
                                            </p:txEl>
                                          </p:spTgt>
                                        </p:tgtEl>
                                        <p:attrNameLst>
                                          <p:attrName>style.visibility</p:attrName>
                                        </p:attrNameLst>
                                      </p:cBhvr>
                                      <p:to>
                                        <p:strVal val="visible"/>
                                      </p:to>
                                    </p:set>
                                    <p:anim calcmode="lin" valueType="num">
                                      <p:cBhvr additive="base">
                                        <p:cTn id="7" dur="500" fill="hold"/>
                                        <p:tgtEl>
                                          <p:spTgt spid="1655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55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55817"/>
                                        </p:tgtEl>
                                        <p:attrNameLst>
                                          <p:attrName>style.visibility</p:attrName>
                                        </p:attrNameLst>
                                      </p:cBhvr>
                                      <p:to>
                                        <p:strVal val="visible"/>
                                      </p:to>
                                    </p:set>
                                    <p:anim calcmode="lin" valueType="num">
                                      <p:cBhvr additive="base">
                                        <p:cTn id="19" dur="500" fill="hold"/>
                                        <p:tgtEl>
                                          <p:spTgt spid="1655817"/>
                                        </p:tgtEl>
                                        <p:attrNameLst>
                                          <p:attrName>ppt_x</p:attrName>
                                        </p:attrNameLst>
                                      </p:cBhvr>
                                      <p:tavLst>
                                        <p:tav tm="0">
                                          <p:val>
                                            <p:strVal val="#ppt_x"/>
                                          </p:val>
                                        </p:tav>
                                        <p:tav tm="100000">
                                          <p:val>
                                            <p:strVal val="#ppt_x"/>
                                          </p:val>
                                        </p:tav>
                                      </p:tavLst>
                                    </p:anim>
                                    <p:anim calcmode="lin" valueType="num">
                                      <p:cBhvr additive="base">
                                        <p:cTn id="20" dur="500" fill="hold"/>
                                        <p:tgtEl>
                                          <p:spTgt spid="16558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 calcmode="lin" valueType="num">
                                      <p:cBhvr>
                                        <p:cTn id="25" dur="500" decel="50000" fill="hold">
                                          <p:stCondLst>
                                            <p:cond delay="0"/>
                                          </p:stCondLst>
                                        </p:cTn>
                                        <p:tgtEl>
                                          <p:spTgt spid="54"/>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54"/>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54"/>
                                        </p:tgtEl>
                                        <p:attrNameLst>
                                          <p:attrName>ppt_w</p:attrName>
                                        </p:attrNameLst>
                                      </p:cBhvr>
                                      <p:tavLst>
                                        <p:tav tm="0">
                                          <p:val>
                                            <p:strVal val="#ppt_w*.05"/>
                                          </p:val>
                                        </p:tav>
                                        <p:tav tm="100000">
                                          <p:val>
                                            <p:strVal val="#ppt_w"/>
                                          </p:val>
                                        </p:tav>
                                      </p:tavLst>
                                    </p:anim>
                                    <p:anim calcmode="lin" valueType="num">
                                      <p:cBhvr>
                                        <p:cTn id="28" dur="1000" fill="hold"/>
                                        <p:tgtEl>
                                          <p:spTgt spid="54"/>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54"/>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54"/>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54"/>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5811" grpId="0" build="p"/>
      <p:bldP spid="165581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2"/>
          <p:cNvSpPr>
            <a:spLocks noGrp="1" noChangeArrowheads="1"/>
          </p:cNvSpPr>
          <p:nvPr>
            <p:ph type="title"/>
          </p:nvPr>
        </p:nvSpPr>
        <p:spPr/>
        <p:txBody>
          <a:bodyPr/>
          <a:lstStyle/>
          <a:p>
            <a:pPr eaLnBrk="1" hangingPunct="1"/>
            <a:r>
              <a:rPr lang="zh-CN" altLang="en-US" dirty="0"/>
              <a:t>解题小贴士</a:t>
            </a:r>
            <a:endParaRPr lang="zh-CN" altLang="en-US" dirty="0"/>
          </a:p>
        </p:txBody>
      </p:sp>
      <mc:AlternateContent xmlns:mc="http://schemas.openxmlformats.org/markup-compatibility/2006">
        <mc:Choice xmlns:a14="http://schemas.microsoft.com/office/drawing/2010/main" Requires="a14">
          <p:sp>
            <p:nvSpPr>
              <p:cNvPr id="6" name="Text Box 556"/>
              <p:cNvSpPr txBox="1">
                <a:spLocks noChangeArrowheads="1"/>
              </p:cNvSpPr>
              <p:nvPr/>
            </p:nvSpPr>
            <p:spPr bwMode="auto">
              <a:xfrm>
                <a:off x="384175" y="1753394"/>
                <a:ext cx="10864850" cy="1257152"/>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传递性的关系矩阵表示判断方法</a:t>
                </a:r>
                <a:r>
                  <a:rPr lang="en-US" altLang="zh-CN" b="1" kern="100" dirty="0">
                    <a:latin typeface="+mn-ea"/>
                    <a:cs typeface="宋体" panose="02010600030101010101" pitchFamily="2" charset="-122"/>
                  </a:rPr>
                  <a:t>(</a:t>
                </a:r>
                <a:r>
                  <a:rPr lang="en-US" altLang="zh-CN" b="1" kern="0" dirty="0">
                    <a:latin typeface="+mn-ea"/>
                    <a:cs typeface="宋体" panose="02010600030101010101" pitchFamily="2" charset="-122"/>
                  </a:rPr>
                  <a:t>(</a:t>
                </a:r>
                <a:r>
                  <a:rPr lang="en-US" altLang="zh-CN" b="1" kern="0" dirty="0" err="1">
                    <a:latin typeface="+mn-ea"/>
                    <a:cs typeface="宋体" panose="02010600030101010101" pitchFamily="2" charset="-122"/>
                  </a:rPr>
                  <a:t>r</a:t>
                </a:r>
                <a:r>
                  <a:rPr lang="en-US" altLang="zh-CN" b="1" kern="0" baseline="-25000" dirty="0" err="1">
                    <a:latin typeface="+mn-ea"/>
                    <a:cs typeface="宋体" panose="02010600030101010101" pitchFamily="2" charset="-122"/>
                  </a:rPr>
                  <a:t>ij</a:t>
                </a:r>
                <a:r>
                  <a:rPr lang="en-US" altLang="zh-CN" b="1" kern="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baseline="-25000" dirty="0">
                    <a:latin typeface="+mn-ea"/>
                    <a:cs typeface="宋体" panose="02010600030101010101" pitchFamily="2" charset="-122"/>
                  </a:rPr>
                  <a:t>×</a:t>
                </a:r>
                <a:r>
                  <a:rPr lang="en-US" altLang="zh-CN" b="1" kern="0" baseline="-25000" dirty="0">
                    <a:latin typeface="+mn-ea"/>
                    <a:cs typeface="宋体" panose="02010600030101010101" pitchFamily="2" charset="-122"/>
                  </a:rPr>
                  <a:t>n</a:t>
                </a:r>
                <a:r>
                  <a:rPr lang="zh-CN" altLang="zh-CN" b="1" kern="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的关系矩阵</a:t>
                </a:r>
                <a:r>
                  <a:rPr lang="zh-CN" altLang="en-US" b="1" kern="100" dirty="0">
                    <a:latin typeface="+mn-ea"/>
                    <a:cs typeface="宋体" panose="02010600030101010101" pitchFamily="2" charset="-122"/>
                  </a:rPr>
                  <a:t>）</a:t>
                </a:r>
                <a:r>
                  <a:rPr lang="zh-CN" b="1" kern="100" dirty="0">
                    <a:effectLst/>
                    <a:latin typeface="+mn-ea"/>
                    <a:cs typeface="宋体" panose="02010600030101010101" pitchFamily="2" charset="-122"/>
                  </a:rPr>
                  <a:t>，则</a:t>
                </a:r>
                <a:endParaRPr lang="zh-CN" b="1" kern="100" dirty="0">
                  <a:effectLst/>
                  <a:latin typeface="+mn-ea"/>
                  <a:cs typeface="宋体" panose="02010600030101010101" pitchFamily="2" charset="-122"/>
                </a:endParaRPr>
              </a:p>
              <a:p>
                <a:pPr algn="just">
                  <a:lnSpc>
                    <a:spcPct val="150000"/>
                  </a:lnSpc>
                  <a:spcAft>
                    <a:spcPts val="0"/>
                  </a:spcAft>
                </a:pPr>
                <a:r>
                  <a:rPr lang="en-US" b="1" kern="0" dirty="0">
                    <a:latin typeface="+mn-ea"/>
                    <a:cs typeface="宋体" panose="02010600030101010101" pitchFamily="2" charset="-122"/>
                  </a:rPr>
                  <a:t>      R</a:t>
                </a:r>
                <a:r>
                  <a:rPr lang="zh-CN" altLang="en-US" b="1" kern="0" dirty="0">
                    <a:latin typeface="+mn-ea"/>
                    <a:cs typeface="宋体" panose="02010600030101010101" pitchFamily="2" charset="-122"/>
                  </a:rPr>
                  <a:t>是传递的</a:t>
                </a:r>
                <a:r>
                  <a:rPr lang="en-US" altLang="zh-CN" b="1" dirty="0">
                    <a:latin typeface="+mn-ea"/>
                    <a:sym typeface="Symbol" panose="05050102010706020507" pitchFamily="18" charset="2"/>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b="1" kern="100" dirty="0" err="1">
                    <a:effectLst/>
                    <a:latin typeface="+mn-ea"/>
                    <a:cs typeface="宋体" panose="02010600030101010101" pitchFamily="2" charset="-122"/>
                  </a:rPr>
                  <a:t>i</a:t>
                </a:r>
                <a14:m>
                  <m:oMath xmlns:m="http://schemas.openxmlformats.org/officeDocument/2006/math">
                    <m:r>
                      <a:rPr lang="es-ES" altLang="zh-CN" b="1" i="1">
                        <a:latin typeface="Cambria Math" panose="02040503050406030204" pitchFamily="18" charset="0"/>
                      </a:rPr>
                      <m:t>∀</m:t>
                    </m:r>
                  </m:oMath>
                </a14:m>
                <a:r>
                  <a:rPr lang="en-US" b="1" kern="100" dirty="0">
                    <a:effectLst/>
                    <a:latin typeface="+mn-ea"/>
                    <a:cs typeface="宋体" panose="02010600030101010101" pitchFamily="2" charset="-122"/>
                  </a:rPr>
                  <a:t>j</a:t>
                </a:r>
                <a14:m>
                  <m:oMath xmlns:m="http://schemas.openxmlformats.org/officeDocument/2006/math">
                    <m:r>
                      <a:rPr lang="es-ES" altLang="zh-CN" b="1" i="1">
                        <a:latin typeface="Cambria Math" panose="02040503050406030204" pitchFamily="18" charset="0"/>
                      </a:rPr>
                      <m:t>∀</m:t>
                    </m:r>
                    <m:r>
                      <a:rPr lang="en-US" altLang="zh-CN" b="1" i="1">
                        <a:latin typeface="Cambria Math" panose="02040503050406030204" pitchFamily="18" charset="0"/>
                      </a:rPr>
                      <m:t>𝒌</m:t>
                    </m:r>
                  </m:oMath>
                </a14:m>
                <a:r>
                  <a:rPr lang="en-US" b="1" kern="100" dirty="0">
                    <a:effectLst/>
                    <a:latin typeface="+mn-ea"/>
                    <a:cs typeface="宋体" panose="02010600030101010101" pitchFamily="2" charset="-122"/>
                  </a:rPr>
                  <a:t>(</a:t>
                </a:r>
                <a:r>
                  <a:rPr lang="en-US" altLang="zh-CN" b="1" kern="0" dirty="0" err="1">
                    <a:latin typeface="+mn-ea"/>
                    <a:cs typeface="宋体" panose="02010600030101010101" pitchFamily="2" charset="-122"/>
                  </a:rPr>
                  <a:t>r</a:t>
                </a:r>
                <a:r>
                  <a:rPr lang="en-US" altLang="zh-CN" b="1" kern="100" baseline="-25000" dirty="0" err="1">
                    <a:latin typeface="+mn-ea"/>
                    <a:cs typeface="宋体" panose="02010600030101010101" pitchFamily="2" charset="-122"/>
                  </a:rPr>
                  <a:t>ij</a:t>
                </a:r>
                <a:r>
                  <a:rPr lang="zh-CN" altLang="zh-CN" b="1" dirty="0">
                    <a:latin typeface="+mn-ea"/>
                  </a:rPr>
                  <a:t>∧</a:t>
                </a:r>
                <a:r>
                  <a:rPr lang="en-US" altLang="zh-CN" b="1" dirty="0" err="1">
                    <a:latin typeface="+mn-ea"/>
                  </a:rPr>
                  <a:t>r</a:t>
                </a:r>
                <a:r>
                  <a:rPr lang="en-US" altLang="zh-CN" b="1" baseline="-25000" dirty="0" err="1">
                    <a:latin typeface="+mn-ea"/>
                  </a:rPr>
                  <a:t>jk</a:t>
                </a:r>
                <a:r>
                  <a:rPr lang="zh-CN" altLang="zh-CN" b="1" dirty="0">
                    <a:latin typeface="+mn-ea"/>
                  </a:rPr>
                  <a:t>＝</a:t>
                </a:r>
                <a:r>
                  <a:rPr lang="en-US" altLang="zh-CN" b="1" dirty="0">
                    <a:latin typeface="+mn-ea"/>
                  </a:rPr>
                  <a:t>1</a:t>
                </a:r>
                <a:r>
                  <a:rPr lang="zh-CN" altLang="en-US" b="1" dirty="0">
                    <a:latin typeface="+mn-ea"/>
                    <a:cs typeface="Times New Roman" panose="02020603050405020304" pitchFamily="18" charset="0"/>
                  </a:rPr>
                  <a:t>→</a:t>
                </a:r>
                <a:r>
                  <a:rPr lang="en-US" b="1" kern="0" dirty="0" err="1">
                    <a:effectLst/>
                    <a:latin typeface="+mn-ea"/>
                    <a:cs typeface="宋体" panose="02010600030101010101" pitchFamily="2" charset="-122"/>
                  </a:rPr>
                  <a:t>r</a:t>
                </a:r>
                <a:r>
                  <a:rPr lang="en-US" b="1" kern="100" baseline="-25000" dirty="0" err="1">
                    <a:effectLst/>
                    <a:latin typeface="+mn-ea"/>
                    <a:cs typeface="宋体" panose="02010600030101010101" pitchFamily="2" charset="-122"/>
                  </a:rPr>
                  <a:t>i</a:t>
                </a:r>
                <a:r>
                  <a:rPr lang="en-US" altLang="zh-CN" b="1" kern="100" baseline="-25000" dirty="0" err="1">
                    <a:effectLst/>
                    <a:latin typeface="+mn-ea"/>
                    <a:cs typeface="宋体" panose="02010600030101010101" pitchFamily="2" charset="-122"/>
                  </a:rPr>
                  <a:t>k</a:t>
                </a:r>
                <a:r>
                  <a:rPr lang="zh-CN" b="1" kern="100" dirty="0">
                    <a:effectLst/>
                    <a:latin typeface="+mn-ea"/>
                    <a:cs typeface="宋体" panose="02010600030101010101" pitchFamily="2" charset="-122"/>
                  </a:rPr>
                  <a:t>＝</a:t>
                </a:r>
                <a:r>
                  <a:rPr lang="en-US" altLang="zh-CN" b="1" kern="100" dirty="0">
                    <a:effectLst/>
                    <a:latin typeface="+mn-ea"/>
                    <a:cs typeface="宋体" panose="02010600030101010101" pitchFamily="2" charset="-122"/>
                  </a:rPr>
                  <a:t>1</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1</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p:txBody>
          </p:sp>
        </mc:Choice>
        <mc:Fallback>
          <p:sp>
            <p:nvSpPr>
              <p:cNvPr id="6" name="Text Box 556"/>
              <p:cNvSpPr txBox="1">
                <a:spLocks noRot="1" noChangeAspect="1" noMove="1" noResize="1" noEditPoints="1" noAdjustHandles="1" noChangeArrowheads="1" noChangeShapeType="1" noTextEdit="1"/>
              </p:cNvSpPr>
              <p:nvPr/>
            </p:nvSpPr>
            <p:spPr bwMode="auto">
              <a:xfrm>
                <a:off x="384175" y="1753394"/>
                <a:ext cx="10864850" cy="1257152"/>
              </a:xfrm>
              <a:prstGeom prst="rect">
                <a:avLst/>
              </a:prstGeom>
              <a:blipFill rotWithShape="1">
                <a:blip r:embed="rId1"/>
                <a:stretch>
                  <a:fillRect l="-47" t="-417" r="-41" b="-353"/>
                </a:stretch>
              </a:blipFill>
              <a:ln w="9525">
                <a:solidFill>
                  <a:srgbClr val="000000"/>
                </a:solidFill>
                <a:miter lim="800000"/>
              </a:ln>
            </p:spPr>
            <p:txBody>
              <a:bodyPr/>
              <a:lstStyle/>
              <a:p>
                <a:r>
                  <a:rPr lang="zh-CN" altLang="en-US">
                    <a:noFill/>
                  </a:rPr>
                  <a:t> </a:t>
                </a:r>
              </a:p>
            </p:txBody>
          </p:sp>
        </mc:Fallback>
      </mc:AlternateContent>
      <p:sp>
        <p:nvSpPr>
          <p:cNvPr id="7" name="Text Box 4293"/>
          <p:cNvSpPr txBox="1">
            <a:spLocks noChangeArrowheads="1"/>
          </p:cNvSpPr>
          <p:nvPr/>
        </p:nvSpPr>
        <p:spPr bwMode="auto">
          <a:xfrm>
            <a:off x="384175" y="3639345"/>
            <a:ext cx="10864850" cy="1733401"/>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a:t>
            </a:r>
            <a:r>
              <a:rPr lang="zh-CN" altLang="en-US" b="1" kern="100" dirty="0">
                <a:solidFill>
                  <a:srgbClr val="C00000"/>
                </a:solidFill>
                <a:latin typeface="+mn-ea"/>
                <a:cs typeface="宋体" panose="02010600030101010101" pitchFamily="2" charset="-122"/>
              </a:rPr>
              <a:t>传递性的关系图表示判断方法</a:t>
            </a:r>
            <a:r>
              <a:rPr lang="en-US" altLang="zh-CN" b="1" kern="100" dirty="0">
                <a:latin typeface="+mn-ea"/>
                <a:cs typeface="宋体" panose="02010600030101010101" pitchFamily="2" charset="-122"/>
              </a:rPr>
              <a:t>(G</a:t>
            </a:r>
            <a:r>
              <a:rPr lang="en-US" altLang="zh-CN" b="1" kern="100" baseline="-25000" dirty="0">
                <a:latin typeface="+mn-ea"/>
                <a:cs typeface="宋体" panose="02010600030101010101" pitchFamily="2" charset="-122"/>
              </a:rPr>
              <a:t>R</a:t>
            </a:r>
            <a:r>
              <a:rPr lang="zh-CN" altLang="zh-CN" b="1" kern="100" dirty="0">
                <a:latin typeface="+mn-ea"/>
                <a:cs typeface="宋体" panose="02010600030101010101" pitchFamily="2" charset="-122"/>
              </a:rPr>
              <a:t>是</a:t>
            </a:r>
            <a:r>
              <a:rPr lang="en-US" altLang="zh-CN" b="1" kern="100" dirty="0">
                <a:latin typeface="+mn-ea"/>
                <a:cs typeface="宋体" panose="02010600030101010101" pitchFamily="2" charset="-122"/>
              </a:rPr>
              <a:t>R</a:t>
            </a:r>
            <a:r>
              <a:rPr lang="zh-CN" altLang="zh-CN" b="1" kern="100" dirty="0">
                <a:latin typeface="+mn-ea"/>
                <a:cs typeface="宋体" panose="02010600030101010101" pitchFamily="2" charset="-122"/>
              </a:rPr>
              <a:t>的关系图</a:t>
            </a:r>
            <a:r>
              <a:rPr lang="en-US" altLang="zh-CN" b="1" kern="100" dirty="0">
                <a:latin typeface="+mn-ea"/>
                <a:cs typeface="宋体" panose="02010600030101010101" pitchFamily="2" charset="-122"/>
              </a:rPr>
              <a:t>)</a:t>
            </a:r>
            <a:r>
              <a:rPr lang="zh-CN" altLang="zh-CN" b="1" kern="100" dirty="0">
                <a:latin typeface="+mn-ea"/>
                <a:cs typeface="宋体" panose="02010600030101010101" pitchFamily="2" charset="-122"/>
              </a:rPr>
              <a:t>，</a:t>
            </a:r>
            <a:r>
              <a:rPr lang="zh-CN" b="1" kern="100" dirty="0">
                <a:effectLst/>
                <a:latin typeface="+mn-ea"/>
                <a:cs typeface="宋体" panose="02010600030101010101" pitchFamily="2" charset="-122"/>
              </a:rPr>
              <a:t>则</a:t>
            </a:r>
            <a:endParaRPr lang="zh-CN" b="1" kern="100" dirty="0">
              <a:effectLst/>
              <a:latin typeface="+mn-ea"/>
              <a:cs typeface="宋体" panose="02010600030101010101" pitchFamily="2" charset="-122"/>
            </a:endParaRPr>
          </a:p>
          <a:p>
            <a:pPr algn="just">
              <a:lnSpc>
                <a:spcPct val="150000"/>
              </a:lnSpc>
              <a:spcAft>
                <a:spcPts val="0"/>
              </a:spcAft>
            </a:pPr>
            <a:r>
              <a:rPr lang="en-US" altLang="zh-CN" b="1" kern="0" dirty="0">
                <a:latin typeface="+mn-ea"/>
                <a:cs typeface="宋体" panose="02010600030101010101" pitchFamily="2" charset="-122"/>
              </a:rPr>
              <a:t>R</a:t>
            </a:r>
            <a:r>
              <a:rPr lang="zh-CN" altLang="en-US" b="1" kern="0" dirty="0">
                <a:latin typeface="+mn-ea"/>
                <a:cs typeface="宋体" panose="02010600030101010101" pitchFamily="2" charset="-122"/>
              </a:rPr>
              <a:t>是传递的</a:t>
            </a:r>
            <a:r>
              <a:rPr lang="en-US" altLang="zh-CN" b="1" dirty="0">
                <a:latin typeface="微软雅黑" panose="020B0503020204020204" pitchFamily="34" charset="-122"/>
                <a:ea typeface="微软雅黑" panose="020B0503020204020204" pitchFamily="34" charset="-122"/>
                <a:sym typeface="Symbol" panose="05050102010706020507" pitchFamily="18" charset="2"/>
              </a:rPr>
              <a:t></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a:t>
            </a:r>
            <a:r>
              <a:rPr lang="zh-CN" altLang="en-US" b="1" kern="100" dirty="0">
                <a:latin typeface="+mn-ea"/>
                <a:cs typeface="宋体" panose="02010600030101010101" pitchFamily="2" charset="-122"/>
              </a:rPr>
              <a:t>任何两个结点</a:t>
            </a:r>
            <a:r>
              <a:rPr lang="en-US" altLang="zh-CN" b="1" kern="100" dirty="0">
                <a:latin typeface="+mn-ea"/>
                <a:cs typeface="宋体" panose="02010600030101010101" pitchFamily="2" charset="-122"/>
              </a:rPr>
              <a:t>x</a:t>
            </a:r>
            <a:r>
              <a:rPr lang="zh-CN" altLang="en-US" b="1" kern="100" dirty="0">
                <a:latin typeface="+mn-ea"/>
                <a:cs typeface="宋体" panose="02010600030101010101" pitchFamily="2" charset="-122"/>
              </a:rPr>
              <a:t>，</a:t>
            </a:r>
            <a:r>
              <a:rPr lang="en-US" altLang="zh-CN" b="1" kern="100" dirty="0">
                <a:latin typeface="+mn-ea"/>
                <a:cs typeface="宋体" panose="02010600030101010101" pitchFamily="2" charset="-122"/>
              </a:rPr>
              <a:t>y</a:t>
            </a:r>
            <a:r>
              <a:rPr lang="zh-CN" altLang="en-US" b="1" kern="100" dirty="0">
                <a:latin typeface="+mn-ea"/>
                <a:cs typeface="宋体" panose="02010600030101010101" pitchFamily="2" charset="-122"/>
              </a:rPr>
              <a:t>之间，如果存在</a:t>
            </a:r>
            <a:r>
              <a:rPr lang="en-US" altLang="zh-CN" b="1" kern="100" dirty="0">
                <a:latin typeface="+mn-ea"/>
                <a:cs typeface="宋体" panose="02010600030101010101" pitchFamily="2" charset="-122"/>
              </a:rPr>
              <a:t>x</a:t>
            </a:r>
            <a:r>
              <a:rPr lang="zh-CN" altLang="en-US" b="1" kern="100" dirty="0">
                <a:latin typeface="+mn-ea"/>
                <a:cs typeface="宋体" panose="02010600030101010101" pitchFamily="2" charset="-122"/>
              </a:rPr>
              <a:t>到</a:t>
            </a:r>
            <a:r>
              <a:rPr lang="en-US" altLang="zh-CN" b="1" kern="100" dirty="0">
                <a:latin typeface="+mn-ea"/>
                <a:cs typeface="宋体" panose="02010600030101010101" pitchFamily="2" charset="-122"/>
              </a:rPr>
              <a:t>y</a:t>
            </a:r>
            <a:r>
              <a:rPr lang="zh-CN" altLang="en-US" b="1" kern="100" dirty="0">
                <a:latin typeface="+mn-ea"/>
                <a:cs typeface="宋体" panose="02010600030101010101" pitchFamily="2" charset="-122"/>
              </a:rPr>
              <a:t>的一条路径，则一定有</a:t>
            </a:r>
            <a:r>
              <a:rPr lang="en-US" altLang="zh-CN" b="1" kern="100" dirty="0">
                <a:latin typeface="+mn-ea"/>
                <a:cs typeface="宋体" panose="02010600030101010101" pitchFamily="2" charset="-122"/>
              </a:rPr>
              <a:t>x</a:t>
            </a:r>
            <a:r>
              <a:rPr lang="zh-CN" altLang="en-US" b="1" kern="100" dirty="0">
                <a:latin typeface="+mn-ea"/>
                <a:cs typeface="宋体" panose="02010600030101010101" pitchFamily="2" charset="-122"/>
              </a:rPr>
              <a:t>到</a:t>
            </a:r>
            <a:r>
              <a:rPr lang="en-US" altLang="zh-CN" b="1" kern="100" dirty="0">
                <a:latin typeface="+mn-ea"/>
                <a:cs typeface="宋体" panose="02010600030101010101" pitchFamily="2" charset="-122"/>
              </a:rPr>
              <a:t>y</a:t>
            </a:r>
            <a:r>
              <a:rPr lang="zh-CN" altLang="en-US" b="1" kern="100" dirty="0">
                <a:latin typeface="+mn-ea"/>
                <a:cs typeface="宋体" panose="02010600030101010101" pitchFamily="2" charset="-122"/>
              </a:rPr>
              <a:t>的一条边。</a:t>
            </a:r>
            <a:endParaRPr lang="zh-CN" b="1" kern="100" dirty="0">
              <a:effectLst/>
              <a:latin typeface="+mn-ea"/>
              <a:cs typeface="宋体" panose="02010600030101010101" pitchFamily="2" charset="-122"/>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2"/>
          <p:cNvSpPr>
            <a:spLocks noGrp="1" noChangeArrowheads="1"/>
          </p:cNvSpPr>
          <p:nvPr>
            <p:ph type="title"/>
          </p:nvPr>
        </p:nvSpPr>
        <p:spPr/>
        <p:txBody>
          <a:bodyPr/>
          <a:lstStyle/>
          <a:p>
            <a:pPr eaLnBrk="1" hangingPunct="1"/>
            <a:r>
              <a:rPr lang="zh-CN" altLang="en-US"/>
              <a:t>总结</a:t>
            </a:r>
            <a:endParaRPr lang="zh-CN" altLang="en-US"/>
          </a:p>
        </p:txBody>
      </p:sp>
      <mc:AlternateContent xmlns:mc="http://schemas.openxmlformats.org/markup-compatibility/2006" xmlns:a14="http://schemas.microsoft.com/office/drawing/2010/main">
        <mc:Choice Requires="a14">
          <p:graphicFrame>
            <p:nvGraphicFramePr>
              <p:cNvPr id="1564769" name="Group 97"/>
              <p:cNvGraphicFramePr>
                <a:graphicFrameLocks noGrp="1"/>
              </p:cNvGraphicFramePr>
              <p:nvPr/>
            </p:nvGraphicFramePr>
            <p:xfrm>
              <a:off x="384175" y="1010725"/>
              <a:ext cx="11277600" cy="5584613"/>
            </p:xfrm>
            <a:graphic>
              <a:graphicData uri="http://schemas.openxmlformats.org/drawingml/2006/table">
                <a:tbl>
                  <a:tblPr/>
                  <a:tblGrid>
                    <a:gridCol w="917733"/>
                    <a:gridCol w="1190625"/>
                    <a:gridCol w="1283613"/>
                    <a:gridCol w="2110381"/>
                    <a:gridCol w="2672016"/>
                    <a:gridCol w="3103232"/>
                  </a:tblGrid>
                  <a:tr h="628109">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自反性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反自反性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对称性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反对称性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传递性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01498">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定</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义</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Clr>
                              <a:srgbClr val="800080"/>
                            </a:buClr>
                            <a:buNone/>
                          </a:pPr>
                          <a:r>
                            <a:rPr lang="en-US" altLang="zh-CN" sz="2200" b="1" dirty="0">
                              <a:solidFill>
                                <a:schemeClr val="tx1"/>
                              </a:solidFill>
                              <a:latin typeface="+mn-ea"/>
                              <a:ea typeface="+mn-ea"/>
                              <a:sym typeface="Symbol" panose="05050102010706020507" pitchFamily="18" charset="2"/>
                            </a:rPr>
                            <a:t>x</a:t>
                          </a:r>
                          <a:r>
                            <a:rPr lang="en-US" altLang="zh-CN" sz="2200" b="1" dirty="0">
                              <a:solidFill>
                                <a:schemeClr val="tx1"/>
                              </a:solidFill>
                              <a:latin typeface="+mn-ea"/>
                              <a:ea typeface="+mn-ea"/>
                            </a:rPr>
                            <a:t>(</a:t>
                          </a:r>
                          <a:r>
                            <a:rPr lang="en-US" altLang="zh-CN" sz="2200" b="1" dirty="0" err="1">
                              <a:solidFill>
                                <a:schemeClr val="tx1"/>
                              </a:solidFill>
                              <a:latin typeface="+mn-ea"/>
                              <a:ea typeface="+mn-ea"/>
                            </a:rPr>
                            <a:t>x∈A</a:t>
                          </a:r>
                          <a:r>
                            <a:rPr lang="en-US" altLang="zh-CN" sz="2200" b="1" dirty="0">
                              <a:solidFill>
                                <a:schemeClr val="tx1"/>
                              </a:solidFill>
                              <a:latin typeface="+mn-ea"/>
                              <a:ea typeface="+mn-ea"/>
                            </a:rPr>
                            <a:t>→&lt;</a:t>
                          </a:r>
                          <a:r>
                            <a:rPr lang="en-US" altLang="zh-CN" sz="2200" b="1" dirty="0" err="1">
                              <a:solidFill>
                                <a:schemeClr val="tx1"/>
                              </a:solidFill>
                              <a:latin typeface="+mn-ea"/>
                              <a:ea typeface="+mn-ea"/>
                            </a:rPr>
                            <a:t>x,x</a:t>
                          </a:r>
                          <a:r>
                            <a:rPr lang="en-US" altLang="zh-CN" sz="2200" b="1" dirty="0">
                              <a:solidFill>
                                <a:schemeClr val="tx1"/>
                              </a:solidFill>
                              <a:latin typeface="+mn-ea"/>
                              <a:ea typeface="+mn-ea"/>
                            </a:rPr>
                            <a:t>&gt;∈R)=1</a:t>
                          </a:r>
                          <a:endParaRPr lang="en-US" altLang="zh-CN" sz="2200" b="1" dirty="0">
                            <a:solidFill>
                              <a:schemeClr val="tx1"/>
                            </a:solidFill>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defRPr/>
                          </a:pPr>
                          <a:r>
                            <a:rPr lang="en-US" altLang="zh-CN" sz="2200" b="1" dirty="0">
                              <a:solidFill>
                                <a:schemeClr val="tx1"/>
                              </a:solidFill>
                              <a:latin typeface="+mn-ea"/>
                              <a:ea typeface="+mn-ea"/>
                              <a:sym typeface="Symbol" panose="05050102010706020507" pitchFamily="18" charset="2"/>
                            </a:rPr>
                            <a:t></a:t>
                          </a:r>
                          <a:r>
                            <a:rPr lang="en-US" altLang="zh-CN" sz="2200" b="1" dirty="0">
                              <a:solidFill>
                                <a:schemeClr val="tx1"/>
                              </a:solidFill>
                              <a:latin typeface="+mn-ea"/>
                              <a:ea typeface="+mn-ea"/>
                            </a:rPr>
                            <a:t>x(</a:t>
                          </a:r>
                          <a:r>
                            <a:rPr lang="en-US" altLang="zh-CN" sz="2200" b="1" dirty="0" err="1">
                              <a:solidFill>
                                <a:schemeClr val="tx1"/>
                              </a:solidFill>
                              <a:latin typeface="+mn-ea"/>
                              <a:ea typeface="+mn-ea"/>
                            </a:rPr>
                            <a:t>x∈A</a:t>
                          </a:r>
                          <a:r>
                            <a:rPr lang="en-US" altLang="zh-CN" sz="2200" b="1" dirty="0">
                              <a:solidFill>
                                <a:schemeClr val="tx1"/>
                              </a:solidFill>
                              <a:latin typeface="+mn-ea"/>
                              <a:ea typeface="+mn-ea"/>
                            </a:rPr>
                            <a:t>→&lt;</a:t>
                          </a:r>
                          <a:r>
                            <a:rPr lang="en-US" altLang="zh-CN" sz="2200" b="1" dirty="0" err="1">
                              <a:solidFill>
                                <a:schemeClr val="tx1"/>
                              </a:solidFill>
                              <a:latin typeface="+mn-ea"/>
                              <a:ea typeface="+mn-ea"/>
                            </a:rPr>
                            <a:t>x,x</a:t>
                          </a:r>
                          <a:r>
                            <a:rPr lang="en-US" altLang="zh-CN" sz="2200" b="1" dirty="0">
                              <a:solidFill>
                                <a:schemeClr val="tx1"/>
                              </a:solidFill>
                              <a:latin typeface="+mn-ea"/>
                              <a:ea typeface="+mn-ea"/>
                            </a:rPr>
                            <a:t>&gt;</a:t>
                          </a:r>
                          <a14:m>
                            <m:oMath xmlns:m="http://schemas.openxmlformats.org/officeDocument/2006/math">
                              <m:r>
                                <a:rPr lang="en-US" altLang="zh-CN" sz="2200" b="1" i="1" smtClean="0">
                                  <a:solidFill>
                                    <a:schemeClr val="tx1"/>
                                  </a:solidFill>
                                  <a:latin typeface="Cambria Math" panose="02040503050406030204" pitchFamily="18" charset="0"/>
                                  <a:ea typeface="+mn-ea"/>
                                </a:rPr>
                                <m:t>∉</m:t>
                              </m:r>
                            </m:oMath>
                          </a14:m>
                          <a:r>
                            <a:rPr lang="en-US" altLang="zh-CN" sz="2200" b="1" dirty="0">
                              <a:solidFill>
                                <a:schemeClr val="tx1"/>
                              </a:solidFill>
                              <a:latin typeface="+mn-ea"/>
                              <a:ea typeface="+mn-ea"/>
                            </a:rPr>
                            <a:t>R)=1</a:t>
                          </a:r>
                          <a:endParaRPr lang="en-US" altLang="zh-CN" sz="2200" b="1" dirty="0">
                            <a:solidFill>
                              <a:schemeClr val="tx1"/>
                            </a:solidFill>
                            <a:latin typeface="+mn-ea"/>
                            <a:ea typeface="+mn-ea"/>
                          </a:endParaRPr>
                        </a:p>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14:m>
                            <m:oMath xmlns:m="http://schemas.openxmlformats.org/officeDocument/2006/math">
                              <m:r>
                                <a:rPr lang="es-ES" altLang="zh-CN" sz="2000" i="1" smtClean="0">
                                  <a:latin typeface="Cambria Math" panose="02040503050406030204" pitchFamily="18" charset="0"/>
                                  <a:ea typeface="Cambria Math" panose="02040503050406030204" pitchFamily="18" charset="0"/>
                                </a:rPr>
                                <m:t>∀</m:t>
                              </m:r>
                            </m:oMath>
                          </a14:m>
                          <a:r>
                            <a:rPr lang="en-US" altLang="zh-CN" sz="2000" b="1" kern="100" dirty="0">
                              <a:effectLst/>
                              <a:latin typeface="+mn-ea"/>
                              <a:cs typeface="宋体" panose="02010600030101010101" pitchFamily="2" charset="-122"/>
                            </a:rPr>
                            <a:t>x</a:t>
                          </a:r>
                          <a14:m>
                            <m:oMath xmlns:m="http://schemas.openxmlformats.org/officeDocument/2006/math">
                              <m:r>
                                <a:rPr lang="es-ES" altLang="zh-CN" sz="2000" i="1">
                                  <a:latin typeface="Cambria Math" panose="02040503050406030204" pitchFamily="18" charset="0"/>
                                  <a:ea typeface="Cambria Math" panose="02040503050406030204" pitchFamily="18" charset="0"/>
                                </a:rPr>
                                <m:t>∀</m:t>
                              </m:r>
                            </m:oMath>
                          </a14:m>
                          <a:r>
                            <a:rPr lang="en-US" altLang="zh-CN" sz="2000" b="1" kern="100" dirty="0">
                              <a:effectLst/>
                              <a:latin typeface="+mn-ea"/>
                              <a:cs typeface="宋体" panose="02010600030101010101" pitchFamily="2" charset="-122"/>
                            </a:rPr>
                            <a:t>y</a:t>
                          </a:r>
                          <a:r>
                            <a:rPr lang="en-US" altLang="zh-CN" sz="2000" b="1" kern="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x</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A</a:t>
                          </a:r>
                          <a:r>
                            <a:rPr lang="zh-CN" altLang="zh-CN" sz="2000" b="1" kern="0" dirty="0">
                              <a:effectLst/>
                              <a:latin typeface="+mn-ea"/>
                              <a:cs typeface="宋体" panose="02010600030101010101" pitchFamily="2" charset="-122"/>
                            </a:rPr>
                            <a:t>∧</a:t>
                          </a:r>
                          <a:r>
                            <a:rPr lang="en-US" altLang="zh-CN" sz="2000" b="1" kern="0" dirty="0">
                              <a:effectLst/>
                              <a:latin typeface="+mn-ea"/>
                              <a:cs typeface="宋体" panose="02010600030101010101" pitchFamily="2" charset="-122"/>
                            </a:rPr>
                            <a:t>y</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A</a:t>
                          </a:r>
                          <a:r>
                            <a:rPr lang="zh-CN" altLang="zh-CN" sz="2000" b="1" kern="0" dirty="0">
                              <a:effectLst/>
                              <a:latin typeface="+mn-ea"/>
                              <a:cs typeface="宋体" panose="02010600030101010101" pitchFamily="2" charset="-122"/>
                            </a:rPr>
                            <a:t>∧</a:t>
                          </a:r>
                          <a:r>
                            <a:rPr lang="en-US" altLang="zh-CN" sz="2000" b="1" kern="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&lt;</a:t>
                          </a:r>
                          <a:r>
                            <a:rPr lang="en-US" altLang="zh-CN" sz="2000" b="1" kern="100" dirty="0" err="1">
                              <a:effectLst/>
                              <a:latin typeface="+mn-ea"/>
                              <a:cs typeface="宋体" panose="02010600030101010101" pitchFamily="2" charset="-122"/>
                            </a:rPr>
                            <a:t>x,y</a:t>
                          </a:r>
                          <a:r>
                            <a:rPr lang="en-US" altLang="zh-CN" sz="2000" b="1" kern="100" dirty="0">
                              <a:effectLst/>
                              <a:latin typeface="+mn-ea"/>
                              <a:cs typeface="宋体" panose="02010600030101010101" pitchFamily="2" charset="-122"/>
                            </a:rPr>
                            <a:t>&gt;</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R</a:t>
                          </a:r>
                          <a:r>
                            <a:rPr lang="zh-CN" altLang="en-US" sz="2000" b="1" dirty="0">
                              <a:latin typeface="+mn-ea"/>
                              <a:cs typeface="Times New Roman" panose="02020603050405020304" pitchFamily="18" charset="0"/>
                            </a:rPr>
                            <a:t>→ </a:t>
                          </a:r>
                          <a:r>
                            <a:rPr lang="en-US" altLang="zh-CN" sz="2000" b="1" kern="100" dirty="0">
                              <a:effectLst/>
                              <a:latin typeface="+mn-ea"/>
                              <a:cs typeface="宋体" panose="02010600030101010101" pitchFamily="2" charset="-122"/>
                            </a:rPr>
                            <a:t>&lt;</a:t>
                          </a:r>
                          <a:r>
                            <a:rPr lang="en-US" altLang="zh-CN" sz="2000" b="1" kern="100" dirty="0" err="1">
                              <a:effectLst/>
                              <a:latin typeface="+mn-ea"/>
                              <a:cs typeface="宋体" panose="02010600030101010101" pitchFamily="2" charset="-122"/>
                            </a:rPr>
                            <a:t>y,x</a:t>
                          </a:r>
                          <a:r>
                            <a:rPr lang="en-US" altLang="zh-CN" sz="2000" b="1" kern="100" dirty="0">
                              <a:effectLst/>
                              <a:latin typeface="+mn-ea"/>
                              <a:cs typeface="宋体" panose="02010600030101010101" pitchFamily="2" charset="-122"/>
                            </a:rPr>
                            <a:t>&gt;</a:t>
                          </a:r>
                          <a:r>
                            <a:rPr lang="zh-CN" altLang="zh-CN" sz="2000" b="1" kern="100" dirty="0">
                              <a:effectLst/>
                              <a:latin typeface="+mn-ea"/>
                              <a:cs typeface="宋体" panose="02010600030101010101" pitchFamily="2" charset="-122"/>
                            </a:rPr>
                            <a:t>∈</a:t>
                          </a:r>
                          <a:r>
                            <a:rPr lang="en-US" altLang="zh-CN" sz="2000" b="1" kern="100" dirty="0">
                              <a:effectLst/>
                              <a:latin typeface="+mn-ea"/>
                              <a:cs typeface="宋体" panose="02010600030101010101" pitchFamily="2" charset="-122"/>
                            </a:rPr>
                            <a:t>R))=1</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14:m>
                            <m:oMath xmlns:m="http://schemas.openxmlformats.org/officeDocument/2006/math">
                              <m:r>
                                <a:rPr lang="es-ES" altLang="zh-CN" sz="2000" b="1" i="1" smtClean="0">
                                  <a:latin typeface="Cambria Math" panose="02040503050406030204" pitchFamily="18" charset="0"/>
                                </a:rPr>
                                <m:t>∀</m:t>
                              </m:r>
                            </m:oMath>
                          </a14:m>
                          <a:r>
                            <a:rPr lang="es-ES" altLang="zh-CN" sz="2000" b="1" dirty="0">
                              <a:solidFill>
                                <a:srgbClr val="0000CC"/>
                              </a:solidFill>
                              <a:latin typeface="+mn-ea"/>
                            </a:rPr>
                            <a:t>x</a:t>
                          </a:r>
                          <a14:m>
                            <m:oMath xmlns:m="http://schemas.openxmlformats.org/officeDocument/2006/math">
                              <m:r>
                                <a:rPr lang="es-ES" altLang="zh-CN" sz="2000" b="1" i="1">
                                  <a:latin typeface="Cambria Math" panose="02040503050406030204" pitchFamily="18" charset="0"/>
                                </a:rPr>
                                <m:t>∀</m:t>
                              </m:r>
                            </m:oMath>
                          </a14:m>
                          <a:r>
                            <a:rPr lang="es-ES" altLang="zh-CN" sz="2000" b="1" dirty="0">
                              <a:solidFill>
                                <a:srgbClr val="0000CC"/>
                              </a:solidFill>
                              <a:latin typeface="+mn-ea"/>
                            </a:rPr>
                            <a:t>y(x∈A∧y∈A∧ (&lt;x,y&gt;∈R∧&lt;y,x&gt;∈R</a:t>
                          </a:r>
                          <a:r>
                            <a:rPr lang="zh-CN" altLang="en-US" sz="2000" b="1" dirty="0">
                              <a:latin typeface="+mn-ea"/>
                              <a:cs typeface="Times New Roman" panose="02020603050405020304" pitchFamily="18" charset="0"/>
                            </a:rPr>
                            <a:t>→</a:t>
                          </a:r>
                          <a:r>
                            <a:rPr lang="es-ES" altLang="zh-CN" sz="2000" b="1" dirty="0">
                              <a:solidFill>
                                <a:srgbClr val="0000CC"/>
                              </a:solidFill>
                              <a:latin typeface="+mn-ea"/>
                            </a:rPr>
                            <a:t>x=y))=1 </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lang="zh-CN" altLang="en-US" sz="2000" b="1" dirty="0">
                              <a:latin typeface="+mn-ea"/>
                              <a:sym typeface="Symbol" panose="05050102010706020507" pitchFamily="18" charset="2"/>
                            </a:rPr>
                            <a:t></a:t>
                          </a:r>
                          <a:r>
                            <a:rPr lang="en-US" altLang="zh-CN" sz="2000" b="1" dirty="0">
                              <a:latin typeface="+mn-ea"/>
                            </a:rPr>
                            <a:t>x</a:t>
                          </a:r>
                          <a:r>
                            <a:rPr lang="zh-CN" altLang="en-US" sz="2000" b="1" dirty="0">
                              <a:latin typeface="+mn-ea"/>
                              <a:sym typeface="Symbol" panose="05050102010706020507" pitchFamily="18" charset="2"/>
                            </a:rPr>
                            <a:t></a:t>
                          </a:r>
                          <a:r>
                            <a:rPr lang="en-US" altLang="zh-CN" sz="2000" b="1" dirty="0">
                              <a:latin typeface="+mn-ea"/>
                            </a:rPr>
                            <a:t>y</a:t>
                          </a:r>
                          <a:r>
                            <a:rPr lang="zh-CN" altLang="en-US" sz="2000" b="1" dirty="0">
                              <a:latin typeface="+mn-ea"/>
                              <a:sym typeface="Symbol" panose="05050102010706020507" pitchFamily="18" charset="2"/>
                            </a:rPr>
                            <a:t></a:t>
                          </a:r>
                          <a:r>
                            <a:rPr lang="en-US" altLang="zh-CN" sz="2000" b="1" dirty="0">
                              <a:latin typeface="+mn-ea"/>
                            </a:rPr>
                            <a:t>z(</a:t>
                          </a:r>
                          <a:r>
                            <a:rPr lang="en-US" altLang="zh-CN" sz="2000" b="1" dirty="0" err="1">
                              <a:latin typeface="+mn-ea"/>
                            </a:rPr>
                            <a:t>x∈A∧y∈A∧z∈A</a:t>
                          </a:r>
                          <a:r>
                            <a:rPr lang="en-US" altLang="zh-CN" sz="2000" b="1" dirty="0">
                              <a:latin typeface="+mn-ea"/>
                            </a:rPr>
                            <a:t>∧(&lt;</a:t>
                          </a:r>
                          <a:r>
                            <a:rPr lang="en-US" altLang="zh-CN" sz="2000" b="1" dirty="0" err="1">
                              <a:latin typeface="+mn-ea"/>
                            </a:rPr>
                            <a:t>x,y</a:t>
                          </a:r>
                          <a:r>
                            <a:rPr lang="en-US" altLang="zh-CN" sz="2000" b="1" dirty="0">
                              <a:latin typeface="+mn-ea"/>
                            </a:rPr>
                            <a:t>&gt;∈R∧&lt;</a:t>
                          </a:r>
                          <a:r>
                            <a:rPr lang="en-US" altLang="zh-CN" sz="2000" b="1" dirty="0" err="1">
                              <a:latin typeface="+mn-ea"/>
                            </a:rPr>
                            <a:t>y,z</a:t>
                          </a:r>
                          <a:r>
                            <a:rPr lang="en-US" altLang="zh-CN" sz="2000" b="1" dirty="0">
                              <a:latin typeface="+mn-ea"/>
                            </a:rPr>
                            <a:t>&gt;∈R</a:t>
                          </a:r>
                          <a:r>
                            <a:rPr lang="zh-CN" altLang="en-US" sz="2000" b="1" dirty="0">
                              <a:latin typeface="+mn-ea"/>
                              <a:cs typeface="Times New Roman" panose="02020603050405020304" pitchFamily="18" charset="0"/>
                            </a:rPr>
                            <a:t>→</a:t>
                          </a:r>
                          <a:r>
                            <a:rPr lang="en-US" altLang="zh-CN" sz="2000" b="1" dirty="0">
                              <a:latin typeface="+mn-ea"/>
                            </a:rPr>
                            <a:t>&lt;</a:t>
                          </a:r>
                          <a:r>
                            <a:rPr lang="en-US" altLang="zh-CN" sz="2000" b="1" dirty="0" err="1">
                              <a:latin typeface="+mn-ea"/>
                            </a:rPr>
                            <a:t>x,z</a:t>
                          </a:r>
                          <a:r>
                            <a:rPr lang="en-US" altLang="zh-CN" sz="2000" b="1" dirty="0">
                              <a:latin typeface="+mn-ea"/>
                            </a:rPr>
                            <a:t>&gt;∈R))=1 </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53249">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关</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图</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每个结点都有环</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每个结点都无环</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每对结点间或有方向相反的两条边，或无任何边</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每对结点间至多有一条边存在</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任三个结点</a:t>
                          </a:r>
                          <a:r>
                            <a:rPr kumimoji="0" lang="en-US" altLang="zh-CN" sz="2200" b="1" i="0" u="none" strike="noStrike" kern="1200" cap="none" normalizeH="0" baseline="0" dirty="0" err="1">
                              <a:ln>
                                <a:noFill/>
                              </a:ln>
                              <a:solidFill>
                                <a:srgbClr val="000000"/>
                              </a:solidFill>
                              <a:effectLst/>
                              <a:latin typeface="+mn-ea"/>
                              <a:ea typeface="+mn-ea"/>
                              <a:cs typeface="+mn-cs"/>
                            </a:rPr>
                            <a:t>x,y,z</a:t>
                          </a:r>
                          <a:r>
                            <a:rPr kumimoji="0" lang="zh-CN" altLang="en-US" sz="2200" b="1" i="0" u="none" strike="noStrike" kern="1200" cap="none" normalizeH="0" baseline="0" dirty="0">
                              <a:ln>
                                <a:noFill/>
                              </a:ln>
                              <a:solidFill>
                                <a:srgbClr val="000000"/>
                              </a:solidFill>
                              <a:effectLst/>
                              <a:latin typeface="+mn-ea"/>
                              <a:ea typeface="+mn-ea"/>
                              <a:cs typeface="+mn-cs"/>
                            </a:rPr>
                            <a:t>，若从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有边，从</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有边，则从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一定有边。（有路径，则一定有直连边。）</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1757">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关系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矩阵</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=1</a:t>
                          </a:r>
                          <a:endParaRPr kumimoji="0" lang="en-US" altLang="zh-CN"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=0</a:t>
                          </a:r>
                          <a:endParaRPr kumimoji="0" lang="en-US" altLang="zh-CN"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ij</a:t>
                          </a:r>
                          <a:r>
                            <a:rPr kumimoji="0" lang="en-US" altLang="zh-CN" sz="2200" b="1" i="0" u="none" strike="noStrike" cap="none" normalizeH="0" baseline="0" dirty="0">
                              <a:ln>
                                <a:noFill/>
                              </a:ln>
                              <a:solidFill>
                                <a:srgbClr val="0000FF"/>
                              </a:solidFill>
                              <a:effectLst/>
                              <a:latin typeface="+mn-ea"/>
                              <a:ea typeface="+mn-ea"/>
                            </a:rPr>
                            <a:t>= </a:t>
                          </a: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ji</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chemeClr val="tx1"/>
                              </a:solidFill>
                              <a:effectLst/>
                              <a:latin typeface="+mn-ea"/>
                              <a:ea typeface="+mn-ea"/>
                            </a:rPr>
                            <a:t>r</a:t>
                          </a:r>
                          <a:r>
                            <a:rPr kumimoji="0" lang="en-US" altLang="zh-CN" sz="2200" b="1" i="0" u="none" strike="noStrike" cap="none" normalizeH="0" baseline="-25000" dirty="0" err="1">
                              <a:ln>
                                <a:noFill/>
                              </a:ln>
                              <a:solidFill>
                                <a:schemeClr val="tx1"/>
                              </a:solidFill>
                              <a:effectLst/>
                              <a:latin typeface="+mn-ea"/>
                              <a:ea typeface="+mn-ea"/>
                            </a:rPr>
                            <a:t>ij</a:t>
                          </a:r>
                          <a:r>
                            <a:rPr kumimoji="0" lang="en-US" altLang="en-US" sz="2200" b="1" i="0" u="none" strike="noStrike" cap="none" normalizeH="0" baseline="0" dirty="0">
                              <a:ln>
                                <a:noFill/>
                              </a:ln>
                              <a:solidFill>
                                <a:schemeClr val="tx1"/>
                              </a:solidFill>
                              <a:effectLst/>
                              <a:latin typeface="+mn-ea"/>
                              <a:ea typeface="+mn-ea"/>
                            </a:rPr>
                            <a:t>•</a:t>
                          </a:r>
                          <a:r>
                            <a:rPr kumimoji="0" lang="en-US" altLang="zh-CN" sz="2200" b="1" i="0" u="none" strike="noStrike" cap="none" normalizeH="0" baseline="0" dirty="0">
                              <a:ln>
                                <a:noFill/>
                              </a:ln>
                              <a:solidFill>
                                <a:schemeClr val="tx1"/>
                              </a:solidFill>
                              <a:effectLst/>
                              <a:latin typeface="+mn-ea"/>
                              <a:ea typeface="+mn-ea"/>
                            </a:rPr>
                            <a:t> </a:t>
                          </a:r>
                          <a:r>
                            <a:rPr kumimoji="0" lang="en-US" altLang="zh-CN" sz="2200" b="1" i="0" u="none" strike="noStrike" cap="none" normalizeH="0" baseline="0" dirty="0" err="1">
                              <a:ln>
                                <a:noFill/>
                              </a:ln>
                              <a:solidFill>
                                <a:schemeClr val="tx1"/>
                              </a:solidFill>
                              <a:effectLst/>
                              <a:latin typeface="+mn-ea"/>
                              <a:ea typeface="+mn-ea"/>
                            </a:rPr>
                            <a:t>r</a:t>
                          </a:r>
                          <a:r>
                            <a:rPr kumimoji="0" lang="en-US" altLang="zh-CN" sz="2200" b="1" i="0" u="none" strike="noStrike" cap="none" normalizeH="0" baseline="-25000" dirty="0" err="1">
                              <a:ln>
                                <a:noFill/>
                              </a:ln>
                              <a:solidFill>
                                <a:schemeClr val="tx1"/>
                              </a:solidFill>
                              <a:effectLst/>
                              <a:latin typeface="+mn-ea"/>
                              <a:ea typeface="+mn-ea"/>
                            </a:rPr>
                            <a:t>ji</a:t>
                          </a:r>
                          <a:r>
                            <a:rPr kumimoji="0" lang="en-US" altLang="zh-CN" sz="2200" b="1" i="0" u="none" strike="noStrike" cap="none" normalizeH="0" baseline="0" dirty="0">
                              <a:ln>
                                <a:noFill/>
                              </a:ln>
                              <a:solidFill>
                                <a:schemeClr val="tx1"/>
                              </a:solidFill>
                              <a:effectLst/>
                              <a:latin typeface="+mn-ea"/>
                              <a:ea typeface="+mn-ea"/>
                            </a:rPr>
                            <a:t>=0,i</a:t>
                          </a:r>
                          <a:r>
                            <a:rPr kumimoji="0" lang="en-US" altLang="en-US" sz="2200" b="1" i="0" u="none" strike="noStrike" cap="none" normalizeH="0" baseline="0" dirty="0">
                              <a:ln>
                                <a:noFill/>
                              </a:ln>
                              <a:solidFill>
                                <a:schemeClr val="tx1"/>
                              </a:solidFill>
                              <a:effectLst/>
                              <a:latin typeface="+mn-ea"/>
                              <a:ea typeface="+mn-ea"/>
                            </a:rPr>
                            <a:t>≠</a:t>
                          </a:r>
                          <a:r>
                            <a:rPr kumimoji="0" lang="en-US" altLang="zh-CN" sz="2200" b="1" i="0" u="none" strike="noStrike" cap="none" normalizeH="0" baseline="0" dirty="0">
                              <a:ln>
                                <a:noFill/>
                              </a:ln>
                              <a:solidFill>
                                <a:schemeClr val="tx1"/>
                              </a:solidFill>
                              <a:effectLst/>
                              <a:latin typeface="+mn-ea"/>
                              <a:ea typeface="+mn-ea"/>
                            </a:rPr>
                            <a:t>j</a:t>
                          </a:r>
                          <a:endParaRPr kumimoji="0" lang="en-US" altLang="zh-CN" sz="2200" b="1" i="0" u="none" strike="noStrike" cap="none" normalizeH="0" baseline="0" dirty="0">
                            <a:ln>
                              <a:noFill/>
                            </a:ln>
                            <a:solidFill>
                              <a:schemeClr val="tx1"/>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如</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ij</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且</a:t>
                          </a: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jk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则</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endParaRPr kumimoji="0" lang="en-US" altLang="zh-CN"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1564769" name="Group 97"/>
              <p:cNvGraphicFramePr>
                <a:graphicFrameLocks noGrp="1"/>
              </p:cNvGraphicFramePr>
              <p:nvPr/>
            </p:nvGraphicFramePr>
            <p:xfrm>
              <a:off x="384175" y="1010725"/>
              <a:ext cx="11277600" cy="5584613"/>
            </p:xfrm>
            <a:graphic>
              <a:graphicData uri="http://schemas.openxmlformats.org/drawingml/2006/table">
                <a:tbl>
                  <a:tblPr/>
                  <a:tblGrid>
                    <a:gridCol w="917733"/>
                    <a:gridCol w="1190625"/>
                    <a:gridCol w="1283613"/>
                    <a:gridCol w="2110381"/>
                    <a:gridCol w="2672016"/>
                    <a:gridCol w="3103232"/>
                  </a:tblGrid>
                  <a:tr h="628109">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自反性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反自反性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对称性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反对称性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传递性</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01545">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定</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义</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Clr>
                              <a:srgbClr val="800080"/>
                            </a:buClr>
                            <a:buNone/>
                          </a:pPr>
                          <a:r>
                            <a:rPr lang="en-US" altLang="zh-CN" sz="2200" b="1" dirty="0">
                              <a:solidFill>
                                <a:schemeClr val="tx1"/>
                              </a:solidFill>
                              <a:latin typeface="+mn-ea"/>
                              <a:ea typeface="+mn-ea"/>
                              <a:sym typeface="Symbol" panose="05050102010706020507" pitchFamily="18" charset="2"/>
                            </a:rPr>
                            <a:t>x</a:t>
                          </a:r>
                          <a:r>
                            <a:rPr lang="en-US" altLang="zh-CN" sz="2200" b="1" dirty="0">
                              <a:solidFill>
                                <a:schemeClr val="tx1"/>
                              </a:solidFill>
                              <a:latin typeface="+mn-ea"/>
                              <a:ea typeface="+mn-ea"/>
                            </a:rPr>
                            <a:t>(</a:t>
                          </a:r>
                          <a:r>
                            <a:rPr lang="en-US" altLang="zh-CN" sz="2200" b="1" dirty="0" err="1">
                              <a:solidFill>
                                <a:schemeClr val="tx1"/>
                              </a:solidFill>
                              <a:latin typeface="+mn-ea"/>
                              <a:ea typeface="+mn-ea"/>
                            </a:rPr>
                            <a:t>x∈A</a:t>
                          </a:r>
                          <a:r>
                            <a:rPr lang="en-US" altLang="zh-CN" sz="2200" b="1" dirty="0">
                              <a:solidFill>
                                <a:schemeClr val="tx1"/>
                              </a:solidFill>
                              <a:latin typeface="+mn-ea"/>
                              <a:ea typeface="+mn-ea"/>
                            </a:rPr>
                            <a:t>→&lt;</a:t>
                          </a:r>
                          <a:r>
                            <a:rPr lang="en-US" altLang="zh-CN" sz="2200" b="1" dirty="0" err="1">
                              <a:solidFill>
                                <a:schemeClr val="tx1"/>
                              </a:solidFill>
                              <a:latin typeface="+mn-ea"/>
                              <a:ea typeface="+mn-ea"/>
                            </a:rPr>
                            <a:t>x,x</a:t>
                          </a:r>
                          <a:r>
                            <a:rPr lang="en-US" altLang="zh-CN" sz="2200" b="1" dirty="0">
                              <a:solidFill>
                                <a:schemeClr val="tx1"/>
                              </a:solidFill>
                              <a:latin typeface="+mn-ea"/>
                              <a:ea typeface="+mn-ea"/>
                            </a:rPr>
                            <a:t>&gt;∈R)=1</a:t>
                          </a:r>
                          <a:endParaRPr lang="en-US" altLang="zh-CN" sz="2200" b="1" dirty="0">
                            <a:solidFill>
                              <a:schemeClr val="tx1"/>
                            </a:solidFill>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c>
                      <a:txBody>
                        <a:bodyPr/>
                        <a:lstStyle/>
                        <a:p>
                          <a:endParaRPr lang="zh-CN"/>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c>
                      <a:txBody>
                        <a:bodyPr/>
                        <a:lstStyle/>
                        <a:p>
                          <a:endParaRPr lang="zh-CN"/>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1"/>
                        </a:blip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lang="zh-CN" altLang="en-US" sz="2000" b="1" dirty="0">
                              <a:latin typeface="+mn-ea"/>
                              <a:sym typeface="Symbol" panose="05050102010706020507" pitchFamily="18" charset="2"/>
                            </a:rPr>
                            <a:t></a:t>
                          </a:r>
                          <a:r>
                            <a:rPr lang="en-US" altLang="zh-CN" sz="2000" b="1" dirty="0">
                              <a:latin typeface="+mn-ea"/>
                            </a:rPr>
                            <a:t>x</a:t>
                          </a:r>
                          <a:r>
                            <a:rPr lang="zh-CN" altLang="en-US" sz="2000" b="1" dirty="0">
                              <a:latin typeface="+mn-ea"/>
                              <a:sym typeface="Symbol" panose="05050102010706020507" pitchFamily="18" charset="2"/>
                            </a:rPr>
                            <a:t></a:t>
                          </a:r>
                          <a:r>
                            <a:rPr lang="en-US" altLang="zh-CN" sz="2000" b="1" dirty="0">
                              <a:latin typeface="+mn-ea"/>
                            </a:rPr>
                            <a:t>y</a:t>
                          </a:r>
                          <a:r>
                            <a:rPr lang="zh-CN" altLang="en-US" sz="2000" b="1" dirty="0">
                              <a:latin typeface="+mn-ea"/>
                              <a:sym typeface="Symbol" panose="05050102010706020507" pitchFamily="18" charset="2"/>
                            </a:rPr>
                            <a:t></a:t>
                          </a:r>
                          <a:r>
                            <a:rPr lang="en-US" altLang="zh-CN" sz="2000" b="1" dirty="0">
                              <a:latin typeface="+mn-ea"/>
                            </a:rPr>
                            <a:t>z(</a:t>
                          </a:r>
                          <a:r>
                            <a:rPr lang="en-US" altLang="zh-CN" sz="2000" b="1" dirty="0" err="1">
                              <a:latin typeface="+mn-ea"/>
                            </a:rPr>
                            <a:t>x∈A∧y∈A∧z∈A</a:t>
                          </a:r>
                          <a:r>
                            <a:rPr lang="en-US" altLang="zh-CN" sz="2000" b="1" dirty="0">
                              <a:latin typeface="+mn-ea"/>
                            </a:rPr>
                            <a:t>∧(&lt;</a:t>
                          </a:r>
                          <a:r>
                            <a:rPr lang="en-US" altLang="zh-CN" sz="2000" b="1" dirty="0" err="1">
                              <a:latin typeface="+mn-ea"/>
                            </a:rPr>
                            <a:t>x,y</a:t>
                          </a:r>
                          <a:r>
                            <a:rPr lang="en-US" altLang="zh-CN" sz="2000" b="1" dirty="0">
                              <a:latin typeface="+mn-ea"/>
                            </a:rPr>
                            <a:t>&gt;∈R∧&lt;</a:t>
                          </a:r>
                          <a:r>
                            <a:rPr lang="en-US" altLang="zh-CN" sz="2000" b="1" dirty="0" err="1">
                              <a:latin typeface="+mn-ea"/>
                            </a:rPr>
                            <a:t>y,z</a:t>
                          </a:r>
                          <a:r>
                            <a:rPr lang="en-US" altLang="zh-CN" sz="2000" b="1" dirty="0">
                              <a:latin typeface="+mn-ea"/>
                            </a:rPr>
                            <a:t>&gt;∈R</a:t>
                          </a:r>
                          <a:r>
                            <a:rPr lang="zh-CN" altLang="en-US" sz="2000" b="1" dirty="0">
                              <a:latin typeface="+mn-ea"/>
                              <a:cs typeface="Times New Roman" panose="02020603050405020304" pitchFamily="18" charset="0"/>
                            </a:rPr>
                            <a:t>→</a:t>
                          </a:r>
                          <a:r>
                            <a:rPr lang="en-US" altLang="zh-CN" sz="2000" b="1" dirty="0">
                              <a:latin typeface="+mn-ea"/>
                            </a:rPr>
                            <a:t>&lt;</a:t>
                          </a:r>
                          <a:r>
                            <a:rPr lang="en-US" altLang="zh-CN" sz="2000" b="1" dirty="0" err="1">
                              <a:latin typeface="+mn-ea"/>
                            </a:rPr>
                            <a:t>x,z</a:t>
                          </a:r>
                          <a:r>
                            <a:rPr lang="en-US" altLang="zh-CN" sz="2000" b="1" dirty="0">
                              <a:latin typeface="+mn-ea"/>
                            </a:rPr>
                            <a:t>&gt;∈R))=1 </a:t>
                          </a:r>
                          <a:endParaRPr kumimoji="0" lang="zh-CN" altLang="en-US" sz="2200" b="1" i="0" u="none" strike="noStrike" kern="1200" cap="none" normalizeH="0" baseline="0" dirty="0">
                            <a:ln>
                              <a:noFill/>
                            </a:ln>
                            <a:solidFill>
                              <a:schemeClr val="tx1"/>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53249">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关</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图</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每个结点都有环</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每个结点都无环</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每对结点间或有方向相反的两条边，或无任何边</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每对结点间至多有一条边存在</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kern="1200" cap="none" normalizeH="0" baseline="0" dirty="0">
                              <a:ln>
                                <a:noFill/>
                              </a:ln>
                              <a:solidFill>
                                <a:srgbClr val="000000"/>
                              </a:solidFill>
                              <a:effectLst/>
                              <a:latin typeface="+mn-ea"/>
                              <a:ea typeface="+mn-ea"/>
                              <a:cs typeface="+mn-cs"/>
                            </a:rPr>
                            <a:t>任三个结点</a:t>
                          </a:r>
                          <a:r>
                            <a:rPr kumimoji="0" lang="en-US" altLang="zh-CN" sz="2200" b="1" i="0" u="none" strike="noStrike" kern="1200" cap="none" normalizeH="0" baseline="0" dirty="0" err="1">
                              <a:ln>
                                <a:noFill/>
                              </a:ln>
                              <a:solidFill>
                                <a:srgbClr val="000000"/>
                              </a:solidFill>
                              <a:effectLst/>
                              <a:latin typeface="+mn-ea"/>
                              <a:ea typeface="+mn-ea"/>
                              <a:cs typeface="+mn-cs"/>
                            </a:rPr>
                            <a:t>x,y,z</a:t>
                          </a:r>
                          <a:r>
                            <a:rPr kumimoji="0" lang="zh-CN" altLang="en-US" sz="2200" b="1" i="0" u="none" strike="noStrike" kern="1200" cap="none" normalizeH="0" baseline="0" dirty="0">
                              <a:ln>
                                <a:noFill/>
                              </a:ln>
                              <a:solidFill>
                                <a:srgbClr val="000000"/>
                              </a:solidFill>
                              <a:effectLst/>
                              <a:latin typeface="+mn-ea"/>
                              <a:ea typeface="+mn-ea"/>
                              <a:cs typeface="+mn-cs"/>
                            </a:rPr>
                            <a:t>，若从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有边，从</a:t>
                          </a:r>
                          <a:r>
                            <a:rPr kumimoji="0" lang="en-US" altLang="zh-CN" sz="2200" b="1" i="0" u="none" strike="noStrike" kern="1200" cap="none" normalizeH="0" baseline="0" dirty="0">
                              <a:ln>
                                <a:noFill/>
                              </a:ln>
                              <a:solidFill>
                                <a:srgbClr val="000000"/>
                              </a:solidFill>
                              <a:effectLst/>
                              <a:latin typeface="+mn-ea"/>
                              <a:ea typeface="+mn-ea"/>
                              <a:cs typeface="+mn-cs"/>
                            </a:rPr>
                            <a:t>y</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有边，则从</a:t>
                          </a:r>
                          <a:r>
                            <a:rPr kumimoji="0" lang="en-US" altLang="zh-CN" sz="2200" b="1" i="0" u="none" strike="noStrike" kern="1200" cap="none" normalizeH="0" baseline="0" dirty="0">
                              <a:ln>
                                <a:noFill/>
                              </a:ln>
                              <a:solidFill>
                                <a:srgbClr val="000000"/>
                              </a:solidFill>
                              <a:effectLst/>
                              <a:latin typeface="+mn-ea"/>
                              <a:ea typeface="+mn-ea"/>
                              <a:cs typeface="+mn-cs"/>
                            </a:rPr>
                            <a:t>x</a:t>
                          </a:r>
                          <a:r>
                            <a:rPr kumimoji="0" lang="zh-CN" altLang="en-US" sz="2200" b="1" i="0" u="none" strike="noStrike" kern="1200" cap="none" normalizeH="0" baseline="0" dirty="0">
                              <a:ln>
                                <a:noFill/>
                              </a:ln>
                              <a:solidFill>
                                <a:srgbClr val="000000"/>
                              </a:solidFill>
                              <a:effectLst/>
                              <a:latin typeface="+mn-ea"/>
                              <a:ea typeface="+mn-ea"/>
                              <a:cs typeface="+mn-cs"/>
                            </a:rPr>
                            <a:t>到</a:t>
                          </a:r>
                          <a:r>
                            <a:rPr kumimoji="0" lang="en-US" altLang="zh-CN" sz="2200" b="1" i="0" u="none" strike="noStrike" kern="1200" cap="none" normalizeH="0" baseline="0" dirty="0">
                              <a:ln>
                                <a:noFill/>
                              </a:ln>
                              <a:solidFill>
                                <a:srgbClr val="000000"/>
                              </a:solidFill>
                              <a:effectLst/>
                              <a:latin typeface="+mn-ea"/>
                              <a:ea typeface="+mn-ea"/>
                              <a:cs typeface="+mn-cs"/>
                            </a:rPr>
                            <a:t>z</a:t>
                          </a:r>
                          <a:r>
                            <a:rPr kumimoji="0" lang="zh-CN" altLang="en-US" sz="2200" b="1" i="0" u="none" strike="noStrike" kern="1200" cap="none" normalizeH="0" baseline="0" dirty="0">
                              <a:ln>
                                <a:noFill/>
                              </a:ln>
                              <a:solidFill>
                                <a:srgbClr val="000000"/>
                              </a:solidFill>
                              <a:effectLst/>
                              <a:latin typeface="+mn-ea"/>
                              <a:ea typeface="+mn-ea"/>
                              <a:cs typeface="+mn-cs"/>
                            </a:rPr>
                            <a:t>一定有边。（有路径，则一定有直连边。）</a:t>
                          </a:r>
                          <a:endParaRPr kumimoji="0" lang="zh-CN" altLang="en-US" sz="2200" b="1" i="0" u="none" strike="noStrike" kern="1200" cap="none" normalizeH="0" baseline="0" dirty="0">
                            <a:ln>
                              <a:noFill/>
                            </a:ln>
                            <a:solidFill>
                              <a:srgbClr val="000000"/>
                            </a:solidFill>
                            <a:effectLst/>
                            <a:latin typeface="+mn-ea"/>
                            <a:ea typeface="+mn-ea"/>
                            <a:cs typeface="+mn-cs"/>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1757">
                    <a:tc>
                      <a:txBody>
                        <a:body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关系</a:t>
                          </a:r>
                          <a:br>
                            <a:rPr kumimoji="0" lang="zh-CN" altLang="en-US" sz="2200" b="1" i="0" u="none" strike="noStrike" cap="none" normalizeH="0" baseline="0" dirty="0">
                              <a:ln>
                                <a:noFill/>
                              </a:ln>
                              <a:solidFill>
                                <a:srgbClr val="000000"/>
                              </a:solidFill>
                              <a:effectLst/>
                              <a:latin typeface="+mn-ea"/>
                              <a:ea typeface="+mn-ea"/>
                            </a:rPr>
                          </a:br>
                          <a:r>
                            <a:rPr kumimoji="0" lang="zh-CN" altLang="en-US" sz="2200" b="1" i="0" u="none" strike="noStrike" cap="none" normalizeH="0" baseline="0" dirty="0">
                              <a:ln>
                                <a:noFill/>
                              </a:ln>
                              <a:solidFill>
                                <a:srgbClr val="000000"/>
                              </a:solidFill>
                              <a:effectLst/>
                              <a:latin typeface="+mn-ea"/>
                              <a:ea typeface="+mn-ea"/>
                            </a:rPr>
                            <a:t>矩阵</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=1</a:t>
                          </a:r>
                          <a:endParaRPr kumimoji="0" lang="en-US" altLang="zh-CN"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ii</a:t>
                          </a:r>
                          <a:r>
                            <a:rPr kumimoji="0" lang="en-US" altLang="zh-CN" sz="2200" b="1" i="0" u="none" strike="noStrike" cap="none" normalizeH="0" baseline="0" dirty="0">
                              <a:ln>
                                <a:noFill/>
                              </a:ln>
                              <a:solidFill>
                                <a:srgbClr val="000000"/>
                              </a:solidFill>
                              <a:effectLst/>
                              <a:latin typeface="+mn-ea"/>
                              <a:ea typeface="+mn-ea"/>
                            </a:rPr>
                            <a:t>=0</a:t>
                          </a:r>
                          <a:endParaRPr kumimoji="0" lang="en-US" altLang="zh-CN"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ij</a:t>
                          </a:r>
                          <a:r>
                            <a:rPr kumimoji="0" lang="en-US" altLang="zh-CN" sz="2200" b="1" i="0" u="none" strike="noStrike" cap="none" normalizeH="0" baseline="0" dirty="0">
                              <a:ln>
                                <a:noFill/>
                              </a:ln>
                              <a:solidFill>
                                <a:srgbClr val="0000FF"/>
                              </a:solidFill>
                              <a:effectLst/>
                              <a:latin typeface="+mn-ea"/>
                              <a:ea typeface="+mn-ea"/>
                            </a:rPr>
                            <a:t>= </a:t>
                          </a:r>
                          <a:r>
                            <a:rPr kumimoji="0" lang="en-US" altLang="zh-CN" sz="2200" b="1" i="0" u="none" strike="noStrike" cap="none" normalizeH="0" baseline="0" dirty="0" err="1">
                              <a:ln>
                                <a:noFill/>
                              </a:ln>
                              <a:solidFill>
                                <a:srgbClr val="0000FF"/>
                              </a:solidFill>
                              <a:effectLst/>
                              <a:latin typeface="+mn-ea"/>
                              <a:ea typeface="+mn-ea"/>
                            </a:rPr>
                            <a:t>r</a:t>
                          </a:r>
                          <a:r>
                            <a:rPr kumimoji="0" lang="en-US" altLang="zh-CN" sz="2200" b="1" i="0" u="none" strike="noStrike" cap="none" normalizeH="0" baseline="-25000" dirty="0" err="1">
                              <a:ln>
                                <a:noFill/>
                              </a:ln>
                              <a:solidFill>
                                <a:srgbClr val="0000FF"/>
                              </a:solidFill>
                              <a:effectLst/>
                              <a:latin typeface="+mn-ea"/>
                              <a:ea typeface="+mn-ea"/>
                            </a:rPr>
                            <a:t>ji</a:t>
                          </a:r>
                          <a:endParaRPr kumimoji="0" lang="zh-CN" altLang="en-US"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en-US" altLang="zh-CN" sz="2200" b="1" i="0" u="none" strike="noStrike" cap="none" normalizeH="0" baseline="0" dirty="0" err="1">
                              <a:ln>
                                <a:noFill/>
                              </a:ln>
                              <a:solidFill>
                                <a:schemeClr val="tx1"/>
                              </a:solidFill>
                              <a:effectLst/>
                              <a:latin typeface="+mn-ea"/>
                              <a:ea typeface="+mn-ea"/>
                            </a:rPr>
                            <a:t>r</a:t>
                          </a:r>
                          <a:r>
                            <a:rPr kumimoji="0" lang="en-US" altLang="zh-CN" sz="2200" b="1" i="0" u="none" strike="noStrike" cap="none" normalizeH="0" baseline="-25000" dirty="0" err="1">
                              <a:ln>
                                <a:noFill/>
                              </a:ln>
                              <a:solidFill>
                                <a:schemeClr val="tx1"/>
                              </a:solidFill>
                              <a:effectLst/>
                              <a:latin typeface="+mn-ea"/>
                              <a:ea typeface="+mn-ea"/>
                            </a:rPr>
                            <a:t>ij</a:t>
                          </a:r>
                          <a:r>
                            <a:rPr kumimoji="0" lang="en-US" altLang="en-US" sz="2200" b="1" i="0" u="none" strike="noStrike" cap="none" normalizeH="0" baseline="0" dirty="0">
                              <a:ln>
                                <a:noFill/>
                              </a:ln>
                              <a:solidFill>
                                <a:schemeClr val="tx1"/>
                              </a:solidFill>
                              <a:effectLst/>
                              <a:latin typeface="+mn-ea"/>
                              <a:ea typeface="+mn-ea"/>
                            </a:rPr>
                            <a:t>•</a:t>
                          </a:r>
                          <a:r>
                            <a:rPr kumimoji="0" lang="en-US" altLang="zh-CN" sz="2200" b="1" i="0" u="none" strike="noStrike" cap="none" normalizeH="0" baseline="0" dirty="0">
                              <a:ln>
                                <a:noFill/>
                              </a:ln>
                              <a:solidFill>
                                <a:schemeClr val="tx1"/>
                              </a:solidFill>
                              <a:effectLst/>
                              <a:latin typeface="+mn-ea"/>
                              <a:ea typeface="+mn-ea"/>
                            </a:rPr>
                            <a:t> </a:t>
                          </a:r>
                          <a:r>
                            <a:rPr kumimoji="0" lang="en-US" altLang="zh-CN" sz="2200" b="1" i="0" u="none" strike="noStrike" cap="none" normalizeH="0" baseline="0" dirty="0" err="1">
                              <a:ln>
                                <a:noFill/>
                              </a:ln>
                              <a:solidFill>
                                <a:schemeClr val="tx1"/>
                              </a:solidFill>
                              <a:effectLst/>
                              <a:latin typeface="+mn-ea"/>
                              <a:ea typeface="+mn-ea"/>
                            </a:rPr>
                            <a:t>r</a:t>
                          </a:r>
                          <a:r>
                            <a:rPr kumimoji="0" lang="en-US" altLang="zh-CN" sz="2200" b="1" i="0" u="none" strike="noStrike" cap="none" normalizeH="0" baseline="-25000" dirty="0" err="1">
                              <a:ln>
                                <a:noFill/>
                              </a:ln>
                              <a:solidFill>
                                <a:schemeClr val="tx1"/>
                              </a:solidFill>
                              <a:effectLst/>
                              <a:latin typeface="+mn-ea"/>
                              <a:ea typeface="+mn-ea"/>
                            </a:rPr>
                            <a:t>ji</a:t>
                          </a:r>
                          <a:r>
                            <a:rPr kumimoji="0" lang="en-US" altLang="zh-CN" sz="2200" b="1" i="0" u="none" strike="noStrike" cap="none" normalizeH="0" baseline="0" dirty="0">
                              <a:ln>
                                <a:noFill/>
                              </a:ln>
                              <a:solidFill>
                                <a:schemeClr val="tx1"/>
                              </a:solidFill>
                              <a:effectLst/>
                              <a:latin typeface="+mn-ea"/>
                              <a:ea typeface="+mn-ea"/>
                            </a:rPr>
                            <a:t>=0,i</a:t>
                          </a:r>
                          <a:r>
                            <a:rPr kumimoji="0" lang="en-US" altLang="en-US" sz="2200" b="1" i="0" u="none" strike="noStrike" cap="none" normalizeH="0" baseline="0" dirty="0">
                              <a:ln>
                                <a:noFill/>
                              </a:ln>
                              <a:solidFill>
                                <a:schemeClr val="tx1"/>
                              </a:solidFill>
                              <a:effectLst/>
                              <a:latin typeface="+mn-ea"/>
                              <a:ea typeface="+mn-ea"/>
                            </a:rPr>
                            <a:t>≠</a:t>
                          </a:r>
                          <a:r>
                            <a:rPr kumimoji="0" lang="en-US" altLang="zh-CN" sz="2200" b="1" i="0" u="none" strike="noStrike" cap="none" normalizeH="0" baseline="0" dirty="0">
                              <a:ln>
                                <a:noFill/>
                              </a:ln>
                              <a:solidFill>
                                <a:schemeClr val="tx1"/>
                              </a:solidFill>
                              <a:effectLst/>
                              <a:latin typeface="+mn-ea"/>
                              <a:ea typeface="+mn-ea"/>
                            </a:rPr>
                            <a:t>j</a:t>
                          </a:r>
                          <a:endParaRPr kumimoji="0" lang="en-US" altLang="zh-CN" sz="2200" b="1" i="0" u="none" strike="noStrike" cap="none" normalizeH="0" baseline="0" dirty="0">
                            <a:ln>
                              <a:noFill/>
                            </a:ln>
                            <a:solidFill>
                              <a:schemeClr val="tx1"/>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pPr>
                          <a:r>
                            <a:rPr kumimoji="0" lang="zh-CN" altLang="en-US" sz="2200" b="1" i="0" u="none" strike="noStrike" cap="none" normalizeH="0" baseline="0" dirty="0">
                              <a:ln>
                                <a:noFill/>
                              </a:ln>
                              <a:solidFill>
                                <a:srgbClr val="000000"/>
                              </a:solidFill>
                              <a:effectLst/>
                              <a:latin typeface="+mn-ea"/>
                              <a:ea typeface="+mn-ea"/>
                            </a:rPr>
                            <a:t>如</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ij</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且</a:t>
                          </a:r>
                          <a:r>
                            <a:rPr kumimoji="0" lang="en-US" altLang="zh-CN" sz="2200" b="1" i="0" u="none" strike="noStrike" cap="none" normalizeH="0" baseline="0" dirty="0" err="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jk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r>
                            <a:rPr kumimoji="0" lang="zh-CN" altLang="en-US" sz="2200" b="1" i="0" u="none" strike="noStrike" cap="none" normalizeH="0" baseline="0" dirty="0">
                              <a:ln>
                                <a:noFill/>
                              </a:ln>
                              <a:solidFill>
                                <a:srgbClr val="000000"/>
                              </a:solidFill>
                              <a:effectLst/>
                              <a:latin typeface="+mn-ea"/>
                              <a:ea typeface="+mn-ea"/>
                            </a:rPr>
                            <a:t>则</a:t>
                          </a:r>
                          <a:r>
                            <a:rPr kumimoji="0" lang="en-US" altLang="zh-CN" sz="2200" b="1" i="0" u="none" strike="noStrike" cap="none" normalizeH="0" baseline="0" noProof="1">
                              <a:ln>
                                <a:noFill/>
                              </a:ln>
                              <a:solidFill>
                                <a:srgbClr val="000000"/>
                              </a:solidFill>
                              <a:effectLst/>
                              <a:latin typeface="+mn-ea"/>
                              <a:ea typeface="+mn-ea"/>
                            </a:rPr>
                            <a:t>r</a:t>
                          </a:r>
                          <a:r>
                            <a:rPr kumimoji="0" lang="en-US" altLang="zh-CN" sz="2200" b="1" i="0" u="none" strike="noStrike" cap="none" normalizeH="0" baseline="-25000" dirty="0" err="1">
                              <a:ln>
                                <a:noFill/>
                              </a:ln>
                              <a:solidFill>
                                <a:srgbClr val="000000"/>
                              </a:solidFill>
                              <a:effectLst/>
                              <a:latin typeface="+mn-ea"/>
                              <a:ea typeface="+mn-ea"/>
                            </a:rPr>
                            <a:t>ik</a:t>
                          </a:r>
                          <a:r>
                            <a:rPr kumimoji="0" lang="zh-CN" altLang="en-US" sz="2200" b="1" i="0" u="none" strike="noStrike" cap="none" normalizeH="0" baseline="0" dirty="0">
                              <a:ln>
                                <a:noFill/>
                              </a:ln>
                              <a:solidFill>
                                <a:srgbClr val="000000"/>
                              </a:solidFill>
                              <a:effectLst/>
                              <a:latin typeface="+mn-ea"/>
                              <a:ea typeface="+mn-ea"/>
                            </a:rPr>
                            <a:t>＝</a:t>
                          </a:r>
                          <a:r>
                            <a:rPr kumimoji="0" lang="en-US" altLang="zh-CN" sz="2200" b="1" i="0" u="none" strike="noStrike" cap="none" normalizeH="0" baseline="0" dirty="0">
                              <a:ln>
                                <a:noFill/>
                              </a:ln>
                              <a:solidFill>
                                <a:srgbClr val="000000"/>
                              </a:solidFill>
                              <a:effectLst/>
                              <a:latin typeface="+mn-ea"/>
                              <a:ea typeface="+mn-ea"/>
                            </a:rPr>
                            <a:t>1</a:t>
                          </a:r>
                          <a:endParaRPr kumimoji="0" lang="en-US" altLang="zh-CN" sz="2200" b="1" i="0" u="none" strike="noStrike" cap="none" normalizeH="0" baseline="0" dirty="0">
                            <a:ln>
                              <a:noFill/>
                            </a:ln>
                            <a:solidFill>
                              <a:srgbClr val="000000"/>
                            </a:solidFill>
                            <a:effectLst/>
                            <a:latin typeface="+mn-ea"/>
                            <a:ea typeface="+mn-ea"/>
                          </a:endParaRPr>
                        </a:p>
                      </a:txBody>
                      <a:tcPr marL="18004" marR="18004" marT="18006" marB="1800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4" name="云形标注 1"/>
          <p:cNvSpPr>
            <a:spLocks noChangeArrowheads="1"/>
          </p:cNvSpPr>
          <p:nvPr/>
        </p:nvSpPr>
        <p:spPr bwMode="auto">
          <a:xfrm>
            <a:off x="1450975" y="1951837"/>
            <a:ext cx="1731962" cy="652460"/>
          </a:xfrm>
          <a:prstGeom prst="cloudCallout">
            <a:avLst>
              <a:gd name="adj1" fmla="val -71389"/>
              <a:gd name="adj2" fmla="val 71589"/>
            </a:avLst>
          </a:prstGeom>
          <a:solidFill>
            <a:srgbClr val="FFFF66"/>
          </a:solidFill>
          <a:ln w="12700" algn="ctr">
            <a:solidFill>
              <a:srgbClr val="003300"/>
            </a:solidFill>
            <a:rou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000" dirty="0">
                <a:solidFill>
                  <a:srgbClr val="0000CC"/>
                </a:solidFill>
                <a:latin typeface="微软雅黑" panose="020B0503020204020204" pitchFamily="34" charset="-122"/>
                <a:ea typeface="微软雅黑" panose="020B0503020204020204" pitchFamily="34" charset="-122"/>
              </a:rPr>
              <a:t>按定义判定法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5" name="云形标注 5"/>
          <p:cNvSpPr>
            <a:spLocks noChangeArrowheads="1"/>
          </p:cNvSpPr>
          <p:nvPr/>
        </p:nvSpPr>
        <p:spPr bwMode="auto">
          <a:xfrm>
            <a:off x="1679576" y="3970339"/>
            <a:ext cx="2066924" cy="1212055"/>
          </a:xfrm>
          <a:prstGeom prst="cloudCallout">
            <a:avLst>
              <a:gd name="adj1" fmla="val -81787"/>
              <a:gd name="adj2" fmla="val 41963"/>
            </a:avLst>
          </a:prstGeom>
          <a:solidFill>
            <a:srgbClr val="FFFF66"/>
          </a:solidFill>
          <a:ln w="12700" algn="ctr">
            <a:solidFill>
              <a:srgbClr val="003300"/>
            </a:solidFill>
            <a:rou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000" dirty="0">
                <a:solidFill>
                  <a:schemeClr val="folHlink"/>
                </a:solidFill>
                <a:latin typeface="微软雅黑" panose="020B0503020204020204" pitchFamily="34" charset="-122"/>
                <a:ea typeface="微软雅黑" panose="020B0503020204020204" pitchFamily="34" charset="-122"/>
              </a:rPr>
              <a:t>关系图判定法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6" name="云形标注 6"/>
          <p:cNvSpPr>
            <a:spLocks noChangeArrowheads="1"/>
          </p:cNvSpPr>
          <p:nvPr/>
        </p:nvSpPr>
        <p:spPr bwMode="auto">
          <a:xfrm>
            <a:off x="1656247" y="5570605"/>
            <a:ext cx="1990725" cy="1024733"/>
          </a:xfrm>
          <a:prstGeom prst="cloudCallout">
            <a:avLst>
              <a:gd name="adj1" fmla="val -85667"/>
              <a:gd name="adj2" fmla="val 24278"/>
            </a:avLst>
          </a:prstGeom>
          <a:solidFill>
            <a:srgbClr val="FFFF66"/>
          </a:solidFill>
          <a:ln w="12700" algn="ctr">
            <a:solidFill>
              <a:srgbClr val="003300"/>
            </a:solidFill>
            <a:rou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zh-CN" altLang="en-US" sz="2000" dirty="0">
                <a:solidFill>
                  <a:schemeClr val="tx1"/>
                </a:solidFill>
                <a:latin typeface="微软雅黑" panose="020B0503020204020204" pitchFamily="34" charset="-122"/>
                <a:ea typeface="微软雅黑" panose="020B0503020204020204" pitchFamily="34" charset="-122"/>
              </a:rPr>
              <a:t>关系矩阵判定法</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Rectangle 2"/>
          <p:cNvSpPr>
            <a:spLocks noGrp="1" noChangeArrowheads="1"/>
          </p:cNvSpPr>
          <p:nvPr>
            <p:ph type="title"/>
          </p:nvPr>
        </p:nvSpPr>
        <p:spPr>
          <a:xfrm>
            <a:off x="855931" y="273478"/>
            <a:ext cx="8066367" cy="585923"/>
          </a:xfrm>
        </p:spPr>
        <p:txBody>
          <a:bodyPr/>
          <a:lstStyle/>
          <a:p>
            <a:pPr eaLnBrk="1" hangingPunct="1"/>
            <a:r>
              <a:rPr lang="zh-CN" altLang="en-US" dirty="0"/>
              <a:t>例</a:t>
            </a:r>
            <a:r>
              <a:rPr lang="en-US" altLang="zh-CN" dirty="0"/>
              <a:t>4.23</a:t>
            </a:r>
            <a:endParaRPr lang="zh-CN" altLang="en-US" dirty="0"/>
          </a:p>
        </p:txBody>
      </p:sp>
      <p:sp>
        <p:nvSpPr>
          <p:cNvPr id="1562627" name="Rectangle 3"/>
          <p:cNvSpPr>
            <a:spLocks noGrp="1" noChangeArrowheads="1"/>
          </p:cNvSpPr>
          <p:nvPr>
            <p:ph type="body" idx="1"/>
          </p:nvPr>
        </p:nvSpPr>
        <p:spPr>
          <a:xfrm>
            <a:off x="363823" y="921287"/>
            <a:ext cx="11450352" cy="1366536"/>
          </a:xfrm>
        </p:spPr>
        <p:txBody>
          <a:bodyPr>
            <a:normAutofit/>
          </a:bodyPr>
          <a:lstStyle/>
          <a:p>
            <a:pPr marL="0" indent="0">
              <a:lnSpc>
                <a:spcPct val="150000"/>
              </a:lnSpc>
              <a:buNone/>
            </a:pPr>
            <a:r>
              <a:rPr lang="zh-CN" altLang="en-US" dirty="0">
                <a:solidFill>
                  <a:srgbClr val="C00000"/>
                </a:solidFill>
              </a:rPr>
              <a:t>例</a:t>
            </a:r>
            <a:r>
              <a:rPr lang="en-US" altLang="zh-CN" dirty="0">
                <a:solidFill>
                  <a:srgbClr val="C00000"/>
                </a:solidFill>
              </a:rPr>
              <a:t>4.23  </a:t>
            </a:r>
            <a:r>
              <a:rPr lang="zh-CN" altLang="en-US" dirty="0"/>
              <a:t>设</a:t>
            </a:r>
            <a:r>
              <a:rPr lang="en-US" altLang="zh-CN" dirty="0"/>
              <a:t>A</a:t>
            </a:r>
            <a:r>
              <a:rPr lang="zh-CN" altLang="en-US" dirty="0"/>
              <a:t>＝</a:t>
            </a:r>
            <a:r>
              <a:rPr lang="en-US" altLang="zh-CN" dirty="0"/>
              <a:t>{1,2,3}</a:t>
            </a:r>
            <a:r>
              <a:rPr lang="zh-CN" altLang="en-US" dirty="0"/>
              <a:t>，</a:t>
            </a:r>
            <a:r>
              <a:rPr lang="en-US" altLang="zh-CN" dirty="0"/>
              <a:t>A</a:t>
            </a:r>
            <a:r>
              <a:rPr lang="zh-CN" altLang="en-US" dirty="0"/>
              <a:t>上关系</a:t>
            </a:r>
            <a:r>
              <a:rPr lang="en-US" altLang="zh-CN" dirty="0"/>
              <a:t>T</a:t>
            </a:r>
            <a:r>
              <a:rPr lang="zh-CN" altLang="en-US" dirty="0"/>
              <a:t>和</a:t>
            </a:r>
            <a:r>
              <a:rPr lang="en-US" altLang="zh-CN" dirty="0"/>
              <a:t>V</a:t>
            </a:r>
            <a:r>
              <a:rPr lang="zh-CN" altLang="en-US" dirty="0"/>
              <a:t>的关系图如下图</a:t>
            </a:r>
            <a:r>
              <a:rPr lang="en-US" altLang="zh-CN" dirty="0"/>
              <a:t>(a)</a:t>
            </a:r>
            <a:r>
              <a:rPr lang="zh-CN" altLang="en-US" dirty="0"/>
              <a:t>和</a:t>
            </a:r>
            <a:r>
              <a:rPr lang="en-US" altLang="zh-CN" dirty="0"/>
              <a:t>(b)</a:t>
            </a:r>
            <a:r>
              <a:rPr lang="zh-CN" altLang="en-US" dirty="0"/>
              <a:t>。试判定它们所具有的特殊性质。</a:t>
            </a:r>
            <a:endParaRPr lang="zh-CN" altLang="en-US" dirty="0"/>
          </a:p>
        </p:txBody>
      </p:sp>
      <p:sp>
        <p:nvSpPr>
          <p:cNvPr id="4" name="Rectangle 3"/>
          <p:cNvSpPr>
            <a:spLocks noChangeArrowheads="1"/>
          </p:cNvSpPr>
          <p:nvPr/>
        </p:nvSpPr>
        <p:spPr bwMode="auto">
          <a:xfrm>
            <a:off x="621720" y="2146494"/>
            <a:ext cx="12198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4"/>
          <p:cNvSpPr>
            <a:spLocks noChangeArrowheads="1"/>
          </p:cNvSpPr>
          <p:nvPr/>
        </p:nvSpPr>
        <p:spPr bwMode="auto">
          <a:xfrm>
            <a:off x="621720" y="3165669"/>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8001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pSp>
        <p:nvGrpSpPr>
          <p:cNvPr id="41" name="Group 4154"/>
          <p:cNvGrpSpPr/>
          <p:nvPr/>
        </p:nvGrpSpPr>
        <p:grpSpPr bwMode="auto">
          <a:xfrm>
            <a:off x="3738782" y="2602586"/>
            <a:ext cx="5092066" cy="3285815"/>
            <a:chOff x="6439" y="9611"/>
            <a:chExt cx="3078" cy="1998"/>
          </a:xfrm>
        </p:grpSpPr>
        <p:sp>
          <p:nvSpPr>
            <p:cNvPr id="42" name="Text Box 3067"/>
            <p:cNvSpPr txBox="1">
              <a:spLocks noChangeArrowheads="1"/>
            </p:cNvSpPr>
            <p:nvPr/>
          </p:nvSpPr>
          <p:spPr bwMode="auto">
            <a:xfrm>
              <a:off x="6524" y="10334"/>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2</a:t>
              </a:r>
              <a:endParaRPr lang="zh-CN" b="1" kern="100">
                <a:effectLst/>
                <a:latin typeface="+mn-ea"/>
                <a:cs typeface="宋体" panose="02010600030101010101" pitchFamily="2" charset="-122"/>
              </a:endParaRPr>
            </a:p>
          </p:txBody>
        </p:sp>
        <p:sp>
          <p:nvSpPr>
            <p:cNvPr id="43" name="Text Box 3069"/>
            <p:cNvSpPr txBox="1">
              <a:spLocks noChangeArrowheads="1"/>
            </p:cNvSpPr>
            <p:nvPr/>
          </p:nvSpPr>
          <p:spPr bwMode="auto">
            <a:xfrm>
              <a:off x="8136" y="10280"/>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2</a:t>
              </a:r>
              <a:endParaRPr lang="zh-CN" b="1" kern="100">
                <a:effectLst/>
                <a:latin typeface="+mn-ea"/>
                <a:cs typeface="宋体" panose="02010600030101010101" pitchFamily="2" charset="-122"/>
              </a:endParaRPr>
            </a:p>
          </p:txBody>
        </p:sp>
        <p:sp>
          <p:nvSpPr>
            <p:cNvPr id="44" name="Text Box 3084"/>
            <p:cNvSpPr txBox="1">
              <a:spLocks noChangeArrowheads="1"/>
            </p:cNvSpPr>
            <p:nvPr/>
          </p:nvSpPr>
          <p:spPr bwMode="auto">
            <a:xfrm>
              <a:off x="6763" y="10793"/>
              <a:ext cx="253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indent="114300" algn="just">
                <a:spcAft>
                  <a:spcPts val="0"/>
                </a:spcAft>
              </a:pPr>
              <a:r>
                <a:rPr lang="en-US" b="1" kern="100" dirty="0">
                  <a:effectLst/>
                  <a:latin typeface="+mn-ea"/>
                  <a:cs typeface="宋体" panose="02010600030101010101" pitchFamily="2" charset="-122"/>
                </a:rPr>
                <a:t>(a)                             (b)</a:t>
              </a:r>
              <a:endParaRPr lang="zh-CN" b="1" kern="100" dirty="0">
                <a:effectLst/>
                <a:latin typeface="+mn-ea"/>
                <a:cs typeface="宋体" panose="02010600030101010101" pitchFamily="2" charset="-122"/>
              </a:endParaRPr>
            </a:p>
          </p:txBody>
        </p:sp>
        <p:sp>
          <p:nvSpPr>
            <p:cNvPr id="45" name="未知"/>
            <p:cNvSpPr/>
            <p:nvPr/>
          </p:nvSpPr>
          <p:spPr bwMode="auto">
            <a:xfrm>
              <a:off x="6779" y="9911"/>
              <a:ext cx="1" cy="850"/>
            </a:xfrm>
            <a:custGeom>
              <a:avLst/>
              <a:gdLst>
                <a:gd name="T0" fmla="*/ 0 w 1"/>
                <a:gd name="T1" fmla="*/ 0 h 850"/>
                <a:gd name="T2" fmla="*/ 0 w 1"/>
                <a:gd name="T3" fmla="*/ 850 h 850"/>
              </a:gdLst>
              <a:ahLst/>
              <a:cxnLst>
                <a:cxn ang="0">
                  <a:pos x="T0" y="T1"/>
                </a:cxn>
                <a:cxn ang="0">
                  <a:pos x="T2" y="T3"/>
                </a:cxn>
              </a:cxnLst>
              <a:rect l="0" t="0" r="r" b="b"/>
              <a:pathLst>
                <a:path w="1" h="850">
                  <a:moveTo>
                    <a:pt x="0" y="0"/>
                  </a:moveTo>
                  <a:lnTo>
                    <a:pt x="0" y="850"/>
                  </a:lnTo>
                </a:path>
              </a:pathLst>
            </a:custGeom>
            <a:noFill/>
            <a:ln w="9525" cap="flat" cmpd="sng">
              <a:solidFill>
                <a:srgbClr val="000000"/>
              </a:solidFill>
              <a:rou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46" name="Arc 3093"/>
            <p:cNvSpPr/>
            <p:nvPr/>
          </p:nvSpPr>
          <p:spPr bwMode="auto">
            <a:xfrm rot="240000" flipH="1">
              <a:off x="6439" y="9719"/>
              <a:ext cx="340" cy="340"/>
            </a:xfrm>
            <a:custGeom>
              <a:avLst/>
              <a:gdLst>
                <a:gd name="G0" fmla="+- 21600 0 0"/>
                <a:gd name="G1" fmla="+- 21600 0 0"/>
                <a:gd name="G2" fmla="+- 21600 0 0"/>
                <a:gd name="T0" fmla="*/ 814 w 43200"/>
                <a:gd name="T1" fmla="*/ 15725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47" name="Text Box 3094"/>
            <p:cNvSpPr txBox="1">
              <a:spLocks noChangeArrowheads="1"/>
            </p:cNvSpPr>
            <p:nvPr/>
          </p:nvSpPr>
          <p:spPr bwMode="auto">
            <a:xfrm>
              <a:off x="6557" y="9665"/>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1</a:t>
              </a:r>
              <a:endParaRPr lang="zh-CN" b="1" kern="100">
                <a:effectLst/>
                <a:latin typeface="+mn-ea"/>
                <a:cs typeface="宋体" panose="02010600030101010101" pitchFamily="2" charset="-122"/>
              </a:endParaRPr>
            </a:p>
          </p:txBody>
        </p:sp>
        <p:sp>
          <p:nvSpPr>
            <p:cNvPr id="48" name="Oval 3095"/>
            <p:cNvSpPr>
              <a:spLocks noChangeArrowheads="1"/>
            </p:cNvSpPr>
            <p:nvPr/>
          </p:nvSpPr>
          <p:spPr bwMode="auto">
            <a:xfrm>
              <a:off x="7699" y="9845"/>
              <a:ext cx="57" cy="57"/>
            </a:xfrm>
            <a:prstGeom prst="ellipse">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49" name="Oval 3096"/>
            <p:cNvSpPr>
              <a:spLocks noChangeArrowheads="1"/>
            </p:cNvSpPr>
            <p:nvPr/>
          </p:nvSpPr>
          <p:spPr bwMode="auto">
            <a:xfrm>
              <a:off x="6749" y="10752"/>
              <a:ext cx="57" cy="57"/>
            </a:xfrm>
            <a:prstGeom prst="ellipse">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0" name="Text Box 3098"/>
            <p:cNvSpPr txBox="1">
              <a:spLocks noChangeArrowheads="1"/>
            </p:cNvSpPr>
            <p:nvPr/>
          </p:nvSpPr>
          <p:spPr bwMode="auto">
            <a:xfrm>
              <a:off x="7731" y="9649"/>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3</a:t>
              </a:r>
              <a:endParaRPr lang="zh-CN" b="1" kern="100">
                <a:effectLst/>
                <a:latin typeface="+mn-ea"/>
                <a:cs typeface="宋体" panose="02010600030101010101" pitchFamily="2" charset="-122"/>
              </a:endParaRPr>
            </a:p>
          </p:txBody>
        </p:sp>
        <p:sp>
          <p:nvSpPr>
            <p:cNvPr id="51" name="未知"/>
            <p:cNvSpPr/>
            <p:nvPr/>
          </p:nvSpPr>
          <p:spPr bwMode="auto">
            <a:xfrm>
              <a:off x="6789" y="9855"/>
              <a:ext cx="930" cy="143"/>
            </a:xfrm>
            <a:custGeom>
              <a:avLst/>
              <a:gdLst>
                <a:gd name="T0" fmla="*/ 0 w 930"/>
                <a:gd name="T1" fmla="*/ 30 h 143"/>
                <a:gd name="T2" fmla="*/ 350 w 930"/>
                <a:gd name="T3" fmla="*/ 130 h 143"/>
                <a:gd name="T4" fmla="*/ 660 w 930"/>
                <a:gd name="T5" fmla="*/ 110 h 143"/>
                <a:gd name="T6" fmla="*/ 930 w 930"/>
                <a:gd name="T7" fmla="*/ 0 h 143"/>
              </a:gdLst>
              <a:ahLst/>
              <a:cxnLst>
                <a:cxn ang="0">
                  <a:pos x="T0" y="T1"/>
                </a:cxn>
                <a:cxn ang="0">
                  <a:pos x="T2" y="T3"/>
                </a:cxn>
                <a:cxn ang="0">
                  <a:pos x="T4" y="T5"/>
                </a:cxn>
                <a:cxn ang="0">
                  <a:pos x="T6" y="T7"/>
                </a:cxn>
              </a:cxnLst>
              <a:rect l="0" t="0" r="r" b="b"/>
              <a:pathLst>
                <a:path w="930" h="143">
                  <a:moveTo>
                    <a:pt x="0" y="30"/>
                  </a:moveTo>
                  <a:cubicBezTo>
                    <a:pt x="58" y="47"/>
                    <a:pt x="240" y="117"/>
                    <a:pt x="350" y="130"/>
                  </a:cubicBezTo>
                  <a:cubicBezTo>
                    <a:pt x="460" y="143"/>
                    <a:pt x="563" y="132"/>
                    <a:pt x="660" y="110"/>
                  </a:cubicBezTo>
                  <a:cubicBezTo>
                    <a:pt x="757" y="88"/>
                    <a:pt x="874" y="23"/>
                    <a:pt x="930" y="0"/>
                  </a:cubicBezTo>
                </a:path>
              </a:pathLst>
            </a:custGeom>
            <a:noFill/>
            <a:ln w="9525" cmpd="sng">
              <a:solidFill>
                <a:srgbClr val="000000"/>
              </a:solidFill>
              <a:round/>
              <a:tailEnd type="triangle" w="sm"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b="1">
                <a:latin typeface="+mn-ea"/>
              </a:endParaRPr>
            </a:p>
          </p:txBody>
        </p:sp>
        <p:sp>
          <p:nvSpPr>
            <p:cNvPr id="52" name="Arc 3101"/>
            <p:cNvSpPr/>
            <p:nvPr/>
          </p:nvSpPr>
          <p:spPr bwMode="auto">
            <a:xfrm rot="240000" flipH="1">
              <a:off x="8059" y="9649"/>
              <a:ext cx="340" cy="340"/>
            </a:xfrm>
            <a:custGeom>
              <a:avLst/>
              <a:gdLst>
                <a:gd name="G0" fmla="+- 21600 0 0"/>
                <a:gd name="G1" fmla="+- 21600 0 0"/>
                <a:gd name="G2" fmla="+- 21600 0 0"/>
                <a:gd name="T0" fmla="*/ 814 w 43200"/>
                <a:gd name="T1" fmla="*/ 15725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3" name="Text Box 3102"/>
            <p:cNvSpPr txBox="1">
              <a:spLocks noChangeArrowheads="1"/>
            </p:cNvSpPr>
            <p:nvPr/>
          </p:nvSpPr>
          <p:spPr bwMode="auto">
            <a:xfrm>
              <a:off x="8169" y="9611"/>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1</a:t>
              </a:r>
              <a:endParaRPr lang="zh-CN" b="1" kern="100">
                <a:effectLst/>
                <a:latin typeface="+mn-ea"/>
                <a:cs typeface="宋体" panose="02010600030101010101" pitchFamily="2" charset="-122"/>
              </a:endParaRPr>
            </a:p>
          </p:txBody>
        </p:sp>
        <p:sp>
          <p:nvSpPr>
            <p:cNvPr id="54" name="Oval 3103"/>
            <p:cNvSpPr>
              <a:spLocks noChangeArrowheads="1"/>
            </p:cNvSpPr>
            <p:nvPr/>
          </p:nvSpPr>
          <p:spPr bwMode="auto">
            <a:xfrm>
              <a:off x="9069" y="9775"/>
              <a:ext cx="57" cy="57"/>
            </a:xfrm>
            <a:prstGeom prst="ellipse">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5" name="Oval 3104"/>
            <p:cNvSpPr>
              <a:spLocks noChangeArrowheads="1"/>
            </p:cNvSpPr>
            <p:nvPr/>
          </p:nvSpPr>
          <p:spPr bwMode="auto">
            <a:xfrm>
              <a:off x="8369" y="10682"/>
              <a:ext cx="57" cy="57"/>
            </a:xfrm>
            <a:prstGeom prst="ellipse">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6" name="Text Box 3106"/>
            <p:cNvSpPr txBox="1">
              <a:spLocks noChangeArrowheads="1"/>
            </p:cNvSpPr>
            <p:nvPr/>
          </p:nvSpPr>
          <p:spPr bwMode="auto">
            <a:xfrm>
              <a:off x="9157" y="9619"/>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en-US" b="1" kern="100">
                  <a:effectLst/>
                  <a:latin typeface="+mn-ea"/>
                  <a:cs typeface="宋体" panose="02010600030101010101" pitchFamily="2" charset="-122"/>
                </a:rPr>
                <a:t>3</a:t>
              </a:r>
              <a:endParaRPr lang="zh-CN" b="1" kern="100">
                <a:effectLst/>
                <a:latin typeface="+mn-ea"/>
                <a:cs typeface="宋体" panose="02010600030101010101" pitchFamily="2" charset="-122"/>
              </a:endParaRPr>
            </a:p>
          </p:txBody>
        </p:sp>
        <p:sp>
          <p:nvSpPr>
            <p:cNvPr id="57" name="Oval 3108"/>
            <p:cNvSpPr>
              <a:spLocks noChangeArrowheads="1"/>
            </p:cNvSpPr>
            <p:nvPr/>
          </p:nvSpPr>
          <p:spPr bwMode="auto">
            <a:xfrm>
              <a:off x="8369" y="9775"/>
              <a:ext cx="57" cy="57"/>
            </a:xfrm>
            <a:prstGeom prst="ellipse">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8" name="Oval 3109"/>
            <p:cNvSpPr>
              <a:spLocks noChangeArrowheads="1"/>
            </p:cNvSpPr>
            <p:nvPr/>
          </p:nvSpPr>
          <p:spPr bwMode="auto">
            <a:xfrm>
              <a:off x="6749" y="9845"/>
              <a:ext cx="57" cy="57"/>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59" name="Arc 3110"/>
            <p:cNvSpPr/>
            <p:nvPr/>
          </p:nvSpPr>
          <p:spPr bwMode="auto">
            <a:xfrm rot="240000" flipH="1">
              <a:off x="8069" y="10555"/>
              <a:ext cx="340" cy="340"/>
            </a:xfrm>
            <a:custGeom>
              <a:avLst/>
              <a:gdLst>
                <a:gd name="G0" fmla="+- 21600 0 0"/>
                <a:gd name="G1" fmla="+- 21600 0 0"/>
                <a:gd name="G2" fmla="+- 21600 0 0"/>
                <a:gd name="T0" fmla="*/ 814 w 43200"/>
                <a:gd name="T1" fmla="*/ 15725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814" y="15725"/>
                  </a:moveTo>
                  <a:cubicBezTo>
                    <a:pt x="3443" y="6422"/>
                    <a:pt x="1193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head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60" name="Arc 3111"/>
            <p:cNvSpPr/>
            <p:nvPr/>
          </p:nvSpPr>
          <p:spPr bwMode="auto">
            <a:xfrm rot="11820000" flipH="1">
              <a:off x="9107" y="9658"/>
              <a:ext cx="340" cy="340"/>
            </a:xfrm>
            <a:custGeom>
              <a:avLst/>
              <a:gdLst>
                <a:gd name="G0" fmla="+- 21600 0 0"/>
                <a:gd name="G1" fmla="+- 21600 0 0"/>
                <a:gd name="G2" fmla="+- 21600 0 0"/>
                <a:gd name="T0" fmla="*/ 1602 w 43200"/>
                <a:gd name="T1" fmla="*/ 13437 h 43200"/>
                <a:gd name="T2" fmla="*/ 1 w 43200"/>
                <a:gd name="T3" fmla="*/ 21384 h 43200"/>
                <a:gd name="T4" fmla="*/ 21600 w 43200"/>
                <a:gd name="T5" fmla="*/ 21600 h 43200"/>
              </a:gdLst>
              <a:ahLst/>
              <a:cxnLst>
                <a:cxn ang="0">
                  <a:pos x="T0" y="T1"/>
                </a:cxn>
                <a:cxn ang="0">
                  <a:pos x="T2" y="T3"/>
                </a:cxn>
                <a:cxn ang="0">
                  <a:pos x="T4" y="T5"/>
                </a:cxn>
              </a:cxnLst>
              <a:rect l="0" t="0" r="r" b="b"/>
              <a:pathLst>
                <a:path w="43200" h="43200" fill="none" extrusionOk="0">
                  <a:moveTo>
                    <a:pt x="1601" y="13436"/>
                  </a:moveTo>
                  <a:cubicBezTo>
                    <a:pt x="4918" y="5310"/>
                    <a:pt x="1282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path>
                <a:path w="43200" h="43200" stroke="0" extrusionOk="0">
                  <a:moveTo>
                    <a:pt x="1601" y="13436"/>
                  </a:moveTo>
                  <a:cubicBezTo>
                    <a:pt x="4918" y="5310"/>
                    <a:pt x="12823" y="0"/>
                    <a:pt x="21600" y="0"/>
                  </a:cubicBezTo>
                  <a:cubicBezTo>
                    <a:pt x="33529" y="0"/>
                    <a:pt x="43200" y="9670"/>
                    <a:pt x="43200" y="21600"/>
                  </a:cubicBezTo>
                  <a:cubicBezTo>
                    <a:pt x="43200" y="33529"/>
                    <a:pt x="33529" y="43200"/>
                    <a:pt x="21600" y="43200"/>
                  </a:cubicBezTo>
                  <a:cubicBezTo>
                    <a:pt x="9670" y="43200"/>
                    <a:pt x="0" y="33529"/>
                    <a:pt x="0" y="21600"/>
                  </a:cubicBezTo>
                  <a:cubicBezTo>
                    <a:pt x="0" y="21527"/>
                    <a:pt x="0" y="21455"/>
                    <a:pt x="1" y="21384"/>
                  </a:cubicBezTo>
                  <a:lnTo>
                    <a:pt x="21600" y="21600"/>
                  </a:lnTo>
                  <a:close/>
                </a:path>
              </a:pathLst>
            </a:custGeom>
            <a:noFill/>
            <a:ln w="9525">
              <a:solidFill>
                <a:srgbClr val="000000"/>
              </a:solidFill>
              <a:rou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b="1">
                <a:latin typeface="+mn-ea"/>
              </a:endParaRPr>
            </a:p>
          </p:txBody>
        </p:sp>
        <p:sp>
          <p:nvSpPr>
            <p:cNvPr id="61" name="Text Box 3112"/>
            <p:cNvSpPr txBox="1">
              <a:spLocks noChangeArrowheads="1"/>
            </p:cNvSpPr>
            <p:nvPr/>
          </p:nvSpPr>
          <p:spPr bwMode="auto">
            <a:xfrm>
              <a:off x="7699" y="11141"/>
              <a:ext cx="101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indent="228600" algn="just">
                <a:spcAft>
                  <a:spcPts val="0"/>
                </a:spcAft>
              </a:pPr>
              <a:endParaRPr lang="zh-CN" b="1" kern="100" dirty="0">
                <a:effectLst/>
                <a:latin typeface="+mn-ea"/>
                <a:cs typeface="宋体" panose="02010600030101010101" pitchFamily="2" charset="-122"/>
              </a:endParaRPr>
            </a:p>
          </p:txBody>
        </p:sp>
      </p:grpSp>
      <p:sp>
        <p:nvSpPr>
          <p:cNvPr id="31" name="圆角矩形标注 34"/>
          <p:cNvSpPr>
            <a:spLocks noChangeArrowheads="1"/>
          </p:cNvSpPr>
          <p:nvPr/>
        </p:nvSpPr>
        <p:spPr bwMode="auto">
          <a:xfrm>
            <a:off x="3329785" y="5798656"/>
            <a:ext cx="3340100" cy="727075"/>
          </a:xfrm>
          <a:prstGeom prst="wedgeRoundRectCallout">
            <a:avLst>
              <a:gd name="adj1" fmla="val -8519"/>
              <a:gd name="adj2" fmla="val -168343"/>
              <a:gd name="adj3" fmla="val 16667"/>
            </a:avLst>
          </a:prstGeom>
          <a:solidFill>
            <a:srgbClr val="1157AB"/>
          </a:solidFill>
          <a:ln w="12700" algn="ctr">
            <a:solidFill>
              <a:srgbClr val="003300"/>
            </a:solidFill>
            <a:rou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400">
                <a:solidFill>
                  <a:schemeClr val="bg1"/>
                </a:solidFill>
                <a:latin typeface="微软雅黑" panose="020B0503020204020204" pitchFamily="34" charset="-122"/>
                <a:ea typeface="微软雅黑" panose="020B0503020204020204" pitchFamily="34" charset="-122"/>
              </a:rPr>
              <a:t>T</a:t>
            </a:r>
            <a:r>
              <a:rPr lang="zh-CN" altLang="en-US" sz="2400">
                <a:solidFill>
                  <a:schemeClr val="bg1"/>
                </a:solidFill>
                <a:latin typeface="微软雅黑" panose="020B0503020204020204" pitchFamily="34" charset="-122"/>
                <a:ea typeface="微软雅黑" panose="020B0503020204020204" pitchFamily="34" charset="-122"/>
              </a:rPr>
              <a:t>是反对称的和传递的</a:t>
            </a: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2" name="圆角矩形标注 35"/>
          <p:cNvSpPr>
            <a:spLocks noChangeArrowheads="1"/>
          </p:cNvSpPr>
          <p:nvPr/>
        </p:nvSpPr>
        <p:spPr bwMode="auto">
          <a:xfrm>
            <a:off x="6399999" y="1696724"/>
            <a:ext cx="3340100" cy="727075"/>
          </a:xfrm>
          <a:prstGeom prst="wedgeRoundRectCallout">
            <a:avLst>
              <a:gd name="adj1" fmla="val -478"/>
              <a:gd name="adj2" fmla="val 94264"/>
              <a:gd name="adj3" fmla="val 16667"/>
            </a:avLst>
          </a:prstGeom>
          <a:solidFill>
            <a:srgbClr val="1157AB"/>
          </a:solidFill>
          <a:ln w="12700" algn="ctr">
            <a:solidFill>
              <a:srgbClr val="003300"/>
            </a:solidFill>
            <a:rou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r>
              <a:rPr lang="en-US" altLang="zh-CN" sz="2400">
                <a:solidFill>
                  <a:schemeClr val="bg1"/>
                </a:solidFill>
                <a:latin typeface="微软雅黑" panose="020B0503020204020204" pitchFamily="34" charset="-122"/>
                <a:ea typeface="微软雅黑" panose="020B0503020204020204" pitchFamily="34" charset="-122"/>
              </a:rPr>
              <a:t>V</a:t>
            </a:r>
            <a:r>
              <a:rPr lang="zh-CN" altLang="en-US" sz="2400">
                <a:solidFill>
                  <a:schemeClr val="bg1"/>
                </a:solidFill>
                <a:latin typeface="微软雅黑" panose="020B0503020204020204" pitchFamily="34" charset="-122"/>
                <a:ea typeface="微软雅黑" panose="020B0503020204020204" pitchFamily="34" charset="-122"/>
              </a:rPr>
              <a:t>是自反的、对称的、反对称和传递的</a:t>
            </a:r>
            <a:endParaRPr lang="zh-CN" altLang="en-US" sz="240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down)">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72867" name="Rectangle 3"/>
              <p:cNvSpPr>
                <a:spLocks noGrp="1" noChangeArrowheads="1"/>
              </p:cNvSpPr>
              <p:nvPr>
                <p:ph type="body" idx="1"/>
              </p:nvPr>
            </p:nvSpPr>
            <p:spPr>
              <a:xfrm>
                <a:off x="384175" y="991394"/>
                <a:ext cx="11430000" cy="4800600"/>
              </a:xfrm>
            </p:spPr>
            <p:txBody>
              <a:bodyPr>
                <a:normAutofit fontScale="92500"/>
              </a:bodyPr>
              <a:lstStyle/>
              <a:p>
                <a:pPr marL="0" indent="0">
                  <a:lnSpc>
                    <a:spcPct val="150000"/>
                  </a:lnSpc>
                  <a:buNone/>
                </a:pPr>
                <a:r>
                  <a:rPr lang="zh-CN" altLang="en-US" dirty="0">
                    <a:solidFill>
                      <a:srgbClr val="C00000"/>
                    </a:solidFill>
                  </a:rPr>
                  <a:t>例</a:t>
                </a:r>
                <a:r>
                  <a:rPr lang="en-US" altLang="zh-CN" dirty="0">
                    <a:solidFill>
                      <a:srgbClr val="C00000"/>
                    </a:solidFill>
                  </a:rPr>
                  <a:t>4.25  </a:t>
                </a:r>
                <a:r>
                  <a:rPr lang="zh-CN" altLang="en-US" dirty="0"/>
                  <a:t>假设</a:t>
                </a:r>
                <a:r>
                  <a:rPr lang="en-US" altLang="zh-CN" dirty="0"/>
                  <a:t>A={1,2,3,4}</a:t>
                </a:r>
                <a:r>
                  <a:rPr lang="zh-CN" altLang="en-US" dirty="0"/>
                  <a:t>，</a:t>
                </a:r>
                <a:r>
                  <a:rPr lang="en-US" altLang="zh-CN" dirty="0"/>
                  <a:t>R={&lt;1,1&gt;,&lt;1,2&gt;,&lt;2,1&gt;,&lt;3,4&gt;} </a:t>
                </a:r>
                <a:r>
                  <a:rPr lang="zh-CN" altLang="en-US" dirty="0"/>
                  <a:t>是定义在</a:t>
                </a:r>
                <a:r>
                  <a:rPr lang="en-US" altLang="zh-CN" dirty="0"/>
                  <a:t>A</a:t>
                </a:r>
                <a:r>
                  <a:rPr lang="zh-CN" altLang="en-US" dirty="0"/>
                  <a:t>上的关系。试判定</a:t>
                </a:r>
                <a:r>
                  <a:rPr lang="en-US" altLang="zh-CN" dirty="0"/>
                  <a:t>R</a:t>
                </a:r>
                <a:r>
                  <a:rPr lang="zh-CN" altLang="en-US" dirty="0"/>
                  <a:t>所具有的特殊性质。</a:t>
                </a:r>
                <a:endParaRPr lang="zh-CN" altLang="en-US" dirty="0"/>
              </a:p>
              <a:p>
                <a:pPr marL="0" indent="0">
                  <a:lnSpc>
                    <a:spcPct val="150000"/>
                  </a:lnSpc>
                  <a:buNone/>
                </a:pPr>
                <a:r>
                  <a:rPr lang="zh-CN" altLang="en-US" dirty="0">
                    <a:solidFill>
                      <a:srgbClr val="C00000"/>
                    </a:solidFill>
                  </a:rPr>
                  <a:t>解</a:t>
                </a:r>
                <a:r>
                  <a:rPr lang="zh-CN" altLang="en-US" dirty="0">
                    <a:solidFill>
                      <a:srgbClr val="FF0000"/>
                    </a:solidFill>
                  </a:rPr>
                  <a:t>   </a:t>
                </a:r>
                <a:r>
                  <a:rPr lang="zh-CN" altLang="en-US" dirty="0"/>
                  <a:t>因为存在</a:t>
                </a:r>
                <a:r>
                  <a:rPr lang="en-US" altLang="zh-CN" dirty="0"/>
                  <a:t>2∈A</a:t>
                </a:r>
                <a:r>
                  <a:rPr lang="zh-CN" altLang="en-US" dirty="0"/>
                  <a:t>，但</a:t>
                </a:r>
                <a:r>
                  <a:rPr lang="en-US" altLang="zh-CN" dirty="0"/>
                  <a:t>&lt;2,2&gt;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R</a:t>
                </a:r>
                <a:r>
                  <a:rPr lang="zh-CN" altLang="en-US" dirty="0"/>
                  <a:t>，所以</a:t>
                </a:r>
                <a:r>
                  <a:rPr lang="en-US" altLang="zh-CN" dirty="0">
                    <a:solidFill>
                      <a:srgbClr val="3333FF"/>
                    </a:solidFill>
                  </a:rPr>
                  <a:t>R</a:t>
                </a:r>
                <a:r>
                  <a:rPr lang="zh-CN" altLang="en-US" dirty="0">
                    <a:solidFill>
                      <a:srgbClr val="3333FF"/>
                    </a:solidFill>
                  </a:rPr>
                  <a:t>不是自反的</a:t>
                </a:r>
                <a:r>
                  <a:rPr lang="zh-CN" altLang="en-US" dirty="0"/>
                  <a:t>。</a:t>
                </a:r>
                <a:endParaRPr lang="en-US" altLang="zh-CN" dirty="0"/>
              </a:p>
              <a:p>
                <a:pPr marL="0" indent="0">
                  <a:lnSpc>
                    <a:spcPct val="150000"/>
                  </a:lnSpc>
                  <a:buNone/>
                </a:pPr>
                <a:r>
                  <a:rPr lang="en-US" altLang="zh-CN" dirty="0"/>
                  <a:t>      </a:t>
                </a:r>
                <a:r>
                  <a:rPr lang="zh-CN" altLang="en-US" dirty="0"/>
                  <a:t>因为存在</a:t>
                </a:r>
                <a:r>
                  <a:rPr lang="en-US" altLang="zh-CN" dirty="0"/>
                  <a:t>1∈A</a:t>
                </a:r>
                <a:r>
                  <a:rPr lang="zh-CN" altLang="en-US" dirty="0"/>
                  <a:t>，但</a:t>
                </a:r>
                <a:r>
                  <a:rPr lang="en-US" altLang="zh-CN" dirty="0"/>
                  <a:t>&lt;1,1&gt;∈R</a:t>
                </a:r>
                <a:r>
                  <a:rPr lang="zh-CN" altLang="en-US" dirty="0"/>
                  <a:t>，所以</a:t>
                </a:r>
                <a:r>
                  <a:rPr lang="en-US" altLang="zh-CN" dirty="0">
                    <a:solidFill>
                      <a:srgbClr val="3333FF"/>
                    </a:solidFill>
                  </a:rPr>
                  <a:t>R</a:t>
                </a:r>
                <a:r>
                  <a:rPr lang="zh-CN" altLang="en-US" dirty="0">
                    <a:solidFill>
                      <a:srgbClr val="3333FF"/>
                    </a:solidFill>
                  </a:rPr>
                  <a:t>不是反自反的</a:t>
                </a:r>
                <a:r>
                  <a:rPr lang="zh-CN" altLang="en-US" dirty="0"/>
                  <a:t>。</a:t>
                </a:r>
                <a:endParaRPr lang="en-US" altLang="zh-CN" dirty="0"/>
              </a:p>
              <a:p>
                <a:pPr marL="0" indent="0">
                  <a:lnSpc>
                    <a:spcPct val="150000"/>
                  </a:lnSpc>
                  <a:buNone/>
                </a:pPr>
                <a:r>
                  <a:rPr lang="en-US" altLang="zh-CN" dirty="0"/>
                  <a:t>      </a:t>
                </a:r>
                <a:r>
                  <a:rPr lang="zh-CN" altLang="en-US" dirty="0"/>
                  <a:t>因为</a:t>
                </a:r>
                <a:r>
                  <a:rPr lang="en-US" altLang="zh-CN" dirty="0"/>
                  <a:t>&lt;3,4&gt;∈R</a:t>
                </a:r>
                <a:r>
                  <a:rPr lang="zh-CN" altLang="en-US" dirty="0"/>
                  <a:t>，但</a:t>
                </a:r>
                <a:r>
                  <a:rPr lang="en-US" altLang="zh-CN" dirty="0"/>
                  <a:t>&lt;4,3&gt;</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a:t>R</a:t>
                </a:r>
                <a:r>
                  <a:rPr lang="zh-CN" altLang="en-US" dirty="0"/>
                  <a:t>，所以</a:t>
                </a:r>
                <a:r>
                  <a:rPr lang="en-US" altLang="zh-CN" dirty="0">
                    <a:solidFill>
                      <a:srgbClr val="3333FF"/>
                    </a:solidFill>
                  </a:rPr>
                  <a:t>R</a:t>
                </a:r>
                <a:r>
                  <a:rPr lang="zh-CN" altLang="en-US" dirty="0">
                    <a:solidFill>
                      <a:srgbClr val="3333FF"/>
                    </a:solidFill>
                  </a:rPr>
                  <a:t>不是对称的</a:t>
                </a:r>
                <a:r>
                  <a:rPr lang="zh-CN" altLang="en-US" dirty="0"/>
                  <a:t>。</a:t>
                </a:r>
                <a:endParaRPr lang="en-US" altLang="zh-CN" dirty="0"/>
              </a:p>
              <a:p>
                <a:pPr marL="0" indent="0">
                  <a:lnSpc>
                    <a:spcPct val="150000"/>
                  </a:lnSpc>
                  <a:buNone/>
                </a:pPr>
                <a:r>
                  <a:rPr lang="en-US" altLang="zh-CN" dirty="0"/>
                  <a:t>      </a:t>
                </a:r>
                <a:r>
                  <a:rPr lang="zh-CN" altLang="en-US" dirty="0"/>
                  <a:t>因为有</a:t>
                </a:r>
                <a:r>
                  <a:rPr lang="en-US" altLang="zh-CN" dirty="0"/>
                  <a:t>&lt;1,2&gt;∈R</a:t>
                </a:r>
                <a:r>
                  <a:rPr lang="zh-CN" altLang="en-US" dirty="0"/>
                  <a:t>，</a:t>
                </a:r>
                <a:r>
                  <a:rPr lang="en-US" altLang="zh-CN" dirty="0"/>
                  <a:t>&lt;2,1&gt;∈R</a:t>
                </a:r>
                <a:r>
                  <a:rPr lang="zh-CN" altLang="en-US" dirty="0"/>
                  <a:t>，但是</a:t>
                </a:r>
                <a:r>
                  <a:rPr lang="en-US" altLang="zh-CN" dirty="0"/>
                  <a:t>1≠2</a:t>
                </a:r>
                <a:r>
                  <a:rPr lang="zh-CN" altLang="en-US" dirty="0"/>
                  <a:t>，所以</a:t>
                </a:r>
                <a:r>
                  <a:rPr lang="en-US" altLang="zh-CN" dirty="0">
                    <a:solidFill>
                      <a:srgbClr val="3333FF"/>
                    </a:solidFill>
                  </a:rPr>
                  <a:t>R</a:t>
                </a:r>
                <a:r>
                  <a:rPr lang="zh-CN" altLang="en-US" dirty="0">
                    <a:solidFill>
                      <a:srgbClr val="3333FF"/>
                    </a:solidFill>
                  </a:rPr>
                  <a:t>不是反对称的</a:t>
                </a:r>
                <a:r>
                  <a:rPr lang="zh-CN" altLang="en-US" dirty="0"/>
                  <a:t>。</a:t>
                </a:r>
                <a:endParaRPr lang="en-US" altLang="zh-CN" dirty="0"/>
              </a:p>
              <a:p>
                <a:pPr marL="0" indent="0">
                  <a:lnSpc>
                    <a:spcPct val="150000"/>
                  </a:lnSpc>
                  <a:buNone/>
                </a:pPr>
                <a:r>
                  <a:rPr lang="en-US" altLang="zh-CN" dirty="0"/>
                  <a:t>      </a:t>
                </a:r>
                <a:r>
                  <a:rPr lang="zh-CN" altLang="en-US" dirty="0"/>
                  <a:t>因为有</a:t>
                </a:r>
                <a:r>
                  <a:rPr lang="en-US" altLang="zh-CN" dirty="0"/>
                  <a:t>&lt;2,1&gt;∈R</a:t>
                </a:r>
                <a:r>
                  <a:rPr lang="zh-CN" altLang="en-US" dirty="0"/>
                  <a:t>，</a:t>
                </a:r>
                <a:r>
                  <a:rPr lang="en-US" altLang="zh-CN" dirty="0"/>
                  <a:t>&lt;1,2&gt;∈R</a:t>
                </a:r>
                <a:r>
                  <a:rPr lang="zh-CN" altLang="en-US" dirty="0"/>
                  <a:t>，但</a:t>
                </a:r>
                <a:r>
                  <a:rPr lang="en-US" altLang="zh-CN" dirty="0"/>
                  <a:t>&lt;2,2&gt;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a:t>
                </a:r>
                <a:r>
                  <a:rPr lang="zh-CN" altLang="en-US" dirty="0"/>
                  <a:t>，所以</a:t>
                </a:r>
                <a:r>
                  <a:rPr lang="en-US" altLang="zh-CN" dirty="0">
                    <a:solidFill>
                      <a:srgbClr val="3333FF"/>
                    </a:solidFill>
                  </a:rPr>
                  <a:t>R</a:t>
                </a:r>
                <a:r>
                  <a:rPr lang="zh-CN" altLang="en-US" dirty="0">
                    <a:solidFill>
                      <a:srgbClr val="3333FF"/>
                    </a:solidFill>
                  </a:rPr>
                  <a:t>不是传递的</a:t>
                </a:r>
                <a:r>
                  <a:rPr lang="zh-CN" altLang="en-US" dirty="0"/>
                  <a:t>。</a:t>
                </a:r>
                <a:endParaRPr lang="zh-CN" altLang="en-US" dirty="0"/>
              </a:p>
              <a:p>
                <a:pPr marL="0" indent="0">
                  <a:lnSpc>
                    <a:spcPct val="150000"/>
                  </a:lnSpc>
                  <a:buNone/>
                </a:pPr>
                <a:r>
                  <a:rPr lang="zh-CN" altLang="en-US" dirty="0">
                    <a:solidFill>
                      <a:srgbClr val="C00000"/>
                    </a:solidFill>
                  </a:rPr>
                  <a:t>综上所述，</a:t>
                </a:r>
                <a:r>
                  <a:rPr lang="en-US" altLang="zh-CN" dirty="0">
                    <a:solidFill>
                      <a:srgbClr val="C00000"/>
                    </a:solidFill>
                  </a:rPr>
                  <a:t>R</a:t>
                </a:r>
                <a:r>
                  <a:rPr lang="zh-CN" altLang="en-US" dirty="0">
                    <a:solidFill>
                      <a:srgbClr val="C00000"/>
                    </a:solidFill>
                  </a:rPr>
                  <a:t>不具备上述的任何特殊性质。</a:t>
                </a:r>
                <a:endParaRPr lang="zh-CN" altLang="en-US" dirty="0">
                  <a:solidFill>
                    <a:srgbClr val="C00000"/>
                  </a:solidFill>
                </a:endParaRPr>
              </a:p>
            </p:txBody>
          </p:sp>
        </mc:Choice>
        <mc:Fallback>
          <p:sp>
            <p:nvSpPr>
              <p:cNvPr id="1572867" name="Rectangle 3"/>
              <p:cNvSpPr>
                <a:spLocks noRot="1" noChangeAspect="1" noMove="1" noResize="1" noEditPoints="1" noAdjustHandles="1" noChangeArrowheads="1" noChangeShapeType="1" noTextEdit="1"/>
              </p:cNvSpPr>
              <p:nvPr>
                <p:ph type="body" idx="1"/>
              </p:nvPr>
            </p:nvSpPr>
            <p:spPr>
              <a:xfrm>
                <a:off x="384175" y="991394"/>
                <a:ext cx="11430000" cy="4800600"/>
              </a:xfrm>
              <a:blipFill rotWithShape="1">
                <a:blip r:embed="rId1"/>
                <a:stretch>
                  <a:fillRect t="-3" b="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例</a:t>
            </a:r>
            <a:r>
              <a:rPr lang="en-US" altLang="zh-CN" dirty="0"/>
              <a:t>4.25</a:t>
            </a:r>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2867">
                                            <p:txEl>
                                              <p:pRg st="1" end="1"/>
                                            </p:txEl>
                                          </p:spTgt>
                                        </p:tgtEl>
                                        <p:attrNameLst>
                                          <p:attrName>style.visibility</p:attrName>
                                        </p:attrNameLst>
                                      </p:cBhvr>
                                      <p:to>
                                        <p:strVal val="visible"/>
                                      </p:to>
                                    </p:set>
                                    <p:anim calcmode="lin" valueType="num">
                                      <p:cBhvr additive="base">
                                        <p:cTn id="7" dur="500" fill="hold"/>
                                        <p:tgtEl>
                                          <p:spTgt spid="15728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72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72867">
                                            <p:txEl>
                                              <p:pRg st="2" end="2"/>
                                            </p:txEl>
                                          </p:spTgt>
                                        </p:tgtEl>
                                        <p:attrNameLst>
                                          <p:attrName>style.visibility</p:attrName>
                                        </p:attrNameLst>
                                      </p:cBhvr>
                                      <p:to>
                                        <p:strVal val="visible"/>
                                      </p:to>
                                    </p:set>
                                    <p:anim calcmode="lin" valueType="num">
                                      <p:cBhvr additive="base">
                                        <p:cTn id="13" dur="500" fill="hold"/>
                                        <p:tgtEl>
                                          <p:spTgt spid="15728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72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72867">
                                            <p:txEl>
                                              <p:pRg st="3" end="3"/>
                                            </p:txEl>
                                          </p:spTgt>
                                        </p:tgtEl>
                                        <p:attrNameLst>
                                          <p:attrName>style.visibility</p:attrName>
                                        </p:attrNameLst>
                                      </p:cBhvr>
                                      <p:to>
                                        <p:strVal val="visible"/>
                                      </p:to>
                                    </p:set>
                                    <p:anim calcmode="lin" valueType="num">
                                      <p:cBhvr additive="base">
                                        <p:cTn id="19" dur="500" fill="hold"/>
                                        <p:tgtEl>
                                          <p:spTgt spid="15728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72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72867">
                                            <p:txEl>
                                              <p:pRg st="4" end="4"/>
                                            </p:txEl>
                                          </p:spTgt>
                                        </p:tgtEl>
                                        <p:attrNameLst>
                                          <p:attrName>style.visibility</p:attrName>
                                        </p:attrNameLst>
                                      </p:cBhvr>
                                      <p:to>
                                        <p:strVal val="visible"/>
                                      </p:to>
                                    </p:set>
                                    <p:anim calcmode="lin" valueType="num">
                                      <p:cBhvr additive="base">
                                        <p:cTn id="25" dur="500" fill="hold"/>
                                        <p:tgtEl>
                                          <p:spTgt spid="15728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72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72867">
                                            <p:txEl>
                                              <p:pRg st="5" end="5"/>
                                            </p:txEl>
                                          </p:spTgt>
                                        </p:tgtEl>
                                        <p:attrNameLst>
                                          <p:attrName>style.visibility</p:attrName>
                                        </p:attrNameLst>
                                      </p:cBhvr>
                                      <p:to>
                                        <p:strVal val="visible"/>
                                      </p:to>
                                    </p:set>
                                    <p:anim calcmode="lin" valueType="num">
                                      <p:cBhvr additive="base">
                                        <p:cTn id="31" dur="500" fill="hold"/>
                                        <p:tgtEl>
                                          <p:spTgt spid="1572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72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72867">
                                            <p:txEl>
                                              <p:pRg st="6" end="6"/>
                                            </p:txEl>
                                          </p:spTgt>
                                        </p:tgtEl>
                                        <p:attrNameLst>
                                          <p:attrName>style.visibility</p:attrName>
                                        </p:attrNameLst>
                                      </p:cBhvr>
                                      <p:to>
                                        <p:strVal val="visible"/>
                                      </p:to>
                                    </p:set>
                                    <p:anim calcmode="lin" valueType="num">
                                      <p:cBhvr additive="base">
                                        <p:cTn id="37" dur="500" fill="hold"/>
                                        <p:tgtEl>
                                          <p:spTgt spid="15728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728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2867"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2"/>
          <p:cNvSpPr>
            <a:spLocks noGrp="1" noChangeArrowheads="1"/>
          </p:cNvSpPr>
          <p:nvPr>
            <p:ph type="title"/>
          </p:nvPr>
        </p:nvSpPr>
        <p:spPr/>
        <p:txBody>
          <a:bodyPr/>
          <a:lstStyle/>
          <a:p>
            <a:pPr eaLnBrk="1" hangingPunct="1"/>
            <a:r>
              <a:rPr lang="zh-CN" altLang="en-US" dirty="0"/>
              <a:t>例</a:t>
            </a:r>
            <a:r>
              <a:rPr lang="en-US" altLang="zh-CN" dirty="0"/>
              <a:t>4.26</a:t>
            </a:r>
            <a:endParaRPr lang="zh-CN" altLang="en-US" dirty="0"/>
          </a:p>
        </p:txBody>
      </p:sp>
      <p:sp>
        <p:nvSpPr>
          <p:cNvPr id="1574915" name="Rectangle 3"/>
          <p:cNvSpPr>
            <a:spLocks noGrp="1" noChangeArrowheads="1"/>
          </p:cNvSpPr>
          <p:nvPr>
            <p:ph type="body" idx="1"/>
          </p:nvPr>
        </p:nvSpPr>
        <p:spPr>
          <a:xfrm>
            <a:off x="384175" y="1203604"/>
            <a:ext cx="11430000" cy="3140590"/>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4.26  </a:t>
            </a:r>
            <a:r>
              <a:rPr lang="zh-CN" altLang="en-US" dirty="0"/>
              <a:t>设</a:t>
            </a:r>
            <a:r>
              <a:rPr lang="en-US" altLang="zh-CN" dirty="0"/>
              <a:t>R={&lt;1,1&gt;,&lt;2,2&gt;}</a:t>
            </a:r>
            <a:r>
              <a:rPr lang="zh-CN" altLang="en-US" dirty="0"/>
              <a:t>，试判断</a:t>
            </a:r>
            <a:r>
              <a:rPr lang="en-US" altLang="zh-CN" dirty="0"/>
              <a:t>R</a:t>
            </a:r>
            <a:r>
              <a:rPr lang="zh-CN" altLang="en-US" dirty="0"/>
              <a:t>在集合</a:t>
            </a:r>
            <a:r>
              <a:rPr lang="en-US" altLang="zh-CN" dirty="0"/>
              <a:t>A</a:t>
            </a:r>
            <a:r>
              <a:rPr lang="zh-CN" altLang="en-US" dirty="0"/>
              <a:t>和</a:t>
            </a:r>
            <a:r>
              <a:rPr lang="en-US" altLang="zh-CN" dirty="0"/>
              <a:t>B</a:t>
            </a:r>
            <a:r>
              <a:rPr lang="zh-CN" altLang="en-US" dirty="0"/>
              <a:t>上具备的特殊性质，其中</a:t>
            </a:r>
            <a:r>
              <a:rPr lang="en-US" altLang="zh-CN" dirty="0"/>
              <a:t>A={1,2}</a:t>
            </a:r>
            <a:r>
              <a:rPr lang="zh-CN" altLang="en-US" dirty="0"/>
              <a:t>，</a:t>
            </a:r>
            <a:r>
              <a:rPr lang="en-US" altLang="zh-CN" dirty="0"/>
              <a:t>B={1,2,3}</a:t>
            </a:r>
            <a:r>
              <a:rPr lang="zh-CN" altLang="en-US" dirty="0"/>
              <a:t>。</a:t>
            </a:r>
            <a:endParaRPr lang="zh-CN" altLang="en-US" dirty="0"/>
          </a:p>
          <a:p>
            <a:pPr marL="0" indent="0">
              <a:lnSpc>
                <a:spcPct val="150000"/>
              </a:lnSpc>
              <a:buNone/>
            </a:pPr>
            <a:r>
              <a:rPr lang="zh-CN" altLang="en-US" dirty="0">
                <a:solidFill>
                  <a:srgbClr val="C00000"/>
                </a:solidFill>
              </a:rPr>
              <a:t>解</a:t>
            </a:r>
            <a:r>
              <a:rPr lang="zh-CN" altLang="en-US" dirty="0"/>
              <a:t>   </a:t>
            </a:r>
            <a:r>
              <a:rPr lang="zh-CN" altLang="en-US" dirty="0">
                <a:solidFill>
                  <a:srgbClr val="0000CC"/>
                </a:solidFill>
              </a:rPr>
              <a:t>当</a:t>
            </a:r>
            <a:r>
              <a:rPr lang="en-US" altLang="zh-CN" dirty="0">
                <a:solidFill>
                  <a:srgbClr val="0000CC"/>
                </a:solidFill>
              </a:rPr>
              <a:t>R</a:t>
            </a:r>
            <a:r>
              <a:rPr lang="zh-CN" altLang="en-US" dirty="0">
                <a:solidFill>
                  <a:srgbClr val="0000CC"/>
                </a:solidFill>
              </a:rPr>
              <a:t>是定义在集合</a:t>
            </a:r>
            <a:r>
              <a:rPr lang="en-US" altLang="zh-CN" dirty="0">
                <a:solidFill>
                  <a:srgbClr val="0000CC"/>
                </a:solidFill>
              </a:rPr>
              <a:t>A</a:t>
            </a:r>
            <a:r>
              <a:rPr lang="zh-CN" altLang="en-US" dirty="0">
                <a:solidFill>
                  <a:srgbClr val="0000CC"/>
                </a:solidFill>
              </a:rPr>
              <a:t>上的关系时，</a:t>
            </a:r>
            <a:r>
              <a:rPr lang="en-US" altLang="zh-CN" dirty="0"/>
              <a:t>R</a:t>
            </a:r>
            <a:r>
              <a:rPr lang="zh-CN" altLang="en-US" dirty="0"/>
              <a:t>是自反、对称、反对称和传递的。</a:t>
            </a:r>
            <a:endParaRPr lang="zh-CN" altLang="en-US" dirty="0"/>
          </a:p>
          <a:p>
            <a:pPr marL="0" indent="0">
              <a:lnSpc>
                <a:spcPct val="150000"/>
              </a:lnSpc>
              <a:buNone/>
            </a:pPr>
            <a:r>
              <a:rPr lang="zh-CN" altLang="en-US" dirty="0">
                <a:solidFill>
                  <a:srgbClr val="3333FF"/>
                </a:solidFill>
              </a:rPr>
              <a:t>      当</a:t>
            </a:r>
            <a:r>
              <a:rPr lang="en-US" altLang="zh-CN" dirty="0">
                <a:solidFill>
                  <a:srgbClr val="3333FF"/>
                </a:solidFill>
              </a:rPr>
              <a:t>R</a:t>
            </a:r>
            <a:r>
              <a:rPr lang="zh-CN" altLang="en-US" dirty="0">
                <a:solidFill>
                  <a:srgbClr val="3333FF"/>
                </a:solidFill>
              </a:rPr>
              <a:t>是定义在集合</a:t>
            </a:r>
            <a:r>
              <a:rPr lang="en-US" altLang="zh-CN" dirty="0">
                <a:solidFill>
                  <a:srgbClr val="3333FF"/>
                </a:solidFill>
              </a:rPr>
              <a:t>B</a:t>
            </a:r>
            <a:r>
              <a:rPr lang="zh-CN" altLang="en-US" dirty="0">
                <a:solidFill>
                  <a:srgbClr val="3333FF"/>
                </a:solidFill>
              </a:rPr>
              <a:t>上的关系时</a:t>
            </a:r>
            <a:r>
              <a:rPr lang="zh-CN" altLang="en-US" dirty="0"/>
              <a:t>，</a:t>
            </a:r>
            <a:r>
              <a:rPr lang="en-US" altLang="zh-CN" dirty="0"/>
              <a:t>R</a:t>
            </a:r>
            <a:r>
              <a:rPr lang="zh-CN" altLang="en-US" dirty="0"/>
              <a:t>是对称、反对称和传递的。</a:t>
            </a:r>
            <a:endParaRPr lang="zh-CN" altLang="en-US" dirty="0"/>
          </a:p>
        </p:txBody>
      </p:sp>
      <p:sp>
        <p:nvSpPr>
          <p:cNvPr id="2" name="流程图: 资料带 1"/>
          <p:cNvSpPr/>
          <p:nvPr/>
        </p:nvSpPr>
        <p:spPr>
          <a:xfrm>
            <a:off x="536575" y="3810794"/>
            <a:ext cx="10744200" cy="15240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注意：绝对不能脱离基集（即定义关系的集合）来谈论关系的性质。</a:t>
            </a:r>
            <a:endParaRPr lang="zh-CN" altLang="en-US"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4915">
                                            <p:txEl>
                                              <p:pRg st="1" end="1"/>
                                            </p:txEl>
                                          </p:spTgt>
                                        </p:tgtEl>
                                        <p:attrNameLst>
                                          <p:attrName>style.visibility</p:attrName>
                                        </p:attrNameLst>
                                      </p:cBhvr>
                                      <p:to>
                                        <p:strVal val="visible"/>
                                      </p:to>
                                    </p:set>
                                    <p:anim calcmode="lin" valueType="num">
                                      <p:cBhvr additive="base">
                                        <p:cTn id="7" dur="500" fill="hold"/>
                                        <p:tgtEl>
                                          <p:spTgt spid="15749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74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74915">
                                            <p:txEl>
                                              <p:pRg st="2" end="2"/>
                                            </p:txEl>
                                          </p:spTgt>
                                        </p:tgtEl>
                                        <p:attrNameLst>
                                          <p:attrName>style.visibility</p:attrName>
                                        </p:attrNameLst>
                                      </p:cBhvr>
                                      <p:to>
                                        <p:strVal val="visible"/>
                                      </p:to>
                                    </p:set>
                                    <p:anim calcmode="lin" valueType="num">
                                      <p:cBhvr additive="base">
                                        <p:cTn id="13" dur="500" fill="hold"/>
                                        <p:tgtEl>
                                          <p:spTgt spid="15749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74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4915" grpId="0" uiExpand="1" build="p"/>
      <p:bldP spid="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zh-CN" dirty="0"/>
              <a:t>3.3</a:t>
            </a:r>
            <a:r>
              <a:rPr lang="zh-CN" altLang="en-US" dirty="0"/>
              <a:t>二元关系的性质与闭包</a:t>
            </a:r>
            <a:endParaRPr lang="zh-CN" altLang="en-US" dirty="0"/>
          </a:p>
        </p:txBody>
      </p:sp>
      <p:sp>
        <p:nvSpPr>
          <p:cNvPr id="25602" name="Rectangle 3"/>
          <p:cNvSpPr>
            <a:spLocks noGrp="1" noChangeArrowheads="1"/>
          </p:cNvSpPr>
          <p:nvPr>
            <p:ph type="body" idx="1"/>
          </p:nvPr>
        </p:nvSpPr>
        <p:spPr/>
        <p:txBody>
          <a:bodyPr/>
          <a:lstStyle/>
          <a:p>
            <a:pPr marL="0" indent="0">
              <a:buNone/>
            </a:pPr>
            <a:endParaRPr lang="zh-CN" altLang="en-US" dirty="0"/>
          </a:p>
        </p:txBody>
      </p:sp>
      <p:sp>
        <p:nvSpPr>
          <p:cNvPr id="25603" name="Rectangle 4"/>
          <p:cNvSpPr txBox="1">
            <a:spLocks noChangeArrowheads="1"/>
          </p:cNvSpPr>
          <p:nvPr/>
        </p:nvSpPr>
        <p:spPr bwMode="auto">
          <a:xfrm>
            <a:off x="584504" y="1295700"/>
            <a:ext cx="10978515" cy="4877929"/>
          </a:xfrm>
          <a:prstGeom prst="rect">
            <a:avLst/>
          </a:prstGeom>
          <a:solidFill>
            <a:srgbClr val="FFFF99"/>
          </a:solidFill>
          <a:ln w="3175" algn="ctr">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896" tIns="54448" rIns="108896" bIns="54448"/>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marL="0" indent="0">
              <a:lnSpc>
                <a:spcPct val="130000"/>
              </a:lnSpc>
              <a:buNone/>
            </a:pPr>
            <a:r>
              <a:rPr lang="zh-CN" altLang="en-US" b="0" dirty="0" smtClean="0">
                <a:solidFill>
                  <a:srgbClr val="00B0F0"/>
                </a:solidFill>
              </a:rPr>
              <a:t>例</a:t>
            </a:r>
            <a:r>
              <a:rPr lang="en-US" altLang="zh-CN" b="0" dirty="0" smtClean="0">
                <a:solidFill>
                  <a:srgbClr val="00B0F0"/>
                </a:solidFill>
              </a:rPr>
              <a:t>4.27  </a:t>
            </a:r>
            <a:r>
              <a:rPr lang="zh-CN" altLang="en-US" b="0" dirty="0"/>
              <a:t>判断下图中关系的性质</a:t>
            </a:r>
            <a:r>
              <a:rPr lang="en-US" altLang="zh-CN" b="0" dirty="0"/>
              <a:t>, </a:t>
            </a:r>
            <a:r>
              <a:rPr lang="zh-CN" altLang="en-US" b="0" dirty="0"/>
              <a:t>并说明理由</a:t>
            </a:r>
            <a:endParaRPr lang="en-US" altLang="zh-CN" b="0" dirty="0"/>
          </a:p>
          <a:p>
            <a:pPr algn="just" eaLnBrk="1" hangingPunct="1">
              <a:buFontTx/>
              <a:buNone/>
            </a:pPr>
            <a:endParaRPr lang="en-US" altLang="zh-CN" b="0" dirty="0"/>
          </a:p>
          <a:p>
            <a:pPr algn="just" eaLnBrk="1" hangingPunct="1">
              <a:buFontTx/>
              <a:buNone/>
            </a:pPr>
            <a:endParaRPr lang="en-US" altLang="zh-CN" b="0" dirty="0"/>
          </a:p>
          <a:p>
            <a:pPr algn="just" eaLnBrk="1" hangingPunct="1">
              <a:buFontTx/>
              <a:buNone/>
            </a:pPr>
            <a:endParaRPr lang="en-US" altLang="zh-CN" b="0" dirty="0"/>
          </a:p>
          <a:p>
            <a:pPr algn="just" eaLnBrk="1" hangingPunct="1">
              <a:buFontTx/>
              <a:buNone/>
            </a:pPr>
            <a:endParaRPr lang="en-US" altLang="zh-CN" b="0" dirty="0"/>
          </a:p>
          <a:p>
            <a:pPr algn="just" eaLnBrk="1" hangingPunct="1">
              <a:buFontTx/>
              <a:buNone/>
            </a:pPr>
            <a:endParaRPr lang="en-US" altLang="zh-CN" b="0" dirty="0"/>
          </a:p>
          <a:p>
            <a:pPr algn="just" eaLnBrk="1" hangingPunct="1">
              <a:buFontTx/>
              <a:buNone/>
            </a:pPr>
            <a:endParaRPr lang="en-US" altLang="zh-CN" b="0" dirty="0"/>
          </a:p>
          <a:p>
            <a:pPr algn="just" eaLnBrk="1" hangingPunct="1">
              <a:buNone/>
            </a:pPr>
            <a:r>
              <a:rPr lang="en-US" altLang="zh-CN" b="0" dirty="0"/>
              <a:t>(a)</a:t>
            </a:r>
            <a:r>
              <a:rPr lang="zh-CN" altLang="en-US" b="0" dirty="0"/>
              <a:t>不自反也不反自反；对称</a:t>
            </a:r>
            <a:r>
              <a:rPr lang="en-US" altLang="zh-CN" b="0" dirty="0"/>
              <a:t>, </a:t>
            </a:r>
            <a:r>
              <a:rPr lang="zh-CN" altLang="en-US" b="0" dirty="0"/>
              <a:t>不反对称；不传递</a:t>
            </a:r>
            <a:endParaRPr lang="en-US" altLang="zh-CN" b="0" dirty="0"/>
          </a:p>
          <a:p>
            <a:pPr marL="0" indent="0">
              <a:buNone/>
            </a:pPr>
            <a:r>
              <a:rPr lang="en-US" altLang="zh-CN" b="0" dirty="0"/>
              <a:t>(b)</a:t>
            </a:r>
            <a:r>
              <a:rPr lang="zh-CN" altLang="en-US" b="0" dirty="0"/>
              <a:t>反自反，不是自反的；反对称，不是对称的</a:t>
            </a:r>
            <a:r>
              <a:rPr lang="en-US" altLang="zh-CN" b="0" dirty="0"/>
              <a:t>,</a:t>
            </a:r>
            <a:r>
              <a:rPr lang="zh-CN" altLang="en-US" b="0" dirty="0"/>
              <a:t>是传递的</a:t>
            </a:r>
            <a:endParaRPr lang="en-US" altLang="zh-CN" b="0" dirty="0"/>
          </a:p>
          <a:p>
            <a:pPr algn="just" eaLnBrk="1" hangingPunct="1">
              <a:buNone/>
            </a:pPr>
            <a:r>
              <a:rPr lang="en-US" altLang="zh-CN" b="0" dirty="0"/>
              <a:t>(c)</a:t>
            </a:r>
            <a:r>
              <a:rPr lang="zh-CN" altLang="en-US" b="0" dirty="0"/>
              <a:t>自反，（</a:t>
            </a:r>
            <a:r>
              <a:rPr lang="zh-CN" altLang="en-US" dirty="0">
                <a:sym typeface="+mn-ea"/>
              </a:rPr>
              <a:t>不反自反</a:t>
            </a:r>
            <a:r>
              <a:rPr lang="zh-CN" altLang="en-US" b="0" dirty="0"/>
              <a:t>）；反对称，（</a:t>
            </a:r>
            <a:r>
              <a:rPr lang="zh-CN" altLang="en-US" dirty="0">
                <a:sym typeface="+mn-ea"/>
              </a:rPr>
              <a:t>不对称</a:t>
            </a:r>
            <a:r>
              <a:rPr lang="zh-CN" altLang="en-US" b="0" dirty="0"/>
              <a:t>）；不传递</a:t>
            </a:r>
            <a:endParaRPr lang="en-US" altLang="zh-CN" b="0" dirty="0"/>
          </a:p>
          <a:p>
            <a:pPr algn="just" eaLnBrk="1" hangingPunct="1">
              <a:buFontTx/>
              <a:buNone/>
            </a:pPr>
            <a:endParaRPr lang="zh-CN" altLang="en-US" b="0" dirty="0"/>
          </a:p>
        </p:txBody>
      </p:sp>
      <p:pic>
        <p:nvPicPr>
          <p:cNvPr id="5" name="Picture 9" descr="4T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4877" y="1829223"/>
            <a:ext cx="8041169" cy="2521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Rectangle 2"/>
          <p:cNvSpPr>
            <a:spLocks noGrp="1" noChangeArrowheads="1"/>
          </p:cNvSpPr>
          <p:nvPr>
            <p:ph type="title"/>
          </p:nvPr>
        </p:nvSpPr>
        <p:spPr/>
        <p:txBody>
          <a:bodyPr/>
          <a:lstStyle/>
          <a:p>
            <a:pPr eaLnBrk="1" hangingPunct="1"/>
            <a:r>
              <a:rPr lang="zh-CN" altLang="en-US" dirty="0"/>
              <a:t>例</a:t>
            </a:r>
            <a:r>
              <a:rPr lang="en-US" altLang="zh-CN" dirty="0"/>
              <a:t>4.24</a:t>
            </a:r>
            <a:endParaRPr lang="zh-CN" altLang="en-US" dirty="0"/>
          </a:p>
        </p:txBody>
      </p:sp>
      <p:sp>
        <p:nvSpPr>
          <p:cNvPr id="1568771" name="Rectangle 3"/>
          <p:cNvSpPr>
            <a:spLocks noGrp="1" noChangeArrowheads="1"/>
          </p:cNvSpPr>
          <p:nvPr>
            <p:ph type="body" idx="1"/>
          </p:nvPr>
        </p:nvSpPr>
        <p:spPr>
          <a:xfrm>
            <a:off x="231775" y="1067594"/>
            <a:ext cx="11658600" cy="4419600"/>
          </a:xfrm>
        </p:spPr>
        <p:txBody>
          <a:bodyPr/>
          <a:lstStyle/>
          <a:p>
            <a:pPr marL="0" indent="0">
              <a:lnSpc>
                <a:spcPct val="150000"/>
              </a:lnSpc>
              <a:spcBef>
                <a:spcPct val="0"/>
              </a:spcBef>
              <a:buNone/>
            </a:pPr>
            <a:r>
              <a:rPr lang="zh-CN" altLang="en-US" dirty="0">
                <a:solidFill>
                  <a:srgbClr val="C00000"/>
                </a:solidFill>
              </a:rPr>
              <a:t>例</a:t>
            </a:r>
            <a:r>
              <a:rPr lang="en-US" altLang="zh-CN" dirty="0">
                <a:solidFill>
                  <a:srgbClr val="C00000"/>
                </a:solidFill>
              </a:rPr>
              <a:t>4.24  </a:t>
            </a:r>
            <a:r>
              <a:rPr lang="zh-CN" altLang="en-US" dirty="0"/>
              <a:t>判定下列关系所具有的特殊性质。</a:t>
            </a:r>
            <a:endParaRPr lang="zh-CN" altLang="en-US" dirty="0"/>
          </a:p>
          <a:p>
            <a:pPr marL="0" indent="0">
              <a:lnSpc>
                <a:spcPct val="150000"/>
              </a:lnSpc>
              <a:spcBef>
                <a:spcPct val="0"/>
              </a:spcBef>
              <a:buNone/>
            </a:pPr>
            <a:r>
              <a:rPr lang="zh-CN" altLang="en-US" dirty="0"/>
              <a:t>（</a:t>
            </a:r>
            <a:r>
              <a:rPr lang="en-US" altLang="zh-CN" dirty="0"/>
              <a:t>1</a:t>
            </a:r>
            <a:r>
              <a:rPr lang="zh-CN" altLang="en-US" dirty="0"/>
              <a:t>）集合</a:t>
            </a:r>
            <a:r>
              <a:rPr lang="en-US" altLang="zh-CN" dirty="0"/>
              <a:t>A</a:t>
            </a:r>
            <a:r>
              <a:rPr lang="zh-CN" altLang="en-US" dirty="0"/>
              <a:t>上的</a:t>
            </a:r>
            <a:r>
              <a:rPr lang="zh-CN" altLang="en-US" dirty="0">
                <a:solidFill>
                  <a:srgbClr val="FF0000"/>
                </a:solidFill>
              </a:rPr>
              <a:t>全关系</a:t>
            </a:r>
            <a:r>
              <a:rPr lang="zh-CN" altLang="en-US" dirty="0"/>
              <a:t>。</a:t>
            </a:r>
            <a:endParaRPr lang="zh-CN" altLang="en-US" dirty="0"/>
          </a:p>
          <a:p>
            <a:pPr marL="0" indent="0">
              <a:lnSpc>
                <a:spcPct val="150000"/>
              </a:lnSpc>
              <a:spcBef>
                <a:spcPct val="0"/>
              </a:spcBef>
              <a:buNone/>
            </a:pPr>
            <a:r>
              <a:rPr lang="zh-CN" altLang="en-US" dirty="0"/>
              <a:t>（</a:t>
            </a:r>
            <a:r>
              <a:rPr lang="en-US" altLang="zh-CN" dirty="0"/>
              <a:t>2</a:t>
            </a:r>
            <a:r>
              <a:rPr lang="zh-CN" altLang="en-US" dirty="0"/>
              <a:t>）集合</a:t>
            </a:r>
            <a:r>
              <a:rPr lang="en-US" altLang="zh-CN" dirty="0"/>
              <a:t>A</a:t>
            </a:r>
            <a:r>
              <a:rPr lang="zh-CN" altLang="en-US" dirty="0"/>
              <a:t>上的</a:t>
            </a:r>
            <a:r>
              <a:rPr lang="zh-CN" altLang="en-US" dirty="0">
                <a:solidFill>
                  <a:srgbClr val="0000CC"/>
                </a:solidFill>
              </a:rPr>
              <a:t>空关系</a:t>
            </a:r>
            <a:r>
              <a:rPr lang="zh-CN" altLang="en-US" dirty="0"/>
              <a:t>。</a:t>
            </a:r>
            <a:endParaRPr lang="en-US" altLang="zh-CN" dirty="0"/>
          </a:p>
          <a:p>
            <a:pPr marL="0" indent="0">
              <a:lnSpc>
                <a:spcPct val="150000"/>
              </a:lnSpc>
              <a:spcBef>
                <a:spcPct val="0"/>
              </a:spcBef>
              <a:buNone/>
            </a:pPr>
            <a:r>
              <a:rPr lang="zh-CN" altLang="en-US" dirty="0"/>
              <a:t>（</a:t>
            </a:r>
            <a:r>
              <a:rPr lang="en-US" altLang="zh-CN" dirty="0"/>
              <a:t>3</a:t>
            </a:r>
            <a:r>
              <a:rPr lang="zh-CN" altLang="en-US" dirty="0"/>
              <a:t>）集合</a:t>
            </a:r>
            <a:r>
              <a:rPr lang="en-US" altLang="zh-CN" dirty="0"/>
              <a:t>A</a:t>
            </a:r>
            <a:r>
              <a:rPr lang="zh-CN" altLang="en-US" dirty="0"/>
              <a:t>上的</a:t>
            </a:r>
            <a:r>
              <a:rPr lang="zh-CN" altLang="en-US" dirty="0">
                <a:solidFill>
                  <a:srgbClr val="C00000"/>
                </a:solidFill>
              </a:rPr>
              <a:t>恒等关系</a:t>
            </a:r>
            <a:r>
              <a:rPr lang="zh-CN" altLang="en-US" dirty="0"/>
              <a:t>。</a:t>
            </a:r>
            <a:endParaRPr lang="zh-CN" altLang="en-US" dirty="0"/>
          </a:p>
          <a:p>
            <a:pPr marL="0" indent="0">
              <a:lnSpc>
                <a:spcPct val="150000"/>
              </a:lnSpc>
              <a:spcBef>
                <a:spcPct val="0"/>
              </a:spcBef>
              <a:buNone/>
            </a:pPr>
            <a:r>
              <a:rPr lang="zh-CN" altLang="en-US" dirty="0">
                <a:solidFill>
                  <a:srgbClr val="C00000"/>
                </a:solidFill>
              </a:rPr>
              <a:t>解    </a:t>
            </a:r>
            <a:r>
              <a:rPr lang="en-US" altLang="zh-CN" dirty="0"/>
              <a:t>(1)</a:t>
            </a:r>
            <a:r>
              <a:rPr lang="zh-CN" altLang="en-US" dirty="0"/>
              <a:t>集合</a:t>
            </a:r>
            <a:r>
              <a:rPr lang="en-US" altLang="zh-CN" dirty="0"/>
              <a:t>A</a:t>
            </a:r>
            <a:r>
              <a:rPr lang="zh-CN" altLang="en-US" dirty="0"/>
              <a:t>上的</a:t>
            </a:r>
            <a:r>
              <a:rPr lang="zh-CN" altLang="en-US" dirty="0">
                <a:solidFill>
                  <a:srgbClr val="0000CC"/>
                </a:solidFill>
              </a:rPr>
              <a:t>全关系具有自反性，对称性和传递性</a:t>
            </a:r>
            <a:r>
              <a:rPr lang="zh-CN" altLang="en-US" dirty="0"/>
              <a:t>。</a:t>
            </a:r>
            <a:endParaRPr lang="zh-CN" altLang="en-US" dirty="0"/>
          </a:p>
          <a:p>
            <a:pPr marL="0" indent="0">
              <a:lnSpc>
                <a:spcPct val="150000"/>
              </a:lnSpc>
              <a:spcBef>
                <a:spcPct val="0"/>
              </a:spcBef>
              <a:buNone/>
            </a:pPr>
            <a:r>
              <a:rPr lang="en-US" altLang="zh-CN" dirty="0"/>
              <a:t>(2)</a:t>
            </a:r>
            <a:r>
              <a:rPr lang="zh-CN" altLang="en-US" dirty="0"/>
              <a:t>集合</a:t>
            </a:r>
            <a:r>
              <a:rPr lang="en-US" altLang="zh-CN" dirty="0"/>
              <a:t>A</a:t>
            </a:r>
            <a:r>
              <a:rPr lang="zh-CN" altLang="en-US" dirty="0"/>
              <a:t>上的</a:t>
            </a:r>
            <a:r>
              <a:rPr lang="zh-CN" altLang="en-US" dirty="0">
                <a:solidFill>
                  <a:srgbClr val="FF0000"/>
                </a:solidFill>
              </a:rPr>
              <a:t>空关系具有反自反性、对称性、反对称性和传递性</a:t>
            </a:r>
            <a:r>
              <a:rPr lang="zh-CN" altLang="en-US" dirty="0"/>
              <a:t>。</a:t>
            </a:r>
            <a:endParaRPr lang="zh-CN" altLang="en-US" dirty="0"/>
          </a:p>
          <a:p>
            <a:pPr marL="0" indent="0">
              <a:lnSpc>
                <a:spcPct val="150000"/>
              </a:lnSpc>
              <a:spcBef>
                <a:spcPct val="0"/>
              </a:spcBef>
              <a:buNone/>
            </a:pPr>
            <a:r>
              <a:rPr lang="en-US" altLang="zh-CN" dirty="0"/>
              <a:t>(3)</a:t>
            </a:r>
            <a:r>
              <a:rPr lang="zh-CN" altLang="en-US" dirty="0"/>
              <a:t>集合</a:t>
            </a:r>
            <a:r>
              <a:rPr lang="en-US" altLang="zh-CN" dirty="0"/>
              <a:t>A</a:t>
            </a:r>
            <a:r>
              <a:rPr lang="zh-CN" altLang="en-US" dirty="0"/>
              <a:t>上的</a:t>
            </a:r>
            <a:r>
              <a:rPr lang="zh-CN" altLang="en-US" dirty="0">
                <a:solidFill>
                  <a:srgbClr val="0000CC"/>
                </a:solidFill>
              </a:rPr>
              <a:t>恒等关系具有自反性、对称性、反对称性和传递性</a:t>
            </a:r>
            <a:r>
              <a:rPr lang="zh-CN" altLang="en-US" dirty="0"/>
              <a:t>。</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68771">
                                            <p:txEl>
                                              <p:pRg st="4" end="4"/>
                                            </p:txEl>
                                          </p:spTgt>
                                        </p:tgtEl>
                                        <p:attrNameLst>
                                          <p:attrName>style.visibility</p:attrName>
                                        </p:attrNameLst>
                                      </p:cBhvr>
                                      <p:to>
                                        <p:strVal val="visible"/>
                                      </p:to>
                                    </p:set>
                                    <p:anim calcmode="lin" valueType="num">
                                      <p:cBhvr additive="base">
                                        <p:cTn id="7" dur="500" fill="hold"/>
                                        <p:tgtEl>
                                          <p:spTgt spid="156877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87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8771">
                                            <p:txEl>
                                              <p:pRg st="5" end="5"/>
                                            </p:txEl>
                                          </p:spTgt>
                                        </p:tgtEl>
                                        <p:attrNameLst>
                                          <p:attrName>style.visibility</p:attrName>
                                        </p:attrNameLst>
                                      </p:cBhvr>
                                      <p:to>
                                        <p:strVal val="visible"/>
                                      </p:to>
                                    </p:set>
                                    <p:anim calcmode="lin" valueType="num">
                                      <p:cBhvr additive="base">
                                        <p:cTn id="13" dur="500" fill="hold"/>
                                        <p:tgtEl>
                                          <p:spTgt spid="156877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87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8771">
                                            <p:txEl>
                                              <p:pRg st="6" end="6"/>
                                            </p:txEl>
                                          </p:spTgt>
                                        </p:tgtEl>
                                        <p:attrNameLst>
                                          <p:attrName>style.visibility</p:attrName>
                                        </p:attrNameLst>
                                      </p:cBhvr>
                                      <p:to>
                                        <p:strVal val="visible"/>
                                      </p:to>
                                    </p:set>
                                    <p:anim calcmode="lin" valueType="num">
                                      <p:cBhvr additive="base">
                                        <p:cTn id="19" dur="500" fill="hold"/>
                                        <p:tgtEl>
                                          <p:spTgt spid="156877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87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8771"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Rectangle 3"/>
          <p:cNvSpPr>
            <a:spLocks noGrp="1" noChangeArrowheads="1"/>
          </p:cNvSpPr>
          <p:nvPr>
            <p:ph type="title"/>
          </p:nvPr>
        </p:nvSpPr>
        <p:spPr/>
        <p:txBody>
          <a:bodyPr/>
          <a:lstStyle/>
          <a:p>
            <a:r>
              <a:rPr lang="zh-CN" altLang="en-US" dirty="0"/>
              <a:t>问题引入</a:t>
            </a:r>
            <a:endParaRPr lang="zh-CN" altLang="en-US" sz="4000" dirty="0"/>
          </a:p>
        </p:txBody>
      </p:sp>
      <p:sp>
        <p:nvSpPr>
          <p:cNvPr id="5" name="Rectangle 3"/>
          <p:cNvSpPr txBox="1">
            <a:spLocks noChangeArrowheads="1"/>
          </p:cNvSpPr>
          <p:nvPr/>
        </p:nvSpPr>
        <p:spPr>
          <a:xfrm>
            <a:off x="544217" y="1922173"/>
            <a:ext cx="11658600" cy="3015242"/>
          </a:xfrm>
          <a:prstGeom prst="rect">
            <a:avLst/>
          </a:prstGeom>
        </p:spPr>
        <p:txBody>
          <a:bodyPr vert="horz" lIns="121917" tIns="60958" rIns="121917" bIns="60958" rtlCol="0">
            <a:normAutofit fontScale="92500"/>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70000"/>
              </a:lnSpc>
              <a:spcBef>
                <a:spcPct val="0"/>
              </a:spcBef>
              <a:buFont typeface="Wingdings" panose="05000000000000000000" pitchFamily="2" charset="2"/>
              <a:buNone/>
            </a:pPr>
            <a:r>
              <a:rPr lang="zh-CN" altLang="en-US" dirty="0">
                <a:solidFill>
                  <a:srgbClr val="C00000"/>
                </a:solidFill>
              </a:rPr>
              <a:t>对例</a:t>
            </a:r>
            <a:r>
              <a:rPr lang="en-US" altLang="zh-CN" dirty="0">
                <a:solidFill>
                  <a:srgbClr val="C00000"/>
                </a:solidFill>
              </a:rPr>
              <a:t>4.24</a:t>
            </a:r>
            <a:r>
              <a:rPr lang="zh-CN" altLang="en-US" dirty="0">
                <a:solidFill>
                  <a:srgbClr val="C00000"/>
                </a:solidFill>
              </a:rPr>
              <a:t>中的关系</a:t>
            </a:r>
            <a:endParaRPr lang="en-US" altLang="zh-CN" dirty="0">
              <a:solidFill>
                <a:srgbClr val="C00000"/>
              </a:solidFill>
            </a:endParaRPr>
          </a:p>
          <a:p>
            <a:pPr marL="0" indent="0">
              <a:lnSpc>
                <a:spcPct val="170000"/>
              </a:lnSpc>
              <a:spcBef>
                <a:spcPct val="0"/>
              </a:spcBef>
              <a:buFont typeface="Wingdings" panose="05000000000000000000" pitchFamily="2" charset="2"/>
              <a:buNone/>
            </a:pPr>
            <a:r>
              <a:rPr lang="zh-CN" altLang="en-US" dirty="0"/>
              <a:t>（</a:t>
            </a:r>
            <a:r>
              <a:rPr lang="en-US" altLang="zh-CN" dirty="0"/>
              <a:t>1</a:t>
            </a:r>
            <a:r>
              <a:rPr lang="zh-CN" altLang="en-US" dirty="0"/>
              <a:t>）集合</a:t>
            </a:r>
            <a:r>
              <a:rPr lang="en-US" altLang="zh-CN" dirty="0"/>
              <a:t>A</a:t>
            </a:r>
            <a:r>
              <a:rPr lang="zh-CN" altLang="en-US" dirty="0"/>
              <a:t>上的全关系；</a:t>
            </a:r>
            <a:endParaRPr lang="zh-CN" altLang="en-US" dirty="0"/>
          </a:p>
          <a:p>
            <a:pPr marL="0" indent="0">
              <a:lnSpc>
                <a:spcPct val="170000"/>
              </a:lnSpc>
              <a:spcBef>
                <a:spcPct val="0"/>
              </a:spcBef>
              <a:buFont typeface="Wingdings" panose="05000000000000000000" pitchFamily="2" charset="2"/>
              <a:buNone/>
            </a:pPr>
            <a:r>
              <a:rPr lang="zh-CN" altLang="en-US" dirty="0"/>
              <a:t>（</a:t>
            </a:r>
            <a:r>
              <a:rPr lang="en-US" altLang="zh-CN" dirty="0"/>
              <a:t>2</a:t>
            </a:r>
            <a:r>
              <a:rPr lang="zh-CN" altLang="en-US" dirty="0"/>
              <a:t>）集合</a:t>
            </a:r>
            <a:r>
              <a:rPr lang="en-US" altLang="zh-CN" dirty="0"/>
              <a:t>A</a:t>
            </a:r>
            <a:r>
              <a:rPr lang="zh-CN" altLang="en-US" dirty="0"/>
              <a:t>上的空关系；</a:t>
            </a:r>
            <a:endParaRPr lang="zh-CN" altLang="en-US" dirty="0"/>
          </a:p>
          <a:p>
            <a:pPr marL="0" indent="0">
              <a:lnSpc>
                <a:spcPct val="170000"/>
              </a:lnSpc>
              <a:spcBef>
                <a:spcPct val="0"/>
              </a:spcBef>
              <a:buFont typeface="Wingdings" panose="05000000000000000000" pitchFamily="2" charset="2"/>
              <a:buNone/>
            </a:pPr>
            <a:r>
              <a:rPr lang="zh-CN" altLang="en-US" dirty="0"/>
              <a:t>（</a:t>
            </a:r>
            <a:r>
              <a:rPr lang="en-US" altLang="zh-CN" dirty="0"/>
              <a:t>3</a:t>
            </a:r>
            <a:r>
              <a:rPr lang="zh-CN" altLang="en-US" dirty="0"/>
              <a:t>）集合</a:t>
            </a:r>
            <a:r>
              <a:rPr lang="en-US" altLang="zh-CN" dirty="0"/>
              <a:t>A</a:t>
            </a:r>
            <a:r>
              <a:rPr lang="zh-CN" altLang="en-US" dirty="0"/>
              <a:t>上的恒等关系。</a:t>
            </a:r>
            <a:endParaRPr lang="en-US" altLang="zh-CN" dirty="0"/>
          </a:p>
          <a:p>
            <a:pPr marL="0" indent="0">
              <a:lnSpc>
                <a:spcPct val="170000"/>
              </a:lnSpc>
              <a:spcBef>
                <a:spcPct val="0"/>
              </a:spcBef>
              <a:buFont typeface="Wingdings" panose="05000000000000000000" pitchFamily="2" charset="2"/>
              <a:buNone/>
            </a:pPr>
            <a:r>
              <a:rPr lang="zh-CN" altLang="en-US" dirty="0">
                <a:solidFill>
                  <a:srgbClr val="3333FF"/>
                </a:solidFill>
              </a:rPr>
              <a:t>除了实例化的方法外，可以直接证明</a:t>
            </a:r>
            <a:endParaRPr lang="zh-CN" altLang="en-US" dirty="0">
              <a:solidFill>
                <a:srgbClr val="3333FF"/>
              </a:solidFill>
            </a:endParaRPr>
          </a:p>
        </p:txBody>
      </p:sp>
      <p:sp>
        <p:nvSpPr>
          <p:cNvPr id="8" name="爆炸形: 14 pt  7"/>
          <p:cNvSpPr/>
          <p:nvPr/>
        </p:nvSpPr>
        <p:spPr>
          <a:xfrm>
            <a:off x="5859920" y="2134394"/>
            <a:ext cx="6338430" cy="2143621"/>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b="1" dirty="0"/>
              <a:t>可用关系性质的定义直接证明</a:t>
            </a:r>
            <a:endParaRPr lang="zh-CN" altLang="en-US" b="1"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 calcmode="lin" valueType="num">
                                      <p:cBhvr additive="base">
                                        <p:cTn id="22"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80">
                                          <p:stCondLst>
                                            <p:cond delay="0"/>
                                          </p:stCondLst>
                                        </p:cTn>
                                        <p:tgtEl>
                                          <p:spTgt spid="8"/>
                                        </p:tgtEl>
                                      </p:cBhvr>
                                    </p:animEffect>
                                    <p:anim calcmode="lin" valueType="num">
                                      <p:cBhvr>
                                        <p:cTn id="35"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0" dur="26">
                                          <p:stCondLst>
                                            <p:cond delay="650"/>
                                          </p:stCondLst>
                                        </p:cTn>
                                        <p:tgtEl>
                                          <p:spTgt spid="8"/>
                                        </p:tgtEl>
                                      </p:cBhvr>
                                      <p:to x="100000" y="60000"/>
                                    </p:animScale>
                                    <p:animScale>
                                      <p:cBhvr>
                                        <p:cTn id="41" dur="166" decel="50000">
                                          <p:stCondLst>
                                            <p:cond delay="676"/>
                                          </p:stCondLst>
                                        </p:cTn>
                                        <p:tgtEl>
                                          <p:spTgt spid="8"/>
                                        </p:tgtEl>
                                      </p:cBhvr>
                                      <p:to x="100000" y="100000"/>
                                    </p:animScale>
                                    <p:animScale>
                                      <p:cBhvr>
                                        <p:cTn id="42" dur="26">
                                          <p:stCondLst>
                                            <p:cond delay="1312"/>
                                          </p:stCondLst>
                                        </p:cTn>
                                        <p:tgtEl>
                                          <p:spTgt spid="8"/>
                                        </p:tgtEl>
                                      </p:cBhvr>
                                      <p:to x="100000" y="80000"/>
                                    </p:animScale>
                                    <p:animScale>
                                      <p:cBhvr>
                                        <p:cTn id="43" dur="166" decel="50000">
                                          <p:stCondLst>
                                            <p:cond delay="1338"/>
                                          </p:stCondLst>
                                        </p:cTn>
                                        <p:tgtEl>
                                          <p:spTgt spid="8"/>
                                        </p:tgtEl>
                                      </p:cBhvr>
                                      <p:to x="100000" y="100000"/>
                                    </p:animScale>
                                    <p:animScale>
                                      <p:cBhvr>
                                        <p:cTn id="44" dur="26">
                                          <p:stCondLst>
                                            <p:cond delay="1642"/>
                                          </p:stCondLst>
                                        </p:cTn>
                                        <p:tgtEl>
                                          <p:spTgt spid="8"/>
                                        </p:tgtEl>
                                      </p:cBhvr>
                                      <p:to x="100000" y="90000"/>
                                    </p:animScale>
                                    <p:animScale>
                                      <p:cBhvr>
                                        <p:cTn id="45" dur="166" decel="50000">
                                          <p:stCondLst>
                                            <p:cond delay="1668"/>
                                          </p:stCondLst>
                                        </p:cTn>
                                        <p:tgtEl>
                                          <p:spTgt spid="8"/>
                                        </p:tgtEl>
                                      </p:cBhvr>
                                      <p:to x="100000" y="100000"/>
                                    </p:animScale>
                                    <p:animScale>
                                      <p:cBhvr>
                                        <p:cTn id="46" dur="26">
                                          <p:stCondLst>
                                            <p:cond delay="1808"/>
                                          </p:stCondLst>
                                        </p:cTn>
                                        <p:tgtEl>
                                          <p:spTgt spid="8"/>
                                        </p:tgtEl>
                                      </p:cBhvr>
                                      <p:to x="100000" y="95000"/>
                                    </p:animScale>
                                    <p:animScale>
                                      <p:cBhvr>
                                        <p:cTn id="47"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cs typeface="宋体" panose="02010600030101010101" pitchFamily="2" charset="-122"/>
              </a:rPr>
              <a:t>解题小贴士—关系性质的定义证明方法</a:t>
            </a:r>
            <a:endParaRPr lang="zh-CN" altLang="en-US" dirty="0"/>
          </a:p>
        </p:txBody>
      </p:sp>
      <mc:AlternateContent xmlns:mc="http://schemas.openxmlformats.org/markup-compatibility/2006">
        <mc:Choice xmlns:a14="http://schemas.microsoft.com/office/drawing/2010/main" Requires="a14">
          <p:sp>
            <p:nvSpPr>
              <p:cNvPr id="4" name="Text Box 556"/>
              <p:cNvSpPr txBox="1">
                <a:spLocks noChangeArrowheads="1"/>
              </p:cNvSpPr>
              <p:nvPr/>
            </p:nvSpPr>
            <p:spPr bwMode="auto">
              <a:xfrm>
                <a:off x="269875" y="1067594"/>
                <a:ext cx="11658600" cy="4953000"/>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是集合</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上的关系，则</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是自反的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en-US" altLang="zh-CN" b="1" dirty="0">
                    <a:solidFill>
                      <a:srgbClr val="C00000"/>
                    </a:solidFill>
                    <a:latin typeface="+mn-ea"/>
                  </a:rPr>
                  <a:t>∈A</a:t>
                </a:r>
                <a:r>
                  <a:rPr lang="en-US" b="1" kern="100" dirty="0">
                    <a:solidFill>
                      <a:srgbClr val="C00000"/>
                    </a:solidFill>
                    <a:effectLst/>
                    <a:latin typeface="+mn-ea"/>
                    <a:cs typeface="宋体" panose="02010600030101010101" pitchFamily="2" charset="-122"/>
                  </a:rPr>
                  <a:t> </a:t>
                </a:r>
                <a:r>
                  <a:rPr lang="zh-CN" b="1" kern="100" dirty="0">
                    <a:solidFill>
                      <a:srgbClr val="C00000"/>
                    </a:solidFill>
                    <a:effectLst/>
                    <a:latin typeface="+mn-ea"/>
                    <a:cs typeface="宋体" panose="02010600030101010101" pitchFamily="2" charset="-122"/>
                  </a:rPr>
                  <a:t>，一定有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x,x</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是反自反的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x,x</a:t>
                </a:r>
                <a:r>
                  <a:rPr lang="en-US" b="1" kern="100" dirty="0">
                    <a:effectLst/>
                    <a:latin typeface="+mn-ea"/>
                    <a:cs typeface="宋体" panose="02010600030101010101" pitchFamily="2" charset="-122"/>
                  </a:rPr>
                  <a:t>&gt;</a:t>
                </a:r>
                <a14:m>
                  <m:oMath xmlns:m="http://schemas.openxmlformats.org/officeDocument/2006/math">
                    <m:r>
                      <a:rPr lang="en-US" b="1" i="1" kern="100" smtClean="0">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effectLst/>
                    <a:latin typeface="+mn-ea"/>
                    <a:cs typeface="宋体" panose="02010600030101010101" pitchFamily="2" charset="-122"/>
                  </a:rPr>
                  <a:t>R)=1</a:t>
                </a: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en-US" altLang="zh-CN" b="1" dirty="0">
                    <a:solidFill>
                      <a:srgbClr val="C00000"/>
                    </a:solidFill>
                    <a:latin typeface="+mn-ea"/>
                  </a:rPr>
                  <a:t>∈A</a:t>
                </a:r>
                <a:r>
                  <a:rPr lang="en-US" b="1" kern="100" dirty="0">
                    <a:solidFill>
                      <a:srgbClr val="C00000"/>
                    </a:solidFill>
                    <a:effectLst/>
                    <a:latin typeface="+mn-ea"/>
                    <a:cs typeface="宋体" panose="02010600030101010101" pitchFamily="2" charset="-122"/>
                  </a:rPr>
                  <a:t> </a:t>
                </a:r>
                <a:r>
                  <a:rPr lang="zh-CN" b="1" kern="100" dirty="0">
                    <a:solidFill>
                      <a:srgbClr val="C00000"/>
                    </a:solidFill>
                    <a:effectLst/>
                    <a:latin typeface="+mn-ea"/>
                    <a:cs typeface="宋体" panose="02010600030101010101" pitchFamily="2" charset="-122"/>
                  </a:rPr>
                  <a:t>，一定有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x,x</a:t>
                </a:r>
                <a:r>
                  <a:rPr lang="en-US" b="1" kern="100" dirty="0">
                    <a:solidFill>
                      <a:srgbClr val="C00000"/>
                    </a:solidFill>
                    <a:effectLst/>
                    <a:latin typeface="+mn-ea"/>
                    <a:cs typeface="宋体" panose="02010600030101010101" pitchFamily="2" charset="-122"/>
                  </a:rPr>
                  <a:t>&gt;</a:t>
                </a:r>
                <a14:m>
                  <m:oMath xmlns:m="http://schemas.openxmlformats.org/officeDocument/2006/math">
                    <m:r>
                      <a:rPr lang="en-US" b="1" i="1" kern="100" smtClean="0">
                        <a:solidFill>
                          <a:srgbClr val="C00000"/>
                        </a:solidFill>
                        <a:effectLst/>
                        <a:latin typeface="Cambria Math" panose="02040503050406030204" pitchFamily="18" charset="0"/>
                        <a:ea typeface="Cambria Math" panose="02040503050406030204" pitchFamily="18" charset="0"/>
                        <a:cs typeface="宋体" panose="02010600030101010101" pitchFamily="2" charset="-122"/>
                      </a:rPr>
                      <m:t>∉</m:t>
                    </m:r>
                  </m:oMath>
                </a14:m>
                <a:r>
                  <a:rPr lang="en-US" b="1" kern="100" dirty="0">
                    <a:solidFill>
                      <a:srgbClr val="C00000"/>
                    </a:solidFill>
                    <a:effectLst/>
                    <a:latin typeface="+mn-ea"/>
                    <a:cs typeface="宋体" panose="02010600030101010101" pitchFamily="2" charset="-122"/>
                  </a:rPr>
                  <a:t>R</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是对称的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100" dirty="0">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endParaRPr lang="zh-CN" b="1" kern="100" dirty="0">
                  <a:effectLst/>
                  <a:latin typeface="+mn-ea"/>
                  <a:cs typeface="宋体" panose="02010600030101010101" pitchFamily="2" charset="-122"/>
                </a:endParaRPr>
              </a:p>
              <a:p>
                <a:pPr marL="800100" indent="266700" algn="just">
                  <a:lnSpc>
                    <a:spcPct val="150000"/>
                  </a:lnSpc>
                  <a:spcAft>
                    <a:spcPts val="0"/>
                  </a:spcAft>
                </a:pP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es-ES" altLang="zh-CN" b="1" dirty="0">
                    <a:solidFill>
                      <a:srgbClr val="C00000"/>
                    </a:solidFill>
                    <a:ea typeface="Cambria Math" panose="02040503050406030204" pitchFamily="18" charset="0"/>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0" dirty="0">
                    <a:solidFill>
                      <a:srgbClr val="C00000"/>
                    </a:solidFill>
                    <a:effectLst/>
                    <a:latin typeface="+mn-ea"/>
                    <a:cs typeface="宋体" panose="02010600030101010101" pitchFamily="2" charset="-122"/>
                  </a:rPr>
                  <a:t>y</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，如果</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x,y</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，则一定有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y,x</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endParaRPr lang="zh-CN" b="1" kern="100" dirty="0">
                  <a:solidFill>
                    <a:srgbClr val="C00000"/>
                  </a:solidFill>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是反对称的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r>
                  <a:rPr lang="es-ES" altLang="zh-CN" b="1" dirty="0">
                    <a:ea typeface="Cambria Math" panose="02040503050406030204" pitchFamily="18" charset="0"/>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y,x</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100" dirty="0">
                    <a:latin typeface="+mn-ea"/>
                    <a:cs typeface="宋体" panose="02010600030101010101" pitchFamily="2" charset="-122"/>
                  </a:rPr>
                  <a:t> →</a:t>
                </a:r>
                <a:r>
                  <a:rPr lang="en-US" b="1" kern="100" dirty="0">
                    <a:effectLst/>
                    <a:latin typeface="+mn-ea"/>
                    <a:cs typeface="宋体" panose="02010600030101010101" pitchFamily="2" charset="-122"/>
                  </a:rPr>
                  <a:t> x=y)=1</a:t>
                </a:r>
                <a:endParaRPr lang="zh-CN" b="1" kern="100" dirty="0">
                  <a:effectLst/>
                  <a:latin typeface="+mn-ea"/>
                  <a:cs typeface="宋体" panose="02010600030101010101" pitchFamily="2" charset="-122"/>
                </a:endParaRPr>
              </a:p>
              <a:p>
                <a:pPr marL="1066800" indent="133985" algn="just">
                  <a:lnSpc>
                    <a:spcPct val="150000"/>
                  </a:lnSpc>
                  <a:spcAft>
                    <a:spcPts val="0"/>
                  </a:spcAft>
                </a:pP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r>
                  <a:rPr lang="en-US" b="1" kern="100" dirty="0">
                    <a:solidFill>
                      <a:srgbClr val="C00000"/>
                    </a:solidFill>
                    <a:effectLst/>
                    <a:latin typeface="+mn-ea"/>
                    <a:cs typeface="宋体" panose="02010600030101010101" pitchFamily="2" charset="-122"/>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0" dirty="0">
                    <a:solidFill>
                      <a:srgbClr val="C00000"/>
                    </a:solidFill>
                    <a:effectLst/>
                    <a:latin typeface="+mn-ea"/>
                    <a:cs typeface="宋体" panose="02010600030101010101" pitchFamily="2" charset="-122"/>
                  </a:rPr>
                  <a:t>y</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，如果</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x,y</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且</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y,x</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，则一定有</a:t>
                </a:r>
                <a:r>
                  <a:rPr lang="en-US" b="1" kern="100" dirty="0">
                    <a:solidFill>
                      <a:srgbClr val="C00000"/>
                    </a:solidFill>
                    <a:effectLst/>
                    <a:latin typeface="+mn-ea"/>
                    <a:cs typeface="宋体" panose="02010600030101010101" pitchFamily="2" charset="-122"/>
                  </a:rPr>
                  <a:t>x=y</a:t>
                </a:r>
                <a:endParaRPr lang="zh-CN" b="1" kern="100" dirty="0">
                  <a:effectLst/>
                  <a:latin typeface="+mn-ea"/>
                  <a:cs typeface="宋体" panose="02010600030101010101" pitchFamily="2" charset="-122"/>
                </a:endParaRPr>
              </a:p>
              <a:p>
                <a:pPr indent="266700" algn="just">
                  <a:lnSpc>
                    <a:spcPct val="150000"/>
                  </a:lnSpc>
                  <a:spcAft>
                    <a:spcPts val="0"/>
                  </a:spcAft>
                </a:pP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是传递的</a:t>
                </a:r>
                <a:r>
                  <a:rPr lang="en-US" b="1" kern="100" dirty="0">
                    <a:effectLst/>
                    <a:latin typeface="+mn-ea"/>
                    <a:cs typeface="宋体" panose="02010600030101010101" pitchFamily="2" charset="-122"/>
                    <a:sym typeface="Symbol" panose="05050102010706020507" pitchFamily="18" charset="2"/>
                  </a:rPr>
                  <a:t></a:t>
                </a:r>
                <a:r>
                  <a:rPr lang="en-US" b="1" kern="100" dirty="0">
                    <a:effectLst/>
                    <a:latin typeface="+mn-ea"/>
                    <a:cs typeface="宋体" panose="02010600030101010101" pitchFamily="2" charset="-122"/>
                  </a:rPr>
                  <a:t> </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x</a:t>
                </a:r>
                <a14:m>
                  <m:oMath xmlns:m="http://schemas.openxmlformats.org/officeDocument/2006/math">
                    <m:r>
                      <a:rPr lang="es-ES" altLang="zh-CN" b="1" i="1" smtClean="0">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y</a:t>
                </a:r>
                <a14:m>
                  <m:oMath xmlns:m="http://schemas.openxmlformats.org/officeDocument/2006/math">
                    <m:r>
                      <a:rPr lang="es-ES" altLang="zh-CN" b="1" i="1" smtClean="0">
                        <a:latin typeface="Cambria Math" panose="02040503050406030204" pitchFamily="18" charset="0"/>
                        <a:ea typeface="Cambria Math" panose="02040503050406030204" pitchFamily="18" charset="0"/>
                      </a:rPr>
                      <m:t>∀</m:t>
                    </m:r>
                  </m:oMath>
                </a14:m>
                <a:r>
                  <a:rPr lang="en-US" b="1" kern="100" dirty="0">
                    <a:effectLst/>
                    <a:latin typeface="+mn-ea"/>
                    <a:cs typeface="宋体" panose="02010600030101010101" pitchFamily="2" charset="-122"/>
                  </a:rPr>
                  <a:t>z(x</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y</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z</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A</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x,y</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b="1" kern="0" dirty="0">
                    <a:effectLst/>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y,z</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a:t>
                </a:r>
                <a:r>
                  <a:rPr lang="zh-CN" altLang="zh-CN" b="1" kern="100" dirty="0">
                    <a:latin typeface="+mn-ea"/>
                    <a:cs typeface="宋体" panose="02010600030101010101" pitchFamily="2" charset="-122"/>
                  </a:rPr>
                  <a:t>→</a:t>
                </a:r>
                <a:r>
                  <a:rPr lang="en-US" b="1" kern="100" dirty="0">
                    <a:effectLst/>
                    <a:latin typeface="+mn-ea"/>
                    <a:cs typeface="宋体" panose="02010600030101010101" pitchFamily="2" charset="-122"/>
                  </a:rPr>
                  <a:t>&lt;</a:t>
                </a:r>
                <a:r>
                  <a:rPr lang="en-US" b="1" kern="100" dirty="0" err="1">
                    <a:effectLst/>
                    <a:latin typeface="+mn-ea"/>
                    <a:cs typeface="宋体" panose="02010600030101010101" pitchFamily="2" charset="-122"/>
                  </a:rPr>
                  <a:t>x,z</a:t>
                </a:r>
                <a:r>
                  <a:rPr lang="en-US" b="1" kern="100" dirty="0">
                    <a:effectLst/>
                    <a:latin typeface="+mn-ea"/>
                    <a:cs typeface="宋体" panose="02010600030101010101" pitchFamily="2" charset="-122"/>
                  </a:rPr>
                  <a:t>&gt;</a:t>
                </a: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R)=1</a:t>
                </a:r>
                <a:endParaRPr lang="zh-CN" b="1" kern="100" dirty="0">
                  <a:effectLst/>
                  <a:latin typeface="+mn-ea"/>
                  <a:cs typeface="宋体" panose="02010600030101010101" pitchFamily="2" charset="-122"/>
                </a:endParaRPr>
              </a:p>
              <a:p>
                <a:pPr marL="266700" indent="401320" algn="just">
                  <a:lnSpc>
                    <a:spcPct val="150000"/>
                  </a:lnSpc>
                  <a:spcAft>
                    <a:spcPts val="0"/>
                  </a:spcAft>
                </a:pPr>
                <a:r>
                  <a:rPr lang="en-US" b="1" kern="100" dirty="0">
                    <a:effectLst/>
                    <a:latin typeface="+mn-ea"/>
                    <a:cs typeface="宋体" panose="02010600030101010101" pitchFamily="2" charset="-122"/>
                    <a:sym typeface="Symbol" panose="05050102010706020507" pitchFamily="18" charset="2"/>
                  </a:rPr>
                  <a:t></a:t>
                </a:r>
                <a:r>
                  <a:rPr lang="zh-CN" b="1" kern="100" dirty="0">
                    <a:solidFill>
                      <a:srgbClr val="C00000"/>
                    </a:solidFill>
                    <a:effectLst/>
                    <a:latin typeface="+mn-ea"/>
                    <a:cs typeface="宋体" panose="02010600030101010101" pitchFamily="2" charset="-122"/>
                  </a:rPr>
                  <a:t>对</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x</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en-US" b="1" kern="100" dirty="0">
                    <a:solidFill>
                      <a:srgbClr val="C00000"/>
                    </a:solidFill>
                    <a:latin typeface="+mn-ea"/>
                    <a:cs typeface="宋体" panose="02010600030101010101" pitchFamily="2" charset="-122"/>
                  </a:rPr>
                  <a:t>,</a:t>
                </a:r>
                <a:r>
                  <a:rPr lang="es-ES" altLang="zh-CN" b="1" dirty="0">
                    <a:solidFill>
                      <a:srgbClr val="C00000"/>
                    </a:solidFill>
                    <a:ea typeface="Cambria Math" panose="02040503050406030204" pitchFamily="18" charset="0"/>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0" dirty="0">
                    <a:solidFill>
                      <a:srgbClr val="C00000"/>
                    </a:solidFill>
                    <a:effectLst/>
                    <a:latin typeface="+mn-ea"/>
                    <a:cs typeface="宋体" panose="02010600030101010101" pitchFamily="2" charset="-122"/>
                  </a:rPr>
                  <a:t>y</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es-ES" altLang="zh-CN" b="1" dirty="0">
                    <a:solidFill>
                      <a:srgbClr val="C00000"/>
                    </a:solidFill>
                    <a:ea typeface="Cambria Math" panose="02040503050406030204" pitchFamily="18" charset="0"/>
                  </a:rPr>
                  <a:t> </a:t>
                </a:r>
                <a14:m>
                  <m:oMath xmlns:m="http://schemas.openxmlformats.org/officeDocument/2006/math">
                    <m:r>
                      <a:rPr lang="es-ES" altLang="zh-CN" b="1" i="1">
                        <a:solidFill>
                          <a:srgbClr val="C00000"/>
                        </a:solidFill>
                        <a:latin typeface="Cambria Math" panose="02040503050406030204" pitchFamily="18" charset="0"/>
                        <a:ea typeface="Cambria Math" panose="02040503050406030204" pitchFamily="18" charset="0"/>
                      </a:rPr>
                      <m:t>∀</m:t>
                    </m:r>
                  </m:oMath>
                </a14:m>
                <a:r>
                  <a:rPr lang="en-US" b="1" kern="100" dirty="0">
                    <a:solidFill>
                      <a:srgbClr val="C00000"/>
                    </a:solidFill>
                    <a:effectLst/>
                    <a:latin typeface="+mn-ea"/>
                    <a:cs typeface="宋体" panose="02010600030101010101" pitchFamily="2" charset="-122"/>
                  </a:rPr>
                  <a:t>z</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A</a:t>
                </a:r>
                <a:r>
                  <a:rPr lang="zh-CN" b="1" kern="100" dirty="0">
                    <a:solidFill>
                      <a:srgbClr val="C00000"/>
                    </a:solidFill>
                    <a:effectLst/>
                    <a:latin typeface="+mn-ea"/>
                    <a:cs typeface="宋体" panose="02010600030101010101" pitchFamily="2" charset="-122"/>
                  </a:rPr>
                  <a:t>，如果</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x,y</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且</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y,z</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，则一定有</a:t>
                </a:r>
                <a:r>
                  <a:rPr lang="en-US" b="1" kern="100" dirty="0">
                    <a:solidFill>
                      <a:srgbClr val="C00000"/>
                    </a:solidFill>
                    <a:effectLst/>
                    <a:latin typeface="+mn-ea"/>
                    <a:cs typeface="宋体" panose="02010600030101010101" pitchFamily="2" charset="-122"/>
                  </a:rPr>
                  <a:t>&lt;</a:t>
                </a:r>
                <a:r>
                  <a:rPr lang="en-US" b="1" kern="100" dirty="0" err="1">
                    <a:solidFill>
                      <a:srgbClr val="C00000"/>
                    </a:solidFill>
                    <a:effectLst/>
                    <a:latin typeface="+mn-ea"/>
                    <a:cs typeface="宋体" panose="02010600030101010101" pitchFamily="2" charset="-122"/>
                  </a:rPr>
                  <a:t>x,z</a:t>
                </a:r>
                <a:r>
                  <a:rPr lang="en-US" b="1" kern="100" dirty="0">
                    <a:solidFill>
                      <a:srgbClr val="C00000"/>
                    </a:solidFill>
                    <a:effectLst/>
                    <a:latin typeface="+mn-ea"/>
                    <a:cs typeface="宋体" panose="02010600030101010101" pitchFamily="2" charset="-122"/>
                  </a:rPr>
                  <a:t>&gt;</a:t>
                </a:r>
                <a:r>
                  <a:rPr lang="zh-CN" b="1" kern="100" dirty="0">
                    <a:solidFill>
                      <a:srgbClr val="C00000"/>
                    </a:solidFill>
                    <a:effectLst/>
                    <a:latin typeface="+mn-ea"/>
                    <a:cs typeface="宋体" panose="02010600030101010101" pitchFamily="2" charset="-122"/>
                  </a:rPr>
                  <a:t>∈</a:t>
                </a:r>
                <a:r>
                  <a:rPr lang="en-US" b="1" kern="100" dirty="0">
                    <a:solidFill>
                      <a:srgbClr val="C00000"/>
                    </a:solidFill>
                    <a:effectLst/>
                    <a:latin typeface="+mn-ea"/>
                    <a:cs typeface="宋体" panose="02010600030101010101" pitchFamily="2" charset="-122"/>
                  </a:rPr>
                  <a:t>R</a:t>
                </a:r>
                <a:endParaRPr lang="zh-CN" b="1" kern="100" dirty="0">
                  <a:effectLst/>
                  <a:latin typeface="+mn-ea"/>
                  <a:cs typeface="宋体" panose="02010600030101010101" pitchFamily="2" charset="-122"/>
                </a:endParaRPr>
              </a:p>
            </p:txBody>
          </p:sp>
        </mc:Choice>
        <mc:Fallback>
          <p:sp>
            <p:nvSpPr>
              <p:cNvPr id="4" name="Text Box 556"/>
              <p:cNvSpPr txBox="1">
                <a:spLocks noRot="1" noChangeAspect="1" noMove="1" noResize="1" noEditPoints="1" noAdjustHandles="1" noChangeArrowheads="1" noChangeShapeType="1" noTextEdit="1"/>
              </p:cNvSpPr>
              <p:nvPr/>
            </p:nvSpPr>
            <p:spPr bwMode="auto">
              <a:xfrm>
                <a:off x="269875" y="1067594"/>
                <a:ext cx="11658600" cy="4953000"/>
              </a:xfrm>
              <a:prstGeom prst="rect">
                <a:avLst/>
              </a:prstGeom>
              <a:blipFill rotWithShape="1">
                <a:blip r:embed="rId1"/>
                <a:stretch>
                  <a:fillRect l="-44" t="-106" r="-38" b="-612"/>
                </a:stretch>
              </a:blipFill>
              <a:ln w="9525">
                <a:solidFill>
                  <a:srgbClr val="000000"/>
                </a:solidFill>
                <a:miter lim="800000"/>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a:t>
            </a:r>
            <a:r>
              <a:rPr lang="en-US" altLang="zh-CN" dirty="0"/>
              <a:t>4.27</a:t>
            </a:r>
            <a:endParaRPr lang="zh-CN" altLang="en-US" dirty="0"/>
          </a:p>
        </p:txBody>
      </p:sp>
      <p:sp>
        <p:nvSpPr>
          <p:cNvPr id="3" name="内容占位符 2"/>
          <p:cNvSpPr>
            <a:spLocks noGrp="1"/>
          </p:cNvSpPr>
          <p:nvPr>
            <p:ph idx="1"/>
          </p:nvPr>
        </p:nvSpPr>
        <p:spPr>
          <a:xfrm>
            <a:off x="307975" y="1143794"/>
            <a:ext cx="11506200" cy="685800"/>
          </a:xfrm>
        </p:spPr>
        <p:txBody>
          <a:bodyPr/>
          <a:lstStyle/>
          <a:p>
            <a:pPr marL="0" indent="0">
              <a:buNone/>
            </a:pPr>
            <a:r>
              <a:rPr lang="zh-CN" altLang="en-US" dirty="0">
                <a:solidFill>
                  <a:srgbClr val="C00000"/>
                </a:solidFill>
              </a:rPr>
              <a:t>例</a:t>
            </a:r>
            <a:r>
              <a:rPr lang="en-US" altLang="zh-CN" dirty="0">
                <a:solidFill>
                  <a:srgbClr val="C00000"/>
                </a:solidFill>
              </a:rPr>
              <a:t>4.27  </a:t>
            </a:r>
            <a:r>
              <a:rPr lang="zh-CN" altLang="en-US" dirty="0"/>
              <a:t>设</a:t>
            </a:r>
            <a:r>
              <a:rPr lang="en-US" altLang="zh-CN" dirty="0"/>
              <a:t>R</a:t>
            </a:r>
            <a:r>
              <a:rPr lang="zh-CN" altLang="en-US" dirty="0"/>
              <a:t>集合</a:t>
            </a:r>
            <a:r>
              <a:rPr lang="en-US" altLang="zh-CN" dirty="0"/>
              <a:t>A</a:t>
            </a:r>
            <a:r>
              <a:rPr lang="zh-CN" altLang="en-US" dirty="0"/>
              <a:t>上的恒等关系，证明</a:t>
            </a:r>
            <a:r>
              <a:rPr lang="en-US" altLang="zh-CN" dirty="0"/>
              <a:t>R</a:t>
            </a:r>
            <a:r>
              <a:rPr lang="zh-CN" altLang="en-US" dirty="0"/>
              <a:t>具有自反性、对称性、反对称性和传递性。</a:t>
            </a:r>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392112" y="1848469"/>
                <a:ext cx="11650663" cy="3905043"/>
              </a:xfrm>
              <a:prstGeom prst="rect">
                <a:avLst/>
              </a:prstGeom>
            </p:spPr>
            <p:txBody>
              <a:bodyPr wrap="square">
                <a:spAutoFit/>
              </a:bodyPr>
              <a:lstStyle/>
              <a:p>
                <a:pPr>
                  <a:lnSpc>
                    <a:spcPct val="150000"/>
                  </a:lnSpc>
                </a:pPr>
                <a:r>
                  <a:rPr lang="zh-CN" altLang="en-US" b="1" dirty="0">
                    <a:solidFill>
                      <a:srgbClr val="C00000"/>
                    </a:solidFill>
                    <a:latin typeface="+mn-ea"/>
                  </a:rPr>
                  <a:t>证明</a:t>
                </a:r>
                <a:r>
                  <a:rPr lang="zh-CN" altLang="en-US" b="1" dirty="0">
                    <a:latin typeface="+mn-ea"/>
                  </a:rPr>
                  <a:t>   因为</a:t>
                </a:r>
                <a:r>
                  <a:rPr lang="en-US" altLang="zh-CN" b="1" dirty="0">
                    <a:latin typeface="+mn-ea"/>
                  </a:rPr>
                  <a:t>R</a:t>
                </a:r>
                <a:r>
                  <a:rPr lang="zh-CN" altLang="en-US" b="1" dirty="0">
                    <a:latin typeface="+mn-ea"/>
                  </a:rPr>
                  <a:t>是</a:t>
                </a:r>
                <a:r>
                  <a:rPr lang="en-US" altLang="zh-CN" b="1" dirty="0">
                    <a:latin typeface="+mn-ea"/>
                  </a:rPr>
                  <a:t>A</a:t>
                </a:r>
                <a:r>
                  <a:rPr lang="zh-CN" altLang="en-US" b="1" dirty="0">
                    <a:latin typeface="+mn-ea"/>
                  </a:rPr>
                  <a:t>上的恒等关系，即</a:t>
                </a:r>
                <a:r>
                  <a:rPr lang="en-US" altLang="zh-CN" b="1" dirty="0">
                    <a:latin typeface="+mn-ea"/>
                  </a:rPr>
                  <a:t>R</a:t>
                </a:r>
                <a:r>
                  <a:rPr lang="zh-CN" altLang="en-US" b="1" dirty="0">
                    <a:latin typeface="+mn-ea"/>
                  </a:rPr>
                  <a:t>＝</a:t>
                </a:r>
                <a:r>
                  <a:rPr lang="en-US" altLang="zh-CN" b="1" dirty="0">
                    <a:latin typeface="+mn-ea"/>
                  </a:rPr>
                  <a:t>{&lt;</a:t>
                </a:r>
                <a:r>
                  <a:rPr lang="en-US" altLang="zh-CN" b="1" dirty="0" err="1">
                    <a:latin typeface="+mn-ea"/>
                  </a:rPr>
                  <a:t>x,x</a:t>
                </a:r>
                <a:r>
                  <a:rPr lang="en-US" altLang="zh-CN" b="1" dirty="0">
                    <a:latin typeface="+mn-ea"/>
                  </a:rPr>
                  <a:t>&gt;|</a:t>
                </a:r>
                <a:r>
                  <a:rPr lang="en-US" altLang="zh-CN" b="1" dirty="0" err="1">
                    <a:latin typeface="+mn-ea"/>
                  </a:rPr>
                  <a:t>x∈A</a:t>
                </a:r>
                <a:r>
                  <a:rPr lang="en-US" altLang="zh-CN" b="1" dirty="0">
                    <a:latin typeface="+mn-ea"/>
                  </a:rPr>
                  <a:t>}</a:t>
                </a:r>
                <a:r>
                  <a:rPr lang="zh-CN" altLang="en-US" b="1" dirty="0">
                    <a:latin typeface="+mn-ea"/>
                  </a:rPr>
                  <a:t>，从而有</a:t>
                </a:r>
                <a:endParaRPr lang="zh-CN" altLang="en-US" b="1" dirty="0">
                  <a:latin typeface="+mn-ea"/>
                </a:endParaRPr>
              </a:p>
              <a:p>
                <a:pPr>
                  <a:lnSpc>
                    <a:spcPct val="150000"/>
                  </a:lnSpc>
                </a:pPr>
                <a:r>
                  <a:rPr lang="zh-CN" altLang="en-US" b="1" dirty="0">
                    <a:latin typeface="+mn-ea"/>
                  </a:rPr>
                  <a:t>（</a:t>
                </a:r>
                <a:r>
                  <a:rPr lang="en-US" altLang="zh-CN" b="1" dirty="0">
                    <a:latin typeface="+mn-ea"/>
                  </a:rPr>
                  <a:t>1</a:t>
                </a:r>
                <a:r>
                  <a:rPr lang="zh-CN" altLang="en-US" b="1" dirty="0">
                    <a:latin typeface="+mn-ea"/>
                  </a:rPr>
                  <a:t>）对</a:t>
                </a:r>
                <a14:m>
                  <m:oMath xmlns:m="http://schemas.openxmlformats.org/officeDocument/2006/math">
                    <m:r>
                      <a:rPr lang="es-ES" altLang="zh-CN" b="1" i="1">
                        <a:latin typeface="Cambria Math" panose="02040503050406030204" pitchFamily="18" charset="0"/>
                        <a:ea typeface="Cambria Math" panose="02040503050406030204" pitchFamily="18" charset="0"/>
                      </a:rPr>
                      <m:t>∀</m:t>
                    </m:r>
                  </m:oMath>
                </a14:m>
                <a:r>
                  <a:rPr lang="en-US" altLang="zh-CN" b="1" dirty="0">
                    <a:latin typeface="+mn-ea"/>
                  </a:rPr>
                  <a:t>x∈A </a:t>
                </a:r>
                <a:r>
                  <a:rPr lang="zh-CN" altLang="en-US" b="1" dirty="0">
                    <a:latin typeface="+mn-ea"/>
                  </a:rPr>
                  <a:t>，都有</a:t>
                </a:r>
                <a:r>
                  <a:rPr lang="en-US" altLang="zh-CN" b="1" dirty="0">
                    <a:latin typeface="+mn-ea"/>
                  </a:rPr>
                  <a:t>&lt;</a:t>
                </a:r>
                <a:r>
                  <a:rPr lang="en-US" altLang="zh-CN" b="1" dirty="0" err="1">
                    <a:latin typeface="+mn-ea"/>
                  </a:rPr>
                  <a:t>x,x</a:t>
                </a:r>
                <a:r>
                  <a:rPr lang="en-US" altLang="zh-CN" b="1" dirty="0">
                    <a:latin typeface="+mn-ea"/>
                  </a:rPr>
                  <a:t>&gt;∈R</a:t>
                </a:r>
                <a:r>
                  <a:rPr lang="zh-CN" altLang="en-US" b="1" dirty="0">
                    <a:latin typeface="+mn-ea"/>
                  </a:rPr>
                  <a:t>，</a:t>
                </a:r>
                <a:r>
                  <a:rPr lang="zh-CN" altLang="en-US" b="1" dirty="0">
                    <a:solidFill>
                      <a:srgbClr val="3333FF"/>
                    </a:solidFill>
                    <a:latin typeface="+mn-ea"/>
                  </a:rPr>
                  <a:t>即</a:t>
                </a:r>
                <a:r>
                  <a:rPr lang="en-US" altLang="zh-CN" b="1" dirty="0">
                    <a:solidFill>
                      <a:srgbClr val="3333FF"/>
                    </a:solidFill>
                    <a:latin typeface="+mn-ea"/>
                  </a:rPr>
                  <a:t>R</a:t>
                </a:r>
                <a:r>
                  <a:rPr lang="zh-CN" altLang="en-US" b="1" dirty="0">
                    <a:solidFill>
                      <a:srgbClr val="3333FF"/>
                    </a:solidFill>
                    <a:latin typeface="+mn-ea"/>
                  </a:rPr>
                  <a:t>是自反的</a:t>
                </a:r>
                <a:r>
                  <a:rPr lang="zh-CN" altLang="en-US" b="1" dirty="0">
                    <a:latin typeface="+mn-ea"/>
                  </a:rPr>
                  <a:t>。</a:t>
                </a:r>
                <a:endParaRPr lang="zh-CN" altLang="en-US" b="1" dirty="0">
                  <a:latin typeface="+mn-ea"/>
                </a:endParaRPr>
              </a:p>
              <a:p>
                <a:pPr>
                  <a:lnSpc>
                    <a:spcPct val="150000"/>
                  </a:lnSpc>
                </a:pPr>
                <a:r>
                  <a:rPr lang="zh-CN" altLang="en-US" b="1" dirty="0">
                    <a:latin typeface="+mn-ea"/>
                  </a:rPr>
                  <a:t>（</a:t>
                </a:r>
                <a:r>
                  <a:rPr lang="en-US" altLang="zh-CN" b="1" dirty="0">
                    <a:latin typeface="+mn-ea"/>
                  </a:rPr>
                  <a:t>2</a:t>
                </a:r>
                <a:r>
                  <a:rPr lang="zh-CN" altLang="en-US" b="1" dirty="0">
                    <a:latin typeface="+mn-ea"/>
                  </a:rPr>
                  <a:t>）对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x∈A</a:t>
                </a:r>
                <a:r>
                  <a:rPr lang="en-US" altLang="zh-CN" b="1" dirty="0">
                    <a:latin typeface="+mn-ea"/>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y∈A</a:t>
                </a:r>
                <a:r>
                  <a:rPr lang="zh-CN" altLang="en-US" b="1" dirty="0">
                    <a:latin typeface="+mn-ea"/>
                  </a:rPr>
                  <a:t>，如果</a:t>
                </a:r>
                <a:r>
                  <a:rPr lang="en-US" altLang="zh-CN" b="1" dirty="0">
                    <a:latin typeface="+mn-ea"/>
                  </a:rPr>
                  <a:t>&lt;</a:t>
                </a:r>
                <a:r>
                  <a:rPr lang="en-US" altLang="zh-CN" b="1" dirty="0" err="1">
                    <a:latin typeface="+mn-ea"/>
                  </a:rPr>
                  <a:t>x,y</a:t>
                </a:r>
                <a:r>
                  <a:rPr lang="en-US" altLang="zh-CN" b="1" dirty="0">
                    <a:latin typeface="+mn-ea"/>
                  </a:rPr>
                  <a:t>&gt;∈R</a:t>
                </a:r>
                <a:r>
                  <a:rPr lang="zh-CN" altLang="en-US" b="1" dirty="0">
                    <a:latin typeface="+mn-ea"/>
                  </a:rPr>
                  <a:t>，则有</a:t>
                </a:r>
                <a:r>
                  <a:rPr lang="en-US" altLang="zh-CN" b="1" dirty="0">
                    <a:latin typeface="+mn-ea"/>
                  </a:rPr>
                  <a:t>x=y</a:t>
                </a:r>
                <a:r>
                  <a:rPr lang="zh-CN" altLang="en-US" b="1" dirty="0">
                    <a:latin typeface="+mn-ea"/>
                  </a:rPr>
                  <a:t>，即</a:t>
                </a:r>
                <a:r>
                  <a:rPr lang="en-US" altLang="zh-CN" b="1" dirty="0">
                    <a:latin typeface="+mn-ea"/>
                  </a:rPr>
                  <a:t>&lt;</a:t>
                </a:r>
                <a:r>
                  <a:rPr lang="en-US" altLang="zh-CN" b="1" dirty="0" err="1">
                    <a:latin typeface="+mn-ea"/>
                  </a:rPr>
                  <a:t>y,x</a:t>
                </a:r>
                <a:r>
                  <a:rPr lang="en-US" altLang="zh-CN" b="1" dirty="0">
                    <a:latin typeface="+mn-ea"/>
                  </a:rPr>
                  <a:t>&gt;∈R</a:t>
                </a:r>
                <a:r>
                  <a:rPr lang="zh-CN" altLang="en-US" b="1" dirty="0">
                    <a:latin typeface="+mn-ea"/>
                  </a:rPr>
                  <a:t>，</a:t>
                </a:r>
                <a:endParaRPr lang="en-US" altLang="zh-CN" b="1" dirty="0">
                  <a:latin typeface="+mn-ea"/>
                </a:endParaRPr>
              </a:p>
              <a:p>
                <a:pPr>
                  <a:lnSpc>
                    <a:spcPct val="150000"/>
                  </a:lnSpc>
                </a:pPr>
                <a:r>
                  <a:rPr lang="en-US" altLang="zh-CN" b="1" dirty="0">
                    <a:solidFill>
                      <a:srgbClr val="3333FF"/>
                    </a:solidFill>
                    <a:latin typeface="+mn-ea"/>
                  </a:rPr>
                  <a:t>         </a:t>
                </a:r>
                <a:r>
                  <a:rPr lang="zh-CN" altLang="en-US" b="1" dirty="0">
                    <a:solidFill>
                      <a:srgbClr val="3333FF"/>
                    </a:solidFill>
                    <a:latin typeface="+mn-ea"/>
                  </a:rPr>
                  <a:t>从而</a:t>
                </a:r>
                <a:r>
                  <a:rPr lang="en-US" altLang="zh-CN" b="1" dirty="0">
                    <a:solidFill>
                      <a:srgbClr val="3333FF"/>
                    </a:solidFill>
                    <a:latin typeface="+mn-ea"/>
                  </a:rPr>
                  <a:t>R</a:t>
                </a:r>
                <a:r>
                  <a:rPr lang="zh-CN" altLang="en-US" b="1" dirty="0">
                    <a:solidFill>
                      <a:srgbClr val="3333FF"/>
                    </a:solidFill>
                    <a:latin typeface="+mn-ea"/>
                  </a:rPr>
                  <a:t>是对称的</a:t>
                </a:r>
                <a:r>
                  <a:rPr lang="zh-CN" altLang="en-US" b="1" dirty="0">
                    <a:latin typeface="+mn-ea"/>
                  </a:rPr>
                  <a:t>。</a:t>
                </a:r>
                <a:endParaRPr lang="zh-CN" altLang="en-US" b="1" dirty="0">
                  <a:latin typeface="+mn-ea"/>
                </a:endParaRPr>
              </a:p>
              <a:p>
                <a:pPr>
                  <a:lnSpc>
                    <a:spcPct val="150000"/>
                  </a:lnSpc>
                </a:pPr>
                <a:r>
                  <a:rPr lang="zh-CN" altLang="en-US" b="1" dirty="0">
                    <a:latin typeface="+mn-ea"/>
                  </a:rPr>
                  <a:t>（</a:t>
                </a:r>
                <a:r>
                  <a:rPr lang="en-US" altLang="zh-CN" b="1" dirty="0">
                    <a:latin typeface="+mn-ea"/>
                  </a:rPr>
                  <a:t>3</a:t>
                </a:r>
                <a:r>
                  <a:rPr lang="zh-CN" altLang="en-US" b="1" dirty="0">
                    <a:latin typeface="+mn-ea"/>
                  </a:rPr>
                  <a:t>）对</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x∈A</a:t>
                </a:r>
                <a:r>
                  <a:rPr lang="en-US" altLang="zh-CN" b="1" dirty="0">
                    <a:latin typeface="+mn-ea"/>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y∈A</a:t>
                </a:r>
                <a:r>
                  <a:rPr lang="zh-CN" altLang="en-US" b="1" dirty="0">
                    <a:latin typeface="+mn-ea"/>
                  </a:rPr>
                  <a:t>，如果</a:t>
                </a:r>
                <a:r>
                  <a:rPr lang="en-US" altLang="zh-CN" b="1" dirty="0">
                    <a:latin typeface="+mn-ea"/>
                  </a:rPr>
                  <a:t>&lt;</a:t>
                </a:r>
                <a:r>
                  <a:rPr lang="en-US" altLang="zh-CN" b="1" dirty="0" err="1">
                    <a:latin typeface="+mn-ea"/>
                  </a:rPr>
                  <a:t>x,y</a:t>
                </a:r>
                <a:r>
                  <a:rPr lang="en-US" altLang="zh-CN" b="1" dirty="0">
                    <a:latin typeface="+mn-ea"/>
                  </a:rPr>
                  <a:t>&gt;∈R</a:t>
                </a:r>
                <a:r>
                  <a:rPr lang="zh-CN" altLang="en-US" b="1" dirty="0">
                    <a:latin typeface="+mn-ea"/>
                  </a:rPr>
                  <a:t>，</a:t>
                </a:r>
                <a:r>
                  <a:rPr lang="en-US" altLang="zh-CN" b="1" dirty="0">
                    <a:latin typeface="+mn-ea"/>
                  </a:rPr>
                  <a:t>&lt;</a:t>
                </a:r>
                <a:r>
                  <a:rPr lang="en-US" altLang="zh-CN" b="1" dirty="0" err="1">
                    <a:latin typeface="+mn-ea"/>
                  </a:rPr>
                  <a:t>y,x</a:t>
                </a:r>
                <a:r>
                  <a:rPr lang="en-US" altLang="zh-CN" b="1" dirty="0">
                    <a:latin typeface="+mn-ea"/>
                  </a:rPr>
                  <a:t>&gt;∈R</a:t>
                </a:r>
                <a:r>
                  <a:rPr lang="zh-CN" altLang="en-US" b="1" dirty="0">
                    <a:latin typeface="+mn-ea"/>
                  </a:rPr>
                  <a:t>，则有</a:t>
                </a:r>
                <a:r>
                  <a:rPr lang="en-US" altLang="zh-CN" b="1" dirty="0">
                    <a:latin typeface="+mn-ea"/>
                  </a:rPr>
                  <a:t>x=y</a:t>
                </a:r>
                <a:r>
                  <a:rPr lang="zh-CN" altLang="en-US" b="1" dirty="0">
                    <a:latin typeface="+mn-ea"/>
                  </a:rPr>
                  <a:t>，</a:t>
                </a:r>
                <a:r>
                  <a:rPr lang="zh-CN" altLang="en-US" b="1" dirty="0">
                    <a:solidFill>
                      <a:srgbClr val="3333FF"/>
                    </a:solidFill>
                    <a:latin typeface="+mn-ea"/>
                  </a:rPr>
                  <a:t>即</a:t>
                </a:r>
                <a:r>
                  <a:rPr lang="en-US" altLang="zh-CN" b="1" dirty="0">
                    <a:solidFill>
                      <a:srgbClr val="3333FF"/>
                    </a:solidFill>
                    <a:latin typeface="+mn-ea"/>
                  </a:rPr>
                  <a:t>R</a:t>
                </a:r>
                <a:r>
                  <a:rPr lang="zh-CN" altLang="en-US" b="1" dirty="0">
                    <a:solidFill>
                      <a:srgbClr val="3333FF"/>
                    </a:solidFill>
                    <a:latin typeface="+mn-ea"/>
                  </a:rPr>
                  <a:t>是反对称的</a:t>
                </a:r>
                <a:r>
                  <a:rPr lang="zh-CN" altLang="en-US" b="1" dirty="0">
                    <a:latin typeface="+mn-ea"/>
                  </a:rPr>
                  <a:t>。（</a:t>
                </a:r>
                <a:r>
                  <a:rPr lang="en-US" altLang="zh-CN" b="1" dirty="0">
                    <a:latin typeface="+mn-ea"/>
                  </a:rPr>
                  <a:t>4</a:t>
                </a:r>
                <a:r>
                  <a:rPr lang="zh-CN" altLang="en-US" b="1" dirty="0">
                    <a:latin typeface="+mn-ea"/>
                  </a:rPr>
                  <a:t>）对</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x∈A</a:t>
                </a:r>
                <a:r>
                  <a:rPr lang="en-US" altLang="zh-CN" b="1" dirty="0">
                    <a:latin typeface="+mn-ea"/>
                  </a:rPr>
                  <a:t>,</a:t>
                </a:r>
                <a:r>
                  <a:rPr lang="es-ES" altLang="zh-CN" b="1" dirty="0">
                    <a:latin typeface="+mn-ea"/>
                  </a:rPr>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y∈A</a:t>
                </a:r>
                <a:r>
                  <a:rPr lang="en-US" altLang="zh-CN" b="1" dirty="0">
                    <a:latin typeface="+mn-ea"/>
                  </a:rPr>
                  <a:t>,</a:t>
                </a:r>
                <a:r>
                  <a:rPr lang="es-ES" altLang="zh-CN" b="1" dirty="0"/>
                  <a:t> </a:t>
                </a:r>
                <a14:m>
                  <m:oMath xmlns:m="http://schemas.openxmlformats.org/officeDocument/2006/math">
                    <m:r>
                      <a:rPr lang="es-ES" altLang="zh-CN" b="1" i="1">
                        <a:latin typeface="Cambria Math" panose="02040503050406030204" pitchFamily="18" charset="0"/>
                      </a:rPr>
                      <m:t>∀</m:t>
                    </m:r>
                  </m:oMath>
                </a14:m>
                <a:r>
                  <a:rPr lang="en-US" altLang="zh-CN" b="1" dirty="0" err="1">
                    <a:latin typeface="+mn-ea"/>
                  </a:rPr>
                  <a:t>z∈A</a:t>
                </a:r>
                <a:r>
                  <a:rPr lang="zh-CN" altLang="en-US" b="1" dirty="0">
                    <a:latin typeface="+mn-ea"/>
                  </a:rPr>
                  <a:t>，如果</a:t>
                </a:r>
                <a:r>
                  <a:rPr lang="en-US" altLang="zh-CN" b="1" dirty="0">
                    <a:latin typeface="+mn-ea"/>
                  </a:rPr>
                  <a:t>&lt;</a:t>
                </a:r>
                <a:r>
                  <a:rPr lang="en-US" altLang="zh-CN" b="1" dirty="0" err="1">
                    <a:latin typeface="+mn-ea"/>
                  </a:rPr>
                  <a:t>x,y</a:t>
                </a:r>
                <a:r>
                  <a:rPr lang="en-US" altLang="zh-CN" b="1" dirty="0">
                    <a:latin typeface="+mn-ea"/>
                  </a:rPr>
                  <a:t>&gt;∈R</a:t>
                </a:r>
                <a:r>
                  <a:rPr lang="zh-CN" altLang="en-US" b="1" dirty="0">
                    <a:latin typeface="+mn-ea"/>
                  </a:rPr>
                  <a:t>，</a:t>
                </a:r>
                <a:r>
                  <a:rPr lang="en-US" altLang="zh-CN" b="1" dirty="0">
                    <a:latin typeface="+mn-ea"/>
                  </a:rPr>
                  <a:t>&lt;</a:t>
                </a:r>
                <a:r>
                  <a:rPr lang="en-US" altLang="zh-CN" b="1" dirty="0" err="1">
                    <a:latin typeface="+mn-ea"/>
                  </a:rPr>
                  <a:t>y,z</a:t>
                </a:r>
                <a:r>
                  <a:rPr lang="en-US" altLang="zh-CN" b="1" dirty="0">
                    <a:latin typeface="+mn-ea"/>
                  </a:rPr>
                  <a:t>&gt;∈R</a:t>
                </a:r>
                <a:r>
                  <a:rPr lang="zh-CN" altLang="en-US" b="1" dirty="0">
                    <a:latin typeface="+mn-ea"/>
                  </a:rPr>
                  <a:t>，则有</a:t>
                </a:r>
                <a:r>
                  <a:rPr lang="en-US" altLang="zh-CN" b="1" dirty="0">
                    <a:latin typeface="+mn-ea"/>
                  </a:rPr>
                  <a:t>x=y=z</a:t>
                </a:r>
                <a:r>
                  <a:rPr lang="zh-CN" altLang="en-US" b="1" dirty="0">
                    <a:latin typeface="+mn-ea"/>
                  </a:rPr>
                  <a:t>，</a:t>
                </a:r>
                <a:endParaRPr lang="en-US" altLang="zh-CN" b="1" dirty="0">
                  <a:latin typeface="+mn-ea"/>
                </a:endParaRPr>
              </a:p>
              <a:p>
                <a:pPr>
                  <a:lnSpc>
                    <a:spcPct val="150000"/>
                  </a:lnSpc>
                </a:pPr>
                <a:r>
                  <a:rPr lang="en-US" altLang="zh-CN" b="1" dirty="0">
                    <a:latin typeface="+mn-ea"/>
                  </a:rPr>
                  <a:t>         </a:t>
                </a:r>
                <a:r>
                  <a:rPr lang="zh-CN" altLang="en-US" b="1" dirty="0">
                    <a:latin typeface="+mn-ea"/>
                  </a:rPr>
                  <a:t>从而有</a:t>
                </a:r>
                <a:r>
                  <a:rPr lang="en-US" altLang="zh-CN" b="1" dirty="0">
                    <a:latin typeface="+mn-ea"/>
                  </a:rPr>
                  <a:t>&lt;</a:t>
                </a:r>
                <a:r>
                  <a:rPr lang="en-US" altLang="zh-CN" b="1" dirty="0" err="1">
                    <a:latin typeface="+mn-ea"/>
                  </a:rPr>
                  <a:t>x,z</a:t>
                </a:r>
                <a:r>
                  <a:rPr lang="en-US" altLang="zh-CN" b="1" dirty="0">
                    <a:latin typeface="+mn-ea"/>
                  </a:rPr>
                  <a:t>&gt;∈R</a:t>
                </a:r>
                <a:r>
                  <a:rPr lang="zh-CN" altLang="en-US" b="1" dirty="0">
                    <a:latin typeface="+mn-ea"/>
                  </a:rPr>
                  <a:t>，即</a:t>
                </a:r>
                <a:r>
                  <a:rPr lang="en-US" altLang="zh-CN" b="1" dirty="0">
                    <a:solidFill>
                      <a:srgbClr val="3333FF"/>
                    </a:solidFill>
                    <a:latin typeface="+mn-ea"/>
                  </a:rPr>
                  <a:t>R</a:t>
                </a:r>
                <a:r>
                  <a:rPr lang="zh-CN" altLang="en-US" b="1" dirty="0">
                    <a:solidFill>
                      <a:srgbClr val="3333FF"/>
                    </a:solidFill>
                    <a:latin typeface="+mn-ea"/>
                  </a:rPr>
                  <a:t>是传递的</a:t>
                </a:r>
                <a:r>
                  <a:rPr lang="zh-CN" altLang="en-US" b="1" dirty="0">
                    <a:latin typeface="+mn-ea"/>
                  </a:rPr>
                  <a:t>。</a:t>
                </a:r>
                <a:endParaRPr lang="zh-CN" altLang="en-US" b="1" dirty="0">
                  <a:latin typeface="+mn-ea"/>
                </a:endParaRPr>
              </a:p>
            </p:txBody>
          </p:sp>
        </mc:Choice>
        <mc:Fallback>
          <p:sp>
            <p:nvSpPr>
              <p:cNvPr id="4" name="矩形 3"/>
              <p:cNvSpPr>
                <a:spLocks noRot="1" noChangeAspect="1" noMove="1" noResize="1" noEditPoints="1" noAdjustHandles="1" noChangeArrowheads="1" noChangeShapeType="1" noTextEdit="1"/>
              </p:cNvSpPr>
              <p:nvPr/>
            </p:nvSpPr>
            <p:spPr>
              <a:xfrm>
                <a:off x="392112" y="1848469"/>
                <a:ext cx="11650663" cy="3905043"/>
              </a:xfrm>
              <a:prstGeom prst="rect">
                <a:avLst/>
              </a:prstGeom>
              <a:blipFill rotWithShape="1">
                <a:blip r:embed="rId1"/>
                <a:stretch>
                  <a:fillRect l="-3" t="-16" b="11"/>
                </a:stretch>
              </a:blipFill>
            </p:spPr>
            <p:txBody>
              <a:bodyPr/>
              <a:lstStyle/>
              <a:p>
                <a:r>
                  <a:rPr lang="zh-CN" altLang="en-US">
                    <a:noFill/>
                  </a:rPr>
                  <a:t> </a:t>
                </a:r>
              </a:p>
            </p:txBody>
          </p:sp>
        </mc:Fallback>
      </mc:AlternateContent>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cs typeface="宋体" panose="02010600030101010101" pitchFamily="2" charset="-122"/>
              </a:rPr>
              <a:t>关系性质的定义证明方法</a:t>
            </a:r>
            <a:r>
              <a:rPr lang="zh-CN" altLang="en-US" kern="100" dirty="0">
                <a:cs typeface="宋体" panose="02010600030101010101" pitchFamily="2" charset="-122"/>
              </a:rPr>
              <a:t>框架</a:t>
            </a:r>
            <a:endParaRPr lang="zh-CN" altLang="en-US" dirty="0"/>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460375" y="1067594"/>
              <a:ext cx="11353799" cy="5352476"/>
            </p:xfrm>
            <a:graphic>
              <a:graphicData uri="http://schemas.openxmlformats.org/drawingml/2006/table">
                <a:tbl>
                  <a:tblPr firstRow="1" firstCol="1" bandRow="1">
                    <a:tableStyleId>{5C22544A-7EE6-4342-B048-85BDC9FD1C3A}</a:tableStyleId>
                  </a:tblPr>
                  <a:tblGrid>
                    <a:gridCol w="2194865"/>
                    <a:gridCol w="5729935"/>
                    <a:gridCol w="1479603"/>
                    <a:gridCol w="1949396"/>
                  </a:tblGrid>
                  <a:tr h="609600">
                    <a:tc>
                      <a:txBody>
                        <a:bodyPr/>
                        <a:lstStyle/>
                        <a:p>
                          <a:pPr algn="ctr">
                            <a:lnSpc>
                              <a:spcPct val="150000"/>
                            </a:lnSpc>
                            <a:spcBef>
                              <a:spcPts val="1200"/>
                            </a:spcBef>
                            <a:spcAft>
                              <a:spcPts val="0"/>
                            </a:spcAft>
                          </a:pPr>
                          <a:r>
                            <a:rPr lang="zh-CN" sz="2400" kern="100" dirty="0">
                              <a:effectLst/>
                            </a:rPr>
                            <a:t>待证性质</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第一步</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中间过程</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a:effectLst/>
                            </a:rPr>
                            <a:t>最后一步</a:t>
                          </a:r>
                          <a:endParaRPr lang="zh-CN" sz="2400" kern="100">
                            <a:effectLst/>
                            <a:latin typeface="Times New Roman" panose="02020603050405020304" pitchFamily="18" charset="0"/>
                            <a:ea typeface="宋体" panose="02010600030101010101" pitchFamily="2" charset="-122"/>
                          </a:endParaRPr>
                        </a:p>
                      </a:txBody>
                      <a:tcPr marL="68580" marR="68580" marT="0" marB="0"/>
                    </a:tc>
                  </a:tr>
                  <a:tr h="892534">
                    <a:tc>
                      <a:txBody>
                        <a:bodyPr/>
                        <a:lstStyle/>
                        <a:p>
                          <a:pPr algn="ctr">
                            <a:lnSpc>
                              <a:spcPct val="150000"/>
                            </a:lnSpc>
                            <a:spcBef>
                              <a:spcPts val="1200"/>
                            </a:spcBef>
                            <a:spcAft>
                              <a:spcPts val="0"/>
                            </a:spcAft>
                          </a:pPr>
                          <a:r>
                            <a:rPr lang="en-US" sz="2400" kern="100">
                              <a:effectLst/>
                            </a:rPr>
                            <a:t>R</a:t>
                          </a:r>
                          <a:r>
                            <a:rPr lang="zh-CN" sz="2400" kern="100">
                              <a:effectLst/>
                            </a:rPr>
                            <a:t>是自反的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a:solidFill>
                                <a:schemeClr val="tx1"/>
                              </a:solidFill>
                              <a:latin typeface="+mn-ea"/>
                              <a:ea typeface="+mn-ea"/>
                            </a:rPr>
                            <a:t>x∈A</a:t>
                          </a:r>
                          <a:r>
                            <a:rPr lang="en-US" sz="2400" b="1" kern="100" dirty="0">
                              <a:solidFill>
                                <a:schemeClr val="tx1"/>
                              </a:solidFill>
                              <a:effectLst/>
                              <a:latin typeface="+mn-ea"/>
                              <a:ea typeface="+mn-ea"/>
                            </a:rPr>
                            <a:t> </a:t>
                          </a:r>
                          <a:endParaRPr lang="zh-CN" sz="2400" b="1" kern="100" dirty="0">
                            <a:solidFill>
                              <a:schemeClr val="tx1"/>
                            </a:solidFill>
                            <a:effectLst/>
                            <a:latin typeface="+mn-ea"/>
                            <a:ea typeface="+mn-ea"/>
                          </a:endParaRPr>
                        </a:p>
                      </a:txBody>
                      <a:tcPr marL="68580" marR="68580" marT="0" marB="0"/>
                    </a:tc>
                    <a:tc rowSpan="5">
                      <a:txBody>
                        <a:bodyPr/>
                        <a:lstStyle/>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r>
                            <a:rPr lang="zh-CN" sz="2400" b="1" kern="100" dirty="0">
                              <a:solidFill>
                                <a:schemeClr val="tx1"/>
                              </a:solidFill>
                              <a:effectLst/>
                              <a:latin typeface="+mn-ea"/>
                              <a:ea typeface="+mn-ea"/>
                            </a:rPr>
                            <a:t>结合已知和已有定义、定理</a:t>
                          </a:r>
                          <a:endParaRPr lang="zh-CN" sz="2400" b="1" kern="100" dirty="0">
                            <a:solidFill>
                              <a:schemeClr val="tx1"/>
                            </a:solidFill>
                            <a:effectLst/>
                            <a:latin typeface="+mn-ea"/>
                            <a:ea typeface="+mn-ea"/>
                          </a:endParaRPr>
                        </a:p>
                      </a:txBody>
                      <a:tcPr marL="68580" marR="68580" marT="0" marB="0"/>
                    </a:tc>
                    <a:tc>
                      <a:txBody>
                        <a:bodyPr/>
                        <a:lstStyle/>
                        <a:p>
                          <a:pPr algn="ctr">
                            <a:lnSpc>
                              <a:spcPct val="150000"/>
                            </a:lnSpc>
                            <a:spcBef>
                              <a:spcPts val="1200"/>
                            </a:spcBef>
                            <a:spcAft>
                              <a:spcPts val="0"/>
                            </a:spcAft>
                          </a:pPr>
                          <a:r>
                            <a:rPr lang="en-US" altLang="zh-CN" b="1" dirty="0">
                              <a:solidFill>
                                <a:schemeClr val="tx1"/>
                              </a:solidFill>
                              <a:latin typeface="+mn-ea"/>
                              <a:ea typeface="+mn-ea"/>
                            </a:rPr>
                            <a:t>&lt;</a:t>
                          </a:r>
                          <a:r>
                            <a:rPr lang="en-US" altLang="zh-CN" b="1" dirty="0" err="1">
                              <a:solidFill>
                                <a:schemeClr val="tx1"/>
                              </a:solidFill>
                              <a:latin typeface="+mn-ea"/>
                              <a:ea typeface="+mn-ea"/>
                            </a:rPr>
                            <a:t>x,x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tr>
                  <a:tr h="892534">
                    <a:tc>
                      <a:txBody>
                        <a:bodyPr/>
                        <a:lstStyle/>
                        <a:p>
                          <a:pPr algn="ctr">
                            <a:lnSpc>
                              <a:spcPct val="150000"/>
                            </a:lnSpc>
                            <a:spcBef>
                              <a:spcPts val="1200"/>
                            </a:spcBef>
                            <a:spcAft>
                              <a:spcPts val="0"/>
                            </a:spcAft>
                          </a:pPr>
                          <a:r>
                            <a:rPr lang="en-US" sz="2400" kern="100">
                              <a:effectLst/>
                            </a:rPr>
                            <a:t>R</a:t>
                          </a:r>
                          <a:r>
                            <a:rPr lang="zh-CN" sz="2400" kern="100">
                              <a:effectLst/>
                            </a:rPr>
                            <a:t>是反自反的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r>
                            <a:rPr lang="en-US" sz="2400" b="1" kern="100" dirty="0">
                              <a:solidFill>
                                <a:schemeClr val="tx1"/>
                              </a:solidFill>
                              <a:effectLst/>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a:solidFill>
                                <a:schemeClr val="tx1"/>
                              </a:solidFill>
                              <a:latin typeface="+mn-ea"/>
                              <a:ea typeface="+mn-ea"/>
                            </a:rPr>
                            <a:t>x∈A</a:t>
                          </a:r>
                          <a:endParaRPr lang="zh-CN" sz="2400" b="1" kern="100" dirty="0">
                            <a:solidFill>
                              <a:schemeClr val="tx1"/>
                            </a:solidFill>
                            <a:effectLst/>
                            <a:latin typeface="+mn-ea"/>
                            <a:ea typeface="+mn-ea"/>
                          </a:endParaRPr>
                        </a:p>
                      </a:txBody>
                      <a:tcPr marL="68580" marR="68580" marT="0" marB="0"/>
                    </a:tc>
                    <a:tc vMerge="1">
                      <a:tcPr/>
                    </a:tc>
                    <a:tc>
                      <a:txBody>
                        <a:bodyPr/>
                        <a:lstStyle/>
                        <a:p>
                          <a:pPr marL="0" marR="0" lvl="0" indent="0" algn="ctr" defTabSz="1219835" rtl="0" eaLnBrk="1" fontAlgn="auto" latinLnBrk="0" hangingPunct="1">
                            <a:lnSpc>
                              <a:spcPct val="150000"/>
                            </a:lnSpc>
                            <a:spcBef>
                              <a:spcPts val="1200"/>
                            </a:spcBef>
                            <a:spcAft>
                              <a:spcPts val="0"/>
                            </a:spcAft>
                            <a:buClrTx/>
                            <a:buSzTx/>
                            <a:buFontTx/>
                            <a:buNone/>
                            <a:defRPr/>
                          </a:pPr>
                          <a:r>
                            <a:rPr lang="en-US" altLang="zh-CN" b="1" dirty="0">
                              <a:solidFill>
                                <a:schemeClr val="tx1"/>
                              </a:solidFill>
                              <a:latin typeface="+mn-ea"/>
                              <a:ea typeface="+mn-ea"/>
                            </a:rPr>
                            <a:t>&lt;</a:t>
                          </a:r>
                          <a:r>
                            <a:rPr lang="en-US" altLang="zh-CN" b="1" dirty="0" err="1">
                              <a:solidFill>
                                <a:schemeClr val="tx1"/>
                              </a:solidFill>
                              <a:latin typeface="+mn-ea"/>
                              <a:ea typeface="+mn-ea"/>
                            </a:rPr>
                            <a:t>x,x</a:t>
                          </a:r>
                          <a:r>
                            <a:rPr lang="en-US" altLang="zh-CN" b="1" dirty="0">
                              <a:solidFill>
                                <a:schemeClr val="tx1"/>
                              </a:solidFill>
                              <a:latin typeface="+mn-ea"/>
                              <a:ea typeface="+mn-ea"/>
                            </a:rPr>
                            <a:t>&gt;</a:t>
                          </a:r>
                          <a14:m>
                            <m:oMath xmlns:m="http://schemas.openxmlformats.org/officeDocument/2006/math">
                              <m:r>
                                <a:rPr lang="en-US" altLang="zh-CN" b="1" i="1" smtClean="0">
                                  <a:solidFill>
                                    <a:schemeClr val="tx1"/>
                                  </a:solidFill>
                                  <a:latin typeface="Cambria Math" panose="02040503050406030204" pitchFamily="18" charset="0"/>
                                  <a:ea typeface="Cambria Math" panose="02040503050406030204" pitchFamily="18" charset="0"/>
                                </a:rPr>
                                <m:t>∉</m:t>
                              </m:r>
                            </m:oMath>
                          </a14:m>
                          <a:r>
                            <a:rPr lang="en-US" altLang="zh-CN" b="1" dirty="0">
                              <a:solidFill>
                                <a:schemeClr val="tx1"/>
                              </a:solidFill>
                              <a:latin typeface="+mn-ea"/>
                              <a:ea typeface="+mn-ea"/>
                            </a:rPr>
                            <a:t> R</a:t>
                          </a:r>
                          <a:endParaRPr lang="en-US" sz="2400" b="1" kern="100" dirty="0">
                            <a:solidFill>
                              <a:schemeClr val="tx1"/>
                            </a:solidFill>
                            <a:effectLst/>
                            <a:latin typeface="+mn-ea"/>
                            <a:ea typeface="+mn-ea"/>
                          </a:endParaRPr>
                        </a:p>
                      </a:txBody>
                      <a:tcPr marL="68580" marR="68580" marT="0" marB="0"/>
                    </a:tc>
                  </a:tr>
                  <a:tr h="892534">
                    <a:tc>
                      <a:txBody>
                        <a:bodyPr/>
                        <a:lstStyle/>
                        <a:p>
                          <a:pPr algn="ctr">
                            <a:lnSpc>
                              <a:spcPct val="150000"/>
                            </a:lnSpc>
                            <a:spcBef>
                              <a:spcPts val="1200"/>
                            </a:spcBef>
                            <a:spcAft>
                              <a:spcPts val="0"/>
                            </a:spcAft>
                          </a:pPr>
                          <a:r>
                            <a:rPr lang="en-US" sz="2400" kern="100">
                              <a:effectLst/>
                            </a:rPr>
                            <a:t>R</a:t>
                          </a:r>
                          <a:r>
                            <a:rPr lang="zh-CN" sz="2400" kern="100">
                              <a:effectLst/>
                            </a:rPr>
                            <a:t>是对称的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x∈A</a:t>
                          </a:r>
                          <a:r>
                            <a:rPr lang="en-US" altLang="zh-CN" b="1" dirty="0">
                              <a:solidFill>
                                <a:schemeClr val="tx1"/>
                              </a:solidFill>
                              <a:latin typeface="+mn-ea"/>
                              <a:ea typeface="+mn-ea"/>
                            </a:rPr>
                            <a:t>,</a:t>
                          </a:r>
                          <a:r>
                            <a:rPr lang="es-ES" altLang="zh-CN" b="1" dirty="0">
                              <a:solidFill>
                                <a:schemeClr val="tx1"/>
                              </a:solidFill>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y∈A</a:t>
                          </a:r>
                          <a:r>
                            <a:rPr lang="zh-CN" altLang="en-US" b="1" dirty="0">
                              <a:solidFill>
                                <a:schemeClr val="tx1"/>
                              </a:solidFill>
                              <a:latin typeface="+mn-ea"/>
                              <a:ea typeface="+mn-ea"/>
                            </a:rPr>
                            <a:t>，若</a:t>
                          </a:r>
                          <a:r>
                            <a:rPr lang="en-US" altLang="zh-CN" b="1" dirty="0">
                              <a:solidFill>
                                <a:schemeClr val="tx1"/>
                              </a:solidFill>
                              <a:latin typeface="+mn-ea"/>
                              <a:ea typeface="+mn-ea"/>
                            </a:rPr>
                            <a:t>&lt;</a:t>
                          </a:r>
                          <a:r>
                            <a:rPr lang="en-US" altLang="zh-CN" b="1" dirty="0" err="1">
                              <a:solidFill>
                                <a:schemeClr val="tx1"/>
                              </a:solidFill>
                              <a:latin typeface="+mn-ea"/>
                              <a:ea typeface="+mn-ea"/>
                            </a:rPr>
                            <a:t>x,y</a:t>
                          </a:r>
                          <a:r>
                            <a:rPr lang="en-US" altLang="zh-CN" b="1" dirty="0">
                              <a:solidFill>
                                <a:schemeClr val="tx1"/>
                              </a:solidFill>
                              <a:latin typeface="+mn-ea"/>
                              <a:ea typeface="+mn-ea"/>
                            </a:rPr>
                            <a:t>&gt;∈R</a:t>
                          </a:r>
                          <a:r>
                            <a:rPr lang="en-US" sz="2400" b="1" kern="100" dirty="0">
                              <a:solidFill>
                                <a:schemeClr val="tx1"/>
                              </a:solidFill>
                              <a:effectLst/>
                              <a:latin typeface="+mn-ea"/>
                              <a:ea typeface="+mn-ea"/>
                            </a:rPr>
                            <a:t> </a:t>
                          </a:r>
                          <a:endParaRPr lang="zh-CN" sz="2400" b="1" kern="100" dirty="0">
                            <a:solidFill>
                              <a:schemeClr val="tx1"/>
                            </a:solidFill>
                            <a:effectLst/>
                            <a:latin typeface="+mn-ea"/>
                            <a:ea typeface="+mn-ea"/>
                          </a:endParaRPr>
                        </a:p>
                      </a:txBody>
                      <a:tcPr marL="68580" marR="68580" marT="0" marB="0"/>
                    </a:tc>
                    <a:tc vMerge="1">
                      <a:tcPr/>
                    </a:tc>
                    <a:tc>
                      <a:txBody>
                        <a:bodyPr/>
                        <a:lstStyle/>
                        <a:p>
                          <a:pPr algn="ctr">
                            <a:lnSpc>
                              <a:spcPct val="150000"/>
                            </a:lnSpc>
                            <a:spcBef>
                              <a:spcPts val="1200"/>
                            </a:spcBef>
                            <a:spcAft>
                              <a:spcPts val="0"/>
                            </a:spcAft>
                          </a:pPr>
                          <a:r>
                            <a:rPr lang="en-US" altLang="zh-CN" b="1">
                              <a:solidFill>
                                <a:schemeClr val="tx1"/>
                              </a:solidFill>
                              <a:latin typeface="+mn-ea"/>
                              <a:ea typeface="+mn-ea"/>
                            </a:rPr>
                            <a:t>&lt;y,x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tr>
                  <a:tr h="892534">
                    <a:tc>
                      <a:txBody>
                        <a:bodyPr/>
                        <a:lstStyle/>
                        <a:p>
                          <a:pPr algn="ctr">
                            <a:lnSpc>
                              <a:spcPct val="150000"/>
                            </a:lnSpc>
                            <a:spcBef>
                              <a:spcPts val="1200"/>
                            </a:spcBef>
                            <a:spcAft>
                              <a:spcPts val="0"/>
                            </a:spcAft>
                          </a:pPr>
                          <a:r>
                            <a:rPr lang="en-US" sz="2400" kern="100" dirty="0">
                              <a:effectLst/>
                            </a:rPr>
                            <a:t>R</a:t>
                          </a:r>
                          <a:r>
                            <a:rPr lang="zh-CN" sz="2400" kern="100" dirty="0">
                              <a:effectLst/>
                            </a:rPr>
                            <a:t>是反对称的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spcBef>
                              <a:spcPts val="1200"/>
                            </a:spcBef>
                            <a:spcAft>
                              <a:spcPts val="0"/>
                            </a:spcAft>
                          </a:pPr>
                          <a:r>
                            <a:rPr lang="zh-CN" sz="2400" b="1" kern="100" dirty="0">
                              <a:solidFill>
                                <a:schemeClr val="tx1"/>
                              </a:solidFill>
                              <a:effectLst/>
                              <a:latin typeface="+mn-ea"/>
                              <a:ea typeface="+mn-ea"/>
                            </a:rPr>
                            <a:t>对</a:t>
                          </a:r>
                          <a:r>
                            <a:rPr lang="en-US" altLang="zh-CN" b="1" kern="100" dirty="0">
                              <a:solidFill>
                                <a:schemeClr val="tx1"/>
                              </a:solidFill>
                              <a:effectLst/>
                              <a:latin typeface="+mn-ea"/>
                              <a:ea typeface="+mn-ea"/>
                              <a:cs typeface="宋体" panose="02010600030101010101" pitchFamily="2" charset="-122"/>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kern="100" dirty="0">
                              <a:solidFill>
                                <a:schemeClr val="tx1"/>
                              </a:solidFill>
                              <a:effectLst/>
                              <a:latin typeface="+mn-ea"/>
                              <a:ea typeface="+mn-ea"/>
                              <a:cs typeface="宋体" panose="02010600030101010101" pitchFamily="2" charset="-122"/>
                            </a:rPr>
                            <a:t>x</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A</a:t>
                          </a:r>
                          <a:r>
                            <a:rPr lang="zh-CN" altLang="zh-CN" b="1" kern="100" dirty="0">
                              <a:solidFill>
                                <a:schemeClr val="tx1"/>
                              </a:solidFill>
                              <a:effectLst/>
                              <a:latin typeface="+mn-ea"/>
                              <a:ea typeface="+mn-ea"/>
                              <a:cs typeface="宋体" panose="02010600030101010101" pitchFamily="2" charset="-122"/>
                            </a:rPr>
                            <a:t>，</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kern="0" dirty="0">
                              <a:solidFill>
                                <a:schemeClr val="tx1"/>
                              </a:solidFill>
                              <a:effectLst/>
                              <a:latin typeface="+mn-ea"/>
                              <a:ea typeface="+mn-ea"/>
                              <a:cs typeface="宋体" panose="02010600030101010101" pitchFamily="2" charset="-122"/>
                            </a:rPr>
                            <a:t>y</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A</a:t>
                          </a:r>
                          <a:r>
                            <a:rPr lang="zh-CN" altLang="zh-CN" b="1" kern="100" dirty="0">
                              <a:solidFill>
                                <a:schemeClr val="tx1"/>
                              </a:solidFill>
                              <a:effectLst/>
                              <a:latin typeface="+mn-ea"/>
                              <a:ea typeface="+mn-ea"/>
                              <a:cs typeface="宋体" panose="02010600030101010101" pitchFamily="2" charset="-122"/>
                            </a:rPr>
                            <a:t>，</a:t>
                          </a:r>
                          <a:r>
                            <a:rPr lang="zh-CN" altLang="en-US" b="1" kern="100" dirty="0">
                              <a:solidFill>
                                <a:schemeClr val="tx1"/>
                              </a:solidFill>
                              <a:effectLst/>
                              <a:latin typeface="+mn-ea"/>
                              <a:ea typeface="+mn-ea"/>
                              <a:cs typeface="宋体" panose="02010600030101010101" pitchFamily="2" charset="-122"/>
                            </a:rPr>
                            <a:t>若</a:t>
                          </a:r>
                          <a:r>
                            <a:rPr lang="en-US" altLang="zh-CN" b="1" kern="100" dirty="0">
                              <a:solidFill>
                                <a:schemeClr val="tx1"/>
                              </a:solidFill>
                              <a:effectLst/>
                              <a:latin typeface="+mn-ea"/>
                              <a:ea typeface="+mn-ea"/>
                              <a:cs typeface="宋体" panose="02010600030101010101" pitchFamily="2" charset="-122"/>
                            </a:rPr>
                            <a:t>&lt;</a:t>
                          </a:r>
                          <a:r>
                            <a:rPr lang="en-US" altLang="zh-CN" b="1" kern="100" dirty="0" err="1">
                              <a:solidFill>
                                <a:schemeClr val="tx1"/>
                              </a:solidFill>
                              <a:effectLst/>
                              <a:latin typeface="+mn-ea"/>
                              <a:ea typeface="+mn-ea"/>
                              <a:cs typeface="宋体" panose="02010600030101010101" pitchFamily="2" charset="-122"/>
                            </a:rPr>
                            <a:t>x,y</a:t>
                          </a:r>
                          <a:r>
                            <a:rPr lang="en-US" altLang="zh-CN" b="1" kern="100" dirty="0">
                              <a:solidFill>
                                <a:schemeClr val="tx1"/>
                              </a:solidFill>
                              <a:effectLst/>
                              <a:latin typeface="+mn-ea"/>
                              <a:ea typeface="+mn-ea"/>
                              <a:cs typeface="宋体" panose="02010600030101010101" pitchFamily="2" charset="-122"/>
                            </a:rPr>
                            <a:t>&gt;</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R</a:t>
                          </a:r>
                          <a:r>
                            <a:rPr lang="zh-CN" altLang="zh-CN" b="1" kern="100" dirty="0">
                              <a:solidFill>
                                <a:schemeClr val="tx1"/>
                              </a:solidFill>
                              <a:effectLst/>
                              <a:latin typeface="+mn-ea"/>
                              <a:ea typeface="+mn-ea"/>
                              <a:cs typeface="宋体" panose="02010600030101010101" pitchFamily="2" charset="-122"/>
                            </a:rPr>
                            <a:t>且</a:t>
                          </a:r>
                          <a:r>
                            <a:rPr lang="en-US" altLang="zh-CN" b="1" kern="100" dirty="0">
                              <a:solidFill>
                                <a:schemeClr val="tx1"/>
                              </a:solidFill>
                              <a:effectLst/>
                              <a:latin typeface="+mn-ea"/>
                              <a:ea typeface="+mn-ea"/>
                              <a:cs typeface="宋体" panose="02010600030101010101" pitchFamily="2" charset="-122"/>
                            </a:rPr>
                            <a:t>&lt;</a:t>
                          </a:r>
                          <a:r>
                            <a:rPr lang="en-US" altLang="zh-CN" b="1" kern="100" dirty="0" err="1">
                              <a:solidFill>
                                <a:schemeClr val="tx1"/>
                              </a:solidFill>
                              <a:effectLst/>
                              <a:latin typeface="+mn-ea"/>
                              <a:ea typeface="+mn-ea"/>
                              <a:cs typeface="宋体" panose="02010600030101010101" pitchFamily="2" charset="-122"/>
                            </a:rPr>
                            <a:t>y,x</a:t>
                          </a:r>
                          <a:r>
                            <a:rPr lang="en-US" altLang="zh-CN" b="1" kern="100" dirty="0">
                              <a:solidFill>
                                <a:schemeClr val="tx1"/>
                              </a:solidFill>
                              <a:effectLst/>
                              <a:latin typeface="+mn-ea"/>
                              <a:ea typeface="+mn-ea"/>
                              <a:cs typeface="宋体" panose="02010600030101010101" pitchFamily="2" charset="-122"/>
                            </a:rPr>
                            <a:t>&gt;</a:t>
                          </a:r>
                          <a:r>
                            <a:rPr lang="zh-CN" altLang="zh-CN" b="1" kern="100" dirty="0">
                              <a:solidFill>
                                <a:schemeClr val="tx1"/>
                              </a:solidFill>
                              <a:effectLst/>
                              <a:latin typeface="+mn-ea"/>
                              <a:ea typeface="+mn-ea"/>
                              <a:cs typeface="宋体" panose="02010600030101010101" pitchFamily="2" charset="-122"/>
                            </a:rPr>
                            <a:t>∈</a:t>
                          </a:r>
                          <a:r>
                            <a:rPr lang="en-US" altLang="zh-CN" b="1" kern="100" dirty="0">
                              <a:solidFill>
                                <a:schemeClr val="tx1"/>
                              </a:solidFill>
                              <a:effectLst/>
                              <a:latin typeface="+mn-ea"/>
                              <a:ea typeface="+mn-ea"/>
                              <a:cs typeface="宋体" panose="02010600030101010101" pitchFamily="2" charset="-122"/>
                            </a:rPr>
                            <a:t>R</a:t>
                          </a:r>
                          <a:endParaRPr lang="zh-CN" sz="2400" b="1" kern="100" dirty="0">
                            <a:solidFill>
                              <a:schemeClr val="tx1"/>
                            </a:solidFill>
                            <a:effectLst/>
                            <a:latin typeface="+mn-ea"/>
                            <a:ea typeface="+mn-ea"/>
                          </a:endParaRPr>
                        </a:p>
                      </a:txBody>
                      <a:tcPr marL="68580" marR="68580" marT="0" marB="0"/>
                    </a:tc>
                    <a:tc vMerge="1">
                      <a:tcPr/>
                    </a:tc>
                    <a:tc>
                      <a:txBody>
                        <a:bodyPr/>
                        <a:lstStyle/>
                        <a:p>
                          <a:pPr algn="ctr">
                            <a:lnSpc>
                              <a:spcPct val="150000"/>
                            </a:lnSpc>
                            <a:spcBef>
                              <a:spcPts val="1200"/>
                            </a:spcBef>
                            <a:spcAft>
                              <a:spcPts val="0"/>
                            </a:spcAft>
                          </a:pPr>
                          <a:r>
                            <a:rPr lang="en-US" altLang="zh-CN" b="1" kern="100" dirty="0">
                              <a:solidFill>
                                <a:schemeClr val="tx1"/>
                              </a:solidFill>
                              <a:effectLst/>
                              <a:latin typeface="+mn-ea"/>
                              <a:ea typeface="+mn-ea"/>
                              <a:cs typeface="宋体" panose="02010600030101010101" pitchFamily="2" charset="-122"/>
                            </a:rPr>
                            <a:t>x=y</a:t>
                          </a:r>
                          <a:endParaRPr lang="en-US" sz="2400" b="1" kern="100" dirty="0">
                            <a:solidFill>
                              <a:schemeClr val="tx1"/>
                            </a:solidFill>
                            <a:effectLst/>
                            <a:latin typeface="+mn-ea"/>
                            <a:ea typeface="+mn-ea"/>
                          </a:endParaRPr>
                        </a:p>
                      </a:txBody>
                      <a:tcPr marL="68580" marR="68580" marT="0" marB="0"/>
                    </a:tc>
                  </a:tr>
                  <a:tr h="892534">
                    <a:tc>
                      <a:txBody>
                        <a:bodyPr/>
                        <a:lstStyle/>
                        <a:p>
                          <a:pPr algn="ctr">
                            <a:lnSpc>
                              <a:spcPct val="150000"/>
                            </a:lnSpc>
                            <a:spcBef>
                              <a:spcPts val="1200"/>
                            </a:spcBef>
                            <a:spcAft>
                              <a:spcPts val="0"/>
                            </a:spcAft>
                          </a:pPr>
                          <a:r>
                            <a:rPr lang="en-US" sz="2400" kern="100" dirty="0">
                              <a:effectLst/>
                            </a:rPr>
                            <a:t>R</a:t>
                          </a:r>
                          <a:r>
                            <a:rPr lang="zh-CN" sz="2400" kern="100" dirty="0">
                              <a:effectLst/>
                            </a:rPr>
                            <a:t>是传递的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ct val="150000"/>
                            </a:lnSpc>
                          </a:pPr>
                          <a:r>
                            <a:rPr lang="zh-CN" altLang="en-US" b="1" dirty="0">
                              <a:solidFill>
                                <a:schemeClr val="tx1"/>
                              </a:solidFill>
                              <a:latin typeface="+mn-ea"/>
                              <a:ea typeface="+mn-ea"/>
                            </a:rPr>
                            <a:t>对</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x∈A</a:t>
                          </a:r>
                          <a:r>
                            <a:rPr lang="en-US" altLang="zh-CN" b="1" dirty="0">
                              <a:solidFill>
                                <a:schemeClr val="tx1"/>
                              </a:solidFill>
                              <a:latin typeface="+mn-ea"/>
                              <a:ea typeface="+mn-ea"/>
                            </a:rPr>
                            <a:t>,</a:t>
                          </a:r>
                          <a:r>
                            <a:rPr lang="es-ES" altLang="zh-CN" b="1" dirty="0">
                              <a:solidFill>
                                <a:schemeClr val="tx1"/>
                              </a:solidFill>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y∈A</a:t>
                          </a:r>
                          <a:r>
                            <a:rPr lang="en-US" altLang="zh-CN" b="1" dirty="0">
                              <a:solidFill>
                                <a:schemeClr val="tx1"/>
                              </a:solidFill>
                              <a:latin typeface="+mn-ea"/>
                              <a:ea typeface="+mn-ea"/>
                            </a:rPr>
                            <a:t>,</a:t>
                          </a:r>
                          <a:r>
                            <a:rPr lang="es-ES" altLang="zh-CN" b="1" dirty="0">
                              <a:solidFill>
                                <a:schemeClr val="tx1"/>
                              </a:solidFill>
                              <a:latin typeface="+mn-ea"/>
                              <a:ea typeface="+mn-ea"/>
                            </a:rPr>
                            <a:t> </a:t>
                          </a:r>
                          <a14:m>
                            <m:oMath xmlns:m="http://schemas.openxmlformats.org/officeDocument/2006/math">
                              <m:r>
                                <a:rPr lang="es-ES" altLang="zh-CN" b="1" i="1" smtClean="0">
                                  <a:solidFill>
                                    <a:schemeClr val="tx1"/>
                                  </a:solidFill>
                                  <a:latin typeface="Cambria Math" panose="02040503050406030204" pitchFamily="18" charset="0"/>
                                  <a:ea typeface="+mn-ea"/>
                                </a:rPr>
                                <m:t>∀</m:t>
                              </m:r>
                            </m:oMath>
                          </a14:m>
                          <a:r>
                            <a:rPr lang="en-US" altLang="zh-CN" b="1" dirty="0" err="1">
                              <a:solidFill>
                                <a:schemeClr val="tx1"/>
                              </a:solidFill>
                              <a:latin typeface="+mn-ea"/>
                              <a:ea typeface="+mn-ea"/>
                            </a:rPr>
                            <a:t>z∈A</a:t>
                          </a:r>
                          <a:r>
                            <a:rPr lang="zh-CN" altLang="en-US" b="1" dirty="0">
                              <a:solidFill>
                                <a:schemeClr val="tx1"/>
                              </a:solidFill>
                              <a:latin typeface="+mn-ea"/>
                              <a:ea typeface="+mn-ea"/>
                            </a:rPr>
                            <a:t>，若</a:t>
                          </a:r>
                          <a:r>
                            <a:rPr lang="en-US" altLang="zh-CN" b="1" dirty="0">
                              <a:solidFill>
                                <a:schemeClr val="tx1"/>
                              </a:solidFill>
                              <a:latin typeface="+mn-ea"/>
                              <a:ea typeface="+mn-ea"/>
                            </a:rPr>
                            <a:t>&lt;</a:t>
                          </a:r>
                          <a:r>
                            <a:rPr lang="en-US" altLang="zh-CN" b="1" dirty="0" err="1">
                              <a:solidFill>
                                <a:schemeClr val="tx1"/>
                              </a:solidFill>
                              <a:latin typeface="+mn-ea"/>
                              <a:ea typeface="+mn-ea"/>
                            </a:rPr>
                            <a:t>x,y</a:t>
                          </a:r>
                          <a:r>
                            <a:rPr lang="en-US" altLang="zh-CN" b="1" dirty="0">
                              <a:solidFill>
                                <a:schemeClr val="tx1"/>
                              </a:solidFill>
                              <a:latin typeface="+mn-ea"/>
                              <a:ea typeface="+mn-ea"/>
                            </a:rPr>
                            <a:t>&gt;∈R</a:t>
                          </a:r>
                          <a:r>
                            <a:rPr lang="zh-CN" altLang="en-US" b="1" dirty="0">
                              <a:solidFill>
                                <a:schemeClr val="tx1"/>
                              </a:solidFill>
                              <a:latin typeface="+mn-ea"/>
                              <a:ea typeface="+mn-ea"/>
                            </a:rPr>
                            <a:t>，</a:t>
                          </a:r>
                          <a:r>
                            <a:rPr lang="en-US" altLang="zh-CN" b="1" dirty="0">
                              <a:solidFill>
                                <a:schemeClr val="tx1"/>
                              </a:solidFill>
                              <a:latin typeface="+mn-ea"/>
                              <a:ea typeface="+mn-ea"/>
                            </a:rPr>
                            <a:t>&lt;</a:t>
                          </a:r>
                          <a:r>
                            <a:rPr lang="en-US" altLang="zh-CN" b="1" dirty="0" err="1">
                              <a:solidFill>
                                <a:schemeClr val="tx1"/>
                              </a:solidFill>
                              <a:latin typeface="+mn-ea"/>
                              <a:ea typeface="+mn-ea"/>
                            </a:rPr>
                            <a:t>y,z</a:t>
                          </a:r>
                          <a:r>
                            <a:rPr lang="en-US" altLang="zh-CN" b="1" dirty="0">
                              <a:solidFill>
                                <a:schemeClr val="tx1"/>
                              </a:solidFill>
                              <a:latin typeface="+mn-ea"/>
                              <a:ea typeface="+mn-ea"/>
                            </a:rPr>
                            <a:t>&gt;∈R</a:t>
                          </a:r>
                          <a:r>
                            <a:rPr lang="en-US" sz="2400" b="1" kern="100" dirty="0">
                              <a:solidFill>
                                <a:schemeClr val="tx1"/>
                              </a:solidFill>
                              <a:effectLst/>
                              <a:latin typeface="+mn-ea"/>
                              <a:ea typeface="+mn-ea"/>
                            </a:rPr>
                            <a:t> </a:t>
                          </a:r>
                          <a:endParaRPr lang="zh-CN" sz="2400" b="1" kern="100" dirty="0">
                            <a:solidFill>
                              <a:schemeClr val="tx1"/>
                            </a:solidFill>
                            <a:effectLst/>
                            <a:latin typeface="+mn-ea"/>
                            <a:ea typeface="+mn-ea"/>
                          </a:endParaRPr>
                        </a:p>
                      </a:txBody>
                      <a:tcPr marL="68580" marR="68580" marT="0" marB="0"/>
                    </a:tc>
                    <a:tc vMerge="1">
                      <a:tcPr/>
                    </a:tc>
                    <a:tc>
                      <a:txBody>
                        <a:bodyPr/>
                        <a:lstStyle/>
                        <a:p>
                          <a:pPr>
                            <a:lnSpc>
                              <a:spcPct val="150000"/>
                            </a:lnSpc>
                          </a:pPr>
                          <a:r>
                            <a:rPr lang="en-US" altLang="zh-CN" b="1" dirty="0">
                              <a:latin typeface="+mn-ea"/>
                            </a:rPr>
                            <a:t>&lt;</a:t>
                          </a:r>
                          <a:r>
                            <a:rPr lang="en-US" altLang="zh-CN" b="1" dirty="0" err="1">
                              <a:latin typeface="+mn-ea"/>
                            </a:rPr>
                            <a:t>x,z</a:t>
                          </a:r>
                          <a:r>
                            <a:rPr lang="en-US" altLang="zh-CN" b="1" dirty="0">
                              <a:latin typeface="+mn-ea"/>
                            </a:rPr>
                            <a:t>&gt;∈R</a:t>
                          </a:r>
                          <a:endParaRPr lang="en-US" sz="2400" b="1" kern="100" dirty="0">
                            <a:solidFill>
                              <a:schemeClr val="tx1"/>
                            </a:solidFill>
                            <a:effectLst/>
                            <a:latin typeface="+mn-ea"/>
                            <a:ea typeface="+mn-ea"/>
                          </a:endParaRPr>
                        </a:p>
                      </a:txBody>
                      <a:tcPr marL="68580" marR="68580" marT="0" marB="0"/>
                    </a:tc>
                  </a:tr>
                </a:tbl>
              </a:graphicData>
            </a:graphic>
          </p:graphicFrame>
        </mc:Choice>
        <mc:Fallback xmlns="">
          <p:graphicFrame>
            <p:nvGraphicFramePr>
              <p:cNvPr id="4" name="表格 3"/>
              <p:cNvGraphicFramePr>
                <a:graphicFrameLocks noGrp="1"/>
              </p:cNvGraphicFramePr>
              <p:nvPr/>
            </p:nvGraphicFramePr>
            <p:xfrm>
              <a:off x="460375" y="1067594"/>
              <a:ext cx="11353799" cy="5352476"/>
            </p:xfrm>
            <a:graphic>
              <a:graphicData uri="http://schemas.openxmlformats.org/drawingml/2006/table">
                <a:tbl>
                  <a:tblPr firstRow="1" firstCol="1" bandRow="1">
                    <a:tableStyleId>{5C22544A-7EE6-4342-B048-85BDC9FD1C3A}</a:tableStyleId>
                  </a:tblPr>
                  <a:tblGrid>
                    <a:gridCol w="2194865"/>
                    <a:gridCol w="5729935"/>
                    <a:gridCol w="1479603"/>
                    <a:gridCol w="1949396"/>
                  </a:tblGrid>
                  <a:tr h="609600">
                    <a:tc>
                      <a:txBody>
                        <a:bodyPr/>
                        <a:lstStyle/>
                        <a:p>
                          <a:pPr algn="ctr">
                            <a:lnSpc>
                              <a:spcPct val="150000"/>
                            </a:lnSpc>
                            <a:spcBef>
                              <a:spcPts val="1200"/>
                            </a:spcBef>
                            <a:spcAft>
                              <a:spcPts val="0"/>
                            </a:spcAft>
                          </a:pPr>
                          <a:r>
                            <a:rPr lang="zh-CN" sz="2400" kern="100" dirty="0">
                              <a:effectLst/>
                            </a:rPr>
                            <a:t>待证性质</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第一步</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dirty="0">
                              <a:effectLst/>
                            </a:rPr>
                            <a:t>中间过程</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Bef>
                              <a:spcPts val="1200"/>
                            </a:spcBef>
                            <a:spcAft>
                              <a:spcPts val="0"/>
                            </a:spcAft>
                          </a:pPr>
                          <a:r>
                            <a:rPr lang="zh-CN" sz="2400" kern="100">
                              <a:effectLst/>
                            </a:rPr>
                            <a:t>最后一步</a:t>
                          </a:r>
                          <a:endParaRPr lang="zh-CN" sz="2400" kern="100">
                            <a:effectLst/>
                            <a:latin typeface="Times New Roman" panose="02020603050405020304" pitchFamily="18" charset="0"/>
                            <a:ea typeface="宋体" panose="02010600030101010101" pitchFamily="2" charset="-122"/>
                          </a:endParaRPr>
                        </a:p>
                      </a:txBody>
                      <a:tcPr marL="68580" marR="68580" marT="0" marB="0"/>
                    </a:tc>
                  </a:tr>
                  <a:tr h="892810">
                    <a:tc>
                      <a:txBody>
                        <a:bodyPr/>
                        <a:lstStyle/>
                        <a:p>
                          <a:pPr algn="ctr">
                            <a:lnSpc>
                              <a:spcPct val="150000"/>
                            </a:lnSpc>
                            <a:spcBef>
                              <a:spcPts val="1200"/>
                            </a:spcBef>
                            <a:spcAft>
                              <a:spcPts val="0"/>
                            </a:spcAft>
                          </a:pPr>
                          <a:r>
                            <a:rPr lang="en-US" sz="2400" kern="100">
                              <a:effectLst/>
                            </a:rPr>
                            <a:t>R</a:t>
                          </a:r>
                          <a:r>
                            <a:rPr lang="zh-CN" sz="2400" kern="100">
                              <a:effectLst/>
                            </a:rPr>
                            <a:t>是自反的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1"/>
                        </a:blipFill>
                      </a:tcPr>
                    </a:tc>
                    <a:tc rowSpan="5">
                      <a:txBody>
                        <a:bodyPr/>
                        <a:lstStyle/>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endParaRPr lang="en-US" altLang="zh-CN" sz="2400" b="1" kern="100" dirty="0">
                            <a:solidFill>
                              <a:schemeClr val="tx1"/>
                            </a:solidFill>
                            <a:effectLst/>
                            <a:latin typeface="+mn-ea"/>
                            <a:ea typeface="+mn-ea"/>
                          </a:endParaRPr>
                        </a:p>
                        <a:p>
                          <a:pPr algn="ctr">
                            <a:lnSpc>
                              <a:spcPct val="150000"/>
                            </a:lnSpc>
                            <a:spcBef>
                              <a:spcPts val="1200"/>
                            </a:spcBef>
                            <a:spcAft>
                              <a:spcPts val="0"/>
                            </a:spcAft>
                          </a:pPr>
                          <a:r>
                            <a:rPr lang="zh-CN" sz="2400" b="1" kern="100" dirty="0">
                              <a:solidFill>
                                <a:schemeClr val="tx1"/>
                              </a:solidFill>
                              <a:effectLst/>
                              <a:latin typeface="+mn-ea"/>
                              <a:ea typeface="+mn-ea"/>
                            </a:rPr>
                            <a:t>结合已知和已有定义、定理</a:t>
                          </a:r>
                          <a:endParaRPr lang="zh-CN" sz="2400" b="1" kern="100" dirty="0">
                            <a:solidFill>
                              <a:schemeClr val="tx1"/>
                            </a:solidFill>
                            <a:effectLst/>
                            <a:latin typeface="+mn-ea"/>
                            <a:ea typeface="+mn-ea"/>
                          </a:endParaRPr>
                        </a:p>
                      </a:txBody>
                      <a:tcPr marL="68580" marR="68580" marT="0" marB="0"/>
                    </a:tc>
                    <a:tc>
                      <a:txBody>
                        <a:bodyPr/>
                        <a:lstStyle/>
                        <a:p>
                          <a:pPr algn="ctr">
                            <a:lnSpc>
                              <a:spcPct val="150000"/>
                            </a:lnSpc>
                            <a:spcBef>
                              <a:spcPts val="1200"/>
                            </a:spcBef>
                            <a:spcAft>
                              <a:spcPts val="0"/>
                            </a:spcAft>
                          </a:pPr>
                          <a:r>
                            <a:rPr lang="en-US" altLang="zh-CN" b="1" dirty="0">
                              <a:solidFill>
                                <a:schemeClr val="tx1"/>
                              </a:solidFill>
                              <a:latin typeface="+mn-ea"/>
                              <a:ea typeface="+mn-ea"/>
                            </a:rPr>
                            <a:t>&lt;</a:t>
                          </a:r>
                          <a:r>
                            <a:rPr lang="en-US" altLang="zh-CN" b="1" dirty="0" err="1">
                              <a:solidFill>
                                <a:schemeClr val="tx1"/>
                              </a:solidFill>
                              <a:latin typeface="+mn-ea"/>
                              <a:ea typeface="+mn-ea"/>
                            </a:rPr>
                            <a:t>x,x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tr>
                  <a:tr h="892175">
                    <a:tc>
                      <a:txBody>
                        <a:bodyPr/>
                        <a:lstStyle/>
                        <a:p>
                          <a:pPr algn="ctr">
                            <a:lnSpc>
                              <a:spcPct val="150000"/>
                            </a:lnSpc>
                            <a:spcBef>
                              <a:spcPts val="1200"/>
                            </a:spcBef>
                            <a:spcAft>
                              <a:spcPts val="0"/>
                            </a:spcAft>
                          </a:pPr>
                          <a:r>
                            <a:rPr lang="en-US" sz="2400" kern="100">
                              <a:effectLst/>
                            </a:rPr>
                            <a:t>R</a:t>
                          </a:r>
                          <a:r>
                            <a:rPr lang="zh-CN" sz="2400" kern="100">
                              <a:effectLst/>
                            </a:rPr>
                            <a:t>是反自反的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1"/>
                        </a:blipFill>
                      </a:tcPr>
                    </a:tc>
                    <a:tc vMerge="1">
                      <a:tcPr/>
                    </a:tc>
                    <a:tc>
                      <a:txBody>
                        <a:bodyPr/>
                        <a:lstStyle/>
                        <a:p>
                          <a:endParaRPr lang="zh-CN"/>
                        </a:p>
                      </a:txBody>
                      <a:tcPr marL="68580" marR="68580" marT="0" marB="0">
                        <a:blipFill>
                          <a:blip r:embed="rId1"/>
                        </a:blipFill>
                      </a:tcPr>
                    </a:tc>
                  </a:tr>
                  <a:tr h="892810">
                    <a:tc>
                      <a:txBody>
                        <a:bodyPr/>
                        <a:lstStyle/>
                        <a:p>
                          <a:pPr algn="ctr">
                            <a:lnSpc>
                              <a:spcPct val="150000"/>
                            </a:lnSpc>
                            <a:spcBef>
                              <a:spcPts val="1200"/>
                            </a:spcBef>
                            <a:spcAft>
                              <a:spcPts val="0"/>
                            </a:spcAft>
                          </a:pPr>
                          <a:r>
                            <a:rPr lang="en-US" sz="2400" kern="100">
                              <a:effectLst/>
                            </a:rPr>
                            <a:t>R</a:t>
                          </a:r>
                          <a:r>
                            <a:rPr lang="zh-CN" sz="2400" kern="100">
                              <a:effectLst/>
                            </a:rPr>
                            <a:t>是对称的</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1"/>
                        </a:blipFill>
                      </a:tcPr>
                    </a:tc>
                    <a:tc vMerge="1">
                      <a:tcPr/>
                    </a:tc>
                    <a:tc>
                      <a:txBody>
                        <a:bodyPr/>
                        <a:lstStyle/>
                        <a:p>
                          <a:pPr algn="ctr">
                            <a:lnSpc>
                              <a:spcPct val="150000"/>
                            </a:lnSpc>
                            <a:spcBef>
                              <a:spcPts val="1200"/>
                            </a:spcBef>
                            <a:spcAft>
                              <a:spcPts val="0"/>
                            </a:spcAft>
                          </a:pPr>
                          <a:r>
                            <a:rPr lang="en-US" altLang="zh-CN" b="1">
                              <a:solidFill>
                                <a:schemeClr val="tx1"/>
                              </a:solidFill>
                              <a:latin typeface="+mn-ea"/>
                              <a:ea typeface="+mn-ea"/>
                            </a:rPr>
                            <a:t>&lt;y,x</a:t>
                          </a:r>
                          <a:r>
                            <a:rPr lang="en-US" altLang="zh-CN" b="1" dirty="0">
                              <a:solidFill>
                                <a:schemeClr val="tx1"/>
                              </a:solidFill>
                              <a:latin typeface="+mn-ea"/>
                              <a:ea typeface="+mn-ea"/>
                            </a:rPr>
                            <a:t>&gt;∈R</a:t>
                          </a:r>
                          <a:endParaRPr lang="en-US" sz="2400" b="1" kern="100" dirty="0">
                            <a:solidFill>
                              <a:schemeClr val="tx1"/>
                            </a:solidFill>
                            <a:effectLst/>
                            <a:latin typeface="+mn-ea"/>
                            <a:ea typeface="+mn-ea"/>
                          </a:endParaRPr>
                        </a:p>
                      </a:txBody>
                      <a:tcPr marL="68580" marR="68580" marT="0" marB="0"/>
                    </a:tc>
                  </a:tr>
                  <a:tr h="1097280">
                    <a:tc>
                      <a:txBody>
                        <a:bodyPr/>
                        <a:lstStyle/>
                        <a:p>
                          <a:pPr algn="ctr">
                            <a:lnSpc>
                              <a:spcPct val="150000"/>
                            </a:lnSpc>
                            <a:spcBef>
                              <a:spcPts val="1200"/>
                            </a:spcBef>
                            <a:spcAft>
                              <a:spcPts val="0"/>
                            </a:spcAft>
                          </a:pPr>
                          <a:r>
                            <a:rPr lang="en-US" sz="2400" kern="100" dirty="0">
                              <a:effectLst/>
                            </a:rPr>
                            <a:t>R</a:t>
                          </a:r>
                          <a:r>
                            <a:rPr lang="zh-CN" sz="2400" kern="100" dirty="0">
                              <a:effectLst/>
                            </a:rPr>
                            <a:t>是反对称的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1"/>
                        </a:blipFill>
                      </a:tcPr>
                    </a:tc>
                    <a:tc vMerge="1">
                      <a:tcPr/>
                    </a:tc>
                    <a:tc>
                      <a:txBody>
                        <a:bodyPr/>
                        <a:lstStyle/>
                        <a:p>
                          <a:pPr algn="ctr">
                            <a:lnSpc>
                              <a:spcPct val="150000"/>
                            </a:lnSpc>
                            <a:spcBef>
                              <a:spcPts val="1200"/>
                            </a:spcBef>
                            <a:spcAft>
                              <a:spcPts val="0"/>
                            </a:spcAft>
                          </a:pPr>
                          <a:r>
                            <a:rPr lang="en-US" altLang="zh-CN" b="1" kern="100" dirty="0">
                              <a:solidFill>
                                <a:schemeClr val="tx1"/>
                              </a:solidFill>
                              <a:effectLst/>
                              <a:latin typeface="+mn-ea"/>
                              <a:ea typeface="+mn-ea"/>
                              <a:cs typeface="宋体" panose="02010600030101010101" pitchFamily="2" charset="-122"/>
                            </a:rPr>
                            <a:t>x=y</a:t>
                          </a:r>
                          <a:endParaRPr lang="en-US" sz="2400" b="1" kern="100" dirty="0">
                            <a:solidFill>
                              <a:schemeClr val="tx1"/>
                            </a:solidFill>
                            <a:effectLst/>
                            <a:latin typeface="+mn-ea"/>
                            <a:ea typeface="+mn-ea"/>
                          </a:endParaRPr>
                        </a:p>
                      </a:txBody>
                      <a:tcPr marL="68580" marR="68580" marT="0" marB="0"/>
                    </a:tc>
                  </a:tr>
                  <a:tr h="1097280">
                    <a:tc>
                      <a:txBody>
                        <a:bodyPr/>
                        <a:lstStyle/>
                        <a:p>
                          <a:pPr algn="ctr">
                            <a:lnSpc>
                              <a:spcPct val="150000"/>
                            </a:lnSpc>
                            <a:spcBef>
                              <a:spcPts val="1200"/>
                            </a:spcBef>
                            <a:spcAft>
                              <a:spcPts val="0"/>
                            </a:spcAft>
                          </a:pPr>
                          <a:r>
                            <a:rPr lang="en-US" sz="2400" kern="100" dirty="0">
                              <a:effectLst/>
                            </a:rPr>
                            <a:t>R</a:t>
                          </a:r>
                          <a:r>
                            <a:rPr lang="zh-CN" sz="2400" kern="100" dirty="0">
                              <a:effectLst/>
                            </a:rPr>
                            <a:t>是传递的</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1"/>
                        </a:blipFill>
                      </a:tcPr>
                    </a:tc>
                    <a:tc vMerge="1">
                      <a:tcPr/>
                    </a:tc>
                    <a:tc>
                      <a:txBody>
                        <a:bodyPr/>
                        <a:lstStyle/>
                        <a:p>
                          <a:pPr>
                            <a:lnSpc>
                              <a:spcPct val="150000"/>
                            </a:lnSpc>
                          </a:pPr>
                          <a:r>
                            <a:rPr lang="en-US" altLang="zh-CN" b="1" dirty="0">
                              <a:latin typeface="+mn-ea"/>
                            </a:rPr>
                            <a:t>&lt;</a:t>
                          </a:r>
                          <a:r>
                            <a:rPr lang="en-US" altLang="zh-CN" b="1" dirty="0" err="1">
                              <a:latin typeface="+mn-ea"/>
                            </a:rPr>
                            <a:t>x,z</a:t>
                          </a:r>
                          <a:r>
                            <a:rPr lang="en-US" altLang="zh-CN" b="1" dirty="0">
                              <a:latin typeface="+mn-ea"/>
                            </a:rPr>
                            <a:t>&gt;∈R</a:t>
                          </a:r>
                          <a:endParaRPr lang="en-US" sz="2400" b="1" kern="100" dirty="0">
                            <a:solidFill>
                              <a:schemeClr val="tx1"/>
                            </a:solidFill>
                            <a:effectLst/>
                            <a:latin typeface="+mn-ea"/>
                            <a:ea typeface="+mn-ea"/>
                          </a:endParaRPr>
                        </a:p>
                      </a:txBody>
                      <a:tcPr marL="68580" marR="68580" marT="0" marB="0"/>
                    </a:tc>
                  </a:tr>
                </a:tbl>
              </a:graphicData>
            </a:graphic>
          </p:graphicFrame>
        </mc:Fallback>
      </mc:AlternateContent>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62" name="Rectangle 2"/>
          <p:cNvSpPr>
            <a:spLocks noGrp="1" noChangeArrowheads="1"/>
          </p:cNvSpPr>
          <p:nvPr>
            <p:ph type="body" idx="1"/>
          </p:nvPr>
        </p:nvSpPr>
        <p:spPr>
          <a:xfrm>
            <a:off x="384176" y="1487833"/>
            <a:ext cx="9500476" cy="4026832"/>
          </a:xfrm>
        </p:spPr>
        <p:txBody>
          <a:bodyPr/>
          <a:lstStyle/>
          <a:p>
            <a:pPr marL="533400" indent="-533400">
              <a:spcBef>
                <a:spcPct val="40000"/>
              </a:spcBef>
              <a:buNone/>
            </a:pPr>
            <a:r>
              <a:rPr lang="zh-CN" altLang="en-US" dirty="0">
                <a:solidFill>
                  <a:srgbClr val="FF0000"/>
                </a:solidFill>
              </a:rPr>
              <a:t>定理</a:t>
            </a:r>
            <a:r>
              <a:rPr lang="en-US" altLang="zh-CN" dirty="0">
                <a:solidFill>
                  <a:srgbClr val="FF0000"/>
                </a:solidFill>
              </a:rPr>
              <a:t>4.9</a:t>
            </a:r>
            <a:r>
              <a:rPr lang="en-US" altLang="zh-CN" dirty="0"/>
              <a:t> </a:t>
            </a:r>
            <a:r>
              <a:rPr lang="zh-CN" altLang="en-US" dirty="0"/>
              <a:t>设</a:t>
            </a:r>
            <a:r>
              <a:rPr lang="en-US" altLang="zh-CN" dirty="0"/>
              <a:t>R</a:t>
            </a:r>
            <a:r>
              <a:rPr lang="zh-CN" altLang="en-US" dirty="0"/>
              <a:t>是集合</a:t>
            </a:r>
            <a:r>
              <a:rPr lang="en-US" altLang="zh-CN" dirty="0"/>
              <a:t>A</a:t>
            </a:r>
            <a:r>
              <a:rPr lang="zh-CN" altLang="en-US" dirty="0"/>
              <a:t>上的二元关系，则：</a:t>
            </a:r>
            <a:endParaRPr lang="zh-CN" altLang="en-US" dirty="0"/>
          </a:p>
          <a:p>
            <a:pPr marL="533400" indent="-533400">
              <a:spcBef>
                <a:spcPct val="40000"/>
              </a:spcBef>
              <a:buNone/>
            </a:pPr>
            <a:r>
              <a:rPr lang="zh-CN" altLang="en-US" dirty="0"/>
              <a:t>（</a:t>
            </a:r>
            <a:r>
              <a:rPr lang="en-US" altLang="zh-CN" dirty="0"/>
              <a:t>1</a:t>
            </a:r>
            <a:r>
              <a:rPr lang="zh-CN" altLang="en-US" dirty="0"/>
              <a:t>）</a:t>
            </a:r>
            <a:r>
              <a:rPr lang="en-US" altLang="zh-CN" dirty="0">
                <a:solidFill>
                  <a:srgbClr val="FF0000"/>
                </a:solidFill>
              </a:rPr>
              <a:t>R</a:t>
            </a:r>
            <a:r>
              <a:rPr lang="zh-CN" altLang="en-US" dirty="0">
                <a:solidFill>
                  <a:srgbClr val="FF0000"/>
                </a:solidFill>
              </a:rPr>
              <a:t>是自反的</a:t>
            </a:r>
            <a:r>
              <a:rPr lang="zh-CN" altLang="en-US" dirty="0">
                <a:solidFill>
                  <a:srgbClr val="FF0000"/>
                </a:solidFill>
                <a:sym typeface="Symbol" panose="05050102010706020507" pitchFamily="18" charset="2"/>
              </a:rPr>
              <a:t></a:t>
            </a:r>
            <a:r>
              <a:rPr lang="en-US" altLang="zh-CN" noProof="1">
                <a:solidFill>
                  <a:srgbClr val="FF0000"/>
                </a:solidFill>
              </a:rPr>
              <a:t>I</a:t>
            </a:r>
            <a:r>
              <a:rPr lang="en-US" altLang="zh-CN" baseline="-25000" dirty="0">
                <a:solidFill>
                  <a:srgbClr val="FF0000"/>
                </a:solidFill>
              </a:rPr>
              <a:t>A</a:t>
            </a:r>
            <a:r>
              <a:rPr lang="en-US" altLang="zh-CN" noProof="1">
                <a:solidFill>
                  <a:srgbClr val="FF0000"/>
                </a:solidFill>
                <a:sym typeface="Symbol" panose="05050102010706020507" pitchFamily="18" charset="2"/>
              </a:rPr>
              <a:t></a:t>
            </a:r>
            <a:r>
              <a:rPr lang="en-US" altLang="zh-CN" dirty="0">
                <a:solidFill>
                  <a:srgbClr val="FF0000"/>
                </a:solidFill>
              </a:rPr>
              <a:t>R</a:t>
            </a:r>
            <a:r>
              <a:rPr lang="zh-CN" altLang="en-US" dirty="0">
                <a:solidFill>
                  <a:srgbClr val="FF0000"/>
                </a:solidFill>
              </a:rPr>
              <a:t>；</a:t>
            </a:r>
            <a:endParaRPr lang="zh-CN" altLang="en-US" dirty="0"/>
          </a:p>
          <a:p>
            <a:pPr marL="533400" indent="-533400">
              <a:spcBef>
                <a:spcPct val="40000"/>
              </a:spcBef>
              <a:buNone/>
            </a:pPr>
            <a:r>
              <a:rPr lang="zh-CN" altLang="en-US" dirty="0"/>
              <a:t>（</a:t>
            </a:r>
            <a:r>
              <a:rPr lang="en-US" altLang="zh-CN" dirty="0"/>
              <a:t>2</a:t>
            </a:r>
            <a:r>
              <a:rPr lang="zh-CN" altLang="en-US" dirty="0"/>
              <a:t>）</a:t>
            </a:r>
            <a:r>
              <a:rPr lang="en-US" altLang="zh-CN" dirty="0"/>
              <a:t>R</a:t>
            </a:r>
            <a:r>
              <a:rPr lang="zh-CN" altLang="en-US" dirty="0"/>
              <a:t>是反自反的</a:t>
            </a:r>
            <a:r>
              <a:rPr lang="zh-CN" altLang="en-US" dirty="0">
                <a:sym typeface="Symbol" panose="05050102010706020507" pitchFamily="18" charset="2"/>
              </a:rPr>
              <a:t></a:t>
            </a:r>
            <a:r>
              <a:rPr lang="en-US" altLang="zh-CN" noProof="1"/>
              <a:t>R∩I</a:t>
            </a:r>
            <a:r>
              <a:rPr lang="en-US" altLang="zh-CN" baseline="-25000" dirty="0"/>
              <a:t>A</a:t>
            </a:r>
            <a:r>
              <a:rPr lang="zh-CN" altLang="en-US" dirty="0"/>
              <a:t>＝</a:t>
            </a:r>
            <a:r>
              <a:rPr lang="en-US" altLang="zh-CN" dirty="0"/>
              <a:t>Φ</a:t>
            </a:r>
            <a:r>
              <a:rPr lang="zh-CN" altLang="en-US" dirty="0"/>
              <a:t>；</a:t>
            </a:r>
            <a:endParaRPr lang="zh-CN" altLang="en-US" dirty="0"/>
          </a:p>
          <a:p>
            <a:pPr marL="533400" indent="-533400">
              <a:spcBef>
                <a:spcPct val="40000"/>
              </a:spcBef>
              <a:buNone/>
            </a:pPr>
            <a:r>
              <a:rPr lang="zh-CN" altLang="en-US" dirty="0"/>
              <a:t>（</a:t>
            </a:r>
            <a:r>
              <a:rPr lang="en-US" altLang="zh-CN" dirty="0"/>
              <a:t>3</a:t>
            </a:r>
            <a:r>
              <a:rPr lang="zh-CN" altLang="en-US" dirty="0"/>
              <a:t>）</a:t>
            </a:r>
            <a:r>
              <a:rPr lang="en-US" altLang="zh-CN" dirty="0">
                <a:solidFill>
                  <a:srgbClr val="FF0000"/>
                </a:solidFill>
              </a:rPr>
              <a:t>R</a:t>
            </a:r>
            <a:r>
              <a:rPr lang="zh-CN" altLang="en-US" dirty="0">
                <a:solidFill>
                  <a:srgbClr val="FF0000"/>
                </a:solidFill>
              </a:rPr>
              <a:t>是对称的</a:t>
            </a:r>
            <a:r>
              <a:rPr lang="zh-CN" altLang="en-US" dirty="0">
                <a:solidFill>
                  <a:srgbClr val="FF0000"/>
                </a:solidFill>
                <a:sym typeface="Symbol" panose="05050102010706020507" pitchFamily="18" charset="2"/>
              </a:rPr>
              <a:t></a:t>
            </a:r>
            <a:r>
              <a:rPr lang="en-US" altLang="zh-CN" noProof="1">
                <a:solidFill>
                  <a:srgbClr val="FF0000"/>
                </a:solidFill>
              </a:rPr>
              <a:t>R＝R</a:t>
            </a:r>
            <a:r>
              <a:rPr lang="en-US" altLang="zh-CN" baseline="30000" dirty="0">
                <a:solidFill>
                  <a:srgbClr val="FF0000"/>
                </a:solidFill>
              </a:rPr>
              <a:t>-1</a:t>
            </a:r>
            <a:r>
              <a:rPr lang="zh-CN" altLang="en-US" dirty="0">
                <a:solidFill>
                  <a:srgbClr val="FF0000"/>
                </a:solidFill>
              </a:rPr>
              <a:t>；</a:t>
            </a:r>
            <a:endParaRPr lang="zh-CN" altLang="en-US" dirty="0">
              <a:solidFill>
                <a:srgbClr val="FF0000"/>
              </a:solidFill>
            </a:endParaRPr>
          </a:p>
          <a:p>
            <a:pPr marL="533400" indent="-533400">
              <a:spcBef>
                <a:spcPct val="40000"/>
              </a:spcBef>
              <a:buNone/>
            </a:pPr>
            <a:r>
              <a:rPr lang="zh-CN" altLang="en-US" dirty="0"/>
              <a:t>（</a:t>
            </a:r>
            <a:r>
              <a:rPr lang="en-US" altLang="zh-CN" dirty="0"/>
              <a:t>4</a:t>
            </a:r>
            <a:r>
              <a:rPr lang="zh-CN" altLang="en-US" dirty="0"/>
              <a:t>）</a:t>
            </a:r>
            <a:r>
              <a:rPr lang="en-US" altLang="zh-CN" dirty="0"/>
              <a:t>R</a:t>
            </a:r>
            <a:r>
              <a:rPr lang="zh-CN" altLang="en-US" dirty="0"/>
              <a:t>是反对称的</a:t>
            </a:r>
            <a:r>
              <a:rPr lang="zh-CN" altLang="en-US" dirty="0">
                <a:sym typeface="Symbol" panose="05050102010706020507" pitchFamily="18" charset="2"/>
              </a:rPr>
              <a:t></a:t>
            </a:r>
            <a:r>
              <a:rPr lang="en-US" altLang="zh-CN" noProof="1"/>
              <a:t>R∩R</a:t>
            </a:r>
            <a:r>
              <a:rPr lang="en-US" altLang="zh-CN" baseline="30000" dirty="0"/>
              <a:t>-1</a:t>
            </a:r>
            <a:r>
              <a:rPr lang="en-US" altLang="zh-CN" noProof="1">
                <a:sym typeface="Symbol" panose="05050102010706020507" pitchFamily="18" charset="2"/>
              </a:rPr>
              <a:t></a:t>
            </a:r>
            <a:r>
              <a:rPr lang="en-US" altLang="zh-CN" dirty="0"/>
              <a:t>I</a:t>
            </a:r>
            <a:r>
              <a:rPr lang="en-US" altLang="zh-CN" baseline="-25000" dirty="0"/>
              <a:t>A</a:t>
            </a:r>
            <a:r>
              <a:rPr lang="zh-CN" altLang="en-US" dirty="0"/>
              <a:t>；</a:t>
            </a:r>
            <a:endParaRPr lang="zh-CN" altLang="en-US" dirty="0"/>
          </a:p>
          <a:p>
            <a:pPr marL="533400" indent="-533400">
              <a:spcBef>
                <a:spcPct val="40000"/>
              </a:spcBef>
              <a:buNone/>
            </a:pPr>
            <a:r>
              <a:rPr lang="zh-CN" altLang="en-US" dirty="0"/>
              <a:t>（</a:t>
            </a:r>
            <a:r>
              <a:rPr lang="en-US" altLang="zh-CN" dirty="0"/>
              <a:t>5</a:t>
            </a:r>
            <a:r>
              <a:rPr lang="zh-CN" altLang="en-US" dirty="0"/>
              <a:t>）</a:t>
            </a:r>
            <a:r>
              <a:rPr lang="en-US" altLang="zh-CN" dirty="0"/>
              <a:t>R</a:t>
            </a:r>
            <a:r>
              <a:rPr lang="zh-CN" altLang="en-US" dirty="0"/>
              <a:t>是传递的</a:t>
            </a:r>
            <a:r>
              <a:rPr lang="zh-CN" altLang="en-US" dirty="0">
                <a:sym typeface="Symbol" panose="05050102010706020507" pitchFamily="18" charset="2"/>
              </a:rPr>
              <a:t></a:t>
            </a:r>
            <a:r>
              <a:rPr lang="en-US" altLang="zh-CN" noProof="1"/>
              <a:t>R</a:t>
            </a:r>
            <a:r>
              <a:rPr lang="en-US" altLang="zh-CN" noProof="1">
                <a:sym typeface="Symbol" panose="05050102010706020507" pitchFamily="18" charset="2"/>
              </a:rPr>
              <a:t></a:t>
            </a:r>
            <a:r>
              <a:rPr lang="en-US" altLang="zh-CN" noProof="1"/>
              <a:t>R </a:t>
            </a:r>
            <a:r>
              <a:rPr lang="en-US" altLang="zh-CN" noProof="1">
                <a:sym typeface="Symbol" panose="05050102010706020507" pitchFamily="18" charset="2"/>
              </a:rPr>
              <a:t></a:t>
            </a:r>
            <a:r>
              <a:rPr lang="en-US" altLang="zh-CN" dirty="0"/>
              <a:t>R</a:t>
            </a:r>
            <a:r>
              <a:rPr lang="zh-CN" altLang="en-US" dirty="0"/>
              <a:t>。</a:t>
            </a:r>
            <a:endParaRPr lang="zh-CN" altLang="en-US" dirty="0"/>
          </a:p>
        </p:txBody>
      </p:sp>
      <p:sp>
        <p:nvSpPr>
          <p:cNvPr id="248836" name="Rectangle 3"/>
          <p:cNvSpPr>
            <a:spLocks noGrp="1" noChangeArrowheads="1"/>
          </p:cNvSpPr>
          <p:nvPr>
            <p:ph type="title"/>
          </p:nvPr>
        </p:nvSpPr>
        <p:spPr/>
        <p:txBody>
          <a:bodyPr/>
          <a:lstStyle/>
          <a:p>
            <a:pPr eaLnBrk="1" hangingPunct="1"/>
            <a:r>
              <a:rPr lang="zh-CN" altLang="en-US" dirty="0"/>
              <a:t>定理</a:t>
            </a:r>
            <a:r>
              <a:rPr lang="en-US" altLang="zh-CN" dirty="0"/>
              <a:t>4.9</a:t>
            </a:r>
            <a:endParaRPr lang="zh-CN" altLang="en-US" sz="4000" dirty="0"/>
          </a:p>
        </p:txBody>
      </p:sp>
    </p:spTree>
  </p:cSld>
  <p:clrMapOvr>
    <a:masterClrMapping/>
  </p:clrMapOvr>
  <p:transition>
    <p:random/>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3"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证明</a:t>
            </a:r>
            <a:r>
              <a:rPr kumimoji="1" lang="zh-CN" altLang="en-US" dirty="0"/>
              <a:t>（</a:t>
            </a:r>
            <a:r>
              <a:rPr kumimoji="1" lang="en-US" altLang="zh-CN" dirty="0"/>
              <a:t>2</a:t>
            </a:r>
            <a:r>
              <a:rPr kumimoji="1" lang="zh-CN" altLang="en-US" dirty="0"/>
              <a:t>）</a:t>
            </a:r>
            <a:endParaRPr kumimoji="1" lang="zh-CN" altLang="en-US" dirty="0"/>
          </a:p>
        </p:txBody>
      </p:sp>
      <p:sp>
        <p:nvSpPr>
          <p:cNvPr id="1579011" name="Rectangle 3"/>
          <p:cNvSpPr>
            <a:spLocks noChangeArrowheads="1"/>
          </p:cNvSpPr>
          <p:nvPr/>
        </p:nvSpPr>
        <p:spPr bwMode="auto">
          <a:xfrm>
            <a:off x="498475" y="1219994"/>
            <a:ext cx="4000500" cy="22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lang="zh-CN" altLang="zh-CN" sz="2400" dirty="0">
                <a:solidFill>
                  <a:srgbClr val="3333FF"/>
                </a:solidFill>
                <a:latin typeface="微软雅黑" panose="020B0503020204020204" pitchFamily="34" charset="-122"/>
                <a:ea typeface="微软雅黑" panose="020B0503020204020204" pitchFamily="34" charset="-122"/>
              </a:rPr>
              <a:t>必要性</a:t>
            </a:r>
            <a:r>
              <a:rPr lang="en-US" altLang="zh-CN" sz="2400" dirty="0">
                <a:solidFill>
                  <a:srgbClr val="3333FF"/>
                </a:solidFill>
                <a:latin typeface="微软雅黑" panose="020B0503020204020204" pitchFamily="34" charset="-122"/>
                <a:ea typeface="微软雅黑" panose="020B0503020204020204" pitchFamily="34" charset="-122"/>
              </a:rPr>
              <a:t>(</a:t>
            </a:r>
            <a:r>
              <a:rPr lang="zh-CN" altLang="zh-CN" sz="2400" dirty="0">
                <a:solidFill>
                  <a:srgbClr val="3333FF"/>
                </a:solidFill>
                <a:latin typeface="微软雅黑" panose="020B0503020204020204" pitchFamily="34" charset="-122"/>
                <a:ea typeface="微软雅黑" panose="020B0503020204020204" pitchFamily="34" charset="-122"/>
              </a:rPr>
              <a:t>反证法</a:t>
            </a:r>
            <a:r>
              <a:rPr lang="en-US" altLang="zh-CN" sz="2400" dirty="0">
                <a:solidFill>
                  <a:srgbClr val="3333FF"/>
                </a:solidFill>
                <a:latin typeface="微软雅黑" panose="020B0503020204020204" pitchFamily="34" charset="-122"/>
                <a:ea typeface="微软雅黑" panose="020B0503020204020204" pitchFamily="34" charset="-122"/>
              </a:rPr>
              <a:t>)</a:t>
            </a:r>
            <a:r>
              <a:rPr kumimoji="1" lang="zh-CN" altLang="en-US" sz="2400" dirty="0">
                <a:solidFill>
                  <a:srgbClr val="3333FF"/>
                </a:solidFill>
                <a:latin typeface="微软雅黑" panose="020B0503020204020204" pitchFamily="34" charset="-122"/>
                <a:ea typeface="微软雅黑" panose="020B0503020204020204" pitchFamily="34" charset="-122"/>
              </a:rPr>
              <a:t>“</a:t>
            </a:r>
            <a:r>
              <a:rPr kumimoji="1" lang="zh-CN" altLang="en-US" sz="2400" dirty="0">
                <a:solidFill>
                  <a:srgbClr val="3333FF"/>
                </a:solidFill>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400" dirty="0">
                <a:solidFill>
                  <a:srgbClr val="3333FF"/>
                </a:solidFill>
                <a:latin typeface="微软雅黑" panose="020B0503020204020204" pitchFamily="34" charset="-122"/>
                <a:ea typeface="微软雅黑" panose="020B0503020204020204" pitchFamily="34" charset="-122"/>
              </a:rPr>
              <a:t>”</a:t>
            </a:r>
            <a:endParaRPr kumimoji="1" lang="zh-CN" altLang="en-US" sz="2400" noProof="1">
              <a:solidFill>
                <a:srgbClr val="3333FF"/>
              </a:solidFill>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noProof="1">
                <a:latin typeface="微软雅黑" panose="020B0503020204020204" pitchFamily="34" charset="-122"/>
                <a:ea typeface="微软雅黑" panose="020B0503020204020204" pitchFamily="34" charset="-122"/>
                <a:sym typeface="Symbol" panose="05050102010706020507" pitchFamily="18" charset="2"/>
              </a:rPr>
              <a:t>假设</a:t>
            </a:r>
            <a:r>
              <a:rPr lang="en-US" altLang="zh-CN" sz="2400" noProof="1">
                <a:latin typeface="微软雅黑" panose="020B0503020204020204" pitchFamily="34" charset="-122"/>
                <a:ea typeface="微软雅黑" panose="020B0503020204020204" pitchFamily="34" charset="-122"/>
              </a:rPr>
              <a:t>R∩I</a:t>
            </a:r>
            <a:r>
              <a:rPr lang="en-US" altLang="zh-CN" sz="2400" baseline="-250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Φ</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lang="zh-CN" altLang="en-US" sz="2400" dirty="0">
                <a:latin typeface="微软雅黑" panose="020B0503020204020204" pitchFamily="34" charset="-122"/>
                <a:ea typeface="微软雅黑" panose="020B0503020204020204" pitchFamily="34" charset="-122"/>
              </a:rPr>
              <a:t>则存在</a:t>
            </a:r>
            <a:r>
              <a:rPr kumimoji="1" lang="zh-CN" altLang="en-US" sz="2400" noProof="1">
                <a:latin typeface="微软雅黑" panose="020B0503020204020204" pitchFamily="34" charset="-122"/>
                <a:ea typeface="微软雅黑" panose="020B0503020204020204" pitchFamily="34" charset="-122"/>
              </a:rPr>
              <a:t>&lt;</a:t>
            </a:r>
            <a:r>
              <a:rPr kumimoji="1" lang="en-US" altLang="zh-CN" sz="2400" noProof="1">
                <a:latin typeface="微软雅黑" panose="020B0503020204020204" pitchFamily="34" charset="-122"/>
                <a:ea typeface="微软雅黑" panose="020B0503020204020204" pitchFamily="34" charset="-122"/>
              </a:rPr>
              <a:t>a,b&gt;∈</a:t>
            </a:r>
            <a:r>
              <a:rPr lang="en-US" altLang="zh-CN" sz="2400" noProof="1">
                <a:latin typeface="微软雅黑" panose="020B0503020204020204" pitchFamily="34" charset="-122"/>
                <a:ea typeface="微软雅黑" panose="020B0503020204020204" pitchFamily="34" charset="-122"/>
              </a:rPr>
              <a:t>R∩I</a:t>
            </a:r>
            <a:r>
              <a:rPr lang="en-US" altLang="zh-CN" sz="2400" baseline="-25000" dirty="0">
                <a:latin typeface="微软雅黑" panose="020B0503020204020204" pitchFamily="34" charset="-122"/>
                <a:ea typeface="微软雅黑" panose="020B0503020204020204" pitchFamily="34" charset="-122"/>
              </a:rPr>
              <a:t>A </a:t>
            </a:r>
            <a:r>
              <a:rPr kumimoji="1" lang="zh-CN" altLang="en-US" sz="2400" dirty="0">
                <a:latin typeface="微软雅黑" panose="020B0503020204020204" pitchFamily="34" charset="-122"/>
                <a:ea typeface="微软雅黑" panose="020B0503020204020204" pitchFamily="34" charset="-122"/>
              </a:rPr>
              <a:t>，</a:t>
            </a:r>
            <a:endParaRPr kumimoji="1"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则</a:t>
            </a:r>
            <a:r>
              <a:rPr kumimoji="1" lang="en-US" altLang="zh-CN" sz="2400" dirty="0">
                <a:latin typeface="微软雅黑" panose="020B0503020204020204" pitchFamily="34" charset="-122"/>
                <a:ea typeface="微软雅黑" panose="020B0503020204020204" pitchFamily="34" charset="-122"/>
              </a:rPr>
              <a:t>&lt;</a:t>
            </a:r>
            <a:r>
              <a:rPr kumimoji="1" lang="en-US" altLang="zh-CN" sz="2400" dirty="0" err="1">
                <a:latin typeface="微软雅黑" panose="020B0503020204020204" pitchFamily="34" charset="-122"/>
                <a:ea typeface="微软雅黑" panose="020B0503020204020204" pitchFamily="34" charset="-122"/>
              </a:rPr>
              <a:t>a,b</a:t>
            </a:r>
            <a:r>
              <a:rPr kumimoji="1" lang="en-US" altLang="zh-CN" sz="2400" dirty="0">
                <a:latin typeface="微软雅黑" panose="020B0503020204020204" pitchFamily="34" charset="-122"/>
                <a:ea typeface="微软雅黑" panose="020B0503020204020204" pitchFamily="34" charset="-122"/>
              </a:rPr>
              <a:t>&gt;</a:t>
            </a:r>
            <a:r>
              <a:rPr kumimoji="1" lang="en-US" altLang="zh-CN" sz="2400" noProof="1">
                <a:latin typeface="微软雅黑" panose="020B0503020204020204" pitchFamily="34" charset="-122"/>
                <a:ea typeface="微软雅黑" panose="020B0503020204020204" pitchFamily="34" charset="-122"/>
              </a:rPr>
              <a:t>∈</a:t>
            </a:r>
            <a:r>
              <a:rPr lang="en-US" altLang="zh-CN" sz="2400" noProof="1">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A</a:t>
            </a:r>
            <a:r>
              <a:rPr kumimoji="1"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Rectangle 3"/>
              <p:cNvSpPr>
                <a:spLocks noChangeArrowheads="1"/>
              </p:cNvSpPr>
              <p:nvPr/>
            </p:nvSpPr>
            <p:spPr bwMode="auto">
              <a:xfrm>
                <a:off x="7318375" y="1296194"/>
                <a:ext cx="40005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lang="zh-CN" altLang="en-US" sz="2400" dirty="0">
                    <a:solidFill>
                      <a:srgbClr val="3333FF"/>
                    </a:solidFill>
                    <a:latin typeface="+mn-ea"/>
                    <a:ea typeface="+mn-ea"/>
                  </a:rPr>
                  <a:t>充分性</a:t>
                </a:r>
                <a:r>
                  <a:rPr lang="zh-CN" altLang="en-US" sz="2400" dirty="0">
                    <a:solidFill>
                      <a:srgbClr val="C00000"/>
                    </a:solidFill>
                    <a:sym typeface="+mn-ea"/>
                  </a:rPr>
                  <a:t>“</a:t>
                </a:r>
                <a:r>
                  <a:rPr lang="zh-CN" altLang="en-US" sz="2400" dirty="0">
                    <a:solidFill>
                      <a:srgbClr val="C00000"/>
                    </a:solidFill>
                    <a:sym typeface="Symbol" panose="05050102010706020507" pitchFamily="18" charset="2"/>
                  </a:rPr>
                  <a:t></a:t>
                </a:r>
                <a:r>
                  <a:rPr lang="zh-CN" altLang="zh-CN" sz="2400">
                    <a:solidFill>
                      <a:srgbClr val="C00000"/>
                    </a:solidFill>
                    <a:sym typeface="+mn-ea"/>
                  </a:rPr>
                  <a:t>”</a:t>
                </a:r>
                <a:endParaRPr kumimoji="1" lang="zh-CN" altLang="en-US" sz="2400" noProof="1">
                  <a:solidFill>
                    <a:srgbClr val="3333FF"/>
                  </a:solidFill>
                  <a:latin typeface="+mn-ea"/>
                  <a:ea typeface="+mn-ea"/>
                </a:endParaRPr>
              </a:p>
              <a:p>
                <a:pPr algn="l">
                  <a:lnSpc>
                    <a:spcPct val="150000"/>
                  </a:lnSpc>
                  <a:spcBef>
                    <a:spcPct val="0"/>
                  </a:spcBef>
                  <a:buClr>
                    <a:srgbClr val="00FF00"/>
                  </a:buClr>
                  <a:buNone/>
                </a:pPr>
                <a:r>
                  <a:rPr kumimoji="1" lang="zh-CN" altLang="en-US" sz="2400" noProof="1">
                    <a:latin typeface="+mn-ea"/>
                    <a:ea typeface="+mn-ea"/>
                    <a:sym typeface="Symbol" panose="05050102010706020507" pitchFamily="18" charset="2"/>
                  </a:rPr>
                  <a:t>对</a:t>
                </a:r>
                <a14:m>
                  <m:oMath xmlns:m="http://schemas.openxmlformats.org/officeDocument/2006/math">
                    <m:r>
                      <a:rPr lang="es-ES" altLang="zh-CN" sz="2400" b="1" i="1">
                        <a:solidFill>
                          <a:schemeClr val="tx1"/>
                        </a:solidFill>
                        <a:latin typeface="Cambria Math" panose="02040503050406030204" pitchFamily="18" charset="0"/>
                        <a:ea typeface="+mn-ea"/>
                      </a:rPr>
                      <m:t>∀</m:t>
                    </m:r>
                    <m:r>
                      <a:rPr lang="en-US" altLang="zh-CN" sz="2400" b="1" i="1">
                        <a:solidFill>
                          <a:schemeClr val="tx1"/>
                        </a:solidFill>
                        <a:latin typeface="Cambria Math" panose="02040503050406030204" pitchFamily="18" charset="0"/>
                        <a:ea typeface="+mn-ea"/>
                      </a:rPr>
                      <m:t>𝒂</m:t>
                    </m:r>
                  </m:oMath>
                </a14:m>
                <a:r>
                  <a:rPr lang="en-US" altLang="zh-CN" sz="2400" dirty="0">
                    <a:solidFill>
                      <a:schemeClr val="tx1"/>
                    </a:solidFill>
                    <a:latin typeface="+mn-ea"/>
                    <a:ea typeface="+mn-ea"/>
                  </a:rPr>
                  <a:t>∈A, </a:t>
                </a:r>
                <a:r>
                  <a:rPr lang="zh-CN" altLang="en-US" sz="2400" dirty="0">
                    <a:solidFill>
                      <a:schemeClr val="tx1"/>
                    </a:solidFill>
                    <a:latin typeface="+mn-ea"/>
                    <a:ea typeface="+mn-ea"/>
                  </a:rPr>
                  <a:t>有</a:t>
                </a:r>
                <a:r>
                  <a:rPr kumimoji="1" lang="zh-CN" altLang="en-US" sz="2400" noProof="1">
                    <a:latin typeface="+mn-ea"/>
                    <a:ea typeface="+mn-ea"/>
                  </a:rPr>
                  <a:t>&lt;</a:t>
                </a:r>
                <a:r>
                  <a:rPr kumimoji="1" lang="en-US" altLang="zh-CN" sz="2400" noProof="1">
                    <a:latin typeface="+mn-ea"/>
                    <a:ea typeface="+mn-ea"/>
                  </a:rPr>
                  <a:t>a,a&gt;∈</a:t>
                </a:r>
                <a:r>
                  <a:rPr lang="en-US" altLang="zh-CN" sz="2400" noProof="1">
                    <a:latin typeface="+mn-ea"/>
                    <a:ea typeface="+mn-ea"/>
                  </a:rPr>
                  <a:t>I</a:t>
                </a:r>
                <a:r>
                  <a:rPr lang="en-US" altLang="zh-CN" sz="2400" baseline="-25000" dirty="0">
                    <a:latin typeface="+mn-ea"/>
                    <a:ea typeface="+mn-ea"/>
                  </a:rPr>
                  <a:t>A </a:t>
                </a:r>
                <a:r>
                  <a:rPr kumimoji="1" lang="en-US" altLang="zh-CN" sz="2400" dirty="0">
                    <a:latin typeface="+mn-ea"/>
                    <a:ea typeface="+mn-ea"/>
                  </a:rPr>
                  <a:t>.</a:t>
                </a:r>
                <a:endParaRPr kumimoji="1" lang="en-US" altLang="zh-CN" sz="2400" dirty="0">
                  <a:latin typeface="+mn-ea"/>
                  <a:ea typeface="+mn-ea"/>
                </a:endParaRPr>
              </a:p>
              <a:p>
                <a:pPr algn="l">
                  <a:lnSpc>
                    <a:spcPct val="150000"/>
                  </a:lnSpc>
                  <a:spcBef>
                    <a:spcPct val="0"/>
                  </a:spcBef>
                  <a:buClr>
                    <a:srgbClr val="00FF00"/>
                  </a:buClr>
                  <a:buNone/>
                </a:pPr>
                <a:r>
                  <a:rPr kumimoji="1" lang="zh-CN" altLang="en-US" sz="2400" dirty="0">
                    <a:latin typeface="+mn-ea"/>
                    <a:ea typeface="+mn-ea"/>
                  </a:rPr>
                  <a:t>因为</a:t>
                </a:r>
                <a:r>
                  <a:rPr lang="en-US" altLang="zh-CN" sz="2400" noProof="1">
                    <a:latin typeface="+mn-ea"/>
                    <a:ea typeface="+mn-ea"/>
                  </a:rPr>
                  <a:t>R∩I</a:t>
                </a:r>
                <a:r>
                  <a:rPr lang="en-US" altLang="zh-CN" sz="2400" baseline="-25000" dirty="0">
                    <a:latin typeface="+mn-ea"/>
                    <a:ea typeface="+mn-ea"/>
                  </a:rPr>
                  <a:t>A</a:t>
                </a:r>
                <a:r>
                  <a:rPr lang="zh-CN" altLang="en-US" sz="2400" dirty="0">
                    <a:latin typeface="+mn-ea"/>
                    <a:ea typeface="+mn-ea"/>
                  </a:rPr>
                  <a:t>＝</a:t>
                </a:r>
                <a:r>
                  <a:rPr lang="en-US" altLang="zh-CN" sz="2400" dirty="0">
                    <a:latin typeface="+mn-ea"/>
                    <a:ea typeface="+mn-ea"/>
                  </a:rPr>
                  <a:t>Φ</a:t>
                </a:r>
                <a:r>
                  <a:rPr lang="zh-CN" altLang="en-US" sz="2400" dirty="0">
                    <a:latin typeface="+mn-ea"/>
                    <a:ea typeface="+mn-ea"/>
                  </a:rPr>
                  <a:t>，所以</a:t>
                </a:r>
                <a:r>
                  <a:rPr kumimoji="1" lang="en-US" altLang="zh-CN" sz="2400" dirty="0">
                    <a:latin typeface="+mn-ea"/>
                    <a:ea typeface="+mn-ea"/>
                  </a:rPr>
                  <a:t>&lt;</a:t>
                </a:r>
                <a:r>
                  <a:rPr kumimoji="1" lang="en-US" altLang="zh-CN" sz="2400" dirty="0" err="1">
                    <a:latin typeface="+mn-ea"/>
                    <a:ea typeface="+mn-ea"/>
                  </a:rPr>
                  <a:t>a,a</a:t>
                </a:r>
                <a:r>
                  <a:rPr kumimoji="1" lang="en-US" altLang="zh-CN" sz="2400" dirty="0">
                    <a:latin typeface="+mn-ea"/>
                    <a:ea typeface="+mn-ea"/>
                  </a:rPr>
                  <a:t>&gt;</a:t>
                </a:r>
                <a14:m>
                  <m:oMath xmlns:m="http://schemas.openxmlformats.org/officeDocument/2006/math">
                    <m:r>
                      <a:rPr kumimoji="1" lang="en-US" altLang="zh-CN" sz="2400" i="1" smtClean="0">
                        <a:latin typeface="Cambria Math" panose="02040503050406030204" pitchFamily="18" charset="0"/>
                        <a:ea typeface="Cambria Math" panose="02040503050406030204" pitchFamily="18" charset="0"/>
                      </a:rPr>
                      <m:t>∉</m:t>
                    </m:r>
                  </m:oMath>
                </a14:m>
                <a:r>
                  <a:rPr kumimoji="1" lang="en-US" altLang="zh-CN" sz="2400" dirty="0">
                    <a:latin typeface="+mn-ea"/>
                    <a:ea typeface="+mn-ea"/>
                  </a:rPr>
                  <a:t>R</a:t>
                </a:r>
                <a:r>
                  <a:rPr kumimoji="1" lang="zh-CN" altLang="en-US" sz="2400" dirty="0">
                    <a:latin typeface="+mn-ea"/>
                    <a:ea typeface="+mn-ea"/>
                  </a:rPr>
                  <a:t>，</a:t>
                </a:r>
                <a:r>
                  <a:rPr kumimoji="1" lang="en-US" altLang="zh-CN" sz="2400" dirty="0">
                    <a:latin typeface="+mn-ea"/>
                    <a:ea typeface="+mn-ea"/>
                  </a:rPr>
                  <a:t>R</a:t>
                </a:r>
                <a:r>
                  <a:rPr kumimoji="1" lang="zh-CN" altLang="en-US" sz="2400" dirty="0">
                    <a:latin typeface="+mn-ea"/>
                    <a:ea typeface="+mn-ea"/>
                  </a:rPr>
                  <a:t>是反自反的。</a:t>
                </a:r>
                <a:endParaRPr kumimoji="1" lang="en-US" altLang="zh-CN" sz="2400" dirty="0">
                  <a:latin typeface="+mn-ea"/>
                  <a:ea typeface="+mn-ea"/>
                </a:endParaRPr>
              </a:p>
            </p:txBody>
          </p:sp>
        </mc:Choice>
        <mc:Fallback>
          <p:sp>
            <p:nvSpPr>
              <p:cNvPr id="7" name="Rectangle 3"/>
              <p:cNvSpPr>
                <a:spLocks noRot="1" noChangeAspect="1" noMove="1" noResize="1" noEditPoints="1" noAdjustHandles="1" noChangeArrowheads="1" noChangeShapeType="1" noTextEdit="1"/>
              </p:cNvSpPr>
              <p:nvPr/>
            </p:nvSpPr>
            <p:spPr bwMode="auto">
              <a:xfrm>
                <a:off x="7318375" y="1296194"/>
                <a:ext cx="4000500" cy="2306955"/>
              </a:xfrm>
              <a:prstGeom prst="rect">
                <a:avLst/>
              </a:prstGeom>
              <a:blipFill rotWithShape="1">
                <a:blip r:embed="rId1"/>
                <a:stretch>
                  <a:fillRect t="-7" b="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Rectangle 3"/>
          <p:cNvSpPr>
            <a:spLocks noChangeArrowheads="1"/>
          </p:cNvSpPr>
          <p:nvPr/>
        </p:nvSpPr>
        <p:spPr bwMode="auto">
          <a:xfrm>
            <a:off x="498475" y="3582194"/>
            <a:ext cx="5067300"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由</a:t>
            </a:r>
            <a:r>
              <a:rPr lang="en-US" altLang="zh-CN" sz="2400" noProof="1">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A</a:t>
            </a:r>
            <a:r>
              <a:rPr kumimoji="1" lang="zh-CN" altLang="en-US" sz="2400" dirty="0">
                <a:latin typeface="微软雅黑" panose="020B0503020204020204" pitchFamily="34" charset="-122"/>
                <a:ea typeface="微软雅黑" panose="020B0503020204020204" pitchFamily="34" charset="-122"/>
              </a:rPr>
              <a:t>的定义可知，</a:t>
            </a:r>
            <a:r>
              <a:rPr kumimoji="1" lang="en-US" altLang="zh-CN" sz="2400" dirty="0">
                <a:latin typeface="微软雅黑" panose="020B0503020204020204" pitchFamily="34" charset="-122"/>
                <a:ea typeface="微软雅黑" panose="020B0503020204020204" pitchFamily="34" charset="-122"/>
              </a:rPr>
              <a:t>a=b</a:t>
            </a:r>
            <a:r>
              <a:rPr kumimoji="1" lang="zh-CN" altLang="en-US" sz="2400" dirty="0">
                <a:latin typeface="微软雅黑" panose="020B0503020204020204" pitchFamily="34" charset="-122"/>
                <a:ea typeface="微软雅黑" panose="020B0503020204020204" pitchFamily="34" charset="-122"/>
              </a:rPr>
              <a:t>，</a:t>
            </a:r>
            <a:endParaRPr kumimoji="1"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即</a:t>
            </a:r>
            <a:r>
              <a:rPr kumimoji="1" lang="en-US" altLang="zh-CN" sz="2400" dirty="0">
                <a:latin typeface="微软雅黑" panose="020B0503020204020204" pitchFamily="34" charset="-122"/>
                <a:ea typeface="微软雅黑" panose="020B0503020204020204" pitchFamily="34" charset="-122"/>
              </a:rPr>
              <a:t>&lt;</a:t>
            </a:r>
            <a:r>
              <a:rPr kumimoji="1" lang="en-US" altLang="zh-CN" sz="2400" dirty="0" err="1">
                <a:latin typeface="微软雅黑" panose="020B0503020204020204" pitchFamily="34" charset="-122"/>
                <a:ea typeface="微软雅黑" panose="020B0503020204020204" pitchFamily="34" charset="-122"/>
              </a:rPr>
              <a:t>a,a</a:t>
            </a:r>
            <a:r>
              <a:rPr kumimoji="1" lang="en-US" altLang="zh-CN" sz="2400" dirty="0">
                <a:latin typeface="微软雅黑" panose="020B0503020204020204" pitchFamily="34" charset="-122"/>
                <a:ea typeface="微软雅黑" panose="020B0503020204020204" pitchFamily="34" charset="-122"/>
              </a:rPr>
              <a:t>&gt;∈R</a:t>
            </a:r>
            <a:r>
              <a:rPr kumimoji="1" lang="zh-CN" altLang="en-US" sz="2400" dirty="0">
                <a:latin typeface="微软雅黑" panose="020B0503020204020204" pitchFamily="34" charset="-122"/>
                <a:ea typeface="微软雅黑" panose="020B0503020204020204" pitchFamily="34" charset="-122"/>
              </a:rPr>
              <a:t>，与</a:t>
            </a:r>
            <a:r>
              <a:rPr kumimoji="1" lang="en-US" altLang="zh-CN" sz="2400" dirty="0">
                <a:latin typeface="微软雅黑" panose="020B0503020204020204" pitchFamily="34" charset="-122"/>
                <a:ea typeface="微软雅黑" panose="020B0503020204020204" pitchFamily="34" charset="-122"/>
              </a:rPr>
              <a:t>R</a:t>
            </a:r>
            <a:r>
              <a:rPr kumimoji="1" lang="zh-CN" altLang="en-US" sz="2400" dirty="0">
                <a:latin typeface="微软雅黑" panose="020B0503020204020204" pitchFamily="34" charset="-122"/>
                <a:ea typeface="微软雅黑" panose="020B0503020204020204" pitchFamily="34" charset="-122"/>
              </a:rPr>
              <a:t>是反自反的矛盾。</a:t>
            </a:r>
            <a:endParaRPr kumimoji="1"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buClr>
                <a:srgbClr val="00FF00"/>
              </a:buClr>
              <a:buNone/>
            </a:pPr>
            <a:r>
              <a:rPr kumimoji="1" lang="zh-CN" altLang="en-US" sz="2400" dirty="0">
                <a:latin typeface="微软雅黑" panose="020B0503020204020204" pitchFamily="34" charset="-122"/>
                <a:ea typeface="微软雅黑" panose="020B0503020204020204" pitchFamily="34" charset="-122"/>
              </a:rPr>
              <a:t>从而</a:t>
            </a:r>
            <a:r>
              <a:rPr kumimoji="1" lang="en-US" altLang="zh-CN" sz="2400" dirty="0">
                <a:latin typeface="微软雅黑" panose="020B0503020204020204" pitchFamily="34" charset="-122"/>
                <a:ea typeface="微软雅黑" panose="020B0503020204020204" pitchFamily="34" charset="-122"/>
              </a:rPr>
              <a:t>R∩I</a:t>
            </a:r>
            <a:r>
              <a:rPr kumimoji="1" lang="en-US" altLang="zh-CN" sz="2400" baseline="-25000" dirty="0">
                <a:latin typeface="微软雅黑" panose="020B0503020204020204" pitchFamily="34" charset="-122"/>
                <a:ea typeface="微软雅黑" panose="020B0503020204020204" pitchFamily="34" charset="-122"/>
              </a:rPr>
              <a:t>A</a:t>
            </a:r>
            <a:r>
              <a:rPr kumimoji="1"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Φ</a:t>
            </a:r>
            <a:r>
              <a:rPr kumimoji="1"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9011">
                                            <p:txEl>
                                              <p:pRg st="0" end="0"/>
                                            </p:txEl>
                                          </p:spTgt>
                                        </p:tgtEl>
                                        <p:attrNameLst>
                                          <p:attrName>style.visibility</p:attrName>
                                        </p:attrNameLst>
                                      </p:cBhvr>
                                      <p:to>
                                        <p:strVal val="visible"/>
                                      </p:to>
                                    </p:set>
                                    <p:anim calcmode="lin" valueType="num">
                                      <p:cBhvr additive="base">
                                        <p:cTn id="7" dur="500" fill="hold"/>
                                        <p:tgtEl>
                                          <p:spTgt spid="1579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9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9011">
                                            <p:txEl>
                                              <p:pRg st="1" end="1"/>
                                            </p:txEl>
                                          </p:spTgt>
                                        </p:tgtEl>
                                        <p:attrNameLst>
                                          <p:attrName>style.visibility</p:attrName>
                                        </p:attrNameLst>
                                      </p:cBhvr>
                                      <p:to>
                                        <p:strVal val="visible"/>
                                      </p:to>
                                    </p:set>
                                    <p:anim calcmode="lin" valueType="num">
                                      <p:cBhvr additive="base">
                                        <p:cTn id="13" dur="500" fill="hold"/>
                                        <p:tgtEl>
                                          <p:spTgt spid="15790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9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9011">
                                            <p:txEl>
                                              <p:pRg st="2" end="2"/>
                                            </p:txEl>
                                          </p:spTgt>
                                        </p:tgtEl>
                                        <p:attrNameLst>
                                          <p:attrName>style.visibility</p:attrName>
                                        </p:attrNameLst>
                                      </p:cBhvr>
                                      <p:to>
                                        <p:strVal val="visible"/>
                                      </p:to>
                                    </p:set>
                                    <p:anim calcmode="lin" valueType="num">
                                      <p:cBhvr additive="base">
                                        <p:cTn id="19" dur="500" fill="hold"/>
                                        <p:tgtEl>
                                          <p:spTgt spid="15790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9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79011">
                                            <p:txEl>
                                              <p:pRg st="3" end="3"/>
                                            </p:txEl>
                                          </p:spTgt>
                                        </p:tgtEl>
                                        <p:attrNameLst>
                                          <p:attrName>style.visibility</p:attrName>
                                        </p:attrNameLst>
                                      </p:cBhvr>
                                      <p:to>
                                        <p:strVal val="visible"/>
                                      </p:to>
                                    </p:set>
                                    <p:anim calcmode="lin" valueType="num">
                                      <p:cBhvr additive="base">
                                        <p:cTn id="25" dur="500" fill="hold"/>
                                        <p:tgtEl>
                                          <p:spTgt spid="15790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790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randombar(horizontal)">
                                      <p:cBhvr>
                                        <p:cTn id="31" dur="500"/>
                                        <p:tgtEl>
                                          <p:spTgt spid="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randombar(horizontal)">
                                      <p:cBhvr>
                                        <p:cTn id="36" dur="500"/>
                                        <p:tgtEl>
                                          <p:spTgt spid="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animEffect transition="in" filter="randombar(horizontal)">
                                      <p:cBhvr>
                                        <p:cTn id="41" dur="500"/>
                                        <p:tgtEl>
                                          <p:spTgt spid="6">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7">
                                            <p:txEl>
                                              <p:pRg st="0" end="0"/>
                                            </p:txEl>
                                          </p:spTgt>
                                        </p:tgtEl>
                                        <p:attrNameLst>
                                          <p:attrName>style.visibility</p:attrName>
                                        </p:attrNameLst>
                                      </p:cBhvr>
                                      <p:to>
                                        <p:strVal val="visible"/>
                                      </p:to>
                                    </p:set>
                                    <p:anim calcmode="lin" valueType="num">
                                      <p:cBhvr additive="base">
                                        <p:cTn id="46"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7">
                                            <p:txEl>
                                              <p:pRg st="1" end="1"/>
                                            </p:txEl>
                                          </p:spTgt>
                                        </p:tgtEl>
                                        <p:attrNameLst>
                                          <p:attrName>style.visibility</p:attrName>
                                        </p:attrNameLst>
                                      </p:cBhvr>
                                      <p:to>
                                        <p:strVal val="visible"/>
                                      </p:to>
                                    </p:set>
                                    <p:anim calcmode="lin" valueType="num">
                                      <p:cBhvr additive="base">
                                        <p:cTn id="52"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7">
                                            <p:txEl>
                                              <p:pRg st="2" end="2"/>
                                            </p:txEl>
                                          </p:spTgt>
                                        </p:tgtEl>
                                        <p:attrNameLst>
                                          <p:attrName>style.visibility</p:attrName>
                                        </p:attrNameLst>
                                      </p:cBhvr>
                                      <p:to>
                                        <p:strVal val="visible"/>
                                      </p:to>
                                    </p:set>
                                    <p:anim calcmode="lin" valueType="num">
                                      <p:cBhvr additive="base">
                                        <p:cTn id="58"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9011" grpId="0" autoUpdateAnimBg="0" build="p"/>
      <p:bldP spid="7" grpId="0" autoUpdateAnimBg="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3"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证明</a:t>
            </a:r>
            <a:r>
              <a:rPr kumimoji="1" lang="zh-CN" altLang="en-US" dirty="0"/>
              <a:t>（</a:t>
            </a:r>
            <a:r>
              <a:rPr kumimoji="1" lang="en-US" altLang="zh-CN" dirty="0"/>
              <a:t>4</a:t>
            </a:r>
            <a:r>
              <a:rPr kumimoji="1" lang="zh-CN" altLang="en-US" dirty="0"/>
              <a:t>）</a:t>
            </a:r>
            <a:endParaRPr kumimoji="1" lang="zh-CN" altLang="en-US" dirty="0"/>
          </a:p>
        </p:txBody>
      </p:sp>
      <mc:AlternateContent xmlns:mc="http://schemas.openxmlformats.org/markup-compatibility/2006">
        <mc:Choice xmlns:a14="http://schemas.microsoft.com/office/drawing/2010/main" Requires="a14">
          <p:sp>
            <p:nvSpPr>
              <p:cNvPr id="1579011" name="Rectangle 3"/>
              <p:cNvSpPr>
                <a:spLocks noChangeArrowheads="1"/>
              </p:cNvSpPr>
              <p:nvPr/>
            </p:nvSpPr>
            <p:spPr bwMode="auto">
              <a:xfrm>
                <a:off x="384175" y="1018692"/>
                <a:ext cx="5638800" cy="33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
                    <a:srgbClr val="00FF00"/>
                  </a:buClr>
                  <a:buFont typeface="Wingdings" panose="05000000000000000000" pitchFamily="2" charset="2"/>
                  <a:buNone/>
                </a:pPr>
                <a:r>
                  <a:rPr kumimoji="1" lang="zh-CN" altLang="en-US" sz="2400" dirty="0">
                    <a:solidFill>
                      <a:srgbClr val="FF0000"/>
                    </a:solidFill>
                    <a:latin typeface="+mn-ea"/>
                    <a:ea typeface="+mn-ea"/>
                  </a:rPr>
                  <a:t>“</a:t>
                </a:r>
                <a:r>
                  <a:rPr kumimoji="1" lang="zh-CN" altLang="en-US" sz="2400" dirty="0">
                    <a:solidFill>
                      <a:srgbClr val="0000FF"/>
                    </a:solidFill>
                    <a:latin typeface="+mn-ea"/>
                    <a:ea typeface="+mn-ea"/>
                    <a:sym typeface="Symbol" panose="05050102010706020507" pitchFamily="18" charset="2"/>
                  </a:rPr>
                  <a:t></a:t>
                </a:r>
                <a:r>
                  <a:rPr kumimoji="1" lang="en-US" altLang="zh-CN" sz="2400" dirty="0">
                    <a:solidFill>
                      <a:srgbClr val="FF0000"/>
                    </a:solidFill>
                    <a:latin typeface="+mn-ea"/>
                    <a:ea typeface="+mn-ea"/>
                  </a:rPr>
                  <a:t>”</a:t>
                </a:r>
                <a:r>
                  <a:rPr kumimoji="1" lang="zh-CN" altLang="en-US" sz="2400" dirty="0">
                    <a:solidFill>
                      <a:srgbClr val="FF0000"/>
                    </a:solidFill>
                    <a:latin typeface="+mn-ea"/>
                    <a:ea typeface="+mn-ea"/>
                  </a:rPr>
                  <a:t>设</a:t>
                </a:r>
                <a:r>
                  <a:rPr kumimoji="1" lang="en-US" altLang="zh-CN" sz="2400" noProof="1">
                    <a:solidFill>
                      <a:srgbClr val="FF0000"/>
                    </a:solidFill>
                    <a:latin typeface="+mn-ea"/>
                    <a:ea typeface="+mn-ea"/>
                  </a:rPr>
                  <a:t>R</a:t>
                </a:r>
                <a:r>
                  <a:rPr kumimoji="1" lang="zh-CN" altLang="en-US" sz="2400" noProof="1">
                    <a:solidFill>
                      <a:srgbClr val="FF0000"/>
                    </a:solidFill>
                    <a:latin typeface="+mn-ea"/>
                    <a:ea typeface="+mn-ea"/>
                  </a:rPr>
                  <a:t>是反对称的。</a:t>
                </a:r>
                <a:endParaRPr kumimoji="1" lang="zh-CN" altLang="en-US" sz="2400" noProof="1">
                  <a:solidFill>
                    <a:srgbClr val="FF0000"/>
                  </a:solidFill>
                  <a:latin typeface="+mn-ea"/>
                  <a:ea typeface="+mn-ea"/>
                </a:endParaRPr>
              </a:p>
              <a:p>
                <a:pPr algn="l">
                  <a:lnSpc>
                    <a:spcPct val="150000"/>
                  </a:lnSpc>
                  <a:spcBef>
                    <a:spcPct val="0"/>
                  </a:spcBef>
                  <a:buClr>
                    <a:srgbClr val="00FF00"/>
                  </a:buClr>
                  <a:buNone/>
                </a:pPr>
                <a:r>
                  <a:rPr kumimoji="1" lang="zh-CN" altLang="en-US" sz="2400" noProof="1">
                    <a:latin typeface="+mn-ea"/>
                    <a:ea typeface="+mn-ea"/>
                  </a:rPr>
                  <a:t>对</a:t>
                </a:r>
                <a14:m>
                  <m:oMath xmlns:m="http://schemas.openxmlformats.org/officeDocument/2006/math">
                    <m:r>
                      <a:rPr lang="es-ES" altLang="zh-CN" sz="2400" i="1">
                        <a:solidFill>
                          <a:schemeClr val="tx1"/>
                        </a:solidFill>
                        <a:latin typeface="Cambria Math" panose="02040503050406030204" pitchFamily="18" charset="0"/>
                        <a:ea typeface="+mn-ea"/>
                      </a:rPr>
                      <m:t>∀ </m:t>
                    </m:r>
                  </m:oMath>
                </a14:m>
                <a:r>
                  <a:rPr kumimoji="1" lang="zh-CN" altLang="en-US" sz="2400" noProof="1">
                    <a:latin typeface="+mn-ea"/>
                    <a:ea typeface="+mn-ea"/>
                  </a:rPr>
                  <a:t>&lt;</a:t>
                </a:r>
                <a:r>
                  <a:rPr kumimoji="1" lang="en-US" altLang="zh-CN" sz="2400" noProof="1">
                    <a:latin typeface="+mn-ea"/>
                    <a:ea typeface="+mn-ea"/>
                  </a:rPr>
                  <a:t>a,b&gt;∈R∩R</a:t>
                </a:r>
                <a:r>
                  <a:rPr kumimoji="1" lang="en-US" altLang="zh-CN" sz="2400" baseline="30000" dirty="0">
                    <a:latin typeface="+mn-ea"/>
                    <a:ea typeface="+mn-ea"/>
                  </a:rPr>
                  <a:t>-1</a:t>
                </a:r>
                <a:r>
                  <a:rPr kumimoji="1" lang="zh-CN" altLang="en-US" sz="2400" dirty="0">
                    <a:latin typeface="+mn-ea"/>
                    <a:ea typeface="+mn-ea"/>
                  </a:rPr>
                  <a:t>，</a:t>
                </a:r>
                <a:endParaRPr kumimoji="1" lang="en-US" altLang="zh-CN" sz="2400" dirty="0">
                  <a:latin typeface="+mn-ea"/>
                  <a:ea typeface="+mn-ea"/>
                </a:endParaRPr>
              </a:p>
              <a:p>
                <a:pPr algn="l">
                  <a:lnSpc>
                    <a:spcPct val="150000"/>
                  </a:lnSpc>
                  <a:spcBef>
                    <a:spcPct val="0"/>
                  </a:spcBef>
                  <a:buClr>
                    <a:srgbClr val="00FF00"/>
                  </a:buClr>
                  <a:buNone/>
                </a:pPr>
                <a:r>
                  <a:rPr kumimoji="1" lang="zh-CN" altLang="en-US" sz="2400" dirty="0">
                    <a:latin typeface="+mn-ea"/>
                    <a:ea typeface="+mn-ea"/>
                  </a:rPr>
                  <a:t>则</a:t>
                </a:r>
                <a:r>
                  <a:rPr kumimoji="1" lang="en-US" altLang="zh-CN" sz="2400" dirty="0">
                    <a:latin typeface="+mn-ea"/>
                    <a:ea typeface="+mn-ea"/>
                  </a:rPr>
                  <a:t>&lt;</a:t>
                </a:r>
                <a:r>
                  <a:rPr kumimoji="1" lang="en-US" altLang="zh-CN" sz="2400" dirty="0" err="1">
                    <a:latin typeface="+mn-ea"/>
                    <a:ea typeface="+mn-ea"/>
                  </a:rPr>
                  <a:t>a,b</a:t>
                </a:r>
                <a:r>
                  <a:rPr kumimoji="1" lang="en-US" altLang="zh-CN" sz="2400" dirty="0">
                    <a:latin typeface="+mn-ea"/>
                    <a:ea typeface="+mn-ea"/>
                  </a:rPr>
                  <a:t>&gt;</a:t>
                </a:r>
                <a:r>
                  <a:rPr kumimoji="1" lang="en-US" altLang="zh-CN" sz="2400" noProof="1">
                    <a:latin typeface="+mn-ea"/>
                    <a:ea typeface="+mn-ea"/>
                  </a:rPr>
                  <a:t>∈R</a:t>
                </a:r>
                <a:r>
                  <a:rPr kumimoji="1" lang="zh-CN" altLang="en-US" sz="2400" dirty="0">
                    <a:latin typeface="+mn-ea"/>
                    <a:ea typeface="+mn-ea"/>
                  </a:rPr>
                  <a:t>且</a:t>
                </a:r>
                <a:r>
                  <a:rPr kumimoji="1" lang="zh-CN" altLang="en-US" sz="2400" noProof="1">
                    <a:latin typeface="+mn-ea"/>
                    <a:ea typeface="+mn-ea"/>
                  </a:rPr>
                  <a:t>&lt;</a:t>
                </a:r>
                <a:r>
                  <a:rPr kumimoji="1" lang="en-US" altLang="zh-CN" sz="2400" noProof="1">
                    <a:latin typeface="+mn-ea"/>
                    <a:ea typeface="+mn-ea"/>
                  </a:rPr>
                  <a:t>a,b&gt;∈R</a:t>
                </a:r>
                <a:r>
                  <a:rPr kumimoji="1" lang="en-US" altLang="zh-CN" sz="2400" baseline="30000" dirty="0">
                    <a:latin typeface="+mn-ea"/>
                    <a:ea typeface="+mn-ea"/>
                  </a:rPr>
                  <a:t>-1</a:t>
                </a:r>
                <a:r>
                  <a:rPr kumimoji="1" lang="zh-CN" altLang="en-US" sz="2400" dirty="0">
                    <a:latin typeface="+mn-ea"/>
                    <a:ea typeface="+mn-ea"/>
                  </a:rPr>
                  <a:t>，</a:t>
                </a:r>
                <a:endParaRPr kumimoji="1" lang="zh-CN" altLang="zh-CN" sz="2400" dirty="0">
                  <a:latin typeface="+mn-ea"/>
                  <a:ea typeface="+mn-ea"/>
                </a:endParaRPr>
              </a:p>
              <a:p>
                <a:pPr algn="l" eaLnBrk="1" hangingPunct="1">
                  <a:lnSpc>
                    <a:spcPct val="150000"/>
                  </a:lnSpc>
                  <a:spcBef>
                    <a:spcPct val="0"/>
                  </a:spcBef>
                  <a:buClr>
                    <a:srgbClr val="00FF00"/>
                  </a:buClr>
                  <a:buFont typeface="Wingdings" panose="05000000000000000000" pitchFamily="2" charset="2"/>
                  <a:buNone/>
                </a:pPr>
                <a:r>
                  <a:rPr kumimoji="1" lang="zh-CN" altLang="en-US" sz="2400" dirty="0">
                    <a:latin typeface="+mn-ea"/>
                    <a:ea typeface="+mn-ea"/>
                  </a:rPr>
                  <a:t>即</a:t>
                </a:r>
                <a:r>
                  <a:rPr kumimoji="1" lang="en-US" altLang="zh-CN" sz="2400" dirty="0">
                    <a:latin typeface="+mn-ea"/>
                    <a:ea typeface="+mn-ea"/>
                  </a:rPr>
                  <a:t>&lt;</a:t>
                </a:r>
                <a:r>
                  <a:rPr kumimoji="1" lang="en-US" altLang="zh-CN" sz="2400" dirty="0" err="1">
                    <a:latin typeface="+mn-ea"/>
                    <a:ea typeface="+mn-ea"/>
                  </a:rPr>
                  <a:t>a,b</a:t>
                </a:r>
                <a:r>
                  <a:rPr kumimoji="1" lang="en-US" altLang="zh-CN" sz="2400" dirty="0">
                    <a:latin typeface="+mn-ea"/>
                    <a:ea typeface="+mn-ea"/>
                  </a:rPr>
                  <a:t>&gt;</a:t>
                </a:r>
                <a:r>
                  <a:rPr kumimoji="1" lang="en-US" altLang="zh-CN" sz="2400" noProof="1">
                    <a:latin typeface="+mn-ea"/>
                    <a:ea typeface="+mn-ea"/>
                  </a:rPr>
                  <a:t>∈R</a:t>
                </a:r>
                <a:r>
                  <a:rPr kumimoji="1" lang="zh-CN" altLang="en-US" sz="2400" dirty="0">
                    <a:latin typeface="+mn-ea"/>
                    <a:ea typeface="+mn-ea"/>
                  </a:rPr>
                  <a:t>且</a:t>
                </a:r>
                <a:r>
                  <a:rPr kumimoji="1" lang="zh-CN" altLang="en-US" sz="2400" noProof="1">
                    <a:latin typeface="+mn-ea"/>
                    <a:ea typeface="+mn-ea"/>
                  </a:rPr>
                  <a:t>&lt;</a:t>
                </a:r>
                <a:r>
                  <a:rPr kumimoji="1" lang="en-US" altLang="zh-CN" sz="2400" noProof="1">
                    <a:latin typeface="+mn-ea"/>
                    <a:ea typeface="+mn-ea"/>
                  </a:rPr>
                  <a:t>b,a&gt;∈R，</a:t>
                </a:r>
                <a:endParaRPr kumimoji="1" lang="en-US" altLang="zh-CN" sz="2400" dirty="0">
                  <a:latin typeface="+mn-ea"/>
                  <a:ea typeface="+mn-ea"/>
                </a:endParaRPr>
              </a:p>
              <a:p>
                <a:pPr algn="l" eaLnBrk="1" hangingPunct="1">
                  <a:lnSpc>
                    <a:spcPct val="150000"/>
                  </a:lnSpc>
                  <a:spcBef>
                    <a:spcPct val="0"/>
                  </a:spcBef>
                  <a:buClr>
                    <a:srgbClr val="00FF00"/>
                  </a:buClr>
                  <a:buFont typeface="Wingdings" panose="05000000000000000000" pitchFamily="2" charset="2"/>
                  <a:buNone/>
                </a:pPr>
                <a:r>
                  <a:rPr kumimoji="1" lang="zh-CN" altLang="en-US" sz="2400" noProof="1">
                    <a:latin typeface="+mn-ea"/>
                    <a:ea typeface="+mn-ea"/>
                  </a:rPr>
                  <a:t>由于</a:t>
                </a:r>
                <a:r>
                  <a:rPr kumimoji="1" lang="en-US" altLang="zh-CN" sz="2400" noProof="1">
                    <a:solidFill>
                      <a:srgbClr val="0000CC"/>
                    </a:solidFill>
                    <a:latin typeface="+mn-ea"/>
                    <a:ea typeface="+mn-ea"/>
                  </a:rPr>
                  <a:t>R</a:t>
                </a:r>
                <a:r>
                  <a:rPr kumimoji="1" lang="zh-CN" altLang="en-US" sz="2400" noProof="1">
                    <a:solidFill>
                      <a:srgbClr val="0000CC"/>
                    </a:solidFill>
                    <a:latin typeface="+mn-ea"/>
                    <a:ea typeface="+mn-ea"/>
                  </a:rPr>
                  <a:t>是反对称的</a:t>
                </a:r>
                <a:r>
                  <a:rPr kumimoji="1" lang="zh-CN" altLang="en-US" sz="2400" noProof="1">
                    <a:latin typeface="+mn-ea"/>
                    <a:ea typeface="+mn-ea"/>
                  </a:rPr>
                  <a:t>，则</a:t>
                </a:r>
                <a:r>
                  <a:rPr kumimoji="1" lang="en-US" altLang="zh-CN" sz="2400" noProof="1">
                    <a:latin typeface="+mn-ea"/>
                    <a:ea typeface="+mn-ea"/>
                  </a:rPr>
                  <a:t>a＝b。</a:t>
                </a:r>
                <a:endParaRPr kumimoji="1" lang="en-US" altLang="zh-CN" sz="2400" noProof="1">
                  <a:latin typeface="+mn-ea"/>
                  <a:ea typeface="+mn-ea"/>
                </a:endParaRPr>
              </a:p>
              <a:p>
                <a:pPr algn="l" eaLnBrk="1" hangingPunct="1">
                  <a:lnSpc>
                    <a:spcPct val="150000"/>
                  </a:lnSpc>
                  <a:spcBef>
                    <a:spcPct val="0"/>
                  </a:spcBef>
                  <a:buClr>
                    <a:srgbClr val="00FF00"/>
                  </a:buClr>
                  <a:buFont typeface="Wingdings" panose="05000000000000000000" pitchFamily="2" charset="2"/>
                  <a:buNone/>
                </a:pPr>
                <a:r>
                  <a:rPr kumimoji="1" lang="zh-CN" altLang="en-US" sz="2400" noProof="1">
                    <a:latin typeface="+mn-ea"/>
                    <a:ea typeface="+mn-ea"/>
                  </a:rPr>
                  <a:t>即&lt;</a:t>
                </a:r>
                <a:r>
                  <a:rPr kumimoji="1" lang="en-US" altLang="zh-CN" sz="2400" noProof="1">
                    <a:latin typeface="+mn-ea"/>
                    <a:ea typeface="+mn-ea"/>
                  </a:rPr>
                  <a:t>a,b&gt;＝&lt;a,a&gt;∈I</a:t>
                </a:r>
                <a:r>
                  <a:rPr kumimoji="1" lang="en-US" altLang="zh-CN" sz="2400" baseline="-25000" dirty="0">
                    <a:latin typeface="+mn-ea"/>
                    <a:ea typeface="+mn-ea"/>
                  </a:rPr>
                  <a:t>A</a:t>
                </a:r>
                <a:r>
                  <a:rPr kumimoji="1" lang="zh-CN" altLang="en-US" sz="2400" dirty="0">
                    <a:latin typeface="+mn-ea"/>
                    <a:ea typeface="+mn-ea"/>
                  </a:rPr>
                  <a:t>，即</a:t>
                </a:r>
                <a:r>
                  <a:rPr kumimoji="1" lang="en-US" altLang="zh-CN" sz="2400" dirty="0">
                    <a:latin typeface="+mn-ea"/>
                    <a:ea typeface="+mn-ea"/>
                  </a:rPr>
                  <a:t>R∩R</a:t>
                </a:r>
                <a:r>
                  <a:rPr kumimoji="1" lang="en-US" altLang="zh-CN" sz="2400" baseline="30000" dirty="0">
                    <a:latin typeface="+mn-ea"/>
                    <a:ea typeface="+mn-ea"/>
                  </a:rPr>
                  <a:t>-1</a:t>
                </a:r>
                <a:r>
                  <a:rPr kumimoji="1" lang="en-US" altLang="zh-CN" sz="2400" noProof="1">
                    <a:latin typeface="+mn-ea"/>
                    <a:ea typeface="+mn-ea"/>
                    <a:sym typeface="Symbol" panose="05050102010706020507" pitchFamily="18" charset="2"/>
                  </a:rPr>
                  <a:t></a:t>
                </a:r>
                <a:r>
                  <a:rPr kumimoji="1" lang="en-US" altLang="zh-CN" sz="2400" dirty="0">
                    <a:latin typeface="+mn-ea"/>
                    <a:ea typeface="+mn-ea"/>
                  </a:rPr>
                  <a:t>I</a:t>
                </a:r>
                <a:r>
                  <a:rPr kumimoji="1" lang="en-US" altLang="zh-CN" sz="2400" baseline="-25000" dirty="0">
                    <a:latin typeface="+mn-ea"/>
                    <a:ea typeface="+mn-ea"/>
                  </a:rPr>
                  <a:t>A</a:t>
                </a:r>
                <a:r>
                  <a:rPr kumimoji="1" lang="zh-CN" altLang="en-US" sz="2400" dirty="0">
                    <a:latin typeface="+mn-ea"/>
                    <a:ea typeface="+mn-ea"/>
                  </a:rPr>
                  <a:t>。</a:t>
                </a:r>
                <a:endParaRPr kumimoji="1" lang="zh-CN" altLang="en-US" sz="2400" dirty="0">
                  <a:latin typeface="+mn-ea"/>
                  <a:ea typeface="+mn-ea"/>
                </a:endParaRPr>
              </a:p>
            </p:txBody>
          </p:sp>
        </mc:Choice>
        <mc:Fallback>
          <p:sp>
            <p:nvSpPr>
              <p:cNvPr id="1579011" name="Rectangle 3"/>
              <p:cNvSpPr>
                <a:spLocks noRot="1" noChangeAspect="1" noMove="1" noResize="1" noEditPoints="1" noAdjustHandles="1" noChangeArrowheads="1" noChangeShapeType="1" noTextEdit="1"/>
              </p:cNvSpPr>
              <p:nvPr/>
            </p:nvSpPr>
            <p:spPr bwMode="auto">
              <a:xfrm>
                <a:off x="384175" y="1018692"/>
                <a:ext cx="5638800" cy="3349700"/>
              </a:xfrm>
              <a:prstGeom prst="rect">
                <a:avLst/>
              </a:prstGeom>
              <a:blipFill rotWithShape="1">
                <a:blip r:embed="rId1"/>
                <a:stretch>
                  <a:fillRect t="-5" b="-14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a:spLocks noChangeArrowheads="1"/>
              </p:cNvSpPr>
              <p:nvPr/>
            </p:nvSpPr>
            <p:spPr bwMode="auto">
              <a:xfrm>
                <a:off x="6022975" y="1018692"/>
                <a:ext cx="5791200" cy="4459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Tx/>
                  <a:buNone/>
                </a:pPr>
                <a:r>
                  <a:rPr lang="zh-CN" altLang="en-US" sz="2400" dirty="0">
                    <a:latin typeface="+mn-ea"/>
                    <a:ea typeface="+mn-ea"/>
                  </a:rPr>
                  <a:t>“</a:t>
                </a:r>
                <a:r>
                  <a:rPr lang="zh-CN" altLang="en-US" sz="2400" dirty="0">
                    <a:solidFill>
                      <a:srgbClr val="0000FF"/>
                    </a:solidFill>
                    <a:latin typeface="+mn-ea"/>
                    <a:ea typeface="+mn-ea"/>
                    <a:sym typeface="Symbol" panose="05050102010706020507" pitchFamily="18" charset="2"/>
                  </a:rPr>
                  <a:t></a:t>
                </a:r>
                <a:r>
                  <a:rPr lang="zh-CN" altLang="zh-CN" sz="2400" noProof="1">
                    <a:latin typeface="+mn-ea"/>
                    <a:ea typeface="+mn-ea"/>
                  </a:rPr>
                  <a:t>”</a:t>
                </a:r>
                <a:r>
                  <a:rPr lang="zh-CN" altLang="en-US" sz="2400" noProof="1">
                    <a:solidFill>
                      <a:srgbClr val="FF0000"/>
                    </a:solidFill>
                    <a:latin typeface="+mn-ea"/>
                    <a:ea typeface="+mn-ea"/>
                  </a:rPr>
                  <a:t>设</a:t>
                </a:r>
                <a:r>
                  <a:rPr lang="en-US" altLang="zh-CN" sz="2400" noProof="1">
                    <a:solidFill>
                      <a:srgbClr val="FF0000"/>
                    </a:solidFill>
                    <a:latin typeface="+mn-ea"/>
                    <a:ea typeface="+mn-ea"/>
                  </a:rPr>
                  <a:t>R∩R</a:t>
                </a:r>
                <a:r>
                  <a:rPr lang="en-US" altLang="zh-CN" sz="2400" baseline="30000" dirty="0">
                    <a:solidFill>
                      <a:srgbClr val="FF0000"/>
                    </a:solidFill>
                    <a:latin typeface="+mn-ea"/>
                    <a:ea typeface="+mn-ea"/>
                  </a:rPr>
                  <a:t>-1</a:t>
                </a:r>
                <a:r>
                  <a:rPr lang="en-US" altLang="zh-CN" sz="2400" noProof="1">
                    <a:solidFill>
                      <a:srgbClr val="FF0000"/>
                    </a:solidFill>
                    <a:latin typeface="+mn-ea"/>
                    <a:ea typeface="+mn-ea"/>
                    <a:sym typeface="Symbol" panose="05050102010706020507" pitchFamily="18" charset="2"/>
                  </a:rPr>
                  <a:t></a:t>
                </a:r>
                <a:r>
                  <a:rPr lang="en-US" altLang="zh-CN" sz="2400" dirty="0">
                    <a:solidFill>
                      <a:srgbClr val="FF0000"/>
                    </a:solidFill>
                    <a:latin typeface="+mn-ea"/>
                    <a:ea typeface="+mn-ea"/>
                    <a:sym typeface="Symbol" panose="05050102010706020507" pitchFamily="18" charset="2"/>
                  </a:rPr>
                  <a:t>I</a:t>
                </a:r>
                <a:r>
                  <a:rPr kumimoji="1" lang="en-US" altLang="zh-CN" sz="2400" baseline="-25000" dirty="0">
                    <a:solidFill>
                      <a:srgbClr val="FF0000"/>
                    </a:solidFill>
                    <a:latin typeface="+mn-ea"/>
                    <a:ea typeface="+mn-ea"/>
                  </a:rPr>
                  <a:t>A</a:t>
                </a:r>
                <a:r>
                  <a:rPr lang="zh-CN" altLang="en-US" sz="2400" dirty="0">
                    <a:solidFill>
                      <a:srgbClr val="FF0000"/>
                    </a:solidFill>
                    <a:latin typeface="+mn-ea"/>
                    <a:ea typeface="+mn-ea"/>
                  </a:rPr>
                  <a:t>。</a:t>
                </a:r>
                <a:endParaRPr lang="zh-CN" altLang="en-US" sz="2400" dirty="0">
                  <a:solidFill>
                    <a:srgbClr val="FF0000"/>
                  </a:solidFill>
                  <a:latin typeface="+mn-ea"/>
                  <a:ea typeface="+mn-ea"/>
                </a:endParaRPr>
              </a:p>
              <a:p>
                <a:pPr algn="l">
                  <a:lnSpc>
                    <a:spcPct val="150000"/>
                  </a:lnSpc>
                  <a:spcBef>
                    <a:spcPct val="0"/>
                  </a:spcBef>
                  <a:buClrTx/>
                  <a:buNone/>
                </a:pPr>
                <a:r>
                  <a:rPr lang="zh-CN" altLang="en-US" sz="2400" dirty="0">
                    <a:latin typeface="+mn-ea"/>
                    <a:ea typeface="+mn-ea"/>
                  </a:rPr>
                  <a:t>对</a:t>
                </a:r>
                <a14:m>
                  <m:oMath xmlns:m="http://schemas.openxmlformats.org/officeDocument/2006/math">
                    <m:r>
                      <a:rPr lang="es-ES" altLang="zh-CN" sz="2400" i="1">
                        <a:solidFill>
                          <a:schemeClr val="tx1"/>
                        </a:solidFill>
                        <a:latin typeface="Cambria Math" panose="02040503050406030204" pitchFamily="18" charset="0"/>
                        <a:ea typeface="+mn-ea"/>
                      </a:rPr>
                      <m:t>∀ </m:t>
                    </m:r>
                  </m:oMath>
                </a14:m>
                <a:r>
                  <a:rPr lang="en-US" altLang="zh-CN" sz="2400" dirty="0">
                    <a:latin typeface="+mn-ea"/>
                    <a:ea typeface="+mn-ea"/>
                  </a:rPr>
                  <a:t>a</a:t>
                </a:r>
                <a:r>
                  <a:rPr lang="zh-CN" altLang="zh-CN" sz="2400" dirty="0">
                    <a:latin typeface="+mn-ea"/>
                    <a:ea typeface="+mn-ea"/>
                  </a:rPr>
                  <a:t>∈</a:t>
                </a:r>
                <a:r>
                  <a:rPr lang="en-US" altLang="zh-CN" sz="2400" dirty="0">
                    <a:latin typeface="+mn-ea"/>
                    <a:ea typeface="+mn-ea"/>
                  </a:rPr>
                  <a:t>A,</a:t>
                </a:r>
                <a14:m>
                  <m:oMath xmlns:m="http://schemas.openxmlformats.org/officeDocument/2006/math">
                    <m:r>
                      <a:rPr lang="es-ES" altLang="zh-CN" sz="2400" i="1">
                        <a:solidFill>
                          <a:schemeClr val="tx1"/>
                        </a:solidFill>
                        <a:latin typeface="Cambria Math" panose="02040503050406030204" pitchFamily="18" charset="0"/>
                        <a:ea typeface="+mn-ea"/>
                      </a:rPr>
                      <m:t>∀</m:t>
                    </m:r>
                  </m:oMath>
                </a14:m>
                <a:r>
                  <a:rPr lang="en-US" altLang="zh-CN" sz="2400" dirty="0" err="1">
                    <a:latin typeface="+mn-ea"/>
                    <a:ea typeface="+mn-ea"/>
                  </a:rPr>
                  <a:t>b</a:t>
                </a:r>
                <a:r>
                  <a:rPr lang="en-US" altLang="zh-CN" sz="2400" noProof="1">
                    <a:latin typeface="+mn-ea"/>
                    <a:ea typeface="+mn-ea"/>
                  </a:rPr>
                  <a:t>∈A</a:t>
                </a:r>
                <a:r>
                  <a:rPr lang="zh-CN" altLang="zh-CN" sz="2400" dirty="0">
                    <a:latin typeface="+mn-ea"/>
                    <a:ea typeface="+mn-ea"/>
                  </a:rPr>
                  <a:t>，</a:t>
                </a:r>
                <a:endParaRPr lang="en-US" altLang="zh-CN" sz="2400" dirty="0">
                  <a:latin typeface="+mn-ea"/>
                  <a:ea typeface="+mn-ea"/>
                </a:endParaRPr>
              </a:p>
              <a:p>
                <a:pPr algn="l">
                  <a:lnSpc>
                    <a:spcPct val="150000"/>
                  </a:lnSpc>
                  <a:spcBef>
                    <a:spcPct val="0"/>
                  </a:spcBef>
                  <a:buClrTx/>
                  <a:buNone/>
                </a:pPr>
                <a:r>
                  <a:rPr lang="zh-CN" altLang="en-US" sz="2400" dirty="0">
                    <a:latin typeface="+mn-ea"/>
                    <a:ea typeface="+mn-ea"/>
                  </a:rPr>
                  <a:t>若</a:t>
                </a: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∈R</a:t>
                </a:r>
                <a:r>
                  <a:rPr lang="zh-CN" altLang="en-US" sz="2400" dirty="0">
                    <a:latin typeface="+mn-ea"/>
                    <a:ea typeface="+mn-ea"/>
                  </a:rPr>
                  <a:t>且</a:t>
                </a:r>
                <a:r>
                  <a:rPr lang="zh-CN" altLang="en-US" sz="2400" noProof="1">
                    <a:latin typeface="+mn-ea"/>
                    <a:ea typeface="+mn-ea"/>
                  </a:rPr>
                  <a:t>&lt;</a:t>
                </a:r>
                <a:r>
                  <a:rPr lang="en-US" altLang="en-US" sz="2400" dirty="0">
                    <a:latin typeface="+mn-ea"/>
                    <a:ea typeface="+mn-ea"/>
                  </a:rPr>
                  <a:t>b,</a:t>
                </a:r>
                <a:r>
                  <a:rPr lang="en-US" altLang="zh-CN" sz="2400" noProof="1">
                    <a:latin typeface="+mn-ea"/>
                    <a:ea typeface="+mn-ea"/>
                  </a:rPr>
                  <a:t>a&gt;∈R，</a:t>
                </a:r>
                <a:r>
                  <a:rPr lang="zh-CN" altLang="en-US" sz="2400" noProof="1">
                    <a:latin typeface="+mn-ea"/>
                    <a:ea typeface="+mn-ea"/>
                  </a:rPr>
                  <a:t>则有：</a:t>
                </a:r>
                <a:endParaRPr lang="zh-CN" altLang="en-US" sz="2400" noProof="1">
                  <a:latin typeface="+mn-ea"/>
                  <a:ea typeface="+mn-ea"/>
                </a:endParaRPr>
              </a:p>
              <a:p>
                <a:pPr algn="l" eaLnBrk="1" hangingPunct="1">
                  <a:lnSpc>
                    <a:spcPct val="150000"/>
                  </a:lnSpc>
                  <a:spcBef>
                    <a:spcPct val="0"/>
                  </a:spcBef>
                  <a:buClrTx/>
                  <a:buFontTx/>
                  <a:buNone/>
                </a:pP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∈R</a:t>
                </a:r>
                <a:r>
                  <a:rPr lang="zh-CN" altLang="en-US" sz="2400" dirty="0">
                    <a:latin typeface="+mn-ea"/>
                    <a:ea typeface="+mn-ea"/>
                  </a:rPr>
                  <a:t>且</a:t>
                </a:r>
                <a:r>
                  <a:rPr lang="zh-CN" altLang="en-US" sz="2400" noProof="1">
                    <a:latin typeface="+mn-ea"/>
                    <a:ea typeface="+mn-ea"/>
                  </a:rPr>
                  <a:t>&lt;</a:t>
                </a:r>
                <a:r>
                  <a:rPr lang="en-US" altLang="zh-CN" sz="2400" noProof="1">
                    <a:latin typeface="+mn-ea"/>
                    <a:ea typeface="+mn-ea"/>
                  </a:rPr>
                  <a:t>a,b&gt;∈R</a:t>
                </a:r>
                <a:r>
                  <a:rPr lang="en-US" altLang="zh-CN" sz="2400" baseline="30000" dirty="0">
                    <a:solidFill>
                      <a:srgbClr val="FF0000"/>
                    </a:solidFill>
                    <a:latin typeface="+mn-ea"/>
                    <a:ea typeface="+mn-ea"/>
                  </a:rPr>
                  <a:t>-1</a:t>
                </a:r>
                <a:r>
                  <a:rPr lang="zh-CN" altLang="en-US" sz="2400" dirty="0">
                    <a:latin typeface="+mn-ea"/>
                    <a:ea typeface="+mn-ea"/>
                  </a:rPr>
                  <a:t>，</a:t>
                </a:r>
                <a:endParaRPr lang="en-US" altLang="zh-CN" sz="2400" dirty="0">
                  <a:latin typeface="+mn-ea"/>
                  <a:ea typeface="+mn-ea"/>
                </a:endParaRPr>
              </a:p>
              <a:p>
                <a:pPr algn="l" eaLnBrk="1" hangingPunct="1">
                  <a:lnSpc>
                    <a:spcPct val="150000"/>
                  </a:lnSpc>
                  <a:spcBef>
                    <a:spcPct val="0"/>
                  </a:spcBef>
                  <a:buClrTx/>
                  <a:buFontTx/>
                  <a:buNone/>
                </a:pPr>
                <a:r>
                  <a:rPr lang="zh-CN" altLang="en-US" sz="2400" dirty="0">
                    <a:latin typeface="+mn-ea"/>
                    <a:ea typeface="+mn-ea"/>
                  </a:rPr>
                  <a:t>即</a:t>
                </a: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∈R∩R</a:t>
                </a:r>
                <a:r>
                  <a:rPr lang="en-US" altLang="zh-CN" sz="2400" baseline="30000" dirty="0">
                    <a:solidFill>
                      <a:srgbClr val="FF0000"/>
                    </a:solidFill>
                    <a:latin typeface="+mn-ea"/>
                    <a:ea typeface="+mn-ea"/>
                  </a:rPr>
                  <a:t>-1</a:t>
                </a:r>
                <a:r>
                  <a:rPr lang="zh-CN" altLang="en-US" sz="2400" dirty="0">
                    <a:latin typeface="+mn-ea"/>
                    <a:ea typeface="+mn-ea"/>
                  </a:rPr>
                  <a:t>。</a:t>
                </a:r>
                <a:endParaRPr lang="zh-CN" altLang="en-US" sz="2400" dirty="0">
                  <a:latin typeface="+mn-ea"/>
                  <a:ea typeface="+mn-ea"/>
                </a:endParaRPr>
              </a:p>
              <a:p>
                <a:pPr algn="l" eaLnBrk="1" hangingPunct="1">
                  <a:lnSpc>
                    <a:spcPct val="150000"/>
                  </a:lnSpc>
                  <a:spcBef>
                    <a:spcPct val="0"/>
                  </a:spcBef>
                  <a:buClrTx/>
                  <a:buFontTx/>
                  <a:buNone/>
                </a:pPr>
                <a:r>
                  <a:rPr lang="zh-CN" altLang="en-US" sz="2400" dirty="0">
                    <a:latin typeface="+mn-ea"/>
                    <a:ea typeface="+mn-ea"/>
                  </a:rPr>
                  <a:t>又因</a:t>
                </a:r>
                <a:r>
                  <a:rPr lang="en-US" altLang="zh-CN" sz="2400" dirty="0">
                    <a:latin typeface="+mn-ea"/>
                    <a:ea typeface="+mn-ea"/>
                  </a:rPr>
                  <a:t>R∩R</a:t>
                </a:r>
                <a:r>
                  <a:rPr lang="en-US" altLang="zh-CN" sz="2400" baseline="30000" dirty="0">
                    <a:solidFill>
                      <a:srgbClr val="FF0000"/>
                    </a:solidFill>
                    <a:latin typeface="+mn-ea"/>
                    <a:ea typeface="+mn-ea"/>
                  </a:rPr>
                  <a:t>-1</a:t>
                </a:r>
                <a:r>
                  <a:rPr lang="en-US" altLang="zh-CN" sz="2400" noProof="1">
                    <a:latin typeface="+mn-ea"/>
                    <a:ea typeface="+mn-ea"/>
                    <a:sym typeface="Symbol" panose="05050102010706020507" pitchFamily="18" charset="2"/>
                  </a:rPr>
                  <a:t></a:t>
                </a:r>
                <a:r>
                  <a:rPr lang="en-US" altLang="zh-CN" sz="2400" dirty="0">
                    <a:latin typeface="+mn-ea"/>
                    <a:ea typeface="+mn-ea"/>
                  </a:rPr>
                  <a:t>I</a:t>
                </a:r>
                <a:r>
                  <a:rPr kumimoji="1" lang="en-US" altLang="zh-CN" sz="2400" baseline="-25000" dirty="0">
                    <a:solidFill>
                      <a:srgbClr val="FF0000"/>
                    </a:solidFill>
                    <a:latin typeface="+mn-ea"/>
                    <a:ea typeface="+mn-ea"/>
                  </a:rPr>
                  <a:t>A</a:t>
                </a:r>
                <a:r>
                  <a:rPr lang="zh-CN" altLang="en-US" sz="2400" dirty="0">
                    <a:latin typeface="+mn-ea"/>
                    <a:ea typeface="+mn-ea"/>
                  </a:rPr>
                  <a:t>，</a:t>
                </a:r>
                <a:endParaRPr lang="en-US" altLang="zh-CN" sz="2400" dirty="0">
                  <a:latin typeface="+mn-ea"/>
                  <a:ea typeface="+mn-ea"/>
                </a:endParaRPr>
              </a:p>
              <a:p>
                <a:pPr algn="l" eaLnBrk="1" hangingPunct="1">
                  <a:lnSpc>
                    <a:spcPct val="150000"/>
                  </a:lnSpc>
                  <a:spcBef>
                    <a:spcPct val="0"/>
                  </a:spcBef>
                  <a:buClrTx/>
                  <a:buFontTx/>
                  <a:buNone/>
                </a:pPr>
                <a:r>
                  <a:rPr lang="zh-CN" altLang="en-US" sz="2400" dirty="0">
                    <a:latin typeface="+mn-ea"/>
                    <a:ea typeface="+mn-ea"/>
                  </a:rPr>
                  <a:t>所以</a:t>
                </a:r>
                <a:r>
                  <a:rPr lang="en-US" altLang="zh-CN" sz="2400" dirty="0">
                    <a:latin typeface="+mn-ea"/>
                    <a:ea typeface="+mn-ea"/>
                  </a:rPr>
                  <a:t>&lt;</a:t>
                </a:r>
                <a:r>
                  <a:rPr lang="en-US" altLang="zh-CN" sz="2400" dirty="0" err="1">
                    <a:latin typeface="+mn-ea"/>
                    <a:ea typeface="+mn-ea"/>
                  </a:rPr>
                  <a:t>a,b</a:t>
                </a:r>
                <a:r>
                  <a:rPr lang="en-US" altLang="zh-CN" sz="2400" dirty="0">
                    <a:latin typeface="+mn-ea"/>
                    <a:ea typeface="+mn-ea"/>
                  </a:rPr>
                  <a:t>&gt;</a:t>
                </a:r>
                <a:r>
                  <a:rPr lang="en-US" altLang="zh-CN" sz="2400" noProof="1">
                    <a:latin typeface="+mn-ea"/>
                    <a:ea typeface="+mn-ea"/>
                  </a:rPr>
                  <a:t>∈I</a:t>
                </a:r>
                <a:r>
                  <a:rPr kumimoji="1" lang="en-US" altLang="zh-CN" sz="2400" baseline="-25000" dirty="0">
                    <a:solidFill>
                      <a:srgbClr val="FF0000"/>
                    </a:solidFill>
                    <a:latin typeface="+mn-ea"/>
                    <a:ea typeface="+mn-ea"/>
                  </a:rPr>
                  <a:t>A</a:t>
                </a:r>
                <a:r>
                  <a:rPr lang="zh-CN" altLang="en-US" sz="2400" dirty="0">
                    <a:latin typeface="+mn-ea"/>
                    <a:ea typeface="+mn-ea"/>
                  </a:rPr>
                  <a:t>，即</a:t>
                </a:r>
                <a:r>
                  <a:rPr lang="en-US" altLang="zh-CN" sz="2400" dirty="0">
                    <a:latin typeface="+mn-ea"/>
                    <a:ea typeface="+mn-ea"/>
                  </a:rPr>
                  <a:t>a</a:t>
                </a:r>
                <a:r>
                  <a:rPr lang="zh-CN" altLang="en-US" sz="2400" dirty="0">
                    <a:latin typeface="+mn-ea"/>
                    <a:ea typeface="+mn-ea"/>
                  </a:rPr>
                  <a:t>＝</a:t>
                </a:r>
                <a:r>
                  <a:rPr lang="en-US" altLang="zh-CN" sz="2400" dirty="0">
                    <a:latin typeface="+mn-ea"/>
                    <a:ea typeface="+mn-ea"/>
                  </a:rPr>
                  <a:t>b</a:t>
                </a:r>
                <a:r>
                  <a:rPr lang="zh-CN" altLang="en-US" sz="2400" dirty="0">
                    <a:latin typeface="+mn-ea"/>
                    <a:ea typeface="+mn-ea"/>
                  </a:rPr>
                  <a:t>。</a:t>
                </a:r>
                <a:endParaRPr lang="zh-CN" altLang="en-US" sz="2400" dirty="0">
                  <a:latin typeface="+mn-ea"/>
                  <a:ea typeface="+mn-ea"/>
                </a:endParaRPr>
              </a:p>
              <a:p>
                <a:pPr algn="l" eaLnBrk="1" hangingPunct="1">
                  <a:lnSpc>
                    <a:spcPct val="150000"/>
                  </a:lnSpc>
                  <a:spcBef>
                    <a:spcPct val="0"/>
                  </a:spcBef>
                  <a:buClrTx/>
                  <a:buFontTx/>
                  <a:buNone/>
                </a:pPr>
                <a:r>
                  <a:rPr lang="zh-CN" altLang="en-US" sz="2400" dirty="0">
                    <a:latin typeface="+mn-ea"/>
                    <a:ea typeface="+mn-ea"/>
                  </a:rPr>
                  <a:t>从而</a:t>
                </a:r>
                <a:r>
                  <a:rPr lang="en-US" altLang="zh-CN" sz="2400" dirty="0">
                    <a:latin typeface="+mn-ea"/>
                    <a:ea typeface="+mn-ea"/>
                  </a:rPr>
                  <a:t>R</a:t>
                </a:r>
                <a:r>
                  <a:rPr lang="zh-CN" altLang="en-US" sz="2400" dirty="0">
                    <a:latin typeface="+mn-ea"/>
                    <a:ea typeface="+mn-ea"/>
                  </a:rPr>
                  <a:t>是反对称的。</a:t>
                </a:r>
                <a:endParaRPr lang="zh-CN" altLang="en-US" sz="2400" dirty="0">
                  <a:latin typeface="+mn-ea"/>
                  <a:ea typeface="+mn-ea"/>
                </a:endParaRPr>
              </a:p>
            </p:txBody>
          </p:sp>
        </mc:Choice>
        <mc:Fallback>
          <p:sp>
            <p:nvSpPr>
              <p:cNvPr id="4" name="Rectangle 3"/>
              <p:cNvSpPr>
                <a:spLocks noRot="1" noChangeAspect="1" noMove="1" noResize="1" noEditPoints="1" noAdjustHandles="1" noChangeArrowheads="1" noChangeShapeType="1" noTextEdit="1"/>
              </p:cNvSpPr>
              <p:nvPr/>
            </p:nvSpPr>
            <p:spPr bwMode="auto">
              <a:xfrm>
                <a:off x="6022975" y="1018692"/>
                <a:ext cx="5791200" cy="4459041"/>
              </a:xfrm>
              <a:prstGeom prst="rect">
                <a:avLst/>
              </a:prstGeom>
              <a:blipFill rotWithShape="1">
                <a:blip r:embed="rId2"/>
                <a:stretch>
                  <a:fillRect t="-687" b="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3"/>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9011">
                                            <p:txEl>
                                              <p:pRg st="0" end="0"/>
                                            </p:txEl>
                                          </p:spTgt>
                                        </p:tgtEl>
                                        <p:attrNameLst>
                                          <p:attrName>style.visibility</p:attrName>
                                        </p:attrNameLst>
                                      </p:cBhvr>
                                      <p:to>
                                        <p:strVal val="visible"/>
                                      </p:to>
                                    </p:set>
                                    <p:anim calcmode="lin" valueType="num">
                                      <p:cBhvr additive="base">
                                        <p:cTn id="7" dur="500" fill="hold"/>
                                        <p:tgtEl>
                                          <p:spTgt spid="1579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9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9011">
                                            <p:txEl>
                                              <p:pRg st="1" end="1"/>
                                            </p:txEl>
                                          </p:spTgt>
                                        </p:tgtEl>
                                        <p:attrNameLst>
                                          <p:attrName>style.visibility</p:attrName>
                                        </p:attrNameLst>
                                      </p:cBhvr>
                                      <p:to>
                                        <p:strVal val="visible"/>
                                      </p:to>
                                    </p:set>
                                    <p:anim calcmode="lin" valueType="num">
                                      <p:cBhvr additive="base">
                                        <p:cTn id="13" dur="500" fill="hold"/>
                                        <p:tgtEl>
                                          <p:spTgt spid="15790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9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9011">
                                            <p:txEl>
                                              <p:pRg st="2" end="2"/>
                                            </p:txEl>
                                          </p:spTgt>
                                        </p:tgtEl>
                                        <p:attrNameLst>
                                          <p:attrName>style.visibility</p:attrName>
                                        </p:attrNameLst>
                                      </p:cBhvr>
                                      <p:to>
                                        <p:strVal val="visible"/>
                                      </p:to>
                                    </p:set>
                                    <p:anim calcmode="lin" valueType="num">
                                      <p:cBhvr additive="base">
                                        <p:cTn id="19" dur="500" fill="hold"/>
                                        <p:tgtEl>
                                          <p:spTgt spid="15790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9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79011">
                                            <p:txEl>
                                              <p:pRg st="3" end="3"/>
                                            </p:txEl>
                                          </p:spTgt>
                                        </p:tgtEl>
                                        <p:attrNameLst>
                                          <p:attrName>style.visibility</p:attrName>
                                        </p:attrNameLst>
                                      </p:cBhvr>
                                      <p:to>
                                        <p:strVal val="visible"/>
                                      </p:to>
                                    </p:set>
                                    <p:anim calcmode="lin" valueType="num">
                                      <p:cBhvr additive="base">
                                        <p:cTn id="25" dur="500" fill="hold"/>
                                        <p:tgtEl>
                                          <p:spTgt spid="15790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790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79011">
                                            <p:txEl>
                                              <p:pRg st="4" end="4"/>
                                            </p:txEl>
                                          </p:spTgt>
                                        </p:tgtEl>
                                        <p:attrNameLst>
                                          <p:attrName>style.visibility</p:attrName>
                                        </p:attrNameLst>
                                      </p:cBhvr>
                                      <p:to>
                                        <p:strVal val="visible"/>
                                      </p:to>
                                    </p:set>
                                    <p:anim calcmode="lin" valueType="num">
                                      <p:cBhvr additive="base">
                                        <p:cTn id="31" dur="500" fill="hold"/>
                                        <p:tgtEl>
                                          <p:spTgt spid="15790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790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79011">
                                            <p:txEl>
                                              <p:pRg st="5" end="5"/>
                                            </p:txEl>
                                          </p:spTgt>
                                        </p:tgtEl>
                                        <p:attrNameLst>
                                          <p:attrName>style.visibility</p:attrName>
                                        </p:attrNameLst>
                                      </p:cBhvr>
                                      <p:to>
                                        <p:strVal val="visible"/>
                                      </p:to>
                                    </p:set>
                                    <p:anim calcmode="lin" valueType="num">
                                      <p:cBhvr additive="base">
                                        <p:cTn id="37" dur="500" fill="hold"/>
                                        <p:tgtEl>
                                          <p:spTgt spid="15790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790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 calcmode="lin" valueType="num">
                                      <p:cBhvr additive="base">
                                        <p:cTn id="43"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additive="base">
                                        <p:cTn id="49"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 calcmode="lin" valueType="num">
                                      <p:cBhvr additive="base">
                                        <p:cTn id="5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
                                            <p:txEl>
                                              <p:pRg st="3" end="3"/>
                                            </p:txEl>
                                          </p:spTgt>
                                        </p:tgtEl>
                                        <p:attrNameLst>
                                          <p:attrName>style.visibility</p:attrName>
                                        </p:attrNameLst>
                                      </p:cBhvr>
                                      <p:to>
                                        <p:strVal val="visible"/>
                                      </p:to>
                                    </p:set>
                                    <p:anim calcmode="lin" valueType="num">
                                      <p:cBhvr additive="base">
                                        <p:cTn id="61"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 calcmode="lin" valueType="num">
                                      <p:cBhvr additive="base">
                                        <p:cTn id="67"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
                                            <p:txEl>
                                              <p:pRg st="5" end="5"/>
                                            </p:txEl>
                                          </p:spTgt>
                                        </p:tgtEl>
                                        <p:attrNameLst>
                                          <p:attrName>style.visibility</p:attrName>
                                        </p:attrNameLst>
                                      </p:cBhvr>
                                      <p:to>
                                        <p:strVal val="visible"/>
                                      </p:to>
                                    </p:set>
                                    <p:anim calcmode="lin" valueType="num">
                                      <p:cBhvr additive="base">
                                        <p:cTn id="73"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
                                            <p:txEl>
                                              <p:pRg st="6" end="6"/>
                                            </p:txEl>
                                          </p:spTgt>
                                        </p:tgtEl>
                                        <p:attrNameLst>
                                          <p:attrName>style.visibility</p:attrName>
                                        </p:attrNameLst>
                                      </p:cBhvr>
                                      <p:to>
                                        <p:strVal val="visible"/>
                                      </p:to>
                                    </p:set>
                                    <p:anim calcmode="lin" valueType="num">
                                      <p:cBhvr additive="base">
                                        <p:cTn id="79"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
                                            <p:txEl>
                                              <p:pRg st="7" end="7"/>
                                            </p:txEl>
                                          </p:spTgt>
                                        </p:tgtEl>
                                        <p:attrNameLst>
                                          <p:attrName>style.visibility</p:attrName>
                                        </p:attrNameLst>
                                      </p:cBhvr>
                                      <p:to>
                                        <p:strVal val="visible"/>
                                      </p:to>
                                    </p:set>
                                    <p:anim calcmode="lin" valueType="num">
                                      <p:cBhvr additive="base">
                                        <p:cTn id="85" dur="500" fill="hold"/>
                                        <p:tgtEl>
                                          <p:spTgt spid="4">
                                            <p:txEl>
                                              <p:pRg st="7" end="7"/>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4">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9011" grpId="0" autoUpdateAnimBg="0" build="p"/>
      <p:bldP spid="4" grpId="0" autoUpdateAnimBg="0" build="p"/>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83106" name="Rectangle 2"/>
              <p:cNvSpPr>
                <a:spLocks noGrp="1" noChangeArrowheads="1"/>
              </p:cNvSpPr>
              <p:nvPr>
                <p:ph type="body" idx="1"/>
              </p:nvPr>
            </p:nvSpPr>
            <p:spPr>
              <a:xfrm>
                <a:off x="384175" y="1258094"/>
                <a:ext cx="5334000" cy="4343400"/>
              </a:xfrm>
            </p:spPr>
            <p:txBody>
              <a:bodyPr>
                <a:normAutofit/>
              </a:bodyPr>
              <a:lstStyle/>
              <a:p>
                <a:pPr marL="0" indent="0">
                  <a:spcBef>
                    <a:spcPct val="15000"/>
                  </a:spcBef>
                  <a:buNone/>
                </a:pPr>
                <a:r>
                  <a:rPr lang="zh-CN" altLang="en-US" dirty="0">
                    <a:solidFill>
                      <a:srgbClr val="C00000"/>
                    </a:solidFill>
                  </a:rPr>
                  <a:t>必要性“</a:t>
                </a:r>
                <a:r>
                  <a:rPr lang="zh-CN" altLang="en-US" dirty="0">
                    <a:solidFill>
                      <a:srgbClr val="C00000"/>
                    </a:solidFill>
                    <a:sym typeface="Symbol" panose="05050102010706020507" pitchFamily="18" charset="2"/>
                  </a:rPr>
                  <a:t></a:t>
                </a:r>
                <a:r>
                  <a:rPr lang="zh-CN" altLang="zh-CN" dirty="0">
                    <a:solidFill>
                      <a:srgbClr val="C00000"/>
                    </a:solidFill>
                  </a:rPr>
                  <a:t>”</a:t>
                </a:r>
                <a:endParaRPr lang="zh-CN" altLang="en-US" noProof="1">
                  <a:solidFill>
                    <a:srgbClr val="C00000"/>
                  </a:solidFill>
                </a:endParaRPr>
              </a:p>
              <a:p>
                <a:pPr marL="0" indent="0">
                  <a:spcBef>
                    <a:spcPct val="15000"/>
                  </a:spcBef>
                  <a:buNone/>
                </a:pPr>
                <a:r>
                  <a:rPr lang="zh-CN" altLang="en-US" noProof="1"/>
                  <a:t>对</a:t>
                </a:r>
                <a14:m>
                  <m:oMath xmlns:m="http://schemas.openxmlformats.org/officeDocument/2006/math">
                    <m:r>
                      <a:rPr lang="es-ES" altLang="zh-CN" i="1">
                        <a:latin typeface="Cambria Math" panose="02040503050406030204" pitchFamily="18" charset="0"/>
                        <a:ea typeface="Cambria Math" panose="02040503050406030204" pitchFamily="18" charset="0"/>
                      </a:rPr>
                      <m:t>∀ </m:t>
                    </m:r>
                  </m:oMath>
                </a14:m>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14:m>
                  <m:oMath xmlns:m="http://schemas.openxmlformats.org/officeDocument/2006/math">
                    <m:r>
                      <a:rPr lang="es-ES" altLang="zh-CN" i="1">
                        <a:latin typeface="Cambria Math" panose="02040503050406030204" pitchFamily="18" charset="0"/>
                      </a:rPr>
                      <m:t>∀</m:t>
                    </m:r>
                  </m:oMath>
                </a14:m>
                <a:r>
                  <a:rPr lang="en-US" altLang="zh-CN" noProof="1"/>
                  <a:t>c∈A, </a:t>
                </a:r>
                <a:endParaRPr lang="en-US" altLang="zh-CN" noProof="1"/>
              </a:p>
              <a:p>
                <a:pPr marL="0" indent="0">
                  <a:spcBef>
                    <a:spcPct val="15000"/>
                  </a:spcBef>
                  <a:buNone/>
                </a:pPr>
                <a:r>
                  <a:rPr lang="en-US" altLang="zh-CN" noProof="1">
                    <a:latin typeface="微软雅黑" panose="020B0503020204020204" pitchFamily="34" charset="-122"/>
                    <a:ea typeface="微软雅黑" panose="020B0503020204020204" pitchFamily="34" charset="-122"/>
                  </a:rPr>
                  <a:t>   </a:t>
                </a:r>
                <a:r>
                  <a:rPr lang="zh-CN" altLang="en-US" noProof="1"/>
                  <a:t>&lt;</a:t>
                </a:r>
                <a:r>
                  <a:rPr lang="en-US" altLang="zh-CN" noProof="1"/>
                  <a:t>a,c&gt;∈R</a:t>
                </a:r>
                <a:r>
                  <a:rPr lang="en-US" altLang="zh-CN" noProof="1">
                    <a:sym typeface="Symbol" panose="05050102010706020507" pitchFamily="18" charset="2"/>
                  </a:rPr>
                  <a:t></a:t>
                </a:r>
                <a:r>
                  <a:rPr lang="en-US" altLang="zh-CN" noProof="1"/>
                  <a:t>R</a:t>
                </a:r>
                <a:endParaRPr lang="en-US" altLang="zh-CN" noProof="1"/>
              </a:p>
              <a:p>
                <a:pPr marL="0" indent="0">
                  <a:spcBef>
                    <a:spcPct val="15000"/>
                  </a:spcBef>
                  <a:buNone/>
                </a:pPr>
                <a:r>
                  <a:rPr lang="zh-CN" altLang="en-US" dirty="0">
                    <a:solidFill>
                      <a:srgbClr val="C00000"/>
                    </a:solidFill>
                    <a:sym typeface="Symbol" panose="05050102010706020507" pitchFamily="18" charset="2"/>
                  </a:rPr>
                  <a:t> </a:t>
                </a:r>
                <a:r>
                  <a:rPr lang="en-US" altLang="zh-CN" dirty="0">
                    <a:sym typeface="Symbol" panose="05050102010706020507" pitchFamily="18" charset="2"/>
                  </a:rPr>
                  <a:t>b</a:t>
                </a:r>
                <a:r>
                  <a:rPr lang="en-US" altLang="zh-CN" noProof="1"/>
                  <a:t>(b∈A∧&lt;a,b&gt;∈R∧&lt;b,c&gt;∈R)</a:t>
                </a:r>
                <a:endParaRPr lang="en-US" altLang="zh-CN" noProof="1">
                  <a:sym typeface="Symbol" panose="05050102010706020507" pitchFamily="18" charset="2"/>
                </a:endParaRPr>
              </a:p>
              <a:p>
                <a:pPr marL="0" indent="0">
                  <a:spcBef>
                    <a:spcPct val="15000"/>
                  </a:spcBef>
                  <a:buNone/>
                </a:pPr>
                <a:r>
                  <a:rPr lang="zh-CN" altLang="en-US" noProof="1"/>
                  <a:t>由于</a:t>
                </a:r>
                <a:r>
                  <a:rPr lang="en-US" altLang="zh-CN" noProof="1"/>
                  <a:t>R</a:t>
                </a:r>
                <a:r>
                  <a:rPr lang="zh-CN" altLang="en-US" noProof="1"/>
                  <a:t>是传递的，</a:t>
                </a:r>
                <a:endParaRPr lang="en-US" altLang="zh-CN" noProof="1"/>
              </a:p>
              <a:p>
                <a:pPr marL="0" indent="0">
                  <a:spcBef>
                    <a:spcPct val="15000"/>
                  </a:spcBef>
                  <a:buNone/>
                </a:pPr>
                <a:r>
                  <a:rPr lang="zh-CN" altLang="en-US" noProof="1"/>
                  <a:t>因此有&lt;</a:t>
                </a:r>
                <a:r>
                  <a:rPr lang="en-US" altLang="zh-CN" noProof="1"/>
                  <a:t>a,c&gt;∈R</a:t>
                </a:r>
                <a:r>
                  <a:rPr lang="zh-CN" altLang="en-US" noProof="1"/>
                  <a:t>，即</a:t>
                </a:r>
                <a:r>
                  <a:rPr lang="en-US" altLang="zh-CN" noProof="1"/>
                  <a:t>R</a:t>
                </a:r>
                <a:r>
                  <a:rPr lang="en-US" altLang="zh-CN" noProof="1">
                    <a:sym typeface="Symbol" panose="05050102010706020507" pitchFamily="18" charset="2"/>
                  </a:rPr>
                  <a:t></a:t>
                </a:r>
                <a:r>
                  <a:rPr lang="en-US" altLang="zh-CN" noProof="1"/>
                  <a:t>R</a:t>
                </a:r>
                <a:r>
                  <a:rPr lang="en-US" altLang="zh-CN" noProof="1">
                    <a:sym typeface="Symbol" panose="05050102010706020507" pitchFamily="18" charset="2"/>
                  </a:rPr>
                  <a:t></a:t>
                </a:r>
                <a:r>
                  <a:rPr lang="en-US" altLang="zh-CN" dirty="0"/>
                  <a:t>R</a:t>
                </a:r>
                <a:r>
                  <a:rPr lang="zh-CN" altLang="en-US" dirty="0"/>
                  <a:t>。</a:t>
                </a:r>
                <a:endParaRPr lang="zh-CN" altLang="en-US" dirty="0"/>
              </a:p>
            </p:txBody>
          </p:sp>
        </mc:Choice>
        <mc:Fallback>
          <p:sp>
            <p:nvSpPr>
              <p:cNvPr id="1583106" name="Rectangle 2"/>
              <p:cNvSpPr>
                <a:spLocks noRot="1" noChangeAspect="1" noMove="1" noResize="1" noEditPoints="1" noAdjustHandles="1" noChangeArrowheads="1" noChangeShapeType="1" noTextEdit="1"/>
              </p:cNvSpPr>
              <p:nvPr>
                <p:ph type="body" idx="1"/>
              </p:nvPr>
            </p:nvSpPr>
            <p:spPr>
              <a:xfrm>
                <a:off x="384175" y="1258094"/>
                <a:ext cx="5334000" cy="4343400"/>
              </a:xfrm>
              <a:blipFill rotWithShape="1">
                <a:blip r:embed="rId1"/>
                <a:stretch>
                  <a:fillRect t="-4" b="4"/>
                </a:stretch>
              </a:blipFill>
            </p:spPr>
            <p:txBody>
              <a:bodyPr/>
              <a:lstStyle/>
              <a:p>
                <a:r>
                  <a:rPr lang="zh-CN" altLang="en-US">
                    <a:noFill/>
                  </a:rPr>
                  <a:t> </a:t>
                </a:r>
              </a:p>
            </p:txBody>
          </p:sp>
        </mc:Fallback>
      </mc:AlternateContent>
      <p:sp>
        <p:nvSpPr>
          <p:cNvPr id="252932" name="Rectangle 3"/>
          <p:cNvSpPr>
            <a:spLocks noGrp="1" noChangeArrowheads="1"/>
          </p:cNvSpPr>
          <p:nvPr>
            <p:ph type="title"/>
          </p:nvPr>
        </p:nvSpPr>
        <p:spPr/>
        <p:txBody>
          <a:bodyPr/>
          <a:lstStyle/>
          <a:p>
            <a:pPr eaLnBrk="1" hangingPunct="1"/>
            <a:r>
              <a:rPr lang="zh-CN" altLang="en-US">
                <a:latin typeface="宋体" panose="02010600030101010101" pitchFamily="2" charset="-122"/>
              </a:rPr>
              <a:t>证明（</a:t>
            </a:r>
            <a:r>
              <a:rPr lang="en-US" altLang="zh-CN">
                <a:latin typeface="宋体" panose="02010600030101010101" pitchFamily="2" charset="-122"/>
              </a:rPr>
              <a:t>5</a:t>
            </a:r>
            <a:r>
              <a:rPr lang="zh-CN" altLang="en-US">
                <a:latin typeface="宋体" panose="02010600030101010101" pitchFamily="2" charset="-122"/>
              </a:rPr>
              <a:t>）</a:t>
            </a:r>
            <a:endParaRPr lang="en-US" altLang="zh-CN">
              <a:latin typeface="宋体" panose="02010600030101010101" pitchFamily="2" charset="-122"/>
            </a:endParaRPr>
          </a:p>
        </p:txBody>
      </p:sp>
      <mc:AlternateContent xmlns:mc="http://schemas.openxmlformats.org/markup-compatibility/2006">
        <mc:Choice xmlns:a14="http://schemas.microsoft.com/office/drawing/2010/main" Requires="a14">
          <p:sp>
            <p:nvSpPr>
              <p:cNvPr id="4" name="Rectangle 2"/>
              <p:cNvSpPr txBox="1">
                <a:spLocks noChangeArrowheads="1"/>
              </p:cNvSpPr>
              <p:nvPr/>
            </p:nvSpPr>
            <p:spPr>
              <a:xfrm>
                <a:off x="6118501" y="1245636"/>
                <a:ext cx="5029200" cy="3848100"/>
              </a:xfrm>
              <a:prstGeom prst="rect">
                <a:avLst/>
              </a:prstGeom>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spcBef>
                    <a:spcPct val="15000"/>
                  </a:spcBef>
                  <a:buFont typeface="Wingdings" panose="05000000000000000000" pitchFamily="2" charset="2"/>
                  <a:buNone/>
                </a:pPr>
                <a:r>
                  <a:rPr lang="zh-CN" altLang="en-US" dirty="0">
                    <a:solidFill>
                      <a:srgbClr val="C00000"/>
                    </a:solidFill>
                  </a:rPr>
                  <a:t>充分性“</a:t>
                </a:r>
                <a:r>
                  <a:rPr lang="zh-CN" altLang="en-US" dirty="0">
                    <a:solidFill>
                      <a:srgbClr val="C00000"/>
                    </a:solidFill>
                    <a:sym typeface="Symbol" panose="05050102010706020507" pitchFamily="18" charset="2"/>
                  </a:rPr>
                  <a:t></a:t>
                </a:r>
                <a:r>
                  <a:rPr lang="zh-CN" altLang="zh-CN" noProof="1">
                    <a:solidFill>
                      <a:srgbClr val="C00000"/>
                    </a:solidFill>
                  </a:rPr>
                  <a:t>”</a:t>
                </a:r>
                <a:endParaRPr lang="zh-CN" altLang="en-US" dirty="0">
                  <a:solidFill>
                    <a:srgbClr val="C00000"/>
                  </a:solidFill>
                </a:endParaRPr>
              </a:p>
              <a:p>
                <a:pPr marL="0" indent="0">
                  <a:spcBef>
                    <a:spcPct val="15000"/>
                  </a:spcBef>
                  <a:buNone/>
                </a:pPr>
                <a:r>
                  <a:rPr lang="zh-CN" altLang="en-US" dirty="0"/>
                  <a:t>对</a:t>
                </a:r>
                <a14:m>
                  <m:oMath xmlns:m="http://schemas.openxmlformats.org/officeDocument/2006/math">
                    <m:r>
                      <a:rPr lang="es-ES" altLang="zh-CN" i="1">
                        <a:latin typeface="Cambria Math" panose="02040503050406030204" pitchFamily="18" charset="0"/>
                        <a:ea typeface="Cambria Math" panose="02040503050406030204" pitchFamily="18" charset="0"/>
                      </a:rPr>
                      <m:t>∀ </m:t>
                    </m:r>
                  </m:oMath>
                </a14:m>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r>
                  <a:rPr lang="es-ES" altLang="zh-CN" dirty="0">
                    <a:ea typeface="Cambria Math" panose="02040503050406030204" pitchFamily="18" charset="0"/>
                  </a:rPr>
                  <a:t> </a:t>
                </a:r>
                <a14:m>
                  <m:oMath xmlns:m="http://schemas.openxmlformats.org/officeDocument/2006/math">
                    <m:r>
                      <a:rPr lang="es-ES" altLang="zh-CN" i="1">
                        <a:latin typeface="Cambria Math" panose="02040503050406030204" pitchFamily="18" charset="0"/>
                        <a:ea typeface="Cambria Math" panose="02040503050406030204" pitchFamily="18" charset="0"/>
                      </a:rPr>
                      <m:t>∀ </m:t>
                    </m:r>
                    <m:r>
                      <a:rPr lang="en-US" altLang="zh-CN" smtClean="0">
                        <a:latin typeface="Cambria Math" panose="02040503050406030204" pitchFamily="18" charset="0"/>
                        <a:ea typeface="Cambria Math" panose="02040503050406030204" pitchFamily="18" charset="0"/>
                      </a:rPr>
                      <m:t>𝐛</m:t>
                    </m:r>
                  </m:oMath>
                </a14:m>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14:m>
                  <m:oMath xmlns:m="http://schemas.openxmlformats.org/officeDocument/2006/math">
                    <m:r>
                      <a:rPr lang="es-ES" altLang="zh-CN" i="1">
                        <a:latin typeface="Cambria Math" panose="02040503050406030204" pitchFamily="18" charset="0"/>
                        <a:ea typeface="Cambria Math" panose="02040503050406030204" pitchFamily="18" charset="0"/>
                      </a:rPr>
                      <m:t>∀</m:t>
                    </m:r>
                    <m:r>
                      <m:rPr>
                        <m:nor/>
                      </m:rPr>
                      <a:rPr lang="en-US" altLang="zh-CN" noProof="1">
                        <a:latin typeface="Cambria Math" panose="02040503050406030204" pitchFamily="18" charset="0"/>
                      </a:rPr>
                      <m:t>c</m:t>
                    </m:r>
                  </m:oMath>
                </a14:m>
                <a:r>
                  <a:rPr lang="en-US" altLang="zh-CN" noProof="1">
                    <a:latin typeface="微软雅黑" panose="020B0503020204020204" pitchFamily="34" charset="-122"/>
                    <a:ea typeface="微软雅黑" panose="020B0503020204020204" pitchFamily="34" charset="-122"/>
                  </a:rPr>
                  <a:t>∈A </a:t>
                </a:r>
                <a:r>
                  <a:rPr lang="zh-CN" altLang="zh-CN" dirty="0"/>
                  <a:t>，</a:t>
                </a:r>
                <a:endParaRPr lang="en-US" altLang="zh-CN" dirty="0"/>
              </a:p>
              <a:p>
                <a:pPr marL="0" indent="0">
                  <a:spcBef>
                    <a:spcPct val="15000"/>
                  </a:spcBef>
                  <a:buFont typeface="Wingdings" panose="05000000000000000000" pitchFamily="2" charset="2"/>
                  <a:buNone/>
                </a:pPr>
                <a:r>
                  <a:rPr lang="en-US" altLang="zh-CN" dirty="0"/>
                  <a:t>   </a:t>
                </a:r>
                <a:r>
                  <a:rPr lang="zh-CN" altLang="en-US" noProof="1"/>
                  <a:t>&lt;</a:t>
                </a:r>
                <a:r>
                  <a:rPr lang="en-US" altLang="zh-CN" noProof="1"/>
                  <a:t>a,b&gt;∈R ∧</a:t>
                </a:r>
                <a:r>
                  <a:rPr lang="zh-CN" altLang="en-US" noProof="1"/>
                  <a:t>&lt;</a:t>
                </a:r>
                <a:r>
                  <a:rPr lang="en-US" altLang="zh-CN" noProof="1"/>
                  <a:t>b,c&gt;∈R</a:t>
                </a:r>
                <a:endParaRPr lang="en-US" altLang="zh-CN" noProof="1"/>
              </a:p>
              <a:p>
                <a:pPr marL="0" indent="0">
                  <a:spcBef>
                    <a:spcPct val="15000"/>
                  </a:spcBef>
                  <a:buFont typeface="Wingdings" panose="05000000000000000000" pitchFamily="2" charset="2"/>
                  <a:buNone/>
                </a:pPr>
                <a:r>
                  <a:rPr lang="zh-CN" altLang="en-US" dirty="0">
                    <a:solidFill>
                      <a:srgbClr val="C00000"/>
                    </a:solidFill>
                    <a:sym typeface="Symbol" panose="05050102010706020507" pitchFamily="18" charset="2"/>
                  </a:rPr>
                  <a:t></a:t>
                </a:r>
                <a:r>
                  <a:rPr lang="en-US" altLang="zh-CN" dirty="0"/>
                  <a:t>&lt;</a:t>
                </a:r>
                <a:r>
                  <a:rPr lang="en-US" altLang="zh-CN" dirty="0" err="1"/>
                  <a:t>a,c</a:t>
                </a:r>
                <a:r>
                  <a:rPr lang="en-US" altLang="zh-CN" dirty="0"/>
                  <a:t>&gt;</a:t>
                </a:r>
                <a:r>
                  <a:rPr lang="en-US" altLang="zh-CN" noProof="1"/>
                  <a:t>∈R</a:t>
                </a:r>
                <a:r>
                  <a:rPr lang="en-US" altLang="zh-CN" noProof="1">
                    <a:sym typeface="Symbol" panose="05050102010706020507" pitchFamily="18" charset="2"/>
                  </a:rPr>
                  <a:t></a:t>
                </a:r>
                <a:r>
                  <a:rPr lang="en-US" altLang="zh-CN" noProof="1"/>
                  <a:t>R</a:t>
                </a:r>
                <a:endParaRPr lang="zh-CN" altLang="en-US" dirty="0"/>
              </a:p>
              <a:p>
                <a:pPr marL="0" indent="0">
                  <a:spcBef>
                    <a:spcPct val="15000"/>
                  </a:spcBef>
                  <a:buFont typeface="Wingdings" panose="05000000000000000000" pitchFamily="2" charset="2"/>
                  <a:buNone/>
                </a:pPr>
                <a:r>
                  <a:rPr lang="zh-CN" altLang="en-US" noProof="1"/>
                  <a:t>因</a:t>
                </a:r>
                <a:r>
                  <a:rPr lang="en-US" altLang="zh-CN" noProof="1"/>
                  <a:t>R</a:t>
                </a:r>
                <a:r>
                  <a:rPr lang="en-US" altLang="zh-CN" noProof="1">
                    <a:sym typeface="Symbol" panose="05050102010706020507" pitchFamily="18" charset="2"/>
                  </a:rPr>
                  <a:t></a:t>
                </a:r>
                <a:r>
                  <a:rPr lang="en-US" altLang="zh-CN" noProof="1"/>
                  <a:t>R</a:t>
                </a:r>
                <a:r>
                  <a:rPr lang="en-US" altLang="zh-CN" noProof="1">
                    <a:sym typeface="Symbol" panose="05050102010706020507" pitchFamily="18" charset="2"/>
                  </a:rPr>
                  <a:t></a:t>
                </a:r>
                <a:r>
                  <a:rPr lang="en-US" altLang="zh-CN" dirty="0"/>
                  <a:t>R</a:t>
                </a:r>
                <a:r>
                  <a:rPr lang="zh-CN" altLang="en-US" dirty="0"/>
                  <a:t>，所以</a:t>
                </a:r>
                <a:r>
                  <a:rPr lang="en-US" altLang="zh-CN" dirty="0"/>
                  <a:t>&lt;</a:t>
                </a:r>
                <a:r>
                  <a:rPr lang="en-US" altLang="zh-CN" dirty="0" err="1"/>
                  <a:t>a,c</a:t>
                </a:r>
                <a:r>
                  <a:rPr lang="en-US" altLang="zh-CN" dirty="0"/>
                  <a:t>&gt;</a:t>
                </a:r>
                <a:r>
                  <a:rPr lang="en-US" altLang="zh-CN" noProof="1"/>
                  <a:t>∈R</a:t>
                </a:r>
                <a:r>
                  <a:rPr lang="zh-CN" altLang="zh-CN" dirty="0"/>
                  <a:t>，</a:t>
                </a:r>
                <a:endParaRPr lang="en-US" altLang="zh-CN" dirty="0"/>
              </a:p>
              <a:p>
                <a:pPr marL="0" indent="0">
                  <a:spcBef>
                    <a:spcPct val="15000"/>
                  </a:spcBef>
                  <a:buFont typeface="Wingdings" panose="05000000000000000000" pitchFamily="2" charset="2"/>
                  <a:buNone/>
                </a:pPr>
                <a:r>
                  <a:rPr lang="zh-CN" altLang="en-US" noProof="1"/>
                  <a:t>即</a:t>
                </a:r>
                <a:r>
                  <a:rPr lang="en-US" altLang="zh-CN" noProof="1"/>
                  <a:t>R</a:t>
                </a:r>
                <a:r>
                  <a:rPr lang="zh-CN" altLang="en-US" noProof="1"/>
                  <a:t>是传递的。</a:t>
                </a:r>
                <a:endParaRPr lang="zh-CN" altLang="en-US" dirty="0"/>
              </a:p>
            </p:txBody>
          </p:sp>
        </mc:Choice>
        <mc:Fallback>
          <p:sp>
            <p:nvSpPr>
              <p:cNvPr id="4" name="Rectangle 2"/>
              <p:cNvSpPr txBox="1">
                <a:spLocks noRot="1" noChangeAspect="1" noMove="1" noResize="1" noEditPoints="1" noAdjustHandles="1" noChangeArrowheads="1" noChangeShapeType="1" noTextEdit="1"/>
              </p:cNvSpPr>
              <p:nvPr/>
            </p:nvSpPr>
            <p:spPr>
              <a:xfrm>
                <a:off x="6118501" y="1245636"/>
                <a:ext cx="5029200" cy="3848100"/>
              </a:xfrm>
              <a:prstGeom prst="rect">
                <a:avLst/>
              </a:prstGeom>
              <a:blipFill rotWithShape="1">
                <a:blip r:embed="rId2"/>
                <a:stretch>
                  <a:fillRect l="-5" t="-10" r="5" b="10"/>
                </a:stretch>
              </a:blipFill>
            </p:spPr>
            <p:txBody>
              <a:bodyPr/>
              <a:lstStyle/>
              <a:p>
                <a:r>
                  <a:rPr lang="zh-CN" altLang="en-US">
                    <a:noFill/>
                  </a:rPr>
                  <a:t> </a:t>
                </a:r>
              </a:p>
            </p:txBody>
          </p:sp>
        </mc:Fallback>
      </mc:AlternateContent>
    </p:spTree>
    <p:custDataLst>
      <p:tags r:id="rId3"/>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83106">
                                            <p:txEl>
                                              <p:pRg st="0" end="0"/>
                                            </p:txEl>
                                          </p:spTgt>
                                        </p:tgtEl>
                                        <p:attrNameLst>
                                          <p:attrName>style.visibility</p:attrName>
                                        </p:attrNameLst>
                                      </p:cBhvr>
                                      <p:to>
                                        <p:strVal val="visible"/>
                                      </p:to>
                                    </p:set>
                                    <p:anim calcmode="lin" valueType="num">
                                      <p:cBhvr additive="base">
                                        <p:cTn id="7" dur="500" fill="hold"/>
                                        <p:tgtEl>
                                          <p:spTgt spid="158310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5831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83106">
                                            <p:txEl>
                                              <p:pRg st="1" end="1"/>
                                            </p:txEl>
                                          </p:spTgt>
                                        </p:tgtEl>
                                        <p:attrNameLst>
                                          <p:attrName>style.visibility</p:attrName>
                                        </p:attrNameLst>
                                      </p:cBhvr>
                                      <p:to>
                                        <p:strVal val="visible"/>
                                      </p:to>
                                    </p:set>
                                    <p:anim calcmode="lin" valueType="num">
                                      <p:cBhvr additive="base">
                                        <p:cTn id="13" dur="500" fill="hold"/>
                                        <p:tgtEl>
                                          <p:spTgt spid="158310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58310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83106">
                                            <p:txEl>
                                              <p:pRg st="2" end="2"/>
                                            </p:txEl>
                                          </p:spTgt>
                                        </p:tgtEl>
                                        <p:attrNameLst>
                                          <p:attrName>style.visibility</p:attrName>
                                        </p:attrNameLst>
                                      </p:cBhvr>
                                      <p:to>
                                        <p:strVal val="visible"/>
                                      </p:to>
                                    </p:set>
                                    <p:anim calcmode="lin" valueType="num">
                                      <p:cBhvr additive="base">
                                        <p:cTn id="19" dur="500" fill="hold"/>
                                        <p:tgtEl>
                                          <p:spTgt spid="158310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58310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83106">
                                            <p:txEl>
                                              <p:pRg st="3" end="3"/>
                                            </p:txEl>
                                          </p:spTgt>
                                        </p:tgtEl>
                                        <p:attrNameLst>
                                          <p:attrName>style.visibility</p:attrName>
                                        </p:attrNameLst>
                                      </p:cBhvr>
                                      <p:to>
                                        <p:strVal val="visible"/>
                                      </p:to>
                                    </p:set>
                                    <p:anim calcmode="lin" valueType="num">
                                      <p:cBhvr additive="base">
                                        <p:cTn id="25" dur="500" fill="hold"/>
                                        <p:tgtEl>
                                          <p:spTgt spid="158310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58310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583106">
                                            <p:txEl>
                                              <p:pRg st="4" end="4"/>
                                            </p:txEl>
                                          </p:spTgt>
                                        </p:tgtEl>
                                        <p:attrNameLst>
                                          <p:attrName>style.visibility</p:attrName>
                                        </p:attrNameLst>
                                      </p:cBhvr>
                                      <p:to>
                                        <p:strVal val="visible"/>
                                      </p:to>
                                    </p:set>
                                    <p:anim calcmode="lin" valueType="num">
                                      <p:cBhvr additive="base">
                                        <p:cTn id="31" dur="500" fill="hold"/>
                                        <p:tgtEl>
                                          <p:spTgt spid="1583106">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58310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583106">
                                            <p:txEl>
                                              <p:pRg st="5" end="5"/>
                                            </p:txEl>
                                          </p:spTgt>
                                        </p:tgtEl>
                                        <p:attrNameLst>
                                          <p:attrName>style.visibility</p:attrName>
                                        </p:attrNameLst>
                                      </p:cBhvr>
                                      <p:to>
                                        <p:strVal val="visible"/>
                                      </p:to>
                                    </p:set>
                                    <p:anim calcmode="lin" valueType="num">
                                      <p:cBhvr additive="base">
                                        <p:cTn id="37" dur="500" fill="hold"/>
                                        <p:tgtEl>
                                          <p:spTgt spid="1583106">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58310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 calcmode="lin" valueType="num">
                                      <p:cBhvr additive="base">
                                        <p:cTn id="43"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additive="base">
                                        <p:cTn id="49"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 calcmode="lin" valueType="num">
                                      <p:cBhvr additive="base">
                                        <p:cTn id="55"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4">
                                            <p:txEl>
                                              <p:pRg st="3" end="3"/>
                                            </p:txEl>
                                          </p:spTgt>
                                        </p:tgtEl>
                                        <p:attrNameLst>
                                          <p:attrName>style.visibility</p:attrName>
                                        </p:attrNameLst>
                                      </p:cBhvr>
                                      <p:to>
                                        <p:strVal val="visible"/>
                                      </p:to>
                                    </p:set>
                                    <p:anim calcmode="lin" valueType="num">
                                      <p:cBhvr additive="base">
                                        <p:cTn id="61"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 calcmode="lin" valueType="num">
                                      <p:cBhvr additive="base">
                                        <p:cTn id="67"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4">
                                            <p:txEl>
                                              <p:pRg st="5" end="5"/>
                                            </p:txEl>
                                          </p:spTgt>
                                        </p:tgtEl>
                                        <p:attrNameLst>
                                          <p:attrName>style.visibility</p:attrName>
                                        </p:attrNameLst>
                                      </p:cBhvr>
                                      <p:to>
                                        <p:strVal val="visible"/>
                                      </p:to>
                                    </p:set>
                                    <p:anim calcmode="lin" valueType="num">
                                      <p:cBhvr additive="base">
                                        <p:cTn id="73"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3106" grpId="0" autoUpdateAnimBg="0" build="p"/>
      <p:bldP spid="4" grpId="0" autoUpdateAnimBg="0" uiExpand="1"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4432409"/>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学习要求</a:t>
            </a: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08445"/>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49041"/>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solidFill>
                  <a:schemeClr val="bg1"/>
                </a:solidFill>
                <a:latin typeface="Microsoft YaHei UI" panose="020B0503020204020204" pitchFamily="18" charset="-122"/>
                <a:cs typeface="Microsoft YaHei UI" panose="020B0503020204020204" pitchFamily="18" charset="-122"/>
              </a:rPr>
              <a:t>关系的闭包</a:t>
            </a:r>
            <a:endParaRPr lang="zh-CN" altLang="en-US" b="1" dirty="0">
              <a:solidFill>
                <a:schemeClr val="bg1"/>
              </a:solidFill>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solidFill>
                  <a:schemeClr val="bg1"/>
                </a:solidFill>
                <a:latin typeface="Microsoft YaHei UI" panose="020B0503020204020204" pitchFamily="18" charset="-122"/>
                <a:cs typeface="Microsoft YaHei UI" panose="020B0503020204020204" pitchFamily="18" charset="-122"/>
              </a:rPr>
              <a:t>4.4</a:t>
            </a:r>
            <a:endParaRPr lang="en-US" altLang="zh-CN" b="1" dirty="0">
              <a:solidFill>
                <a:schemeClr val="bg1"/>
              </a:solidFill>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gn="l">
              <a:lnSpc>
                <a:spcPts val="2400"/>
              </a:lnSpc>
            </a:pPr>
            <a:r>
              <a:rPr lang="zh-CN" altLang="en-US" b="1" dirty="0" smtClean="0">
                <a:latin typeface="Microsoft YaHei UI" panose="020B0503020204020204" pitchFamily="18" charset="-122"/>
                <a:cs typeface="Microsoft YaHei UI" panose="020B0503020204020204" pitchFamily="18" charset="-122"/>
                <a:sym typeface="+mn-ea"/>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2"/>
          <p:cNvSpPr>
            <a:spLocks noGrp="1" noChangeArrowheads="1"/>
          </p:cNvSpPr>
          <p:nvPr>
            <p:ph type="title"/>
          </p:nvPr>
        </p:nvSpPr>
        <p:spPr/>
        <p:txBody>
          <a:bodyPr/>
          <a:lstStyle/>
          <a:p>
            <a:pPr marL="628650" indent="-628650"/>
            <a:r>
              <a:rPr lang="zh-CN" altLang="en-US" dirty="0"/>
              <a:t>问题引入</a:t>
            </a:r>
            <a:endParaRPr lang="zh-CN" altLang="en-US" dirty="0"/>
          </a:p>
        </p:txBody>
      </p:sp>
      <p:sp>
        <p:nvSpPr>
          <p:cNvPr id="1595395" name="Rectangle 3"/>
          <p:cNvSpPr>
            <a:spLocks noGrp="1" noChangeArrowheads="1"/>
          </p:cNvSpPr>
          <p:nvPr>
            <p:ph type="body" idx="1"/>
          </p:nvPr>
        </p:nvSpPr>
        <p:spPr>
          <a:xfrm>
            <a:off x="774701" y="1341749"/>
            <a:ext cx="10658474" cy="4526445"/>
          </a:xfrm>
        </p:spPr>
        <p:txBody>
          <a:bodyPr>
            <a:normAutofit/>
          </a:bodyPr>
          <a:lstStyle/>
          <a:p>
            <a:pPr marL="0" indent="0">
              <a:lnSpc>
                <a:spcPct val="150000"/>
              </a:lnSpc>
              <a:buNone/>
            </a:pPr>
            <a:r>
              <a:rPr lang="zh-CN" altLang="en-US" dirty="0">
                <a:solidFill>
                  <a:srgbClr val="FF0000"/>
                </a:solidFill>
              </a:rPr>
              <a:t>    </a:t>
            </a:r>
            <a:r>
              <a:rPr lang="zh-CN" altLang="en-US" dirty="0">
                <a:solidFill>
                  <a:srgbClr val="C00000"/>
                </a:solidFill>
              </a:rPr>
              <a:t>对于一个给定的关系，可能不具有某一个特殊性质。</a:t>
            </a:r>
            <a:r>
              <a:rPr lang="zh-CN" altLang="en-US" dirty="0"/>
              <a:t>但是，如果</a:t>
            </a:r>
            <a:r>
              <a:rPr lang="zh-CN" altLang="en-US" dirty="0">
                <a:solidFill>
                  <a:srgbClr val="0000CC"/>
                </a:solidFill>
              </a:rPr>
              <a:t>我们希望它具有该特定的性质，那么应该怎么做呢？</a:t>
            </a:r>
            <a:endParaRPr lang="zh-CN" altLang="en-US" dirty="0">
              <a:solidFill>
                <a:srgbClr val="0000CC"/>
              </a:solidFill>
            </a:endParaRPr>
          </a:p>
          <a:p>
            <a:pPr marL="0" indent="0">
              <a:lnSpc>
                <a:spcPct val="150000"/>
              </a:lnSpc>
              <a:buNone/>
            </a:pPr>
            <a:r>
              <a:rPr lang="zh-CN" altLang="en-US" dirty="0"/>
              <a:t>    例如，对给定集合</a:t>
            </a:r>
            <a:r>
              <a:rPr lang="en-US" altLang="zh-CN" dirty="0"/>
              <a:t>A={1,2,3}</a:t>
            </a:r>
            <a:r>
              <a:rPr lang="zh-CN" altLang="en-US" dirty="0"/>
              <a:t>上的关系</a:t>
            </a:r>
            <a:r>
              <a:rPr lang="en-US" altLang="zh-CN" dirty="0"/>
              <a:t>R={&lt;1,1&gt;,&lt;1,2&gt;,&lt;2,1&gt;}</a:t>
            </a:r>
            <a:r>
              <a:rPr lang="zh-CN" altLang="en-US" dirty="0"/>
              <a:t>，它不具有自反性。根据自反性的定义，</a:t>
            </a:r>
            <a:endParaRPr lang="en-US" altLang="zh-CN" dirty="0"/>
          </a:p>
          <a:p>
            <a:pPr marL="0" indent="0">
              <a:lnSpc>
                <a:spcPct val="150000"/>
              </a:lnSpc>
              <a:buNone/>
            </a:pPr>
            <a:r>
              <a:rPr lang="zh-CN" altLang="en-US" dirty="0"/>
              <a:t>在关系</a:t>
            </a:r>
            <a:r>
              <a:rPr lang="en-US" altLang="zh-CN" dirty="0"/>
              <a:t>R</a:t>
            </a:r>
            <a:r>
              <a:rPr lang="zh-CN" altLang="en-US" dirty="0"/>
              <a:t>中</a:t>
            </a:r>
            <a:r>
              <a:rPr lang="zh-CN" altLang="en-US" dirty="0">
                <a:solidFill>
                  <a:srgbClr val="FF0000"/>
                </a:solidFill>
              </a:rPr>
              <a:t>添加</a:t>
            </a:r>
            <a:r>
              <a:rPr lang="en-US" altLang="zh-CN" dirty="0">
                <a:solidFill>
                  <a:srgbClr val="FF0000"/>
                </a:solidFill>
              </a:rPr>
              <a:t>&lt;2,2&gt;</a:t>
            </a:r>
            <a:r>
              <a:rPr lang="zh-CN" altLang="en-US" dirty="0">
                <a:solidFill>
                  <a:srgbClr val="FF0000"/>
                </a:solidFill>
              </a:rPr>
              <a:t>，</a:t>
            </a:r>
            <a:r>
              <a:rPr lang="en-US" altLang="zh-CN" dirty="0">
                <a:solidFill>
                  <a:srgbClr val="FF0000"/>
                </a:solidFill>
              </a:rPr>
              <a:t>&lt;3,3&gt;</a:t>
            </a:r>
            <a:r>
              <a:rPr lang="zh-CN" altLang="en-US" dirty="0"/>
              <a:t>或者</a:t>
            </a:r>
            <a:endParaRPr lang="en-US" altLang="zh-CN" dirty="0"/>
          </a:p>
          <a:p>
            <a:pPr marL="0" indent="0">
              <a:lnSpc>
                <a:spcPct val="150000"/>
              </a:lnSpc>
              <a:buNone/>
            </a:pPr>
            <a:r>
              <a:rPr lang="zh-CN" altLang="en-US" dirty="0">
                <a:solidFill>
                  <a:srgbClr val="FF0000"/>
                </a:solidFill>
              </a:rPr>
              <a:t>                添加</a:t>
            </a:r>
            <a:r>
              <a:rPr lang="en-US" altLang="zh-CN" dirty="0">
                <a:solidFill>
                  <a:srgbClr val="FF0000"/>
                </a:solidFill>
              </a:rPr>
              <a:t>&lt;2,2&gt;</a:t>
            </a:r>
            <a:r>
              <a:rPr lang="zh-CN" altLang="en-US" dirty="0">
                <a:solidFill>
                  <a:srgbClr val="FF0000"/>
                </a:solidFill>
              </a:rPr>
              <a:t>，</a:t>
            </a:r>
            <a:r>
              <a:rPr lang="en-US" altLang="zh-CN" dirty="0">
                <a:solidFill>
                  <a:srgbClr val="FF0000"/>
                </a:solidFill>
              </a:rPr>
              <a:t>&lt;3,3&gt;</a:t>
            </a:r>
            <a:r>
              <a:rPr lang="zh-CN" altLang="en-US" dirty="0">
                <a:solidFill>
                  <a:srgbClr val="FF0000"/>
                </a:solidFill>
              </a:rPr>
              <a:t>，</a:t>
            </a:r>
            <a:r>
              <a:rPr lang="en-US" altLang="zh-CN" dirty="0">
                <a:solidFill>
                  <a:srgbClr val="FF0000"/>
                </a:solidFill>
              </a:rPr>
              <a:t>&lt;1,3&gt;</a:t>
            </a:r>
            <a:r>
              <a:rPr lang="zh-CN" altLang="en-US" dirty="0"/>
              <a:t>或者</a:t>
            </a:r>
            <a:endParaRPr lang="en-US" altLang="zh-CN" dirty="0"/>
          </a:p>
          <a:p>
            <a:pPr marL="0" indent="0" algn="ctr">
              <a:lnSpc>
                <a:spcPct val="150000"/>
              </a:lnSpc>
              <a:buNone/>
            </a:pPr>
            <a:r>
              <a:rPr lang="zh-CN" altLang="zh-CN" dirty="0"/>
              <a:t>………</a:t>
            </a:r>
            <a:endParaRPr lang="en-US" altLang="zh-CN" dirty="0"/>
          </a:p>
          <a:p>
            <a:pPr marL="0" indent="0">
              <a:lnSpc>
                <a:spcPct val="150000"/>
              </a:lnSpc>
              <a:buNone/>
            </a:pPr>
            <a:r>
              <a:rPr lang="zh-CN" altLang="en-US" dirty="0"/>
              <a:t>得到的</a:t>
            </a:r>
            <a:r>
              <a:rPr lang="en-US" altLang="zh-CN" dirty="0"/>
              <a:t>R’</a:t>
            </a:r>
            <a:r>
              <a:rPr lang="zh-CN" altLang="en-US" dirty="0"/>
              <a:t>就具有自反性。</a:t>
            </a:r>
            <a:endParaRPr lang="zh-CN" altLang="en-US" dirty="0"/>
          </a:p>
          <a:p>
            <a:pPr marL="0" indent="0">
              <a:lnSpc>
                <a:spcPct val="150000"/>
              </a:lnSpc>
              <a:buNone/>
            </a:pPr>
            <a:endParaRPr lang="zh-CN" altLang="en-US" dirty="0"/>
          </a:p>
          <a:p>
            <a:pPr marL="0" indent="0">
              <a:lnSpc>
                <a:spcPct val="150000"/>
              </a:lnSpc>
              <a:buNone/>
            </a:pPr>
            <a:endParaRPr lang="zh-CN" altLang="en-US" dirty="0"/>
          </a:p>
        </p:txBody>
      </p:sp>
      <p:sp>
        <p:nvSpPr>
          <p:cNvPr id="2" name="矩形 1"/>
          <p:cNvSpPr/>
          <p:nvPr/>
        </p:nvSpPr>
        <p:spPr>
          <a:xfrm>
            <a:off x="2289174" y="3604971"/>
            <a:ext cx="2819400" cy="609600"/>
          </a:xfrm>
          <a:prstGeom prst="rect">
            <a:avLst/>
          </a:prstGeom>
          <a:noFill/>
          <a:ln w="5080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思想气泡: 云 2"/>
          <p:cNvSpPr/>
          <p:nvPr/>
        </p:nvSpPr>
        <p:spPr>
          <a:xfrm>
            <a:off x="6403975" y="5246328"/>
            <a:ext cx="3352798" cy="1098663"/>
          </a:xfrm>
          <a:prstGeom prst="cloudCallout">
            <a:avLst>
              <a:gd name="adj1" fmla="val -87159"/>
              <a:gd name="adj2" fmla="val -1264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关系的闭包</a:t>
            </a:r>
            <a:endParaRPr lang="zh-CN" altLang="en-US" b="1" dirty="0">
              <a:solidFill>
                <a:schemeClr val="bg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95395">
                                            <p:txEl>
                                              <p:pRg st="0" end="0"/>
                                            </p:txEl>
                                          </p:spTgt>
                                        </p:tgtEl>
                                        <p:attrNameLst>
                                          <p:attrName>style.visibility</p:attrName>
                                        </p:attrNameLst>
                                      </p:cBhvr>
                                      <p:to>
                                        <p:strVal val="visible"/>
                                      </p:to>
                                    </p:set>
                                    <p:anim calcmode="lin" valueType="num">
                                      <p:cBhvr additive="base">
                                        <p:cTn id="7" dur="500" fill="hold"/>
                                        <p:tgtEl>
                                          <p:spTgt spid="1595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953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95395">
                                            <p:txEl>
                                              <p:pRg st="1" end="1"/>
                                            </p:txEl>
                                          </p:spTgt>
                                        </p:tgtEl>
                                        <p:attrNameLst>
                                          <p:attrName>style.visibility</p:attrName>
                                        </p:attrNameLst>
                                      </p:cBhvr>
                                      <p:to>
                                        <p:strVal val="visible"/>
                                      </p:to>
                                    </p:set>
                                    <p:anim calcmode="lin" valueType="num">
                                      <p:cBhvr additive="base">
                                        <p:cTn id="13" dur="500" fill="hold"/>
                                        <p:tgtEl>
                                          <p:spTgt spid="15953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953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95395">
                                            <p:txEl>
                                              <p:pRg st="2" end="2"/>
                                            </p:txEl>
                                          </p:spTgt>
                                        </p:tgtEl>
                                        <p:attrNameLst>
                                          <p:attrName>style.visibility</p:attrName>
                                        </p:attrNameLst>
                                      </p:cBhvr>
                                      <p:to>
                                        <p:strVal val="visible"/>
                                      </p:to>
                                    </p:set>
                                    <p:anim calcmode="lin" valueType="num">
                                      <p:cBhvr additive="base">
                                        <p:cTn id="19" dur="500" fill="hold"/>
                                        <p:tgtEl>
                                          <p:spTgt spid="15953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953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95395">
                                            <p:txEl>
                                              <p:pRg st="3" end="3"/>
                                            </p:txEl>
                                          </p:spTgt>
                                        </p:tgtEl>
                                        <p:attrNameLst>
                                          <p:attrName>style.visibility</p:attrName>
                                        </p:attrNameLst>
                                      </p:cBhvr>
                                      <p:to>
                                        <p:strVal val="visible"/>
                                      </p:to>
                                    </p:set>
                                    <p:anim calcmode="lin" valueType="num">
                                      <p:cBhvr additive="base">
                                        <p:cTn id="25" dur="500" fill="hold"/>
                                        <p:tgtEl>
                                          <p:spTgt spid="15953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953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95395">
                                            <p:txEl>
                                              <p:pRg st="4" end="4"/>
                                            </p:txEl>
                                          </p:spTgt>
                                        </p:tgtEl>
                                        <p:attrNameLst>
                                          <p:attrName>style.visibility</p:attrName>
                                        </p:attrNameLst>
                                      </p:cBhvr>
                                      <p:to>
                                        <p:strVal val="visible"/>
                                      </p:to>
                                    </p:set>
                                    <p:anim calcmode="lin" valueType="num">
                                      <p:cBhvr additive="base">
                                        <p:cTn id="31" dur="500" fill="hold"/>
                                        <p:tgtEl>
                                          <p:spTgt spid="15953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953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95395">
                                            <p:txEl>
                                              <p:pRg st="5" end="5"/>
                                            </p:txEl>
                                          </p:spTgt>
                                        </p:tgtEl>
                                        <p:attrNameLst>
                                          <p:attrName>style.visibility</p:attrName>
                                        </p:attrNameLst>
                                      </p:cBhvr>
                                      <p:to>
                                        <p:strVal val="visible"/>
                                      </p:to>
                                    </p:set>
                                    <p:anim calcmode="lin" valueType="num">
                                      <p:cBhvr additive="base">
                                        <p:cTn id="37" dur="500" fill="hold"/>
                                        <p:tgtEl>
                                          <p:spTgt spid="159539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953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1000" fill="hold"/>
                                        <p:tgtEl>
                                          <p:spTgt spid="2"/>
                                        </p:tgtEl>
                                        <p:attrNameLst>
                                          <p:attrName>ppt_w</p:attrName>
                                        </p:attrNameLst>
                                      </p:cBhvr>
                                      <p:tavLst>
                                        <p:tav tm="0">
                                          <p:val>
                                            <p:fltVal val="0"/>
                                          </p:val>
                                        </p:tav>
                                        <p:tav tm="100000">
                                          <p:val>
                                            <p:strVal val="#ppt_w"/>
                                          </p:val>
                                        </p:tav>
                                      </p:tavLst>
                                    </p:anim>
                                    <p:anim calcmode="lin" valueType="num">
                                      <p:cBhvr>
                                        <p:cTn id="44" dur="1000" fill="hold"/>
                                        <p:tgtEl>
                                          <p:spTgt spid="2"/>
                                        </p:tgtEl>
                                        <p:attrNameLst>
                                          <p:attrName>ppt_h</p:attrName>
                                        </p:attrNameLst>
                                      </p:cBhvr>
                                      <p:tavLst>
                                        <p:tav tm="0">
                                          <p:val>
                                            <p:fltVal val="0"/>
                                          </p:val>
                                        </p:tav>
                                        <p:tav tm="100000">
                                          <p:val>
                                            <p:strVal val="#ppt_h"/>
                                          </p:val>
                                        </p:tav>
                                      </p:tavLst>
                                    </p:anim>
                                    <p:anim calcmode="lin" valueType="num">
                                      <p:cBhvr>
                                        <p:cTn id="45" dur="1000" fill="hold"/>
                                        <p:tgtEl>
                                          <p:spTgt spid="2"/>
                                        </p:tgtEl>
                                        <p:attrNameLst>
                                          <p:attrName>style.rotation</p:attrName>
                                        </p:attrNameLst>
                                      </p:cBhvr>
                                      <p:tavLst>
                                        <p:tav tm="0">
                                          <p:val>
                                            <p:fltVal val="90"/>
                                          </p:val>
                                        </p:tav>
                                        <p:tav tm="100000">
                                          <p:val>
                                            <p:fltVal val="0"/>
                                          </p:val>
                                        </p:tav>
                                      </p:tavLst>
                                    </p:anim>
                                    <p:animEffect transition="in" filter="fade">
                                      <p:cBhvr>
                                        <p:cTn id="46" dur="10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down)">
                                      <p:cBhvr>
                                        <p:cTn id="51" dur="580">
                                          <p:stCondLst>
                                            <p:cond delay="0"/>
                                          </p:stCondLst>
                                        </p:cTn>
                                        <p:tgtEl>
                                          <p:spTgt spid="3"/>
                                        </p:tgtEl>
                                      </p:cBhvr>
                                    </p:animEffect>
                                    <p:anim calcmode="lin" valueType="num">
                                      <p:cBhvr>
                                        <p:cTn id="52"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57" dur="26">
                                          <p:stCondLst>
                                            <p:cond delay="650"/>
                                          </p:stCondLst>
                                        </p:cTn>
                                        <p:tgtEl>
                                          <p:spTgt spid="3"/>
                                        </p:tgtEl>
                                      </p:cBhvr>
                                      <p:to x="100000" y="60000"/>
                                    </p:animScale>
                                    <p:animScale>
                                      <p:cBhvr>
                                        <p:cTn id="58" dur="166" decel="50000">
                                          <p:stCondLst>
                                            <p:cond delay="676"/>
                                          </p:stCondLst>
                                        </p:cTn>
                                        <p:tgtEl>
                                          <p:spTgt spid="3"/>
                                        </p:tgtEl>
                                      </p:cBhvr>
                                      <p:to x="100000" y="100000"/>
                                    </p:animScale>
                                    <p:animScale>
                                      <p:cBhvr>
                                        <p:cTn id="59" dur="26">
                                          <p:stCondLst>
                                            <p:cond delay="1312"/>
                                          </p:stCondLst>
                                        </p:cTn>
                                        <p:tgtEl>
                                          <p:spTgt spid="3"/>
                                        </p:tgtEl>
                                      </p:cBhvr>
                                      <p:to x="100000" y="80000"/>
                                    </p:animScale>
                                    <p:animScale>
                                      <p:cBhvr>
                                        <p:cTn id="60" dur="166" decel="50000">
                                          <p:stCondLst>
                                            <p:cond delay="1338"/>
                                          </p:stCondLst>
                                        </p:cTn>
                                        <p:tgtEl>
                                          <p:spTgt spid="3"/>
                                        </p:tgtEl>
                                      </p:cBhvr>
                                      <p:to x="100000" y="100000"/>
                                    </p:animScale>
                                    <p:animScale>
                                      <p:cBhvr>
                                        <p:cTn id="61" dur="26">
                                          <p:stCondLst>
                                            <p:cond delay="1642"/>
                                          </p:stCondLst>
                                        </p:cTn>
                                        <p:tgtEl>
                                          <p:spTgt spid="3"/>
                                        </p:tgtEl>
                                      </p:cBhvr>
                                      <p:to x="100000" y="90000"/>
                                    </p:animScale>
                                    <p:animScale>
                                      <p:cBhvr>
                                        <p:cTn id="62" dur="166" decel="50000">
                                          <p:stCondLst>
                                            <p:cond delay="1668"/>
                                          </p:stCondLst>
                                        </p:cTn>
                                        <p:tgtEl>
                                          <p:spTgt spid="3"/>
                                        </p:tgtEl>
                                      </p:cBhvr>
                                      <p:to x="100000" y="100000"/>
                                    </p:animScale>
                                    <p:animScale>
                                      <p:cBhvr>
                                        <p:cTn id="63" dur="26">
                                          <p:stCondLst>
                                            <p:cond delay="1808"/>
                                          </p:stCondLst>
                                        </p:cTn>
                                        <p:tgtEl>
                                          <p:spTgt spid="3"/>
                                        </p:tgtEl>
                                      </p:cBhvr>
                                      <p:to x="100000" y="95000"/>
                                    </p:animScale>
                                    <p:animScale>
                                      <p:cBhvr>
                                        <p:cTn id="64"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5395" grpId="0" uiExpand="1" build="p"/>
      <p:bldP spid="2" grpId="0" animBg="1"/>
      <p:bldP spid="3"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43" name="Rectangle 3"/>
          <p:cNvSpPr>
            <a:spLocks noGrp="1" noChangeArrowheads="1"/>
          </p:cNvSpPr>
          <p:nvPr>
            <p:ph type="body" idx="1"/>
          </p:nvPr>
        </p:nvSpPr>
        <p:spPr>
          <a:xfrm>
            <a:off x="343436" y="991394"/>
            <a:ext cx="11353800" cy="3094598"/>
          </a:xfrm>
        </p:spPr>
        <p:txBody>
          <a:bodyPr/>
          <a:lstStyle/>
          <a:p>
            <a:pPr marL="0" indent="0">
              <a:lnSpc>
                <a:spcPct val="150000"/>
              </a:lnSpc>
              <a:spcBef>
                <a:spcPct val="0"/>
              </a:spcBef>
              <a:buNone/>
              <a:defRPr/>
            </a:pPr>
            <a:r>
              <a:rPr lang="zh-CN" altLang="en-US" dirty="0">
                <a:solidFill>
                  <a:srgbClr val="FF0000"/>
                </a:solidFill>
              </a:rPr>
              <a:t>定义</a:t>
            </a:r>
            <a:r>
              <a:rPr lang="en-US" altLang="zh-CN" dirty="0">
                <a:solidFill>
                  <a:srgbClr val="FF0000"/>
                </a:solidFill>
              </a:rPr>
              <a:t>4.14  </a:t>
            </a:r>
            <a:r>
              <a:rPr lang="zh-CN" altLang="en-US" dirty="0"/>
              <a:t>设</a:t>
            </a:r>
            <a:r>
              <a:rPr lang="en-US" altLang="zh-CN" dirty="0"/>
              <a:t>R</a:t>
            </a:r>
            <a:r>
              <a:rPr lang="zh-CN" altLang="en-US" dirty="0"/>
              <a:t>是定义在</a:t>
            </a:r>
            <a:r>
              <a:rPr lang="en-US" altLang="zh-CN" dirty="0"/>
              <a:t>A</a:t>
            </a:r>
            <a:r>
              <a:rPr lang="zh-CN" altLang="en-US" dirty="0"/>
              <a:t>上的关系，若</a:t>
            </a:r>
            <a:r>
              <a:rPr lang="zh-CN" altLang="en-US" dirty="0">
                <a:solidFill>
                  <a:srgbClr val="0000CC"/>
                </a:solidFill>
                <a:effectLst>
                  <a:outerShdw blurRad="38100" dist="38100" dir="2700000" algn="tl">
                    <a:srgbClr val="000000"/>
                  </a:outerShdw>
                </a:effectLst>
              </a:rPr>
              <a:t>存在</a:t>
            </a:r>
            <a:r>
              <a:rPr lang="en-US" altLang="zh-CN" dirty="0">
                <a:solidFill>
                  <a:srgbClr val="0000CC"/>
                </a:solidFill>
                <a:effectLst>
                  <a:outerShdw blurRad="38100" dist="38100" dir="2700000" algn="tl">
                    <a:srgbClr val="000000"/>
                  </a:outerShdw>
                </a:effectLst>
              </a:rPr>
              <a:t>A</a:t>
            </a:r>
            <a:r>
              <a:rPr lang="zh-CN" altLang="en-US" dirty="0">
                <a:solidFill>
                  <a:srgbClr val="0000CC"/>
                </a:solidFill>
                <a:effectLst>
                  <a:outerShdw blurRad="38100" dist="38100" dir="2700000" algn="tl">
                    <a:srgbClr val="000000"/>
                  </a:outerShdw>
                </a:effectLst>
              </a:rPr>
              <a:t>上的另一个关系</a:t>
            </a:r>
            <a:r>
              <a:rPr lang="en-US" altLang="zh-CN" dirty="0">
                <a:solidFill>
                  <a:srgbClr val="0000CC"/>
                </a:solidFill>
                <a:effectLst>
                  <a:outerShdw blurRad="38100" dist="38100" dir="2700000" algn="tl">
                    <a:srgbClr val="000000"/>
                  </a:outerShdw>
                </a:effectLst>
              </a:rPr>
              <a:t>R′</a:t>
            </a:r>
            <a:r>
              <a:rPr lang="zh-CN" altLang="en-US" dirty="0">
                <a:solidFill>
                  <a:srgbClr val="0000CC"/>
                </a:solidFill>
                <a:effectLst>
                  <a:outerShdw blurRad="38100" dist="38100" dir="2700000" algn="tl">
                    <a:srgbClr val="000000"/>
                  </a:outerShdw>
                </a:effectLst>
              </a:rPr>
              <a:t>使得</a:t>
            </a:r>
            <a:r>
              <a:rPr lang="en-US" altLang="zh-CN" dirty="0"/>
              <a:t>R</a:t>
            </a:r>
            <a:r>
              <a:rPr lang="en-US" altLang="zh-CN" dirty="0">
                <a:sym typeface="Symbol" panose="05050102010706020507" pitchFamily="18" charset="2"/>
              </a:rPr>
              <a:t></a:t>
            </a:r>
            <a:r>
              <a:rPr lang="en-US" altLang="zh-CN" dirty="0"/>
              <a:t>R′</a:t>
            </a:r>
            <a:r>
              <a:rPr lang="zh-CN" altLang="en-US" dirty="0"/>
              <a:t>且满足：</a:t>
            </a:r>
            <a:endParaRPr lang="zh-CN" altLang="en-US" dirty="0"/>
          </a:p>
          <a:p>
            <a:pPr marL="0" indent="0">
              <a:lnSpc>
                <a:spcPct val="150000"/>
              </a:lnSpc>
              <a:spcBef>
                <a:spcPct val="0"/>
              </a:spcBef>
              <a:buNone/>
              <a:defRPr/>
            </a:pPr>
            <a:r>
              <a:rPr lang="zh-CN" altLang="en-US" dirty="0"/>
              <a:t>（</a:t>
            </a:r>
            <a:r>
              <a:rPr lang="en-US" altLang="zh-CN" dirty="0"/>
              <a:t>1</a:t>
            </a:r>
            <a:r>
              <a:rPr lang="zh-CN" altLang="en-US" dirty="0"/>
              <a:t>）</a:t>
            </a:r>
            <a:r>
              <a:rPr lang="en-US" altLang="zh-CN" dirty="0"/>
              <a:t>R′</a:t>
            </a:r>
            <a:r>
              <a:rPr lang="zh-CN" altLang="en-US" dirty="0"/>
              <a:t>是</a:t>
            </a:r>
            <a:r>
              <a:rPr lang="zh-CN" altLang="en-US" dirty="0">
                <a:solidFill>
                  <a:srgbClr val="0000CC"/>
                </a:solidFill>
              </a:rPr>
              <a:t>自反的</a:t>
            </a:r>
            <a:r>
              <a:rPr lang="en-US" altLang="zh-CN" dirty="0"/>
              <a:t>(</a:t>
            </a:r>
            <a:r>
              <a:rPr lang="zh-CN" altLang="en-US" dirty="0">
                <a:solidFill>
                  <a:srgbClr val="FF0000"/>
                </a:solidFill>
              </a:rPr>
              <a:t>对称的</a:t>
            </a:r>
            <a:r>
              <a:rPr lang="zh-CN" altLang="en-US" dirty="0"/>
              <a:t>、或</a:t>
            </a:r>
            <a:r>
              <a:rPr lang="zh-CN" altLang="en-US" dirty="0">
                <a:solidFill>
                  <a:schemeClr val="accent2"/>
                </a:solidFill>
                <a:effectLst>
                  <a:outerShdw blurRad="38100" dist="38100" dir="2700000" algn="tl">
                    <a:srgbClr val="000000"/>
                  </a:outerShdw>
                </a:effectLst>
              </a:rPr>
              <a:t>传递的</a:t>
            </a:r>
            <a:r>
              <a:rPr lang="en-US" altLang="zh-CN" dirty="0"/>
              <a:t>)</a:t>
            </a:r>
            <a:r>
              <a:rPr lang="zh-CN" altLang="en-US" dirty="0"/>
              <a:t>；</a:t>
            </a:r>
            <a:endParaRPr lang="zh-CN" altLang="en-US" dirty="0"/>
          </a:p>
          <a:p>
            <a:pPr marL="0" indent="0">
              <a:lnSpc>
                <a:spcPct val="150000"/>
              </a:lnSpc>
              <a:spcBef>
                <a:spcPct val="0"/>
              </a:spcBef>
              <a:buNone/>
              <a:defRPr/>
            </a:pPr>
            <a:r>
              <a:rPr lang="zh-CN" altLang="en-US" dirty="0"/>
              <a:t>（</a:t>
            </a:r>
            <a:r>
              <a:rPr lang="en-US" altLang="zh-CN" dirty="0"/>
              <a:t>2</a:t>
            </a:r>
            <a:r>
              <a:rPr lang="zh-CN" altLang="en-US" dirty="0"/>
              <a:t>）对任何</a:t>
            </a:r>
            <a:r>
              <a:rPr lang="zh-CN" altLang="en-US" dirty="0">
                <a:solidFill>
                  <a:srgbClr val="0000CC"/>
                </a:solidFill>
              </a:rPr>
              <a:t>自反的</a:t>
            </a:r>
            <a:r>
              <a:rPr lang="en-US" altLang="zh-CN" dirty="0"/>
              <a:t>(</a:t>
            </a:r>
            <a:r>
              <a:rPr lang="zh-CN" altLang="en-US" dirty="0">
                <a:solidFill>
                  <a:srgbClr val="FF0000"/>
                </a:solidFill>
              </a:rPr>
              <a:t>对称的</a:t>
            </a:r>
            <a:r>
              <a:rPr lang="zh-CN" altLang="en-US" dirty="0"/>
              <a:t>、或</a:t>
            </a:r>
            <a:r>
              <a:rPr lang="zh-CN" altLang="en-US" dirty="0">
                <a:solidFill>
                  <a:schemeClr val="accent2"/>
                </a:solidFill>
                <a:effectLst>
                  <a:outerShdw blurRad="38100" dist="38100" dir="2700000" algn="tl">
                    <a:srgbClr val="000000"/>
                  </a:outerShdw>
                </a:effectLst>
              </a:rPr>
              <a:t>传递的</a:t>
            </a:r>
            <a:r>
              <a:rPr lang="en-US" altLang="zh-CN" dirty="0"/>
              <a:t>)</a:t>
            </a:r>
            <a:r>
              <a:rPr lang="zh-CN" altLang="en-US" dirty="0"/>
              <a:t>关系</a:t>
            </a:r>
            <a:r>
              <a:rPr lang="en-US" altLang="zh-CN" dirty="0"/>
              <a:t>R</a:t>
            </a:r>
            <a:r>
              <a:rPr lang="en-US" altLang="en-US" dirty="0"/>
              <a:t>〞</a:t>
            </a:r>
            <a:r>
              <a:rPr lang="zh-CN" altLang="en-US" dirty="0"/>
              <a:t>，如果</a:t>
            </a:r>
            <a:r>
              <a:rPr lang="en-US" altLang="zh-CN" dirty="0"/>
              <a:t>R</a:t>
            </a:r>
            <a:r>
              <a:rPr lang="en-US" altLang="zh-CN" dirty="0">
                <a:sym typeface="Symbol" panose="05050102010706020507" pitchFamily="18" charset="2"/>
              </a:rPr>
              <a:t> </a:t>
            </a:r>
            <a:r>
              <a:rPr lang="en-US" altLang="zh-CN" dirty="0"/>
              <a:t>R</a:t>
            </a:r>
            <a:r>
              <a:rPr lang="en-US" altLang="en-US" dirty="0"/>
              <a:t>〞</a:t>
            </a:r>
            <a:r>
              <a:rPr lang="zh-CN" altLang="en-US" dirty="0"/>
              <a:t>，就有</a:t>
            </a:r>
            <a:r>
              <a:rPr lang="en-US" altLang="zh-CN" dirty="0"/>
              <a:t>R′</a:t>
            </a:r>
            <a:r>
              <a:rPr lang="zh-CN" altLang="en-US" dirty="0">
                <a:sym typeface="Symbol" panose="05050102010706020507" pitchFamily="18" charset="2"/>
              </a:rPr>
              <a:t> </a:t>
            </a:r>
            <a:r>
              <a:rPr lang="en-US" altLang="zh-CN" dirty="0"/>
              <a:t>R</a:t>
            </a:r>
            <a:r>
              <a:rPr lang="en-US" altLang="en-US" dirty="0"/>
              <a:t>〞</a:t>
            </a:r>
            <a:r>
              <a:rPr lang="zh-CN" altLang="en-US" dirty="0"/>
              <a:t>。</a:t>
            </a:r>
            <a:endParaRPr lang="en-US" altLang="zh-CN" dirty="0"/>
          </a:p>
          <a:p>
            <a:pPr marL="0" indent="0">
              <a:lnSpc>
                <a:spcPct val="150000"/>
              </a:lnSpc>
              <a:spcBef>
                <a:spcPct val="0"/>
              </a:spcBef>
              <a:buNone/>
              <a:defRPr/>
            </a:pPr>
            <a:r>
              <a:rPr lang="zh-CN" altLang="en-US" dirty="0"/>
              <a:t>则称</a:t>
            </a:r>
            <a:r>
              <a:rPr lang="en-US" altLang="zh-CN" dirty="0"/>
              <a:t>R′</a:t>
            </a:r>
            <a:r>
              <a:rPr lang="zh-CN" altLang="en-US" dirty="0"/>
              <a:t>为</a:t>
            </a:r>
            <a:r>
              <a:rPr lang="en-US" altLang="zh-CN" dirty="0"/>
              <a:t>R</a:t>
            </a:r>
            <a:r>
              <a:rPr lang="zh-CN" altLang="en-US" dirty="0"/>
              <a:t>的</a:t>
            </a:r>
            <a:r>
              <a:rPr lang="zh-CN" altLang="en-US" dirty="0">
                <a:solidFill>
                  <a:srgbClr val="0000CC"/>
                </a:solidFill>
              </a:rPr>
              <a:t>自反闭包</a:t>
            </a:r>
            <a:r>
              <a:rPr lang="en-US" altLang="zh-CN" dirty="0"/>
              <a:t>(Reflexive Closure)(</a:t>
            </a:r>
            <a:r>
              <a:rPr lang="zh-CN" altLang="en-US" dirty="0">
                <a:solidFill>
                  <a:srgbClr val="FF0000"/>
                </a:solidFill>
              </a:rPr>
              <a:t>对称闭包</a:t>
            </a:r>
            <a:r>
              <a:rPr lang="en-US" altLang="zh-CN" dirty="0"/>
              <a:t>(Symmetric Closure)</a:t>
            </a:r>
            <a:r>
              <a:rPr lang="zh-CN" altLang="en-US" dirty="0"/>
              <a:t>、或</a:t>
            </a:r>
            <a:r>
              <a:rPr lang="zh-CN" altLang="en-US" dirty="0">
                <a:solidFill>
                  <a:schemeClr val="accent2"/>
                </a:solidFill>
                <a:effectLst>
                  <a:outerShdw blurRad="38100" dist="38100" dir="2700000" algn="tl">
                    <a:srgbClr val="000000"/>
                  </a:outerShdw>
                </a:effectLst>
              </a:rPr>
              <a:t>传递闭包</a:t>
            </a:r>
            <a:r>
              <a:rPr lang="en-US" altLang="zh-CN" dirty="0"/>
              <a:t>(Transitive Closure))</a:t>
            </a:r>
            <a:r>
              <a:rPr lang="zh-CN" altLang="en-US" dirty="0"/>
              <a:t>，分别记为</a:t>
            </a:r>
            <a:r>
              <a:rPr lang="en-US" altLang="zh-CN" dirty="0">
                <a:solidFill>
                  <a:srgbClr val="0000CC"/>
                </a:solidFill>
              </a:rPr>
              <a:t>r(R)</a:t>
            </a:r>
            <a:r>
              <a:rPr lang="en-US" altLang="zh-CN" dirty="0">
                <a:solidFill>
                  <a:srgbClr val="FF0000"/>
                </a:solidFill>
              </a:rPr>
              <a:t>(s(R)</a:t>
            </a:r>
            <a:r>
              <a:rPr lang="zh-CN" altLang="en-US" dirty="0"/>
              <a:t>或</a:t>
            </a:r>
            <a:r>
              <a:rPr lang="en-US" altLang="zh-CN" dirty="0">
                <a:solidFill>
                  <a:schemeClr val="accent2"/>
                </a:solidFill>
                <a:effectLst>
                  <a:outerShdw blurRad="38100" dist="38100" dir="2700000" algn="tl">
                    <a:srgbClr val="000000"/>
                  </a:outerShdw>
                </a:effectLst>
              </a:rPr>
              <a:t>t(R)</a:t>
            </a:r>
            <a:r>
              <a:rPr lang="en-US" altLang="zh-CN" dirty="0">
                <a:effectLst>
                  <a:outerShdw blurRad="38100" dist="38100" dir="2700000" algn="tl">
                    <a:srgbClr val="FFFFFF"/>
                  </a:outerShdw>
                </a:effectLst>
              </a:rPr>
              <a:t>)</a:t>
            </a:r>
            <a:r>
              <a:rPr lang="zh-CN" altLang="en-US" dirty="0"/>
              <a:t>。</a:t>
            </a:r>
            <a:endParaRPr lang="zh-CN" altLang="en-US" dirty="0"/>
          </a:p>
        </p:txBody>
      </p:sp>
      <p:sp>
        <p:nvSpPr>
          <p:cNvPr id="6" name="Rectangle 2"/>
          <p:cNvSpPr>
            <a:spLocks noGrp="1" noChangeArrowheads="1"/>
          </p:cNvSpPr>
          <p:nvPr>
            <p:ph type="title"/>
          </p:nvPr>
        </p:nvSpPr>
        <p:spPr>
          <a:xfrm>
            <a:off x="774700" y="352424"/>
            <a:ext cx="5334000" cy="429419"/>
          </a:xfrm>
        </p:spPr>
        <p:txBody>
          <a:bodyPr/>
          <a:lstStyle/>
          <a:p>
            <a:pPr marL="628650" indent="-628650"/>
            <a:r>
              <a:rPr lang="zh-CN" altLang="en-US" dirty="0"/>
              <a:t>关系闭包的定义</a:t>
            </a:r>
            <a:endParaRPr lang="zh-CN" altLang="en-US" dirty="0"/>
          </a:p>
        </p:txBody>
      </p:sp>
      <p:sp>
        <p:nvSpPr>
          <p:cNvPr id="7" name="Text Box 556"/>
          <p:cNvSpPr txBox="1">
            <a:spLocks noChangeArrowheads="1"/>
          </p:cNvSpPr>
          <p:nvPr/>
        </p:nvSpPr>
        <p:spPr bwMode="auto">
          <a:xfrm>
            <a:off x="343437" y="3963194"/>
            <a:ext cx="11353799" cy="2743200"/>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3333FF"/>
                </a:solidFill>
                <a:effectLst/>
                <a:latin typeface="+mn-ea"/>
                <a:cs typeface="宋体" panose="02010600030101010101" pitchFamily="2" charset="-122"/>
              </a:rPr>
              <a:t>解题小贴士—关系</a:t>
            </a:r>
            <a:r>
              <a:rPr lang="en-US" b="1" kern="100" dirty="0">
                <a:solidFill>
                  <a:srgbClr val="3333FF"/>
                </a:solidFill>
                <a:effectLst/>
                <a:latin typeface="+mn-ea"/>
                <a:cs typeface="宋体" panose="02010600030101010101" pitchFamily="2" charset="-122"/>
              </a:rPr>
              <a:t>R</a:t>
            </a:r>
            <a:r>
              <a:rPr lang="zh-CN" b="1" kern="100" dirty="0">
                <a:solidFill>
                  <a:srgbClr val="3333FF"/>
                </a:solidFill>
                <a:effectLst/>
                <a:latin typeface="+mn-ea"/>
                <a:cs typeface="宋体" panose="02010600030101010101" pitchFamily="2" charset="-122"/>
              </a:rPr>
              <a:t>的自反</a:t>
            </a:r>
            <a:r>
              <a:rPr lang="en-US" b="1" kern="100" dirty="0">
                <a:solidFill>
                  <a:srgbClr val="3333FF"/>
                </a:solidFill>
                <a:effectLst/>
                <a:latin typeface="+mn-ea"/>
                <a:cs typeface="宋体" panose="02010600030101010101" pitchFamily="2" charset="-122"/>
              </a:rPr>
              <a:t>/</a:t>
            </a:r>
            <a:r>
              <a:rPr lang="zh-CN" b="1" kern="100" dirty="0">
                <a:solidFill>
                  <a:srgbClr val="3333FF"/>
                </a:solidFill>
                <a:effectLst/>
                <a:latin typeface="+mn-ea"/>
                <a:cs typeface="宋体" panose="02010600030101010101" pitchFamily="2" charset="-122"/>
              </a:rPr>
              <a:t>对称</a:t>
            </a:r>
            <a:r>
              <a:rPr lang="en-US" b="1" kern="100" dirty="0">
                <a:solidFill>
                  <a:srgbClr val="3333FF"/>
                </a:solidFill>
                <a:effectLst/>
                <a:latin typeface="+mn-ea"/>
                <a:cs typeface="宋体" panose="02010600030101010101" pitchFamily="2" charset="-122"/>
              </a:rPr>
              <a:t>/</a:t>
            </a:r>
            <a:r>
              <a:rPr lang="zh-CN" b="1" kern="100" dirty="0">
                <a:solidFill>
                  <a:srgbClr val="3333FF"/>
                </a:solidFill>
                <a:effectLst/>
                <a:latin typeface="+mn-ea"/>
                <a:cs typeface="宋体" panose="02010600030101010101" pitchFamily="2" charset="-122"/>
              </a:rPr>
              <a:t>传递闭包的计算方法</a:t>
            </a:r>
            <a:endParaRPr lang="zh-CN" b="1" kern="100" dirty="0">
              <a:solidFill>
                <a:srgbClr val="3333FF"/>
              </a:solidFill>
              <a:effectLst/>
              <a:latin typeface="+mn-ea"/>
              <a:cs typeface="宋体" panose="02010600030101010101" pitchFamily="2" charset="-122"/>
            </a:endParaRPr>
          </a:p>
          <a:p>
            <a:pPr indent="266700" algn="just">
              <a:lnSpc>
                <a:spcPct val="150000"/>
              </a:lnSpc>
              <a:spcAft>
                <a:spcPts val="0"/>
              </a:spcAft>
            </a:pPr>
            <a:r>
              <a:rPr lang="zh-CN" b="1" kern="0" dirty="0">
                <a:effectLst/>
                <a:latin typeface="+mn-ea"/>
                <a:cs typeface="宋体" panose="02010600030101010101" pitchFamily="2" charset="-122"/>
              </a:rPr>
              <a:t>首先判断</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是否具有自反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对称</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传递性，</a:t>
            </a:r>
            <a:endParaRPr lang="zh-CN" b="1" kern="100" dirty="0">
              <a:effectLst/>
              <a:latin typeface="+mn-ea"/>
              <a:cs typeface="宋体" panose="02010600030101010101" pitchFamily="2" charset="-122"/>
            </a:endParaRPr>
          </a:p>
          <a:p>
            <a:pPr indent="266700" algn="just">
              <a:lnSpc>
                <a:spcPct val="150000"/>
              </a:lnSpc>
              <a:spcAft>
                <a:spcPts val="0"/>
              </a:spcAft>
            </a:pPr>
            <a:r>
              <a:rPr lang="zh-CN" b="1" kern="100" dirty="0">
                <a:effectLst/>
                <a:latin typeface="+mn-ea"/>
                <a:cs typeface="宋体" panose="02010600030101010101" pitchFamily="2" charset="-122"/>
              </a:rPr>
              <a:t>① 若有，则</a:t>
            </a:r>
            <a:r>
              <a:rPr lang="en-US" b="1" kern="100" dirty="0">
                <a:effectLst/>
                <a:latin typeface="+mn-ea"/>
                <a:cs typeface="宋体" panose="02010600030101010101" pitchFamily="2" charset="-122"/>
              </a:rPr>
              <a:t>r(R)/s(R)/t(R)=R</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a:p>
            <a:pPr marL="466725" indent="-200025" algn="just">
              <a:lnSpc>
                <a:spcPct val="150000"/>
              </a:lnSpc>
              <a:spcAft>
                <a:spcPts val="0"/>
              </a:spcAft>
            </a:pPr>
            <a:r>
              <a:rPr lang="zh-CN" b="1" kern="100" dirty="0">
                <a:effectLst/>
                <a:latin typeface="+mn-ea"/>
                <a:cs typeface="宋体" panose="02010600030101010101" pitchFamily="2" charset="-122"/>
              </a:rPr>
              <a:t>② 若无，则在</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中</a:t>
            </a:r>
            <a:r>
              <a:rPr lang="zh-CN" b="1" kern="100" dirty="0">
                <a:solidFill>
                  <a:srgbClr val="FF0000"/>
                </a:solidFill>
                <a:effectLst/>
                <a:latin typeface="+mn-ea"/>
                <a:cs typeface="宋体" panose="02010600030101010101" pitchFamily="2" charset="-122"/>
              </a:rPr>
              <a:t>添加最少的元素</a:t>
            </a:r>
            <a:r>
              <a:rPr lang="zh-CN" b="1" kern="100" dirty="0">
                <a:effectLst/>
                <a:latin typeface="+mn-ea"/>
                <a:cs typeface="宋体" panose="02010600030101010101" pitchFamily="2" charset="-122"/>
              </a:rPr>
              <a:t>，使其具有自反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对称</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传递性，添加后的结果即为</a:t>
            </a:r>
            <a:r>
              <a:rPr lang="en-US" b="1" kern="100" dirty="0">
                <a:effectLst/>
                <a:latin typeface="+mn-ea"/>
                <a:cs typeface="宋体" panose="02010600030101010101" pitchFamily="2" charset="-122"/>
              </a:rPr>
              <a:t>r(R)/s(R)/t(R)</a:t>
            </a:r>
            <a:r>
              <a:rPr lang="zh-CN" b="1" kern="100" dirty="0">
                <a:effectLst/>
                <a:latin typeface="+mn-ea"/>
                <a:cs typeface="宋体" panose="02010600030101010101" pitchFamily="2" charset="-122"/>
              </a:rPr>
              <a:t>。</a:t>
            </a:r>
            <a:endParaRPr lang="zh-CN" b="1" kern="100" dirty="0">
              <a:effectLst/>
              <a:latin typeface="+mn-ea"/>
              <a:cs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说明</a:t>
            </a:r>
            <a:endParaRPr kumimoji="1" lang="zh-CN" altLang="en-US" dirty="0"/>
          </a:p>
        </p:txBody>
      </p:sp>
      <p:sp>
        <p:nvSpPr>
          <p:cNvPr id="3" name="内容占位符 2"/>
          <p:cNvSpPr>
            <a:spLocks noGrp="1"/>
          </p:cNvSpPr>
          <p:nvPr>
            <p:ph idx="1"/>
          </p:nvPr>
        </p:nvSpPr>
        <p:spPr/>
        <p:txBody>
          <a:bodyPr/>
          <a:lstStyle/>
          <a:p>
            <a:pPr>
              <a:lnSpc>
                <a:spcPct val="150000"/>
              </a:lnSpc>
            </a:pPr>
            <a:r>
              <a:rPr lang="zh-CN" altLang="en-US" dirty="0" smtClean="0">
                <a:latin typeface="Cambria Math" panose="02040503050406030204" pitchFamily="18" charset="0"/>
              </a:rPr>
              <a:t>若</a:t>
            </a:r>
            <a:r>
              <a:rPr lang="zh-CN" altLang="en-US" dirty="0">
                <a:latin typeface="Cambria Math" panose="02040503050406030204" pitchFamily="18" charset="0"/>
              </a:rPr>
              <a:t>𝑅是自反的</a:t>
            </a:r>
            <a:r>
              <a:rPr lang="en-US" altLang="zh-CN" dirty="0">
                <a:latin typeface="Cambria Math" panose="02040503050406030204" pitchFamily="18" charset="0"/>
              </a:rPr>
              <a:t>, </a:t>
            </a:r>
            <a:r>
              <a:rPr lang="zh-CN" altLang="en-US" dirty="0">
                <a:latin typeface="Cambria Math" panose="02040503050406030204" pitchFamily="18" charset="0"/>
              </a:rPr>
              <a:t>则 𝑟</a:t>
            </a:r>
            <a:r>
              <a:rPr lang="en-US" altLang="zh-CN" dirty="0">
                <a:latin typeface="Cambria Math" panose="02040503050406030204" pitchFamily="18" charset="0"/>
              </a:rPr>
              <a:t>(𝑅)</a:t>
            </a:r>
            <a:r>
              <a:rPr lang="en-US" altLang="zh-CN" dirty="0">
                <a:latin typeface="Cambria Math" panose="02040503050406030204" pitchFamily="18" charset="0"/>
              </a:rPr>
              <a:t>=</a:t>
            </a:r>
            <a:r>
              <a:rPr lang="en-US" altLang="zh-CN" dirty="0">
                <a:latin typeface="Cambria Math" panose="02040503050406030204" pitchFamily="18" charset="0"/>
              </a:rPr>
              <a:t>𝑅; </a:t>
            </a:r>
            <a:endParaRPr lang="en-US" altLang="zh-CN" dirty="0">
              <a:latin typeface="Cambria Math" panose="02040503050406030204" pitchFamily="18" charset="0"/>
            </a:endParaRPr>
          </a:p>
          <a:p>
            <a:pPr>
              <a:lnSpc>
                <a:spcPct val="150000"/>
              </a:lnSpc>
            </a:pPr>
            <a:r>
              <a:rPr lang="zh-CN" altLang="en-US" dirty="0">
                <a:latin typeface="Cambria Math" panose="02040503050406030204" pitchFamily="18" charset="0"/>
              </a:rPr>
              <a:t>若𝑅是对称的</a:t>
            </a:r>
            <a:r>
              <a:rPr lang="en-US" altLang="zh-CN" dirty="0">
                <a:latin typeface="Cambria Math" panose="02040503050406030204" pitchFamily="18" charset="0"/>
              </a:rPr>
              <a:t>, </a:t>
            </a:r>
            <a:r>
              <a:rPr lang="zh-CN" altLang="en-US" dirty="0">
                <a:latin typeface="Cambria Math" panose="02040503050406030204" pitchFamily="18" charset="0"/>
              </a:rPr>
              <a:t>则 𝑠</a:t>
            </a:r>
            <a:r>
              <a:rPr lang="en-US" altLang="zh-CN" dirty="0">
                <a:latin typeface="Cambria Math" panose="02040503050406030204" pitchFamily="18" charset="0"/>
              </a:rPr>
              <a:t>(𝑅)</a:t>
            </a:r>
            <a:r>
              <a:rPr lang="en-US" altLang="zh-CN" dirty="0">
                <a:latin typeface="Cambria Math" panose="02040503050406030204" pitchFamily="18" charset="0"/>
              </a:rPr>
              <a:t>=</a:t>
            </a:r>
            <a:r>
              <a:rPr lang="en-US" altLang="zh-CN" dirty="0">
                <a:latin typeface="Cambria Math" panose="02040503050406030204" pitchFamily="18" charset="0"/>
              </a:rPr>
              <a:t>𝑅;</a:t>
            </a:r>
            <a:endParaRPr lang="en-US" altLang="zh-CN" dirty="0">
              <a:latin typeface="Cambria Math" panose="02040503050406030204" pitchFamily="18" charset="0"/>
            </a:endParaRPr>
          </a:p>
          <a:p>
            <a:pPr>
              <a:lnSpc>
                <a:spcPct val="150000"/>
              </a:lnSpc>
            </a:pPr>
            <a:r>
              <a:rPr lang="zh-CN" altLang="en-US" dirty="0">
                <a:latin typeface="Cambria Math" panose="02040503050406030204" pitchFamily="18" charset="0"/>
              </a:rPr>
              <a:t>若𝑅是传递的</a:t>
            </a:r>
            <a:r>
              <a:rPr lang="en-US" altLang="zh-CN" dirty="0">
                <a:latin typeface="Cambria Math" panose="02040503050406030204" pitchFamily="18" charset="0"/>
              </a:rPr>
              <a:t>, </a:t>
            </a:r>
            <a:r>
              <a:rPr lang="zh-CN" altLang="en-US" dirty="0">
                <a:latin typeface="Cambria Math" panose="02040503050406030204" pitchFamily="18" charset="0"/>
              </a:rPr>
              <a:t>则 𝑡</a:t>
            </a:r>
            <a:r>
              <a:rPr lang="en-US" altLang="zh-CN" dirty="0">
                <a:latin typeface="Cambria Math" panose="02040503050406030204" pitchFamily="18" charset="0"/>
              </a:rPr>
              <a:t>(𝑅)</a:t>
            </a:r>
            <a:r>
              <a:rPr lang="en-US" altLang="zh-CN" dirty="0">
                <a:latin typeface="Cambria Math" panose="02040503050406030204" pitchFamily="18" charset="0"/>
              </a:rPr>
              <a:t>=</a:t>
            </a:r>
            <a:r>
              <a:rPr lang="en-US" altLang="zh-CN" dirty="0">
                <a:latin typeface="Cambria Math" panose="02040503050406030204" pitchFamily="18" charset="0"/>
              </a:rPr>
              <a:t>𝑅</a:t>
            </a:r>
            <a:endParaRPr kumimoji="1" lang="zh-CN" altLang="en-US" dirty="0">
              <a:latin typeface="Cambria Math" panose="02040503050406030204" pitchFamily="18" charset="0"/>
            </a:endParaRPr>
          </a:p>
        </p:txBody>
      </p:sp>
      <p:sp>
        <p:nvSpPr>
          <p:cNvPr id="4" name="幻灯片编号占位符 3"/>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5" name="Rectangle 2"/>
          <p:cNvSpPr>
            <a:spLocks noGrp="1" noChangeArrowheads="1"/>
          </p:cNvSpPr>
          <p:nvPr>
            <p:ph type="title"/>
          </p:nvPr>
        </p:nvSpPr>
        <p:spPr/>
        <p:txBody>
          <a:bodyPr/>
          <a:lstStyle/>
          <a:p>
            <a:pPr eaLnBrk="1" hangingPunct="1"/>
            <a:r>
              <a:rPr lang="zh-CN" altLang="en-US" dirty="0"/>
              <a:t>例</a:t>
            </a:r>
            <a:r>
              <a:rPr lang="en-US" altLang="zh-CN" dirty="0"/>
              <a:t>4.29</a:t>
            </a:r>
            <a:endParaRPr lang="zh-CN" altLang="en-US" dirty="0"/>
          </a:p>
        </p:txBody>
      </p:sp>
      <p:sp>
        <p:nvSpPr>
          <p:cNvPr id="1599491" name="Rectangle 3"/>
          <p:cNvSpPr>
            <a:spLocks noGrp="1" noChangeArrowheads="1"/>
          </p:cNvSpPr>
          <p:nvPr>
            <p:ph type="body" idx="1"/>
          </p:nvPr>
        </p:nvSpPr>
        <p:spPr>
          <a:xfrm>
            <a:off x="346075" y="991394"/>
            <a:ext cx="11506200" cy="5715000"/>
          </a:xfrm>
        </p:spPr>
        <p:txBody>
          <a:bodyPr>
            <a:normAutofit/>
          </a:bodyPr>
          <a:lstStyle/>
          <a:p>
            <a:pPr marL="0" indent="0">
              <a:lnSpc>
                <a:spcPct val="160000"/>
              </a:lnSpc>
              <a:buNone/>
            </a:pPr>
            <a:r>
              <a:rPr lang="zh-CN" altLang="en-US" dirty="0">
                <a:solidFill>
                  <a:srgbClr val="C00000"/>
                </a:solidFill>
              </a:rPr>
              <a:t>例</a:t>
            </a:r>
            <a:r>
              <a:rPr lang="en-US" altLang="zh-CN" dirty="0">
                <a:solidFill>
                  <a:srgbClr val="C00000"/>
                </a:solidFill>
              </a:rPr>
              <a:t>4.29  </a:t>
            </a:r>
            <a:r>
              <a:rPr lang="zh-CN" altLang="en-US" dirty="0"/>
              <a:t>设</a:t>
            </a:r>
            <a:r>
              <a:rPr lang="en-US" altLang="zh-CN" dirty="0"/>
              <a:t>A={1,2}</a:t>
            </a:r>
            <a:r>
              <a:rPr lang="zh-CN" altLang="en-US" dirty="0"/>
              <a:t>，</a:t>
            </a:r>
            <a:r>
              <a:rPr lang="en-US" altLang="zh-CN" dirty="0"/>
              <a:t>R={&lt;1,1&gt;,&lt;1,2&gt;}</a:t>
            </a:r>
            <a:r>
              <a:rPr lang="zh-CN" altLang="en-US" dirty="0"/>
              <a:t>是</a:t>
            </a:r>
            <a:r>
              <a:rPr lang="en-US" altLang="zh-CN" dirty="0"/>
              <a:t>A</a:t>
            </a:r>
            <a:r>
              <a:rPr lang="zh-CN" altLang="en-US" dirty="0"/>
              <a:t>上的关系。</a:t>
            </a:r>
            <a:r>
              <a:rPr lang="zh-CN" altLang="en-US" dirty="0">
                <a:solidFill>
                  <a:srgbClr val="0000CC"/>
                </a:solidFill>
              </a:rPr>
              <a:t>试判断下列关系是否是</a:t>
            </a:r>
            <a:endParaRPr lang="zh-CN" altLang="en-US" dirty="0">
              <a:solidFill>
                <a:srgbClr val="0000CC"/>
              </a:solidFill>
            </a:endParaRPr>
          </a:p>
          <a:p>
            <a:pPr marL="0" indent="0">
              <a:lnSpc>
                <a:spcPct val="160000"/>
              </a:lnSpc>
              <a:buNone/>
            </a:pPr>
            <a:r>
              <a:rPr lang="zh-CN" altLang="en-US" dirty="0">
                <a:solidFill>
                  <a:srgbClr val="0000CC"/>
                </a:solidFill>
              </a:rPr>
              <a:t>Ｒ的自反闭包、 对称闭包和传递闭包。</a:t>
            </a:r>
            <a:endParaRPr lang="en-US" altLang="zh-CN" dirty="0">
              <a:solidFill>
                <a:srgbClr val="0000CC"/>
              </a:solidFill>
            </a:endParaRPr>
          </a:p>
          <a:p>
            <a:pPr marL="0" indent="0">
              <a:lnSpc>
                <a:spcPct val="250000"/>
              </a:lnSpc>
              <a:buNone/>
            </a:pPr>
            <a:r>
              <a:rPr lang="zh-CN" altLang="zh-CN" dirty="0"/>
              <a:t>（</a:t>
            </a:r>
            <a:r>
              <a:rPr lang="en-US" altLang="zh-CN" dirty="0"/>
              <a:t>1</a:t>
            </a:r>
            <a:r>
              <a:rPr lang="zh-CN" altLang="zh-CN" dirty="0"/>
              <a:t>）</a:t>
            </a:r>
            <a:r>
              <a:rPr lang="en-US" altLang="zh-CN" dirty="0"/>
              <a:t>R</a:t>
            </a:r>
            <a:r>
              <a:rPr lang="en-US" altLang="zh-CN" baseline="-25000" dirty="0"/>
              <a:t>1</a:t>
            </a:r>
            <a:r>
              <a:rPr lang="zh-CN" altLang="zh-CN" dirty="0"/>
              <a:t>＝</a:t>
            </a:r>
            <a:r>
              <a:rPr lang="en-US" altLang="zh-CN" dirty="0"/>
              <a:t>{&lt;1,1&gt;,&lt;2,2&gt;,&lt;1,2&gt;}</a:t>
            </a:r>
            <a:endParaRPr lang="en-US" altLang="zh-CN" dirty="0"/>
          </a:p>
          <a:p>
            <a:pPr marL="0" indent="0">
              <a:lnSpc>
                <a:spcPct val="250000"/>
              </a:lnSpc>
              <a:spcBef>
                <a:spcPts val="1800"/>
              </a:spcBef>
              <a:buNone/>
            </a:pPr>
            <a:r>
              <a:rPr lang="zh-CN" altLang="zh-CN" dirty="0"/>
              <a:t>（</a:t>
            </a:r>
            <a:r>
              <a:rPr lang="en-US" altLang="zh-CN" dirty="0"/>
              <a:t>2</a:t>
            </a:r>
            <a:r>
              <a:rPr lang="zh-CN" altLang="zh-CN" dirty="0"/>
              <a:t>）</a:t>
            </a:r>
            <a:r>
              <a:rPr lang="en-US" altLang="zh-CN" dirty="0"/>
              <a:t>R</a:t>
            </a:r>
            <a:r>
              <a:rPr lang="en-US" altLang="zh-CN" baseline="-25000" dirty="0"/>
              <a:t>2</a:t>
            </a:r>
            <a:r>
              <a:rPr lang="zh-CN" altLang="zh-CN" dirty="0"/>
              <a:t>＝</a:t>
            </a:r>
            <a:r>
              <a:rPr lang="en-US" altLang="zh-CN" dirty="0"/>
              <a:t>{&lt;1,1&gt;,&lt;2,2&gt;,&lt;1,2&gt;,&lt;2, 1&gt;}</a:t>
            </a:r>
            <a:endParaRPr lang="zh-CN" altLang="zh-CN" dirty="0"/>
          </a:p>
          <a:p>
            <a:pPr marL="0" indent="0">
              <a:lnSpc>
                <a:spcPct val="250000"/>
              </a:lnSpc>
              <a:buNone/>
            </a:pPr>
            <a:r>
              <a:rPr lang="zh-CN" altLang="zh-CN" dirty="0"/>
              <a:t>（</a:t>
            </a:r>
            <a:r>
              <a:rPr lang="en-US" altLang="zh-CN" dirty="0"/>
              <a:t>3</a:t>
            </a:r>
            <a:r>
              <a:rPr lang="zh-CN" altLang="zh-CN" dirty="0"/>
              <a:t>）</a:t>
            </a:r>
            <a:r>
              <a:rPr lang="en-US" altLang="zh-CN" dirty="0"/>
              <a:t>R</a:t>
            </a:r>
            <a:r>
              <a:rPr lang="en-US" altLang="zh-CN" baseline="-25000" dirty="0"/>
              <a:t>3</a:t>
            </a:r>
            <a:r>
              <a:rPr lang="zh-CN" altLang="zh-CN" dirty="0"/>
              <a:t>＝</a:t>
            </a:r>
            <a:r>
              <a:rPr lang="en-US" altLang="zh-CN" dirty="0"/>
              <a:t>{&lt;1,1&gt;,&lt;1,2&gt;,&lt;2,1&gt;}</a:t>
            </a:r>
            <a:endParaRPr lang="en-US" altLang="zh-CN" dirty="0"/>
          </a:p>
          <a:p>
            <a:pPr marL="0" indent="0">
              <a:lnSpc>
                <a:spcPct val="250000"/>
              </a:lnSpc>
              <a:buNone/>
            </a:pPr>
            <a:r>
              <a:rPr lang="zh-CN" altLang="zh-CN" dirty="0"/>
              <a:t>（</a:t>
            </a:r>
            <a:r>
              <a:rPr lang="en-US" altLang="zh-CN" dirty="0"/>
              <a:t>4</a:t>
            </a:r>
            <a:r>
              <a:rPr lang="zh-CN" altLang="zh-CN" dirty="0"/>
              <a:t>）</a:t>
            </a:r>
            <a:r>
              <a:rPr lang="en-US" altLang="zh-CN" dirty="0"/>
              <a:t>R</a:t>
            </a:r>
            <a:r>
              <a:rPr lang="en-US" altLang="zh-CN" baseline="-25000" dirty="0"/>
              <a:t>4</a:t>
            </a:r>
            <a:r>
              <a:rPr lang="zh-CN" altLang="zh-CN" dirty="0"/>
              <a:t>＝</a:t>
            </a:r>
            <a:r>
              <a:rPr lang="en-US" altLang="zh-CN" dirty="0"/>
              <a:t>{&lt;1,1&gt;,&lt;1,2&gt;}</a:t>
            </a:r>
            <a:endParaRPr lang="zh-CN" altLang="en-US" dirty="0">
              <a:solidFill>
                <a:srgbClr val="0000CC"/>
              </a:solidFill>
            </a:endParaRPr>
          </a:p>
          <a:p>
            <a:pPr marL="0" indent="0">
              <a:lnSpc>
                <a:spcPct val="160000"/>
              </a:lnSpc>
              <a:buNone/>
            </a:pPr>
            <a:endParaRPr lang="zh-CN" altLang="zh-CN" dirty="0"/>
          </a:p>
        </p:txBody>
      </p:sp>
      <p:sp>
        <p:nvSpPr>
          <p:cNvPr id="4" name="Rectangle 3"/>
          <p:cNvSpPr txBox="1">
            <a:spLocks noChangeArrowheads="1"/>
          </p:cNvSpPr>
          <p:nvPr/>
        </p:nvSpPr>
        <p:spPr>
          <a:xfrm>
            <a:off x="5641975" y="2334401"/>
            <a:ext cx="6324600" cy="1933593"/>
          </a:xfrm>
          <a:prstGeom prst="rect">
            <a:avLst/>
          </a:prstGeom>
        </p:spPr>
        <p:txBody>
          <a:bodyPr vert="horz" lIns="121917" tIns="60958" rIns="121917" bIns="60958" rtlCol="0">
            <a:normAutofit/>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60000"/>
              </a:lnSpc>
              <a:buFont typeface="Wingdings" panose="05000000000000000000" pitchFamily="2" charset="2"/>
              <a:buNone/>
            </a:pPr>
            <a:r>
              <a:rPr lang="zh-CN" altLang="en-US" dirty="0">
                <a:solidFill>
                  <a:srgbClr val="C00000"/>
                </a:solidFill>
              </a:rPr>
              <a:t>由定义</a:t>
            </a:r>
            <a:r>
              <a:rPr lang="en-US" altLang="zh-CN" dirty="0">
                <a:solidFill>
                  <a:srgbClr val="C00000"/>
                </a:solidFill>
              </a:rPr>
              <a:t>4.14</a:t>
            </a:r>
            <a:r>
              <a:rPr lang="zh-CN" altLang="en-US" dirty="0">
                <a:solidFill>
                  <a:srgbClr val="C00000"/>
                </a:solidFill>
              </a:rPr>
              <a:t>知  </a:t>
            </a:r>
            <a:r>
              <a:rPr lang="en-US" altLang="zh-CN" dirty="0"/>
              <a:t>r(R)</a:t>
            </a:r>
            <a:r>
              <a:rPr lang="zh-CN" altLang="zh-CN" dirty="0"/>
              <a:t>＝</a:t>
            </a:r>
            <a:r>
              <a:rPr lang="en-US" altLang="zh-CN" dirty="0"/>
              <a:t>{&lt;1,1&gt;,&lt;2,2&gt;,&lt;1,2&gt;}</a:t>
            </a:r>
            <a:endParaRPr lang="en-US" altLang="zh-CN" dirty="0"/>
          </a:p>
          <a:p>
            <a:pPr marL="0" indent="0">
              <a:lnSpc>
                <a:spcPct val="160000"/>
              </a:lnSpc>
              <a:buFont typeface="Wingdings" panose="05000000000000000000" pitchFamily="2" charset="2"/>
              <a:buNone/>
            </a:pPr>
            <a:r>
              <a:rPr lang="en-US" altLang="zh-CN" dirty="0"/>
              <a:t>                       s(R)</a:t>
            </a:r>
            <a:r>
              <a:rPr lang="zh-CN" altLang="zh-CN" dirty="0"/>
              <a:t>＝</a:t>
            </a:r>
            <a:r>
              <a:rPr lang="en-US" altLang="zh-CN" dirty="0"/>
              <a:t>{&lt;1,1&gt;,&lt;1,2&gt;,&lt;2,1&gt;}</a:t>
            </a:r>
            <a:endParaRPr lang="en-US" altLang="zh-CN" dirty="0"/>
          </a:p>
          <a:p>
            <a:pPr marL="0" indent="0">
              <a:lnSpc>
                <a:spcPct val="160000"/>
              </a:lnSpc>
              <a:buFont typeface="Wingdings" panose="05000000000000000000" pitchFamily="2" charset="2"/>
              <a:buNone/>
            </a:pPr>
            <a:r>
              <a:rPr lang="en-US" altLang="zh-CN" dirty="0"/>
              <a:t>                       t(R)=R</a:t>
            </a:r>
            <a:endParaRPr lang="en-US" altLang="zh-CN" dirty="0"/>
          </a:p>
        </p:txBody>
      </p:sp>
      <p:sp>
        <p:nvSpPr>
          <p:cNvPr id="2" name="对话气泡: 矩形 1"/>
          <p:cNvSpPr/>
          <p:nvPr/>
        </p:nvSpPr>
        <p:spPr>
          <a:xfrm>
            <a:off x="5794375" y="1786508"/>
            <a:ext cx="4495800" cy="533400"/>
          </a:xfrm>
          <a:prstGeom prst="wedgeRectCallout">
            <a:avLst>
              <a:gd name="adj1" fmla="val -56707"/>
              <a:gd name="adj2" fmla="val -1044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zh-CN" altLang="en-US" b="1" dirty="0">
                <a:latin typeface="+mn-ea"/>
              </a:rPr>
              <a:t>是传递的，不是自反和对称的</a:t>
            </a:r>
            <a:endParaRPr lang="zh-CN" altLang="en-US" b="1" dirty="0">
              <a:latin typeface="+mn-ea"/>
            </a:endParaRPr>
          </a:p>
        </p:txBody>
      </p:sp>
      <p:sp>
        <p:nvSpPr>
          <p:cNvPr id="8" name="对话气泡: 矩形 7"/>
          <p:cNvSpPr/>
          <p:nvPr/>
        </p:nvSpPr>
        <p:spPr>
          <a:xfrm>
            <a:off x="1191410" y="3034497"/>
            <a:ext cx="4638675" cy="533400"/>
          </a:xfrm>
          <a:prstGeom prst="wedgeRectCallout">
            <a:avLst>
              <a:gd name="adj1" fmla="val -27906"/>
              <a:gd name="adj2" fmla="val -524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1</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1</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1</a:t>
            </a:r>
            <a:r>
              <a:rPr lang="en-US" altLang="zh-CN" b="1" dirty="0">
                <a:latin typeface="+mn-ea"/>
              </a:rPr>
              <a:t>≠t(R)</a:t>
            </a:r>
            <a:endParaRPr lang="zh-CN" altLang="en-US" b="1" dirty="0">
              <a:latin typeface="+mn-ea"/>
            </a:endParaRPr>
          </a:p>
        </p:txBody>
      </p:sp>
      <p:sp>
        <p:nvSpPr>
          <p:cNvPr id="9" name="对话气泡: 矩形 8"/>
          <p:cNvSpPr/>
          <p:nvPr/>
        </p:nvSpPr>
        <p:spPr>
          <a:xfrm>
            <a:off x="5413375" y="4477545"/>
            <a:ext cx="4638675" cy="533400"/>
          </a:xfrm>
          <a:prstGeom prst="wedgeRectCallout">
            <a:avLst>
              <a:gd name="adj1" fmla="val -60021"/>
              <a:gd name="adj2" fmla="val -1372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2</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2</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2</a:t>
            </a:r>
            <a:r>
              <a:rPr lang="en-US" altLang="zh-CN" b="1" dirty="0">
                <a:latin typeface="+mn-ea"/>
              </a:rPr>
              <a:t>≠t(R)</a:t>
            </a:r>
            <a:endParaRPr lang="zh-CN" altLang="en-US" b="1" dirty="0">
              <a:latin typeface="+mn-ea"/>
            </a:endParaRPr>
          </a:p>
        </p:txBody>
      </p:sp>
      <p:sp>
        <p:nvSpPr>
          <p:cNvPr id="10" name="对话气泡: 矩形 9"/>
          <p:cNvSpPr/>
          <p:nvPr/>
        </p:nvSpPr>
        <p:spPr>
          <a:xfrm>
            <a:off x="5108575" y="5541130"/>
            <a:ext cx="4638675" cy="533400"/>
          </a:xfrm>
          <a:prstGeom prst="wedgeRectCallout">
            <a:avLst>
              <a:gd name="adj1" fmla="val -66666"/>
              <a:gd name="adj2" fmla="val -1314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3</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3</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3</a:t>
            </a:r>
            <a:r>
              <a:rPr lang="en-US" altLang="zh-CN" b="1" dirty="0">
                <a:latin typeface="+mn-ea"/>
              </a:rPr>
              <a:t>≠t(R)</a:t>
            </a:r>
            <a:endParaRPr lang="zh-CN" altLang="en-US" b="1" dirty="0">
              <a:latin typeface="+mn-ea"/>
            </a:endParaRPr>
          </a:p>
        </p:txBody>
      </p:sp>
      <p:sp>
        <p:nvSpPr>
          <p:cNvPr id="11" name="对话气泡: 矩形 10"/>
          <p:cNvSpPr/>
          <p:nvPr/>
        </p:nvSpPr>
        <p:spPr>
          <a:xfrm>
            <a:off x="841375" y="6171387"/>
            <a:ext cx="4638675" cy="533400"/>
          </a:xfrm>
          <a:prstGeom prst="wedgeRectCallout">
            <a:avLst>
              <a:gd name="adj1" fmla="val -16388"/>
              <a:gd name="adj2" fmla="val -1006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rPr>
              <a:t>R</a:t>
            </a:r>
            <a:r>
              <a:rPr lang="en-US" altLang="zh-CN" b="1" baseline="-25000" dirty="0">
                <a:latin typeface="+mn-ea"/>
              </a:rPr>
              <a:t>4</a:t>
            </a:r>
            <a:r>
              <a:rPr lang="en-US" altLang="zh-CN" b="1" dirty="0">
                <a:latin typeface="+mn-ea"/>
              </a:rPr>
              <a:t>≠r(R)</a:t>
            </a:r>
            <a:r>
              <a:rPr lang="zh-CN" altLang="en-US" b="1" dirty="0">
                <a:latin typeface="+mn-ea"/>
              </a:rPr>
              <a:t>，</a:t>
            </a:r>
            <a:r>
              <a:rPr lang="en-US" altLang="zh-CN" b="1" dirty="0">
                <a:latin typeface="+mn-ea"/>
              </a:rPr>
              <a:t>R</a:t>
            </a:r>
            <a:r>
              <a:rPr lang="en-US" altLang="zh-CN" b="1" baseline="-25000" dirty="0">
                <a:latin typeface="+mn-ea"/>
              </a:rPr>
              <a:t>4</a:t>
            </a:r>
            <a:r>
              <a:rPr lang="en-US" altLang="zh-CN" b="1" dirty="0">
                <a:latin typeface="+mn-ea"/>
              </a:rPr>
              <a:t>≠s(R)</a:t>
            </a:r>
            <a:r>
              <a:rPr lang="zh-CN" altLang="en-US" b="1" dirty="0">
                <a:latin typeface="+mn-ea"/>
              </a:rPr>
              <a:t>，</a:t>
            </a:r>
            <a:r>
              <a:rPr lang="en-US" altLang="zh-CN" b="1" dirty="0">
                <a:latin typeface="+mn-ea"/>
              </a:rPr>
              <a:t>R</a:t>
            </a:r>
            <a:r>
              <a:rPr lang="en-US" altLang="zh-CN" b="1" baseline="-25000" dirty="0">
                <a:latin typeface="+mn-ea"/>
              </a:rPr>
              <a:t>4</a:t>
            </a:r>
            <a:r>
              <a:rPr lang="en-US" altLang="zh-CN" b="1" dirty="0">
                <a:latin typeface="+mn-ea"/>
              </a:rPr>
              <a:t>=t(R)</a:t>
            </a:r>
            <a:endParaRPr lang="zh-CN" altLang="en-US" b="1"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randombar(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randombar(horizont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P spid="8" grpId="0" animBg="1"/>
      <p:bldP spid="9" grpId="0" animBg="1"/>
      <p:bldP spid="10" grpId="0" animBg="1"/>
      <p:bldP spid="11"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7" name="Rectangle 2"/>
          <p:cNvSpPr>
            <a:spLocks noGrp="1" noChangeArrowheads="1"/>
          </p:cNvSpPr>
          <p:nvPr>
            <p:ph type="title"/>
          </p:nvPr>
        </p:nvSpPr>
        <p:spPr/>
        <p:txBody>
          <a:bodyPr/>
          <a:lstStyle/>
          <a:p>
            <a:pPr eaLnBrk="1" hangingPunct="1"/>
            <a:r>
              <a:rPr lang="zh-CN" altLang="en-US" dirty="0"/>
              <a:t>例</a:t>
            </a:r>
            <a:r>
              <a:rPr lang="en-US" altLang="zh-CN" dirty="0"/>
              <a:t>4.30</a:t>
            </a:r>
            <a:endParaRPr lang="zh-CN" altLang="en-US" dirty="0"/>
          </a:p>
        </p:txBody>
      </p:sp>
      <p:sp>
        <p:nvSpPr>
          <p:cNvPr id="1607683" name="Rectangle 3"/>
          <p:cNvSpPr>
            <a:spLocks noGrp="1" noChangeArrowheads="1"/>
          </p:cNvSpPr>
          <p:nvPr>
            <p:ph type="body" idx="1"/>
          </p:nvPr>
        </p:nvSpPr>
        <p:spPr>
          <a:xfrm>
            <a:off x="307975" y="995898"/>
            <a:ext cx="11658600" cy="3029345"/>
          </a:xfrm>
        </p:spPr>
        <p:txBody>
          <a:bodyPr>
            <a:normAutofit/>
          </a:bodyPr>
          <a:lstStyle/>
          <a:p>
            <a:pPr marL="0" indent="0">
              <a:lnSpc>
                <a:spcPct val="150000"/>
              </a:lnSpc>
              <a:spcBef>
                <a:spcPct val="0"/>
              </a:spcBef>
              <a:buNone/>
            </a:pPr>
            <a:r>
              <a:rPr lang="zh-CN" altLang="en-US" dirty="0">
                <a:solidFill>
                  <a:srgbClr val="C00000"/>
                </a:solidFill>
              </a:rPr>
              <a:t>例</a:t>
            </a:r>
            <a:r>
              <a:rPr lang="en-US" altLang="zh-CN" dirty="0">
                <a:solidFill>
                  <a:srgbClr val="C00000"/>
                </a:solidFill>
              </a:rPr>
              <a:t>4.30  </a:t>
            </a:r>
            <a:r>
              <a:rPr lang="zh-CN" altLang="en-US" dirty="0"/>
              <a:t>设集合</a:t>
            </a:r>
            <a:r>
              <a:rPr lang="en-US" altLang="zh-CN" dirty="0"/>
              <a:t>A={</a:t>
            </a:r>
            <a:r>
              <a:rPr lang="en-US" altLang="zh-CN" dirty="0" err="1"/>
              <a:t>a,b,c,d</a:t>
            </a:r>
            <a:r>
              <a:rPr lang="en-US" altLang="zh-CN" dirty="0"/>
              <a:t>}</a:t>
            </a:r>
            <a:r>
              <a:rPr lang="zh-CN" altLang="en-US" dirty="0"/>
              <a:t>，</a:t>
            </a:r>
            <a:r>
              <a:rPr lang="en-US" altLang="zh-CN" dirty="0"/>
              <a:t>R={&lt;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 &lt;</a:t>
            </a:r>
            <a:r>
              <a:rPr lang="en-US" altLang="zh-CN" dirty="0" err="1"/>
              <a:t>c,d</a:t>
            </a:r>
            <a:r>
              <a:rPr lang="en-US" altLang="zh-CN" dirty="0"/>
              <a:t>&gt;}</a:t>
            </a:r>
            <a:r>
              <a:rPr lang="zh-CN" altLang="en-US" dirty="0"/>
              <a:t>是定义在</a:t>
            </a:r>
            <a:r>
              <a:rPr lang="en-US" altLang="zh-CN" dirty="0"/>
              <a:t>A</a:t>
            </a:r>
            <a:r>
              <a:rPr lang="zh-CN" altLang="en-US" dirty="0"/>
              <a:t>上的二元关系。</a:t>
            </a:r>
            <a:endParaRPr lang="zh-CN" altLang="en-US" dirty="0"/>
          </a:p>
          <a:p>
            <a:pPr marL="0" indent="0">
              <a:lnSpc>
                <a:spcPct val="150000"/>
              </a:lnSpc>
              <a:spcBef>
                <a:spcPct val="0"/>
              </a:spcBef>
              <a:buNone/>
            </a:pPr>
            <a:r>
              <a:rPr lang="zh-CN" altLang="en-US" dirty="0"/>
              <a:t>（</a:t>
            </a:r>
            <a:r>
              <a:rPr lang="en-US" altLang="zh-CN" dirty="0"/>
              <a:t>1</a:t>
            </a:r>
            <a:r>
              <a:rPr lang="zh-CN" altLang="en-US" dirty="0"/>
              <a:t>）画出</a:t>
            </a:r>
            <a:r>
              <a:rPr lang="en-US" altLang="zh-CN" dirty="0"/>
              <a:t>R</a:t>
            </a:r>
            <a:r>
              <a:rPr lang="zh-CN" altLang="en-US" dirty="0"/>
              <a:t>的关系图；</a:t>
            </a:r>
            <a:endParaRPr lang="zh-CN" altLang="en-US" dirty="0"/>
          </a:p>
          <a:p>
            <a:pPr marL="0" indent="0">
              <a:lnSpc>
                <a:spcPct val="150000"/>
              </a:lnSpc>
              <a:spcBef>
                <a:spcPct val="0"/>
              </a:spcBef>
              <a:buNone/>
            </a:pPr>
            <a:r>
              <a:rPr lang="zh-CN" altLang="en-US" dirty="0"/>
              <a:t>（</a:t>
            </a:r>
            <a:r>
              <a:rPr lang="en-US" altLang="zh-CN" dirty="0"/>
              <a:t>2</a:t>
            </a:r>
            <a:r>
              <a:rPr lang="zh-CN" altLang="en-US" dirty="0"/>
              <a:t>）求出</a:t>
            </a:r>
            <a:r>
              <a:rPr lang="en-US" altLang="zh-CN" dirty="0"/>
              <a:t>r(R),s(R),t(R),</a:t>
            </a:r>
            <a:r>
              <a:rPr lang="zh-CN" altLang="en-US" dirty="0"/>
              <a:t>并画出其相应的关系图。</a:t>
            </a:r>
            <a:endParaRPr lang="zh-CN" altLang="en-US" dirty="0"/>
          </a:p>
          <a:p>
            <a:pPr marL="0" indent="0">
              <a:lnSpc>
                <a:spcPct val="150000"/>
              </a:lnSpc>
              <a:spcBef>
                <a:spcPct val="0"/>
              </a:spcBef>
              <a:buNone/>
            </a:pPr>
            <a:r>
              <a:rPr lang="zh-CN" altLang="en-US" dirty="0">
                <a:solidFill>
                  <a:srgbClr val="FF0000"/>
                </a:solidFill>
              </a:rPr>
              <a:t>解</a:t>
            </a:r>
            <a:r>
              <a:rPr lang="zh-CN" altLang="en-US" dirty="0"/>
              <a:t>（</a:t>
            </a:r>
            <a:r>
              <a:rPr lang="en-US" altLang="zh-CN" dirty="0"/>
              <a:t>1</a:t>
            </a:r>
            <a:r>
              <a:rPr lang="zh-CN" altLang="en-US" dirty="0"/>
              <a:t>）</a:t>
            </a:r>
            <a:r>
              <a:rPr lang="en-US" altLang="zh-CN" dirty="0"/>
              <a:t>R</a:t>
            </a:r>
            <a:r>
              <a:rPr lang="zh-CN" altLang="en-US" dirty="0"/>
              <a:t>的关系图见下图；</a:t>
            </a:r>
            <a:endParaRPr lang="zh-CN" altLang="en-US" dirty="0"/>
          </a:p>
        </p:txBody>
      </p:sp>
      <p:grpSp>
        <p:nvGrpSpPr>
          <p:cNvPr id="5" name="组合 4"/>
          <p:cNvGrpSpPr/>
          <p:nvPr/>
        </p:nvGrpSpPr>
        <p:grpSpPr>
          <a:xfrm>
            <a:off x="1984375" y="4209048"/>
            <a:ext cx="5133333" cy="1180952"/>
            <a:chOff x="1603375" y="4239298"/>
            <a:chExt cx="5133333" cy="1180952"/>
          </a:xfrm>
        </p:grpSpPr>
        <p:pic>
          <p:nvPicPr>
            <p:cNvPr id="2" name="图片 1"/>
            <p:cNvPicPr>
              <a:picLocks noChangeAspect="1"/>
            </p:cNvPicPr>
            <p:nvPr/>
          </p:nvPicPr>
          <p:blipFill>
            <a:blip r:embed="rId1" cstate="print"/>
            <a:stretch>
              <a:fillRect/>
            </a:stretch>
          </p:blipFill>
          <p:spPr>
            <a:xfrm>
              <a:off x="1603375" y="4239298"/>
              <a:ext cx="5133333" cy="1180952"/>
            </a:xfrm>
            <a:prstGeom prst="rect">
              <a:avLst/>
            </a:prstGeom>
          </p:spPr>
        </p:pic>
        <p:pic>
          <p:nvPicPr>
            <p:cNvPr id="4" name="图片 3"/>
            <p:cNvPicPr>
              <a:picLocks noChangeAspect="1"/>
            </p:cNvPicPr>
            <p:nvPr/>
          </p:nvPicPr>
          <p:blipFill>
            <a:blip r:embed="rId2" cstate="print"/>
            <a:stretch>
              <a:fillRect/>
            </a:stretch>
          </p:blipFill>
          <p:spPr>
            <a:xfrm>
              <a:off x="3660775" y="4858345"/>
              <a:ext cx="923551" cy="561905"/>
            </a:xfrm>
            <a:prstGeom prst="rect">
              <a:avLst/>
            </a:prstGeom>
          </p:spPr>
        </p:pic>
      </p:gr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07683">
                                            <p:txEl>
                                              <p:pRg st="3" end="3"/>
                                            </p:txEl>
                                          </p:spTgt>
                                        </p:tgtEl>
                                        <p:attrNameLst>
                                          <p:attrName>style.visibility</p:attrName>
                                        </p:attrNameLst>
                                      </p:cBhvr>
                                      <p:to>
                                        <p:strVal val="visible"/>
                                      </p:to>
                                    </p:set>
                                    <p:anim calcmode="lin" valueType="num">
                                      <p:cBhvr additive="base">
                                        <p:cTn id="7" dur="500" fill="hold"/>
                                        <p:tgtEl>
                                          <p:spTgt spid="160768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76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731" name="Rectangle 3"/>
          <p:cNvSpPr>
            <a:spLocks noGrp="1" noChangeArrowheads="1"/>
          </p:cNvSpPr>
          <p:nvPr>
            <p:ph type="body" idx="1"/>
          </p:nvPr>
        </p:nvSpPr>
        <p:spPr>
          <a:xfrm>
            <a:off x="307975" y="1067594"/>
            <a:ext cx="11582400" cy="5029200"/>
          </a:xfrm>
        </p:spPr>
        <p:txBody>
          <a:bodyPr>
            <a:normAutofit lnSpcReduction="10000"/>
          </a:bodyPr>
          <a:lstStyle/>
          <a:p>
            <a:pPr marL="0" indent="0">
              <a:lnSpc>
                <a:spcPct val="150000"/>
              </a:lnSpc>
              <a:buNone/>
            </a:pPr>
            <a:r>
              <a:rPr lang="zh-CN" altLang="zh-CN" dirty="0"/>
              <a:t>（</a:t>
            </a:r>
            <a:r>
              <a:rPr lang="en-US" altLang="zh-CN" dirty="0"/>
              <a:t>2</a:t>
            </a:r>
            <a:r>
              <a:rPr lang="zh-CN" altLang="zh-CN" dirty="0"/>
              <a:t>）</a:t>
            </a:r>
            <a:r>
              <a:rPr lang="en-US" altLang="zh-CN" dirty="0"/>
              <a:t>r(R)</a:t>
            </a:r>
            <a:r>
              <a:rPr lang="zh-CN" altLang="zh-CN" dirty="0"/>
              <a:t>＝</a:t>
            </a:r>
            <a:r>
              <a:rPr lang="en-US" altLang="zh-CN" dirty="0"/>
              <a:t>{&lt;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&gt;,&lt;</a:t>
            </a:r>
            <a:r>
              <a:rPr lang="en-US" altLang="zh-CN" dirty="0" err="1"/>
              <a:t>c,d</a:t>
            </a:r>
            <a:r>
              <a:rPr lang="en-US" altLang="zh-CN" dirty="0"/>
              <a:t>&gt;,</a:t>
            </a:r>
            <a:r>
              <a:rPr lang="en-US" altLang="zh-CN" dirty="0">
                <a:solidFill>
                  <a:srgbClr val="C00000"/>
                </a:solidFill>
              </a:rPr>
              <a:t>&lt;</a:t>
            </a:r>
            <a:r>
              <a:rPr lang="en-US" altLang="zh-CN" dirty="0" err="1">
                <a:solidFill>
                  <a:srgbClr val="C00000"/>
                </a:solidFill>
              </a:rPr>
              <a:t>a,a</a:t>
            </a:r>
            <a:r>
              <a:rPr lang="en-US" altLang="zh-CN" dirty="0">
                <a:solidFill>
                  <a:srgbClr val="C00000"/>
                </a:solidFill>
              </a:rPr>
              <a:t>&gt;,&lt;</a:t>
            </a:r>
            <a:r>
              <a:rPr lang="en-US" altLang="zh-CN" dirty="0" err="1">
                <a:solidFill>
                  <a:srgbClr val="C00000"/>
                </a:solidFill>
              </a:rPr>
              <a:t>b,b</a:t>
            </a:r>
            <a:r>
              <a:rPr lang="en-US" altLang="zh-CN" dirty="0">
                <a:solidFill>
                  <a:srgbClr val="C00000"/>
                </a:solidFill>
              </a:rPr>
              <a:t>&gt;,&lt;</a:t>
            </a:r>
            <a:r>
              <a:rPr lang="en-US" altLang="zh-CN" dirty="0" err="1">
                <a:solidFill>
                  <a:srgbClr val="C00000"/>
                </a:solidFill>
              </a:rPr>
              <a:t>c,c</a:t>
            </a:r>
            <a:r>
              <a:rPr lang="en-US" altLang="zh-CN" dirty="0">
                <a:solidFill>
                  <a:srgbClr val="C00000"/>
                </a:solidFill>
              </a:rPr>
              <a:t>&gt;,&lt;</a:t>
            </a:r>
            <a:r>
              <a:rPr lang="en-US" altLang="zh-CN" dirty="0" err="1">
                <a:solidFill>
                  <a:srgbClr val="C00000"/>
                </a:solidFill>
              </a:rPr>
              <a:t>d,d</a:t>
            </a:r>
            <a:r>
              <a:rPr lang="en-US" altLang="zh-CN" dirty="0">
                <a:solidFill>
                  <a:srgbClr val="C00000"/>
                </a:solidFill>
              </a:rPr>
              <a:t>&gt;</a:t>
            </a:r>
            <a:r>
              <a:rPr lang="en-US" altLang="zh-CN" dirty="0"/>
              <a:t>}</a:t>
            </a:r>
            <a:r>
              <a:rPr lang="zh-CN" altLang="zh-CN" dirty="0"/>
              <a:t>，其关系</a:t>
            </a:r>
            <a:endParaRPr lang="en-US" altLang="zh-CN" dirty="0"/>
          </a:p>
          <a:p>
            <a:pPr marL="0" indent="0">
              <a:lnSpc>
                <a:spcPct val="150000"/>
              </a:lnSpc>
              <a:buNone/>
            </a:pPr>
            <a:r>
              <a:rPr lang="en-US" altLang="zh-CN" dirty="0"/>
              <a:t>        </a:t>
            </a:r>
            <a:r>
              <a:rPr lang="zh-CN" altLang="zh-CN" dirty="0"/>
              <a:t>图如图</a:t>
            </a:r>
            <a:r>
              <a:rPr lang="en-US" altLang="zh-CN" dirty="0"/>
              <a:t>(b)</a:t>
            </a:r>
            <a:r>
              <a:rPr lang="zh-CN" altLang="zh-CN" dirty="0"/>
              <a:t>所示；</a:t>
            </a:r>
            <a:endParaRPr lang="zh-CN" altLang="zh-CN" dirty="0"/>
          </a:p>
          <a:p>
            <a:pPr marL="0" indent="0">
              <a:lnSpc>
                <a:spcPct val="150000"/>
              </a:lnSpc>
              <a:buNone/>
            </a:pPr>
            <a:r>
              <a:rPr lang="en-US" altLang="zh-CN" dirty="0"/>
              <a:t>      </a:t>
            </a:r>
            <a:endParaRPr lang="en-US" altLang="zh-CN" dirty="0"/>
          </a:p>
          <a:p>
            <a:pPr marL="0" indent="0">
              <a:lnSpc>
                <a:spcPct val="150000"/>
              </a:lnSpc>
              <a:buNone/>
            </a:pPr>
            <a:r>
              <a:rPr lang="en-US" altLang="zh-CN" dirty="0"/>
              <a:t>       s(R)</a:t>
            </a:r>
            <a:r>
              <a:rPr lang="zh-CN" altLang="zh-CN" dirty="0"/>
              <a:t>＝</a:t>
            </a:r>
            <a:r>
              <a:rPr lang="en-US" altLang="zh-CN" dirty="0"/>
              <a:t>{&lt;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&gt;,&lt;</a:t>
            </a:r>
            <a:r>
              <a:rPr lang="en-US" altLang="zh-CN" dirty="0" err="1"/>
              <a:t>c,d</a:t>
            </a:r>
            <a:r>
              <a:rPr lang="en-US" altLang="zh-CN" dirty="0"/>
              <a:t>&gt;,</a:t>
            </a:r>
            <a:endParaRPr lang="en-US" altLang="zh-CN" dirty="0"/>
          </a:p>
          <a:p>
            <a:pPr marL="0" indent="0">
              <a:lnSpc>
                <a:spcPct val="150000"/>
              </a:lnSpc>
              <a:buNone/>
            </a:pPr>
            <a:r>
              <a:rPr lang="en-US" altLang="zh-CN" dirty="0">
                <a:solidFill>
                  <a:srgbClr val="3333FF"/>
                </a:solidFill>
              </a:rPr>
              <a:t>       &lt;</a:t>
            </a:r>
            <a:r>
              <a:rPr lang="en-US" altLang="zh-CN" dirty="0" err="1">
                <a:solidFill>
                  <a:srgbClr val="3333FF"/>
                </a:solidFill>
              </a:rPr>
              <a:t>c,b</a:t>
            </a:r>
            <a:r>
              <a:rPr lang="en-US" altLang="zh-CN" dirty="0">
                <a:solidFill>
                  <a:srgbClr val="3333FF"/>
                </a:solidFill>
              </a:rPr>
              <a:t>&gt;,&lt;</a:t>
            </a:r>
            <a:r>
              <a:rPr lang="en-US" altLang="zh-CN" dirty="0" err="1">
                <a:solidFill>
                  <a:srgbClr val="3333FF"/>
                </a:solidFill>
              </a:rPr>
              <a:t>d,c</a:t>
            </a:r>
            <a:r>
              <a:rPr lang="en-US" altLang="zh-CN" dirty="0">
                <a:solidFill>
                  <a:srgbClr val="3333FF"/>
                </a:solidFill>
              </a:rPr>
              <a:t>&gt;</a:t>
            </a:r>
            <a:r>
              <a:rPr lang="en-US" altLang="zh-CN" dirty="0"/>
              <a:t>}</a:t>
            </a:r>
            <a:r>
              <a:rPr lang="zh-CN" altLang="zh-CN" dirty="0"/>
              <a:t>，其关系图如图</a:t>
            </a:r>
            <a:r>
              <a:rPr lang="en-US" altLang="zh-CN" dirty="0"/>
              <a:t>(c)</a:t>
            </a:r>
            <a:r>
              <a:rPr lang="zh-CN" altLang="zh-CN" dirty="0"/>
              <a:t>所示；</a:t>
            </a:r>
            <a:endParaRPr lang="zh-CN" altLang="zh-CN" dirty="0"/>
          </a:p>
          <a:p>
            <a:pPr marL="0" indent="0">
              <a:lnSpc>
                <a:spcPct val="150000"/>
              </a:lnSpc>
              <a:buNone/>
            </a:pPr>
            <a:r>
              <a:rPr lang="en-US" altLang="zh-CN" dirty="0"/>
              <a:t>     </a:t>
            </a:r>
            <a:endParaRPr lang="en-US" altLang="zh-CN" dirty="0"/>
          </a:p>
          <a:p>
            <a:pPr marL="0" indent="0">
              <a:lnSpc>
                <a:spcPct val="150000"/>
              </a:lnSpc>
              <a:buNone/>
            </a:pPr>
            <a:r>
              <a:rPr lang="en-US" altLang="zh-CN" dirty="0"/>
              <a:t>       t(R)</a:t>
            </a:r>
            <a:r>
              <a:rPr lang="zh-CN" altLang="zh-CN" dirty="0"/>
              <a:t>＝</a:t>
            </a:r>
            <a:r>
              <a:rPr lang="en-US" altLang="zh-CN" dirty="0"/>
              <a:t>{&lt;</a:t>
            </a:r>
            <a:r>
              <a:rPr lang="en-US" altLang="zh-CN" dirty="0" err="1"/>
              <a:t>a,b</a:t>
            </a:r>
            <a:r>
              <a:rPr lang="en-US" altLang="zh-CN" dirty="0"/>
              <a:t>&gt;,&lt;</a:t>
            </a:r>
            <a:r>
              <a:rPr lang="en-US" altLang="zh-CN" dirty="0" err="1"/>
              <a:t>b,a</a:t>
            </a:r>
            <a:r>
              <a:rPr lang="en-US" altLang="zh-CN" dirty="0"/>
              <a:t>&gt;,&lt;</a:t>
            </a:r>
            <a:r>
              <a:rPr lang="en-US" altLang="zh-CN" dirty="0" err="1"/>
              <a:t>b,c</a:t>
            </a:r>
            <a:r>
              <a:rPr lang="en-US" altLang="zh-CN" dirty="0"/>
              <a:t>&gt;,&lt;</a:t>
            </a:r>
            <a:r>
              <a:rPr lang="en-US" altLang="zh-CN" dirty="0" err="1"/>
              <a:t>c,d</a:t>
            </a:r>
            <a:r>
              <a:rPr lang="en-US" altLang="zh-CN" dirty="0"/>
              <a:t>&gt;,</a:t>
            </a:r>
            <a:endParaRPr lang="en-US" altLang="zh-CN" dirty="0"/>
          </a:p>
          <a:p>
            <a:pPr marL="0" indent="0">
              <a:lnSpc>
                <a:spcPct val="150000"/>
              </a:lnSpc>
              <a:buNone/>
            </a:pPr>
            <a:r>
              <a:rPr lang="en-US" altLang="zh-CN" dirty="0">
                <a:solidFill>
                  <a:srgbClr val="3333FF"/>
                </a:solidFill>
              </a:rPr>
              <a:t>      &lt;</a:t>
            </a:r>
            <a:r>
              <a:rPr lang="en-US" altLang="zh-CN" dirty="0" err="1">
                <a:solidFill>
                  <a:srgbClr val="3333FF"/>
                </a:solidFill>
              </a:rPr>
              <a:t>a,a</a:t>
            </a:r>
            <a:r>
              <a:rPr lang="en-US" altLang="zh-CN" dirty="0">
                <a:solidFill>
                  <a:srgbClr val="3333FF"/>
                </a:solidFill>
              </a:rPr>
              <a:t>&gt;,&lt;</a:t>
            </a:r>
            <a:r>
              <a:rPr lang="en-US" altLang="zh-CN" dirty="0" err="1">
                <a:solidFill>
                  <a:srgbClr val="3333FF"/>
                </a:solidFill>
              </a:rPr>
              <a:t>b,b</a:t>
            </a:r>
            <a:r>
              <a:rPr lang="en-US" altLang="zh-CN" dirty="0">
                <a:solidFill>
                  <a:srgbClr val="3333FF"/>
                </a:solidFill>
              </a:rPr>
              <a:t>&gt;,&lt;</a:t>
            </a:r>
            <a:r>
              <a:rPr lang="en-US" altLang="zh-CN" dirty="0" err="1">
                <a:solidFill>
                  <a:srgbClr val="3333FF"/>
                </a:solidFill>
              </a:rPr>
              <a:t>a,c</a:t>
            </a:r>
            <a:r>
              <a:rPr lang="en-US" altLang="zh-CN" dirty="0">
                <a:solidFill>
                  <a:srgbClr val="3333FF"/>
                </a:solidFill>
              </a:rPr>
              <a:t>&gt;,&lt;</a:t>
            </a:r>
            <a:r>
              <a:rPr lang="en-US" altLang="zh-CN" dirty="0" err="1">
                <a:solidFill>
                  <a:srgbClr val="3333FF"/>
                </a:solidFill>
              </a:rPr>
              <a:t>a,d</a:t>
            </a:r>
            <a:r>
              <a:rPr lang="en-US" altLang="zh-CN" dirty="0">
                <a:solidFill>
                  <a:srgbClr val="3333FF"/>
                </a:solidFill>
              </a:rPr>
              <a:t>&gt;,&lt;</a:t>
            </a:r>
            <a:r>
              <a:rPr lang="en-US" altLang="zh-CN" dirty="0" err="1">
                <a:solidFill>
                  <a:srgbClr val="3333FF"/>
                </a:solidFill>
              </a:rPr>
              <a:t>b,d</a:t>
            </a:r>
            <a:r>
              <a:rPr lang="en-US" altLang="zh-CN" dirty="0">
                <a:solidFill>
                  <a:srgbClr val="3333FF"/>
                </a:solidFill>
              </a:rPr>
              <a:t>&gt;</a:t>
            </a:r>
            <a:r>
              <a:rPr lang="en-US" altLang="zh-CN" dirty="0"/>
              <a:t>}</a:t>
            </a:r>
            <a:r>
              <a:rPr lang="zh-CN" altLang="zh-CN" dirty="0"/>
              <a:t>，</a:t>
            </a:r>
            <a:endParaRPr lang="en-US" altLang="zh-CN" dirty="0"/>
          </a:p>
          <a:p>
            <a:pPr marL="0" indent="0">
              <a:lnSpc>
                <a:spcPct val="150000"/>
              </a:lnSpc>
              <a:buNone/>
            </a:pPr>
            <a:r>
              <a:rPr lang="en-US" altLang="zh-CN" dirty="0"/>
              <a:t>        </a:t>
            </a:r>
            <a:r>
              <a:rPr lang="zh-CN" altLang="zh-CN" dirty="0"/>
              <a:t>其关系图如图</a:t>
            </a:r>
            <a:r>
              <a:rPr lang="en-US" altLang="zh-CN" dirty="0"/>
              <a:t>(</a:t>
            </a:r>
            <a:r>
              <a:rPr lang="zh-CN" altLang="zh-CN" dirty="0"/>
              <a:t>ｄ</a:t>
            </a:r>
            <a:r>
              <a:rPr lang="en-US" altLang="zh-CN" dirty="0"/>
              <a:t>)</a:t>
            </a:r>
            <a:r>
              <a:rPr lang="zh-CN" altLang="zh-CN" dirty="0"/>
              <a:t>所示。</a:t>
            </a:r>
            <a:endParaRPr lang="zh-CN" altLang="zh-CN" dirty="0"/>
          </a:p>
        </p:txBody>
      </p:sp>
      <p:sp>
        <p:nvSpPr>
          <p:cNvPr id="54" name="Rectangle 2"/>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4.30 </a:t>
            </a:r>
            <a:r>
              <a:rPr lang="zh-CN" altLang="en-US" dirty="0"/>
              <a:t>（续）</a:t>
            </a:r>
            <a:endParaRPr lang="zh-CN" altLang="en-US" dirty="0"/>
          </a:p>
        </p:txBody>
      </p:sp>
      <p:pic>
        <p:nvPicPr>
          <p:cNvPr id="4" name="图片 3"/>
          <p:cNvPicPr>
            <a:picLocks noChangeAspect="1"/>
          </p:cNvPicPr>
          <p:nvPr/>
        </p:nvPicPr>
        <p:blipFill>
          <a:blip r:embed="rId1" cstate="print"/>
          <a:stretch>
            <a:fillRect/>
          </a:stretch>
        </p:blipFill>
        <p:spPr>
          <a:xfrm>
            <a:off x="7131521" y="2030882"/>
            <a:ext cx="4730985" cy="1223251"/>
          </a:xfrm>
          <a:prstGeom prst="rect">
            <a:avLst/>
          </a:prstGeom>
        </p:spPr>
      </p:pic>
      <p:pic>
        <p:nvPicPr>
          <p:cNvPr id="5" name="图片 4"/>
          <p:cNvPicPr>
            <a:picLocks noChangeAspect="1"/>
          </p:cNvPicPr>
          <p:nvPr/>
        </p:nvPicPr>
        <p:blipFill>
          <a:blip r:embed="rId2" cstate="print"/>
          <a:stretch>
            <a:fillRect/>
          </a:stretch>
        </p:blipFill>
        <p:spPr>
          <a:xfrm>
            <a:off x="7394575" y="3597100"/>
            <a:ext cx="4578586" cy="1155424"/>
          </a:xfrm>
          <a:prstGeom prst="rect">
            <a:avLst/>
          </a:prstGeom>
        </p:spPr>
      </p:pic>
      <p:pic>
        <p:nvPicPr>
          <p:cNvPr id="6" name="图片 5"/>
          <p:cNvPicPr>
            <a:picLocks noChangeAspect="1"/>
          </p:cNvPicPr>
          <p:nvPr/>
        </p:nvPicPr>
        <p:blipFill>
          <a:blip r:embed="rId3" cstate="print"/>
          <a:stretch>
            <a:fillRect/>
          </a:stretch>
        </p:blipFill>
        <p:spPr>
          <a:xfrm>
            <a:off x="7397962" y="4982470"/>
            <a:ext cx="4603774" cy="1400075"/>
          </a:xfrm>
          <a:prstGeom prst="rect">
            <a:avLst/>
          </a:prstGeom>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09731">
                                            <p:txEl>
                                              <p:pRg st="0" end="0"/>
                                            </p:txEl>
                                          </p:spTgt>
                                        </p:tgtEl>
                                        <p:attrNameLst>
                                          <p:attrName>style.visibility</p:attrName>
                                        </p:attrNameLst>
                                      </p:cBhvr>
                                      <p:to>
                                        <p:strVal val="visible"/>
                                      </p:to>
                                    </p:set>
                                    <p:anim calcmode="lin" valueType="num">
                                      <p:cBhvr additive="base">
                                        <p:cTn id="7" dur="500" fill="hold"/>
                                        <p:tgtEl>
                                          <p:spTgt spid="1609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97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09731">
                                            <p:txEl>
                                              <p:pRg st="1" end="1"/>
                                            </p:txEl>
                                          </p:spTgt>
                                        </p:tgtEl>
                                        <p:attrNameLst>
                                          <p:attrName>style.visibility</p:attrName>
                                        </p:attrNameLst>
                                      </p:cBhvr>
                                      <p:to>
                                        <p:strVal val="visible"/>
                                      </p:to>
                                    </p:set>
                                    <p:anim calcmode="lin" valueType="num">
                                      <p:cBhvr additive="base">
                                        <p:cTn id="11" dur="500" fill="hold"/>
                                        <p:tgtEl>
                                          <p:spTgt spid="16097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0973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09731">
                                            <p:txEl>
                                              <p:pRg st="2" end="2"/>
                                            </p:txEl>
                                          </p:spTgt>
                                        </p:tgtEl>
                                        <p:attrNameLst>
                                          <p:attrName>style.visibility</p:attrName>
                                        </p:attrNameLst>
                                      </p:cBhvr>
                                      <p:to>
                                        <p:strVal val="visible"/>
                                      </p:to>
                                    </p:set>
                                    <p:anim calcmode="lin" valueType="num">
                                      <p:cBhvr additive="base">
                                        <p:cTn id="15" dur="500" fill="hold"/>
                                        <p:tgtEl>
                                          <p:spTgt spid="160973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097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609731">
                                            <p:txEl>
                                              <p:pRg st="3" end="3"/>
                                            </p:txEl>
                                          </p:spTgt>
                                        </p:tgtEl>
                                        <p:attrNameLst>
                                          <p:attrName>style.visibility</p:attrName>
                                        </p:attrNameLst>
                                      </p:cBhvr>
                                      <p:to>
                                        <p:strVal val="visible"/>
                                      </p:to>
                                    </p:set>
                                    <p:anim calcmode="lin" valueType="num">
                                      <p:cBhvr additive="base">
                                        <p:cTn id="26" dur="500" fill="hold"/>
                                        <p:tgtEl>
                                          <p:spTgt spid="1609731">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609731">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609731">
                                            <p:txEl>
                                              <p:pRg st="4" end="4"/>
                                            </p:txEl>
                                          </p:spTgt>
                                        </p:tgtEl>
                                        <p:attrNameLst>
                                          <p:attrName>style.visibility</p:attrName>
                                        </p:attrNameLst>
                                      </p:cBhvr>
                                      <p:to>
                                        <p:strVal val="visible"/>
                                      </p:to>
                                    </p:set>
                                    <p:anim calcmode="lin" valueType="num">
                                      <p:cBhvr additive="base">
                                        <p:cTn id="30" dur="500" fill="hold"/>
                                        <p:tgtEl>
                                          <p:spTgt spid="1609731">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097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609731">
                                            <p:txEl>
                                              <p:pRg st="5" end="5"/>
                                            </p:txEl>
                                          </p:spTgt>
                                        </p:tgtEl>
                                        <p:attrNameLst>
                                          <p:attrName>style.visibility</p:attrName>
                                        </p:attrNameLst>
                                      </p:cBhvr>
                                      <p:to>
                                        <p:strVal val="visible"/>
                                      </p:to>
                                    </p:set>
                                    <p:anim calcmode="lin" valueType="num">
                                      <p:cBhvr additive="base">
                                        <p:cTn id="36" dur="500" fill="hold"/>
                                        <p:tgtEl>
                                          <p:spTgt spid="1609731">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6097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randombar(horizontal)">
                                      <p:cBhvr>
                                        <p:cTn id="42" dur="500"/>
                                        <p:tgtEl>
                                          <p:spTgt spid="5"/>
                                        </p:tgtEl>
                                      </p:cBhvr>
                                    </p:animEffect>
                                  </p:childTnLst>
                                </p:cTn>
                              </p:par>
                              <p:par>
                                <p:cTn id="43" presetID="2" presetClass="entr" presetSubtype="4" fill="hold" grpId="0" nodeType="withEffect">
                                  <p:stCondLst>
                                    <p:cond delay="0"/>
                                  </p:stCondLst>
                                  <p:childTnLst>
                                    <p:set>
                                      <p:cBhvr>
                                        <p:cTn id="44" dur="1" fill="hold">
                                          <p:stCondLst>
                                            <p:cond delay="0"/>
                                          </p:stCondLst>
                                        </p:cTn>
                                        <p:tgtEl>
                                          <p:spTgt spid="1609731">
                                            <p:txEl>
                                              <p:pRg st="6" end="6"/>
                                            </p:txEl>
                                          </p:spTgt>
                                        </p:tgtEl>
                                        <p:attrNameLst>
                                          <p:attrName>style.visibility</p:attrName>
                                        </p:attrNameLst>
                                      </p:cBhvr>
                                      <p:to>
                                        <p:strVal val="visible"/>
                                      </p:to>
                                    </p:set>
                                    <p:anim calcmode="lin" valueType="num">
                                      <p:cBhvr additive="base">
                                        <p:cTn id="45" dur="500" fill="hold"/>
                                        <p:tgtEl>
                                          <p:spTgt spid="1609731">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09731">
                                            <p:txEl>
                                              <p:pRg st="6" end="6"/>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609731">
                                            <p:txEl>
                                              <p:pRg st="7" end="7"/>
                                            </p:txEl>
                                          </p:spTgt>
                                        </p:tgtEl>
                                        <p:attrNameLst>
                                          <p:attrName>style.visibility</p:attrName>
                                        </p:attrNameLst>
                                      </p:cBhvr>
                                      <p:to>
                                        <p:strVal val="visible"/>
                                      </p:to>
                                    </p:set>
                                    <p:anim calcmode="lin" valueType="num">
                                      <p:cBhvr additive="base">
                                        <p:cTn id="49" dur="500" fill="hold"/>
                                        <p:tgtEl>
                                          <p:spTgt spid="160973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09731">
                                            <p:txEl>
                                              <p:pRg st="7" end="7"/>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609731">
                                            <p:txEl>
                                              <p:pRg st="8" end="8"/>
                                            </p:txEl>
                                          </p:spTgt>
                                        </p:tgtEl>
                                        <p:attrNameLst>
                                          <p:attrName>style.visibility</p:attrName>
                                        </p:attrNameLst>
                                      </p:cBhvr>
                                      <p:to>
                                        <p:strVal val="visible"/>
                                      </p:to>
                                    </p:set>
                                    <p:anim calcmode="lin" valueType="num">
                                      <p:cBhvr additive="base">
                                        <p:cTn id="53" dur="500" fill="hold"/>
                                        <p:tgtEl>
                                          <p:spTgt spid="1609731">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0973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randombar(horizontal)">
                                      <p:cBhvr>
                                        <p:cTn id="5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731" grpId="0" uiExpand="1"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3" name="Rectangle 2"/>
          <p:cNvSpPr>
            <a:spLocks noGrp="1" noChangeArrowheads="1"/>
          </p:cNvSpPr>
          <p:nvPr>
            <p:ph type="title"/>
          </p:nvPr>
        </p:nvSpPr>
        <p:spPr/>
        <p:txBody>
          <a:bodyPr/>
          <a:lstStyle/>
          <a:p>
            <a:pPr eaLnBrk="1" hangingPunct="1"/>
            <a:r>
              <a:rPr lang="zh-CN" altLang="en-US" dirty="0"/>
              <a:t>解题小贴士</a:t>
            </a:r>
            <a:endParaRPr lang="zh-CN" altLang="en-US" dirty="0"/>
          </a:p>
        </p:txBody>
      </p:sp>
      <p:sp>
        <p:nvSpPr>
          <p:cNvPr id="6" name="Text Box 556"/>
          <p:cNvSpPr txBox="1">
            <a:spLocks noChangeArrowheads="1"/>
          </p:cNvSpPr>
          <p:nvPr/>
        </p:nvSpPr>
        <p:spPr bwMode="auto">
          <a:xfrm>
            <a:off x="422275" y="1296194"/>
            <a:ext cx="11353800" cy="4267200"/>
          </a:xfrm>
          <a:prstGeom prst="rect">
            <a:avLst/>
          </a:prstGeom>
          <a:solidFill>
            <a:srgbClr val="D9D9D9"/>
          </a:solidFill>
          <a:ln w="9525">
            <a:solidFill>
              <a:srgbClr val="000000"/>
            </a:solidFill>
            <a:miter lim="800000"/>
          </a:ln>
        </p:spPr>
        <p:txBody>
          <a:bodyPr rot="0" vert="horz" wrap="square" lIns="91440" tIns="45720" rIns="91440" bIns="45720" anchor="t" anchorCtr="0" upright="1">
            <a:noAutofit/>
          </a:bodyPr>
          <a:lstStyle/>
          <a:p>
            <a:pPr algn="just">
              <a:lnSpc>
                <a:spcPct val="150000"/>
              </a:lnSpc>
              <a:spcAft>
                <a:spcPts val="0"/>
              </a:spcAft>
            </a:pPr>
            <a:r>
              <a:rPr lang="zh-CN" b="1" kern="100" dirty="0">
                <a:solidFill>
                  <a:srgbClr val="C00000"/>
                </a:solidFill>
                <a:effectLst/>
                <a:latin typeface="+mn-ea"/>
                <a:cs typeface="宋体" panose="02010600030101010101" pitchFamily="2" charset="-122"/>
              </a:rPr>
              <a:t>解题小贴士—利用</a:t>
            </a:r>
            <a:r>
              <a:rPr lang="en-US" b="1" kern="1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的关系图</a:t>
            </a:r>
            <a:r>
              <a:rPr lang="en-US" b="1" kern="100" dirty="0">
                <a:solidFill>
                  <a:srgbClr val="C00000"/>
                </a:solidFill>
                <a:effectLst/>
                <a:latin typeface="+mn-ea"/>
                <a:cs typeface="宋体" panose="02010600030101010101" pitchFamily="2" charset="-122"/>
              </a:rPr>
              <a:t>G</a:t>
            </a:r>
            <a:r>
              <a:rPr lang="en-US" b="1" kern="100" baseline="-25000" dirty="0">
                <a:solidFill>
                  <a:srgbClr val="C00000"/>
                </a:solidFill>
                <a:effectLst/>
                <a:latin typeface="+mn-ea"/>
                <a:cs typeface="宋体" panose="02010600030101010101" pitchFamily="2" charset="-122"/>
              </a:rPr>
              <a:t>R</a:t>
            </a:r>
            <a:r>
              <a:rPr lang="zh-CN" b="1" kern="100" dirty="0">
                <a:solidFill>
                  <a:srgbClr val="C00000"/>
                </a:solidFill>
                <a:effectLst/>
                <a:latin typeface="+mn-ea"/>
                <a:cs typeface="宋体" panose="02010600030101010101" pitchFamily="2" charset="-122"/>
              </a:rPr>
              <a:t>求关系自反</a:t>
            </a:r>
            <a:r>
              <a:rPr lang="en-US" b="1" kern="100" dirty="0">
                <a:solidFill>
                  <a:srgbClr val="C00000"/>
                </a:solidFill>
                <a:effectLst/>
                <a:latin typeface="+mn-ea"/>
                <a:cs typeface="宋体" panose="02010600030101010101" pitchFamily="2" charset="-122"/>
              </a:rPr>
              <a:t>/</a:t>
            </a:r>
            <a:r>
              <a:rPr lang="zh-CN" b="1" kern="100" dirty="0">
                <a:solidFill>
                  <a:srgbClr val="C00000"/>
                </a:solidFill>
                <a:effectLst/>
                <a:latin typeface="+mn-ea"/>
                <a:cs typeface="宋体" panose="02010600030101010101" pitchFamily="2" charset="-122"/>
              </a:rPr>
              <a:t>对称</a:t>
            </a:r>
            <a:r>
              <a:rPr lang="en-US" b="1" kern="100" dirty="0">
                <a:solidFill>
                  <a:srgbClr val="C00000"/>
                </a:solidFill>
                <a:effectLst/>
                <a:latin typeface="+mn-ea"/>
                <a:cs typeface="宋体" panose="02010600030101010101" pitchFamily="2" charset="-122"/>
              </a:rPr>
              <a:t>/</a:t>
            </a:r>
            <a:r>
              <a:rPr lang="zh-CN" b="1" kern="100" dirty="0">
                <a:solidFill>
                  <a:srgbClr val="C00000"/>
                </a:solidFill>
                <a:effectLst/>
                <a:latin typeface="+mn-ea"/>
                <a:cs typeface="宋体" panose="02010600030101010101" pitchFamily="2" charset="-122"/>
              </a:rPr>
              <a:t>传递闭包的方法</a:t>
            </a:r>
            <a:endParaRPr lang="zh-CN" b="1" kern="100" dirty="0">
              <a:solidFill>
                <a:srgbClr val="C00000"/>
              </a:solidFill>
              <a:effectLst/>
              <a:latin typeface="+mn-ea"/>
              <a:cs typeface="宋体" panose="02010600030101010101" pitchFamily="2" charset="-122"/>
            </a:endParaRPr>
          </a:p>
          <a:p>
            <a:pPr indent="266700" algn="just">
              <a:lnSpc>
                <a:spcPct val="150000"/>
              </a:lnSpc>
              <a:spcAft>
                <a:spcPts val="0"/>
              </a:spcAft>
            </a:pPr>
            <a:r>
              <a:rPr lang="zh-CN" b="1" kern="0" dirty="0">
                <a:effectLst/>
                <a:latin typeface="+mn-ea"/>
                <a:cs typeface="宋体" panose="02010600030101010101" pitchFamily="2" charset="-122"/>
              </a:rPr>
              <a:t>（</a:t>
            </a:r>
            <a:r>
              <a:rPr lang="en-US" b="1" kern="0" dirty="0">
                <a:effectLst/>
                <a:latin typeface="+mn-ea"/>
                <a:cs typeface="宋体" panose="02010600030101010101" pitchFamily="2" charset="-122"/>
              </a:rPr>
              <a:t>1</a:t>
            </a:r>
            <a:r>
              <a:rPr lang="zh-CN" b="1" kern="0" dirty="0">
                <a:effectLst/>
                <a:latin typeface="+mn-ea"/>
                <a:cs typeface="宋体" panose="02010600030101010101" pitchFamily="2" charset="-122"/>
              </a:rPr>
              <a:t>）在</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中没有自环的结点处加上自环，可得</a:t>
            </a:r>
            <a:r>
              <a:rPr lang="en-US" b="1" kern="100" dirty="0">
                <a:effectLst/>
                <a:latin typeface="+mn-ea"/>
                <a:cs typeface="宋体" panose="02010600030101010101" pitchFamily="2" charset="-122"/>
              </a:rPr>
              <a:t>r(R)</a:t>
            </a:r>
            <a:r>
              <a:rPr lang="zh-CN" b="1" kern="100" dirty="0">
                <a:effectLst/>
                <a:latin typeface="+mn-ea"/>
                <a:cs typeface="宋体" panose="02010600030101010101" pitchFamily="2" charset="-122"/>
              </a:rPr>
              <a:t>的关系图；</a:t>
            </a:r>
            <a:endParaRPr lang="zh-CN" b="1" kern="100" dirty="0">
              <a:effectLst/>
              <a:latin typeface="+mn-ea"/>
              <a:cs typeface="宋体" panose="02010600030101010101" pitchFamily="2" charset="-122"/>
            </a:endParaRPr>
          </a:p>
          <a:p>
            <a:pPr indent="266700"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2</a:t>
            </a:r>
            <a:r>
              <a:rPr lang="zh-CN" b="1" kern="100" dirty="0">
                <a:effectLst/>
                <a:latin typeface="+mn-ea"/>
                <a:cs typeface="宋体" panose="02010600030101010101" pitchFamily="2" charset="-122"/>
              </a:rPr>
              <a:t>）</a:t>
            </a:r>
            <a:r>
              <a:rPr lang="zh-CN" b="1" kern="0" dirty="0">
                <a:effectLst/>
                <a:latin typeface="+mn-ea"/>
                <a:cs typeface="宋体" panose="02010600030101010101" pitchFamily="2" charset="-122"/>
              </a:rPr>
              <a:t>在</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中将每条单向边改成双向边，可得</a:t>
            </a:r>
            <a:r>
              <a:rPr lang="en-US" b="1" kern="100" dirty="0">
                <a:effectLst/>
                <a:latin typeface="+mn-ea"/>
                <a:cs typeface="宋体" panose="02010600030101010101" pitchFamily="2" charset="-122"/>
              </a:rPr>
              <a:t>s</a:t>
            </a:r>
            <a:r>
              <a:rPr lang="en-US" b="1" kern="100" dirty="0">
                <a:latin typeface="+mn-ea"/>
                <a:cs typeface="宋体" panose="02010600030101010101" pitchFamily="2" charset="-122"/>
              </a:rPr>
              <a:t>(</a:t>
            </a:r>
            <a:r>
              <a:rPr lang="en-US" b="1" kern="100" dirty="0">
                <a:effectLst/>
                <a:latin typeface="+mn-ea"/>
                <a:cs typeface="宋体" panose="02010600030101010101" pitchFamily="2" charset="-122"/>
              </a:rPr>
              <a:t>R</a:t>
            </a:r>
            <a:r>
              <a:rPr lang="en-US" b="1" kern="100" dirty="0">
                <a:latin typeface="+mn-ea"/>
                <a:cs typeface="宋体" panose="02010600030101010101" pitchFamily="2" charset="-122"/>
              </a:rPr>
              <a:t>)</a:t>
            </a:r>
            <a:r>
              <a:rPr lang="zh-CN" b="1" kern="100" dirty="0">
                <a:effectLst/>
                <a:latin typeface="+mn-ea"/>
                <a:cs typeface="宋体" panose="02010600030101010101" pitchFamily="2" charset="-122"/>
              </a:rPr>
              <a:t>的关系图；</a:t>
            </a:r>
            <a:endParaRPr lang="zh-CN" b="1" kern="100" dirty="0">
              <a:effectLst/>
              <a:latin typeface="+mn-ea"/>
              <a:cs typeface="宋体" panose="02010600030101010101" pitchFamily="2" charset="-122"/>
            </a:endParaRPr>
          </a:p>
          <a:p>
            <a:pPr indent="266700" algn="just">
              <a:lnSpc>
                <a:spcPct val="150000"/>
              </a:lnSpc>
              <a:spcAft>
                <a:spcPts val="0"/>
              </a:spcAft>
            </a:pPr>
            <a:r>
              <a:rPr lang="zh-CN" b="1" kern="100" dirty="0">
                <a:effectLst/>
                <a:latin typeface="+mn-ea"/>
                <a:cs typeface="宋体" panose="02010600030101010101" pitchFamily="2" charset="-122"/>
              </a:rPr>
              <a:t>（</a:t>
            </a:r>
            <a:r>
              <a:rPr lang="en-US" b="1" kern="100" dirty="0">
                <a:effectLst/>
                <a:latin typeface="+mn-ea"/>
                <a:cs typeface="宋体" panose="02010600030101010101" pitchFamily="2" charset="-122"/>
              </a:rPr>
              <a:t>3</a:t>
            </a:r>
            <a:r>
              <a:rPr lang="zh-CN" b="1" kern="100" dirty="0">
                <a:effectLst/>
                <a:latin typeface="+mn-ea"/>
                <a:cs typeface="宋体" panose="02010600030101010101" pitchFamily="2" charset="-122"/>
              </a:rPr>
              <a:t>）</a:t>
            </a:r>
            <a:r>
              <a:rPr lang="zh-CN" b="1" kern="0" dirty="0">
                <a:effectLst/>
                <a:latin typeface="+mn-ea"/>
                <a:cs typeface="宋体" panose="02010600030101010101" pitchFamily="2" charset="-122"/>
              </a:rPr>
              <a:t>在</a:t>
            </a:r>
            <a:r>
              <a:rPr lang="en-US" b="1" kern="100" dirty="0">
                <a:effectLst/>
                <a:latin typeface="+mn-ea"/>
                <a:cs typeface="宋体" panose="02010600030101010101" pitchFamily="2" charset="-122"/>
              </a:rPr>
              <a:t>G</a:t>
            </a:r>
            <a:r>
              <a:rPr lang="en-US" b="1" kern="100" baseline="-25000" dirty="0">
                <a:effectLst/>
                <a:latin typeface="+mn-ea"/>
                <a:cs typeface="宋体" panose="02010600030101010101" pitchFamily="2" charset="-122"/>
              </a:rPr>
              <a:t>R</a:t>
            </a:r>
            <a:r>
              <a:rPr lang="zh-CN" b="1" kern="100" dirty="0">
                <a:effectLst/>
                <a:latin typeface="+mn-ea"/>
                <a:cs typeface="宋体" panose="02010600030101010101" pitchFamily="2" charset="-122"/>
              </a:rPr>
              <a:t>中从每个结点出发，找到</a:t>
            </a:r>
            <a:r>
              <a:rPr lang="zh-CN" b="1" kern="100" dirty="0">
                <a:solidFill>
                  <a:srgbClr val="FF0000"/>
                </a:solidFill>
                <a:effectLst/>
                <a:latin typeface="+mn-ea"/>
                <a:cs typeface="宋体" panose="02010600030101010101" pitchFamily="2" charset="-122"/>
              </a:rPr>
              <a:t>任意一条长度为</a:t>
            </a:r>
            <a:r>
              <a:rPr lang="en-US" b="1" kern="100" dirty="0">
                <a:solidFill>
                  <a:srgbClr val="FF0000"/>
                </a:solidFill>
                <a:effectLst/>
                <a:latin typeface="+mn-ea"/>
                <a:cs typeface="宋体" panose="02010600030101010101" pitchFamily="2" charset="-122"/>
              </a:rPr>
              <a:t>2</a:t>
            </a:r>
            <a:r>
              <a:rPr lang="zh-CN" b="1" kern="100" dirty="0">
                <a:effectLst/>
                <a:latin typeface="+mn-ea"/>
                <a:cs typeface="宋体" panose="02010600030101010101" pitchFamily="2" charset="-122"/>
              </a:rPr>
              <a:t>的路径的终点，如果该结点到其终点没有边相连，就加上此边，可得</a:t>
            </a:r>
            <a:r>
              <a:rPr lang="en-US" b="1" kern="100" dirty="0">
                <a:effectLst/>
                <a:latin typeface="+mn-ea"/>
                <a:cs typeface="宋体" panose="02010600030101010101" pitchFamily="2" charset="-122"/>
              </a:rPr>
              <a:t>t(R</a:t>
            </a:r>
            <a:r>
              <a:rPr lang="en-US" b="1" kern="100" dirty="0">
                <a:latin typeface="+mn-ea"/>
                <a:cs typeface="宋体" panose="02010600030101010101" pitchFamily="2" charset="-122"/>
              </a:rPr>
              <a:t>)</a:t>
            </a:r>
            <a:r>
              <a:rPr lang="zh-CN" b="1" kern="100" dirty="0">
                <a:effectLst/>
                <a:latin typeface="+mn-ea"/>
                <a:cs typeface="宋体" panose="02010600030101010101" pitchFamily="2" charset="-122"/>
              </a:rPr>
              <a:t>的关系图。</a:t>
            </a:r>
            <a:endParaRPr lang="zh-CN" b="1" kern="100" dirty="0">
              <a:effectLst/>
              <a:latin typeface="+mn-ea"/>
              <a:cs typeface="宋体" panose="02010600030101010101" pitchFamily="2" charset="-122"/>
            </a:endParaRPr>
          </a:p>
          <a:p>
            <a:pPr indent="266700" algn="just">
              <a:lnSpc>
                <a:spcPct val="150000"/>
              </a:lnSpc>
              <a:spcAft>
                <a:spcPts val="0"/>
              </a:spcAft>
            </a:pPr>
            <a:r>
              <a:rPr lang="zh-CN" b="1" kern="100" dirty="0">
                <a:effectLst/>
                <a:latin typeface="+mn-ea"/>
                <a:cs typeface="宋体" panose="02010600030101010101" pitchFamily="2" charset="-122"/>
              </a:rPr>
              <a:t>将得到的关系图分别转化为集合表示，即得</a:t>
            </a:r>
            <a:r>
              <a:rPr lang="en-US" b="1" kern="100" dirty="0">
                <a:effectLst/>
                <a:latin typeface="+mn-ea"/>
                <a:cs typeface="宋体" panose="02010600030101010101" pitchFamily="2" charset="-122"/>
              </a:rPr>
              <a:t>R</a:t>
            </a:r>
            <a:r>
              <a:rPr lang="zh-CN" b="1" kern="100" dirty="0">
                <a:effectLst/>
                <a:latin typeface="+mn-ea"/>
                <a:cs typeface="宋体" panose="02010600030101010101" pitchFamily="2" charset="-122"/>
              </a:rPr>
              <a:t>的自反</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对称</a:t>
            </a:r>
            <a:r>
              <a:rPr lang="en-US" b="1" kern="100" dirty="0">
                <a:effectLst/>
                <a:latin typeface="+mn-ea"/>
                <a:cs typeface="宋体" panose="02010600030101010101" pitchFamily="2" charset="-122"/>
              </a:rPr>
              <a:t>/</a:t>
            </a:r>
            <a:r>
              <a:rPr lang="zh-CN" b="1" kern="100" dirty="0">
                <a:effectLst/>
                <a:latin typeface="+mn-ea"/>
                <a:cs typeface="宋体" panose="02010600030101010101" pitchFamily="2" charset="-122"/>
              </a:rPr>
              <a:t>传递闭包。</a:t>
            </a:r>
            <a:endParaRPr lang="zh-CN" b="1" kern="100" dirty="0">
              <a:effectLst/>
              <a:latin typeface="+mn-ea"/>
              <a:cs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3826" name="Rectangle 2"/>
          <p:cNvSpPr>
            <a:spLocks noGrp="1" noChangeArrowheads="1"/>
          </p:cNvSpPr>
          <p:nvPr>
            <p:ph type="body" idx="1"/>
          </p:nvPr>
        </p:nvSpPr>
        <p:spPr>
          <a:xfrm>
            <a:off x="384175" y="1143794"/>
            <a:ext cx="10356565" cy="2971800"/>
          </a:xfrm>
        </p:spPr>
        <p:txBody>
          <a:bodyPr/>
          <a:lstStyle/>
          <a:p>
            <a:pPr marL="533400" indent="-533400">
              <a:lnSpc>
                <a:spcPct val="150000"/>
              </a:lnSpc>
              <a:buNone/>
            </a:pPr>
            <a:r>
              <a:rPr lang="zh-CN" altLang="en-US" dirty="0">
                <a:solidFill>
                  <a:srgbClr val="C00000"/>
                </a:solidFill>
              </a:rPr>
              <a:t>定理</a:t>
            </a:r>
            <a:r>
              <a:rPr lang="en-US" altLang="zh-CN" dirty="0">
                <a:solidFill>
                  <a:srgbClr val="C00000"/>
                </a:solidFill>
              </a:rPr>
              <a:t>4.10    </a:t>
            </a:r>
            <a:r>
              <a:rPr lang="zh-CN" altLang="en-US" dirty="0"/>
              <a:t>设</a:t>
            </a:r>
            <a:r>
              <a:rPr lang="en-US" altLang="zh-CN" dirty="0"/>
              <a:t>R</a:t>
            </a:r>
            <a:r>
              <a:rPr lang="zh-CN" altLang="en-US" dirty="0"/>
              <a:t>是集合</a:t>
            </a:r>
            <a:r>
              <a:rPr lang="en-US" altLang="zh-CN" dirty="0"/>
              <a:t>A</a:t>
            </a:r>
            <a:r>
              <a:rPr lang="zh-CN" altLang="en-US" dirty="0"/>
              <a:t>上的二元关系，则：</a:t>
            </a:r>
            <a:endParaRPr lang="zh-CN" altLang="en-US" dirty="0"/>
          </a:p>
          <a:p>
            <a:pPr marL="533400" indent="-533400">
              <a:lnSpc>
                <a:spcPct val="150000"/>
              </a:lnSpc>
              <a:buNone/>
            </a:pPr>
            <a:r>
              <a:rPr lang="zh-CN" altLang="en-US" dirty="0"/>
              <a:t>（</a:t>
            </a:r>
            <a:r>
              <a:rPr lang="en-US" altLang="zh-CN" dirty="0"/>
              <a:t>1</a:t>
            </a:r>
            <a:r>
              <a:rPr lang="zh-CN" altLang="en-US" dirty="0"/>
              <a:t>）</a:t>
            </a:r>
            <a:r>
              <a:rPr lang="en-US" altLang="zh-CN" dirty="0"/>
              <a:t>r(R)</a:t>
            </a:r>
            <a:r>
              <a:rPr lang="zh-CN" altLang="en-US" dirty="0"/>
              <a:t>＝</a:t>
            </a:r>
            <a:r>
              <a:rPr lang="en-US" altLang="zh-CN" dirty="0"/>
              <a:t>R∪I</a:t>
            </a:r>
            <a:r>
              <a:rPr lang="en-US" altLang="zh-CN" baseline="-25000" dirty="0"/>
              <a:t>A</a:t>
            </a:r>
            <a:r>
              <a:rPr lang="zh-CN" altLang="en-US" dirty="0"/>
              <a:t>。</a:t>
            </a:r>
            <a:endParaRPr lang="zh-CN" altLang="en-US" dirty="0"/>
          </a:p>
          <a:p>
            <a:pPr marL="533400" indent="-533400">
              <a:lnSpc>
                <a:spcPct val="150000"/>
              </a:lnSpc>
              <a:buNone/>
            </a:pPr>
            <a:r>
              <a:rPr lang="zh-CN" altLang="en-US" dirty="0"/>
              <a:t>（</a:t>
            </a:r>
            <a:r>
              <a:rPr lang="en-US" altLang="zh-CN" dirty="0"/>
              <a:t>2</a:t>
            </a:r>
            <a:r>
              <a:rPr lang="zh-CN" altLang="en-US" dirty="0"/>
              <a:t>）</a:t>
            </a:r>
            <a:r>
              <a:rPr lang="en-US" altLang="zh-CN" dirty="0"/>
              <a:t>s(R)</a:t>
            </a:r>
            <a:r>
              <a:rPr lang="zh-CN" altLang="en-US" dirty="0"/>
              <a:t>＝</a:t>
            </a:r>
            <a:r>
              <a:rPr lang="en-US" altLang="zh-CN" dirty="0"/>
              <a:t>R∪R</a:t>
            </a:r>
            <a:r>
              <a:rPr lang="en-US" altLang="zh-CN" baseline="30000" dirty="0"/>
              <a:t>-1</a:t>
            </a:r>
            <a:r>
              <a:rPr lang="zh-CN" altLang="en-US" dirty="0" smtClean="0"/>
              <a:t>。</a:t>
            </a:r>
            <a:endParaRPr lang="zh-CN" altLang="en-US" dirty="0"/>
          </a:p>
        </p:txBody>
      </p:sp>
      <p:sp>
        <p:nvSpPr>
          <p:cNvPr id="283654" name="Rectangle 5"/>
          <p:cNvSpPr>
            <a:spLocks noGrp="1" noChangeArrowheads="1"/>
          </p:cNvSpPr>
          <p:nvPr>
            <p:ph type="title"/>
          </p:nvPr>
        </p:nvSpPr>
        <p:spPr/>
        <p:txBody>
          <a:bodyPr/>
          <a:lstStyle/>
          <a:p>
            <a:pPr eaLnBrk="1" hangingPunct="1"/>
            <a:r>
              <a:rPr lang="zh-CN" altLang="en-US" dirty="0"/>
              <a:t>定理</a:t>
            </a:r>
            <a:r>
              <a:rPr lang="en-US" altLang="zh-CN" dirty="0"/>
              <a:t>4.10</a:t>
            </a:r>
            <a:endParaRPr lang="en-US" altLang="zh-CN" sz="3200" dirty="0"/>
          </a:p>
        </p:txBody>
      </p:sp>
    </p:spTree>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5874" name="Rectangle 2"/>
          <p:cNvSpPr>
            <a:spLocks noGrp="1" noChangeArrowheads="1"/>
          </p:cNvSpPr>
          <p:nvPr>
            <p:ph type="body" idx="1"/>
          </p:nvPr>
        </p:nvSpPr>
        <p:spPr>
          <a:xfrm>
            <a:off x="574993" y="1001133"/>
            <a:ext cx="11239182" cy="4790861"/>
          </a:xfrm>
        </p:spPr>
        <p:txBody>
          <a:bodyPr>
            <a:normAutofit/>
          </a:bodyPr>
          <a:lstStyle/>
          <a:p>
            <a:pPr marL="533400" indent="-533400">
              <a:spcBef>
                <a:spcPct val="0"/>
              </a:spcBef>
              <a:buNone/>
            </a:pPr>
            <a:r>
              <a:rPr lang="en-US" altLang="zh-CN" sz="2500" dirty="0"/>
              <a:t>(1)  </a:t>
            </a:r>
            <a:r>
              <a:rPr lang="zh-CN" altLang="en-US" sz="2500" dirty="0"/>
              <a:t>根据自反闭包的定义直接证明，即证</a:t>
            </a:r>
            <a:r>
              <a:rPr lang="en-US" altLang="zh-CN" sz="2500" dirty="0"/>
              <a:t>R</a:t>
            </a:r>
            <a:r>
              <a:rPr lang="en-US" altLang="en-US" sz="2500" dirty="0"/>
              <a:t>∪</a:t>
            </a:r>
            <a:r>
              <a:rPr lang="en-US" altLang="zh-CN" sz="2500" dirty="0"/>
              <a:t>I</a:t>
            </a:r>
            <a:r>
              <a:rPr lang="en-US" altLang="zh-CN" sz="2500" baseline="-25000" dirty="0"/>
              <a:t>A</a:t>
            </a:r>
            <a:r>
              <a:rPr lang="zh-CN" altLang="en-US" sz="2500" dirty="0"/>
              <a:t>是自反闭包。</a:t>
            </a:r>
            <a:endParaRPr lang="zh-CN" altLang="en-US" sz="2500" dirty="0"/>
          </a:p>
          <a:p>
            <a:pPr marL="533400" indent="-533400">
              <a:spcBef>
                <a:spcPct val="0"/>
              </a:spcBef>
              <a:buNone/>
            </a:pPr>
            <a:r>
              <a:rPr lang="en-US" altLang="zh-CN" sz="2500" dirty="0">
                <a:solidFill>
                  <a:srgbClr val="FF0000"/>
                </a:solidFill>
              </a:rPr>
              <a:t>     1</a:t>
            </a:r>
            <a:r>
              <a:rPr lang="zh-CN" altLang="en-US" sz="2500" dirty="0">
                <a:solidFill>
                  <a:srgbClr val="FF0000"/>
                </a:solidFill>
              </a:rPr>
              <a:t>）显然</a:t>
            </a:r>
            <a:r>
              <a:rPr lang="en-US" altLang="zh-CN" sz="2500" dirty="0">
                <a:solidFill>
                  <a:srgbClr val="FF0000"/>
                </a:solidFill>
              </a:rPr>
              <a:t>R</a:t>
            </a:r>
            <a:r>
              <a:rPr lang="en-US" altLang="zh-CN" sz="2500" noProof="1">
                <a:solidFill>
                  <a:srgbClr val="FF0000"/>
                </a:solidFill>
                <a:latin typeface="宋体" panose="02010600030101010101" pitchFamily="2" charset="-122"/>
                <a:sym typeface="Symbol" panose="05050102010706020507" pitchFamily="18" charset="2"/>
              </a:rPr>
              <a:t></a:t>
            </a:r>
            <a:r>
              <a:rPr lang="en-US" altLang="zh-CN" sz="2500" dirty="0">
                <a:solidFill>
                  <a:srgbClr val="FF0000"/>
                </a:solidFill>
              </a:rPr>
              <a:t>R</a:t>
            </a:r>
            <a:r>
              <a:rPr lang="en-US" altLang="en-US" sz="2500" dirty="0">
                <a:solidFill>
                  <a:srgbClr val="FF0000"/>
                </a:solidFill>
              </a:rPr>
              <a:t>∪</a:t>
            </a:r>
            <a:r>
              <a:rPr lang="en-US" altLang="zh-CN" sz="2500" dirty="0">
                <a:solidFill>
                  <a:srgbClr val="FF0000"/>
                </a:solidFill>
              </a:rPr>
              <a:t>I</a:t>
            </a:r>
            <a:r>
              <a:rPr lang="en-US" altLang="zh-CN" sz="2500" baseline="-25000" dirty="0">
                <a:solidFill>
                  <a:srgbClr val="FF0000"/>
                </a:solidFill>
              </a:rPr>
              <a:t>A</a:t>
            </a:r>
            <a:r>
              <a:rPr lang="en-US" altLang="zh-CN" sz="2500" dirty="0">
                <a:solidFill>
                  <a:srgbClr val="FF0000"/>
                </a:solidFill>
              </a:rPr>
              <a:t> </a:t>
            </a:r>
            <a:r>
              <a:rPr lang="zh-CN" altLang="en-US" sz="2500" dirty="0">
                <a:solidFill>
                  <a:srgbClr val="FF0000"/>
                </a:solidFill>
              </a:rPr>
              <a:t>。</a:t>
            </a:r>
            <a:r>
              <a:rPr lang="en-US" altLang="zh-CN" sz="2500" dirty="0">
                <a:solidFill>
                  <a:srgbClr val="FF0000"/>
                </a:solidFill>
              </a:rPr>
              <a:t>                                                     </a:t>
            </a:r>
            <a:r>
              <a:rPr lang="zh-CN" altLang="en-US" sz="2500" dirty="0">
                <a:solidFill>
                  <a:schemeClr val="tx1"/>
                </a:solidFill>
              </a:rPr>
              <a:t>（</a:t>
            </a:r>
            <a:r>
              <a:rPr lang="zh-CN" altLang="en-US" sz="2500" dirty="0">
                <a:solidFill>
                  <a:schemeClr val="accent2"/>
                </a:solidFill>
              </a:rPr>
              <a:t>包含</a:t>
            </a:r>
            <a:r>
              <a:rPr lang="zh-CN" altLang="en-US" sz="2500" dirty="0">
                <a:solidFill>
                  <a:schemeClr val="tx1"/>
                </a:solidFill>
              </a:rPr>
              <a:t>）</a:t>
            </a:r>
            <a:endParaRPr lang="zh-CN" altLang="en-US" sz="2500" dirty="0">
              <a:solidFill>
                <a:schemeClr val="tx1"/>
              </a:solidFill>
            </a:endParaRPr>
          </a:p>
          <a:p>
            <a:pPr marL="533400" indent="-533400">
              <a:spcBef>
                <a:spcPct val="0"/>
              </a:spcBef>
              <a:buNone/>
            </a:pPr>
            <a:r>
              <a:rPr lang="en-US" altLang="zh-CN" sz="2500" dirty="0">
                <a:solidFill>
                  <a:srgbClr val="FF0000"/>
                </a:solidFill>
              </a:rPr>
              <a:t>     2</a:t>
            </a:r>
            <a:r>
              <a:rPr lang="zh-CN" altLang="en-US" sz="2500" dirty="0">
                <a:solidFill>
                  <a:srgbClr val="FF0000"/>
                </a:solidFill>
              </a:rPr>
              <a:t>）证明</a:t>
            </a:r>
            <a:r>
              <a:rPr lang="en-US" altLang="zh-CN" sz="2500" dirty="0">
                <a:solidFill>
                  <a:srgbClr val="FF0000"/>
                </a:solidFill>
              </a:rPr>
              <a:t>R</a:t>
            </a:r>
            <a:r>
              <a:rPr lang="en-US" altLang="en-US" sz="2500" dirty="0">
                <a:solidFill>
                  <a:srgbClr val="FF0000"/>
                </a:solidFill>
              </a:rPr>
              <a:t>∪</a:t>
            </a:r>
            <a:r>
              <a:rPr lang="en-US" altLang="zh-CN" sz="2500" dirty="0">
                <a:solidFill>
                  <a:srgbClr val="FF0000"/>
                </a:solidFill>
              </a:rPr>
              <a:t>I</a:t>
            </a:r>
            <a:r>
              <a:rPr lang="en-US" altLang="zh-CN" sz="2500" baseline="-25000" dirty="0">
                <a:solidFill>
                  <a:srgbClr val="FF0000"/>
                </a:solidFill>
              </a:rPr>
              <a:t>A</a:t>
            </a:r>
            <a:r>
              <a:rPr lang="zh-CN" altLang="en-US" sz="2500" dirty="0">
                <a:solidFill>
                  <a:srgbClr val="FF0000"/>
                </a:solidFill>
              </a:rPr>
              <a:t>是自反的。</a:t>
            </a:r>
            <a:r>
              <a:rPr lang="en-US" altLang="zh-CN" sz="2500" dirty="0">
                <a:solidFill>
                  <a:srgbClr val="FF0000"/>
                </a:solidFill>
              </a:rPr>
              <a:t>                                             </a:t>
            </a:r>
            <a:r>
              <a:rPr lang="zh-CN" altLang="en-US" sz="2500" dirty="0">
                <a:solidFill>
                  <a:schemeClr val="tx1"/>
                </a:solidFill>
              </a:rPr>
              <a:t>（</a:t>
            </a:r>
            <a:r>
              <a:rPr lang="zh-CN" altLang="en-US" sz="2500" dirty="0">
                <a:solidFill>
                  <a:schemeClr val="accent2"/>
                </a:solidFill>
              </a:rPr>
              <a:t>自反</a:t>
            </a:r>
            <a:r>
              <a:rPr lang="zh-CN" altLang="en-US" sz="2500" dirty="0">
                <a:solidFill>
                  <a:schemeClr val="tx1"/>
                </a:solidFill>
              </a:rPr>
              <a:t>）</a:t>
            </a:r>
            <a:endParaRPr lang="zh-CN" altLang="en-US" sz="2500" dirty="0">
              <a:solidFill>
                <a:srgbClr val="FF0000"/>
              </a:solidFill>
            </a:endParaRPr>
          </a:p>
          <a:p>
            <a:pPr marL="533400" indent="-533400">
              <a:spcBef>
                <a:spcPct val="0"/>
              </a:spcBef>
              <a:buNone/>
            </a:pPr>
            <a:r>
              <a:rPr lang="zh-CN" altLang="en-US" sz="2500" dirty="0"/>
              <a:t>显然</a:t>
            </a:r>
            <a:r>
              <a:rPr lang="en-US" altLang="zh-CN" sz="2500" dirty="0"/>
              <a:t>I</a:t>
            </a:r>
            <a:r>
              <a:rPr lang="en-US" altLang="zh-CN" sz="2500" baseline="-25000" dirty="0"/>
              <a:t>A</a:t>
            </a:r>
            <a:r>
              <a:rPr lang="en-US" altLang="zh-CN" sz="2500" noProof="1">
                <a:solidFill>
                  <a:srgbClr val="0000CC"/>
                </a:solidFill>
                <a:latin typeface="宋体" panose="02010600030101010101" pitchFamily="2" charset="-122"/>
                <a:sym typeface="Symbol" panose="05050102010706020507" pitchFamily="18" charset="2"/>
              </a:rPr>
              <a:t></a:t>
            </a:r>
            <a:r>
              <a:rPr lang="en-US" altLang="zh-CN" sz="2500" dirty="0"/>
              <a:t>R</a:t>
            </a:r>
            <a:r>
              <a:rPr lang="en-US" altLang="en-US" sz="2500" dirty="0"/>
              <a:t>∪</a:t>
            </a:r>
            <a:r>
              <a:rPr lang="en-US" altLang="zh-CN" sz="2500" dirty="0"/>
              <a:t>I</a:t>
            </a:r>
            <a:r>
              <a:rPr lang="en-US" altLang="zh-CN" sz="2500" baseline="-25000" dirty="0"/>
              <a:t>A</a:t>
            </a:r>
            <a:r>
              <a:rPr lang="zh-CN" altLang="en-US" sz="2500" dirty="0"/>
              <a:t>，根据定理</a:t>
            </a:r>
            <a:r>
              <a:rPr lang="en-US" altLang="zh-CN" sz="2500" dirty="0"/>
              <a:t>4.9</a:t>
            </a:r>
            <a:r>
              <a:rPr lang="zh-CN" altLang="en-US" sz="2500" dirty="0"/>
              <a:t>知，</a:t>
            </a:r>
            <a:r>
              <a:rPr lang="en-US" altLang="zh-CN" sz="2500" dirty="0"/>
              <a:t>R</a:t>
            </a:r>
            <a:r>
              <a:rPr lang="en-US" altLang="en-US" sz="2500" dirty="0"/>
              <a:t>∪</a:t>
            </a:r>
            <a:r>
              <a:rPr lang="en-US" altLang="zh-CN" sz="2500" dirty="0"/>
              <a:t>I</a:t>
            </a:r>
            <a:r>
              <a:rPr lang="en-US" altLang="zh-CN" sz="2500" baseline="-25000" dirty="0"/>
              <a:t>A</a:t>
            </a:r>
            <a:r>
              <a:rPr lang="zh-CN" altLang="en-US" sz="2500" dirty="0"/>
              <a:t>是自反的；</a:t>
            </a:r>
            <a:endParaRPr lang="zh-CN" altLang="en-US" sz="2500" dirty="0"/>
          </a:p>
          <a:p>
            <a:pPr marL="533400" indent="-533400">
              <a:spcBef>
                <a:spcPct val="0"/>
              </a:spcBef>
              <a:buNone/>
            </a:pPr>
            <a:r>
              <a:rPr lang="en-US" altLang="zh-CN" sz="2500" dirty="0">
                <a:solidFill>
                  <a:srgbClr val="FF0000"/>
                </a:solidFill>
              </a:rPr>
              <a:t>     3</a:t>
            </a:r>
            <a:r>
              <a:rPr lang="zh-CN" altLang="en-US" sz="2500" dirty="0">
                <a:solidFill>
                  <a:srgbClr val="FF0000"/>
                </a:solidFill>
              </a:rPr>
              <a:t>）证明对任何包含</a:t>
            </a:r>
            <a:r>
              <a:rPr lang="en-US" altLang="zh-CN" sz="2500" dirty="0">
                <a:solidFill>
                  <a:srgbClr val="FF0000"/>
                </a:solidFill>
              </a:rPr>
              <a:t>R</a:t>
            </a:r>
            <a:r>
              <a:rPr lang="zh-CN" altLang="en-US" sz="2500" dirty="0">
                <a:solidFill>
                  <a:srgbClr val="FF0000"/>
                </a:solidFill>
              </a:rPr>
              <a:t>的自反关系</a:t>
            </a:r>
            <a:r>
              <a:rPr lang="en-US" altLang="zh-CN" sz="2500" dirty="0">
                <a:solidFill>
                  <a:srgbClr val="C00000"/>
                </a:solidFill>
              </a:rPr>
              <a:t>R′ </a:t>
            </a:r>
            <a:r>
              <a:rPr lang="zh-CN" altLang="en-US" sz="2500" dirty="0">
                <a:solidFill>
                  <a:srgbClr val="FF0000"/>
                </a:solidFill>
              </a:rPr>
              <a:t>，都有</a:t>
            </a:r>
            <a:r>
              <a:rPr lang="en-US" altLang="zh-CN" sz="2500" dirty="0">
                <a:solidFill>
                  <a:srgbClr val="FF0000"/>
                </a:solidFill>
              </a:rPr>
              <a:t>R</a:t>
            </a:r>
            <a:r>
              <a:rPr lang="en-US" altLang="en-US" sz="2500" dirty="0">
                <a:solidFill>
                  <a:srgbClr val="FF0000"/>
                </a:solidFill>
              </a:rPr>
              <a:t>∪</a:t>
            </a:r>
            <a:r>
              <a:rPr lang="en-US" altLang="zh-CN" sz="2500" dirty="0">
                <a:solidFill>
                  <a:srgbClr val="FF0000"/>
                </a:solidFill>
              </a:rPr>
              <a:t>I</a:t>
            </a:r>
            <a:r>
              <a:rPr lang="en-US" altLang="zh-CN" sz="2500" baseline="-25000" dirty="0">
                <a:solidFill>
                  <a:srgbClr val="FF0000"/>
                </a:solidFill>
              </a:rPr>
              <a:t>A</a:t>
            </a:r>
            <a:r>
              <a:rPr lang="en-US" altLang="zh-CN" sz="2500" dirty="0">
                <a:solidFill>
                  <a:srgbClr val="FF0000"/>
                </a:solidFill>
              </a:rPr>
              <a:t> </a:t>
            </a:r>
            <a:r>
              <a:rPr lang="zh-CN" altLang="en-US" sz="2500" dirty="0">
                <a:solidFill>
                  <a:srgbClr val="FF0000"/>
                </a:solidFill>
                <a:sym typeface="Symbol" panose="05050102010706020507" pitchFamily="18" charset="2"/>
              </a:rPr>
              <a:t></a:t>
            </a:r>
            <a:r>
              <a:rPr lang="en-US" altLang="zh-CN" sz="2500" dirty="0">
                <a:solidFill>
                  <a:srgbClr val="FF0000"/>
                </a:solidFill>
              </a:rPr>
              <a:t>R′     </a:t>
            </a:r>
            <a:r>
              <a:rPr lang="zh-CN" altLang="en-US" sz="2500" dirty="0">
                <a:solidFill>
                  <a:schemeClr val="tx1"/>
                </a:solidFill>
              </a:rPr>
              <a:t>（</a:t>
            </a:r>
            <a:r>
              <a:rPr lang="zh-CN" altLang="en-US" sz="2500" dirty="0">
                <a:solidFill>
                  <a:schemeClr val="accent2"/>
                </a:solidFill>
              </a:rPr>
              <a:t>最小</a:t>
            </a:r>
            <a:r>
              <a:rPr lang="zh-CN" altLang="en-US" sz="2500" dirty="0">
                <a:solidFill>
                  <a:schemeClr val="tx1"/>
                </a:solidFill>
              </a:rPr>
              <a:t>）</a:t>
            </a:r>
            <a:endParaRPr lang="zh-CN" altLang="en-US" sz="2500" dirty="0">
              <a:solidFill>
                <a:schemeClr val="tx1"/>
              </a:solidFill>
            </a:endParaRPr>
          </a:p>
          <a:p>
            <a:pPr marL="533400" indent="-533400" algn="r">
              <a:spcBef>
                <a:spcPct val="0"/>
              </a:spcBef>
              <a:buNone/>
            </a:pPr>
            <a:r>
              <a:rPr lang="zh-CN" altLang="en-US" sz="2500" dirty="0"/>
              <a:t>因为 </a:t>
            </a:r>
            <a:r>
              <a:rPr lang="en-US" altLang="zh-CN" sz="2500" dirty="0"/>
              <a:t>R</a:t>
            </a:r>
            <a:r>
              <a:rPr lang="zh-CN" altLang="en-US" sz="2500" dirty="0">
                <a:sym typeface="Symbol" panose="05050102010706020507" pitchFamily="18" charset="2"/>
              </a:rPr>
              <a:t></a:t>
            </a:r>
            <a:r>
              <a:rPr lang="en-US" altLang="zh-CN" sz="2500" dirty="0"/>
              <a:t>R′</a:t>
            </a:r>
            <a:r>
              <a:rPr lang="zh-CN" altLang="en-US" sz="2500" dirty="0"/>
              <a:t>。      		   	</a:t>
            </a:r>
            <a:r>
              <a:rPr lang="en-US" altLang="zh-CN" sz="2500" dirty="0"/>
              <a:t>(1)</a:t>
            </a:r>
            <a:endParaRPr lang="en-US" altLang="zh-CN" sz="2500" dirty="0"/>
          </a:p>
          <a:p>
            <a:pPr marL="533400" indent="-533400">
              <a:spcBef>
                <a:spcPct val="0"/>
              </a:spcBef>
              <a:buNone/>
            </a:pPr>
            <a:r>
              <a:rPr lang="zh-CN" altLang="en-US" sz="2500" dirty="0"/>
              <a:t>又因为</a:t>
            </a:r>
            <a:r>
              <a:rPr lang="en-US" altLang="zh-CN" sz="2500" dirty="0"/>
              <a:t>R′</a:t>
            </a:r>
            <a:r>
              <a:rPr lang="zh-CN" altLang="en-US" sz="2500" dirty="0"/>
              <a:t>是自反的，由定理</a:t>
            </a:r>
            <a:r>
              <a:rPr lang="en-US" altLang="zh-CN" sz="2500" dirty="0"/>
              <a:t>4.9</a:t>
            </a:r>
            <a:r>
              <a:rPr lang="zh-CN" altLang="en-US" sz="2500" dirty="0"/>
              <a:t>，有</a:t>
            </a:r>
            <a:endParaRPr lang="zh-CN" altLang="en-US" sz="2500" dirty="0"/>
          </a:p>
          <a:p>
            <a:pPr marL="533400" indent="-533400" algn="r">
              <a:spcBef>
                <a:spcPct val="0"/>
              </a:spcBef>
              <a:buNone/>
            </a:pPr>
            <a:r>
              <a:rPr lang="en-US" altLang="zh-CN" sz="2500" dirty="0"/>
              <a:t>I</a:t>
            </a:r>
            <a:r>
              <a:rPr lang="en-US" altLang="zh-CN" sz="2500" baseline="-25000" dirty="0"/>
              <a:t>A</a:t>
            </a:r>
            <a:r>
              <a:rPr lang="zh-CN" altLang="en-US" sz="2500" dirty="0">
                <a:sym typeface="Symbol" panose="05050102010706020507" pitchFamily="18" charset="2"/>
              </a:rPr>
              <a:t></a:t>
            </a:r>
            <a:r>
              <a:rPr lang="en-US" altLang="zh-CN" sz="2500" dirty="0"/>
              <a:t>R′</a:t>
            </a:r>
            <a:r>
              <a:rPr lang="zh-CN" altLang="en-US" sz="2500" dirty="0"/>
              <a:t>。  			</a:t>
            </a:r>
            <a:r>
              <a:rPr lang="en-US" altLang="zh-CN" sz="2500" dirty="0"/>
              <a:t>(2)</a:t>
            </a:r>
            <a:endParaRPr lang="en-US" altLang="zh-CN" sz="2500" dirty="0"/>
          </a:p>
          <a:p>
            <a:pPr marL="533400" indent="-533400">
              <a:spcBef>
                <a:spcPct val="0"/>
              </a:spcBef>
              <a:buNone/>
            </a:pPr>
            <a:r>
              <a:rPr lang="zh-CN" altLang="en-US" sz="2500" dirty="0"/>
              <a:t>于是，根据式</a:t>
            </a:r>
            <a:r>
              <a:rPr lang="en-US" altLang="zh-CN" sz="2500" dirty="0"/>
              <a:t>(1)</a:t>
            </a:r>
            <a:r>
              <a:rPr lang="zh-CN" altLang="en-US" sz="2500" dirty="0"/>
              <a:t>和</a:t>
            </a:r>
            <a:r>
              <a:rPr lang="en-US" altLang="zh-CN" sz="2500" dirty="0"/>
              <a:t>(2)</a:t>
            </a:r>
            <a:r>
              <a:rPr lang="zh-CN" altLang="en-US" sz="2500" dirty="0"/>
              <a:t>，有</a:t>
            </a:r>
            <a:r>
              <a:rPr lang="en-US" altLang="zh-CN" sz="2500" dirty="0"/>
              <a:t>R</a:t>
            </a:r>
            <a:r>
              <a:rPr lang="en-US" altLang="en-US" sz="2500" dirty="0"/>
              <a:t>∪</a:t>
            </a:r>
            <a:r>
              <a:rPr lang="en-US" altLang="zh-CN" sz="2500" dirty="0"/>
              <a:t>I</a:t>
            </a:r>
            <a:r>
              <a:rPr lang="en-US" altLang="zh-CN" sz="2500" baseline="-25000" dirty="0"/>
              <a:t>A</a:t>
            </a:r>
            <a:r>
              <a:rPr lang="zh-CN" altLang="en-US" sz="2500" dirty="0">
                <a:sym typeface="Symbol" panose="05050102010706020507" pitchFamily="18" charset="2"/>
              </a:rPr>
              <a:t></a:t>
            </a:r>
            <a:r>
              <a:rPr lang="en-US" altLang="zh-CN" sz="2500" dirty="0"/>
              <a:t>R′</a:t>
            </a:r>
            <a:endParaRPr lang="zh-CN" altLang="en-US" sz="2500" dirty="0"/>
          </a:p>
          <a:p>
            <a:pPr marL="533400" indent="-533400">
              <a:spcBef>
                <a:spcPct val="0"/>
              </a:spcBef>
              <a:buNone/>
            </a:pPr>
            <a:r>
              <a:rPr lang="zh-CN" altLang="en-US" sz="2500" dirty="0"/>
              <a:t>从而，根据自反闭包的定义知</a:t>
            </a:r>
            <a:r>
              <a:rPr lang="en-US" altLang="zh-CN" sz="2500" dirty="0"/>
              <a:t>r(R)= R</a:t>
            </a:r>
            <a:r>
              <a:rPr lang="en-US" altLang="en-US" sz="2500" dirty="0"/>
              <a:t>∪</a:t>
            </a:r>
            <a:r>
              <a:rPr lang="en-US" altLang="zh-CN" sz="2500" dirty="0"/>
              <a:t>I</a:t>
            </a:r>
            <a:r>
              <a:rPr lang="en-US" altLang="zh-CN" sz="2500" baseline="-25000" dirty="0"/>
              <a:t>A</a:t>
            </a:r>
            <a:r>
              <a:rPr lang="en-US" altLang="zh-CN" sz="2500" dirty="0"/>
              <a:t> </a:t>
            </a:r>
            <a:r>
              <a:rPr lang="zh-CN" altLang="en-US" sz="2500" dirty="0"/>
              <a:t>。</a:t>
            </a:r>
            <a:endParaRPr lang="zh-CN" altLang="en-US" sz="2500" dirty="0"/>
          </a:p>
        </p:txBody>
      </p:sp>
      <p:sp>
        <p:nvSpPr>
          <p:cNvPr id="285700" name="Rectangle 3"/>
          <p:cNvSpPr>
            <a:spLocks noGrp="1" noChangeArrowheads="1"/>
          </p:cNvSpPr>
          <p:nvPr>
            <p:ph type="title"/>
          </p:nvPr>
        </p:nvSpPr>
        <p:spPr>
          <a:xfrm>
            <a:off x="841375" y="76994"/>
            <a:ext cx="8066367" cy="924139"/>
          </a:xfrm>
        </p:spPr>
        <p:txBody>
          <a:bodyPr/>
          <a:lstStyle/>
          <a:p>
            <a:pPr eaLnBrk="1" hangingPunct="1"/>
            <a:r>
              <a:rPr lang="zh-CN" altLang="en-US" dirty="0"/>
              <a:t>证明</a:t>
            </a:r>
            <a:r>
              <a:rPr lang="en-US" altLang="zh-CN" dirty="0"/>
              <a:t>(1)</a:t>
            </a:r>
            <a:endParaRPr lang="en-US" altLang="zh-CN"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5874">
                                            <p:txEl>
                                              <p:pRg st="0" end="0"/>
                                            </p:txEl>
                                          </p:spTgt>
                                        </p:tgtEl>
                                        <p:attrNameLst>
                                          <p:attrName>style.visibility</p:attrName>
                                        </p:attrNameLst>
                                      </p:cBhvr>
                                      <p:to>
                                        <p:strVal val="visible"/>
                                      </p:to>
                                    </p:set>
                                    <p:anim calcmode="lin" valueType="num">
                                      <p:cBhvr additive="base">
                                        <p:cTn id="7" dur="500" fill="hold"/>
                                        <p:tgtEl>
                                          <p:spTgt spid="16158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58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15874">
                                            <p:txEl>
                                              <p:pRg st="1" end="1"/>
                                            </p:txEl>
                                          </p:spTgt>
                                        </p:tgtEl>
                                        <p:attrNameLst>
                                          <p:attrName>style.visibility</p:attrName>
                                        </p:attrNameLst>
                                      </p:cBhvr>
                                      <p:to>
                                        <p:strVal val="visible"/>
                                      </p:to>
                                    </p:set>
                                    <p:anim calcmode="lin" valueType="num">
                                      <p:cBhvr additive="base">
                                        <p:cTn id="13" dur="500" fill="hold"/>
                                        <p:tgtEl>
                                          <p:spTgt spid="161587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58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15874">
                                            <p:txEl>
                                              <p:pRg st="2" end="2"/>
                                            </p:txEl>
                                          </p:spTgt>
                                        </p:tgtEl>
                                        <p:attrNameLst>
                                          <p:attrName>style.visibility</p:attrName>
                                        </p:attrNameLst>
                                      </p:cBhvr>
                                      <p:to>
                                        <p:strVal val="visible"/>
                                      </p:to>
                                    </p:set>
                                    <p:anim calcmode="lin" valueType="num">
                                      <p:cBhvr additive="base">
                                        <p:cTn id="19" dur="500" fill="hold"/>
                                        <p:tgtEl>
                                          <p:spTgt spid="161587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158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15874">
                                            <p:txEl>
                                              <p:pRg st="3" end="3"/>
                                            </p:txEl>
                                          </p:spTgt>
                                        </p:tgtEl>
                                        <p:attrNameLst>
                                          <p:attrName>style.visibility</p:attrName>
                                        </p:attrNameLst>
                                      </p:cBhvr>
                                      <p:to>
                                        <p:strVal val="visible"/>
                                      </p:to>
                                    </p:set>
                                    <p:anim calcmode="lin" valueType="num">
                                      <p:cBhvr additive="base">
                                        <p:cTn id="25" dur="500" fill="hold"/>
                                        <p:tgtEl>
                                          <p:spTgt spid="161587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158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15874">
                                            <p:txEl>
                                              <p:pRg st="4" end="4"/>
                                            </p:txEl>
                                          </p:spTgt>
                                        </p:tgtEl>
                                        <p:attrNameLst>
                                          <p:attrName>style.visibility</p:attrName>
                                        </p:attrNameLst>
                                      </p:cBhvr>
                                      <p:to>
                                        <p:strVal val="visible"/>
                                      </p:to>
                                    </p:set>
                                    <p:anim calcmode="lin" valueType="num">
                                      <p:cBhvr additive="base">
                                        <p:cTn id="31" dur="500" fill="hold"/>
                                        <p:tgtEl>
                                          <p:spTgt spid="161587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158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15874">
                                            <p:txEl>
                                              <p:pRg st="5" end="5"/>
                                            </p:txEl>
                                          </p:spTgt>
                                        </p:tgtEl>
                                        <p:attrNameLst>
                                          <p:attrName>style.visibility</p:attrName>
                                        </p:attrNameLst>
                                      </p:cBhvr>
                                      <p:to>
                                        <p:strVal val="visible"/>
                                      </p:to>
                                    </p:set>
                                    <p:anim calcmode="lin" valueType="num">
                                      <p:cBhvr additive="base">
                                        <p:cTn id="37" dur="500" fill="hold"/>
                                        <p:tgtEl>
                                          <p:spTgt spid="161587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1587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15874">
                                            <p:txEl>
                                              <p:pRg st="6" end="6"/>
                                            </p:txEl>
                                          </p:spTgt>
                                        </p:tgtEl>
                                        <p:attrNameLst>
                                          <p:attrName>style.visibility</p:attrName>
                                        </p:attrNameLst>
                                      </p:cBhvr>
                                      <p:to>
                                        <p:strVal val="visible"/>
                                      </p:to>
                                    </p:set>
                                    <p:anim calcmode="lin" valueType="num">
                                      <p:cBhvr additive="base">
                                        <p:cTn id="43" dur="500" fill="hold"/>
                                        <p:tgtEl>
                                          <p:spTgt spid="161587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15874">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15874">
                                            <p:txEl>
                                              <p:pRg st="7" end="7"/>
                                            </p:txEl>
                                          </p:spTgt>
                                        </p:tgtEl>
                                        <p:attrNameLst>
                                          <p:attrName>style.visibility</p:attrName>
                                        </p:attrNameLst>
                                      </p:cBhvr>
                                      <p:to>
                                        <p:strVal val="visible"/>
                                      </p:to>
                                    </p:set>
                                    <p:anim calcmode="lin" valueType="num">
                                      <p:cBhvr additive="base">
                                        <p:cTn id="47" dur="500" fill="hold"/>
                                        <p:tgtEl>
                                          <p:spTgt spid="161587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1587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615874">
                                            <p:txEl>
                                              <p:pRg st="8" end="8"/>
                                            </p:txEl>
                                          </p:spTgt>
                                        </p:tgtEl>
                                        <p:attrNameLst>
                                          <p:attrName>style.visibility</p:attrName>
                                        </p:attrNameLst>
                                      </p:cBhvr>
                                      <p:to>
                                        <p:strVal val="visible"/>
                                      </p:to>
                                    </p:set>
                                    <p:anim calcmode="lin" valueType="num">
                                      <p:cBhvr additive="base">
                                        <p:cTn id="53" dur="500" fill="hold"/>
                                        <p:tgtEl>
                                          <p:spTgt spid="1615874">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1587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615874">
                                            <p:txEl>
                                              <p:pRg st="9" end="9"/>
                                            </p:txEl>
                                          </p:spTgt>
                                        </p:tgtEl>
                                        <p:attrNameLst>
                                          <p:attrName>style.visibility</p:attrName>
                                        </p:attrNameLst>
                                      </p:cBhvr>
                                      <p:to>
                                        <p:strVal val="visible"/>
                                      </p:to>
                                    </p:set>
                                    <p:anim calcmode="lin" valueType="num">
                                      <p:cBhvr additive="base">
                                        <p:cTn id="59" dur="500" fill="hold"/>
                                        <p:tgtEl>
                                          <p:spTgt spid="1615874">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1587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575" y="838994"/>
            <a:ext cx="6619875" cy="838200"/>
          </a:xfrm>
        </p:spPr>
        <p:txBody>
          <a:bodyPr/>
          <a:lstStyle/>
          <a:p>
            <a:r>
              <a:rPr kumimoji="1" lang="zh-CN" altLang="en-US" sz="2800" dirty="0">
                <a:solidFill>
                  <a:schemeClr val="tx1"/>
                </a:solidFill>
              </a:rPr>
              <a:t>定理证</a:t>
            </a:r>
            <a:r>
              <a:rPr kumimoji="1" lang="zh-CN" altLang="en-US" sz="2800" dirty="0" smtClean="0">
                <a:solidFill>
                  <a:schemeClr val="tx1"/>
                </a:solidFill>
              </a:rPr>
              <a:t>明</a:t>
            </a:r>
            <a:r>
              <a:rPr kumimoji="1" lang="en-US" altLang="zh-CN" sz="2800" dirty="0" smtClean="0">
                <a:solidFill>
                  <a:schemeClr val="tx1"/>
                </a:solidFill>
              </a:rPr>
              <a:t>  </a:t>
            </a:r>
            <a:r>
              <a:rPr kumimoji="1" lang="en-US" altLang="zh-CN" sz="2800" dirty="0" smtClean="0"/>
              <a:t>     </a:t>
            </a:r>
            <a:r>
              <a:rPr kumimoji="1" lang="en-US" altLang="zh-CN" sz="2800" dirty="0" smtClean="0">
                <a:solidFill>
                  <a:schemeClr val="tx1"/>
                </a:solidFill>
              </a:rPr>
              <a:t>(2) </a:t>
            </a:r>
            <a:r>
              <a:rPr kumimoji="1" lang="en-US" altLang="zh-CN" sz="2800" dirty="0" smtClean="0">
                <a:solidFill>
                  <a:schemeClr val="tx1"/>
                </a:solidFill>
              </a:rPr>
              <a:t> </a:t>
            </a:r>
            <a:r>
              <a:rPr lang="zh-CN" altLang="en-US" sz="3600" dirty="0" smtClean="0">
                <a:solidFill>
                  <a:srgbClr val="0432FF"/>
                </a:solidFill>
                <a:latin typeface="Cambria Math" panose="02040503050406030204" pitchFamily="18" charset="0"/>
              </a:rPr>
              <a:t>𝑠</a:t>
            </a:r>
            <a:r>
              <a:rPr lang="en-US" altLang="zh-CN" sz="3600" dirty="0">
                <a:solidFill>
                  <a:srgbClr val="0432FF"/>
                </a:solidFill>
                <a:latin typeface="Cambria Math" panose="02040503050406030204" pitchFamily="18" charset="0"/>
              </a:rPr>
              <a:t>(𝑅)=𝑅∪</a:t>
            </a:r>
            <a:r>
              <a:rPr lang="en-US" altLang="zh-CN" sz="3600" dirty="0">
                <a:solidFill>
                  <a:srgbClr val="0432FF"/>
                </a:solidFill>
                <a:latin typeface="Cambria Math" panose="02040503050406030204" pitchFamily="18" charset="0"/>
              </a:rPr>
              <a:t>𝑅</a:t>
            </a:r>
            <a:r>
              <a:rPr lang="en-US" altLang="zh-CN" sz="3600" baseline="30000" dirty="0">
                <a:solidFill>
                  <a:srgbClr val="0432FF"/>
                </a:solidFill>
                <a:latin typeface="Cambria Math" panose="02040503050406030204" pitchFamily="18" charset="0"/>
              </a:rPr>
              <a:t>-1</a:t>
            </a:r>
            <a:endParaRPr kumimoji="1" lang="zh-CN" altLang="en-US" sz="3600" dirty="0">
              <a:solidFill>
                <a:srgbClr val="0432FF"/>
              </a:solidFill>
            </a:endParaRPr>
          </a:p>
        </p:txBody>
      </p:sp>
      <p:sp>
        <p:nvSpPr>
          <p:cNvPr id="41987" name="Rectangle 3"/>
          <p:cNvSpPr>
            <a:spLocks noGrp="1" noChangeArrowheads="1"/>
          </p:cNvSpPr>
          <p:nvPr>
            <p:ph idx="1"/>
          </p:nvPr>
        </p:nvSpPr>
        <p:spPr>
          <a:xfrm>
            <a:off x="609918" y="1905794"/>
            <a:ext cx="10978515" cy="4800600"/>
          </a:xfrm>
        </p:spPr>
        <p:txBody>
          <a:bodyPr>
            <a:normAutofit/>
          </a:bodyPr>
          <a:lstStyle/>
          <a:p>
            <a:pPr marL="0" indent="0">
              <a:buNone/>
            </a:pPr>
            <a:r>
              <a:rPr lang="en-US" altLang="zh-CN" dirty="0">
                <a:solidFill>
                  <a:srgbClr val="FF0000"/>
                </a:solidFill>
                <a:latin typeface="Cambria Math" panose="02040503050406030204" pitchFamily="18" charset="0"/>
              </a:rPr>
              <a:t>(</a:t>
            </a:r>
            <a:r>
              <a:rPr lang="zh-CN" altLang="en-US" dirty="0">
                <a:solidFill>
                  <a:srgbClr val="FF0000"/>
                </a:solidFill>
                <a:latin typeface="Cambria Math" panose="02040503050406030204" pitchFamily="18" charset="0"/>
              </a:rPr>
              <a:t>包含</a:t>
            </a:r>
            <a:r>
              <a:rPr lang="en-US" altLang="zh-CN" dirty="0">
                <a:solidFill>
                  <a:srgbClr val="FF0000"/>
                </a:solidFill>
                <a:latin typeface="Cambria Math" panose="02040503050406030204" pitchFamily="18" charset="0"/>
              </a:rPr>
              <a:t>𝑅)</a:t>
            </a:r>
            <a:r>
              <a:rPr lang="zh-CN" altLang="en-US" dirty="0">
                <a:solidFill>
                  <a:srgbClr val="FF0000"/>
                </a:solidFill>
                <a:latin typeface="Cambria Math" panose="02040503050406030204" pitchFamily="18" charset="0"/>
              </a:rPr>
              <a:t>：首先</a:t>
            </a:r>
            <a:r>
              <a:rPr lang="zh-CN" altLang="en-US" dirty="0">
                <a:latin typeface="Cambria Math" panose="02040503050406030204" pitchFamily="18" charset="0"/>
              </a:rPr>
              <a:t>令𝑅</a:t>
            </a:r>
            <a:r>
              <a:rPr lang="en-US" altLang="zh-CN" dirty="0">
                <a:latin typeface="Cambria Math" panose="02040503050406030204" pitchFamily="18" charset="0"/>
              </a:rPr>
              <a:t>'=𝑅∪</a:t>
            </a:r>
            <a:r>
              <a:rPr lang="en-US" altLang="zh-CN" dirty="0">
                <a:latin typeface="Cambria Math" panose="02040503050406030204" pitchFamily="18" charset="0"/>
              </a:rPr>
              <a:t>𝑅</a:t>
            </a:r>
            <a:r>
              <a:rPr lang="en-US" altLang="zh-CN" baseline="30000" dirty="0">
                <a:latin typeface="Cambria Math" panose="02040503050406030204" pitchFamily="18" charset="0"/>
              </a:rPr>
              <a:t>-1</a:t>
            </a:r>
            <a:r>
              <a:rPr lang="en-US" altLang="zh-CN" dirty="0">
                <a:latin typeface="Cambria Math" panose="02040503050406030204" pitchFamily="18" charset="0"/>
              </a:rPr>
              <a:t>, </a:t>
            </a:r>
            <a:r>
              <a:rPr lang="zh-CN" altLang="en-US" dirty="0">
                <a:latin typeface="Cambria Math" panose="02040503050406030204" pitchFamily="18" charset="0"/>
              </a:rPr>
              <a:t>因为𝑅⊆</a:t>
            </a:r>
            <a:r>
              <a:rPr lang="en-US" altLang="zh-CN" dirty="0">
                <a:latin typeface="Cambria Math" panose="02040503050406030204" pitchFamily="18" charset="0"/>
              </a:rPr>
              <a:t>𝑅∪𝑅</a:t>
            </a:r>
            <a:r>
              <a:rPr lang="en-US" altLang="zh-CN" baseline="30000" dirty="0">
                <a:latin typeface="Cambria Math" panose="02040503050406030204" pitchFamily="18" charset="0"/>
              </a:rPr>
              <a:t>-1</a:t>
            </a:r>
            <a:r>
              <a:rPr lang="en-US" altLang="zh-CN" dirty="0">
                <a:latin typeface="Cambria Math" panose="02040503050406030204" pitchFamily="18" charset="0"/>
              </a:rPr>
              <a:t>, </a:t>
            </a:r>
            <a:r>
              <a:rPr lang="zh-CN" altLang="en-US" dirty="0">
                <a:latin typeface="Cambria Math" panose="02040503050406030204" pitchFamily="18" charset="0"/>
              </a:rPr>
              <a:t>即𝑅⊆</a:t>
            </a:r>
            <a:r>
              <a:rPr lang="en-US" altLang="zh-CN" dirty="0">
                <a:latin typeface="Cambria Math" panose="02040503050406030204" pitchFamily="18" charset="0"/>
              </a:rPr>
              <a:t>𝑅</a:t>
            </a:r>
            <a:r>
              <a:rPr lang="en-US" altLang="zh-CN" dirty="0">
                <a:latin typeface="Cambria Math" panose="02040503050406030204" pitchFamily="18" charset="0"/>
              </a:rPr>
              <a:t>’</a:t>
            </a:r>
            <a:r>
              <a:rPr lang="zh-CN" altLang="en-US" dirty="0">
                <a:latin typeface="Cambria Math" panose="02040503050406030204" pitchFamily="18" charset="0"/>
              </a:rPr>
              <a:t>。</a:t>
            </a:r>
            <a:endParaRPr lang="en-US" altLang="zh-CN" dirty="0">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r>
              <a:rPr lang="en-US" altLang="zh-CN" dirty="0">
                <a:solidFill>
                  <a:srgbClr val="FF0000"/>
                </a:solidFill>
                <a:latin typeface="Cambria Math" panose="02040503050406030204" pitchFamily="18" charset="0"/>
              </a:rPr>
              <a:t>(</a:t>
            </a:r>
            <a:r>
              <a:rPr lang="zh-CN" altLang="en-US" dirty="0">
                <a:solidFill>
                  <a:srgbClr val="FF0000"/>
                </a:solidFill>
                <a:latin typeface="Cambria Math" panose="02040503050406030204" pitchFamily="18" charset="0"/>
              </a:rPr>
              <a:t>对称的</a:t>
            </a:r>
            <a:r>
              <a:rPr lang="en-US" altLang="zh-CN" dirty="0">
                <a:solidFill>
                  <a:srgbClr val="FF0000"/>
                </a:solidFill>
                <a:latin typeface="Cambria Math" panose="02040503050406030204" pitchFamily="18" charset="0"/>
              </a:rPr>
              <a:t>)</a:t>
            </a:r>
            <a:r>
              <a:rPr lang="zh-CN" altLang="en-US" dirty="0">
                <a:solidFill>
                  <a:srgbClr val="FF0000"/>
                </a:solidFill>
                <a:latin typeface="Cambria Math" panose="02040503050406030204" pitchFamily="18" charset="0"/>
              </a:rPr>
              <a:t>：其次</a:t>
            </a:r>
            <a:r>
              <a:rPr lang="zh-CN" altLang="en-US" dirty="0">
                <a:latin typeface="Cambria Math" panose="02040503050406030204" pitchFamily="18" charset="0"/>
              </a:rPr>
              <a:t>设</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dirty="0">
                <a:latin typeface="Cambria Math" panose="02040503050406030204" pitchFamily="18" charset="0"/>
              </a:rPr>
              <a:t>', </a:t>
            </a:r>
            <a:r>
              <a:rPr lang="zh-CN" altLang="en-US" dirty="0">
                <a:latin typeface="Cambria Math" panose="02040503050406030204" pitchFamily="18" charset="0"/>
              </a:rPr>
              <a:t>则</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zh-CN" altLang="en-US" dirty="0">
                <a:latin typeface="Cambria Math" panose="02040503050406030204" pitchFamily="18" charset="0"/>
              </a:rPr>
              <a:t>或</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baseline="30000" dirty="0">
                <a:latin typeface="Cambria Math" panose="02040503050406030204" pitchFamily="18" charset="0"/>
              </a:rPr>
              <a:t>-1</a:t>
            </a:r>
            <a:r>
              <a:rPr lang="en-US" altLang="zh-CN" dirty="0">
                <a:latin typeface="Cambria Math" panose="02040503050406030204" pitchFamily="18" charset="0"/>
              </a:rPr>
              <a:t>, </a:t>
            </a:r>
            <a:r>
              <a:rPr lang="zh-CN" altLang="en-US" dirty="0">
                <a:latin typeface="Cambria Math" panose="02040503050406030204" pitchFamily="18" charset="0"/>
              </a:rPr>
              <a:t>即</a:t>
            </a:r>
            <a:r>
              <a:rPr lang="en-US" altLang="zh-CN" dirty="0">
                <a:latin typeface="Cambria Math" panose="02040503050406030204" pitchFamily="18" charset="0"/>
              </a:rPr>
              <a:t>&lt;𝑦, </a:t>
            </a:r>
            <a:r>
              <a:rPr lang="en-US" altLang="zh-CN" dirty="0">
                <a:latin typeface="Cambria Math" panose="02040503050406030204" pitchFamily="18" charset="0"/>
              </a:rPr>
              <a:t>𝑥</a:t>
            </a:r>
            <a:r>
              <a:rPr lang="en-US" altLang="zh-CN" dirty="0">
                <a:latin typeface="Cambria Math" panose="02040503050406030204" pitchFamily="18" charset="0"/>
              </a:rPr>
              <a:t>&gt;∈</a:t>
            </a:r>
            <a:r>
              <a:rPr lang="en-US" altLang="zh-CN" dirty="0">
                <a:latin typeface="Cambria Math" panose="02040503050406030204" pitchFamily="18" charset="0"/>
              </a:rPr>
              <a:t>𝑅</a:t>
            </a:r>
            <a:r>
              <a:rPr lang="zh-CN" altLang="en-US" dirty="0">
                <a:latin typeface="Cambria Math" panose="02040503050406030204" pitchFamily="18" charset="0"/>
              </a:rPr>
              <a:t>或</a:t>
            </a:r>
            <a:r>
              <a:rPr lang="en-US" altLang="zh-CN" dirty="0">
                <a:latin typeface="Cambria Math" panose="02040503050406030204" pitchFamily="18" charset="0"/>
              </a:rPr>
              <a:t>&lt;𝑦, </a:t>
            </a:r>
            <a:r>
              <a:rPr lang="en-US" altLang="zh-CN" dirty="0">
                <a:latin typeface="Cambria Math" panose="02040503050406030204" pitchFamily="18" charset="0"/>
              </a:rPr>
              <a:t>𝑥</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baseline="30000" dirty="0">
                <a:latin typeface="Cambria Math" panose="02040503050406030204" pitchFamily="18" charset="0"/>
              </a:rPr>
              <a:t>-1</a:t>
            </a:r>
            <a:r>
              <a:rPr lang="en-US" altLang="zh-CN" dirty="0">
                <a:latin typeface="Cambria Math" panose="02040503050406030204" pitchFamily="18" charset="0"/>
              </a:rPr>
              <a:t>, </a:t>
            </a:r>
            <a:r>
              <a:rPr lang="zh-CN" altLang="en-US" dirty="0">
                <a:latin typeface="Cambria Math" panose="02040503050406030204" pitchFamily="18" charset="0"/>
              </a:rPr>
              <a:t>故</a:t>
            </a:r>
            <a:r>
              <a:rPr lang="en-US" altLang="zh-CN" dirty="0">
                <a:latin typeface="Cambria Math" panose="02040503050406030204" pitchFamily="18" charset="0"/>
              </a:rPr>
              <a:t>&lt;𝑦, </a:t>
            </a:r>
            <a:r>
              <a:rPr lang="en-US" altLang="zh-CN" dirty="0">
                <a:latin typeface="Cambria Math" panose="02040503050406030204" pitchFamily="18" charset="0"/>
              </a:rPr>
              <a:t>𝑥</a:t>
            </a:r>
            <a:r>
              <a:rPr lang="en-US" altLang="zh-CN" dirty="0">
                <a:latin typeface="Cambria Math" panose="02040503050406030204" pitchFamily="18" charset="0"/>
              </a:rPr>
              <a:t>&gt;∈</a:t>
            </a:r>
            <a:r>
              <a:rPr lang="en-US" altLang="zh-CN" dirty="0">
                <a:latin typeface="Cambria Math" panose="02040503050406030204" pitchFamily="18" charset="0"/>
              </a:rPr>
              <a:t>𝑅∪𝑅</a:t>
            </a:r>
            <a:r>
              <a:rPr lang="en-US" altLang="zh-CN" baseline="30000" dirty="0">
                <a:latin typeface="Cambria Math" panose="02040503050406030204" pitchFamily="18" charset="0"/>
              </a:rPr>
              <a:t>-1</a:t>
            </a:r>
            <a:r>
              <a:rPr lang="en-US" altLang="zh-CN" dirty="0">
                <a:latin typeface="Cambria Math" panose="02040503050406030204" pitchFamily="18" charset="0"/>
              </a:rPr>
              <a:t>, </a:t>
            </a:r>
            <a:r>
              <a:rPr lang="zh-CN" altLang="en-US" dirty="0">
                <a:latin typeface="Cambria Math" panose="02040503050406030204" pitchFamily="18" charset="0"/>
              </a:rPr>
              <a:t>所以𝑅</a:t>
            </a:r>
            <a:r>
              <a:rPr lang="en-US" altLang="zh-CN" dirty="0">
                <a:latin typeface="Cambria Math" panose="02040503050406030204" pitchFamily="18" charset="0"/>
              </a:rPr>
              <a:t>'</a:t>
            </a:r>
            <a:r>
              <a:rPr lang="zh-CN" altLang="en-US" dirty="0">
                <a:latin typeface="Cambria Math" panose="02040503050406030204" pitchFamily="18" charset="0"/>
              </a:rPr>
              <a:t>是对称的。</a:t>
            </a:r>
            <a:endParaRPr lang="en-US" altLang="zh-CN" dirty="0">
              <a:latin typeface="Cambria Math" panose="02040503050406030204" pitchFamily="18" charset="0"/>
            </a:endParaRPr>
          </a:p>
          <a:p>
            <a:pPr marL="0" indent="0">
              <a:buNone/>
            </a:pPr>
            <a:endParaRPr lang="zh-CN" altLang="en-US" dirty="0">
              <a:latin typeface="Cambria Math" panose="02040503050406030204" pitchFamily="18" charset="0"/>
            </a:endParaRPr>
          </a:p>
          <a:p>
            <a:pPr marL="0" indent="0">
              <a:buNone/>
            </a:pPr>
            <a:r>
              <a:rPr lang="en-US" altLang="zh-CN" dirty="0">
                <a:solidFill>
                  <a:srgbClr val="FF0000"/>
                </a:solidFill>
                <a:latin typeface="Cambria Math" panose="02040503050406030204" pitchFamily="18" charset="0"/>
              </a:rPr>
              <a:t>(</a:t>
            </a:r>
            <a:r>
              <a:rPr lang="zh-CN" altLang="en-US" dirty="0">
                <a:solidFill>
                  <a:srgbClr val="FF0000"/>
                </a:solidFill>
                <a:latin typeface="Cambria Math" panose="02040503050406030204" pitchFamily="18" charset="0"/>
              </a:rPr>
              <a:t>最小的</a:t>
            </a:r>
            <a:r>
              <a:rPr lang="en-US" altLang="zh-CN" dirty="0">
                <a:solidFill>
                  <a:srgbClr val="FF0000"/>
                </a:solidFill>
                <a:latin typeface="Cambria Math" panose="02040503050406030204" pitchFamily="18" charset="0"/>
              </a:rPr>
              <a:t>)</a:t>
            </a:r>
            <a:r>
              <a:rPr lang="zh-CN" altLang="en-US" dirty="0">
                <a:solidFill>
                  <a:srgbClr val="FF0000"/>
                </a:solidFill>
                <a:latin typeface="Cambria Math" panose="02040503050406030204" pitchFamily="18" charset="0"/>
              </a:rPr>
              <a:t>：最后</a:t>
            </a:r>
            <a:r>
              <a:rPr lang="zh-CN" altLang="en-US" dirty="0">
                <a:latin typeface="Cambria Math" panose="02040503050406030204" pitchFamily="18" charset="0"/>
              </a:rPr>
              <a:t>假设𝑅</a:t>
            </a:r>
            <a:r>
              <a:rPr lang="en-US" altLang="zh-CN" dirty="0">
                <a:latin typeface="Cambria Math" panose="02040503050406030204" pitchFamily="18" charset="0"/>
              </a:rPr>
              <a:t>''</a:t>
            </a:r>
            <a:r>
              <a:rPr lang="zh-CN" altLang="en-US" dirty="0">
                <a:latin typeface="Cambria Math" panose="02040503050406030204" pitchFamily="18" charset="0"/>
              </a:rPr>
              <a:t>是对称的且𝑅⊆</a:t>
            </a:r>
            <a:r>
              <a:rPr lang="en-US" altLang="zh-CN" dirty="0">
                <a:latin typeface="Cambria Math" panose="02040503050406030204" pitchFamily="18" charset="0"/>
              </a:rPr>
              <a:t>𝑅</a:t>
            </a:r>
            <a:r>
              <a:rPr lang="en-US" altLang="zh-CN" dirty="0">
                <a:latin typeface="Cambria Math" panose="02040503050406030204" pitchFamily="18" charset="0"/>
              </a:rPr>
              <a:t>'', </a:t>
            </a:r>
            <a:r>
              <a:rPr lang="zh-CN" altLang="en-US" dirty="0">
                <a:latin typeface="Cambria Math" panose="02040503050406030204" pitchFamily="18" charset="0"/>
              </a:rPr>
              <a:t>对任意</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dirty="0">
                <a:latin typeface="Cambria Math" panose="02040503050406030204" pitchFamily="18" charset="0"/>
              </a:rPr>
              <a:t>', </a:t>
            </a:r>
            <a:r>
              <a:rPr lang="zh-CN" altLang="en-US" dirty="0">
                <a:latin typeface="Cambria Math" panose="02040503050406030204" pitchFamily="18" charset="0"/>
              </a:rPr>
              <a:t>则</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zh-CN" altLang="en-US" dirty="0">
                <a:latin typeface="Cambria Math" panose="02040503050406030204" pitchFamily="18" charset="0"/>
              </a:rPr>
              <a:t>或</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baseline="30000" dirty="0">
                <a:latin typeface="Cambria Math" panose="02040503050406030204" pitchFamily="18" charset="0"/>
              </a:rPr>
              <a:t>-1</a:t>
            </a:r>
            <a:r>
              <a:rPr lang="zh-CN" altLang="en-US" dirty="0">
                <a:latin typeface="Cambria Math" panose="02040503050406030204" pitchFamily="18" charset="0"/>
              </a:rPr>
              <a:t>。当</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 </a:t>
            </a:r>
            <a:r>
              <a:rPr lang="zh-CN" altLang="en-US" dirty="0">
                <a:latin typeface="Cambria Math" panose="02040503050406030204" pitchFamily="18" charset="0"/>
              </a:rPr>
              <a:t>则</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dirty="0">
                <a:latin typeface="Cambria Math" panose="02040503050406030204" pitchFamily="18" charset="0"/>
              </a:rPr>
              <a:t>'', </a:t>
            </a:r>
            <a:r>
              <a:rPr lang="zh-CN" altLang="en-US" dirty="0">
                <a:latin typeface="Cambria Math" panose="02040503050406030204" pitchFamily="18" charset="0"/>
              </a:rPr>
              <a:t>当</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baseline="30000" dirty="0">
                <a:latin typeface="Cambria Math" panose="02040503050406030204" pitchFamily="18" charset="0"/>
              </a:rPr>
              <a:t>-1</a:t>
            </a:r>
            <a:r>
              <a:rPr lang="zh-CN" altLang="en-US" dirty="0">
                <a:latin typeface="Cambria Math" panose="02040503050406030204" pitchFamily="18" charset="0"/>
              </a:rPr>
              <a:t>时</a:t>
            </a:r>
            <a:r>
              <a:rPr lang="en-US" altLang="zh-CN" dirty="0">
                <a:latin typeface="Cambria Math" panose="02040503050406030204" pitchFamily="18" charset="0"/>
              </a:rPr>
              <a:t>, </a:t>
            </a:r>
            <a:r>
              <a:rPr lang="en-US" altLang="zh-CN" dirty="0">
                <a:latin typeface="Cambria Math" panose="02040503050406030204" pitchFamily="18" charset="0"/>
              </a:rPr>
              <a:t>&lt;𝑦, </a:t>
            </a:r>
            <a:r>
              <a:rPr lang="en-US" altLang="zh-CN" dirty="0">
                <a:latin typeface="Cambria Math" panose="02040503050406030204" pitchFamily="18" charset="0"/>
              </a:rPr>
              <a:t>𝑥</a:t>
            </a:r>
            <a:r>
              <a:rPr lang="en-US" altLang="zh-CN" dirty="0">
                <a:latin typeface="Cambria Math" panose="02040503050406030204" pitchFamily="18" charset="0"/>
              </a:rPr>
              <a:t>&gt;∈</a:t>
            </a:r>
            <a:r>
              <a:rPr lang="en-US" altLang="zh-CN" dirty="0">
                <a:latin typeface="Cambria Math" panose="02040503050406030204" pitchFamily="18" charset="0"/>
              </a:rPr>
              <a:t>𝑅, </a:t>
            </a:r>
            <a:r>
              <a:rPr lang="en-US" altLang="zh-CN" dirty="0">
                <a:latin typeface="Cambria Math" panose="02040503050406030204" pitchFamily="18" charset="0"/>
              </a:rPr>
              <a:t>&lt;𝑦, </a:t>
            </a:r>
            <a:r>
              <a:rPr lang="en-US" altLang="zh-CN" dirty="0">
                <a:latin typeface="Cambria Math" panose="02040503050406030204" pitchFamily="18" charset="0"/>
              </a:rPr>
              <a:t>𝑥</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dirty="0">
                <a:latin typeface="Cambria Math" panose="02040503050406030204" pitchFamily="18" charset="0"/>
              </a:rPr>
              <a:t>'', </a:t>
            </a:r>
            <a:r>
              <a:rPr lang="zh-CN" altLang="en-US" dirty="0">
                <a:latin typeface="Cambria Math" panose="02040503050406030204" pitchFamily="18" charset="0"/>
              </a:rPr>
              <a:t>因为𝑅</a:t>
            </a:r>
            <a:r>
              <a:rPr lang="en-US" altLang="zh-CN" dirty="0">
                <a:latin typeface="Cambria Math" panose="02040503050406030204" pitchFamily="18" charset="0"/>
              </a:rPr>
              <a:t>''</a:t>
            </a:r>
            <a:r>
              <a:rPr lang="zh-CN" altLang="en-US" dirty="0">
                <a:latin typeface="Cambria Math" panose="02040503050406030204" pitchFamily="18" charset="0"/>
              </a:rPr>
              <a:t>对称</a:t>
            </a:r>
            <a:r>
              <a:rPr lang="en-US" altLang="zh-CN" dirty="0">
                <a:latin typeface="Cambria Math" panose="02040503050406030204" pitchFamily="18" charset="0"/>
              </a:rPr>
              <a:t>, </a:t>
            </a:r>
            <a:r>
              <a:rPr lang="zh-CN" altLang="en-US" dirty="0">
                <a:latin typeface="Cambria Math" panose="02040503050406030204" pitchFamily="18" charset="0"/>
              </a:rPr>
              <a:t>所以</a:t>
            </a:r>
            <a:r>
              <a:rPr lang="en-US" altLang="zh-CN" dirty="0">
                <a:latin typeface="Cambria Math" panose="02040503050406030204" pitchFamily="18" charset="0"/>
              </a:rPr>
              <a:t>&lt;𝑥, </a:t>
            </a:r>
            <a:r>
              <a:rPr lang="en-US" altLang="zh-CN" dirty="0">
                <a:latin typeface="Cambria Math" panose="02040503050406030204" pitchFamily="18" charset="0"/>
              </a:rPr>
              <a:t>𝑦</a:t>
            </a:r>
            <a:r>
              <a:rPr lang="en-US" altLang="zh-CN" dirty="0">
                <a:latin typeface="Cambria Math" panose="02040503050406030204" pitchFamily="18" charset="0"/>
              </a:rPr>
              <a:t>&gt;∈</a:t>
            </a:r>
            <a:r>
              <a:rPr lang="en-US" altLang="zh-CN" dirty="0">
                <a:latin typeface="Cambria Math" panose="02040503050406030204" pitchFamily="18" charset="0"/>
              </a:rPr>
              <a:t>𝑅</a:t>
            </a:r>
            <a:r>
              <a:rPr lang="en-US" altLang="zh-CN" dirty="0">
                <a:latin typeface="Cambria Math" panose="02040503050406030204" pitchFamily="18" charset="0"/>
              </a:rPr>
              <a:t>'', </a:t>
            </a:r>
            <a:r>
              <a:rPr lang="zh-CN" altLang="en-US" dirty="0">
                <a:latin typeface="Cambria Math" panose="02040503050406030204" pitchFamily="18" charset="0"/>
              </a:rPr>
              <a:t>因此𝑅</a:t>
            </a:r>
            <a:r>
              <a:rPr lang="en-US" altLang="zh-CN" dirty="0">
                <a:latin typeface="Cambria Math" panose="02040503050406030204" pitchFamily="18" charset="0"/>
              </a:rPr>
              <a:t>'⊆</a:t>
            </a:r>
            <a:r>
              <a:rPr lang="en-US" altLang="zh-CN" dirty="0">
                <a:latin typeface="Cambria Math" panose="02040503050406030204" pitchFamily="18" charset="0"/>
              </a:rPr>
              <a:t>𝑅</a:t>
            </a:r>
            <a:r>
              <a:rPr lang="en-US" altLang="zh-CN" dirty="0">
                <a:latin typeface="Cambria Math" panose="02040503050406030204" pitchFamily="18" charset="0"/>
              </a:rPr>
              <a:t>'', </a:t>
            </a:r>
            <a:endParaRPr lang="en-US" altLang="zh-CN" dirty="0">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故𝑠</a:t>
            </a:r>
            <a:r>
              <a:rPr lang="en-US" altLang="zh-CN" dirty="0">
                <a:latin typeface="Cambria Math" panose="02040503050406030204" pitchFamily="18" charset="0"/>
              </a:rPr>
              <a:t>(𝑅)=𝑅∪</a:t>
            </a:r>
            <a:r>
              <a:rPr lang="en-US" altLang="zh-CN" dirty="0">
                <a:latin typeface="Cambria Math" panose="02040503050406030204" pitchFamily="18" charset="0"/>
              </a:rPr>
              <a:t>𝑅</a:t>
            </a:r>
            <a:r>
              <a:rPr lang="en-US" altLang="zh-CN" baseline="30000" dirty="0">
                <a:latin typeface="Cambria Math" panose="02040503050406030204" pitchFamily="18" charset="0"/>
              </a:rPr>
              <a:t>-1</a:t>
            </a:r>
            <a:r>
              <a:rPr lang="zh-CN" altLang="en-US" dirty="0">
                <a:latin typeface="Cambria Math" panose="02040503050406030204" pitchFamily="18" charset="0"/>
              </a:rPr>
              <a:t>。</a:t>
            </a:r>
            <a:r>
              <a:rPr lang="en-US" altLang="zh-CN" dirty="0">
                <a:latin typeface="Cambria Math" panose="02040503050406030204" pitchFamily="18" charset="0"/>
              </a:rPr>
              <a:t> </a:t>
            </a:r>
            <a:endParaRPr lang="en-US" altLang="zh-CN" dirty="0">
              <a:latin typeface="Cambria Math" panose="02040503050406030204" pitchFamily="18" charset="0"/>
            </a:endParaRPr>
          </a:p>
        </p:txBody>
      </p:sp>
      <p:sp>
        <p:nvSpPr>
          <p:cNvPr id="3" name="幻灯片编号占位符 2"/>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3891" name="Rectangle 2"/>
          <p:cNvSpPr>
            <a:spLocks noGrp="1" noChangeArrowheads="1"/>
          </p:cNvSpPr>
          <p:nvPr>
            <p:ph type="body" idx="1"/>
          </p:nvPr>
        </p:nvSpPr>
        <p:spPr>
          <a:xfrm>
            <a:off x="460375" y="1089064"/>
            <a:ext cx="11353800" cy="1502529"/>
          </a:xfrm>
        </p:spPr>
        <p:txBody>
          <a:bodyPr>
            <a:normAutofit/>
          </a:bodyPr>
          <a:lstStyle/>
          <a:p>
            <a:pPr marL="0" indent="0">
              <a:lnSpc>
                <a:spcPct val="150000"/>
              </a:lnSpc>
              <a:buNone/>
            </a:pPr>
            <a:r>
              <a:rPr lang="zh-CN" altLang="zh-CN" dirty="0">
                <a:solidFill>
                  <a:srgbClr val="C00000"/>
                </a:solidFill>
              </a:rPr>
              <a:t>例</a:t>
            </a:r>
            <a:r>
              <a:rPr lang="en-US" altLang="zh-CN" dirty="0">
                <a:solidFill>
                  <a:srgbClr val="C00000"/>
                </a:solidFill>
              </a:rPr>
              <a:t>4.31  </a:t>
            </a:r>
            <a:r>
              <a:rPr lang="zh-CN" altLang="zh-CN" dirty="0"/>
              <a:t>设</a:t>
            </a:r>
            <a:r>
              <a:rPr lang="en-US" altLang="zh-CN" dirty="0"/>
              <a:t>A</a:t>
            </a:r>
            <a:r>
              <a:rPr lang="zh-CN" altLang="zh-CN" dirty="0"/>
              <a:t>＝</a:t>
            </a:r>
            <a:r>
              <a:rPr lang="en-US" altLang="zh-CN" dirty="0"/>
              <a:t>{a,b,c}</a:t>
            </a:r>
            <a:r>
              <a:rPr lang="zh-CN" altLang="zh-CN" dirty="0"/>
              <a:t>，</a:t>
            </a:r>
            <a:r>
              <a:rPr lang="en-US" altLang="zh-CN" dirty="0"/>
              <a:t>R</a:t>
            </a:r>
            <a:r>
              <a:rPr lang="zh-CN" altLang="zh-CN" dirty="0"/>
              <a:t>＝</a:t>
            </a:r>
            <a:r>
              <a:rPr lang="en-US" altLang="zh-CN" dirty="0"/>
              <a:t>{&lt;a,a&gt;,&lt;a,b&gt;,&lt;b,c&gt;,&lt;c,b&gt;}</a:t>
            </a:r>
            <a:r>
              <a:rPr lang="zh-CN" altLang="zh-CN" dirty="0"/>
              <a:t>是</a:t>
            </a:r>
            <a:r>
              <a:rPr lang="en-US" altLang="zh-CN" dirty="0"/>
              <a:t>A</a:t>
            </a:r>
            <a:r>
              <a:rPr lang="zh-CN" altLang="zh-CN" dirty="0"/>
              <a:t>上的关系。</a:t>
            </a:r>
            <a:endParaRPr lang="en-US" altLang="zh-CN" dirty="0"/>
          </a:p>
          <a:p>
            <a:pPr marL="0" indent="0">
              <a:lnSpc>
                <a:spcPct val="150000"/>
              </a:lnSpc>
              <a:buNone/>
            </a:pPr>
            <a:r>
              <a:rPr lang="en-US" altLang="zh-CN" dirty="0"/>
              <a:t>            </a:t>
            </a:r>
            <a:r>
              <a:rPr lang="zh-CN" altLang="zh-CN" dirty="0"/>
              <a:t>计算</a:t>
            </a:r>
            <a:r>
              <a:rPr lang="en-US" altLang="zh-CN" dirty="0"/>
              <a:t>r(R)</a:t>
            </a:r>
            <a:r>
              <a:rPr lang="zh-CN" altLang="zh-CN" dirty="0"/>
              <a:t>，</a:t>
            </a:r>
            <a:r>
              <a:rPr lang="en-US" altLang="zh-CN" dirty="0"/>
              <a:t>s(R</a:t>
            </a:r>
            <a:r>
              <a:rPr lang="en-US" altLang="zh-CN" dirty="0" smtClean="0"/>
              <a:t>)</a:t>
            </a:r>
            <a:r>
              <a:rPr lang="zh-CN" altLang="zh-CN" dirty="0" smtClean="0"/>
              <a:t>。</a:t>
            </a:r>
            <a:endParaRPr lang="zh-CN" altLang="zh-CN" dirty="0"/>
          </a:p>
        </p:txBody>
      </p:sp>
      <p:sp>
        <p:nvSpPr>
          <p:cNvPr id="293892" name="Rectangle 3"/>
          <p:cNvSpPr>
            <a:spLocks noGrp="1" noChangeArrowheads="1"/>
          </p:cNvSpPr>
          <p:nvPr>
            <p:ph type="title"/>
          </p:nvPr>
        </p:nvSpPr>
        <p:spPr/>
        <p:txBody>
          <a:bodyPr/>
          <a:lstStyle/>
          <a:p>
            <a:pPr eaLnBrk="1" hangingPunct="1"/>
            <a:r>
              <a:rPr lang="zh-CN" altLang="en-US" dirty="0"/>
              <a:t>例</a:t>
            </a:r>
            <a:r>
              <a:rPr lang="en-US" altLang="zh-CN" dirty="0"/>
              <a:t>4.31 </a:t>
            </a:r>
            <a:endParaRPr lang="en-US" altLang="zh-CN" dirty="0"/>
          </a:p>
        </p:txBody>
      </p:sp>
      <p:sp>
        <p:nvSpPr>
          <p:cNvPr id="1622020" name="Rectangle 4"/>
          <p:cNvSpPr>
            <a:spLocks noChangeArrowheads="1"/>
          </p:cNvSpPr>
          <p:nvPr/>
        </p:nvSpPr>
        <p:spPr bwMode="auto">
          <a:xfrm>
            <a:off x="612775" y="2362994"/>
            <a:ext cx="9601200" cy="1549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30000"/>
              </a:lnSpc>
              <a:spcBef>
                <a:spcPct val="0"/>
              </a:spcBef>
              <a:buClr>
                <a:srgbClr val="00FF00"/>
              </a:buClr>
              <a:buFont typeface="Wingdings" panose="05000000000000000000" pitchFamily="2" charset="2"/>
              <a:buNone/>
            </a:pPr>
            <a:r>
              <a:rPr kumimoji="1" lang="zh-CN" altLang="en-US" sz="2400" dirty="0">
                <a:solidFill>
                  <a:srgbClr val="C00000"/>
                </a:solidFill>
                <a:latin typeface="+mn-ea"/>
                <a:ea typeface="+mn-ea"/>
              </a:rPr>
              <a:t>解</a:t>
            </a:r>
            <a:r>
              <a:rPr kumimoji="1" lang="zh-CN" altLang="en-US" sz="2400" dirty="0">
                <a:solidFill>
                  <a:srgbClr val="FF0000"/>
                </a:solidFill>
                <a:latin typeface="+mn-ea"/>
                <a:ea typeface="+mn-ea"/>
              </a:rPr>
              <a:t>  </a:t>
            </a:r>
            <a:r>
              <a:rPr kumimoji="1" lang="en-US" altLang="zh-CN" sz="2400" dirty="0">
                <a:solidFill>
                  <a:srgbClr val="0000CC"/>
                </a:solidFill>
                <a:latin typeface="+mn-ea"/>
                <a:ea typeface="+mn-ea"/>
              </a:rPr>
              <a:t>r(R)</a:t>
            </a:r>
            <a:r>
              <a:rPr kumimoji="1" lang="zh-CN" altLang="en-US" sz="2400" dirty="0">
                <a:solidFill>
                  <a:srgbClr val="0000CC"/>
                </a:solidFill>
                <a:latin typeface="+mn-ea"/>
                <a:ea typeface="+mn-ea"/>
              </a:rPr>
              <a:t>＝</a:t>
            </a:r>
            <a:r>
              <a:rPr kumimoji="1" lang="en-US" altLang="zh-CN" sz="2400" dirty="0">
                <a:solidFill>
                  <a:srgbClr val="0000CC"/>
                </a:solidFill>
                <a:latin typeface="+mn-ea"/>
                <a:ea typeface="+mn-ea"/>
              </a:rPr>
              <a:t>R∪I</a:t>
            </a:r>
            <a:r>
              <a:rPr kumimoji="1" lang="en-US" altLang="zh-CN" sz="2400" baseline="-25000" dirty="0">
                <a:solidFill>
                  <a:srgbClr val="0000CC"/>
                </a:solidFill>
                <a:latin typeface="+mn-ea"/>
                <a:ea typeface="+mn-ea"/>
              </a:rPr>
              <a:t>A</a:t>
            </a:r>
            <a:endParaRPr kumimoji="1" lang="en-US" altLang="zh-CN" sz="2400" baseline="-25000" dirty="0">
              <a:solidFill>
                <a:srgbClr val="0000CC"/>
              </a:solidFill>
              <a:latin typeface="+mn-ea"/>
              <a:ea typeface="+mn-ea"/>
            </a:endParaRPr>
          </a:p>
          <a:p>
            <a:pPr marL="0" indent="0">
              <a:buNone/>
            </a:pPr>
            <a:r>
              <a:rPr lang="en-US" altLang="zh-CN" sz="2400" dirty="0">
                <a:latin typeface="+mn-ea"/>
                <a:ea typeface="+mn-ea"/>
              </a:rPr>
              <a:t>        </a:t>
            </a:r>
            <a:r>
              <a:rPr lang="zh-CN" altLang="zh-CN" sz="2400" dirty="0">
                <a:latin typeface="+mn-ea"/>
                <a:ea typeface="+mn-ea"/>
              </a:rPr>
              <a:t>＝</a:t>
            </a:r>
            <a:r>
              <a:rPr lang="en-US" altLang="zh-CN" sz="2400" dirty="0">
                <a:latin typeface="+mn-ea"/>
                <a:ea typeface="+mn-ea"/>
              </a:rPr>
              <a:t>{&lt;</a:t>
            </a:r>
            <a:r>
              <a:rPr lang="en-US" altLang="zh-CN" sz="2400" dirty="0" err="1">
                <a:latin typeface="+mn-ea"/>
                <a:ea typeface="+mn-ea"/>
              </a:rPr>
              <a:t>a,a</a:t>
            </a:r>
            <a:r>
              <a:rPr lang="en-US" altLang="zh-CN" sz="2400" dirty="0">
                <a:latin typeface="+mn-ea"/>
                <a:ea typeface="+mn-ea"/>
              </a:rPr>
              <a:t>&gt;,&lt;</a:t>
            </a:r>
            <a:r>
              <a:rPr lang="en-US" altLang="zh-CN" sz="2400" dirty="0" err="1">
                <a:latin typeface="+mn-ea"/>
                <a:ea typeface="+mn-ea"/>
              </a:rPr>
              <a:t>a,b</a:t>
            </a:r>
            <a:r>
              <a:rPr lang="en-US" altLang="zh-CN" sz="2400" dirty="0">
                <a:latin typeface="+mn-ea"/>
                <a:ea typeface="+mn-ea"/>
              </a:rPr>
              <a:t>&gt;,&lt;</a:t>
            </a:r>
            <a:r>
              <a:rPr lang="en-US" altLang="zh-CN" sz="2400" dirty="0" err="1">
                <a:latin typeface="+mn-ea"/>
                <a:ea typeface="+mn-ea"/>
              </a:rPr>
              <a:t>b,c</a:t>
            </a:r>
            <a:r>
              <a:rPr lang="en-US" altLang="zh-CN" sz="2400" dirty="0">
                <a:latin typeface="+mn-ea"/>
                <a:ea typeface="+mn-ea"/>
              </a:rPr>
              <a:t>&gt;,&lt;</a:t>
            </a:r>
            <a:r>
              <a:rPr lang="en-US" altLang="zh-CN" sz="2400" dirty="0" err="1">
                <a:latin typeface="+mn-ea"/>
                <a:ea typeface="+mn-ea"/>
              </a:rPr>
              <a:t>c,b</a:t>
            </a:r>
            <a:r>
              <a:rPr lang="en-US" altLang="zh-CN" sz="2400" dirty="0">
                <a:latin typeface="+mn-ea"/>
                <a:ea typeface="+mn-ea"/>
              </a:rPr>
              <a:t>&gt;}</a:t>
            </a:r>
            <a:r>
              <a:rPr lang="zh-CN" altLang="zh-CN" sz="2400" dirty="0">
                <a:latin typeface="+mn-ea"/>
                <a:ea typeface="+mn-ea"/>
              </a:rPr>
              <a:t>∪</a:t>
            </a:r>
            <a:r>
              <a:rPr lang="en-US" altLang="zh-CN" sz="2400" dirty="0">
                <a:latin typeface="+mn-ea"/>
                <a:ea typeface="+mn-ea"/>
              </a:rPr>
              <a:t>{&lt;</a:t>
            </a:r>
            <a:r>
              <a:rPr lang="en-US" altLang="zh-CN" sz="2400" dirty="0" err="1">
                <a:latin typeface="+mn-ea"/>
                <a:ea typeface="+mn-ea"/>
              </a:rPr>
              <a:t>a,a</a:t>
            </a:r>
            <a:r>
              <a:rPr lang="en-US" altLang="zh-CN" sz="2400" dirty="0">
                <a:latin typeface="+mn-ea"/>
                <a:ea typeface="+mn-ea"/>
              </a:rPr>
              <a:t>&gt;,&lt;</a:t>
            </a:r>
            <a:r>
              <a:rPr lang="en-US" altLang="zh-CN" sz="2400" dirty="0" err="1">
                <a:latin typeface="+mn-ea"/>
                <a:ea typeface="+mn-ea"/>
              </a:rPr>
              <a:t>b,b</a:t>
            </a:r>
            <a:r>
              <a:rPr lang="en-US" altLang="zh-CN" sz="2400" dirty="0">
                <a:latin typeface="+mn-ea"/>
                <a:ea typeface="+mn-ea"/>
              </a:rPr>
              <a:t>&gt;,&lt;</a:t>
            </a:r>
            <a:r>
              <a:rPr lang="en-US" altLang="zh-CN" sz="2400" dirty="0" err="1">
                <a:latin typeface="+mn-ea"/>
                <a:ea typeface="+mn-ea"/>
              </a:rPr>
              <a:t>c,c</a:t>
            </a:r>
            <a:r>
              <a:rPr lang="en-US" altLang="zh-CN" sz="2400" dirty="0">
                <a:latin typeface="+mn-ea"/>
                <a:ea typeface="+mn-ea"/>
              </a:rPr>
              <a:t>&gt;}</a:t>
            </a:r>
            <a:endParaRPr lang="zh-CN" altLang="zh-CN" sz="2400" dirty="0">
              <a:latin typeface="+mn-ea"/>
              <a:ea typeface="+mn-ea"/>
            </a:endParaRPr>
          </a:p>
          <a:p>
            <a:pPr marL="0" indent="0">
              <a:buNone/>
            </a:pPr>
            <a:r>
              <a:rPr lang="en-US" altLang="zh-CN" sz="2400" dirty="0">
                <a:latin typeface="+mn-ea"/>
                <a:ea typeface="+mn-ea"/>
              </a:rPr>
              <a:t>        </a:t>
            </a:r>
            <a:r>
              <a:rPr lang="zh-CN" altLang="zh-CN" sz="2400" dirty="0">
                <a:latin typeface="+mn-ea"/>
                <a:ea typeface="+mn-ea"/>
              </a:rPr>
              <a:t>＝</a:t>
            </a:r>
            <a:r>
              <a:rPr lang="en-US" altLang="zh-CN" sz="2400" dirty="0">
                <a:latin typeface="+mn-ea"/>
                <a:ea typeface="+mn-ea"/>
              </a:rPr>
              <a:t>{&lt;</a:t>
            </a:r>
            <a:r>
              <a:rPr lang="en-US" altLang="zh-CN" sz="2400" dirty="0" err="1">
                <a:latin typeface="+mn-ea"/>
                <a:ea typeface="+mn-ea"/>
              </a:rPr>
              <a:t>a,a</a:t>
            </a:r>
            <a:r>
              <a:rPr lang="en-US" altLang="zh-CN" sz="2400" dirty="0">
                <a:latin typeface="+mn-ea"/>
                <a:ea typeface="+mn-ea"/>
              </a:rPr>
              <a:t>&gt;,&lt;</a:t>
            </a:r>
            <a:r>
              <a:rPr lang="en-US" altLang="zh-CN" sz="2400" dirty="0" err="1">
                <a:latin typeface="+mn-ea"/>
                <a:ea typeface="+mn-ea"/>
              </a:rPr>
              <a:t>b,b</a:t>
            </a:r>
            <a:r>
              <a:rPr lang="en-US" altLang="zh-CN" sz="2400" dirty="0">
                <a:latin typeface="+mn-ea"/>
                <a:ea typeface="+mn-ea"/>
              </a:rPr>
              <a:t>&gt;,&lt;</a:t>
            </a:r>
            <a:r>
              <a:rPr lang="en-US" altLang="zh-CN" sz="2400" dirty="0" err="1">
                <a:latin typeface="+mn-ea"/>
                <a:ea typeface="+mn-ea"/>
              </a:rPr>
              <a:t>c,c</a:t>
            </a:r>
            <a:r>
              <a:rPr lang="en-US" altLang="zh-CN" sz="2400" dirty="0">
                <a:latin typeface="+mn-ea"/>
                <a:ea typeface="+mn-ea"/>
              </a:rPr>
              <a:t>&gt;,&lt;</a:t>
            </a:r>
            <a:r>
              <a:rPr lang="en-US" altLang="zh-CN" sz="2400" dirty="0" err="1">
                <a:latin typeface="+mn-ea"/>
                <a:ea typeface="+mn-ea"/>
              </a:rPr>
              <a:t>a,b</a:t>
            </a:r>
            <a:r>
              <a:rPr lang="en-US" altLang="zh-CN" sz="2400" dirty="0">
                <a:latin typeface="+mn-ea"/>
                <a:ea typeface="+mn-ea"/>
              </a:rPr>
              <a:t>&gt;,&lt;</a:t>
            </a:r>
            <a:r>
              <a:rPr lang="en-US" altLang="zh-CN" sz="2400" dirty="0" err="1">
                <a:latin typeface="+mn-ea"/>
                <a:ea typeface="+mn-ea"/>
              </a:rPr>
              <a:t>b,c</a:t>
            </a:r>
            <a:r>
              <a:rPr lang="en-US" altLang="zh-CN" sz="2400" dirty="0">
                <a:latin typeface="+mn-ea"/>
                <a:ea typeface="+mn-ea"/>
              </a:rPr>
              <a:t>&gt;,&lt;</a:t>
            </a:r>
            <a:r>
              <a:rPr lang="en-US" altLang="zh-CN" sz="2400" dirty="0" err="1">
                <a:latin typeface="+mn-ea"/>
                <a:ea typeface="+mn-ea"/>
              </a:rPr>
              <a:t>c,b</a:t>
            </a:r>
            <a:r>
              <a:rPr lang="en-US" altLang="zh-CN" sz="2400" dirty="0">
                <a:latin typeface="+mn-ea"/>
                <a:ea typeface="+mn-ea"/>
              </a:rPr>
              <a:t>&gt;}</a:t>
            </a:r>
            <a:r>
              <a:rPr kumimoji="1" lang="en-US" altLang="zh-CN" sz="2400" dirty="0">
                <a:latin typeface="+mn-ea"/>
                <a:ea typeface="+mn-ea"/>
              </a:rPr>
              <a:t>	</a:t>
            </a:r>
            <a:endParaRPr kumimoji="1" lang="zh-CN" altLang="en-US" sz="2400" dirty="0">
              <a:latin typeface="+mn-ea"/>
              <a:ea typeface="+mn-ea"/>
            </a:endParaRP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2020"/>
                                        </p:tgtEl>
                                        <p:attrNameLst>
                                          <p:attrName>style.visibility</p:attrName>
                                        </p:attrNameLst>
                                      </p:cBhvr>
                                      <p:to>
                                        <p:strVal val="visible"/>
                                      </p:to>
                                    </p:set>
                                    <p:anim calcmode="lin" valueType="num">
                                      <p:cBhvr additive="base">
                                        <p:cTn id="7" dur="500" fill="hold"/>
                                        <p:tgtEl>
                                          <p:spTgt spid="1622020"/>
                                        </p:tgtEl>
                                        <p:attrNameLst>
                                          <p:attrName>ppt_x</p:attrName>
                                        </p:attrNameLst>
                                      </p:cBhvr>
                                      <p:tavLst>
                                        <p:tav tm="0">
                                          <p:val>
                                            <p:strVal val="0-#ppt_w/2"/>
                                          </p:val>
                                        </p:tav>
                                        <p:tav tm="100000">
                                          <p:val>
                                            <p:strVal val="#ppt_x"/>
                                          </p:val>
                                        </p:tav>
                                      </p:tavLst>
                                    </p:anim>
                                    <p:anim calcmode="lin" valueType="num">
                                      <p:cBhvr additive="base">
                                        <p:cTn id="8" dur="500" fill="hold"/>
                                        <p:tgtEl>
                                          <p:spTgt spid="16220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2020"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1005120"/>
            <a:ext cx="11506200" cy="4849347"/>
          </a:xfrm>
        </p:spPr>
        <p:txBody>
          <a:bodyPr/>
          <a:lstStyle/>
          <a:p>
            <a:pPr marL="0" indent="0">
              <a:lnSpc>
                <a:spcPct val="150000"/>
              </a:lnSpc>
              <a:buNone/>
            </a:pPr>
            <a:r>
              <a:rPr lang="en-US" altLang="zh-CN" dirty="0">
                <a:solidFill>
                  <a:srgbClr val="FF0000"/>
                </a:solidFill>
              </a:rPr>
              <a:t>s(R)</a:t>
            </a:r>
            <a:r>
              <a:rPr kumimoji="1" lang="zh-CN" altLang="en-US" sz="2800" dirty="0">
                <a:solidFill>
                  <a:srgbClr val="0000CC"/>
                </a:solidFill>
              </a:rPr>
              <a:t> ＝ </a:t>
            </a:r>
            <a:r>
              <a:rPr lang="en-US" altLang="zh-CN" dirty="0">
                <a:solidFill>
                  <a:srgbClr val="FF0000"/>
                </a:solidFill>
              </a:rPr>
              <a:t>R∪R</a:t>
            </a:r>
            <a:r>
              <a:rPr lang="en-US" altLang="zh-CN" baseline="30000" dirty="0">
                <a:solidFill>
                  <a:srgbClr val="FF0000"/>
                </a:solidFill>
              </a:rPr>
              <a:t>-1</a:t>
            </a:r>
            <a:endParaRPr lang="en-US" altLang="zh-CN" baseline="30000" dirty="0">
              <a:solidFill>
                <a:srgbClr val="FF0000"/>
              </a:solidFill>
            </a:endParaRPr>
          </a:p>
          <a:p>
            <a:pPr marL="0" indent="0">
              <a:lnSpc>
                <a:spcPct val="150000"/>
              </a:lnSpc>
              <a:buNone/>
            </a:pPr>
            <a:r>
              <a:rPr lang="zh-CN" altLang="en-US" baseline="30000" dirty="0"/>
              <a:t>            </a:t>
            </a:r>
            <a:r>
              <a:rPr kumimoji="1" lang="zh-CN" altLang="en-US" sz="2800" dirty="0">
                <a:solidFill>
                  <a:srgbClr val="0000CC"/>
                </a:solidFill>
              </a:rPr>
              <a:t>＝</a:t>
            </a:r>
            <a:r>
              <a:rPr lang="en-US" altLang="zh-CN" dirty="0"/>
              <a:t>{&lt;a,a&gt;,&lt;a,b&gt;,&lt;b,c&gt;,&lt;c,b&gt;}</a:t>
            </a:r>
            <a:r>
              <a:rPr lang="zh-CN" altLang="zh-CN" dirty="0"/>
              <a:t>∪</a:t>
            </a:r>
            <a:r>
              <a:rPr lang="en-US" altLang="zh-CN" dirty="0"/>
              <a:t>{&lt;a,a&gt;,&lt;b,a&gt;,&lt;b,c&gt;,&lt;c,b&gt;}</a:t>
            </a:r>
            <a:endParaRPr lang="zh-CN" altLang="zh-CN" dirty="0"/>
          </a:p>
          <a:p>
            <a:pPr marL="0" indent="0">
              <a:lnSpc>
                <a:spcPct val="150000"/>
              </a:lnSpc>
              <a:buNone/>
            </a:pPr>
            <a:r>
              <a:rPr kumimoji="1" lang="en-US" altLang="zh-CN" sz="2800" dirty="0">
                <a:solidFill>
                  <a:srgbClr val="0000CC"/>
                </a:solidFill>
              </a:rPr>
              <a:t>       </a:t>
            </a:r>
            <a:r>
              <a:rPr kumimoji="1" lang="zh-CN" altLang="en-US" sz="2800" dirty="0">
                <a:solidFill>
                  <a:srgbClr val="0000CC"/>
                </a:solidFill>
              </a:rPr>
              <a:t>＝</a:t>
            </a:r>
            <a:r>
              <a:rPr lang="en-US" altLang="zh-CN" dirty="0"/>
              <a:t>{&lt;a,a&gt;,&lt;a,b&gt;,&lt;b,a&gt;,&lt;b,c&gt;,&lt;c,b</a:t>
            </a:r>
            <a:r>
              <a:rPr lang="en-US" altLang="zh-CN" dirty="0" smtClean="0"/>
              <a:t>&gt;}</a:t>
            </a:r>
            <a:endParaRPr lang="zh-CN" altLang="zh-CN" dirty="0"/>
          </a:p>
        </p:txBody>
      </p:sp>
      <p:sp>
        <p:nvSpPr>
          <p:cNvPr id="6" name="Rectangle 3"/>
          <p:cNvSpPr>
            <a:spLocks noGrp="1" noChangeArrowheads="1"/>
          </p:cNvSpPr>
          <p:nvPr>
            <p:ph type="title"/>
          </p:nvPr>
        </p:nvSpPr>
        <p:spPr>
          <a:xfrm>
            <a:off x="774700" y="352424"/>
            <a:ext cx="5334000" cy="429419"/>
          </a:xfrm>
        </p:spPr>
        <p:txBody>
          <a:bodyPr/>
          <a:lstStyle/>
          <a:p>
            <a:pPr eaLnBrk="1" hangingPunct="1"/>
            <a:r>
              <a:rPr lang="zh-CN" altLang="en-US" dirty="0"/>
              <a:t>例</a:t>
            </a:r>
            <a:r>
              <a:rPr lang="en-US" altLang="zh-CN" dirty="0"/>
              <a:t>4.31 </a:t>
            </a:r>
            <a:r>
              <a:rPr lang="zh-CN" altLang="en-US" dirty="0"/>
              <a:t>（续）</a:t>
            </a:r>
            <a:r>
              <a:rPr lang="en-US" altLang="zh-CN" dirty="0"/>
              <a:t> </a:t>
            </a:r>
            <a:endParaRPr lang="en-US" altLang="zh-CN"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4067">
                                            <p:txEl>
                                              <p:pRg st="0" end="0"/>
                                            </p:txEl>
                                          </p:spTgt>
                                        </p:tgtEl>
                                        <p:attrNameLst>
                                          <p:attrName>style.visibility</p:attrName>
                                        </p:attrNameLst>
                                      </p:cBhvr>
                                      <p:to>
                                        <p:strVal val="visible"/>
                                      </p:to>
                                    </p:set>
                                    <p:anim calcmode="lin" valueType="num">
                                      <p:cBhvr additive="base">
                                        <p:cTn id="7" dur="500" fill="hold"/>
                                        <p:tgtEl>
                                          <p:spTgt spid="162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24067">
                                            <p:txEl>
                                              <p:pRg st="1" end="1"/>
                                            </p:txEl>
                                          </p:spTgt>
                                        </p:tgtEl>
                                        <p:attrNameLst>
                                          <p:attrName>style.visibility</p:attrName>
                                        </p:attrNameLst>
                                      </p:cBhvr>
                                      <p:to>
                                        <p:strVal val="visible"/>
                                      </p:to>
                                    </p:set>
                                    <p:anim calcmode="lin" valueType="num">
                                      <p:cBhvr additive="base">
                                        <p:cTn id="13" dur="500" fill="hold"/>
                                        <p:tgtEl>
                                          <p:spTgt spid="1624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24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24067">
                                            <p:txEl>
                                              <p:pRg st="2" end="2"/>
                                            </p:txEl>
                                          </p:spTgt>
                                        </p:tgtEl>
                                        <p:attrNameLst>
                                          <p:attrName>style.visibility</p:attrName>
                                        </p:attrNameLst>
                                      </p:cBhvr>
                                      <p:to>
                                        <p:strVal val="visible"/>
                                      </p:to>
                                    </p:set>
                                    <p:anim calcmode="lin" valueType="num">
                                      <p:cBhvr additive="base">
                                        <p:cTn id="19" dur="500" fill="hold"/>
                                        <p:tgtEl>
                                          <p:spTgt spid="1624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406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4067" grpId="0" advAuto="0" autoUpdateAnimBg="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5021342"/>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学习要求</a:t>
            </a: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08445"/>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49041"/>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54436" cy="369353"/>
          </a:xfrm>
          <a:prstGeom prst="rect">
            <a:avLst/>
          </a:prstGeom>
          <a:noFill/>
        </p:spPr>
        <p:txBody>
          <a:bodyPr wrap="none" lIns="0" tIns="0" rIns="0" bIns="60981" rtlCol="0">
            <a:spAutoFit/>
          </a:bodyPr>
          <a:lstStyle/>
          <a:p>
            <a:pPr>
              <a:lnSpc>
                <a:spcPts val="2400"/>
              </a:lnSpc>
            </a:pPr>
            <a:r>
              <a:rPr lang="zh-CN" altLang="en-US" b="1" dirty="0" smtClean="0">
                <a:latin typeface="Microsoft YaHei UI" panose="020B0503020204020204" pitchFamily="18" charset="-122"/>
                <a:cs typeface="Microsoft YaHei UI" panose="020B0503020204020204" pitchFamily="18" charset="-122"/>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作业</a:t>
            </a:r>
            <a:endParaRPr lang="zh-CN" altLang="en-US" b="1" dirty="0">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4.6</a:t>
            </a:r>
            <a:endParaRPr lang="en-US" altLang="zh-CN" b="1" dirty="0">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1450975" y="1448329"/>
            <a:ext cx="10147125" cy="1143265"/>
          </a:xfrm>
        </p:spPr>
        <p:txBody>
          <a:bodyPr/>
          <a:lstStyle/>
          <a:p>
            <a:r>
              <a:rPr lang="zh-CN" altLang="zh-CN" sz="2400" b="1" dirty="0">
                <a:solidFill>
                  <a:schemeClr val="tx1"/>
                </a:solidFill>
              </a:rPr>
              <a:t>§</a:t>
            </a:r>
            <a:r>
              <a:rPr lang="en-US" altLang="zh-CN" sz="2400" b="1" dirty="0" smtClean="0">
                <a:solidFill>
                  <a:schemeClr val="tx1"/>
                </a:solidFill>
              </a:rPr>
              <a:t>4-5-1  </a:t>
            </a:r>
            <a:r>
              <a:rPr lang="zh-CN" altLang="zh-CN" sz="2400" b="1" dirty="0">
                <a:solidFill>
                  <a:schemeClr val="tx1"/>
                </a:solidFill>
              </a:rPr>
              <a:t>等价关系的概念</a:t>
            </a:r>
            <a:br>
              <a:rPr lang="en-US" altLang="zh-CN" sz="2400" b="1" dirty="0"/>
            </a:br>
            <a:r>
              <a:rPr lang="en-US" altLang="zh-CN" sz="2400" b="1" dirty="0">
                <a:solidFill>
                  <a:srgbClr val="00B050"/>
                </a:solidFill>
              </a:rPr>
              <a:t>Equivalence Relation</a:t>
            </a:r>
            <a:endParaRPr lang="zh-CN" altLang="en-US" sz="2400" dirty="0">
              <a:solidFill>
                <a:srgbClr val="00B050"/>
              </a:solidFill>
            </a:endParaRPr>
          </a:p>
        </p:txBody>
      </p:sp>
      <p:sp>
        <p:nvSpPr>
          <p:cNvPr id="47107" name="内容占位符 2"/>
          <p:cNvSpPr>
            <a:spLocks noGrp="1"/>
          </p:cNvSpPr>
          <p:nvPr>
            <p:ph type="body" sz="quarter" idx="13"/>
          </p:nvPr>
        </p:nvSpPr>
        <p:spPr>
          <a:xfrm>
            <a:off x="1200777" y="2543577"/>
            <a:ext cx="10758100" cy="2791217"/>
          </a:xfrm>
        </p:spPr>
        <p:txBody>
          <a:bodyPr>
            <a:noAutofit/>
          </a:bodyPr>
          <a:lstStyle/>
          <a:p>
            <a:pPr marL="0" indent="0">
              <a:lnSpc>
                <a:spcPct val="120000"/>
              </a:lnSpc>
              <a:buNone/>
            </a:pPr>
            <a:r>
              <a:rPr lang="en-US" altLang="zh-CN" dirty="0">
                <a:latin typeface="Cambria Math" panose="02040503050406030204" pitchFamily="18" charset="0"/>
              </a:rPr>
              <a:t>【</a:t>
            </a:r>
            <a:r>
              <a:rPr lang="zh-CN" altLang="zh-CN" dirty="0">
                <a:solidFill>
                  <a:srgbClr val="00B050"/>
                </a:solidFill>
                <a:latin typeface="Cambria Math" panose="02040503050406030204" pitchFamily="18" charset="0"/>
              </a:rPr>
              <a:t>定义</a:t>
            </a:r>
            <a:r>
              <a:rPr lang="en-US" altLang="zh-CN" dirty="0">
                <a:latin typeface="Cambria Math" panose="02040503050406030204" pitchFamily="18" charset="0"/>
              </a:rPr>
              <a:t>】</a:t>
            </a:r>
            <a:r>
              <a:rPr lang="zh-CN" altLang="zh-CN" dirty="0">
                <a:latin typeface="Cambria Math" panose="02040503050406030204" pitchFamily="18" charset="0"/>
              </a:rPr>
              <a:t>设</a:t>
            </a:r>
            <a:r>
              <a:rPr lang="zh-CN" altLang="en-US" dirty="0">
                <a:latin typeface="Cambria Math" panose="02040503050406030204" pitchFamily="18" charset="0"/>
              </a:rPr>
              <a:t>𝑅</a:t>
            </a:r>
            <a:r>
              <a:rPr lang="zh-CN" altLang="zh-CN" dirty="0">
                <a:latin typeface="Cambria Math" panose="02040503050406030204" pitchFamily="18" charset="0"/>
              </a:rPr>
              <a:t>是非空集合</a:t>
            </a:r>
            <a:r>
              <a:rPr lang="zh-CN" altLang="en-US" dirty="0">
                <a:latin typeface="Cambria Math" panose="02040503050406030204" pitchFamily="18" charset="0"/>
              </a:rPr>
              <a:t>𝐴</a:t>
            </a:r>
            <a:r>
              <a:rPr lang="zh-CN" altLang="zh-CN" dirty="0">
                <a:latin typeface="Cambria Math" panose="02040503050406030204" pitchFamily="18" charset="0"/>
              </a:rPr>
              <a:t>上二元</a:t>
            </a:r>
            <a:r>
              <a:rPr lang="zh-CN" altLang="en-US" dirty="0">
                <a:latin typeface="Cambria Math" panose="02040503050406030204" pitchFamily="18" charset="0"/>
              </a:rPr>
              <a:t>等价</a:t>
            </a:r>
            <a:r>
              <a:rPr lang="zh-CN" altLang="zh-CN" dirty="0">
                <a:latin typeface="Cambria Math" panose="02040503050406030204" pitchFamily="18" charset="0"/>
              </a:rPr>
              <a:t>关系</a:t>
            </a:r>
            <a:r>
              <a:rPr lang="zh-CN" altLang="en-US" dirty="0">
                <a:latin typeface="Cambria Math" panose="02040503050406030204" pitchFamily="18" charset="0"/>
              </a:rPr>
              <a:t>，</a:t>
            </a:r>
            <a:r>
              <a:rPr lang="en-US" altLang="zh-CN" dirty="0">
                <a:latin typeface="Cambria Math" panose="02040503050406030204" pitchFamily="18" charset="0"/>
              </a:rPr>
              <a:t> </a:t>
            </a:r>
            <a:r>
              <a:rPr lang="zh-CN" altLang="en-US" dirty="0">
                <a:solidFill>
                  <a:srgbClr val="FF0000"/>
                </a:solidFill>
                <a:latin typeface="Cambria Math" panose="02040503050406030204" pitchFamily="18" charset="0"/>
              </a:rPr>
              <a:t>当且仅当</a:t>
            </a:r>
            <a:r>
              <a:rPr lang="zh-CN" altLang="en-US" dirty="0">
                <a:latin typeface="Cambria Math" panose="02040503050406030204" pitchFamily="18" charset="0"/>
              </a:rPr>
              <a:t>𝑅在𝐴</a:t>
            </a:r>
            <a:r>
              <a:rPr lang="zh-CN" altLang="zh-CN" dirty="0">
                <a:latin typeface="Cambria Math" panose="02040503050406030204" pitchFamily="18" charset="0"/>
              </a:rPr>
              <a:t>上是</a:t>
            </a:r>
            <a:r>
              <a:rPr lang="zh-CN" altLang="zh-CN" dirty="0">
                <a:solidFill>
                  <a:srgbClr val="FF0000"/>
                </a:solidFill>
                <a:latin typeface="Cambria Math" panose="02040503050406030204" pitchFamily="18" charset="0"/>
              </a:rPr>
              <a:t>自反的、对称的和传递的</a:t>
            </a:r>
            <a:r>
              <a:rPr lang="zh-CN" altLang="en-US" dirty="0">
                <a:latin typeface="Cambria Math" panose="02040503050406030204" pitchFamily="18" charset="0"/>
              </a:rPr>
              <a:t>。</a:t>
            </a:r>
            <a:endParaRPr lang="en-US" altLang="zh-CN" dirty="0">
              <a:latin typeface="Cambria Math" panose="02040503050406030204" pitchFamily="18" charset="0"/>
            </a:endParaRPr>
          </a:p>
          <a:p>
            <a:pPr marL="1007745" indent="-478155">
              <a:lnSpc>
                <a:spcPct val="120000"/>
              </a:lnSpc>
              <a:buFont typeface="+mj-ea"/>
              <a:buAutoNum type="circleNumDbPlain"/>
            </a:pPr>
            <a:r>
              <a:rPr lang="zh-CN" altLang="zh-CN" dirty="0">
                <a:latin typeface="Cambria Math" panose="02040503050406030204" pitchFamily="18" charset="0"/>
              </a:rPr>
              <a:t>若</a:t>
            </a:r>
            <a:r>
              <a:rPr lang="en-US" altLang="zh-CN" dirty="0">
                <a:latin typeface="Cambria Math" panose="02040503050406030204" pitchFamily="18" charset="0"/>
              </a:rPr>
              <a:t>&lt;𝑎</a:t>
            </a:r>
            <a:r>
              <a:rPr lang="en-US" altLang="zh-CN" dirty="0">
                <a:latin typeface="Cambria Math" panose="02040503050406030204" pitchFamily="18" charset="0"/>
              </a:rPr>
              <a:t>, 𝑏</a:t>
            </a:r>
            <a:r>
              <a:rPr lang="en-US" altLang="zh-CN" dirty="0">
                <a:latin typeface="Cambria Math" panose="02040503050406030204" pitchFamily="18" charset="0"/>
              </a:rPr>
              <a:t>&gt;</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𝑅, </a:t>
            </a:r>
            <a:r>
              <a:rPr lang="zh-CN" altLang="zh-CN" dirty="0">
                <a:latin typeface="Cambria Math" panose="02040503050406030204" pitchFamily="18" charset="0"/>
              </a:rPr>
              <a:t>或</a:t>
            </a:r>
            <a:r>
              <a:rPr lang="zh-CN" altLang="en-US" dirty="0">
                <a:latin typeface="Cambria Math" panose="02040503050406030204" pitchFamily="18" charset="0"/>
              </a:rPr>
              <a:t>𝑎</a:t>
            </a:r>
            <a:r>
              <a:rPr lang="en-US" altLang="zh-CN" dirty="0">
                <a:latin typeface="Cambria Math" panose="02040503050406030204" pitchFamily="18" charset="0"/>
              </a:rPr>
              <a:t>𝑅𝑏, </a:t>
            </a:r>
            <a:r>
              <a:rPr lang="zh-CN" altLang="zh-CN" dirty="0">
                <a:latin typeface="Cambria Math" panose="02040503050406030204" pitchFamily="18" charset="0"/>
              </a:rPr>
              <a:t>称</a:t>
            </a:r>
            <a:r>
              <a:rPr lang="zh-CN" altLang="en-US" dirty="0">
                <a:latin typeface="Cambria Math" panose="02040503050406030204" pitchFamily="18" charset="0"/>
              </a:rPr>
              <a:t>𝑎</a:t>
            </a:r>
            <a:r>
              <a:rPr lang="zh-CN" altLang="zh-CN" dirty="0">
                <a:solidFill>
                  <a:srgbClr val="FF0000"/>
                </a:solidFill>
                <a:latin typeface="Cambria Math" panose="02040503050406030204" pitchFamily="18" charset="0"/>
              </a:rPr>
              <a:t>等价</a:t>
            </a:r>
            <a:r>
              <a:rPr lang="zh-CN" altLang="en-US" dirty="0">
                <a:latin typeface="Cambria Math" panose="02040503050406030204" pitchFamily="18" charset="0"/>
              </a:rPr>
              <a:t>𝑏</a:t>
            </a:r>
            <a:r>
              <a:rPr lang="en-US" altLang="zh-CN" dirty="0">
                <a:latin typeface="Cambria Math" panose="02040503050406030204" pitchFamily="18" charset="0"/>
              </a:rPr>
              <a:t>, </a:t>
            </a:r>
            <a:r>
              <a:rPr lang="zh-CN" altLang="zh-CN" dirty="0">
                <a:latin typeface="Cambria Math" panose="02040503050406030204" pitchFamily="18" charset="0"/>
              </a:rPr>
              <a:t>记</a:t>
            </a:r>
            <a:r>
              <a:rPr lang="zh-CN" altLang="en-US" dirty="0">
                <a:latin typeface="Cambria Math" panose="02040503050406030204" pitchFamily="18" charset="0"/>
              </a:rPr>
              <a:t>𝑎</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𝑏</a:t>
            </a:r>
            <a:r>
              <a:rPr lang="zh-CN" altLang="zh-CN" dirty="0">
                <a:latin typeface="Cambria Math" panose="02040503050406030204" pitchFamily="18" charset="0"/>
              </a:rPr>
              <a:t>。</a:t>
            </a:r>
            <a:endParaRPr lang="zh-CN" altLang="zh-CN" dirty="0">
              <a:latin typeface="Cambria Math" panose="02040503050406030204" pitchFamily="18" charset="0"/>
            </a:endParaRPr>
          </a:p>
          <a:p>
            <a:pPr marL="1007745" indent="-478155">
              <a:lnSpc>
                <a:spcPct val="120000"/>
              </a:lnSpc>
              <a:buFont typeface="+mj-ea"/>
              <a:buAutoNum type="circleNumDbPlain"/>
            </a:pPr>
            <a:r>
              <a:rPr lang="zh-CN" altLang="zh-CN" dirty="0">
                <a:latin typeface="Cambria Math" panose="02040503050406030204" pitchFamily="18" charset="0"/>
              </a:rPr>
              <a:t>由于</a:t>
            </a:r>
            <a:r>
              <a:rPr lang="zh-CN" altLang="en-US" dirty="0">
                <a:latin typeface="Cambria Math" panose="02040503050406030204" pitchFamily="18" charset="0"/>
              </a:rPr>
              <a:t>𝑅</a:t>
            </a:r>
            <a:r>
              <a:rPr lang="zh-CN" altLang="zh-CN" dirty="0">
                <a:latin typeface="Cambria Math" panose="02040503050406030204" pitchFamily="18" charset="0"/>
              </a:rPr>
              <a:t>是对称的</a:t>
            </a:r>
            <a:r>
              <a:rPr lang="en-US" altLang="zh-CN" dirty="0">
                <a:latin typeface="Cambria Math" panose="02040503050406030204" pitchFamily="18" charset="0"/>
              </a:rPr>
              <a:t>, 𝑎</a:t>
            </a:r>
            <a:r>
              <a:rPr lang="zh-CN" altLang="zh-CN" dirty="0">
                <a:latin typeface="Cambria Math" panose="02040503050406030204" pitchFamily="18" charset="0"/>
              </a:rPr>
              <a:t>等价</a:t>
            </a:r>
            <a:r>
              <a:rPr lang="zh-CN" altLang="en-US" dirty="0">
                <a:latin typeface="Cambria Math" panose="02040503050406030204" pitchFamily="18" charset="0"/>
              </a:rPr>
              <a:t>𝑏</a:t>
            </a:r>
            <a:r>
              <a:rPr lang="zh-CN" altLang="zh-CN" dirty="0">
                <a:latin typeface="Cambria Math" panose="02040503050406030204" pitchFamily="18" charset="0"/>
              </a:rPr>
              <a:t>即</a:t>
            </a:r>
            <a:r>
              <a:rPr lang="zh-CN" altLang="en-US" dirty="0">
                <a:latin typeface="Cambria Math" panose="02040503050406030204" pitchFamily="18" charset="0"/>
              </a:rPr>
              <a:t>𝑏</a:t>
            </a:r>
            <a:r>
              <a:rPr lang="zh-CN" altLang="zh-CN" dirty="0">
                <a:latin typeface="Cambria Math" panose="02040503050406030204" pitchFamily="18" charset="0"/>
              </a:rPr>
              <a:t>等价</a:t>
            </a:r>
            <a:r>
              <a:rPr lang="zh-CN" altLang="en-US" dirty="0">
                <a:latin typeface="Cambria Math" panose="02040503050406030204" pitchFamily="18" charset="0"/>
              </a:rPr>
              <a:t>𝑎</a:t>
            </a:r>
            <a:r>
              <a:rPr lang="en-US" altLang="zh-CN" dirty="0">
                <a:latin typeface="Cambria Math" panose="02040503050406030204" pitchFamily="18" charset="0"/>
              </a:rPr>
              <a:t>, </a:t>
            </a:r>
            <a:r>
              <a:rPr lang="zh-CN" altLang="zh-CN" dirty="0">
                <a:latin typeface="Cambria Math" panose="02040503050406030204" pitchFamily="18" charset="0"/>
              </a:rPr>
              <a:t>反之亦然</a:t>
            </a:r>
            <a:r>
              <a:rPr lang="zh-CN" altLang="en-US" dirty="0">
                <a:latin typeface="Cambria Math" panose="02040503050406030204" pitchFamily="18" charset="0"/>
              </a:rPr>
              <a:t>。</a:t>
            </a:r>
            <a:r>
              <a:rPr lang="en-US" altLang="zh-CN" dirty="0">
                <a:latin typeface="Cambria Math" panose="02040503050406030204" pitchFamily="18" charset="0"/>
              </a:rPr>
              <a:t> </a:t>
            </a:r>
            <a:r>
              <a:rPr lang="zh-CN" altLang="en-US" dirty="0">
                <a:latin typeface="Cambria Math" panose="02040503050406030204" pitchFamily="18" charset="0"/>
              </a:rPr>
              <a:t>所以</a:t>
            </a:r>
            <a:r>
              <a:rPr lang="en-US" altLang="zh-CN" dirty="0">
                <a:latin typeface="Cambria Math" panose="02040503050406030204" pitchFamily="18" charset="0"/>
              </a:rPr>
              <a:t>𝑎</a:t>
            </a:r>
            <a:r>
              <a:rPr lang="zh-CN" altLang="zh-CN" dirty="0">
                <a:latin typeface="Cambria Math" panose="02040503050406030204" pitchFamily="18" charset="0"/>
              </a:rPr>
              <a:t>与</a:t>
            </a:r>
            <a:r>
              <a:rPr lang="zh-CN" altLang="en-US" dirty="0">
                <a:latin typeface="Cambria Math" panose="02040503050406030204" pitchFamily="18" charset="0"/>
              </a:rPr>
              <a:t>𝑏</a:t>
            </a:r>
            <a:r>
              <a:rPr lang="zh-CN" altLang="zh-CN" dirty="0">
                <a:solidFill>
                  <a:srgbClr val="FF0000"/>
                </a:solidFill>
                <a:latin typeface="Cambria Math" panose="02040503050406030204" pitchFamily="18" charset="0"/>
              </a:rPr>
              <a:t>彼此等价</a:t>
            </a:r>
            <a:r>
              <a:rPr lang="zh-CN" altLang="zh-CN" dirty="0" smtClean="0">
                <a:latin typeface="Cambria Math" panose="02040503050406030204" pitchFamily="18" charset="0"/>
              </a:rPr>
              <a:t>。</a:t>
            </a:r>
            <a:endParaRPr lang="zh-CN" altLang="en-US" dirty="0">
              <a:latin typeface="Cambria Math" panose="02040503050406030204" pitchFamily="18" charset="0"/>
            </a:endParaRPr>
          </a:p>
        </p:txBody>
      </p:sp>
      <p:sp>
        <p:nvSpPr>
          <p:cNvPr id="4" name="幻灯片编号占位符 3"/>
          <p:cNvSpPr>
            <a:spLocks noGrp="1"/>
          </p:cNvSpPr>
          <p:nvPr>
            <p:ph type="sldNum" sz="quarter" idx="4"/>
          </p:nvPr>
        </p:nvSpPr>
        <p:spPr/>
        <p:txBody>
          <a:bodyPr/>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Cambria Math" panose="02040503050406030204" pitchFamily="18" charset="0"/>
              </a:rPr>
              <a:t>示</a:t>
            </a:r>
            <a:r>
              <a:rPr lang="zh-CN" altLang="zh-CN" dirty="0">
                <a:latin typeface="Cambria Math" panose="02040503050406030204" pitchFamily="18" charset="0"/>
              </a:rPr>
              <a:t>例</a:t>
            </a:r>
            <a:r>
              <a:rPr lang="en-US" altLang="zh-CN" dirty="0">
                <a:latin typeface="Cambria Math" panose="02040503050406030204" pitchFamily="18" charset="0"/>
              </a:rPr>
              <a:t>1</a:t>
            </a:r>
            <a:endParaRPr lang="zh-CN" altLang="en-US" dirty="0"/>
          </a:p>
        </p:txBody>
      </p:sp>
      <p:sp>
        <p:nvSpPr>
          <p:cNvPr id="8" name="内容占位符 7"/>
          <p:cNvSpPr>
            <a:spLocks noGrp="1"/>
          </p:cNvSpPr>
          <p:nvPr>
            <p:ph idx="1"/>
          </p:nvPr>
        </p:nvSpPr>
        <p:spPr/>
        <p:txBody>
          <a:bodyPr/>
          <a:lstStyle/>
          <a:p>
            <a:pPr marL="0" indent="0">
              <a:buNone/>
            </a:pPr>
            <a:r>
              <a:rPr lang="zh-CN" altLang="en-US" dirty="0">
                <a:latin typeface="Cambria Math" panose="02040503050406030204" pitchFamily="18" charset="0"/>
              </a:rPr>
              <a:t>令𝐴</a:t>
            </a:r>
            <a:r>
              <a:rPr lang="en-US" altLang="zh-CN" dirty="0">
                <a:latin typeface="Cambria Math" panose="02040503050406030204" pitchFamily="18" charset="0"/>
              </a:rPr>
              <a:t>=</a:t>
            </a:r>
            <a:r>
              <a:rPr lang="zh-CN" altLang="zh-CN" dirty="0">
                <a:latin typeface="Cambria Math" panose="02040503050406030204" pitchFamily="18" charset="0"/>
              </a:rPr>
              <a:t>{</a:t>
            </a:r>
            <a:r>
              <a:rPr lang="en-US" altLang="zh-CN" dirty="0">
                <a:latin typeface="Cambria Math" panose="02040503050406030204" pitchFamily="18" charset="0"/>
              </a:rPr>
              <a:t>𝑎, 𝑏, 𝑐}, 𝑅</a:t>
            </a:r>
            <a:r>
              <a:rPr lang="en-US" altLang="zh-CN" dirty="0">
                <a:latin typeface="Cambria Math" panose="02040503050406030204" pitchFamily="18" charset="0"/>
              </a:rPr>
              <a:t>=</a:t>
            </a:r>
            <a:r>
              <a:rPr lang="zh-CN" altLang="zh-CN" dirty="0">
                <a:latin typeface="Cambria Math" panose="02040503050406030204" pitchFamily="18" charset="0"/>
              </a:rPr>
              <a:t>{</a:t>
            </a:r>
            <a:r>
              <a:rPr lang="en-US" altLang="zh-CN" dirty="0">
                <a:latin typeface="Cambria Math" panose="02040503050406030204" pitchFamily="18" charset="0"/>
              </a:rPr>
              <a:t>&lt;𝑎</a:t>
            </a:r>
            <a:r>
              <a:rPr lang="en-US" altLang="zh-CN" dirty="0">
                <a:latin typeface="Cambria Math" panose="02040503050406030204" pitchFamily="18" charset="0"/>
              </a:rPr>
              <a:t>, 𝑎</a:t>
            </a:r>
            <a:r>
              <a:rPr lang="en-US" altLang="zh-CN" dirty="0">
                <a:latin typeface="Cambria Math" panose="02040503050406030204" pitchFamily="18" charset="0"/>
              </a:rPr>
              <a:t>&gt;</a:t>
            </a:r>
            <a:r>
              <a:rPr lang="en-US" altLang="zh-CN" dirty="0">
                <a:latin typeface="Cambria Math" panose="02040503050406030204" pitchFamily="18" charset="0"/>
              </a:rPr>
              <a:t>, </a:t>
            </a:r>
            <a:r>
              <a:rPr lang="en-US" altLang="zh-CN" dirty="0">
                <a:latin typeface="Cambria Math" panose="02040503050406030204" pitchFamily="18" charset="0"/>
              </a:rPr>
              <a:t>&lt;𝑎</a:t>
            </a:r>
            <a:r>
              <a:rPr lang="en-US" altLang="zh-CN" dirty="0">
                <a:latin typeface="Cambria Math" panose="02040503050406030204" pitchFamily="18" charset="0"/>
              </a:rPr>
              <a:t>, 𝑏</a:t>
            </a:r>
            <a:r>
              <a:rPr lang="en-US" altLang="zh-CN" dirty="0">
                <a:latin typeface="Cambria Math" panose="02040503050406030204" pitchFamily="18" charset="0"/>
              </a:rPr>
              <a:t>&gt;</a:t>
            </a:r>
            <a:r>
              <a:rPr lang="en-US" altLang="zh-CN" dirty="0">
                <a:latin typeface="Cambria Math" panose="02040503050406030204" pitchFamily="18" charset="0"/>
              </a:rPr>
              <a:t>, </a:t>
            </a:r>
            <a:r>
              <a:rPr lang="en-US" altLang="zh-CN" dirty="0">
                <a:latin typeface="Cambria Math" panose="02040503050406030204" pitchFamily="18" charset="0"/>
              </a:rPr>
              <a:t>&lt;𝑏</a:t>
            </a:r>
            <a:r>
              <a:rPr lang="en-US" altLang="zh-CN" dirty="0">
                <a:latin typeface="Cambria Math" panose="02040503050406030204" pitchFamily="18" charset="0"/>
              </a:rPr>
              <a:t>, 𝑎</a:t>
            </a:r>
            <a:r>
              <a:rPr lang="en-US" altLang="zh-CN" dirty="0">
                <a:latin typeface="Cambria Math" panose="02040503050406030204" pitchFamily="18" charset="0"/>
              </a:rPr>
              <a:t>&gt;</a:t>
            </a:r>
            <a:r>
              <a:rPr lang="en-US" altLang="zh-CN" dirty="0">
                <a:latin typeface="Cambria Math" panose="02040503050406030204" pitchFamily="18" charset="0"/>
              </a:rPr>
              <a:t>, </a:t>
            </a:r>
            <a:r>
              <a:rPr lang="en-US" altLang="zh-CN" dirty="0">
                <a:latin typeface="Cambria Math" panose="02040503050406030204" pitchFamily="18" charset="0"/>
              </a:rPr>
              <a:t>&lt;𝑏</a:t>
            </a:r>
            <a:r>
              <a:rPr lang="en-US" altLang="zh-CN" dirty="0">
                <a:latin typeface="Cambria Math" panose="02040503050406030204" pitchFamily="18" charset="0"/>
              </a:rPr>
              <a:t>, 𝑏</a:t>
            </a:r>
            <a:r>
              <a:rPr lang="en-US" altLang="zh-CN" dirty="0">
                <a:latin typeface="Cambria Math" panose="02040503050406030204" pitchFamily="18" charset="0"/>
              </a:rPr>
              <a:t>&gt;</a:t>
            </a:r>
            <a:r>
              <a:rPr lang="en-US" altLang="zh-CN" dirty="0">
                <a:latin typeface="Cambria Math" panose="02040503050406030204" pitchFamily="18" charset="0"/>
              </a:rPr>
              <a:t>, </a:t>
            </a:r>
            <a:r>
              <a:rPr lang="en-US" altLang="zh-CN" dirty="0">
                <a:latin typeface="Cambria Math" panose="02040503050406030204" pitchFamily="18" charset="0"/>
              </a:rPr>
              <a:t>&lt;𝑐</a:t>
            </a:r>
            <a:r>
              <a:rPr lang="en-US" altLang="zh-CN" dirty="0">
                <a:latin typeface="Cambria Math" panose="02040503050406030204" pitchFamily="18" charset="0"/>
              </a:rPr>
              <a:t>, 𝑐</a:t>
            </a:r>
            <a:r>
              <a:rPr lang="en-US" altLang="zh-CN" dirty="0">
                <a:latin typeface="Cambria Math" panose="02040503050406030204" pitchFamily="18" charset="0"/>
              </a:rPr>
              <a:t>&gt;</a:t>
            </a:r>
            <a:r>
              <a:rPr lang="en-US" altLang="zh-CN" dirty="0">
                <a:latin typeface="Cambria Math" panose="02040503050406030204" pitchFamily="18" charset="0"/>
              </a:rPr>
              <a:t>}, </a:t>
            </a:r>
            <a:r>
              <a:rPr lang="zh-CN" altLang="en-US" dirty="0">
                <a:latin typeface="Cambria Math" panose="02040503050406030204" pitchFamily="18" charset="0"/>
              </a:rPr>
              <a:t>判定𝑅是否为等价关系。</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解：</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因为𝐼</a:t>
            </a:r>
            <a:r>
              <a:rPr lang="zh-CN" altLang="en-US" baseline="-25000" dirty="0">
                <a:latin typeface="Cambria Math" panose="02040503050406030204" pitchFamily="18" charset="0"/>
              </a:rPr>
              <a:t>𝐴</a:t>
            </a:r>
            <a:r>
              <a:rPr lang="zh-CN" altLang="en-US"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𝑅, </a:t>
            </a:r>
            <a:r>
              <a:rPr lang="zh-CN" altLang="en-US" dirty="0">
                <a:latin typeface="Cambria Math" panose="02040503050406030204" pitchFamily="18" charset="0"/>
              </a:rPr>
              <a:t>可知𝑅是</a:t>
            </a:r>
            <a:r>
              <a:rPr lang="zh-CN" altLang="en-US" dirty="0">
                <a:solidFill>
                  <a:srgbClr val="FF0000"/>
                </a:solidFill>
                <a:latin typeface="Cambria Math" panose="02040503050406030204" pitchFamily="18" charset="0"/>
              </a:rPr>
              <a:t>自反</a:t>
            </a:r>
            <a:r>
              <a:rPr lang="zh-CN" altLang="en-US" dirty="0">
                <a:latin typeface="Cambria Math" panose="02040503050406030204" pitchFamily="18" charset="0"/>
              </a:rPr>
              <a:t>的；</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由于𝑎𝑅𝑏</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𝑏</a:t>
            </a:r>
            <a:r>
              <a:rPr lang="zh-CN" altLang="en-US" dirty="0">
                <a:latin typeface="Cambria Math" panose="02040503050406030204" pitchFamily="18" charset="0"/>
              </a:rPr>
              <a:t>𝑅𝑎</a:t>
            </a:r>
            <a:r>
              <a:rPr lang="en-US" altLang="zh-CN" dirty="0">
                <a:latin typeface="Cambria Math" panose="02040503050406030204" pitchFamily="18" charset="0"/>
              </a:rPr>
              <a:t>, 𝑏</a:t>
            </a:r>
            <a:r>
              <a:rPr lang="zh-CN" altLang="en-US" dirty="0">
                <a:latin typeface="Cambria Math" panose="02040503050406030204" pitchFamily="18" charset="0"/>
              </a:rPr>
              <a:t>𝑅𝑎</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𝑎𝑅𝑏, </a:t>
            </a:r>
            <a:r>
              <a:rPr lang="zh-CN" altLang="en-US" dirty="0">
                <a:latin typeface="Cambria Math" panose="02040503050406030204" pitchFamily="18" charset="0"/>
              </a:rPr>
              <a:t>所以𝑅是</a:t>
            </a:r>
            <a:r>
              <a:rPr lang="zh-CN" altLang="en-US" dirty="0">
                <a:solidFill>
                  <a:srgbClr val="FF0000"/>
                </a:solidFill>
                <a:latin typeface="Cambria Math" panose="02040503050406030204" pitchFamily="18" charset="0"/>
              </a:rPr>
              <a:t>对称</a:t>
            </a:r>
            <a:r>
              <a:rPr lang="zh-CN" altLang="en-US" dirty="0">
                <a:latin typeface="Cambria Math" panose="02040503050406030204" pitchFamily="18" charset="0"/>
              </a:rPr>
              <a:t>的；</a:t>
            </a:r>
            <a:endParaRPr lang="en-US" altLang="zh-CN" dirty="0">
              <a:latin typeface="Cambria Math" panose="02040503050406030204" pitchFamily="18" charset="0"/>
            </a:endParaRPr>
          </a:p>
          <a:p>
            <a:pPr marL="0" indent="0">
              <a:buNone/>
            </a:pPr>
            <a:r>
              <a:rPr lang="en-US" altLang="zh-CN" dirty="0">
                <a:latin typeface="Cambria Math" panose="02040503050406030204" pitchFamily="18" charset="0"/>
              </a:rPr>
              <a:t>𝑎𝑅𝑏</a:t>
            </a:r>
            <a:r>
              <a:rPr lang="en-US" altLang="zh-CN" dirty="0">
                <a:latin typeface="Cambria Math" panose="02040503050406030204" pitchFamily="18" charset="0"/>
                <a:sym typeface="宋体" panose="02010600030101010101" pitchFamily="2" charset="-122"/>
              </a:rPr>
              <a:t> ∧ </a:t>
            </a:r>
            <a:r>
              <a:rPr lang="zh-CN" altLang="en-US" dirty="0">
                <a:latin typeface="Cambria Math" panose="02040503050406030204" pitchFamily="18" charset="0"/>
              </a:rPr>
              <a:t>𝑏𝑅𝑎</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𝑎𝑅</a:t>
            </a:r>
            <a:r>
              <a:rPr lang="zh-CN" altLang="en-US" dirty="0">
                <a:latin typeface="Cambria Math" panose="02040503050406030204" pitchFamily="18" charset="0"/>
              </a:rPr>
              <a:t>𝑎</a:t>
            </a:r>
            <a:r>
              <a:rPr lang="en-US" altLang="zh-CN" dirty="0">
                <a:latin typeface="Cambria Math" panose="02040503050406030204" pitchFamily="18" charset="0"/>
              </a:rPr>
              <a:t>, 𝑏</a:t>
            </a:r>
            <a:r>
              <a:rPr lang="zh-CN" altLang="en-US" dirty="0">
                <a:latin typeface="Cambria Math" panose="02040503050406030204" pitchFamily="18" charset="0"/>
              </a:rPr>
              <a:t>𝑅𝑎</a:t>
            </a:r>
            <a:r>
              <a:rPr lang="zh-CN" altLang="en-US" dirty="0">
                <a:latin typeface="Cambria Math" panose="02040503050406030204" pitchFamily="18" charset="0"/>
                <a:sym typeface="宋体" panose="02010600030101010101" pitchFamily="2" charset="-122"/>
              </a:rPr>
              <a:t> ∧ </a:t>
            </a:r>
            <a:r>
              <a:rPr lang="zh-CN" altLang="en-US" dirty="0">
                <a:latin typeface="Cambria Math" panose="02040503050406030204" pitchFamily="18" charset="0"/>
              </a:rPr>
              <a:t>𝑎𝑅𝑏</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𝑏</a:t>
            </a:r>
            <a:r>
              <a:rPr lang="zh-CN" altLang="en-US" dirty="0">
                <a:latin typeface="Cambria Math" panose="02040503050406030204" pitchFamily="18" charset="0"/>
              </a:rPr>
              <a:t>𝑅𝑏</a:t>
            </a:r>
            <a:r>
              <a:rPr lang="en-US" altLang="zh-CN" dirty="0">
                <a:latin typeface="Cambria Math" panose="02040503050406030204" pitchFamily="18" charset="0"/>
              </a:rPr>
              <a:t>, </a:t>
            </a:r>
            <a:r>
              <a:rPr lang="zh-CN" altLang="en-US" dirty="0">
                <a:latin typeface="Cambria Math" panose="02040503050406030204" pitchFamily="18" charset="0"/>
              </a:rPr>
              <a:t>可见𝑅是</a:t>
            </a:r>
            <a:r>
              <a:rPr lang="zh-CN" altLang="en-US" dirty="0">
                <a:solidFill>
                  <a:srgbClr val="FF0000"/>
                </a:solidFill>
                <a:latin typeface="Cambria Math" panose="02040503050406030204" pitchFamily="18" charset="0"/>
              </a:rPr>
              <a:t>传递</a:t>
            </a:r>
            <a:r>
              <a:rPr lang="zh-CN" altLang="en-US" dirty="0">
                <a:latin typeface="Cambria Math" panose="02040503050406030204" pitchFamily="18" charset="0"/>
              </a:rPr>
              <a:t>的。</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综上可知</a:t>
            </a:r>
            <a:r>
              <a:rPr lang="en-US" altLang="zh-CN" dirty="0">
                <a:latin typeface="Cambria Math" panose="02040503050406030204" pitchFamily="18" charset="0"/>
              </a:rPr>
              <a:t>, </a:t>
            </a:r>
            <a:r>
              <a:rPr lang="zh-CN" altLang="en-US" dirty="0">
                <a:latin typeface="Cambria Math" panose="02040503050406030204" pitchFamily="18" charset="0"/>
              </a:rPr>
              <a:t>𝑅是𝐴上的等价关系。</a:t>
            </a:r>
            <a:endParaRPr lang="zh-CN" altLang="zh-CN" dirty="0">
              <a:latin typeface="Cambria Math" panose="02040503050406030204" pitchFamily="18" charset="0"/>
            </a:endParaRPr>
          </a:p>
          <a:p>
            <a:endParaRPr lang="zh-CN" altLang="en-US" dirty="0"/>
          </a:p>
        </p:txBody>
      </p:sp>
      <p:sp>
        <p:nvSpPr>
          <p:cNvPr id="6" name="灯片编号占位符 5"/>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txBox="1">
            <a:spLocks noGrp="1"/>
          </p:cNvSpPr>
          <p:nvPr>
            <p:ph type="sldNum" sz="quarter"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4099" name="Rectangle 2"/>
          <p:cNvSpPr>
            <a:spLocks noGrp="1"/>
          </p:cNvSpPr>
          <p:nvPr>
            <p:ph type="title"/>
          </p:nvPr>
        </p:nvSpPr>
        <p:spPr/>
        <p:txBody>
          <a:bodyPr vert="horz" wrap="square" lIns="91456" tIns="45728" rIns="91456" bIns="45728" anchor="ctr" anchorCtr="0"/>
          <a:lstStyle/>
          <a:p>
            <a:pPr eaLnBrk="1" hangingPunct="1"/>
            <a:r>
              <a:rPr lang="zh-CN" altLang="en-US" b="1" dirty="0"/>
              <a:t>等价关系的定义与实例</a:t>
            </a:r>
            <a:endParaRPr lang="zh-CN" altLang="en-US" b="1" dirty="0"/>
          </a:p>
        </p:txBody>
      </p:sp>
      <p:sp>
        <p:nvSpPr>
          <p:cNvPr id="4101" name="Text Box 4"/>
          <p:cNvSpPr txBox="1"/>
          <p:nvPr/>
        </p:nvSpPr>
        <p:spPr>
          <a:xfrm>
            <a:off x="2210668" y="2240745"/>
            <a:ext cx="7994542" cy="1986280"/>
          </a:xfrm>
          <a:prstGeom prst="rect">
            <a:avLst/>
          </a:prstGeom>
          <a:noFill/>
          <a:ln w="28575">
            <a:noFill/>
          </a:ln>
        </p:spPr>
        <p:txBody>
          <a:bodyPr>
            <a:spAutoFit/>
          </a:bodyPr>
          <a:lstStyle/>
          <a:p>
            <a:pPr>
              <a:lnSpc>
                <a:spcPct val="110000"/>
              </a:lnSpc>
            </a:pPr>
            <a:r>
              <a:rPr lang="zh-CN" altLang="en-US" sz="2800" b="1" dirty="0">
                <a:solidFill>
                  <a:schemeClr val="tx1"/>
                </a:solidFill>
                <a:latin typeface="Times New Roman" panose="02020603050405020304" pitchFamily="18" charset="0"/>
              </a:rPr>
              <a:t>实例  设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={1,2,…,8}, </a:t>
            </a:r>
            <a:r>
              <a:rPr lang="zh-CN" altLang="en-US" sz="2800" b="1" dirty="0">
                <a:solidFill>
                  <a:schemeClr val="tx1"/>
                </a:solidFill>
                <a:latin typeface="Times New Roman" panose="02020603050405020304" pitchFamily="18" charset="0"/>
              </a:rPr>
              <a:t>如下定义</a:t>
            </a:r>
            <a:r>
              <a:rPr lang="en-US" altLang="zh-CN" sz="2800" b="1" i="1" dirty="0">
                <a:solidFill>
                  <a:schemeClr val="tx1"/>
                </a:solidFill>
                <a:latin typeface="Times New Roman" panose="02020603050405020304" pitchFamily="18" charset="0"/>
              </a:rPr>
              <a:t>A</a:t>
            </a:r>
            <a:r>
              <a:rPr lang="zh-CN" altLang="en-US" sz="2800" b="1" dirty="0">
                <a:solidFill>
                  <a:schemeClr val="tx1"/>
                </a:solidFill>
                <a:latin typeface="Times New Roman" panose="02020603050405020304" pitchFamily="18" charset="0"/>
              </a:rPr>
              <a:t>上的关系 </a:t>
            </a:r>
            <a:r>
              <a:rPr lang="en-US" altLang="zh-CN" sz="2800" b="1" i="1" dirty="0">
                <a:solidFill>
                  <a:schemeClr val="tx1"/>
                </a:solidFill>
                <a:latin typeface="Times New Roman" panose="02020603050405020304" pitchFamily="18" charset="0"/>
              </a:rPr>
              <a:t>R</a:t>
            </a:r>
            <a:r>
              <a:rPr lang="zh-CN" altLang="en-US" sz="2800" b="1" dirty="0">
                <a:solidFill>
                  <a:schemeClr val="tx1"/>
                </a:solidFill>
                <a:latin typeface="Times New Roman" panose="02020603050405020304" pitchFamily="18" charset="0"/>
              </a:rPr>
              <a:t>：</a:t>
            </a:r>
            <a:br>
              <a:rPr lang="zh-CN" altLang="en-US" sz="2800" b="1" dirty="0">
                <a:solidFill>
                  <a:schemeClr val="tx1"/>
                </a:solidFill>
                <a:latin typeface="Times New Roman" panose="02020603050405020304" pitchFamily="18" charset="0"/>
              </a:rPr>
            </a:br>
            <a:r>
              <a:rPr lang="zh-CN" altLang="en-US"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R </a:t>
            </a:r>
            <a:r>
              <a:rPr lang="en-US" altLang="zh-CN" sz="2800" b="1" dirty="0">
                <a:solidFill>
                  <a:schemeClr val="tx1"/>
                </a:solidFill>
                <a:latin typeface="Times New Roman" panose="02020603050405020304" pitchFamily="18" charset="0"/>
              </a:rPr>
              <a:t>= { &lt;</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&gt; | </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(mod 3) }</a:t>
            </a:r>
            <a:br>
              <a:rPr lang="en-US" altLang="zh-CN" sz="2800" b="1" dirty="0">
                <a:solidFill>
                  <a:schemeClr val="tx1"/>
                </a:solidFill>
                <a:latin typeface="Times New Roman" panose="02020603050405020304" pitchFamily="18" charset="0"/>
              </a:rPr>
            </a:br>
            <a:r>
              <a:rPr lang="zh-CN" altLang="en-US" sz="2800" b="1" dirty="0">
                <a:solidFill>
                  <a:schemeClr val="tx1"/>
                </a:solidFill>
                <a:latin typeface="Times New Roman" panose="02020603050405020304" pitchFamily="18" charset="0"/>
              </a:rPr>
              <a:t>其中 </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(mod 3) </a:t>
            </a:r>
            <a:r>
              <a:rPr lang="zh-CN" altLang="en-US" sz="2800" b="1" dirty="0">
                <a:solidFill>
                  <a:schemeClr val="tx1"/>
                </a:solidFill>
                <a:latin typeface="Times New Roman" panose="02020603050405020304" pitchFamily="18" charset="0"/>
              </a:rPr>
              <a:t>叫做</a:t>
            </a:r>
            <a:r>
              <a:rPr lang="zh-CN" altLang="en-US" sz="2800" b="1" dirty="0">
                <a:solidFill>
                  <a:srgbClr val="FF0000"/>
                </a:solidFill>
                <a:latin typeface="Times New Roman" panose="02020603050405020304" pitchFamily="18" charset="0"/>
              </a:rPr>
              <a:t> </a:t>
            </a:r>
            <a:r>
              <a:rPr lang="en-US" altLang="zh-CN" sz="2800" b="1" i="1" dirty="0">
                <a:solidFill>
                  <a:srgbClr val="FF0000"/>
                </a:solidFill>
                <a:latin typeface="Times New Roman" panose="02020603050405020304" pitchFamily="18" charset="0"/>
              </a:rPr>
              <a:t>x </a:t>
            </a:r>
            <a:r>
              <a:rPr lang="zh-CN" altLang="en-US" sz="2800" b="1" dirty="0">
                <a:solidFill>
                  <a:srgbClr val="FF0000"/>
                </a:solidFill>
                <a:latin typeface="Times New Roman" panose="02020603050405020304" pitchFamily="18" charset="0"/>
              </a:rPr>
              <a:t>与 </a:t>
            </a:r>
            <a:r>
              <a:rPr lang="en-US" altLang="zh-CN" sz="2800" b="1" i="1" dirty="0">
                <a:solidFill>
                  <a:srgbClr val="FF0000"/>
                </a:solidFill>
                <a:latin typeface="Times New Roman" panose="02020603050405020304" pitchFamily="18" charset="0"/>
              </a:rPr>
              <a:t>y </a:t>
            </a:r>
            <a:r>
              <a:rPr lang="zh-CN" altLang="en-US" sz="2800" b="1" dirty="0">
                <a:solidFill>
                  <a:srgbClr val="FF0000"/>
                </a:solidFill>
                <a:latin typeface="Times New Roman" panose="02020603050405020304" pitchFamily="18" charset="0"/>
              </a:rPr>
              <a:t>模</a:t>
            </a:r>
            <a:r>
              <a:rPr lang="en-US" altLang="zh-CN" sz="2800" b="1" dirty="0">
                <a:solidFill>
                  <a:srgbClr val="FF0000"/>
                </a:solidFill>
                <a:latin typeface="Times New Roman" panose="02020603050405020304" pitchFamily="18" charset="0"/>
              </a:rPr>
              <a:t>3</a:t>
            </a:r>
            <a:r>
              <a:rPr lang="zh-CN" altLang="en-US" sz="2800" b="1" dirty="0">
                <a:solidFill>
                  <a:srgbClr val="FF0000"/>
                </a:solidFill>
                <a:latin typeface="Times New Roman" panose="02020603050405020304" pitchFamily="18" charset="0"/>
              </a:rPr>
              <a:t>相等</a:t>
            </a:r>
            <a:r>
              <a:rPr lang="en-US" altLang="zh-CN" sz="28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即 </a:t>
            </a:r>
            <a:r>
              <a:rPr lang="en-US" altLang="zh-CN" sz="2800" b="1" i="1" dirty="0">
                <a:solidFill>
                  <a:schemeClr val="tx1"/>
                </a:solidFill>
                <a:latin typeface="Times New Roman" panose="02020603050405020304" pitchFamily="18" charset="0"/>
              </a:rPr>
              <a:t>x </a:t>
            </a:r>
            <a:r>
              <a:rPr lang="zh-CN" altLang="en-US" sz="2800" b="1" dirty="0">
                <a:solidFill>
                  <a:schemeClr val="tx1"/>
                </a:solidFill>
                <a:latin typeface="Times New Roman" panose="02020603050405020304" pitchFamily="18" charset="0"/>
              </a:rPr>
              <a:t>除以</a:t>
            </a:r>
            <a:r>
              <a:rPr lang="en-US" altLang="zh-CN" sz="2800" b="1" dirty="0">
                <a:solidFill>
                  <a:schemeClr val="tx1"/>
                </a:solidFill>
                <a:latin typeface="Times New Roman" panose="02020603050405020304" pitchFamily="18" charset="0"/>
              </a:rPr>
              <a:t>3</a:t>
            </a:r>
            <a:r>
              <a:rPr lang="zh-CN" altLang="en-US" sz="2800" b="1" dirty="0">
                <a:solidFill>
                  <a:schemeClr val="tx1"/>
                </a:solidFill>
                <a:latin typeface="Times New Roman" panose="02020603050405020304" pitchFamily="18" charset="0"/>
              </a:rPr>
              <a:t>的余数与 </a:t>
            </a:r>
            <a:r>
              <a:rPr lang="en-US" altLang="zh-CN" sz="2800" b="1" i="1" dirty="0">
                <a:solidFill>
                  <a:schemeClr val="tx1"/>
                </a:solidFill>
                <a:latin typeface="Times New Roman" panose="02020603050405020304" pitchFamily="18" charset="0"/>
              </a:rPr>
              <a:t>y </a:t>
            </a:r>
            <a:r>
              <a:rPr lang="zh-CN" altLang="en-US" sz="2800" b="1" dirty="0">
                <a:solidFill>
                  <a:schemeClr val="tx1"/>
                </a:solidFill>
                <a:latin typeface="Times New Roman" panose="02020603050405020304" pitchFamily="18" charset="0"/>
              </a:rPr>
              <a:t>除以</a:t>
            </a:r>
            <a:r>
              <a:rPr lang="en-US" altLang="zh-CN" sz="2800" b="1" dirty="0">
                <a:solidFill>
                  <a:schemeClr val="tx1"/>
                </a:solidFill>
                <a:latin typeface="Times New Roman" panose="02020603050405020304" pitchFamily="18" charset="0"/>
              </a:rPr>
              <a:t>3</a:t>
            </a:r>
            <a:r>
              <a:rPr lang="zh-CN" altLang="en-US" sz="2800" b="1" dirty="0">
                <a:solidFill>
                  <a:schemeClr val="tx1"/>
                </a:solidFill>
                <a:latin typeface="Times New Roman" panose="02020603050405020304" pitchFamily="18" charset="0"/>
              </a:rPr>
              <a:t>的余数相等</a:t>
            </a:r>
            <a:r>
              <a:rPr lang="en-US" altLang="zh-CN" sz="2800" b="1" dirty="0">
                <a:solidFill>
                  <a:schemeClr val="tx1"/>
                </a:solidFill>
                <a:latin typeface="Times New Roman" panose="02020603050405020304" pitchFamily="18" charset="0"/>
              </a:rPr>
              <a:t>. </a:t>
            </a:r>
            <a:endParaRPr lang="en-US" altLang="zh-CN" sz="2800" b="1" dirty="0">
              <a:solidFill>
                <a:schemeClr val="tx1"/>
              </a:solidFill>
              <a:latin typeface="Times New Roman" panose="02020603050405020304" pitchFamily="18"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txBox="1">
            <a:spLocks noGrp="1"/>
          </p:cNvSpPr>
          <p:nvPr>
            <p:ph type="sldNum" sz="quarter"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5123" name="Rectangle 2"/>
          <p:cNvSpPr>
            <a:spLocks noGrp="1"/>
          </p:cNvSpPr>
          <p:nvPr>
            <p:ph type="title"/>
          </p:nvPr>
        </p:nvSpPr>
        <p:spPr/>
        <p:txBody>
          <a:bodyPr vert="horz" wrap="square" lIns="91456" tIns="45728" rIns="91456" bIns="45728" anchor="ctr" anchorCtr="0"/>
          <a:lstStyle/>
          <a:p>
            <a:pPr eaLnBrk="1" hangingPunct="1"/>
            <a:r>
              <a:rPr lang="zh-CN" altLang="en-US" b="1" dirty="0"/>
              <a:t>等价关系的验证</a:t>
            </a:r>
            <a:endParaRPr lang="zh-CN" altLang="en-US" b="1" dirty="0"/>
          </a:p>
        </p:txBody>
      </p:sp>
      <p:sp>
        <p:nvSpPr>
          <p:cNvPr id="5124" name="Rectangle 3"/>
          <p:cNvSpPr>
            <a:spLocks noGrp="1"/>
          </p:cNvSpPr>
          <p:nvPr>
            <p:ph idx="1"/>
          </p:nvPr>
        </p:nvSpPr>
        <p:spPr>
          <a:xfrm>
            <a:off x="1994728" y="2133995"/>
            <a:ext cx="8231124" cy="3886920"/>
          </a:xfrm>
        </p:spPr>
        <p:txBody>
          <a:bodyPr vert="horz" wrap="square" lIns="91456" tIns="45728" rIns="91456" bIns="45728" anchor="t" anchorCtr="0"/>
          <a:lstStyle/>
          <a:p>
            <a:pPr eaLnBrk="1" hangingPunct="1">
              <a:lnSpc>
                <a:spcPct val="130000"/>
              </a:lnSpc>
              <a:buNone/>
            </a:pPr>
            <a:r>
              <a:rPr lang="zh-CN" altLang="en-US" sz="2800" b="1" dirty="0">
                <a:latin typeface="Times New Roman" panose="02020603050405020304" pitchFamily="18" charset="0"/>
              </a:rPr>
              <a:t>验证模 </a:t>
            </a:r>
            <a:r>
              <a:rPr lang="en-US" altLang="zh-CN" sz="2800" b="1" dirty="0">
                <a:latin typeface="Times New Roman" panose="02020603050405020304" pitchFamily="18" charset="0"/>
              </a:rPr>
              <a:t>3 </a:t>
            </a:r>
            <a:r>
              <a:rPr lang="zh-CN" altLang="en-US" sz="2800" b="1" dirty="0">
                <a:latin typeface="Times New Roman" panose="02020603050405020304" pitchFamily="18" charset="0"/>
              </a:rPr>
              <a:t>相等关系 </a:t>
            </a:r>
            <a:r>
              <a:rPr lang="en-US" altLang="zh-CN" sz="2800" b="1" i="1" dirty="0">
                <a:latin typeface="Times New Roman" panose="02020603050405020304" pitchFamily="18" charset="0"/>
              </a:rPr>
              <a:t>R </a:t>
            </a:r>
            <a:r>
              <a:rPr lang="zh-CN" altLang="en-US" sz="2800" b="1" dirty="0">
                <a:latin typeface="Times New Roman" panose="02020603050405020304" pitchFamily="18" charset="0"/>
              </a:rPr>
              <a:t>为 </a:t>
            </a:r>
            <a:r>
              <a:rPr lang="en-US" altLang="zh-CN" sz="2800" b="1" i="1" dirty="0">
                <a:latin typeface="Times New Roman" panose="02020603050405020304" pitchFamily="18" charset="0"/>
              </a:rPr>
              <a:t>A</a:t>
            </a:r>
            <a:r>
              <a:rPr lang="zh-CN" altLang="en-US" sz="2800" b="1" dirty="0">
                <a:latin typeface="Times New Roman" panose="02020603050405020304" pitchFamily="18" charset="0"/>
              </a:rPr>
              <a:t>上的等价关系</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因为</a:t>
            </a:r>
            <a:br>
              <a:rPr lang="zh-CN" altLang="en-US" sz="2800" b="1" dirty="0">
                <a:latin typeface="Times New Roman" panose="02020603050405020304" pitchFamily="18" charset="0"/>
              </a:rPr>
            </a:br>
            <a:r>
              <a:rPr lang="zh-CN" altLang="en-US" sz="2800" b="1" dirty="0">
                <a:latin typeface="Times New Roman" panose="02020603050405020304" pitchFamily="18" charset="0"/>
              </a:rPr>
              <a:t> </a:t>
            </a:r>
            <a:r>
              <a:rPr lang="zh-CN" altLang="en-US"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有</a:t>
            </a:r>
            <a:r>
              <a:rPr lang="en-US" altLang="zh-CN" sz="2800" b="1" i="1" dirty="0">
                <a:latin typeface="Times New Roman" panose="02020603050405020304" pitchFamily="18" charset="0"/>
              </a:rPr>
              <a:t>x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(mod 3)</a:t>
            </a:r>
            <a:br>
              <a:rPr lang="en-US" altLang="zh-CN" sz="2800" b="1" dirty="0">
                <a:latin typeface="Times New Roman" panose="02020603050405020304" pitchFamily="18" charset="0"/>
              </a:rPr>
            </a:b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若 </a:t>
            </a:r>
            <a:r>
              <a:rPr lang="en-US" altLang="zh-CN" sz="2800" b="1" i="1" dirty="0">
                <a:latin typeface="Times New Roman" panose="02020603050405020304" pitchFamily="18" charset="0"/>
              </a:rPr>
              <a:t>x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(mod 3), </a:t>
            </a:r>
            <a:r>
              <a:rPr lang="zh-CN" altLang="en-US" sz="2800" b="1" dirty="0">
                <a:latin typeface="Times New Roman" panose="02020603050405020304" pitchFamily="18" charset="0"/>
              </a:rPr>
              <a:t>则有 </a:t>
            </a:r>
            <a:r>
              <a:rPr lang="en-US" altLang="zh-CN" sz="2800" b="1" i="1" dirty="0">
                <a:latin typeface="Times New Roman" panose="02020603050405020304" pitchFamily="18" charset="0"/>
              </a:rPr>
              <a:t>y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(mod 3)</a:t>
            </a:r>
            <a:br>
              <a:rPr lang="en-US" altLang="zh-CN" sz="2800" b="1" dirty="0">
                <a:latin typeface="Times New Roman" panose="02020603050405020304" pitchFamily="18" charset="0"/>
              </a:rPr>
            </a:b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z</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若</a:t>
            </a:r>
            <a:r>
              <a:rPr lang="en-US" altLang="zh-CN" sz="2800" b="1" i="1" dirty="0">
                <a:latin typeface="Times New Roman" panose="02020603050405020304" pitchFamily="18" charset="0"/>
              </a:rPr>
              <a:t>x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y</a:t>
            </a:r>
            <a:r>
              <a:rPr lang="en-US" altLang="zh-CN" sz="2800" b="1" dirty="0">
                <a:latin typeface="Times New Roman" panose="02020603050405020304" pitchFamily="18" charset="0"/>
              </a:rPr>
              <a:t>(mod 3), </a:t>
            </a:r>
            <a:r>
              <a:rPr lang="en-US" altLang="zh-CN" sz="2800" b="1" i="1" dirty="0">
                <a:latin typeface="Times New Roman" panose="02020603050405020304" pitchFamily="18" charset="0"/>
              </a:rPr>
              <a:t>y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z</a:t>
            </a:r>
            <a:r>
              <a:rPr lang="en-US" altLang="zh-CN" sz="2800" b="1" dirty="0">
                <a:latin typeface="Times New Roman" panose="02020603050405020304" pitchFamily="18" charset="0"/>
              </a:rPr>
              <a:t>(mod 3), </a:t>
            </a:r>
            <a:endParaRPr lang="en-US" altLang="zh-CN" sz="2800" b="1" dirty="0">
              <a:latin typeface="Times New Roman" panose="02020603050405020304" pitchFamily="18" charset="0"/>
            </a:endParaRPr>
          </a:p>
          <a:p>
            <a:pPr eaLnBrk="1" hangingPunct="1">
              <a:lnSpc>
                <a:spcPct val="130000"/>
              </a:lnSpc>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则有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z</a:t>
            </a:r>
            <a:r>
              <a:rPr lang="en-US" altLang="zh-CN" sz="2800" b="1" dirty="0">
                <a:latin typeface="Times New Roman" panose="02020603050405020304" pitchFamily="18" charset="0"/>
              </a:rPr>
              <a:t>(mod 3)</a:t>
            </a:r>
            <a:endParaRPr lang="en-US" altLang="zh-CN" sz="2800" b="1" dirty="0">
              <a:latin typeface="Times New Roman" panose="02020603050405020304" pitchFamily="18" charset="0"/>
            </a:endParaRPr>
          </a:p>
          <a:p>
            <a:pPr eaLnBrk="1" hangingPunct="1">
              <a:lnSpc>
                <a:spcPct val="130000"/>
              </a:lnSpc>
              <a:buNone/>
            </a:pPr>
            <a:r>
              <a:rPr lang="zh-CN" altLang="en-US" sz="2800" b="1" dirty="0">
                <a:latin typeface="Times New Roman" panose="02020603050405020304" pitchFamily="18" charset="0"/>
              </a:rPr>
              <a:t>自反性、对称性、传递性得到验证</a:t>
            </a:r>
            <a:endParaRPr lang="zh-CN" altLang="en-US" sz="2800" b="1" dirty="0">
              <a:latin typeface="Times New Roman" panose="02020603050405020304" pitchFamily="18" charset="0"/>
            </a:endParaRPr>
          </a:p>
          <a:p>
            <a:pPr eaLnBrk="1" hangingPunct="1"/>
            <a:endParaRPr lang="en-US" altLang="zh-CN" sz="2800" dirty="0">
              <a:latin typeface="Times New Roman" panose="02020603050405020304" pitchFamily="18"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p:cNvSpPr txBox="1">
            <a:spLocks noGrp="1"/>
          </p:cNvSpPr>
          <p:nvPr>
            <p:ph type="sldNum" sz="quarter"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6147" name="Rectangle 2"/>
          <p:cNvSpPr>
            <a:spLocks noGrp="1"/>
          </p:cNvSpPr>
          <p:nvPr>
            <p:ph type="title"/>
          </p:nvPr>
        </p:nvSpPr>
        <p:spPr>
          <a:xfrm>
            <a:off x="2137630" y="476338"/>
            <a:ext cx="8231124" cy="1371854"/>
          </a:xfrm>
        </p:spPr>
        <p:txBody>
          <a:bodyPr vert="horz" wrap="square" lIns="91456" tIns="45728" rIns="91456" bIns="45728" anchor="ctr" anchorCtr="0"/>
          <a:lstStyle/>
          <a:p>
            <a:pPr eaLnBrk="1" hangingPunct="1"/>
            <a:r>
              <a:rPr lang="en-US" altLang="zh-CN" b="1" dirty="0"/>
              <a:t>A</a:t>
            </a:r>
            <a:r>
              <a:rPr lang="zh-CN" altLang="en-US" b="1" dirty="0"/>
              <a:t>上模</a:t>
            </a:r>
            <a:r>
              <a:rPr lang="en-US" altLang="zh-CN" b="1" dirty="0"/>
              <a:t>3</a:t>
            </a:r>
            <a:r>
              <a:rPr lang="zh-CN" altLang="en-US" b="1" dirty="0"/>
              <a:t>等价关系的关系图</a:t>
            </a:r>
            <a:endParaRPr lang="zh-CN" altLang="en-US" b="1" dirty="0"/>
          </a:p>
        </p:txBody>
      </p:sp>
      <p:sp>
        <p:nvSpPr>
          <p:cNvPr id="6148" name="Text Box 4"/>
          <p:cNvSpPr txBox="1"/>
          <p:nvPr/>
        </p:nvSpPr>
        <p:spPr>
          <a:xfrm>
            <a:off x="2982336" y="1851368"/>
            <a:ext cx="309880" cy="460375"/>
          </a:xfrm>
          <a:prstGeom prst="rect">
            <a:avLst/>
          </a:prstGeom>
          <a:noFill/>
          <a:ln w="9525">
            <a:noFill/>
          </a:ln>
        </p:spPr>
        <p:txBody>
          <a:bodyPr wrap="none">
            <a:spAutoFit/>
          </a:bodyPr>
          <a:lstStyle/>
          <a:p>
            <a:endParaRPr lang="zh-CN" altLang="zh-CN" b="1" dirty="0">
              <a:latin typeface="Arial" panose="020B0604020202020204" pitchFamily="34" charset="0"/>
            </a:endParaRPr>
          </a:p>
        </p:txBody>
      </p:sp>
      <p:sp>
        <p:nvSpPr>
          <p:cNvPr id="6149" name="Text Box 5"/>
          <p:cNvSpPr txBox="1"/>
          <p:nvPr/>
        </p:nvSpPr>
        <p:spPr>
          <a:xfrm>
            <a:off x="2693357" y="1778329"/>
            <a:ext cx="309880" cy="460375"/>
          </a:xfrm>
          <a:prstGeom prst="rect">
            <a:avLst/>
          </a:prstGeom>
          <a:noFill/>
          <a:ln w="9525">
            <a:noFill/>
          </a:ln>
        </p:spPr>
        <p:txBody>
          <a:bodyPr wrap="none">
            <a:spAutoFit/>
          </a:bodyPr>
          <a:lstStyle/>
          <a:p>
            <a:endParaRPr lang="zh-CN" altLang="zh-CN" b="1" dirty="0">
              <a:latin typeface="Arial" panose="020B0604020202020204" pitchFamily="34" charset="0"/>
            </a:endParaRPr>
          </a:p>
        </p:txBody>
      </p:sp>
      <p:sp>
        <p:nvSpPr>
          <p:cNvPr id="6150" name="Text Box 6"/>
          <p:cNvSpPr txBox="1"/>
          <p:nvPr/>
        </p:nvSpPr>
        <p:spPr>
          <a:xfrm>
            <a:off x="2210668" y="1700528"/>
            <a:ext cx="7294326" cy="1641475"/>
          </a:xfrm>
          <a:prstGeom prst="rect">
            <a:avLst/>
          </a:prstGeom>
          <a:noFill/>
          <a:ln w="9525">
            <a:noFill/>
          </a:ln>
        </p:spPr>
        <p:txBody>
          <a:bodyPr>
            <a:spAutoFit/>
          </a:bodyPr>
          <a:lstStyle/>
          <a:p>
            <a:pPr>
              <a:lnSpc>
                <a:spcPct val="120000"/>
              </a:lnSpc>
            </a:pPr>
            <a:r>
              <a:rPr lang="zh-CN" altLang="en-US" sz="2800" b="1" dirty="0">
                <a:solidFill>
                  <a:schemeClr val="tx1"/>
                </a:solidFill>
                <a:latin typeface="Times New Roman" panose="02020603050405020304" pitchFamily="18" charset="0"/>
              </a:rPr>
              <a:t>设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={1,2,…,8}, </a:t>
            </a:r>
            <a:br>
              <a:rPr lang="en-US" altLang="zh-CN" sz="2800" b="1" dirty="0">
                <a:solidFill>
                  <a:schemeClr val="tx1"/>
                </a:solidFill>
                <a:latin typeface="Times New Roman" panose="02020603050405020304" pitchFamily="18" charset="0"/>
              </a:rPr>
            </a:b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R</a:t>
            </a:r>
            <a:r>
              <a:rPr lang="en-US" altLang="zh-CN" sz="2800" b="1" dirty="0">
                <a:solidFill>
                  <a:schemeClr val="tx1"/>
                </a:solidFill>
                <a:latin typeface="Times New Roman" panose="02020603050405020304" pitchFamily="18" charset="0"/>
              </a:rPr>
              <a:t>={ &lt;</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&gt;| </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x</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y</a:t>
            </a:r>
            <a:r>
              <a:rPr lang="en-US" altLang="zh-CN" sz="2800" b="1" dirty="0">
                <a:solidFill>
                  <a:schemeClr val="tx1"/>
                </a:solidFill>
                <a:latin typeface="Times New Roman" panose="02020603050405020304" pitchFamily="18" charset="0"/>
              </a:rPr>
              <a:t>(mod 3) }</a:t>
            </a:r>
            <a:br>
              <a:rPr lang="en-US" altLang="zh-CN" sz="2800" b="1" dirty="0">
                <a:solidFill>
                  <a:schemeClr val="tx1"/>
                </a:solidFill>
                <a:latin typeface="Times New Roman" panose="02020603050405020304" pitchFamily="18" charset="0"/>
              </a:rPr>
            </a:br>
            <a:endParaRPr lang="en-US" altLang="zh-CN" sz="2800" b="1" dirty="0">
              <a:solidFill>
                <a:schemeClr val="tx1"/>
              </a:solidFill>
              <a:latin typeface="Times New Roman" panose="02020603050405020304" pitchFamily="18" charset="0"/>
            </a:endParaRPr>
          </a:p>
        </p:txBody>
      </p:sp>
      <p:pic>
        <p:nvPicPr>
          <p:cNvPr id="6151" name="Picture 10" descr="7-55"/>
          <p:cNvPicPr>
            <a:picLocks noChangeAspect="1"/>
          </p:cNvPicPr>
          <p:nvPr/>
        </p:nvPicPr>
        <p:blipFill>
          <a:blip r:embed="rId1" cstate="print"/>
          <a:stretch>
            <a:fillRect/>
          </a:stretch>
        </p:blipFill>
        <p:spPr>
          <a:xfrm>
            <a:off x="2066178" y="3285146"/>
            <a:ext cx="8065993" cy="2103827"/>
          </a:xfrm>
          <a:prstGeom prst="rect">
            <a:avLst/>
          </a:prstGeom>
          <a:noFill/>
          <a:ln w="9525">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15593" y="937335"/>
            <a:ext cx="8658558" cy="762141"/>
          </a:xfrm>
        </p:spPr>
        <p:txBody>
          <a:bodyPr anchor="t">
            <a:noAutofit/>
          </a:bodyPr>
          <a:lstStyle/>
          <a:p>
            <a:pPr marL="0" indent="0">
              <a:lnSpc>
                <a:spcPct val="120000"/>
              </a:lnSpc>
              <a:buNone/>
            </a:pPr>
            <a:r>
              <a:rPr lang="en-US" altLang="zh-CN" sz="2000" dirty="0">
                <a:latin typeface="Cambria Math" panose="02040503050406030204" pitchFamily="18" charset="0"/>
              </a:rPr>
              <a:t>【</a:t>
            </a:r>
            <a:r>
              <a:rPr lang="zh-CN" altLang="en-US" sz="2000" dirty="0">
                <a:latin typeface="Cambria Math" panose="02040503050406030204" pitchFamily="18" charset="0"/>
              </a:rPr>
              <a:t>示例</a:t>
            </a:r>
            <a:r>
              <a:rPr lang="en-US" altLang="zh-CN" sz="2000" dirty="0">
                <a:latin typeface="Cambria Math" panose="02040503050406030204" pitchFamily="18" charset="0"/>
              </a:rPr>
              <a:t>】</a:t>
            </a:r>
            <a:r>
              <a:rPr lang="zh-CN" altLang="zh-CN" sz="2000" dirty="0">
                <a:latin typeface="Cambria Math" panose="02040503050406030204" pitchFamily="18" charset="0"/>
              </a:rPr>
              <a:t>设</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zh-CN" altLang="zh-CN" sz="2000" dirty="0">
                <a:latin typeface="Cambria Math" panose="02040503050406030204" pitchFamily="18" charset="0"/>
              </a:rPr>
              <a:t>和</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都是集合</a:t>
            </a:r>
            <a:r>
              <a:rPr lang="zh-CN" altLang="en-US" sz="2000" dirty="0">
                <a:latin typeface="Cambria Math" panose="02040503050406030204" pitchFamily="18" charset="0"/>
              </a:rPr>
              <a:t>𝐴</a:t>
            </a:r>
            <a:r>
              <a:rPr lang="zh-CN" altLang="zh-CN" sz="2000" dirty="0">
                <a:latin typeface="Cambria Math" panose="02040503050406030204" pitchFamily="18" charset="0"/>
              </a:rPr>
              <a:t>上的等价关系</a:t>
            </a:r>
            <a:r>
              <a:rPr lang="en-US" altLang="zh-CN" sz="2000" dirty="0">
                <a:latin typeface="Cambria Math" panose="02040503050406030204" pitchFamily="18" charset="0"/>
              </a:rPr>
              <a:t>, </a:t>
            </a:r>
            <a:r>
              <a:rPr lang="zh-CN" altLang="zh-CN" sz="2000" dirty="0">
                <a:latin typeface="Cambria Math" panose="02040503050406030204" pitchFamily="18" charset="0"/>
              </a:rPr>
              <a:t>证明</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zh-CN" altLang="zh-CN" sz="2000" dirty="0">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也是</a:t>
            </a:r>
            <a:r>
              <a:rPr lang="zh-CN" altLang="en-US" sz="2000" dirty="0">
                <a:latin typeface="Cambria Math" panose="02040503050406030204" pitchFamily="18" charset="0"/>
              </a:rPr>
              <a:t>𝐴</a:t>
            </a:r>
            <a:r>
              <a:rPr lang="zh-CN" altLang="zh-CN" sz="2000" dirty="0">
                <a:latin typeface="Cambria Math" panose="02040503050406030204" pitchFamily="18" charset="0"/>
              </a:rPr>
              <a:t>上的</a:t>
            </a:r>
            <a:r>
              <a:rPr lang="zh-CN" altLang="zh-CN" sz="2000" dirty="0">
                <a:solidFill>
                  <a:srgbClr val="FF0000"/>
                </a:solidFill>
                <a:latin typeface="Cambria Math" panose="02040503050406030204" pitchFamily="18" charset="0"/>
              </a:rPr>
              <a:t>等价关系</a:t>
            </a:r>
            <a:endParaRPr lang="en-US"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rPr>
              <a:t>    </a:t>
            </a:r>
            <a:r>
              <a:rPr lang="zh-CN" altLang="en-US" sz="2000" dirty="0">
                <a:latin typeface="Cambria Math" panose="02040503050406030204" pitchFamily="18" charset="0"/>
              </a:rPr>
              <a:t>证明： </a:t>
            </a:r>
            <a:endParaRPr lang="en-US" altLang="zh-CN" sz="2000" dirty="0">
              <a:latin typeface="Cambria Math" panose="02040503050406030204" pitchFamily="18" charset="0"/>
            </a:endParaRPr>
          </a:p>
          <a:p>
            <a:pPr eaLnBrk="1" hangingPunct="1">
              <a:lnSpc>
                <a:spcPct val="120000"/>
              </a:lnSpc>
              <a:spcBef>
                <a:spcPct val="0"/>
              </a:spcBef>
              <a:buFontTx/>
              <a:buNone/>
            </a:pPr>
            <a:endParaRPr kumimoji="1" lang="zh-CN" altLang="en-US" sz="2000" dirty="0">
              <a:latin typeface="Cambria Math" panose="02040503050406030204" pitchFamily="18" charset="0"/>
            </a:endParaRPr>
          </a:p>
        </p:txBody>
      </p:sp>
      <p:sp>
        <p:nvSpPr>
          <p:cNvPr id="4" name="幻灯片编号占位符 3"/>
          <p:cNvSpPr>
            <a:spLocks noGrp="1"/>
          </p:cNvSpPr>
          <p:nvPr>
            <p:ph type="sldNum" sz="quarter" idx="4"/>
          </p:nvPr>
        </p:nvSpPr>
        <p:spPr/>
        <p:txBody>
          <a:bodyPr/>
          <a:lstStyle/>
          <a:p>
            <a:pPr>
              <a:defRPr/>
            </a:pPr>
            <a:fld id="{F37ECD3A-A07E-F94E-BA38-E1841CA883D1}" type="slidenum">
              <a:rPr lang="en-US" altLang="zh-CN" smtClean="0"/>
            </a:fld>
            <a:endParaRPr lang="en-US" altLang="zh-CN" dirty="0"/>
          </a:p>
        </p:txBody>
      </p:sp>
      <p:sp>
        <p:nvSpPr>
          <p:cNvPr id="5" name="内容占位符 2"/>
          <p:cNvSpPr txBox="1"/>
          <p:nvPr/>
        </p:nvSpPr>
        <p:spPr bwMode="auto">
          <a:xfrm>
            <a:off x="1921938" y="3854503"/>
            <a:ext cx="8354475" cy="2913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56" tIns="45728" rIns="91456" bIns="45728" numCol="1" anchor="t" anchorCtr="0" compatLnSpc="1">
            <a:noAutofit/>
          </a:bodyPr>
          <a:lstStyle>
            <a:lvl1pPr marL="400050" marR="0" indent="-400050" algn="l" defTabSz="914400" rtl="0" eaLnBrk="0" fontAlgn="base" latinLnBrk="0" hangingPunct="0">
              <a:lnSpc>
                <a:spcPct val="100000"/>
              </a:lnSpc>
              <a:spcBef>
                <a:spcPts val="0"/>
              </a:spcBef>
              <a:spcAft>
                <a:spcPct val="0"/>
              </a:spcAft>
              <a:buClrTx/>
              <a:buSzTx/>
              <a:buFont typeface="HiraginoSans-W3" charset="-128"/>
              <a:buChar char="☞"/>
              <a:defRPr kumimoji="1" sz="3200" b="0" i="0" baseline="0">
                <a:solidFill>
                  <a:schemeClr val="tx1"/>
                </a:solidFill>
                <a:latin typeface="Calibri Math" charset="0"/>
                <a:ea typeface="圆体-简 常规体" charset="-122"/>
                <a:cs typeface="+mn-cs"/>
              </a:defRPr>
            </a:lvl1pPr>
            <a:lvl2pPr marL="1119505" marR="0" indent="-376555" algn="l" defTabSz="914400" rtl="0" eaLnBrk="0" fontAlgn="base" latinLnBrk="0" hangingPunct="0">
              <a:lnSpc>
                <a:spcPct val="100000"/>
              </a:lnSpc>
              <a:spcBef>
                <a:spcPts val="0"/>
              </a:spcBef>
              <a:spcAft>
                <a:spcPct val="0"/>
              </a:spcAft>
              <a:buClrTx/>
              <a:buSzTx/>
              <a:buFont typeface="ZapfDingbatsITC" charset="0"/>
              <a:buChar char="✧"/>
              <a:defRPr kumimoji="1" sz="2800" b="0" i="0" baseline="0">
                <a:solidFill>
                  <a:schemeClr val="tx1"/>
                </a:solidFill>
                <a:latin typeface="Calibri Math" charset="0"/>
                <a:ea typeface="圆体-简 常规体" charset="-122"/>
              </a:defRPr>
            </a:lvl2pPr>
            <a:lvl3pPr marL="1427480" marR="0" indent="-284480" algn="l" defTabSz="914400" rtl="0" eaLnBrk="0" fontAlgn="base" latinLnBrk="0" hangingPunct="0">
              <a:lnSpc>
                <a:spcPct val="100000"/>
              </a:lnSpc>
              <a:spcBef>
                <a:spcPts val="0"/>
              </a:spcBef>
              <a:spcAft>
                <a:spcPct val="0"/>
              </a:spcAft>
              <a:buClrTx/>
              <a:buSzTx/>
              <a:buFont typeface="ZapfDingbatsITC" charset="0"/>
              <a:buChar char="✡"/>
              <a:defRPr kumimoji="1" sz="2400" b="0" i="0" baseline="0">
                <a:solidFill>
                  <a:schemeClr val="tx1"/>
                </a:solidFill>
                <a:latin typeface="Calibri Math" charset="0"/>
                <a:ea typeface="圆体-简 常规体" charset="-122"/>
              </a:defRPr>
            </a:lvl3pPr>
            <a:lvl4pPr marL="1866900" marR="0" indent="-266700" algn="l" defTabSz="914400" rtl="0" eaLnBrk="0" fontAlgn="base" latinLnBrk="0" hangingPunct="0">
              <a:lnSpc>
                <a:spcPct val="100000"/>
              </a:lnSpc>
              <a:spcBef>
                <a:spcPts val="0"/>
              </a:spcBef>
              <a:spcAft>
                <a:spcPct val="0"/>
              </a:spcAft>
              <a:buClrTx/>
              <a:buSzTx/>
              <a:buFont typeface="ZapfDingbatsITC" charset="0"/>
              <a:buChar char="✪"/>
              <a:defRPr kumimoji="1" sz="2000" b="0" i="0" baseline="0">
                <a:solidFill>
                  <a:schemeClr val="tx1"/>
                </a:solidFill>
                <a:latin typeface="Calibri Math" charset="0"/>
                <a:ea typeface="圆体-简 常规体" charset="-122"/>
              </a:defRPr>
            </a:lvl4pPr>
            <a:lvl5pPr marL="2314575" marR="0" indent="-257175" algn="l" defTabSz="914400" rtl="0" eaLnBrk="0" fontAlgn="base" latinLnBrk="0" hangingPunct="0">
              <a:lnSpc>
                <a:spcPct val="100000"/>
              </a:lnSpc>
              <a:spcBef>
                <a:spcPts val="0"/>
              </a:spcBef>
              <a:spcAft>
                <a:spcPct val="0"/>
              </a:spcAft>
              <a:buClrTx/>
              <a:buSzTx/>
              <a:buFont typeface="ZapfDingbatsITC" charset="0"/>
              <a:buChar char="✓"/>
              <a:defRPr kumimoji="1" sz="2000" b="0" i="0" baseline="0">
                <a:solidFill>
                  <a:schemeClr val="tx1"/>
                </a:solidFill>
                <a:latin typeface="Calibri Math" charset="0"/>
                <a:ea typeface="圆体-简 常规体" charset="-122"/>
              </a:defRPr>
            </a:lvl5pPr>
            <a:lvl6pPr marL="2514600" indent="-228600" algn="l" rtl="0" fontAlgn="base">
              <a:spcBef>
                <a:spcPct val="20000"/>
              </a:spcBef>
              <a:spcAft>
                <a:spcPct val="0"/>
              </a:spcAft>
              <a:defRPr kumimoji="1" sz="2000">
                <a:solidFill>
                  <a:schemeClr val="tx1"/>
                </a:solidFill>
                <a:latin typeface="+mn-lt"/>
                <a:ea typeface="+mn-ea"/>
              </a:defRPr>
            </a:lvl6pPr>
            <a:lvl7pPr marL="2971800" indent="-228600" algn="l" rtl="0" fontAlgn="base">
              <a:spcBef>
                <a:spcPct val="20000"/>
              </a:spcBef>
              <a:spcAft>
                <a:spcPct val="0"/>
              </a:spcAft>
              <a:defRPr kumimoji="1" sz="2000">
                <a:solidFill>
                  <a:schemeClr val="tx1"/>
                </a:solidFill>
                <a:latin typeface="+mn-lt"/>
                <a:ea typeface="+mn-ea"/>
              </a:defRPr>
            </a:lvl7pPr>
            <a:lvl8pPr marL="3429000" indent="-228600" algn="l" rtl="0" fontAlgn="base">
              <a:spcBef>
                <a:spcPct val="20000"/>
              </a:spcBef>
              <a:spcAft>
                <a:spcPct val="0"/>
              </a:spcAft>
              <a:defRPr kumimoji="1" sz="2000">
                <a:solidFill>
                  <a:schemeClr val="tx1"/>
                </a:solidFill>
                <a:latin typeface="+mn-lt"/>
                <a:ea typeface="+mn-ea"/>
              </a:defRPr>
            </a:lvl8pPr>
            <a:lvl9pPr marL="3886200" indent="-228600" algn="l" rtl="0" fontAlgn="base">
              <a:spcBef>
                <a:spcPct val="20000"/>
              </a:spcBef>
              <a:spcAft>
                <a:spcPct val="0"/>
              </a:spcAft>
              <a:defRPr kumimoji="1" sz="2000">
                <a:solidFill>
                  <a:schemeClr val="tx1"/>
                </a:solidFill>
                <a:latin typeface="+mn-lt"/>
                <a:ea typeface="+mn-ea"/>
              </a:defRPr>
            </a:lvl9pPr>
          </a:lstStyle>
          <a:p>
            <a:pPr eaLnBrk="1" hangingPunct="1">
              <a:lnSpc>
                <a:spcPct val="120000"/>
              </a:lnSpc>
              <a:spcBef>
                <a:spcPct val="0"/>
              </a:spcBef>
              <a:buFontTx/>
              <a:buNone/>
            </a:pPr>
            <a:r>
              <a:rPr lang="zh-CN" altLang="zh-CN" sz="2000" dirty="0">
                <a:solidFill>
                  <a:srgbClr val="FF0000"/>
                </a:solidFill>
                <a:latin typeface="Cambria Math" panose="02040503050406030204" pitchFamily="18" charset="0"/>
              </a:rPr>
              <a:t>（</a:t>
            </a:r>
            <a:r>
              <a:rPr lang="zh-CN" altLang="en-US" sz="2000" dirty="0">
                <a:solidFill>
                  <a:srgbClr val="FF0000"/>
                </a:solidFill>
                <a:latin typeface="Cambria Math" panose="02040503050406030204" pitchFamily="18" charset="0"/>
              </a:rPr>
              <a:t>𝑐</a:t>
            </a:r>
            <a:r>
              <a:rPr lang="zh-CN" altLang="zh-CN" sz="2000" dirty="0">
                <a:solidFill>
                  <a:srgbClr val="FF0000"/>
                </a:solidFill>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zh-CN" altLang="zh-CN" sz="2000" dirty="0">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a:t>
            </a:r>
            <a:r>
              <a:rPr lang="zh-CN" altLang="zh-CN" sz="2000" dirty="0">
                <a:solidFill>
                  <a:srgbClr val="FF0000"/>
                </a:solidFill>
                <a:latin typeface="Cambria Math" panose="02040503050406030204" pitchFamily="18" charset="0"/>
              </a:rPr>
              <a:t>传递</a:t>
            </a:r>
            <a:r>
              <a:rPr lang="zh-CN" altLang="zh-CN" sz="2000" dirty="0">
                <a:latin typeface="Cambria Math" panose="02040503050406030204" pitchFamily="18" charset="0"/>
              </a:rPr>
              <a:t>的：</a:t>
            </a:r>
            <a:endParaRPr lang="en-US"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对任何</a:t>
            </a:r>
            <a:r>
              <a:rPr lang="zh-CN" altLang="en-US" sz="2000" dirty="0">
                <a:latin typeface="Cambria Math" panose="02040503050406030204" pitchFamily="18" charset="0"/>
              </a:rPr>
              <a:t>𝑎</a:t>
            </a:r>
            <a:r>
              <a:rPr lang="en-US" altLang="zh-CN" sz="2000" dirty="0">
                <a:latin typeface="Cambria Math" panose="02040503050406030204" pitchFamily="18" charset="0"/>
              </a:rPr>
              <a:t>, 𝑏,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𝐴, (𝑎,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(𝑏,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en-US" altLang="zh-CN" sz="2000" dirty="0">
                <a:latin typeface="Cambria Math" panose="02040503050406030204" pitchFamily="18" charset="0"/>
              </a:rPr>
              <a:t>)</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((𝑏,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(𝑏,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en-US" altLang="zh-CN" sz="2000" dirty="0">
                <a:latin typeface="Cambria Math" panose="02040503050406030204" pitchFamily="18" charset="0"/>
              </a:rPr>
              <a:t>)</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(𝑏,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rPr>
              <a:t>)</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(𝑏,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en-US" altLang="zh-CN" sz="2000" dirty="0">
                <a:latin typeface="Cambria Math" panose="02040503050406030204" pitchFamily="18" charset="0"/>
              </a:rPr>
              <a:t>)</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(𝑎,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𝑐)</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所以</a:t>
            </a:r>
            <a:r>
              <a:rPr lang="en-US" altLang="zh-CN" sz="2000" dirty="0">
                <a:latin typeface="Cambria Math" panose="02040503050406030204" pitchFamily="18" charset="0"/>
              </a:rPr>
              <a:t>, </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是传递的；</a:t>
            </a:r>
            <a:endParaRPr lang="en-US"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综合</a:t>
            </a:r>
            <a:r>
              <a:rPr lang="en-US" altLang="zh-CN" sz="2000" dirty="0">
                <a:latin typeface="Cambria Math" panose="02040503050406030204" pitchFamily="18" charset="0"/>
              </a:rPr>
              <a:t>(a)</a:t>
            </a:r>
            <a:r>
              <a:rPr lang="zh-CN" altLang="zh-CN" sz="2000" dirty="0">
                <a:latin typeface="Cambria Math" panose="02040503050406030204" pitchFamily="18" charset="0"/>
              </a:rPr>
              <a:t>、</a:t>
            </a:r>
            <a:r>
              <a:rPr lang="en-US" altLang="zh-CN" sz="2000" dirty="0">
                <a:latin typeface="Cambria Math" panose="02040503050406030204" pitchFamily="18" charset="0"/>
              </a:rPr>
              <a:t>(b)</a:t>
            </a:r>
            <a:r>
              <a:rPr lang="zh-CN" altLang="zh-CN" sz="2000" dirty="0">
                <a:latin typeface="Cambria Math" panose="02040503050406030204" pitchFamily="18" charset="0"/>
              </a:rPr>
              <a:t>、</a:t>
            </a:r>
            <a:r>
              <a:rPr lang="en-US" altLang="zh-CN" sz="2000" dirty="0">
                <a:latin typeface="Cambria Math" panose="02040503050406030204" pitchFamily="18" charset="0"/>
              </a:rPr>
              <a:t>(c), </a:t>
            </a:r>
            <a:r>
              <a:rPr lang="zh-CN" altLang="zh-CN" sz="2000" dirty="0">
                <a:latin typeface="Cambria Math" panose="02040503050406030204" pitchFamily="18" charset="0"/>
              </a:rPr>
              <a:t>可知</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a:t>
            </a:r>
            <a:r>
              <a:rPr lang="zh-CN" altLang="en-US" sz="2000" dirty="0">
                <a:latin typeface="Cambria Math" panose="02040503050406030204" pitchFamily="18" charset="0"/>
              </a:rPr>
              <a:t>𝐴</a:t>
            </a:r>
            <a:r>
              <a:rPr lang="zh-CN" altLang="zh-CN" sz="2000" dirty="0">
                <a:latin typeface="Cambria Math" panose="02040503050406030204" pitchFamily="18" charset="0"/>
              </a:rPr>
              <a:t>上的等价关系。</a:t>
            </a:r>
            <a:endParaRPr lang="zh-CN" altLang="en-US" sz="2000" kern="0" dirty="0">
              <a:latin typeface="Cambria Math" panose="02040503050406030204" pitchFamily="18" charset="0"/>
            </a:endParaRPr>
          </a:p>
        </p:txBody>
      </p:sp>
      <p:sp>
        <p:nvSpPr>
          <p:cNvPr id="6" name="内容占位符 2"/>
          <p:cNvSpPr txBox="1"/>
          <p:nvPr/>
        </p:nvSpPr>
        <p:spPr bwMode="auto">
          <a:xfrm>
            <a:off x="1921938" y="1846263"/>
            <a:ext cx="4219753" cy="2913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56" tIns="45728" rIns="91456" bIns="45728" numCol="1" anchor="t" anchorCtr="0" compatLnSpc="1">
            <a:normAutofit/>
          </a:bodyPr>
          <a:lstStyle>
            <a:lvl1pPr marL="400050" marR="0" indent="-400050" algn="l" defTabSz="914400" rtl="0" eaLnBrk="0" fontAlgn="base" latinLnBrk="0" hangingPunct="0">
              <a:lnSpc>
                <a:spcPct val="100000"/>
              </a:lnSpc>
              <a:spcBef>
                <a:spcPts val="0"/>
              </a:spcBef>
              <a:spcAft>
                <a:spcPct val="0"/>
              </a:spcAft>
              <a:buClrTx/>
              <a:buSzTx/>
              <a:buFont typeface="HiraginoSans-W3" charset="-128"/>
              <a:buChar char="☞"/>
              <a:defRPr kumimoji="1" sz="3200" b="0" i="0" baseline="0">
                <a:solidFill>
                  <a:schemeClr val="tx1"/>
                </a:solidFill>
                <a:latin typeface="Calibri Math" charset="0"/>
                <a:ea typeface="圆体-简 常规体" charset="-122"/>
                <a:cs typeface="+mn-cs"/>
              </a:defRPr>
            </a:lvl1pPr>
            <a:lvl2pPr marL="1119505" marR="0" indent="-376555" algn="l" defTabSz="914400" rtl="0" eaLnBrk="0" fontAlgn="base" latinLnBrk="0" hangingPunct="0">
              <a:lnSpc>
                <a:spcPct val="100000"/>
              </a:lnSpc>
              <a:spcBef>
                <a:spcPts val="0"/>
              </a:spcBef>
              <a:spcAft>
                <a:spcPct val="0"/>
              </a:spcAft>
              <a:buClrTx/>
              <a:buSzTx/>
              <a:buFont typeface="ZapfDingbatsITC" charset="0"/>
              <a:buChar char="✧"/>
              <a:defRPr kumimoji="1" sz="2800" b="0" i="0" baseline="0">
                <a:solidFill>
                  <a:schemeClr val="tx1"/>
                </a:solidFill>
                <a:latin typeface="Calibri Math" charset="0"/>
                <a:ea typeface="圆体-简 常规体" charset="-122"/>
              </a:defRPr>
            </a:lvl2pPr>
            <a:lvl3pPr marL="1427480" marR="0" indent="-284480" algn="l" defTabSz="914400" rtl="0" eaLnBrk="0" fontAlgn="base" latinLnBrk="0" hangingPunct="0">
              <a:lnSpc>
                <a:spcPct val="100000"/>
              </a:lnSpc>
              <a:spcBef>
                <a:spcPts val="0"/>
              </a:spcBef>
              <a:spcAft>
                <a:spcPct val="0"/>
              </a:spcAft>
              <a:buClrTx/>
              <a:buSzTx/>
              <a:buFont typeface="ZapfDingbatsITC" charset="0"/>
              <a:buChar char="✡"/>
              <a:defRPr kumimoji="1" sz="2400" b="0" i="0" baseline="0">
                <a:solidFill>
                  <a:schemeClr val="tx1"/>
                </a:solidFill>
                <a:latin typeface="Calibri Math" charset="0"/>
                <a:ea typeface="圆体-简 常规体" charset="-122"/>
              </a:defRPr>
            </a:lvl3pPr>
            <a:lvl4pPr marL="1866900" marR="0" indent="-266700" algn="l" defTabSz="914400" rtl="0" eaLnBrk="0" fontAlgn="base" latinLnBrk="0" hangingPunct="0">
              <a:lnSpc>
                <a:spcPct val="100000"/>
              </a:lnSpc>
              <a:spcBef>
                <a:spcPts val="0"/>
              </a:spcBef>
              <a:spcAft>
                <a:spcPct val="0"/>
              </a:spcAft>
              <a:buClrTx/>
              <a:buSzTx/>
              <a:buFont typeface="ZapfDingbatsITC" charset="0"/>
              <a:buChar char="✪"/>
              <a:defRPr kumimoji="1" sz="2000" b="0" i="0" baseline="0">
                <a:solidFill>
                  <a:schemeClr val="tx1"/>
                </a:solidFill>
                <a:latin typeface="Calibri Math" charset="0"/>
                <a:ea typeface="圆体-简 常规体" charset="-122"/>
              </a:defRPr>
            </a:lvl4pPr>
            <a:lvl5pPr marL="2314575" marR="0" indent="-257175" algn="l" defTabSz="914400" rtl="0" eaLnBrk="0" fontAlgn="base" latinLnBrk="0" hangingPunct="0">
              <a:lnSpc>
                <a:spcPct val="100000"/>
              </a:lnSpc>
              <a:spcBef>
                <a:spcPts val="0"/>
              </a:spcBef>
              <a:spcAft>
                <a:spcPct val="0"/>
              </a:spcAft>
              <a:buClrTx/>
              <a:buSzTx/>
              <a:buFont typeface="ZapfDingbatsITC" charset="0"/>
              <a:buChar char="✓"/>
              <a:defRPr kumimoji="1" sz="2000" b="0" i="0" baseline="0">
                <a:solidFill>
                  <a:schemeClr val="tx1"/>
                </a:solidFill>
                <a:latin typeface="Calibri Math" charset="0"/>
                <a:ea typeface="圆体-简 常规体" charset="-122"/>
              </a:defRPr>
            </a:lvl5pPr>
            <a:lvl6pPr marL="2514600" indent="-228600" algn="l" rtl="0" fontAlgn="base">
              <a:spcBef>
                <a:spcPct val="20000"/>
              </a:spcBef>
              <a:spcAft>
                <a:spcPct val="0"/>
              </a:spcAft>
              <a:defRPr kumimoji="1" sz="2000">
                <a:solidFill>
                  <a:schemeClr val="tx1"/>
                </a:solidFill>
                <a:latin typeface="+mn-lt"/>
                <a:ea typeface="+mn-ea"/>
              </a:defRPr>
            </a:lvl6pPr>
            <a:lvl7pPr marL="2971800" indent="-228600" algn="l" rtl="0" fontAlgn="base">
              <a:spcBef>
                <a:spcPct val="20000"/>
              </a:spcBef>
              <a:spcAft>
                <a:spcPct val="0"/>
              </a:spcAft>
              <a:defRPr kumimoji="1" sz="2000">
                <a:solidFill>
                  <a:schemeClr val="tx1"/>
                </a:solidFill>
                <a:latin typeface="+mn-lt"/>
                <a:ea typeface="+mn-ea"/>
              </a:defRPr>
            </a:lvl7pPr>
            <a:lvl8pPr marL="3429000" indent="-228600" algn="l" rtl="0" fontAlgn="base">
              <a:spcBef>
                <a:spcPct val="20000"/>
              </a:spcBef>
              <a:spcAft>
                <a:spcPct val="0"/>
              </a:spcAft>
              <a:defRPr kumimoji="1" sz="2000">
                <a:solidFill>
                  <a:schemeClr val="tx1"/>
                </a:solidFill>
                <a:latin typeface="+mn-lt"/>
                <a:ea typeface="+mn-ea"/>
              </a:defRPr>
            </a:lvl8pPr>
            <a:lvl9pPr marL="3886200" indent="-228600" algn="l" rtl="0" fontAlgn="base">
              <a:spcBef>
                <a:spcPct val="20000"/>
              </a:spcBef>
              <a:spcAft>
                <a:spcPct val="0"/>
              </a:spcAft>
              <a:defRPr kumimoji="1" sz="2000">
                <a:solidFill>
                  <a:schemeClr val="tx1"/>
                </a:solidFill>
                <a:latin typeface="+mn-lt"/>
                <a:ea typeface="+mn-ea"/>
              </a:defRPr>
            </a:lvl9pPr>
          </a:lstStyle>
          <a:p>
            <a:pPr eaLnBrk="1" hangingPunct="1">
              <a:lnSpc>
                <a:spcPct val="120000"/>
              </a:lnSpc>
              <a:spcBef>
                <a:spcPct val="0"/>
              </a:spcBef>
              <a:buFontTx/>
              <a:buNone/>
            </a:pPr>
            <a:r>
              <a:rPr lang="zh-CN" altLang="zh-CN" sz="2000" dirty="0">
                <a:solidFill>
                  <a:srgbClr val="FF0000"/>
                </a:solidFill>
                <a:latin typeface="Cambria Math" panose="02040503050406030204" pitchFamily="18" charset="0"/>
              </a:rPr>
              <a:t>（</a:t>
            </a:r>
            <a:r>
              <a:rPr lang="zh-CN" altLang="en-US" sz="2000" dirty="0">
                <a:solidFill>
                  <a:srgbClr val="FF0000"/>
                </a:solidFill>
                <a:latin typeface="Cambria Math" panose="02040503050406030204" pitchFamily="18" charset="0"/>
              </a:rPr>
              <a:t>𝑎</a:t>
            </a:r>
            <a:r>
              <a:rPr lang="zh-CN" altLang="zh-CN" sz="2000" dirty="0">
                <a:solidFill>
                  <a:srgbClr val="FF0000"/>
                </a:solidFill>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zh-CN" altLang="zh-CN" sz="2000" dirty="0">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a:t>
            </a:r>
            <a:r>
              <a:rPr lang="zh-CN" altLang="zh-CN" sz="2000" dirty="0">
                <a:solidFill>
                  <a:srgbClr val="FF0000"/>
                </a:solidFill>
                <a:latin typeface="Cambria Math" panose="02040503050406030204" pitchFamily="18" charset="0"/>
              </a:rPr>
              <a:t>自反</a:t>
            </a:r>
            <a:r>
              <a:rPr lang="zh-CN" altLang="zh-CN" sz="2000" dirty="0">
                <a:latin typeface="Cambria Math" panose="02040503050406030204" pitchFamily="18" charset="0"/>
              </a:rPr>
              <a:t>的：</a:t>
            </a:r>
            <a:endParaRPr lang="zh-CN"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对任何</a:t>
            </a:r>
            <a:r>
              <a:rPr lang="zh-CN" altLang="en-US" sz="2000" dirty="0">
                <a:latin typeface="Cambria Math" panose="02040503050406030204" pitchFamily="18" charset="0"/>
              </a:rPr>
              <a:t>𝑎</a:t>
            </a:r>
            <a:r>
              <a:rPr lang="en-US" altLang="zh-CN" sz="2000" dirty="0">
                <a:latin typeface="Cambria Math" panose="02040503050406030204" pitchFamily="18" charset="0"/>
              </a:rPr>
              <a:t>, </a:t>
            </a:r>
            <a:r>
              <a:rPr lang="zh-CN" altLang="en-US" sz="2000" dirty="0">
                <a:latin typeface="Cambria Math" panose="02040503050406030204" pitchFamily="18" charset="0"/>
              </a:rPr>
              <a:t>𝑎</a:t>
            </a:r>
            <a:r>
              <a:rPr lang="zh-CN" altLang="en-US"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𝐴</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𝑎)</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(𝑎, 𝑎)</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𝑎)</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所以</a:t>
            </a:r>
            <a:r>
              <a:rPr lang="en-US" altLang="zh-CN" sz="2000" dirty="0">
                <a:latin typeface="Cambria Math" panose="02040503050406030204" pitchFamily="18" charset="0"/>
              </a:rPr>
              <a:t>, </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是自反的；</a:t>
            </a:r>
            <a:endParaRPr lang="en-US" altLang="zh-CN" sz="2000" dirty="0">
              <a:latin typeface="Cambria Math" panose="02040503050406030204" pitchFamily="18" charset="0"/>
            </a:endParaRPr>
          </a:p>
        </p:txBody>
      </p:sp>
      <p:sp>
        <p:nvSpPr>
          <p:cNvPr id="7" name="内容占位符 2"/>
          <p:cNvSpPr txBox="1"/>
          <p:nvPr/>
        </p:nvSpPr>
        <p:spPr bwMode="auto">
          <a:xfrm>
            <a:off x="6205364" y="1850695"/>
            <a:ext cx="4431155" cy="2913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56" tIns="45728" rIns="91456" bIns="45728" numCol="1" anchor="t" anchorCtr="0" compatLnSpc="1">
            <a:normAutofit/>
          </a:bodyPr>
          <a:lstStyle>
            <a:lvl1pPr marL="400050" marR="0" indent="-400050" algn="l" defTabSz="914400" rtl="0" eaLnBrk="0" fontAlgn="base" latinLnBrk="0" hangingPunct="0">
              <a:lnSpc>
                <a:spcPct val="100000"/>
              </a:lnSpc>
              <a:spcBef>
                <a:spcPts val="0"/>
              </a:spcBef>
              <a:spcAft>
                <a:spcPct val="0"/>
              </a:spcAft>
              <a:buClrTx/>
              <a:buSzTx/>
              <a:buFont typeface="HiraginoSans-W3" charset="-128"/>
              <a:buChar char="☞"/>
              <a:defRPr kumimoji="1" sz="3200" b="0" i="0" baseline="0">
                <a:solidFill>
                  <a:schemeClr val="tx1"/>
                </a:solidFill>
                <a:latin typeface="Calibri Math" charset="0"/>
                <a:ea typeface="圆体-简 常规体" charset="-122"/>
                <a:cs typeface="+mn-cs"/>
              </a:defRPr>
            </a:lvl1pPr>
            <a:lvl2pPr marL="1119505" marR="0" indent="-376555" algn="l" defTabSz="914400" rtl="0" eaLnBrk="0" fontAlgn="base" latinLnBrk="0" hangingPunct="0">
              <a:lnSpc>
                <a:spcPct val="100000"/>
              </a:lnSpc>
              <a:spcBef>
                <a:spcPts val="0"/>
              </a:spcBef>
              <a:spcAft>
                <a:spcPct val="0"/>
              </a:spcAft>
              <a:buClrTx/>
              <a:buSzTx/>
              <a:buFont typeface="ZapfDingbatsITC" charset="0"/>
              <a:buChar char="✧"/>
              <a:defRPr kumimoji="1" sz="2800" b="0" i="0" baseline="0">
                <a:solidFill>
                  <a:schemeClr val="tx1"/>
                </a:solidFill>
                <a:latin typeface="Calibri Math" charset="0"/>
                <a:ea typeface="圆体-简 常规体" charset="-122"/>
              </a:defRPr>
            </a:lvl2pPr>
            <a:lvl3pPr marL="1427480" marR="0" indent="-284480" algn="l" defTabSz="914400" rtl="0" eaLnBrk="0" fontAlgn="base" latinLnBrk="0" hangingPunct="0">
              <a:lnSpc>
                <a:spcPct val="100000"/>
              </a:lnSpc>
              <a:spcBef>
                <a:spcPts val="0"/>
              </a:spcBef>
              <a:spcAft>
                <a:spcPct val="0"/>
              </a:spcAft>
              <a:buClrTx/>
              <a:buSzTx/>
              <a:buFont typeface="ZapfDingbatsITC" charset="0"/>
              <a:buChar char="✡"/>
              <a:defRPr kumimoji="1" sz="2400" b="0" i="0" baseline="0">
                <a:solidFill>
                  <a:schemeClr val="tx1"/>
                </a:solidFill>
                <a:latin typeface="Calibri Math" charset="0"/>
                <a:ea typeface="圆体-简 常规体" charset="-122"/>
              </a:defRPr>
            </a:lvl3pPr>
            <a:lvl4pPr marL="1866900" marR="0" indent="-266700" algn="l" defTabSz="914400" rtl="0" eaLnBrk="0" fontAlgn="base" latinLnBrk="0" hangingPunct="0">
              <a:lnSpc>
                <a:spcPct val="100000"/>
              </a:lnSpc>
              <a:spcBef>
                <a:spcPts val="0"/>
              </a:spcBef>
              <a:spcAft>
                <a:spcPct val="0"/>
              </a:spcAft>
              <a:buClrTx/>
              <a:buSzTx/>
              <a:buFont typeface="ZapfDingbatsITC" charset="0"/>
              <a:buChar char="✪"/>
              <a:defRPr kumimoji="1" sz="2000" b="0" i="0" baseline="0">
                <a:solidFill>
                  <a:schemeClr val="tx1"/>
                </a:solidFill>
                <a:latin typeface="Calibri Math" charset="0"/>
                <a:ea typeface="圆体-简 常规体" charset="-122"/>
              </a:defRPr>
            </a:lvl4pPr>
            <a:lvl5pPr marL="2314575" marR="0" indent="-257175" algn="l" defTabSz="914400" rtl="0" eaLnBrk="0" fontAlgn="base" latinLnBrk="0" hangingPunct="0">
              <a:lnSpc>
                <a:spcPct val="100000"/>
              </a:lnSpc>
              <a:spcBef>
                <a:spcPts val="0"/>
              </a:spcBef>
              <a:spcAft>
                <a:spcPct val="0"/>
              </a:spcAft>
              <a:buClrTx/>
              <a:buSzTx/>
              <a:buFont typeface="ZapfDingbatsITC" charset="0"/>
              <a:buChar char="✓"/>
              <a:defRPr kumimoji="1" sz="2000" b="0" i="0" baseline="0">
                <a:solidFill>
                  <a:schemeClr val="tx1"/>
                </a:solidFill>
                <a:latin typeface="Calibri Math" charset="0"/>
                <a:ea typeface="圆体-简 常规体" charset="-122"/>
              </a:defRPr>
            </a:lvl5pPr>
            <a:lvl6pPr marL="2514600" indent="-228600" algn="l" rtl="0" fontAlgn="base">
              <a:spcBef>
                <a:spcPct val="20000"/>
              </a:spcBef>
              <a:spcAft>
                <a:spcPct val="0"/>
              </a:spcAft>
              <a:defRPr kumimoji="1" sz="2000">
                <a:solidFill>
                  <a:schemeClr val="tx1"/>
                </a:solidFill>
                <a:latin typeface="+mn-lt"/>
                <a:ea typeface="+mn-ea"/>
              </a:defRPr>
            </a:lvl6pPr>
            <a:lvl7pPr marL="2971800" indent="-228600" algn="l" rtl="0" fontAlgn="base">
              <a:spcBef>
                <a:spcPct val="20000"/>
              </a:spcBef>
              <a:spcAft>
                <a:spcPct val="0"/>
              </a:spcAft>
              <a:defRPr kumimoji="1" sz="2000">
                <a:solidFill>
                  <a:schemeClr val="tx1"/>
                </a:solidFill>
                <a:latin typeface="+mn-lt"/>
                <a:ea typeface="+mn-ea"/>
              </a:defRPr>
            </a:lvl7pPr>
            <a:lvl8pPr marL="3429000" indent="-228600" algn="l" rtl="0" fontAlgn="base">
              <a:spcBef>
                <a:spcPct val="20000"/>
              </a:spcBef>
              <a:spcAft>
                <a:spcPct val="0"/>
              </a:spcAft>
              <a:defRPr kumimoji="1" sz="2000">
                <a:solidFill>
                  <a:schemeClr val="tx1"/>
                </a:solidFill>
                <a:latin typeface="+mn-lt"/>
                <a:ea typeface="+mn-ea"/>
              </a:defRPr>
            </a:lvl8pPr>
            <a:lvl9pPr marL="3886200" indent="-228600" algn="l" rtl="0" fontAlgn="base">
              <a:spcBef>
                <a:spcPct val="20000"/>
              </a:spcBef>
              <a:spcAft>
                <a:spcPct val="0"/>
              </a:spcAft>
              <a:defRPr kumimoji="1" sz="2000">
                <a:solidFill>
                  <a:schemeClr val="tx1"/>
                </a:solidFill>
                <a:latin typeface="+mn-lt"/>
                <a:ea typeface="+mn-ea"/>
              </a:defRPr>
            </a:lvl9pPr>
          </a:lstStyle>
          <a:p>
            <a:pPr eaLnBrk="1" hangingPunct="1">
              <a:lnSpc>
                <a:spcPct val="120000"/>
              </a:lnSpc>
              <a:spcBef>
                <a:spcPct val="0"/>
              </a:spcBef>
              <a:buFontTx/>
              <a:buNone/>
            </a:pPr>
            <a:r>
              <a:rPr lang="zh-CN" altLang="zh-CN" sz="2000" dirty="0">
                <a:solidFill>
                  <a:srgbClr val="FF0000"/>
                </a:solidFill>
                <a:latin typeface="Cambria Math" panose="02040503050406030204" pitchFamily="18" charset="0"/>
              </a:rPr>
              <a:t>（</a:t>
            </a:r>
            <a:r>
              <a:rPr lang="zh-CN" altLang="en-US" sz="2000" dirty="0">
                <a:solidFill>
                  <a:srgbClr val="FF0000"/>
                </a:solidFill>
                <a:latin typeface="Cambria Math" panose="02040503050406030204" pitchFamily="18" charset="0"/>
              </a:rPr>
              <a:t>𝑏</a:t>
            </a:r>
            <a:r>
              <a:rPr lang="zh-CN" altLang="zh-CN" sz="2000" dirty="0">
                <a:solidFill>
                  <a:srgbClr val="FF0000"/>
                </a:solidFill>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zh-CN" altLang="zh-CN" sz="2000" dirty="0">
                <a:latin typeface="Cambria Math" panose="02040503050406030204" pitchFamily="18" charset="0"/>
              </a:rPr>
              <a:t>∩</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a:t>
            </a:r>
            <a:r>
              <a:rPr lang="zh-CN" altLang="zh-CN" sz="2000" dirty="0">
                <a:solidFill>
                  <a:srgbClr val="FF0000"/>
                </a:solidFill>
                <a:latin typeface="Cambria Math" panose="02040503050406030204" pitchFamily="18" charset="0"/>
              </a:rPr>
              <a:t>对称</a:t>
            </a:r>
            <a:r>
              <a:rPr lang="zh-CN" altLang="zh-CN" sz="2000" dirty="0">
                <a:latin typeface="Cambria Math" panose="02040503050406030204" pitchFamily="18" charset="0"/>
              </a:rPr>
              <a:t>的：</a:t>
            </a:r>
            <a:endParaRPr lang="zh-CN"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对任何</a:t>
            </a:r>
            <a:r>
              <a:rPr lang="zh-CN" altLang="en-US" sz="2000" dirty="0">
                <a:latin typeface="Cambria Math" panose="02040503050406030204" pitchFamily="18" charset="0"/>
              </a:rPr>
              <a:t>𝑎</a:t>
            </a:r>
            <a:r>
              <a:rPr lang="en-US" altLang="zh-CN" sz="2000" dirty="0">
                <a:latin typeface="Cambria Math" panose="02040503050406030204" pitchFamily="18" charset="0"/>
              </a:rPr>
              <a:t>,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𝐴, (𝑎,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(𝑎, 𝑏)</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(𝑏, 𝑎)</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 ∧ </a:t>
            </a:r>
            <a:r>
              <a:rPr lang="en-US" altLang="zh-CN" sz="2000" dirty="0">
                <a:latin typeface="Cambria Math" panose="02040503050406030204" pitchFamily="18" charset="0"/>
              </a:rPr>
              <a:t>(𝑏, 𝑎)</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(𝑏, 𝑎)</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endParaRPr lang="zh-CN" altLang="zh-CN" sz="2000" dirty="0">
              <a:latin typeface="Cambria Math" panose="02040503050406030204" pitchFamily="18" charset="0"/>
            </a:endParaRPr>
          </a:p>
          <a:p>
            <a:pPr eaLnBrk="1" hangingPunct="1">
              <a:lnSpc>
                <a:spcPct val="120000"/>
              </a:lnSpc>
              <a:spcBef>
                <a:spcPct val="0"/>
              </a:spcBef>
              <a:buFontTx/>
              <a:buNone/>
            </a:pPr>
            <a:r>
              <a:rPr lang="zh-CN" altLang="zh-CN" sz="2000" dirty="0">
                <a:latin typeface="Cambria Math" panose="02040503050406030204" pitchFamily="18" charset="0"/>
              </a:rPr>
              <a:t>所以</a:t>
            </a:r>
            <a:r>
              <a:rPr lang="en-US" altLang="zh-CN" sz="2000" dirty="0">
                <a:latin typeface="Cambria Math" panose="02040503050406030204" pitchFamily="18" charset="0"/>
              </a:rPr>
              <a:t>, </a:t>
            </a:r>
            <a:r>
              <a:rPr lang="zh-CN" altLang="en-US" sz="2000" dirty="0">
                <a:latin typeface="Cambria Math" panose="02040503050406030204" pitchFamily="18" charset="0"/>
              </a:rPr>
              <a:t>𝑅</a:t>
            </a:r>
            <a:r>
              <a:rPr lang="en-US" altLang="zh-CN" sz="2000" baseline="-25000" dirty="0">
                <a:latin typeface="Cambria Math" panose="02040503050406030204" pitchFamily="18" charset="0"/>
              </a:rPr>
              <a:t>1</a:t>
            </a:r>
            <a:r>
              <a:rPr lang="en-US" altLang="zh-CN" sz="2000" dirty="0">
                <a:latin typeface="Cambria Math" panose="02040503050406030204" pitchFamily="18" charset="0"/>
                <a:sym typeface="Symbol" panose="05050102010706020507" pitchFamily="18" charset="2"/>
              </a:rPr>
              <a:t>∩</a:t>
            </a:r>
            <a:r>
              <a:rPr lang="en-US" altLang="zh-CN" sz="2000" dirty="0">
                <a:latin typeface="Cambria Math" panose="02040503050406030204" pitchFamily="18" charset="0"/>
              </a:rPr>
              <a:t>𝑅</a:t>
            </a:r>
            <a:r>
              <a:rPr lang="en-US" altLang="zh-CN" sz="2000" baseline="-25000" dirty="0">
                <a:latin typeface="Cambria Math" panose="02040503050406030204" pitchFamily="18" charset="0"/>
              </a:rPr>
              <a:t>2</a:t>
            </a:r>
            <a:r>
              <a:rPr lang="zh-CN" altLang="zh-CN" sz="2000" dirty="0">
                <a:latin typeface="Cambria Math" panose="02040503050406030204" pitchFamily="18" charset="0"/>
              </a:rPr>
              <a:t>是对称的；</a:t>
            </a:r>
            <a:endParaRPr lang="en-US" altLang="zh-CN" sz="2000" dirty="0">
              <a:latin typeface="Cambria Math" panose="020405030504060302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4"/>
          <p:cNvSpPr txBox="1">
            <a:spLocks noGrp="1"/>
          </p:cNvSpPr>
          <p:nvPr>
            <p:ph type="sldNum" sz="quarter"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11267" name="Rectangle 2"/>
          <p:cNvSpPr>
            <a:spLocks noGrp="1"/>
          </p:cNvSpPr>
          <p:nvPr>
            <p:ph type="title"/>
          </p:nvPr>
        </p:nvSpPr>
        <p:spPr>
          <a:xfrm>
            <a:off x="2210668" y="781138"/>
            <a:ext cx="8231124" cy="1371854"/>
          </a:xfrm>
        </p:spPr>
        <p:txBody>
          <a:bodyPr vert="horz" wrap="square" lIns="91456" tIns="45728" rIns="91456" bIns="45728" anchor="ctr" anchorCtr="0"/>
          <a:lstStyle/>
          <a:p>
            <a:pPr eaLnBrk="1" hangingPunct="1"/>
            <a:r>
              <a:rPr lang="zh-CN" altLang="en-US" sz="3600" b="1" dirty="0">
                <a:solidFill>
                  <a:schemeClr val="tx1"/>
                </a:solidFill>
              </a:rPr>
              <a:t>集合的划分</a:t>
            </a:r>
            <a:endParaRPr lang="zh-CN" altLang="en-US" sz="3600" b="1" dirty="0">
              <a:solidFill>
                <a:schemeClr val="tx1"/>
              </a:solidFill>
            </a:endParaRPr>
          </a:p>
        </p:txBody>
      </p:sp>
      <p:sp>
        <p:nvSpPr>
          <p:cNvPr id="11268" name="Text Box 3"/>
          <p:cNvSpPr txBox="1"/>
          <p:nvPr/>
        </p:nvSpPr>
        <p:spPr>
          <a:xfrm>
            <a:off x="2353569" y="1916468"/>
            <a:ext cx="7634113" cy="3709035"/>
          </a:xfrm>
          <a:prstGeom prst="rect">
            <a:avLst/>
          </a:prstGeom>
          <a:noFill/>
          <a:ln w="9525">
            <a:noFill/>
          </a:ln>
        </p:spPr>
        <p:txBody>
          <a:bodyPr>
            <a:spAutoFit/>
          </a:bodyPr>
          <a:lstStyle/>
          <a:p>
            <a:pPr>
              <a:lnSpc>
                <a:spcPct val="120000"/>
              </a:lnSpc>
            </a:pPr>
            <a:r>
              <a:rPr lang="zh-CN" altLang="en-US" sz="2800" b="1" dirty="0">
                <a:solidFill>
                  <a:srgbClr val="FF3300"/>
                </a:solidFill>
                <a:latin typeface="Times New Roman" panose="02020603050405020304" pitchFamily="18" charset="0"/>
              </a:rPr>
              <a:t>定义</a:t>
            </a:r>
            <a:r>
              <a:rPr lang="zh-CN" altLang="en-US" sz="2800" b="1" dirty="0">
                <a:solidFill>
                  <a:schemeClr val="tx2"/>
                </a:solidFill>
                <a:latin typeface="Times New Roman" panose="02020603050405020304" pitchFamily="18" charset="0"/>
              </a:rPr>
              <a:t>   设</a:t>
            </a:r>
            <a:r>
              <a:rPr lang="en-US" altLang="zh-CN" sz="2800" b="1" i="1" dirty="0">
                <a:solidFill>
                  <a:schemeClr val="tx2"/>
                </a:solidFill>
                <a:latin typeface="Times New Roman" panose="02020603050405020304" pitchFamily="18" charset="0"/>
              </a:rPr>
              <a:t>A</a:t>
            </a:r>
            <a:r>
              <a:rPr lang="zh-CN" altLang="en-US" sz="2800" b="1" dirty="0">
                <a:solidFill>
                  <a:schemeClr val="tx2"/>
                </a:solidFill>
                <a:latin typeface="Times New Roman" panose="02020603050405020304" pitchFamily="18" charset="0"/>
              </a:rPr>
              <a:t>为非空集合</a:t>
            </a:r>
            <a:r>
              <a:rPr lang="en-US" altLang="zh-CN" sz="2800" b="1" dirty="0">
                <a:solidFill>
                  <a:schemeClr val="tx2"/>
                </a:solidFill>
                <a:latin typeface="Times New Roman" panose="02020603050405020304" pitchFamily="18" charset="0"/>
              </a:rPr>
              <a:t>, </a:t>
            </a:r>
            <a:r>
              <a:rPr lang="zh-CN" altLang="en-US" sz="2800" b="1" dirty="0">
                <a:solidFill>
                  <a:schemeClr val="tx2"/>
                </a:solidFill>
                <a:latin typeface="Times New Roman" panose="02020603050405020304" pitchFamily="18" charset="0"/>
              </a:rPr>
              <a:t>若</a:t>
            </a:r>
            <a:r>
              <a:rPr lang="en-US" altLang="zh-CN" sz="2800" b="1" i="1" dirty="0">
                <a:solidFill>
                  <a:schemeClr val="tx2"/>
                </a:solidFill>
                <a:latin typeface="Times New Roman" panose="02020603050405020304" pitchFamily="18" charset="0"/>
              </a:rPr>
              <a:t>A</a:t>
            </a:r>
            <a:r>
              <a:rPr lang="zh-CN" altLang="en-US" sz="2800" b="1" dirty="0">
                <a:solidFill>
                  <a:schemeClr val="tx2"/>
                </a:solidFill>
                <a:latin typeface="Times New Roman" panose="02020603050405020304" pitchFamily="18" charset="0"/>
              </a:rPr>
              <a:t>的</a:t>
            </a:r>
            <a:r>
              <a:rPr lang="zh-CN" altLang="en-US" sz="2800" b="1" dirty="0">
                <a:solidFill>
                  <a:srgbClr val="FF0000"/>
                </a:solidFill>
                <a:latin typeface="Times New Roman" panose="02020603050405020304" pitchFamily="18" charset="0"/>
              </a:rPr>
              <a:t>子集族</a:t>
            </a:r>
            <a:r>
              <a:rPr lang="en-US" altLang="zh-CN" sz="2800" b="1" i="1" dirty="0">
                <a:solidFill>
                  <a:srgbClr val="FF0000"/>
                </a:solidFill>
                <a:latin typeface="Times New Roman" panose="02020603050405020304" pitchFamily="18" charset="0"/>
              </a:rPr>
              <a:t>π</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π</a:t>
            </a:r>
            <a:r>
              <a:rPr lang="en-US" altLang="zh-CN" sz="2800" b="1" dirty="0">
                <a:solidFill>
                  <a:schemeClr val="tx2"/>
                </a:solidFill>
                <a:latin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rPr>
              <a:t>P</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A</a:t>
            </a:r>
            <a:r>
              <a:rPr lang="en-US" altLang="zh-CN" sz="2800" b="1" dirty="0">
                <a:solidFill>
                  <a:schemeClr val="tx2"/>
                </a:solidFill>
                <a:latin typeface="Times New Roman" panose="02020603050405020304" pitchFamily="18" charset="0"/>
              </a:rPr>
              <a:t>)) </a:t>
            </a:r>
            <a:r>
              <a:rPr lang="zh-CN" altLang="en-US" sz="2800" b="1" dirty="0">
                <a:solidFill>
                  <a:schemeClr val="tx2"/>
                </a:solidFill>
                <a:latin typeface="Times New Roman" panose="02020603050405020304" pitchFamily="18" charset="0"/>
              </a:rPr>
              <a:t>满足下面条件：</a:t>
            </a:r>
            <a:endParaRPr lang="zh-CN" altLang="en-US" sz="2800" b="1" dirty="0">
              <a:solidFill>
                <a:schemeClr val="tx2"/>
              </a:solidFill>
              <a:latin typeface="Times New Roman" panose="02020603050405020304" pitchFamily="18" charset="0"/>
            </a:endParaRPr>
          </a:p>
          <a:p>
            <a:pPr>
              <a:lnSpc>
                <a:spcPct val="120000"/>
              </a:lnSpc>
            </a:pPr>
            <a:r>
              <a:rPr lang="zh-CN" altLang="en-US" sz="2800" b="1" dirty="0">
                <a:solidFill>
                  <a:schemeClr val="tx2"/>
                </a:solidFill>
                <a:latin typeface="Times New Roman" panose="02020603050405020304" pitchFamily="18" charset="0"/>
              </a:rPr>
              <a:t> </a:t>
            </a:r>
            <a:r>
              <a:rPr lang="en-US" altLang="zh-CN" sz="2800" b="1" dirty="0">
                <a:solidFill>
                  <a:schemeClr val="tx2"/>
                </a:solidFill>
                <a:latin typeface="Times New Roman" panose="02020603050405020304" pitchFamily="18" charset="0"/>
              </a:rPr>
              <a:t>(1) </a:t>
            </a:r>
            <a:r>
              <a:rPr lang="en-US" altLang="zh-CN" sz="2800" b="1" dirty="0">
                <a:solidFill>
                  <a:schemeClr val="tx2"/>
                </a:solidFill>
                <a:latin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rPr>
              <a:t>π </a:t>
            </a:r>
            <a:endParaRPr lang="en-US" altLang="zh-CN" sz="2800" b="1" dirty="0">
              <a:solidFill>
                <a:schemeClr val="tx2"/>
              </a:solidFill>
              <a:latin typeface="Times New Roman" panose="02020603050405020304" pitchFamily="18" charset="0"/>
            </a:endParaRPr>
          </a:p>
          <a:p>
            <a:pPr>
              <a:lnSpc>
                <a:spcPct val="120000"/>
              </a:lnSpc>
            </a:pPr>
            <a:r>
              <a:rPr lang="en-US" altLang="zh-CN" sz="2800" b="1" dirty="0">
                <a:solidFill>
                  <a:schemeClr val="tx2"/>
                </a:solidFill>
                <a:latin typeface="Times New Roman" panose="02020603050405020304" pitchFamily="18" charset="0"/>
              </a:rPr>
              <a:t> (2) </a:t>
            </a:r>
            <a:r>
              <a:rPr lang="en-US" altLang="zh-CN" sz="2800" b="1" dirty="0">
                <a:solidFill>
                  <a:schemeClr val="tx2"/>
                </a:solidFill>
                <a:latin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rPr>
              <a:t>x</a:t>
            </a:r>
            <a:r>
              <a:rPr lang="en-US" altLang="zh-CN" sz="2800" b="1" dirty="0">
                <a:solidFill>
                  <a:schemeClr val="tx2"/>
                </a:solidFill>
                <a:latin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rPr>
              <a:t>y </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x</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y</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π</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x</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y</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x</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y</a:t>
            </a:r>
            <a:r>
              <a:rPr lang="en-US" altLang="zh-CN" sz="2800" b="1" dirty="0">
                <a:solidFill>
                  <a:schemeClr val="tx2"/>
                </a:solidFill>
                <a:latin typeface="Times New Roman" panose="02020603050405020304" pitchFamily="18" charset="0"/>
              </a:rPr>
              <a:t>=</a:t>
            </a:r>
            <a:r>
              <a:rPr lang="en-US" altLang="zh-CN" sz="2800" b="1" dirty="0">
                <a:solidFill>
                  <a:schemeClr val="tx2"/>
                </a:solidFill>
                <a:latin typeface="Times New Roman" panose="02020603050405020304" pitchFamily="18" charset="0"/>
                <a:sym typeface="Symbol" panose="05050102010706020507" pitchFamily="18" charset="2"/>
              </a:rPr>
              <a:t></a:t>
            </a:r>
            <a:r>
              <a:rPr lang="en-US" altLang="zh-CN" sz="2800" b="1" dirty="0">
                <a:solidFill>
                  <a:schemeClr val="tx2"/>
                </a:solidFill>
                <a:latin typeface="Times New Roman" panose="02020603050405020304" pitchFamily="18" charset="0"/>
              </a:rPr>
              <a:t>)</a:t>
            </a:r>
            <a:br>
              <a:rPr lang="en-US" altLang="zh-CN" sz="2800" b="1" dirty="0">
                <a:solidFill>
                  <a:schemeClr val="tx2"/>
                </a:solidFill>
                <a:latin typeface="Times New Roman" panose="02020603050405020304" pitchFamily="18" charset="0"/>
              </a:rPr>
            </a:br>
            <a:r>
              <a:rPr lang="en-US" altLang="zh-CN" sz="2800" b="1" dirty="0">
                <a:solidFill>
                  <a:schemeClr val="tx2"/>
                </a:solidFill>
                <a:latin typeface="Times New Roman" panose="02020603050405020304" pitchFamily="18" charset="0"/>
              </a:rPr>
              <a:t> (3) ∪</a:t>
            </a:r>
            <a:r>
              <a:rPr lang="en-US" altLang="zh-CN" sz="2800" b="1" i="1" dirty="0">
                <a:solidFill>
                  <a:schemeClr val="tx2"/>
                </a:solidFill>
                <a:latin typeface="Times New Roman" panose="02020603050405020304" pitchFamily="18" charset="0"/>
              </a:rPr>
              <a:t>π</a:t>
            </a:r>
            <a:r>
              <a:rPr lang="en-US" altLang="zh-CN" sz="2800" b="1" dirty="0">
                <a:solidFill>
                  <a:schemeClr val="tx2"/>
                </a:solidFill>
                <a:latin typeface="Times New Roman" panose="02020603050405020304" pitchFamily="18" charset="0"/>
              </a:rPr>
              <a:t>=</a:t>
            </a:r>
            <a:r>
              <a:rPr lang="en-US" altLang="zh-CN" sz="2800" b="1" i="1" dirty="0">
                <a:solidFill>
                  <a:schemeClr val="tx2"/>
                </a:solidFill>
                <a:latin typeface="Times New Roman" panose="02020603050405020304" pitchFamily="18" charset="0"/>
              </a:rPr>
              <a:t>A </a:t>
            </a:r>
            <a:br>
              <a:rPr lang="en-US" altLang="zh-CN" sz="2800" b="1" dirty="0">
                <a:solidFill>
                  <a:schemeClr val="tx2"/>
                </a:solidFill>
                <a:latin typeface="Times New Roman" panose="02020603050405020304" pitchFamily="18" charset="0"/>
              </a:rPr>
            </a:br>
            <a:r>
              <a:rPr lang="en-US" altLang="zh-CN" sz="2800" b="1" dirty="0">
                <a:solidFill>
                  <a:schemeClr val="tx2"/>
                </a:solidFill>
                <a:latin typeface="Times New Roman" panose="02020603050405020304" pitchFamily="18" charset="0"/>
              </a:rPr>
              <a:t> </a:t>
            </a:r>
            <a:r>
              <a:rPr lang="zh-CN" altLang="en-US" sz="2800" b="1" dirty="0">
                <a:solidFill>
                  <a:schemeClr val="tx2"/>
                </a:solidFill>
                <a:latin typeface="Times New Roman" panose="02020603050405020304" pitchFamily="18" charset="0"/>
              </a:rPr>
              <a:t>则称</a:t>
            </a:r>
            <a:r>
              <a:rPr lang="en-US" altLang="zh-CN" sz="2800" b="1" i="1" dirty="0">
                <a:solidFill>
                  <a:schemeClr val="tx2"/>
                </a:solidFill>
                <a:latin typeface="Times New Roman" panose="02020603050405020304" pitchFamily="18" charset="0"/>
              </a:rPr>
              <a:t>π</a:t>
            </a:r>
            <a:r>
              <a:rPr lang="zh-CN" altLang="en-US" sz="2800" b="1" dirty="0">
                <a:solidFill>
                  <a:schemeClr val="tx2"/>
                </a:solidFill>
                <a:latin typeface="Times New Roman" panose="02020603050405020304" pitchFamily="18" charset="0"/>
              </a:rPr>
              <a:t>是</a:t>
            </a:r>
            <a:r>
              <a:rPr lang="en-US" altLang="zh-CN" sz="2800" b="1" i="1" dirty="0">
                <a:solidFill>
                  <a:schemeClr val="tx2"/>
                </a:solidFill>
                <a:latin typeface="Times New Roman" panose="02020603050405020304" pitchFamily="18" charset="0"/>
              </a:rPr>
              <a:t>A</a:t>
            </a:r>
            <a:r>
              <a:rPr lang="zh-CN" altLang="en-US" sz="2800" b="1" dirty="0">
                <a:solidFill>
                  <a:schemeClr val="tx2"/>
                </a:solidFill>
                <a:latin typeface="Times New Roman" panose="02020603050405020304" pitchFamily="18" charset="0"/>
              </a:rPr>
              <a:t>的一个</a:t>
            </a:r>
            <a:r>
              <a:rPr lang="zh-CN" altLang="en-US" sz="2800" b="1" dirty="0">
                <a:solidFill>
                  <a:srgbClr val="FF3300"/>
                </a:solidFill>
                <a:latin typeface="Times New Roman" panose="02020603050405020304" pitchFamily="18" charset="0"/>
              </a:rPr>
              <a:t>划分</a:t>
            </a:r>
            <a:r>
              <a:rPr lang="en-US" altLang="zh-CN" sz="2800" b="1" dirty="0">
                <a:solidFill>
                  <a:schemeClr val="tx2"/>
                </a:solidFill>
                <a:latin typeface="Times New Roman" panose="02020603050405020304" pitchFamily="18" charset="0"/>
              </a:rPr>
              <a:t>, </a:t>
            </a:r>
            <a:r>
              <a:rPr lang="zh-CN" altLang="en-US" sz="2800" b="1" dirty="0">
                <a:solidFill>
                  <a:schemeClr val="tx2"/>
                </a:solidFill>
                <a:latin typeface="Times New Roman" panose="02020603050405020304" pitchFamily="18" charset="0"/>
              </a:rPr>
              <a:t>称</a:t>
            </a:r>
            <a:r>
              <a:rPr lang="en-US" altLang="zh-CN" sz="2800" b="1" i="1" dirty="0">
                <a:solidFill>
                  <a:schemeClr val="tx2"/>
                </a:solidFill>
                <a:latin typeface="Times New Roman" panose="02020603050405020304" pitchFamily="18" charset="0"/>
              </a:rPr>
              <a:t>π</a:t>
            </a:r>
            <a:r>
              <a:rPr lang="zh-CN" altLang="en-US" sz="2800" b="1" dirty="0">
                <a:solidFill>
                  <a:schemeClr val="tx2"/>
                </a:solidFill>
                <a:latin typeface="Times New Roman" panose="02020603050405020304" pitchFamily="18" charset="0"/>
              </a:rPr>
              <a:t>中的元素为</a:t>
            </a:r>
            <a:r>
              <a:rPr lang="en-US" altLang="zh-CN" sz="2800" b="1" i="1" dirty="0">
                <a:solidFill>
                  <a:schemeClr val="tx2"/>
                </a:solidFill>
                <a:latin typeface="Times New Roman" panose="02020603050405020304" pitchFamily="18" charset="0"/>
              </a:rPr>
              <a:t>A</a:t>
            </a:r>
            <a:r>
              <a:rPr lang="zh-CN" altLang="en-US" sz="2800" b="1" dirty="0">
                <a:solidFill>
                  <a:schemeClr val="tx2"/>
                </a:solidFill>
                <a:latin typeface="Times New Roman" panose="02020603050405020304" pitchFamily="18" charset="0"/>
              </a:rPr>
              <a:t>的</a:t>
            </a:r>
            <a:r>
              <a:rPr lang="zh-CN" altLang="en-US" sz="2800" b="1" dirty="0">
                <a:solidFill>
                  <a:srgbClr val="FF3300"/>
                </a:solidFill>
                <a:latin typeface="Times New Roman" panose="02020603050405020304" pitchFamily="18" charset="0"/>
              </a:rPr>
              <a:t>划分块</a:t>
            </a:r>
            <a:r>
              <a:rPr lang="en-US" altLang="zh-CN" sz="2800" b="1" dirty="0">
                <a:solidFill>
                  <a:schemeClr val="tx2"/>
                </a:solidFill>
                <a:latin typeface="Times New Roman" panose="02020603050405020304" pitchFamily="18" charset="0"/>
              </a:rPr>
              <a:t>.</a:t>
            </a:r>
            <a:endParaRPr lang="en-US" altLang="zh-CN" sz="2800" b="1" dirty="0">
              <a:solidFill>
                <a:srgbClr val="000099"/>
              </a:solidFill>
              <a:latin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pPr eaLnBrk="1" hangingPunct="1"/>
            <a:r>
              <a:rPr lang="zh-CN" dirty="0"/>
              <a:t>集合的</a:t>
            </a:r>
            <a:r>
              <a:rPr lang="zh-CN" altLang="en-US" dirty="0"/>
              <a:t>划分</a:t>
            </a:r>
            <a:endParaRPr lang="zh-CN" altLang="en-US" dirty="0"/>
          </a:p>
        </p:txBody>
      </p:sp>
      <p:sp>
        <p:nvSpPr>
          <p:cNvPr id="18434" name="Rectangle 3"/>
          <p:cNvSpPr>
            <a:spLocks noGrp="1" noChangeArrowheads="1"/>
          </p:cNvSpPr>
          <p:nvPr>
            <p:ph type="body" idx="1"/>
          </p:nvPr>
        </p:nvSpPr>
        <p:spPr/>
        <p:txBody>
          <a:bodyPr/>
          <a:lstStyle/>
          <a:p>
            <a:pPr marL="0" indent="0" eaLnBrk="1" hangingPunct="1">
              <a:lnSpc>
                <a:spcPct val="120000"/>
              </a:lnSpc>
              <a:buNone/>
            </a:pPr>
            <a:r>
              <a:rPr lang="zh-CN" altLang="en-US" dirty="0">
                <a:solidFill>
                  <a:srgbClr val="FF3300"/>
                </a:solidFill>
                <a:latin typeface="Times New Roman" panose="02020603050405020304" pitchFamily="18" charset="0"/>
              </a:rPr>
              <a:t>定义</a:t>
            </a:r>
            <a:r>
              <a:rPr lang="zh-CN" altLang="en-US" dirty="0">
                <a:solidFill>
                  <a:schemeClr val="tx2"/>
                </a:solidFill>
                <a:latin typeface="Times New Roman" panose="02020603050405020304" pitchFamily="18" charset="0"/>
              </a:rPr>
              <a:t>   </a:t>
            </a:r>
            <a:r>
              <a:rPr lang="zh-CN" altLang="en-US" dirty="0">
                <a:latin typeface="Times New Roman" panose="02020603050405020304" pitchFamily="18" charset="0"/>
              </a:rPr>
              <a:t>设</a:t>
            </a:r>
            <a:r>
              <a:rPr lang="en-US" altLang="zh-CN" dirty="0">
                <a:latin typeface="Times New Roman" panose="02020603050405020304" pitchFamily="18" charset="0"/>
              </a:rPr>
              <a:t>A</a:t>
            </a:r>
            <a:r>
              <a:rPr lang="zh-CN" altLang="en-US" dirty="0">
                <a:latin typeface="Times New Roman" panose="02020603050405020304" pitchFamily="18" charset="0"/>
              </a:rPr>
              <a:t>为</a:t>
            </a:r>
            <a:r>
              <a:rPr lang="zh-CN" altLang="en-US" dirty="0">
                <a:solidFill>
                  <a:srgbClr val="FF0000"/>
                </a:solidFill>
                <a:latin typeface="Times New Roman" panose="02020603050405020304" pitchFamily="18" charset="0"/>
              </a:rPr>
              <a:t>非空集合</a:t>
            </a:r>
            <a:r>
              <a:rPr lang="en-US" altLang="zh-CN" dirty="0">
                <a:latin typeface="Times New Roman" panose="02020603050405020304" pitchFamily="18" charset="0"/>
              </a:rPr>
              <a:t>, </a:t>
            </a:r>
            <a:r>
              <a:rPr lang="en-GB" altLang="zh-CN" dirty="0"/>
              <a:t>A</a:t>
            </a:r>
            <a:r>
              <a:rPr lang="en-GB" altLang="zh-CN" baseline="-25000" dirty="0"/>
              <a:t>1</a:t>
            </a:r>
            <a:r>
              <a:rPr lang="en-GB" altLang="zh-CN" dirty="0"/>
              <a:t>, · · · , A</a:t>
            </a:r>
            <a:r>
              <a:rPr lang="en-GB" altLang="zh-CN" i="1" baseline="-25000" dirty="0"/>
              <a:t>m</a:t>
            </a:r>
            <a:r>
              <a:rPr lang="zh-CN" altLang="en-GB" dirty="0"/>
              <a:t>是</a:t>
            </a:r>
            <a:r>
              <a:rPr lang="en-US" altLang="zh-CN" dirty="0"/>
              <a:t>A</a:t>
            </a:r>
            <a:r>
              <a:rPr lang="zh-CN" altLang="en-US" dirty="0"/>
              <a:t>的</a:t>
            </a:r>
            <a:r>
              <a:rPr lang="zh-CN" altLang="en-US" dirty="0">
                <a:solidFill>
                  <a:srgbClr val="FF0000"/>
                </a:solidFill>
              </a:rPr>
              <a:t>非空子集</a:t>
            </a:r>
            <a:r>
              <a:rPr lang="zh-CN" altLang="en-US" dirty="0"/>
              <a:t>，</a:t>
            </a:r>
            <a:r>
              <a:rPr lang="el-GR" altLang="zh-CN" dirty="0"/>
              <a:t> </a:t>
            </a:r>
            <a:endParaRPr lang="el-GR" altLang="zh-CN" dirty="0"/>
          </a:p>
          <a:p>
            <a:pPr marL="0" indent="0" eaLnBrk="1" hangingPunct="1">
              <a:lnSpc>
                <a:spcPct val="120000"/>
              </a:lnSpc>
              <a:buNone/>
            </a:pPr>
            <a:r>
              <a:rPr lang="el-GR" altLang="zh-CN" dirty="0"/>
              <a:t>π = {</a:t>
            </a:r>
            <a:r>
              <a:rPr lang="en-GB" altLang="zh-CN" dirty="0"/>
              <a:t>A</a:t>
            </a:r>
            <a:r>
              <a:rPr lang="en-GB" altLang="zh-CN" baseline="-25000" dirty="0"/>
              <a:t>1</a:t>
            </a:r>
            <a:r>
              <a:rPr lang="en-GB" altLang="zh-CN" dirty="0"/>
              <a:t>, · · · , A</a:t>
            </a:r>
            <a:r>
              <a:rPr lang="en-GB" altLang="zh-CN" i="1" baseline="-25000" dirty="0"/>
              <a:t>m</a:t>
            </a:r>
            <a:r>
              <a:rPr lang="en-GB" altLang="zh-CN" dirty="0"/>
              <a:t>},</a:t>
            </a:r>
            <a:r>
              <a:rPr lang="zh-CN" altLang="en-US" dirty="0">
                <a:latin typeface="Times New Roman" panose="02020603050405020304" pitchFamily="18" charset="0"/>
              </a:rPr>
              <a:t>若其满足：</a:t>
            </a:r>
            <a:endParaRPr lang="en-US" altLang="zh-CN" dirty="0">
              <a:latin typeface="Times New Roman" panose="02020603050405020304" pitchFamily="18" charset="0"/>
            </a:endParaRPr>
          </a:p>
          <a:p>
            <a:pPr marL="0" indent="0" eaLnBrk="1" hangingPunct="1">
              <a:lnSpc>
                <a:spcPct val="120000"/>
              </a:lnSpc>
              <a:buNone/>
            </a:pPr>
            <a:r>
              <a:rPr lang="en-US" altLang="zh-CN" dirty="0"/>
              <a:t>(1)</a:t>
            </a:r>
            <a:r>
              <a:rPr lang="en-GB" altLang="zh-CN" i="1" dirty="0" err="1"/>
              <a:t>i</a:t>
            </a:r>
            <a:r>
              <a:rPr lang="zh-CN" altLang="en-US" dirty="0"/>
              <a:t> ≠ </a:t>
            </a:r>
            <a:r>
              <a:rPr lang="en-GB" altLang="zh-CN" i="1" dirty="0"/>
              <a:t>j</a:t>
            </a:r>
            <a:r>
              <a:rPr lang="en-US" altLang="en-GB" i="1" dirty="0"/>
              <a:t> </a:t>
            </a:r>
            <a:r>
              <a:rPr lang="zh-CN" altLang="en-US" dirty="0"/>
              <a:t>时，</a:t>
            </a:r>
            <a:r>
              <a:rPr lang="en-GB" altLang="zh-CN" dirty="0" err="1"/>
              <a:t>A</a:t>
            </a:r>
            <a:r>
              <a:rPr lang="en-GB" altLang="zh-CN" i="1" baseline="-25000" dirty="0" err="1"/>
              <a:t>i</a:t>
            </a:r>
            <a:r>
              <a:rPr lang="en-US" altLang="en-GB" i="1" baseline="-25000" dirty="0" err="1"/>
              <a:t> </a:t>
            </a:r>
            <a:r>
              <a:rPr lang="en-GB" altLang="zh-CN" dirty="0" err="1"/>
              <a:t>∩A</a:t>
            </a:r>
            <a:r>
              <a:rPr lang="en-GB" altLang="zh-CN" i="1" baseline="-25000" dirty="0" err="1"/>
              <a:t>j</a:t>
            </a:r>
            <a:r>
              <a:rPr lang="en-GB" altLang="zh-CN" dirty="0"/>
              <a:t>=</a:t>
            </a:r>
            <a:r>
              <a:rPr lang="en-US" altLang="zh-CN" dirty="0">
                <a:latin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endParaRPr>
          </a:p>
          <a:p>
            <a:pPr marL="0" indent="0" eaLnBrk="1" hangingPunct="1">
              <a:lnSpc>
                <a:spcPct val="120000"/>
              </a:lnSpc>
              <a:buNone/>
            </a:pPr>
            <a:r>
              <a:rPr lang="en-US" altLang="zh-CN" dirty="0">
                <a:latin typeface="Times New Roman" panose="02020603050405020304" pitchFamily="18" charset="0"/>
              </a:rPr>
              <a:t>(2) </a:t>
            </a:r>
            <a:r>
              <a:rPr lang="en-GB" altLang="zh-CN" dirty="0"/>
              <a:t>A</a:t>
            </a:r>
            <a:r>
              <a:rPr lang="en-GB" altLang="zh-CN" baseline="-25000" dirty="0"/>
              <a:t>1</a:t>
            </a:r>
            <a:r>
              <a:rPr lang="en-US" altLang="zh-CN" dirty="0">
                <a:latin typeface="Times New Roman" panose="02020603050405020304" pitchFamily="18" charset="0"/>
              </a:rPr>
              <a:t> ∪</a:t>
            </a:r>
            <a:r>
              <a:rPr lang="en-GB" altLang="zh-CN" dirty="0"/>
              <a:t> A</a:t>
            </a:r>
            <a:r>
              <a:rPr lang="en-US" altLang="zh-CN" baseline="-25000" dirty="0"/>
              <a:t>2</a:t>
            </a:r>
            <a:r>
              <a:rPr lang="en-GB" altLang="zh-CN" dirty="0"/>
              <a:t>· · · </a:t>
            </a:r>
            <a:r>
              <a:rPr lang="en-US" altLang="zh-CN" dirty="0">
                <a:latin typeface="Times New Roman" panose="02020603050405020304" pitchFamily="18" charset="0"/>
              </a:rPr>
              <a:t>∪ </a:t>
            </a:r>
            <a:r>
              <a:rPr lang="en-GB" altLang="zh-CN" dirty="0"/>
              <a:t>A</a:t>
            </a:r>
            <a:r>
              <a:rPr lang="en-GB" altLang="zh-CN" i="1" baseline="-25000" dirty="0"/>
              <a:t>m </a:t>
            </a:r>
            <a:r>
              <a:rPr lang="en-US" altLang="zh-CN" dirty="0">
                <a:latin typeface="Times New Roman" panose="02020603050405020304" pitchFamily="18" charset="0"/>
              </a:rPr>
              <a:t>=A</a:t>
            </a:r>
            <a:r>
              <a:rPr lang="en-US" altLang="zh-CN" i="1" dirty="0">
                <a:latin typeface="Times New Roman" panose="02020603050405020304" pitchFamily="18" charset="0"/>
              </a:rPr>
              <a:t> </a:t>
            </a:r>
            <a:br>
              <a:rPr lang="en-US" altLang="zh-CN" dirty="0">
                <a:latin typeface="Times New Roman" panose="02020603050405020304" pitchFamily="18" charset="0"/>
              </a:rPr>
            </a:br>
            <a:r>
              <a:rPr lang="en-US" altLang="zh-CN" dirty="0">
                <a:latin typeface="Times New Roman" panose="02020603050405020304" pitchFamily="18" charset="0"/>
              </a:rPr>
              <a:t> </a:t>
            </a:r>
            <a:r>
              <a:rPr lang="zh-CN" altLang="en-US" dirty="0">
                <a:latin typeface="Times New Roman" panose="02020603050405020304" pitchFamily="18" charset="0"/>
              </a:rPr>
              <a:t>则</a:t>
            </a:r>
            <a:r>
              <a:rPr lang="zh-CN" altLang="en-US" dirty="0" smtClean="0">
                <a:latin typeface="Times New Roman" panose="02020603050405020304" pitchFamily="18" charset="0"/>
              </a:rPr>
              <a:t>称</a:t>
            </a:r>
            <a:r>
              <a:rPr lang="el-GR" altLang="zh-CN" dirty="0"/>
              <a:t>π = {</a:t>
            </a:r>
            <a:r>
              <a:rPr lang="en-GB" altLang="zh-CN" dirty="0"/>
              <a:t>A</a:t>
            </a:r>
            <a:r>
              <a:rPr lang="en-GB" altLang="zh-CN" baseline="-25000" dirty="0"/>
              <a:t>1</a:t>
            </a:r>
            <a:r>
              <a:rPr lang="en-GB" altLang="zh-CN" dirty="0"/>
              <a:t>, · · · , A</a:t>
            </a:r>
            <a:r>
              <a:rPr lang="en-GB" altLang="zh-CN" i="1" baseline="-25000" dirty="0"/>
              <a:t>m</a:t>
            </a:r>
            <a:r>
              <a:rPr lang="en-GB" altLang="zh-CN" dirty="0" smtClean="0"/>
              <a:t>}</a:t>
            </a:r>
            <a:r>
              <a:rPr lang="zh-CN" altLang="en-US" dirty="0" smtClean="0">
                <a:latin typeface="Times New Roman" panose="02020603050405020304" pitchFamily="18" charset="0"/>
              </a:rPr>
              <a:t>是</a:t>
            </a:r>
            <a:r>
              <a:rPr lang="en-US" altLang="zh-CN" dirty="0">
                <a:latin typeface="Times New Roman" panose="02020603050405020304" pitchFamily="18" charset="0"/>
              </a:rPr>
              <a:t>A</a:t>
            </a:r>
            <a:r>
              <a:rPr lang="zh-CN" altLang="en-US" dirty="0">
                <a:latin typeface="Times New Roman" panose="02020603050405020304" pitchFamily="18" charset="0"/>
              </a:rPr>
              <a:t>的一个</a:t>
            </a:r>
            <a:r>
              <a:rPr lang="zh-CN" altLang="en-US" dirty="0">
                <a:solidFill>
                  <a:srgbClr val="FF3300"/>
                </a:solidFill>
                <a:latin typeface="Times New Roman" panose="02020603050405020304" pitchFamily="18" charset="0"/>
              </a:rPr>
              <a:t>划分</a:t>
            </a:r>
            <a:r>
              <a:rPr lang="en-US" altLang="zh-CN" dirty="0">
                <a:solidFill>
                  <a:schemeClr val="tx2"/>
                </a:solidFill>
                <a:latin typeface="Times New Roman" panose="02020603050405020304" pitchFamily="18" charset="0"/>
              </a:rPr>
              <a:t>, </a:t>
            </a:r>
            <a:endParaRPr lang="en-US" altLang="zh-CN" dirty="0" smtClean="0">
              <a:solidFill>
                <a:schemeClr val="tx2"/>
              </a:solidFill>
              <a:latin typeface="Times New Roman" panose="02020603050405020304" pitchFamily="18" charset="0"/>
            </a:endParaRPr>
          </a:p>
          <a:p>
            <a:pPr marL="0" indent="0" eaLnBrk="1" hangingPunct="1">
              <a:lnSpc>
                <a:spcPct val="120000"/>
              </a:lnSpc>
              <a:buNone/>
            </a:pPr>
            <a:r>
              <a:rPr lang="zh-CN" altLang="en-US" dirty="0" smtClean="0">
                <a:latin typeface="Times New Roman" panose="02020603050405020304" pitchFamily="18" charset="0"/>
              </a:rPr>
              <a:t>称</a:t>
            </a:r>
            <a:r>
              <a:rPr lang="en-US" altLang="zh-CN" i="1" dirty="0">
                <a:latin typeface="Times New Roman" panose="02020603050405020304" pitchFamily="18" charset="0"/>
              </a:rPr>
              <a:t>π</a:t>
            </a:r>
            <a:r>
              <a:rPr lang="zh-CN" altLang="en-US" dirty="0">
                <a:latin typeface="Times New Roman" panose="02020603050405020304" pitchFamily="18" charset="0"/>
              </a:rPr>
              <a:t>中的元素</a:t>
            </a:r>
            <a:r>
              <a:rPr lang="en-GB" altLang="zh-CN" dirty="0"/>
              <a:t>A</a:t>
            </a:r>
            <a:r>
              <a:rPr lang="en-GB" altLang="zh-CN" i="1" baseline="-25000" dirty="0"/>
              <a:t>i</a:t>
            </a:r>
            <a:r>
              <a:rPr lang="zh-CN" altLang="en-US" dirty="0">
                <a:latin typeface="Times New Roman" panose="02020603050405020304" pitchFamily="18" charset="0"/>
              </a:rPr>
              <a:t>为</a:t>
            </a:r>
            <a:r>
              <a:rPr lang="en-US" altLang="zh-CN" dirty="0">
                <a:latin typeface="Times New Roman" panose="02020603050405020304" pitchFamily="18" charset="0"/>
              </a:rPr>
              <a:t>A</a:t>
            </a:r>
            <a:r>
              <a:rPr lang="zh-CN" altLang="en-US" dirty="0">
                <a:latin typeface="Times New Roman" panose="02020603050405020304" pitchFamily="18" charset="0"/>
              </a:rPr>
              <a:t>的</a:t>
            </a:r>
            <a:r>
              <a:rPr lang="zh-CN" altLang="en-US" dirty="0">
                <a:solidFill>
                  <a:srgbClr val="FF3300"/>
                </a:solidFill>
                <a:latin typeface="Times New Roman" panose="02020603050405020304" pitchFamily="18" charset="0"/>
              </a:rPr>
              <a:t>划分块</a:t>
            </a:r>
            <a:r>
              <a:rPr lang="en-US" altLang="zh-CN" dirty="0">
                <a:solidFill>
                  <a:schemeClr val="tx2"/>
                </a:solidFill>
                <a:latin typeface="Times New Roman" panose="02020603050405020304" pitchFamily="18" charset="0"/>
              </a:rPr>
              <a:t>.</a:t>
            </a:r>
            <a:endParaRPr lang="zh-CN" alt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txBox="1">
            <a:spLocks noGrp="1"/>
          </p:cNvSpPr>
          <p:nvPr>
            <p:ph type="sldNum" sz="quarter"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Black" panose="020B0A04020102020204" pitchFamily="34" charset="0"/>
              </a:rPr>
            </a:fld>
            <a:endParaRPr lang="en-US" altLang="zh-CN" sz="1200" dirty="0">
              <a:latin typeface="Arial Black" panose="020B0A04020102020204" pitchFamily="34" charset="0"/>
            </a:endParaRPr>
          </a:p>
        </p:txBody>
      </p:sp>
      <p:sp>
        <p:nvSpPr>
          <p:cNvPr id="12291" name="Rectangle 2"/>
          <p:cNvSpPr>
            <a:spLocks noGrp="1"/>
          </p:cNvSpPr>
          <p:nvPr>
            <p:ph type="title"/>
          </p:nvPr>
        </p:nvSpPr>
        <p:spPr/>
        <p:txBody>
          <a:bodyPr vert="horz" wrap="square" lIns="91456" tIns="45728" rIns="91456" bIns="45728" anchor="ctr" anchorCtr="0"/>
          <a:lstStyle/>
          <a:p>
            <a:pPr eaLnBrk="1" hangingPunct="1"/>
            <a:r>
              <a:rPr lang="zh-CN" altLang="en-US" b="1" dirty="0"/>
              <a:t>例题</a:t>
            </a:r>
            <a:endParaRPr lang="zh-CN" altLang="en-US" b="1" dirty="0"/>
          </a:p>
        </p:txBody>
      </p:sp>
      <p:sp>
        <p:nvSpPr>
          <p:cNvPr id="12292" name="Rectangle 3"/>
          <p:cNvSpPr>
            <a:spLocks noGrp="1"/>
          </p:cNvSpPr>
          <p:nvPr>
            <p:ph idx="1"/>
          </p:nvPr>
        </p:nvSpPr>
        <p:spPr>
          <a:xfrm>
            <a:off x="2066178" y="1773566"/>
            <a:ext cx="8231124" cy="4320387"/>
          </a:xfrm>
        </p:spPr>
        <p:txBody>
          <a:bodyPr vert="horz" wrap="square" lIns="91456" tIns="45728" rIns="91456" bIns="45728" anchor="t" anchorCtr="0"/>
          <a:lstStyle/>
          <a:p>
            <a:pPr eaLnBrk="1" hangingPunct="1">
              <a:lnSpc>
                <a:spcPct val="120000"/>
              </a:lnSpc>
              <a:spcBef>
                <a:spcPct val="0"/>
              </a:spcBef>
              <a:buClrTx/>
              <a:buSzTx/>
              <a:buFontTx/>
              <a:buNone/>
            </a:pPr>
            <a:r>
              <a:rPr lang="zh-CN" altLang="en-US" sz="2800" b="1" dirty="0">
                <a:solidFill>
                  <a:schemeClr val="tx1"/>
                </a:solidFill>
                <a:latin typeface="Times New Roman" panose="02020603050405020304" pitchFamily="18" charset="0"/>
              </a:rPr>
              <a:t>例</a:t>
            </a:r>
            <a:r>
              <a:rPr lang="en-US" altLang="zh-CN" sz="2800" b="1" dirty="0">
                <a:solidFill>
                  <a:schemeClr val="tx1"/>
                </a:solidFill>
                <a:latin typeface="Times New Roman" panose="02020603050405020304" pitchFamily="18" charset="0"/>
              </a:rPr>
              <a:t>1  </a:t>
            </a:r>
            <a:r>
              <a:rPr lang="zh-CN" altLang="en-US" sz="2800" b="1" dirty="0">
                <a:solidFill>
                  <a:schemeClr val="tx1"/>
                </a:solidFill>
                <a:latin typeface="Times New Roman" panose="02020603050405020304" pitchFamily="18" charset="0"/>
              </a:rPr>
              <a:t>设</a:t>
            </a:r>
            <a:r>
              <a:rPr lang="en-US" altLang="zh-CN" sz="2800" b="1" i="1" dirty="0">
                <a:solidFill>
                  <a:schemeClr val="tx1"/>
                </a:solidFill>
                <a:latin typeface="Times New Roman" panose="02020603050405020304" pitchFamily="18" charset="0"/>
              </a:rPr>
              <a:t>A</a:t>
            </a:r>
            <a:r>
              <a:rPr lang="zh-CN" altLang="en-US" sz="2800" b="1" dirty="0">
                <a:solidFill>
                  <a:schemeClr val="tx1"/>
                </a:solidFill>
                <a:latin typeface="Times New Roman" panose="02020603050405020304" pitchFamily="18" charset="0"/>
              </a:rPr>
              <a:t>＝</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d</a:t>
            </a:r>
            <a:r>
              <a:rPr lang="en-US" altLang="zh-CN" sz="2800" b="1" dirty="0">
                <a:solidFill>
                  <a:schemeClr val="tx1"/>
                </a:solidFill>
                <a:latin typeface="Times New Roman" panose="02020603050405020304" pitchFamily="18" charset="0"/>
              </a:rPr>
              <a:t>}, </a:t>
            </a:r>
            <a:endParaRPr lang="en-US" altLang="zh-CN" sz="2800" b="1" dirty="0">
              <a:solidFill>
                <a:schemeClr val="tx1"/>
              </a:solidFill>
              <a:latin typeface="Times New Roman" panose="02020603050405020304" pitchFamily="18" charset="0"/>
            </a:endParaRPr>
          </a:p>
          <a:p>
            <a:pPr eaLnBrk="1" hangingPunct="1">
              <a:lnSpc>
                <a:spcPct val="120000"/>
              </a:lnSpc>
              <a:spcBef>
                <a:spcPct val="0"/>
              </a:spcBef>
              <a:buClrTx/>
              <a:buSzTx/>
              <a:buFontTx/>
              <a:buNone/>
            </a:pPr>
            <a:r>
              <a:rPr lang="en-US" altLang="zh-CN" sz="28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给定</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1</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2</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3</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4</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5</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6</a:t>
            </a:r>
            <a:r>
              <a:rPr lang="zh-CN" altLang="en-US" sz="2800" b="1" dirty="0">
                <a:solidFill>
                  <a:schemeClr val="tx1"/>
                </a:solidFill>
                <a:latin typeface="Times New Roman" panose="02020603050405020304" pitchFamily="18" charset="0"/>
              </a:rPr>
              <a:t>如下：</a:t>
            </a:r>
            <a:endParaRPr lang="zh-CN" altLang="en-US" sz="2800" b="1" dirty="0">
              <a:solidFill>
                <a:schemeClr val="tx1"/>
              </a:solidFill>
              <a:latin typeface="Times New Roman" panose="02020603050405020304" pitchFamily="18" charset="0"/>
            </a:endParaRPr>
          </a:p>
          <a:p>
            <a:pPr eaLnBrk="1" hangingPunct="1">
              <a:lnSpc>
                <a:spcPct val="120000"/>
              </a:lnSpc>
              <a:spcBef>
                <a:spcPct val="0"/>
              </a:spcBef>
              <a:buClrTx/>
              <a:buSzTx/>
              <a:buFontTx/>
              <a:buNone/>
            </a:pPr>
            <a:r>
              <a:rPr lang="zh-CN" altLang="en-US"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1</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d</a:t>
            </a:r>
            <a:r>
              <a:rPr lang="en-US" altLang="zh-CN" sz="28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2</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d</a:t>
            </a:r>
            <a:r>
              <a:rPr lang="en-US" altLang="zh-CN" sz="2800" b="1" dirty="0">
                <a:solidFill>
                  <a:schemeClr val="tx1"/>
                </a:solidFill>
                <a:latin typeface="Times New Roman" panose="02020603050405020304" pitchFamily="18" charset="0"/>
              </a:rPr>
              <a:t>} }</a:t>
            </a:r>
            <a:br>
              <a:rPr lang="en-US" altLang="zh-CN" sz="2800" b="1" dirty="0">
                <a:solidFill>
                  <a:schemeClr val="tx1"/>
                </a:solidFill>
                <a:latin typeface="Times New Roman" panose="02020603050405020304" pitchFamily="18" charset="0"/>
              </a:rPr>
            </a:b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3</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d</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4</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br>
              <a:rPr lang="en-US" altLang="zh-CN" sz="2800" b="1" dirty="0">
                <a:solidFill>
                  <a:schemeClr val="tx1"/>
                </a:solidFill>
                <a:latin typeface="Times New Roman" panose="02020603050405020304" pitchFamily="18" charset="0"/>
              </a:rPr>
            </a:b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5</a:t>
            </a:r>
            <a:r>
              <a:rPr lang="en-US" altLang="zh-CN" sz="2800" b="1" dirty="0">
                <a:solidFill>
                  <a:schemeClr val="tx1"/>
                </a:solidFill>
                <a:latin typeface="Times New Roman" panose="02020603050405020304" pitchFamily="18" charset="0"/>
              </a:rPr>
              <a:t>= { </a:t>
            </a:r>
            <a:r>
              <a:rPr lang="en-US" altLang="zh-CN" sz="2800" b="1" dirty="0">
                <a:solidFill>
                  <a:schemeClr val="tx1"/>
                </a:solidFill>
                <a:latin typeface="Times New Roman" panose="02020603050405020304" pitchFamily="18" charset="0"/>
                <a:sym typeface="Symbol" panose="05050102010706020507" pitchFamily="18" charset="2"/>
              </a:rPr>
              <a:t></a:t>
            </a:r>
            <a:r>
              <a:rPr lang="en-US" altLang="zh-CN" sz="2800" b="1" dirty="0">
                <a:solidFill>
                  <a:schemeClr val="tx1"/>
                </a:solidFill>
                <a:latin typeface="Times New Roman" panose="02020603050405020304" pitchFamily="18" charset="0"/>
              </a:rPr>
              <a:t>,{</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d</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6</a:t>
            </a:r>
            <a:r>
              <a:rPr lang="en-US" altLang="zh-CN" sz="2800" b="1" dirty="0">
                <a:solidFill>
                  <a:schemeClr val="tx1"/>
                </a:solidFill>
                <a:latin typeface="Times New Roman" panose="02020603050405020304" pitchFamily="18" charset="0"/>
              </a:rPr>
              <a:t>= {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a</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b</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c</a:t>
            </a:r>
            <a:r>
              <a:rPr lang="en-US" altLang="zh-CN" sz="2800" b="1" dirty="0">
                <a:solidFill>
                  <a:schemeClr val="tx1"/>
                </a:solidFill>
                <a:latin typeface="Times New Roman" panose="02020603050405020304" pitchFamily="18" charset="0"/>
              </a:rPr>
              <a:t>, </a:t>
            </a:r>
            <a:r>
              <a:rPr lang="en-US" altLang="zh-CN" sz="2800" b="1" i="1" dirty="0">
                <a:solidFill>
                  <a:schemeClr val="tx1"/>
                </a:solidFill>
                <a:latin typeface="Times New Roman" panose="02020603050405020304" pitchFamily="18" charset="0"/>
              </a:rPr>
              <a:t>d</a:t>
            </a:r>
            <a:r>
              <a:rPr lang="en-US" altLang="zh-CN" sz="2800" b="1" dirty="0">
                <a:solidFill>
                  <a:schemeClr val="tx1"/>
                </a:solidFill>
                <a:latin typeface="Times New Roman" panose="02020603050405020304" pitchFamily="18" charset="0"/>
              </a:rPr>
              <a:t>} }</a:t>
            </a:r>
            <a:endParaRPr lang="en-US" altLang="zh-CN" sz="2800" b="1" dirty="0">
              <a:solidFill>
                <a:schemeClr val="tx1"/>
              </a:solidFill>
              <a:latin typeface="Times New Roman" panose="02020603050405020304" pitchFamily="18" charset="0"/>
            </a:endParaRPr>
          </a:p>
          <a:p>
            <a:pPr eaLnBrk="1" hangingPunct="1">
              <a:lnSpc>
                <a:spcPct val="120000"/>
              </a:lnSpc>
              <a:spcBef>
                <a:spcPct val="0"/>
              </a:spcBef>
              <a:buClrTx/>
              <a:buSzTx/>
              <a:buFontTx/>
              <a:buNone/>
            </a:pPr>
            <a:r>
              <a:rPr lang="en-US" altLang="zh-CN" sz="2800" b="1" dirty="0">
                <a:solidFill>
                  <a:schemeClr val="tx1"/>
                </a:solidFill>
                <a:latin typeface="Times New Roman" panose="02020603050405020304" pitchFamily="18" charset="0"/>
              </a:rPr>
              <a:t> </a:t>
            </a:r>
            <a:endParaRPr lang="en-US" altLang="zh-CN" sz="2800" b="1" dirty="0">
              <a:solidFill>
                <a:schemeClr val="tx1"/>
              </a:solidFill>
              <a:latin typeface="Times New Roman" panose="02020603050405020304" pitchFamily="18" charset="0"/>
            </a:endParaRPr>
          </a:p>
          <a:p>
            <a:pPr eaLnBrk="1" hangingPunct="1">
              <a:lnSpc>
                <a:spcPct val="120000"/>
              </a:lnSpc>
              <a:spcBef>
                <a:spcPct val="0"/>
              </a:spcBef>
              <a:buClrTx/>
              <a:buSzTx/>
              <a:buFontTx/>
              <a:buNone/>
            </a:pPr>
            <a:r>
              <a:rPr lang="en-US" altLang="zh-CN" sz="28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则</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1</a:t>
            </a:r>
            <a:r>
              <a:rPr lang="zh-CN" altLang="en-US" sz="2800" b="1" dirty="0">
                <a:solidFill>
                  <a:schemeClr val="tx1"/>
                </a:solidFill>
                <a:latin typeface="Times New Roman" panose="02020603050405020304" pitchFamily="18" charset="0"/>
              </a:rPr>
              <a:t>和</a:t>
            </a:r>
            <a:r>
              <a:rPr lang="en-US" altLang="zh-CN" sz="2800" b="1" i="1" dirty="0">
                <a:solidFill>
                  <a:schemeClr val="tx1"/>
                </a:solidFill>
                <a:latin typeface="Times New Roman" panose="02020603050405020304" pitchFamily="18" charset="0"/>
              </a:rPr>
              <a:t>π</a:t>
            </a:r>
            <a:r>
              <a:rPr lang="en-US" altLang="zh-CN" sz="2800" b="1" baseline="-25000" dirty="0">
                <a:solidFill>
                  <a:schemeClr val="tx1"/>
                </a:solidFill>
                <a:latin typeface="Times New Roman" panose="02020603050405020304" pitchFamily="18" charset="0"/>
              </a:rPr>
              <a:t>2</a:t>
            </a:r>
            <a:r>
              <a:rPr lang="en-US" altLang="zh-CN" sz="28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是</a:t>
            </a:r>
            <a:r>
              <a:rPr lang="en-US" altLang="zh-CN" sz="2800" b="1" i="1" dirty="0">
                <a:solidFill>
                  <a:schemeClr val="tx1"/>
                </a:solidFill>
                <a:latin typeface="Times New Roman" panose="02020603050405020304" pitchFamily="18" charset="0"/>
              </a:rPr>
              <a:t>A</a:t>
            </a:r>
            <a:r>
              <a:rPr lang="zh-CN" altLang="en-US" sz="2800" b="1" dirty="0">
                <a:solidFill>
                  <a:schemeClr val="tx1"/>
                </a:solidFill>
                <a:latin typeface="Times New Roman" panose="02020603050405020304" pitchFamily="18" charset="0"/>
              </a:rPr>
              <a:t>的划分</a:t>
            </a:r>
            <a:r>
              <a:rPr lang="en-US" altLang="zh-CN" sz="28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其他都不是 </a:t>
            </a:r>
            <a:r>
              <a:rPr lang="en-US" altLang="zh-CN" sz="2800" b="1" i="1" dirty="0">
                <a:solidFill>
                  <a:schemeClr val="tx1"/>
                </a:solidFill>
                <a:latin typeface="Times New Roman" panose="02020603050405020304" pitchFamily="18" charset="0"/>
              </a:rPr>
              <a:t>A </a:t>
            </a:r>
            <a:r>
              <a:rPr lang="zh-CN" altLang="en-US" sz="2800" b="1" dirty="0">
                <a:solidFill>
                  <a:schemeClr val="tx1"/>
                </a:solidFill>
                <a:latin typeface="Times New Roman" panose="02020603050405020304" pitchFamily="18" charset="0"/>
              </a:rPr>
              <a:t>的划分</a:t>
            </a:r>
            <a:r>
              <a:rPr lang="en-US" altLang="zh-CN" sz="2800" b="1" dirty="0">
                <a:solidFill>
                  <a:schemeClr val="tx1"/>
                </a:solidFill>
                <a:latin typeface="Times New Roman" panose="02020603050405020304" pitchFamily="18" charset="0"/>
              </a:rPr>
              <a:t>. </a:t>
            </a:r>
            <a:endParaRPr lang="en-US" altLang="zh-CN" sz="2800" b="1" dirty="0">
              <a:solidFill>
                <a:schemeClr val="tx1"/>
              </a:solidFill>
              <a:latin typeface="Times New Roman" panose="02020603050405020304" pitchFamily="18" charset="0"/>
            </a:endParaRPr>
          </a:p>
          <a:p>
            <a:pPr eaLnBrk="1" hangingPunct="1">
              <a:lnSpc>
                <a:spcPct val="120000"/>
              </a:lnSpc>
              <a:spcBef>
                <a:spcPct val="0"/>
              </a:spcBef>
              <a:buClrTx/>
              <a:buSzTx/>
              <a:buFontTx/>
              <a:buNone/>
            </a:pPr>
            <a:r>
              <a:rPr lang="en-US" altLang="zh-CN" sz="2800" b="1" dirty="0">
                <a:solidFill>
                  <a:schemeClr val="bg2"/>
                </a:solidFill>
                <a:latin typeface="Times New Roman" panose="02020603050405020304" pitchFamily="18" charset="0"/>
              </a:rPr>
              <a:t> </a:t>
            </a:r>
            <a:endParaRPr lang="zh-CN" altLang="en-US" sz="2800" dirty="0">
              <a:solidFill>
                <a:schemeClr val="bg2"/>
              </a:solidFill>
              <a:latin typeface="Times New Roman" panose="02020603050405020304" pitchFamily="18"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69975" y="533929"/>
            <a:ext cx="10147125" cy="1143265"/>
          </a:xfrm>
        </p:spPr>
        <p:txBody>
          <a:bodyPr/>
          <a:lstStyle/>
          <a:p>
            <a:pPr eaLnBrk="1" hangingPunct="1"/>
            <a:r>
              <a:rPr lang="en-US" altLang="zh-CN" sz="2800" dirty="0">
                <a:solidFill>
                  <a:schemeClr val="tx1"/>
                </a:solidFill>
              </a:rPr>
              <a:t>§</a:t>
            </a:r>
            <a:r>
              <a:rPr lang="en-US" altLang="zh-CN" sz="2800" dirty="0" smtClean="0">
                <a:solidFill>
                  <a:schemeClr val="tx1"/>
                </a:solidFill>
              </a:rPr>
              <a:t>4-5-2  </a:t>
            </a:r>
            <a:r>
              <a:rPr lang="zh-CN" altLang="en-US" sz="2800" dirty="0">
                <a:solidFill>
                  <a:schemeClr val="tx1"/>
                </a:solidFill>
              </a:rPr>
              <a:t>偏序关</a:t>
            </a:r>
            <a:r>
              <a:rPr lang="zh-CN" altLang="en-US" sz="2800" dirty="0" smtClean="0">
                <a:solidFill>
                  <a:schemeClr val="tx1"/>
                </a:solidFill>
              </a:rPr>
              <a:t>系</a:t>
            </a:r>
            <a:r>
              <a:rPr lang="en-US" altLang="zh-CN" sz="2800" dirty="0" smtClean="0">
                <a:solidFill>
                  <a:schemeClr val="tx1"/>
                </a:solidFill>
              </a:rPr>
              <a:t>   </a:t>
            </a:r>
            <a:r>
              <a:rPr lang="en-US" altLang="zh-CN" sz="2800" dirty="0" smtClean="0">
                <a:solidFill>
                  <a:srgbClr val="00B050"/>
                </a:solidFill>
              </a:rPr>
              <a:t>Partial </a:t>
            </a:r>
            <a:r>
              <a:rPr lang="en-US" altLang="zh-CN" sz="2800" dirty="0">
                <a:solidFill>
                  <a:srgbClr val="00B050"/>
                </a:solidFill>
              </a:rPr>
              <a:t>Order</a:t>
            </a:r>
            <a:endParaRPr lang="zh-CN" altLang="en-US" sz="2800" dirty="0">
              <a:solidFill>
                <a:srgbClr val="00B050"/>
              </a:solidFill>
            </a:endParaRPr>
          </a:p>
        </p:txBody>
      </p:sp>
      <p:sp>
        <p:nvSpPr>
          <p:cNvPr id="56323" name="Rectangle 3"/>
          <p:cNvSpPr>
            <a:spLocks noGrp="1" noChangeArrowheads="1"/>
          </p:cNvSpPr>
          <p:nvPr>
            <p:ph type="body" sz="quarter" idx="13"/>
          </p:nvPr>
        </p:nvSpPr>
        <p:spPr/>
        <p:txBody>
          <a:bodyPr>
            <a:normAutofit/>
          </a:bodyPr>
          <a:lstStyle/>
          <a:p>
            <a:pPr eaLnBrk="1" hangingPunct="1">
              <a:lnSpc>
                <a:spcPct val="120000"/>
              </a:lnSpc>
            </a:pPr>
            <a:r>
              <a:rPr lang="zh-CN" altLang="en-US" dirty="0">
                <a:latin typeface="Cambria Math" panose="02040503050406030204" pitchFamily="18" charset="0"/>
              </a:rPr>
              <a:t>现实中</a:t>
            </a:r>
            <a:r>
              <a:rPr lang="en-US" altLang="zh-CN" dirty="0">
                <a:latin typeface="Cambria Math" panose="02040503050406030204" pitchFamily="18" charset="0"/>
              </a:rPr>
              <a:t>, </a:t>
            </a:r>
            <a:r>
              <a:rPr lang="zh-CN" altLang="en-US" dirty="0">
                <a:latin typeface="Cambria Math" panose="02040503050406030204" pitchFamily="18" charset="0"/>
              </a:rPr>
              <a:t>有些事情的发生必须依赖某些事物发生之后才可进行</a:t>
            </a:r>
            <a:r>
              <a:rPr lang="en-US" altLang="zh-CN" dirty="0">
                <a:latin typeface="Cambria Math" panose="02040503050406030204" pitchFamily="18" charset="0"/>
              </a:rPr>
              <a:t>, </a:t>
            </a:r>
            <a:r>
              <a:rPr lang="zh-CN" altLang="en-US" dirty="0">
                <a:latin typeface="Cambria Math" panose="02040503050406030204" pitchFamily="18" charset="0"/>
              </a:rPr>
              <a:t>也就是说任务之间存在“</a:t>
            </a:r>
            <a:r>
              <a:rPr lang="zh-CN" altLang="en-US" dirty="0">
                <a:solidFill>
                  <a:srgbClr val="FF0000"/>
                </a:solidFill>
                <a:latin typeface="Cambria Math" panose="02040503050406030204" pitchFamily="18" charset="0"/>
              </a:rPr>
              <a:t>先后</a:t>
            </a:r>
            <a:r>
              <a:rPr lang="zh-CN" altLang="en-US" dirty="0">
                <a:latin typeface="Cambria Math" panose="02040503050406030204" pitchFamily="18" charset="0"/>
              </a:rPr>
              <a:t>”关系</a:t>
            </a:r>
            <a:r>
              <a:rPr lang="en-US" altLang="zh-CN" dirty="0">
                <a:latin typeface="Cambria Math" panose="02040503050406030204" pitchFamily="18" charset="0"/>
              </a:rPr>
              <a:t>, </a:t>
            </a:r>
            <a:r>
              <a:rPr lang="zh-CN" altLang="en-US" dirty="0">
                <a:latin typeface="Cambria Math" panose="02040503050406030204" pitchFamily="18" charset="0"/>
              </a:rPr>
              <a:t>即</a:t>
            </a:r>
            <a:r>
              <a:rPr lang="zh-CN" altLang="en-US" dirty="0">
                <a:solidFill>
                  <a:srgbClr val="FF0000"/>
                </a:solidFill>
                <a:latin typeface="Cambria Math" panose="02040503050406030204" pitchFamily="18" charset="0"/>
              </a:rPr>
              <a:t>次序关系</a:t>
            </a:r>
            <a:r>
              <a:rPr lang="zh-CN" altLang="en-US" dirty="0">
                <a:latin typeface="Cambria Math" panose="02040503050406030204" pitchFamily="18" charset="0"/>
              </a:rPr>
              <a:t>。</a:t>
            </a:r>
            <a:endParaRPr lang="en-US" altLang="zh-CN" dirty="0">
              <a:latin typeface="Cambria Math" panose="02040503050406030204" pitchFamily="18" charset="0"/>
            </a:endParaRPr>
          </a:p>
          <a:p>
            <a:pPr marL="0" indent="0">
              <a:lnSpc>
                <a:spcPct val="120000"/>
              </a:lnSpc>
              <a:buNone/>
            </a:pPr>
            <a:endParaRPr lang="en-US" altLang="zh-CN" dirty="0">
              <a:latin typeface="Cambria Math" panose="02040503050406030204" pitchFamily="18" charset="0"/>
            </a:endParaRPr>
          </a:p>
          <a:p>
            <a:pPr marL="0" indent="0">
              <a:lnSpc>
                <a:spcPct val="120000"/>
              </a:lnSpc>
              <a:buNone/>
            </a:pPr>
            <a:r>
              <a:rPr lang="en-US" altLang="zh-CN" dirty="0">
                <a:latin typeface="Cambria Math" panose="02040503050406030204" pitchFamily="18" charset="0"/>
              </a:rPr>
              <a:t>【</a:t>
            </a:r>
            <a:r>
              <a:rPr lang="zh-CN" altLang="en-US" dirty="0">
                <a:solidFill>
                  <a:srgbClr val="00B050"/>
                </a:solidFill>
                <a:latin typeface="Cambria Math" panose="02040503050406030204" pitchFamily="18" charset="0"/>
              </a:rPr>
              <a:t>定义</a:t>
            </a:r>
            <a:r>
              <a:rPr lang="en-US" altLang="zh-CN" dirty="0">
                <a:latin typeface="Cambria Math" panose="02040503050406030204" pitchFamily="18" charset="0"/>
              </a:rPr>
              <a:t>】</a:t>
            </a:r>
            <a:r>
              <a:rPr lang="zh-CN" altLang="en-US" dirty="0">
                <a:latin typeface="Cambria Math" panose="02040503050406030204" pitchFamily="18" charset="0"/>
              </a:rPr>
              <a:t>设𝑅是非空集合𝐴上的关系</a:t>
            </a:r>
            <a:r>
              <a:rPr lang="en-US" altLang="zh-CN" dirty="0">
                <a:latin typeface="Cambria Math" panose="02040503050406030204" pitchFamily="18" charset="0"/>
              </a:rPr>
              <a:t>, </a:t>
            </a:r>
            <a:r>
              <a:rPr lang="zh-CN" altLang="en-US" dirty="0">
                <a:latin typeface="Cambria Math" panose="02040503050406030204" pitchFamily="18" charset="0"/>
              </a:rPr>
              <a:t>若𝑅满足：</a:t>
            </a:r>
            <a:endParaRPr lang="en-US" altLang="zh-CN" dirty="0">
              <a:latin typeface="Cambria Math" panose="02040503050406030204" pitchFamily="18" charset="0"/>
            </a:endParaRPr>
          </a:p>
          <a:p>
            <a:pPr marL="1400810" lvl="1" indent="-612775">
              <a:lnSpc>
                <a:spcPct val="120000"/>
              </a:lnSpc>
              <a:buFont typeface="+mj-ea"/>
              <a:buAutoNum type="circleNumDbPlain"/>
            </a:pPr>
            <a:r>
              <a:rPr lang="zh-CN" altLang="en-US" dirty="0">
                <a:latin typeface="Cambria Math" panose="02040503050406030204" pitchFamily="18" charset="0"/>
              </a:rPr>
              <a:t>自反的</a:t>
            </a:r>
            <a:endParaRPr lang="en-US" altLang="zh-CN" dirty="0">
              <a:latin typeface="Cambria Math" panose="02040503050406030204" pitchFamily="18" charset="0"/>
            </a:endParaRPr>
          </a:p>
          <a:p>
            <a:pPr marL="1400810" lvl="1" indent="-612775">
              <a:lnSpc>
                <a:spcPct val="120000"/>
              </a:lnSpc>
              <a:buFont typeface="+mj-ea"/>
              <a:buAutoNum type="circleNumDbPlain"/>
            </a:pPr>
            <a:r>
              <a:rPr lang="zh-CN" altLang="en-US" dirty="0">
                <a:solidFill>
                  <a:srgbClr val="FF0000"/>
                </a:solidFill>
                <a:latin typeface="Cambria Math" panose="02040503050406030204" pitchFamily="18" charset="0"/>
              </a:rPr>
              <a:t>反对称的</a:t>
            </a:r>
            <a:endParaRPr lang="en-US" altLang="zh-CN" dirty="0">
              <a:latin typeface="Cambria Math" panose="02040503050406030204" pitchFamily="18" charset="0"/>
            </a:endParaRPr>
          </a:p>
          <a:p>
            <a:pPr marL="1400810" lvl="1" indent="-612775">
              <a:lnSpc>
                <a:spcPct val="120000"/>
              </a:lnSpc>
              <a:buFont typeface="+mj-ea"/>
              <a:buAutoNum type="circleNumDbPlain"/>
            </a:pPr>
            <a:r>
              <a:rPr lang="zh-CN" altLang="en-US" dirty="0">
                <a:latin typeface="Cambria Math" panose="02040503050406030204" pitchFamily="18" charset="0"/>
              </a:rPr>
              <a:t>传递的</a:t>
            </a:r>
            <a:endParaRPr lang="en-US" altLang="zh-CN" dirty="0">
              <a:latin typeface="Cambria Math" panose="02040503050406030204" pitchFamily="18" charset="0"/>
            </a:endParaRPr>
          </a:p>
          <a:p>
            <a:pPr marL="266700" indent="0">
              <a:lnSpc>
                <a:spcPct val="120000"/>
              </a:lnSpc>
              <a:buNone/>
            </a:pPr>
            <a:r>
              <a:rPr lang="zh-CN" altLang="en-US" dirty="0">
                <a:latin typeface="Cambria Math" panose="02040503050406030204" pitchFamily="18" charset="0"/>
              </a:rPr>
              <a:t>则称𝑅为𝐴上的</a:t>
            </a:r>
            <a:r>
              <a:rPr lang="zh-CN" altLang="en-US" dirty="0">
                <a:solidFill>
                  <a:srgbClr val="FF0000"/>
                </a:solidFill>
                <a:latin typeface="Cambria Math" panose="02040503050406030204" pitchFamily="18" charset="0"/>
              </a:rPr>
              <a:t>偏序关系</a:t>
            </a:r>
            <a:r>
              <a:rPr lang="en-US" altLang="zh-CN" dirty="0">
                <a:latin typeface="Cambria Math" panose="02040503050406030204" pitchFamily="18" charset="0"/>
              </a:rPr>
              <a:t>, </a:t>
            </a:r>
            <a:r>
              <a:rPr lang="zh-CN" altLang="en-US" dirty="0">
                <a:latin typeface="Cambria Math" panose="02040503050406030204" pitchFamily="18" charset="0"/>
              </a:rPr>
              <a:t>简称</a:t>
            </a:r>
            <a:r>
              <a:rPr lang="zh-CN" altLang="en-US" dirty="0">
                <a:solidFill>
                  <a:srgbClr val="FF0000"/>
                </a:solidFill>
                <a:latin typeface="Cambria Math" panose="02040503050406030204" pitchFamily="18" charset="0"/>
              </a:rPr>
              <a:t>偏序</a:t>
            </a:r>
            <a:r>
              <a:rPr lang="en-US" altLang="zh-CN" dirty="0">
                <a:latin typeface="Cambria Math" panose="02040503050406030204" pitchFamily="18" charset="0"/>
              </a:rPr>
              <a:t>, </a:t>
            </a:r>
            <a:r>
              <a:rPr lang="zh-CN" altLang="en-US" dirty="0">
                <a:latin typeface="Cambria Math" panose="02040503050406030204" pitchFamily="18" charset="0"/>
              </a:rPr>
              <a:t>记为</a:t>
            </a:r>
            <a:r>
              <a:rPr lang="en-US" altLang="zh-CN" dirty="0">
                <a:latin typeface="Cambria Math" panose="02040503050406030204" pitchFamily="18" charset="0"/>
              </a:rPr>
              <a:t>''</a:t>
            </a:r>
            <a:r>
              <a:rPr lang="zh-CN" altLang="en-US" dirty="0">
                <a:latin typeface="Cambria Math" panose="02040503050406030204" pitchFamily="18" charset="0"/>
              </a:rPr>
              <a:t>≼</a:t>
            </a:r>
            <a:r>
              <a:rPr lang="en-US" altLang="zh-CN" dirty="0">
                <a:latin typeface="Cambria Math" panose="02040503050406030204" pitchFamily="18" charset="0"/>
              </a:rPr>
              <a:t>''</a:t>
            </a:r>
            <a:r>
              <a:rPr lang="zh-CN" altLang="en-US" dirty="0">
                <a:latin typeface="Cambria Math" panose="02040503050406030204" pitchFamily="18" charset="0"/>
              </a:rPr>
              <a:t>。并将</a:t>
            </a:r>
            <a:r>
              <a:rPr lang="en-US" altLang="zh-CN" dirty="0">
                <a:latin typeface="Cambria Math" panose="02040503050406030204" pitchFamily="18" charset="0"/>
              </a:rPr>
              <a:t>''&lt;𝑎, </a:t>
            </a:r>
            <a:r>
              <a:rPr lang="en-US" altLang="zh-CN" dirty="0">
                <a:latin typeface="Cambria Math" panose="02040503050406030204" pitchFamily="18" charset="0"/>
              </a:rPr>
              <a:t>𝑏</a:t>
            </a:r>
            <a:r>
              <a:rPr lang="en-US" altLang="zh-CN" dirty="0">
                <a:latin typeface="Cambria Math" panose="02040503050406030204" pitchFamily="18" charset="0"/>
              </a:rPr>
              <a:t>&gt;</a:t>
            </a:r>
            <a:r>
              <a:rPr lang="en-US" altLang="zh-CN"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rPr>
              <a:t>≼</a:t>
            </a:r>
            <a:r>
              <a:rPr lang="en-US" altLang="zh-CN" dirty="0">
                <a:latin typeface="Cambria Math" panose="02040503050406030204" pitchFamily="18" charset="0"/>
              </a:rPr>
              <a:t>''</a:t>
            </a:r>
            <a:r>
              <a:rPr lang="zh-CN" altLang="en-US" dirty="0">
                <a:latin typeface="Cambria Math" panose="02040503050406030204" pitchFamily="18" charset="0"/>
              </a:rPr>
              <a:t>记为𝑎</a:t>
            </a:r>
            <a:r>
              <a:rPr lang="en-US" altLang="zh-CN" dirty="0">
                <a:latin typeface="Cambria Math" panose="02040503050406030204" pitchFamily="18" charset="0"/>
              </a:rPr>
              <a:t>≼𝑏, </a:t>
            </a:r>
            <a:r>
              <a:rPr lang="zh-CN" altLang="en-US" dirty="0">
                <a:latin typeface="Cambria Math" panose="02040503050406030204" pitchFamily="18" charset="0"/>
              </a:rPr>
              <a:t>读作</a:t>
            </a:r>
            <a:r>
              <a:rPr lang="en-US" altLang="zh-CN" dirty="0">
                <a:latin typeface="Cambria Math" panose="02040503050406030204" pitchFamily="18" charset="0"/>
              </a:rPr>
              <a:t>''</a:t>
            </a:r>
            <a:r>
              <a:rPr lang="zh-CN" altLang="en-US" dirty="0">
                <a:latin typeface="Cambria Math" panose="02040503050406030204" pitchFamily="18" charset="0"/>
              </a:rPr>
              <a:t>𝑎对𝑏有偏序关系</a:t>
            </a:r>
            <a:r>
              <a:rPr lang="en-US" altLang="zh-CN" dirty="0">
                <a:latin typeface="Cambria Math" panose="02040503050406030204" pitchFamily="18" charset="0"/>
              </a:rPr>
              <a:t>''</a:t>
            </a:r>
            <a:r>
              <a:rPr lang="zh-CN" altLang="en-US" dirty="0">
                <a:latin typeface="Cambria Math" panose="02040503050406030204" pitchFamily="18" charset="0"/>
              </a:rPr>
              <a:t>。 </a:t>
            </a:r>
            <a:endParaRPr lang="zh-CN" altLang="en-US" dirty="0">
              <a:latin typeface="Cambria Math" panose="02040503050406030204" pitchFamily="18" charset="0"/>
            </a:endParaRPr>
          </a:p>
        </p:txBody>
      </p:sp>
      <p:sp>
        <p:nvSpPr>
          <p:cNvPr id="2" name="幻灯片编号占位符 1"/>
          <p:cNvSpPr>
            <a:spLocks noGrp="1"/>
          </p:cNvSpPr>
          <p:nvPr>
            <p:ph type="sldNum" sz="quarter" idx="4"/>
          </p:nvPr>
        </p:nvSpPr>
        <p:spPr/>
        <p:txBody>
          <a:bodyPr/>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Cambria Math" panose="02040503050406030204" pitchFamily="18" charset="0"/>
              </a:rPr>
              <a:t>示例</a:t>
            </a:r>
            <a:endParaRPr lang="zh-CN" altLang="en-US" dirty="0"/>
          </a:p>
        </p:txBody>
      </p:sp>
      <mc:AlternateContent xmlns:mc="http://schemas.openxmlformats.org/markup-compatibility/2006">
        <mc:Choice xmlns:a14="http://schemas.microsoft.com/office/drawing/2010/main" Requires="a14">
          <p:sp>
            <p:nvSpPr>
              <p:cNvPr id="8" name="内容占位符 7"/>
              <p:cNvSpPr>
                <a:spLocks noGrp="1"/>
              </p:cNvSpPr>
              <p:nvPr>
                <p:ph idx="1"/>
              </p:nvPr>
            </p:nvSpPr>
            <p:spPr>
              <a:xfrm>
                <a:off x="3505835" y="1143635"/>
                <a:ext cx="6154420" cy="5029200"/>
              </a:xfrm>
            </p:spPr>
            <p:txBody>
              <a:bodyPr/>
              <a:lstStyle/>
              <a:p>
                <a:pPr marL="0" indent="0" eaLnBrk="1" hangingPunct="1">
                  <a:lnSpc>
                    <a:spcPct val="200000"/>
                  </a:lnSpc>
                  <a:buFont typeface="+mj-ea"/>
                  <a:buNone/>
                </a:pPr>
                <a:r>
                  <a:rPr lang="en-US" altLang="zh-CN" dirty="0">
                    <a:latin typeface="Cambria Math" panose="02040503050406030204" pitchFamily="18" charset="0"/>
                  </a:rPr>
                  <a:t>               </a:t>
                </a:r>
                <a:r>
                  <a:rPr lang="zh-CN" altLang="en-US" dirty="0">
                    <a:latin typeface="Cambria Math" panose="02040503050406030204" pitchFamily="18" charset="0"/>
                  </a:rPr>
                  <a:t>常见的偏序关系</a:t>
                </a:r>
                <a:endParaRPr lang="zh-CN" altLang="en-US" dirty="0">
                  <a:latin typeface="Cambria Math" panose="02040503050406030204" pitchFamily="18" charset="0"/>
                </a:endParaRPr>
              </a:p>
              <a:p>
                <a:pPr marL="514350" indent="-514350" eaLnBrk="1" hangingPunct="1">
                  <a:lnSpc>
                    <a:spcPct val="200000"/>
                  </a:lnSpc>
                  <a:buFont typeface="+mj-ea"/>
                  <a:buAutoNum type="circleNumDbPlain"/>
                </a:pPr>
                <a:r>
                  <a:rPr lang="zh-CN" altLang="en-US" dirty="0">
                    <a:latin typeface="Cambria Math" panose="02040503050406030204" pitchFamily="18" charset="0"/>
                  </a:rPr>
                  <a:t>整数集合</a:t>
                </a:r>
                <a14:m>
                  <m:oMath xmlns:m="http://schemas.openxmlformats.org/officeDocument/2006/math">
                    <m:r>
                      <a:rPr lang="en-US" altLang="zh-CN" i="1" dirty="0" smtClean="0">
                        <a:latin typeface="Cambria Math" panose="02040503050406030204" pitchFamily="18" charset="0"/>
                      </a:rPr>
                      <m:t>𝑍</m:t>
                    </m:r>
                  </m:oMath>
                </a14:m>
                <a:r>
                  <a:rPr lang="zh-CN" altLang="en-US" dirty="0">
                    <a:latin typeface="Cambria Math" panose="02040503050406030204" pitchFamily="18" charset="0"/>
                  </a:rPr>
                  <a:t>上的小于等于关系</a:t>
                </a:r>
                <a:endParaRPr lang="en-US" altLang="zh-CN" dirty="0">
                  <a:latin typeface="Cambria Math" panose="02040503050406030204" pitchFamily="18" charset="0"/>
                </a:endParaRPr>
              </a:p>
              <a:p>
                <a:pPr marL="514350" indent="-514350" eaLnBrk="1" hangingPunct="1">
                  <a:lnSpc>
                    <a:spcPct val="200000"/>
                  </a:lnSpc>
                  <a:buFont typeface="+mj-ea"/>
                  <a:buAutoNum type="circleNumDbPlain"/>
                </a:pPr>
                <a:r>
                  <a:rPr lang="zh-CN" altLang="en-US" dirty="0">
                    <a:latin typeface="Cambria Math" panose="02040503050406030204" pitchFamily="18" charset="0"/>
                  </a:rPr>
                  <a:t>整数集合</a:t>
                </a:r>
                <a14:m>
                  <m:oMath xmlns:m="http://schemas.openxmlformats.org/officeDocument/2006/math">
                    <m:r>
                      <a:rPr lang="en-US" altLang="zh-CN" i="1" dirty="0">
                        <a:latin typeface="Cambria Math" panose="02040503050406030204" pitchFamily="18" charset="0"/>
                      </a:rPr>
                      <m:t>𝑍</m:t>
                    </m:r>
                  </m:oMath>
                </a14:m>
                <a:r>
                  <a:rPr lang="zh-CN" altLang="en-US" dirty="0">
                    <a:latin typeface="Cambria Math" panose="02040503050406030204" pitchFamily="18" charset="0"/>
                  </a:rPr>
                  <a:t>上的大于等于关系</a:t>
                </a:r>
                <a:endParaRPr lang="en-US" altLang="zh-CN" dirty="0">
                  <a:latin typeface="Cambria Math" panose="02040503050406030204" pitchFamily="18" charset="0"/>
                </a:endParaRPr>
              </a:p>
              <a:p>
                <a:pPr marL="514350" indent="-514350" eaLnBrk="1" hangingPunct="1">
                  <a:lnSpc>
                    <a:spcPct val="200000"/>
                  </a:lnSpc>
                  <a:buFont typeface="+mj-ea"/>
                  <a:buAutoNum type="circleNumDbPlain"/>
                </a:pPr>
                <a:r>
                  <a:rPr lang="zh-CN" altLang="en-US" dirty="0">
                    <a:latin typeface="Cambria Math" panose="02040503050406030204" pitchFamily="18" charset="0"/>
                  </a:rPr>
                  <a:t>正整数集合</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𝑍</m:t>
                        </m:r>
                      </m:e>
                      <m:sup>
                        <m:r>
                          <a:rPr lang="en-US" altLang="zh-CN" b="0" i="1" smtClean="0">
                            <a:latin typeface="Cambria Math" panose="02040503050406030204" pitchFamily="18" charset="0"/>
                          </a:rPr>
                          <m:t>+</m:t>
                        </m:r>
                      </m:sup>
                    </m:sSup>
                  </m:oMath>
                </a14:m>
                <a:r>
                  <a:rPr lang="zh-CN" altLang="en-US" dirty="0">
                    <a:latin typeface="Cambria Math" panose="02040503050406030204" pitchFamily="18" charset="0"/>
                  </a:rPr>
                  <a:t>上的整除关系</a:t>
                </a:r>
                <a:endParaRPr lang="en-US" altLang="zh-CN" dirty="0">
                  <a:latin typeface="Cambria Math" panose="02040503050406030204" pitchFamily="18" charset="0"/>
                </a:endParaRPr>
              </a:p>
              <a:p>
                <a:pPr marL="514350" indent="-514350" eaLnBrk="1" hangingPunct="1">
                  <a:lnSpc>
                    <a:spcPct val="200000"/>
                  </a:lnSpc>
                  <a:buFont typeface="+mj-ea"/>
                  <a:buAutoNum type="circleNumDbPlain"/>
                </a:pPr>
                <a:r>
                  <a:rPr lang="zh-CN" altLang="en-US" dirty="0">
                    <a:latin typeface="Cambria Math" panose="02040503050406030204" pitchFamily="18" charset="0"/>
                  </a:rPr>
                  <a:t>集合</a:t>
                </a:r>
                <a:r>
                  <a:rPr lang="zh-CN" altLang="en-US" dirty="0">
                    <a:latin typeface="Cambria Math" panose="02040503050406030204" pitchFamily="18" charset="0"/>
                    <a:sym typeface="Symbol" panose="05050102010706020507" pitchFamily="18" charset="2"/>
                  </a:rPr>
                  <a:t></a:t>
                </a:r>
                <a:r>
                  <a:rPr lang="en-US" altLang="zh-CN" dirty="0">
                    <a:latin typeface="Cambria Math" panose="02040503050406030204" pitchFamily="18" charset="0"/>
                    <a:sym typeface="Symbol" panose="05050102010706020507" pitchFamily="18" charset="2"/>
                  </a:rPr>
                  <a:t>(𝐴)</a:t>
                </a:r>
                <a:r>
                  <a:rPr lang="zh-CN" altLang="en-US" dirty="0">
                    <a:latin typeface="Cambria Math" panose="02040503050406030204" pitchFamily="18" charset="0"/>
                  </a:rPr>
                  <a:t>上的包含关系</a:t>
                </a:r>
                <a:endParaRPr lang="en-US" altLang="zh-CN" dirty="0">
                  <a:latin typeface="Cambria Math" panose="02040503050406030204" pitchFamily="18" charset="0"/>
                </a:endParaRPr>
              </a:p>
              <a:p>
                <a:pPr marL="514350" indent="-514350" eaLnBrk="1" hangingPunct="1">
                  <a:lnSpc>
                    <a:spcPct val="200000"/>
                  </a:lnSpc>
                  <a:buFont typeface="+mj-ea"/>
                  <a:buAutoNum type="circleNumDbPlain"/>
                </a:pPr>
                <a:r>
                  <a:rPr lang="zh-CN" altLang="en-US" dirty="0">
                    <a:latin typeface="Cambria Math" panose="02040503050406030204" pitchFamily="18" charset="0"/>
                  </a:rPr>
                  <a:t>集合</a:t>
                </a:r>
                <a:r>
                  <a:rPr lang="en-US" altLang="zh-CN" dirty="0">
                    <a:latin typeface="Cambria Math" panose="02040503050406030204" pitchFamily="18" charset="0"/>
                    <a:sym typeface="Symbol" panose="05050102010706020507" pitchFamily="18" charset="2"/>
                  </a:rPr>
                  <a:t>𝐴</a:t>
                </a:r>
                <a:r>
                  <a:rPr lang="zh-CN" altLang="en-US" dirty="0">
                    <a:latin typeface="Cambria Math" panose="02040503050406030204" pitchFamily="18" charset="0"/>
                    <a:sym typeface="Symbol" panose="05050102010706020507" pitchFamily="18" charset="2"/>
                  </a:rPr>
                  <a:t>上的</a:t>
                </a:r>
                <a:r>
                  <a:rPr lang="zh-CN" altLang="en-US" dirty="0">
                    <a:solidFill>
                      <a:srgbClr val="FF0000"/>
                    </a:solidFill>
                    <a:latin typeface="黑体" panose="02010609060101010101" pitchFamily="49" charset="-122"/>
                  </a:rPr>
                  <a:t>恒等关系</a:t>
                </a:r>
                <a:endParaRPr lang="zh-CN" altLang="en-US" dirty="0">
                  <a:solidFill>
                    <a:srgbClr val="FF0000"/>
                  </a:solidFill>
                  <a:latin typeface="黑体" panose="02010609060101010101" pitchFamily="49" charset="-122"/>
                </a:endParaRPr>
              </a:p>
            </p:txBody>
          </p:sp>
        </mc:Choice>
        <mc:Fallback>
          <p:sp>
            <p:nvSpPr>
              <p:cNvPr id="8" name="内容占位符 7"/>
              <p:cNvSpPr>
                <a:spLocks noRot="1" noChangeAspect="1" noMove="1" noResize="1" noEditPoints="1" noAdjustHandles="1" noChangeArrowheads="1" noChangeShapeType="1" noTextEdit="1"/>
              </p:cNvSpPr>
              <p:nvPr>
                <p:ph idx="1"/>
              </p:nvPr>
            </p:nvSpPr>
            <p:spPr>
              <a:xfrm>
                <a:off x="3505835" y="1143635"/>
                <a:ext cx="6154420" cy="5029200"/>
              </a:xfrm>
              <a:blipFill rotWithShape="1">
                <a:blip r:embed="rId1"/>
                <a:stretch>
                  <a:fillRect/>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p:nvPr/>
        </p:nvGrpSpPr>
        <p:grpSpPr bwMode="auto">
          <a:xfrm>
            <a:off x="1033453" y="1917176"/>
            <a:ext cx="1301142" cy="1016737"/>
            <a:chOff x="0" y="5"/>
            <a:chExt cx="668" cy="647"/>
          </a:xfrm>
          <a:solidFill>
            <a:srgbClr val="00B0F0"/>
          </a:solidFill>
        </p:grpSpPr>
        <p:sp>
          <p:nvSpPr>
            <p:cNvPr id="12331" name="Oval 47"/>
            <p:cNvSpPr>
              <a:spLocks noChangeArrowheads="1"/>
            </p:cNvSpPr>
            <p:nvPr/>
          </p:nvSpPr>
          <p:spPr bwMode="auto">
            <a:xfrm>
              <a:off x="0" y="52"/>
              <a:ext cx="668" cy="56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 typeface="Arial" panose="020B0604020202020204" pitchFamily="34" charset="0"/>
                <a:buNone/>
              </a:pPr>
              <a:endParaRPr lang="zh-CN" altLang="en-US" sz="3200">
                <a:solidFill>
                  <a:srgbClr val="FF0000"/>
                </a:solidFill>
                <a:latin typeface="+mn-ea"/>
                <a:ea typeface="+mn-ea"/>
              </a:endParaRPr>
            </a:p>
          </p:txBody>
        </p:sp>
      </p:grpSp>
      <p:sp>
        <p:nvSpPr>
          <p:cNvPr id="12329" name="Text Box 52"/>
          <p:cNvSpPr txBox="1">
            <a:spLocks noChangeArrowheads="1"/>
          </p:cNvSpPr>
          <p:nvPr/>
        </p:nvSpPr>
        <p:spPr bwMode="auto">
          <a:xfrm>
            <a:off x="1172346" y="2174935"/>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373978" y="1493110"/>
            <a:ext cx="7001797" cy="1754326"/>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en-US" altLang="zh-CN" sz="2400" dirty="0">
                <a:solidFill>
                  <a:srgbClr val="003300"/>
                </a:solidFill>
                <a:latin typeface="+mn-ea"/>
                <a:ea typeface="+mn-ea"/>
              </a:rPr>
              <a:t>1 </a:t>
            </a:r>
            <a:r>
              <a:rPr lang="zh-CN" altLang="en-US" sz="2400" dirty="0">
                <a:latin typeface="+mn-ea"/>
                <a:ea typeface="+mn-ea"/>
              </a:rPr>
              <a:t>二元关系的概念和表示</a:t>
            </a:r>
            <a:endParaRPr lang="zh-CN" altLang="en-US" sz="2400" dirty="0">
              <a:latin typeface="+mn-ea"/>
              <a:ea typeface="+mn-ea"/>
            </a:endParaRPr>
          </a:p>
          <a:p>
            <a:pPr algn="l">
              <a:lnSpc>
                <a:spcPct val="150000"/>
              </a:lnSpc>
              <a:spcBef>
                <a:spcPct val="0"/>
              </a:spcBef>
              <a:buClrTx/>
              <a:buNone/>
            </a:pPr>
            <a:r>
              <a:rPr lang="en-US" altLang="zh-CN" sz="2400" dirty="0">
                <a:latin typeface="+mn-ea"/>
                <a:ea typeface="+mn-ea"/>
              </a:rPr>
              <a:t>2 </a:t>
            </a:r>
            <a:r>
              <a:rPr lang="zh-CN" altLang="en-US" sz="2400" dirty="0">
                <a:latin typeface="+mn-ea"/>
                <a:ea typeface="+mn-ea"/>
              </a:rPr>
              <a:t>关系</a:t>
            </a:r>
            <a:r>
              <a:rPr lang="zh-CN" altLang="en-US" sz="2400" dirty="0" smtClean="0">
                <a:latin typeface="+mn-ea"/>
                <a:ea typeface="+mn-ea"/>
              </a:rPr>
              <a:t>的合成与</a:t>
            </a:r>
            <a:r>
              <a:rPr lang="zh-CN" altLang="en-US" sz="2400" dirty="0">
                <a:latin typeface="+mn-ea"/>
                <a:ea typeface="+mn-ea"/>
              </a:rPr>
              <a:t>逆运算</a:t>
            </a:r>
            <a:endParaRPr lang="zh-CN" altLang="en-US" sz="2400" dirty="0">
              <a:latin typeface="+mn-ea"/>
              <a:ea typeface="+mn-ea"/>
            </a:endParaRPr>
          </a:p>
          <a:p>
            <a:pPr algn="l">
              <a:lnSpc>
                <a:spcPct val="150000"/>
              </a:lnSpc>
              <a:spcBef>
                <a:spcPct val="0"/>
              </a:spcBef>
              <a:buClrTx/>
              <a:buNone/>
            </a:pPr>
            <a:r>
              <a:rPr lang="en-US" altLang="zh-CN" sz="2400" dirty="0">
                <a:latin typeface="+mn-ea"/>
                <a:ea typeface="+mn-ea"/>
              </a:rPr>
              <a:t>3 </a:t>
            </a:r>
            <a:r>
              <a:rPr lang="zh-CN" altLang="en-US" sz="2400" dirty="0">
                <a:latin typeface="+mn-ea"/>
                <a:ea typeface="+mn-ea"/>
              </a:rPr>
              <a:t>关系性质的判定与证明</a:t>
            </a:r>
            <a:endParaRPr lang="en-US" altLang="zh-CN" sz="2400" b="0" dirty="0">
              <a:latin typeface="+mn-ea"/>
              <a:ea typeface="+mn-ea"/>
            </a:endParaRPr>
          </a:p>
        </p:txBody>
      </p:sp>
      <p:grpSp>
        <p:nvGrpSpPr>
          <p:cNvPr id="82" name="Group 47"/>
          <p:cNvGrpSpPr/>
          <p:nvPr/>
        </p:nvGrpSpPr>
        <p:grpSpPr bwMode="auto">
          <a:xfrm>
            <a:off x="1013543" y="4424278"/>
            <a:ext cx="1301142" cy="1016737"/>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a:solidFill>
                  <a:srgbClr val="FF0000"/>
                </a:solidFill>
                <a:latin typeface="+mn-ea"/>
                <a:ea typeface="+mn-ea"/>
              </a:endParaRPr>
            </a:p>
          </p:txBody>
        </p:sp>
      </p:grpSp>
      <p:sp>
        <p:nvSpPr>
          <p:cNvPr id="88" name="Text Box 52"/>
          <p:cNvSpPr txBox="1">
            <a:spLocks noChangeArrowheads="1"/>
          </p:cNvSpPr>
          <p:nvPr/>
        </p:nvSpPr>
        <p:spPr bwMode="auto">
          <a:xfrm>
            <a:off x="1135208" y="4636610"/>
            <a:ext cx="983161" cy="565604"/>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305378" y="4001379"/>
            <a:ext cx="7070397" cy="1754326"/>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en-US" altLang="zh-CN" sz="2400" dirty="0">
                <a:solidFill>
                  <a:srgbClr val="003300"/>
                </a:solidFill>
                <a:latin typeface="+mn-ea"/>
                <a:ea typeface="+mn-ea"/>
              </a:rPr>
              <a:t>1 </a:t>
            </a:r>
            <a:r>
              <a:rPr lang="zh-CN" altLang="en-US" sz="2400" dirty="0">
                <a:solidFill>
                  <a:srgbClr val="003300"/>
                </a:solidFill>
                <a:latin typeface="+mn-ea"/>
                <a:ea typeface="+mn-ea"/>
              </a:rPr>
              <a:t>笛卡尔积和二元关系都是特殊的集合</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2 </a:t>
            </a:r>
            <a:r>
              <a:rPr lang="zh-CN" altLang="en-US" sz="2400" dirty="0" smtClean="0">
                <a:solidFill>
                  <a:srgbClr val="003300"/>
                </a:solidFill>
                <a:latin typeface="+mn-ea"/>
                <a:ea typeface="+mn-ea"/>
              </a:rPr>
              <a:t>合成运</a:t>
            </a:r>
            <a:r>
              <a:rPr lang="zh-CN" altLang="en-US" sz="2400" dirty="0">
                <a:solidFill>
                  <a:srgbClr val="003300"/>
                </a:solidFill>
                <a:latin typeface="+mn-ea"/>
                <a:ea typeface="+mn-ea"/>
              </a:rPr>
              <a:t>算的理解与计算</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3</a:t>
            </a:r>
            <a:r>
              <a:rPr lang="zh-CN" altLang="en-US" sz="2400" dirty="0">
                <a:solidFill>
                  <a:srgbClr val="003300"/>
                </a:solidFill>
                <a:latin typeface="+mn-ea"/>
                <a:ea typeface="+mn-ea"/>
              </a:rPr>
              <a:t>关系</a:t>
            </a:r>
            <a:r>
              <a:rPr lang="zh-CN" altLang="en-US" sz="2400" dirty="0">
                <a:latin typeface="+mn-ea"/>
                <a:ea typeface="+mn-ea"/>
              </a:rPr>
              <a:t>性质的判定与证明</a:t>
            </a:r>
            <a:endParaRPr lang="en-US" altLang="zh-CN" sz="2400" dirty="0">
              <a:solidFill>
                <a:srgbClr val="003300"/>
              </a:solidFill>
              <a:latin typeface="+mn-ea"/>
              <a:ea typeface="+mn-ea"/>
            </a:endParaRPr>
          </a:p>
        </p:txBody>
      </p:sp>
      <p:sp>
        <p:nvSpPr>
          <p:cNvPr id="9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200" kern="1200">
                <a:solidFill>
                  <a:schemeClr val="bg1"/>
                </a:solidFill>
                <a:latin typeface="+mj-lt"/>
                <a:ea typeface="+mj-ea"/>
                <a:cs typeface="+mj-cs"/>
              </a:defRPr>
            </a:lvl1pPr>
          </a:lstStyle>
          <a:p>
            <a:r>
              <a:rPr lang="en-US" altLang="zh-CN" b="1">
                <a:latin typeface="+mn-ea"/>
                <a:ea typeface="+mn-ea"/>
              </a:rPr>
              <a:t>   </a:t>
            </a:r>
            <a:r>
              <a:rPr lang="zh-CN" altLang="en-US" b="1">
                <a:latin typeface="+mn-ea"/>
                <a:ea typeface="+mn-ea"/>
              </a:rPr>
              <a:t>学习</a:t>
            </a:r>
            <a:r>
              <a:rPr lang="zh-CN" altLang="en-US" b="1" dirty="0">
                <a:latin typeface="+mn-ea"/>
                <a:ea typeface="+mn-ea"/>
              </a:rPr>
              <a:t>要求</a:t>
            </a:r>
            <a:endParaRPr lang="zh-CN" altLang="en-US" b="1" dirty="0">
              <a:latin typeface="+mn-ea"/>
              <a:ea typeface="+mn-ea"/>
            </a:endParaRPr>
          </a:p>
        </p:txBody>
      </p:sp>
    </p:spTree>
    <p:custDataLst>
      <p:tags r:id="rId1"/>
    </p:custData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930" name="Group 2"/>
          <p:cNvGraphicFramePr>
            <a:graphicFrameLocks noGrp="1"/>
          </p:cNvGraphicFramePr>
          <p:nvPr>
            <p:custDataLst>
              <p:tags r:id="rId1"/>
            </p:custDataLst>
          </p:nvPr>
        </p:nvGraphicFramePr>
        <p:xfrm>
          <a:off x="406613" y="1949918"/>
          <a:ext cx="11264415" cy="4146876"/>
        </p:xfrm>
        <a:graphic>
          <a:graphicData uri="http://schemas.openxmlformats.org/drawingml/2006/table">
            <a:tbl>
              <a:tblPr/>
              <a:tblGrid>
                <a:gridCol w="1878462"/>
                <a:gridCol w="1673038"/>
                <a:gridCol w="1725981"/>
                <a:gridCol w="2028823"/>
                <a:gridCol w="1827530"/>
                <a:gridCol w="2130581"/>
              </a:tblGrid>
              <a:tr h="82886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        性质 表示</a:t>
                      </a:r>
                      <a:endParaRPr kumimoji="1" lang="zh-CN" altLang="en-US" sz="20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w="12700" cap="flat" cmpd="sng" algn="ctr">
                      <a:solidFill>
                        <a:srgbClr val="FF7C80"/>
                      </a:solidFill>
                      <a:prstDash val="solid"/>
                      <a:round/>
                      <a:headEnd type="none" w="med" len="med"/>
                      <a:tailEnd type="none" w="med" len="med"/>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rPr>
                        <a:t>自反性</a:t>
                      </a:r>
                      <a:endPar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rPr>
                        <a:t>反自反性</a:t>
                      </a:r>
                      <a:endPar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rPr>
                        <a:t>对称性</a:t>
                      </a:r>
                      <a:endPar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反对称性</a:t>
                      </a:r>
                      <a:endParaRPr kumimoji="1" lang="zh-CN" altLang="en-US" sz="20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rPr>
                        <a:t>传递性</a:t>
                      </a:r>
                      <a:endParaRPr kumimoji="1" lang="zh-CN" altLang="en-US" sz="2000" b="0" i="0" u="none" strike="noStrike" cap="none" normalizeH="0" baseline="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r>
              <a:tr h="62720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集合表达式</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𝐼</a:t>
                      </a:r>
                      <a:r>
                        <a:rPr kumimoji="1" lang="en-US" altLang="zh-CN"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𝐴</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⊆𝑅</a:t>
                      </a:r>
                      <a:endPar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𝑅∩</a:t>
                      </a:r>
                      <a:r>
                        <a:rPr lang="zh-CN" altLang="en-US" sz="1800" i="0" dirty="0">
                          <a:solidFill>
                            <a:srgbClr val="FF0000"/>
                          </a:solidFill>
                          <a:latin typeface="Cambria Math" panose="02040503050406030204" pitchFamily="18" charset="0"/>
                          <a:ea typeface="黑体" panose="02010609060101010101" pitchFamily="49" charset="-122"/>
                        </a:rPr>
                        <a:t>𝐼</a:t>
                      </a:r>
                      <a:r>
                        <a:rPr lang="zh-CN" altLang="en-US" sz="1800" i="0" baseline="-25000" dirty="0">
                          <a:solidFill>
                            <a:srgbClr val="FF0000"/>
                          </a:solidFill>
                          <a:latin typeface="Cambria Math" panose="02040503050406030204" pitchFamily="18" charset="0"/>
                          <a:ea typeface="黑体" panose="02010609060101010101" pitchFamily="49" charset="-122"/>
                        </a:rPr>
                        <a:t>𝐴</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sym typeface="Symbol" panose="05050102010706020507" pitchFamily="18" charset="2"/>
                        </a:rPr>
                        <a:t></a:t>
                      </a:r>
                      <a:endPar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𝑅</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=𝑅</a:t>
                      </a:r>
                      <a:r>
                        <a:rPr kumimoji="1" lang="en-US" altLang="zh-CN" sz="20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–1 </a:t>
                      </a:r>
                      <a:endParaRPr kumimoji="1" lang="en-US" altLang="zh-CN" sz="20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𝑅∩𝑅</a:t>
                      </a:r>
                      <a:r>
                        <a:rPr kumimoji="1" lang="en-US" altLang="zh-CN" sz="2000" b="0" i="0" u="none" strike="noStrike" cap="none" normalizeH="0" baseline="30000">
                          <a:ln>
                            <a:noFill/>
                          </a:ln>
                          <a:solidFill>
                            <a:srgbClr val="080808"/>
                          </a:solidFill>
                          <a:effectLst/>
                          <a:latin typeface="Cambria Math" panose="02040503050406030204" pitchFamily="18" charset="0"/>
                          <a:ea typeface="黑体" panose="02010609060101010101" pitchFamily="49" charset="-122"/>
                        </a:rPr>
                        <a:t>–1</a:t>
                      </a:r>
                      <a:r>
                        <a:rPr kumimoji="1" lang="en-US" altLang="zh-CN" sz="1800" b="0" i="0" u="none" strike="noStrike" cap="none" normalizeH="0" baseline="0">
                          <a:ln>
                            <a:noFill/>
                          </a:ln>
                          <a:solidFill>
                            <a:srgbClr val="000000"/>
                          </a:solidFill>
                          <a:effectLst/>
                          <a:latin typeface="Cambria Math" panose="02040503050406030204" pitchFamily="18" charset="0"/>
                          <a:ea typeface="黑体" panose="02010609060101010101" pitchFamily="49" charset="-122"/>
                          <a:sym typeface="Symbol" panose="05050102010706020507" pitchFamily="18" charset="2"/>
                        </a:rPr>
                        <a:t>⊆</a:t>
                      </a:r>
                      <a:r>
                        <a:rPr lang="zh-CN" altLang="en-US" sz="1800" i="0" dirty="0">
                          <a:latin typeface="Cambria Math" panose="02040503050406030204" pitchFamily="18" charset="0"/>
                          <a:ea typeface="黑体" panose="02010609060101010101" pitchFamily="49" charset="-122"/>
                        </a:rPr>
                        <a:t>𝐼</a:t>
                      </a:r>
                      <a:r>
                        <a:rPr lang="zh-CN" altLang="en-US" sz="1800" i="0" baseline="-25000" dirty="0">
                          <a:latin typeface="Cambria Math" panose="02040503050406030204" pitchFamily="18" charset="0"/>
                          <a:ea typeface="黑体" panose="02010609060101010101" pitchFamily="49" charset="-122"/>
                        </a:rPr>
                        <a:t>𝐴</a:t>
                      </a:r>
                      <a:endParaRPr kumimoji="1" lang="en-US" altLang="zh-CN" sz="1800" b="0" i="0" u="none" strike="noStrike" cap="none" normalizeH="0" baseline="-30000" dirty="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𝑅</a:t>
                      </a:r>
                      <a:r>
                        <a:rPr kumimoji="1" lang="en-US" altLang="zh-CN" sz="1800" b="0" i="0" u="none" strike="noStrike" cap="none" normalizeH="0" baseline="0" dirty="0">
                          <a:ln>
                            <a:noFill/>
                          </a:ln>
                          <a:solidFill>
                            <a:schemeClr val="tx1"/>
                          </a:solidFill>
                          <a:effectLst/>
                          <a:latin typeface="Cambria Math" panose="02040503050406030204" pitchFamily="18" charset="0"/>
                          <a:ea typeface="黑体" panose="02010609060101010101" pitchFamily="49" charset="-122"/>
                        </a:rPr>
                        <a:t> </a:t>
                      </a:r>
                      <a:r>
                        <a:rPr kumimoji="1" lang="en-US" altLang="zh-CN" sz="1800" b="0" i="0" u="none" strike="noStrike" cap="none" normalizeH="0" baseline="0" dirty="0">
                          <a:ln>
                            <a:noFill/>
                          </a:ln>
                          <a:solidFill>
                            <a:srgbClr val="080808"/>
                          </a:solidFill>
                          <a:effectLst/>
                          <a:latin typeface="Cambria Math" panose="02040503050406030204" pitchFamily="18" charset="0"/>
                          <a:ea typeface="黑体" panose="02010609060101010101" pitchFamily="49" charset="-122"/>
                          <a:sym typeface="Symbol" panose="05050102010706020507" pitchFamily="18" charset="2"/>
                        </a:rPr>
                        <a:t></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𝑅</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sym typeface="Symbol" panose="05050102010706020507" pitchFamily="18" charset="2"/>
                        </a:rPr>
                        <a:t>⊆</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𝑅</a:t>
                      </a:r>
                      <a:endPar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r>
              <a:tr h="1227422">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关系矩阵</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主对角线元素全是</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1</a:t>
                      </a:r>
                      <a:endPar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主对角线元素全是</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0</a:t>
                      </a:r>
                      <a:endPar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矩阵是对称矩阵。</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若𝑟</a:t>
                      </a:r>
                      <a:r>
                        <a:rPr kumimoji="1" lang="en-US" altLang="zh-CN" sz="1800" b="0" i="0" u="none" strike="noStrike" cap="none" normalizeH="0" baseline="-30000" dirty="0">
                          <a:ln>
                            <a:noFill/>
                          </a:ln>
                          <a:solidFill>
                            <a:srgbClr val="000000"/>
                          </a:solidFill>
                          <a:effectLst/>
                          <a:latin typeface="Cambria Math" panose="02040503050406030204" pitchFamily="18" charset="0"/>
                          <a:ea typeface="黑体" panose="02010609060101010101" pitchFamily="49" charset="-122"/>
                        </a:rPr>
                        <a:t>𝑖𝑗</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1, </a:t>
                      </a: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且𝑖</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≠𝑗, </a:t>
                      </a: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则 𝑟</a:t>
                      </a:r>
                      <a:r>
                        <a:rPr kumimoji="1" lang="en-US" altLang="zh-CN" sz="1800" b="0" i="0" u="none" strike="noStrike" cap="none" normalizeH="0" baseline="-30000" dirty="0">
                          <a:ln>
                            <a:noFill/>
                          </a:ln>
                          <a:solidFill>
                            <a:srgbClr val="000000"/>
                          </a:solidFill>
                          <a:effectLst/>
                          <a:latin typeface="Cambria Math" panose="02040503050406030204" pitchFamily="18" charset="0"/>
                          <a:ea typeface="黑体" panose="02010609060101010101" pitchFamily="49" charset="-122"/>
                        </a:rPr>
                        <a:t>𝑗𝑖</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0.</a:t>
                      </a:r>
                      <a:endPar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对</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M</a:t>
                      </a:r>
                      <a:r>
                        <a:rPr kumimoji="1" lang="en-US" altLang="zh-CN" sz="1800" b="0" i="0" u="none" strike="noStrike" cap="none" normalizeH="0" baseline="30000" dirty="0">
                          <a:ln>
                            <a:noFill/>
                          </a:ln>
                          <a:solidFill>
                            <a:srgbClr val="000000"/>
                          </a:solidFill>
                          <a:effectLst/>
                          <a:latin typeface="Cambria Math" panose="02040503050406030204" pitchFamily="18" charset="0"/>
                          <a:ea typeface="黑体" panose="02010609060101010101" pitchFamily="49" charset="-122"/>
                        </a:rPr>
                        <a:t>2</a:t>
                      </a: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中</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1</a:t>
                      </a: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所在的位置</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 M</a:t>
                      </a: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中相应的位置都是</a:t>
                      </a:r>
                      <a:r>
                        <a:rPr kumimoji="1" lang="en-US" altLang="zh-CN"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1</a:t>
                      </a:r>
                      <a:r>
                        <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rPr>
                        <a:t>。</a:t>
                      </a:r>
                      <a:endParaRPr kumimoji="1" lang="zh-CN" altLang="en-US" sz="1800" b="0" i="0" u="none" strike="noStrike" cap="none" normalizeH="0" baseline="0" dirty="0">
                        <a:ln>
                          <a:noFill/>
                        </a:ln>
                        <a:solidFill>
                          <a:srgbClr val="00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r>
              <a:tr h="1463379">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关系图</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每个顶点都有环</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每个顶点都没有环</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如果两个顶点之间有边</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 </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则必是一对方向相反的边。</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每对顶点之间至多有一条边</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 </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不会有双向边</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 </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如果顶点𝑥</a:t>
                      </a:r>
                      <a:r>
                        <a:rPr kumimoji="1" lang="zh-CN" altLang="en-US"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𝑖</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到𝑥</a:t>
                      </a:r>
                      <a:r>
                        <a:rPr kumimoji="1" lang="zh-CN" altLang="en-US"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𝑗</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有边</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 𝑥</a:t>
                      </a:r>
                      <a:r>
                        <a:rPr kumimoji="1" lang="en-US" altLang="zh-CN"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𝑗</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到 𝑥</a:t>
                      </a:r>
                      <a:r>
                        <a:rPr kumimoji="1" lang="zh-CN" altLang="en-US"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𝑘</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有边</a:t>
                      </a:r>
                      <a:r>
                        <a:rPr kumimoji="1" lang="en-US" altLang="zh-CN"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 </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则从𝑥</a:t>
                      </a:r>
                      <a:r>
                        <a:rPr kumimoji="1" lang="zh-CN" altLang="en-US"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𝑖</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到 𝑥</a:t>
                      </a:r>
                      <a:r>
                        <a:rPr kumimoji="1" lang="zh-CN" altLang="en-US" sz="1800" b="0" i="0" u="none" strike="noStrike" cap="none" normalizeH="0" baseline="-30000" dirty="0">
                          <a:ln>
                            <a:noFill/>
                          </a:ln>
                          <a:solidFill>
                            <a:srgbClr val="FF0000"/>
                          </a:solidFill>
                          <a:effectLst/>
                          <a:latin typeface="Cambria Math" panose="02040503050406030204" pitchFamily="18" charset="0"/>
                          <a:ea typeface="黑体" panose="02010609060101010101" pitchFamily="49" charset="-122"/>
                        </a:rPr>
                        <a:t>𝑘</a:t>
                      </a:r>
                      <a:r>
                        <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rPr>
                        <a:t>也有边。</a:t>
                      </a:r>
                      <a:endParaRPr kumimoji="1" lang="zh-CN" altLang="en-US" sz="1800" b="0" i="0" u="none" strike="noStrike" cap="none" normalizeH="0" baseline="0" dirty="0">
                        <a:ln>
                          <a:noFill/>
                        </a:ln>
                        <a:solidFill>
                          <a:srgbClr val="FF0000"/>
                        </a:solidFill>
                        <a:effectLst/>
                        <a:latin typeface="Cambria Math" panose="02040503050406030204" pitchFamily="18" charset="0"/>
                        <a:ea typeface="黑体" panose="02010609060101010101" pitchFamily="49" charset="-122"/>
                      </a:endParaRPr>
                    </a:p>
                  </a:txBody>
                  <a:tcPr marL="121984" marR="121984" marT="45731" marB="45731"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r>
            </a:tbl>
          </a:graphicData>
        </a:graphic>
      </p:graphicFrame>
      <p:sp>
        <p:nvSpPr>
          <p:cNvPr id="46120" name="Text Box 40"/>
          <p:cNvSpPr txBox="1">
            <a:spLocks noChangeArrowheads="1"/>
          </p:cNvSpPr>
          <p:nvPr/>
        </p:nvSpPr>
        <p:spPr bwMode="auto">
          <a:xfrm>
            <a:off x="203306" y="620831"/>
            <a:ext cx="11588433" cy="77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8896" tIns="54448" rIns="108896" bIns="54448">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900" b="1" dirty="0">
                <a:solidFill>
                  <a:srgbClr val="FF0000"/>
                </a:solidFill>
                <a:latin typeface="宋体" panose="02010600030101010101" pitchFamily="2" charset="-122"/>
              </a:rPr>
              <a:t>各种性质在关系矩阵和关系图中的体现</a:t>
            </a:r>
            <a:r>
              <a:rPr kumimoji="1" lang="zh-CN" altLang="en-US" sz="4300" dirty="0">
                <a:solidFill>
                  <a:srgbClr val="FFFF99"/>
                </a:solidFill>
              </a:rPr>
              <a:t> </a:t>
            </a:r>
            <a:endParaRPr kumimoji="1" lang="zh-CN" altLang="en-US" sz="4300" dirty="0">
              <a:solidFill>
                <a:srgbClr val="FFFF99"/>
              </a:solidFill>
            </a:endParaRPr>
          </a:p>
        </p:txBody>
      </p:sp>
      <p:sp>
        <p:nvSpPr>
          <p:cNvPr id="2" name="幻灯片编号占位符 1"/>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84175" y="1098909"/>
            <a:ext cx="11143038" cy="1340285"/>
          </a:xfrm>
        </p:spPr>
        <p:txBody>
          <a:bodyPr anchor="t">
            <a:normAutofit/>
          </a:bodyPr>
          <a:lstStyle/>
          <a:p>
            <a:pPr marL="0" indent="0">
              <a:buNone/>
            </a:pPr>
            <a:r>
              <a:rPr lang="en-US" altLang="zh-CN" dirty="0">
                <a:latin typeface="Cambria Math" panose="02040503050406030204" pitchFamily="18" charset="0"/>
              </a:rPr>
              <a:t>【</a:t>
            </a:r>
            <a:r>
              <a:rPr lang="zh-CN" altLang="en-US" dirty="0">
                <a:latin typeface="Cambria Math" panose="02040503050406030204" pitchFamily="18" charset="0"/>
              </a:rPr>
              <a:t>示例</a:t>
            </a:r>
            <a:r>
              <a:rPr lang="en-US" altLang="zh-CN" dirty="0">
                <a:latin typeface="Cambria Math" panose="02040503050406030204" pitchFamily="18" charset="0"/>
              </a:rPr>
              <a:t>1】</a:t>
            </a:r>
            <a:endParaRPr lang="en-US" altLang="zh-CN" dirty="0">
              <a:latin typeface="Cambria Math" panose="02040503050406030204" pitchFamily="18" charset="0"/>
            </a:endParaRPr>
          </a:p>
          <a:p>
            <a:pPr marL="0" indent="0">
              <a:buNone/>
            </a:pPr>
            <a:r>
              <a:rPr lang="zh-CN" altLang="en-US" dirty="0">
                <a:latin typeface="Cambria Math" panose="02040503050406030204" pitchFamily="18" charset="0"/>
              </a:rPr>
              <a:t>给定𝐴</a:t>
            </a:r>
            <a:r>
              <a:rPr lang="en-US" altLang="zh-CN" dirty="0">
                <a:latin typeface="Cambria Math" panose="02040503050406030204" pitchFamily="18" charset="0"/>
              </a:rPr>
              <a:t>={</a:t>
            </a:r>
            <a:r>
              <a:rPr lang="en-US" altLang="zh-CN" dirty="0">
                <a:latin typeface="Cambria Math" panose="02040503050406030204" pitchFamily="18" charset="0"/>
              </a:rPr>
              <a:t>𝑎, 𝑏, 𝑐}</a:t>
            </a:r>
            <a:r>
              <a:rPr lang="zh-CN" altLang="en-US" dirty="0">
                <a:latin typeface="Cambria Math" panose="02040503050406030204" pitchFamily="18" charset="0"/>
              </a:rPr>
              <a:t>上的关系的关系图</a:t>
            </a:r>
            <a:r>
              <a:rPr lang="en-US" altLang="zh-CN" dirty="0">
                <a:latin typeface="Cambria Math" panose="02040503050406030204" pitchFamily="18" charset="0"/>
              </a:rPr>
              <a:t>, </a:t>
            </a:r>
            <a:r>
              <a:rPr lang="zh-CN" altLang="en-US" dirty="0">
                <a:latin typeface="Cambria Math" panose="02040503050406030204" pitchFamily="18" charset="0"/>
              </a:rPr>
              <a:t>试判断它们表达的关系是否是自反的</a:t>
            </a:r>
            <a:r>
              <a:rPr lang="en-US" altLang="zh-CN" dirty="0">
                <a:latin typeface="Cambria Math" panose="02040503050406030204" pitchFamily="18" charset="0"/>
              </a:rPr>
              <a:t>, </a:t>
            </a:r>
            <a:r>
              <a:rPr lang="zh-CN" altLang="en-US" dirty="0">
                <a:latin typeface="Cambria Math" panose="02040503050406030204" pitchFamily="18" charset="0"/>
              </a:rPr>
              <a:t>反自反的</a:t>
            </a:r>
            <a:r>
              <a:rPr lang="en-US" altLang="zh-CN" dirty="0">
                <a:latin typeface="Cambria Math" panose="02040503050406030204" pitchFamily="18" charset="0"/>
              </a:rPr>
              <a:t>, </a:t>
            </a:r>
            <a:r>
              <a:rPr lang="zh-CN" altLang="en-US" dirty="0">
                <a:latin typeface="Cambria Math" panose="02040503050406030204" pitchFamily="18" charset="0"/>
              </a:rPr>
              <a:t>对称的</a:t>
            </a:r>
            <a:r>
              <a:rPr lang="en-US" altLang="zh-CN" dirty="0">
                <a:latin typeface="Cambria Math" panose="02040503050406030204" pitchFamily="18" charset="0"/>
              </a:rPr>
              <a:t>, </a:t>
            </a:r>
            <a:r>
              <a:rPr lang="zh-CN" altLang="en-US" dirty="0">
                <a:latin typeface="Cambria Math" panose="02040503050406030204" pitchFamily="18" charset="0"/>
              </a:rPr>
              <a:t>反对称的和传递的。</a:t>
            </a:r>
            <a:endParaRPr lang="zh-CN" altLang="en-US" dirty="0">
              <a:latin typeface="Cambria Math" panose="02040503050406030204" pitchFamily="18" charset="0"/>
            </a:endParaRPr>
          </a:p>
        </p:txBody>
      </p:sp>
      <p:grpSp>
        <p:nvGrpSpPr>
          <p:cNvPr id="3" name="组 2"/>
          <p:cNvGrpSpPr/>
          <p:nvPr/>
        </p:nvGrpSpPr>
        <p:grpSpPr>
          <a:xfrm>
            <a:off x="527656" y="2669256"/>
            <a:ext cx="11143038" cy="2983734"/>
            <a:chOff x="395536" y="2668637"/>
            <a:chExt cx="8352928" cy="2983044"/>
          </a:xfrm>
        </p:grpSpPr>
        <p:sp>
          <p:nvSpPr>
            <p:cNvPr id="27652" name="Oval 22"/>
            <p:cNvSpPr>
              <a:spLocks noChangeArrowheads="1"/>
            </p:cNvSpPr>
            <p:nvPr/>
          </p:nvSpPr>
          <p:spPr bwMode="auto">
            <a:xfrm>
              <a:off x="2133600" y="2821037"/>
              <a:ext cx="228600" cy="457200"/>
            </a:xfrm>
            <a:prstGeom prst="ellipse">
              <a:avLst/>
            </a:prstGeom>
            <a:noFill/>
            <a:ln w="9525">
              <a:solidFill>
                <a:srgbClr val="FF5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53" name="Oval 23"/>
            <p:cNvSpPr>
              <a:spLocks noChangeArrowheads="1"/>
            </p:cNvSpPr>
            <p:nvPr/>
          </p:nvSpPr>
          <p:spPr bwMode="auto">
            <a:xfrm>
              <a:off x="1295400" y="3811637"/>
              <a:ext cx="152400" cy="457200"/>
            </a:xfrm>
            <a:prstGeom prst="ellipse">
              <a:avLst/>
            </a:prstGeom>
            <a:noFill/>
            <a:ln w="9525">
              <a:solidFill>
                <a:srgbClr val="FF5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54" name="Oval 24"/>
            <p:cNvSpPr>
              <a:spLocks noChangeArrowheads="1"/>
            </p:cNvSpPr>
            <p:nvPr/>
          </p:nvSpPr>
          <p:spPr bwMode="auto">
            <a:xfrm>
              <a:off x="2362200" y="3887837"/>
              <a:ext cx="152400" cy="533400"/>
            </a:xfrm>
            <a:prstGeom prst="ellipse">
              <a:avLst/>
            </a:prstGeom>
            <a:noFill/>
            <a:ln w="9525">
              <a:solidFill>
                <a:srgbClr val="FF5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55" name="Oval 25"/>
            <p:cNvSpPr>
              <a:spLocks noChangeArrowheads="1"/>
            </p:cNvSpPr>
            <p:nvPr/>
          </p:nvSpPr>
          <p:spPr bwMode="auto">
            <a:xfrm>
              <a:off x="4419600" y="2668637"/>
              <a:ext cx="152400" cy="533400"/>
            </a:xfrm>
            <a:prstGeom prst="ellipse">
              <a:avLst/>
            </a:prstGeom>
            <a:noFill/>
            <a:ln w="9525">
              <a:solidFill>
                <a:srgbClr val="FF505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56" name="Arc 30"/>
            <p:cNvSpPr/>
            <p:nvPr/>
          </p:nvSpPr>
          <p:spPr bwMode="auto">
            <a:xfrm flipH="1">
              <a:off x="6400800" y="3278237"/>
              <a:ext cx="685800" cy="7620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505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7" name="Arc 32"/>
            <p:cNvSpPr/>
            <p:nvPr/>
          </p:nvSpPr>
          <p:spPr bwMode="auto">
            <a:xfrm flipV="1">
              <a:off x="6443663" y="3278237"/>
              <a:ext cx="720725" cy="7080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505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8" name="Line 37"/>
            <p:cNvSpPr>
              <a:spLocks noChangeShapeType="1"/>
            </p:cNvSpPr>
            <p:nvPr/>
          </p:nvSpPr>
          <p:spPr bwMode="auto">
            <a:xfrm flipV="1">
              <a:off x="1447800" y="4040237"/>
              <a:ext cx="0" cy="76200"/>
            </a:xfrm>
            <a:prstGeom prst="line">
              <a:avLst/>
            </a:prstGeom>
            <a:noFill/>
            <a:ln w="9525">
              <a:solidFill>
                <a:srgbClr val="FF505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659" name="Line 38"/>
            <p:cNvSpPr>
              <a:spLocks noChangeShapeType="1"/>
            </p:cNvSpPr>
            <p:nvPr/>
          </p:nvSpPr>
          <p:spPr bwMode="auto">
            <a:xfrm flipV="1">
              <a:off x="2514600" y="4116437"/>
              <a:ext cx="0" cy="76200"/>
            </a:xfrm>
            <a:prstGeom prst="line">
              <a:avLst/>
            </a:prstGeom>
            <a:noFill/>
            <a:ln w="9525">
              <a:solidFill>
                <a:srgbClr val="FF505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660" name="Line 39"/>
            <p:cNvSpPr>
              <a:spLocks noChangeShapeType="1"/>
            </p:cNvSpPr>
            <p:nvPr/>
          </p:nvSpPr>
          <p:spPr bwMode="auto">
            <a:xfrm flipV="1">
              <a:off x="2133600" y="2821037"/>
              <a:ext cx="76200" cy="76200"/>
            </a:xfrm>
            <a:prstGeom prst="line">
              <a:avLst/>
            </a:prstGeom>
            <a:noFill/>
            <a:ln w="9525">
              <a:solidFill>
                <a:srgbClr val="FF505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661" name="Line 40"/>
            <p:cNvSpPr>
              <a:spLocks noChangeShapeType="1"/>
            </p:cNvSpPr>
            <p:nvPr/>
          </p:nvSpPr>
          <p:spPr bwMode="auto">
            <a:xfrm flipV="1">
              <a:off x="4572000" y="2897237"/>
              <a:ext cx="0" cy="76200"/>
            </a:xfrm>
            <a:prstGeom prst="line">
              <a:avLst/>
            </a:prstGeom>
            <a:noFill/>
            <a:ln w="9525">
              <a:solidFill>
                <a:srgbClr val="FF505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662" name="Oval 47"/>
            <p:cNvSpPr>
              <a:spLocks noChangeArrowheads="1"/>
            </p:cNvSpPr>
            <p:nvPr/>
          </p:nvSpPr>
          <p:spPr bwMode="auto">
            <a:xfrm>
              <a:off x="1371600" y="38116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3" name="Oval 48"/>
            <p:cNvSpPr>
              <a:spLocks noChangeArrowheads="1"/>
            </p:cNvSpPr>
            <p:nvPr/>
          </p:nvSpPr>
          <p:spPr bwMode="auto">
            <a:xfrm>
              <a:off x="2209800" y="32782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4" name="Oval 49"/>
            <p:cNvSpPr>
              <a:spLocks noChangeArrowheads="1"/>
            </p:cNvSpPr>
            <p:nvPr/>
          </p:nvSpPr>
          <p:spPr bwMode="auto">
            <a:xfrm>
              <a:off x="2362200" y="38116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5" name="Oval 50"/>
            <p:cNvSpPr>
              <a:spLocks noChangeArrowheads="1"/>
            </p:cNvSpPr>
            <p:nvPr/>
          </p:nvSpPr>
          <p:spPr bwMode="auto">
            <a:xfrm>
              <a:off x="3962400" y="42688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6" name="Oval 52"/>
            <p:cNvSpPr>
              <a:spLocks noChangeArrowheads="1"/>
            </p:cNvSpPr>
            <p:nvPr/>
          </p:nvSpPr>
          <p:spPr bwMode="auto">
            <a:xfrm>
              <a:off x="4495800" y="32020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7" name="Oval 53"/>
            <p:cNvSpPr>
              <a:spLocks noChangeArrowheads="1"/>
            </p:cNvSpPr>
            <p:nvPr/>
          </p:nvSpPr>
          <p:spPr bwMode="auto">
            <a:xfrm>
              <a:off x="6400800" y="40402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8" name="Oval 54"/>
            <p:cNvSpPr>
              <a:spLocks noChangeArrowheads="1"/>
            </p:cNvSpPr>
            <p:nvPr/>
          </p:nvSpPr>
          <p:spPr bwMode="auto">
            <a:xfrm>
              <a:off x="7467600" y="41926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69" name="Oval 55"/>
            <p:cNvSpPr>
              <a:spLocks noChangeArrowheads="1"/>
            </p:cNvSpPr>
            <p:nvPr/>
          </p:nvSpPr>
          <p:spPr bwMode="auto">
            <a:xfrm>
              <a:off x="7086600" y="32020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70" name="Line 57"/>
            <p:cNvSpPr>
              <a:spLocks noChangeShapeType="1"/>
            </p:cNvSpPr>
            <p:nvPr/>
          </p:nvSpPr>
          <p:spPr bwMode="auto">
            <a:xfrm>
              <a:off x="6443663" y="4129137"/>
              <a:ext cx="990600" cy="76200"/>
            </a:xfrm>
            <a:prstGeom prst="line">
              <a:avLst/>
            </a:prstGeom>
            <a:noFill/>
            <a:ln w="9525">
              <a:solidFill>
                <a:srgbClr val="FF505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671" name="Oval 59"/>
            <p:cNvSpPr>
              <a:spLocks noChangeArrowheads="1"/>
            </p:cNvSpPr>
            <p:nvPr/>
          </p:nvSpPr>
          <p:spPr bwMode="auto">
            <a:xfrm>
              <a:off x="4800600" y="4268837"/>
              <a:ext cx="76200" cy="76200"/>
            </a:xfrm>
            <a:prstGeom prst="ellipse">
              <a:avLst/>
            </a:prstGeom>
            <a:solidFill>
              <a:schemeClr val="accent1"/>
            </a:solidFill>
            <a:ln w="9525">
              <a:solidFill>
                <a:srgbClr val="FF505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1" lang="zh-CN" altLang="en-US" sz="3300" dirty="0">
                <a:solidFill>
                  <a:srgbClr val="000000"/>
                </a:solidFill>
              </a:endParaRPr>
            </a:p>
          </p:txBody>
        </p:sp>
        <p:sp>
          <p:nvSpPr>
            <p:cNvPr id="27672" name="Rectangle 61"/>
            <p:cNvSpPr>
              <a:spLocks noChangeArrowheads="1"/>
            </p:cNvSpPr>
            <p:nvPr/>
          </p:nvSpPr>
          <p:spPr bwMode="auto">
            <a:xfrm>
              <a:off x="4572000" y="3049637"/>
              <a:ext cx="382358"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3333CC"/>
                  </a:solidFill>
                </a:rPr>
                <a:t> </a:t>
              </a:r>
              <a:r>
                <a:rPr kumimoji="1" lang="en-US" altLang="zh-CN" dirty="0">
                  <a:solidFill>
                    <a:srgbClr val="FF5050"/>
                  </a:solidFill>
                </a:rPr>
                <a:t>𝑎</a:t>
              </a:r>
              <a:r>
                <a:rPr kumimoji="1" lang="en-US" altLang="zh-CN" dirty="0">
                  <a:solidFill>
                    <a:srgbClr val="3333CC"/>
                  </a:solidFill>
                </a:rPr>
                <a:t> </a:t>
              </a:r>
              <a:endParaRPr kumimoji="1" lang="en-US" altLang="zh-CN" dirty="0">
                <a:solidFill>
                  <a:srgbClr val="3333CC"/>
                </a:solidFill>
              </a:endParaRPr>
            </a:p>
          </p:txBody>
        </p:sp>
        <p:sp>
          <p:nvSpPr>
            <p:cNvPr id="27673" name="Rectangle 62"/>
            <p:cNvSpPr>
              <a:spLocks noChangeArrowheads="1"/>
            </p:cNvSpPr>
            <p:nvPr/>
          </p:nvSpPr>
          <p:spPr bwMode="auto">
            <a:xfrm>
              <a:off x="2286000" y="2973437"/>
              <a:ext cx="382358"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3333CC"/>
                  </a:solidFill>
                </a:rPr>
                <a:t> </a:t>
              </a:r>
              <a:r>
                <a:rPr kumimoji="1" lang="en-US" altLang="zh-CN" dirty="0">
                  <a:solidFill>
                    <a:srgbClr val="FF5050"/>
                  </a:solidFill>
                </a:rPr>
                <a:t>𝑎</a:t>
              </a:r>
              <a:r>
                <a:rPr kumimoji="1" lang="en-US" altLang="zh-CN" dirty="0">
                  <a:solidFill>
                    <a:srgbClr val="3333CC"/>
                  </a:solidFill>
                </a:rPr>
                <a:t> </a:t>
              </a:r>
              <a:endParaRPr kumimoji="1" lang="en-US" altLang="zh-CN" dirty="0">
                <a:solidFill>
                  <a:srgbClr val="3333CC"/>
                </a:solidFill>
              </a:endParaRPr>
            </a:p>
          </p:txBody>
        </p:sp>
        <p:sp>
          <p:nvSpPr>
            <p:cNvPr id="27674" name="Rectangle 63"/>
            <p:cNvSpPr>
              <a:spLocks noChangeArrowheads="1"/>
            </p:cNvSpPr>
            <p:nvPr/>
          </p:nvSpPr>
          <p:spPr bwMode="auto">
            <a:xfrm>
              <a:off x="7315200" y="2973437"/>
              <a:ext cx="382358"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3333CC"/>
                  </a:solidFill>
                </a:rPr>
                <a:t> </a:t>
              </a:r>
              <a:r>
                <a:rPr kumimoji="1" lang="en-US" altLang="zh-CN" dirty="0">
                  <a:solidFill>
                    <a:srgbClr val="FF5050"/>
                  </a:solidFill>
                </a:rPr>
                <a:t>𝑎</a:t>
              </a:r>
              <a:r>
                <a:rPr kumimoji="1" lang="en-US" altLang="zh-CN" dirty="0">
                  <a:solidFill>
                    <a:srgbClr val="3333CC"/>
                  </a:solidFill>
                </a:rPr>
                <a:t> </a:t>
              </a:r>
              <a:endParaRPr kumimoji="1" lang="en-US" altLang="zh-CN" dirty="0">
                <a:solidFill>
                  <a:srgbClr val="3333CC"/>
                </a:solidFill>
              </a:endParaRPr>
            </a:p>
          </p:txBody>
        </p:sp>
        <p:sp>
          <p:nvSpPr>
            <p:cNvPr id="27675" name="Rectangle 64"/>
            <p:cNvSpPr>
              <a:spLocks noChangeArrowheads="1"/>
            </p:cNvSpPr>
            <p:nvPr/>
          </p:nvSpPr>
          <p:spPr bwMode="auto">
            <a:xfrm>
              <a:off x="1066800" y="3659237"/>
              <a:ext cx="263396"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FF5050"/>
                  </a:solidFill>
                </a:rPr>
                <a:t>𝑏</a:t>
              </a:r>
              <a:endParaRPr kumimoji="1" lang="en-US" altLang="zh-CN" dirty="0">
                <a:solidFill>
                  <a:srgbClr val="FF5050"/>
                </a:solidFill>
              </a:endParaRPr>
            </a:p>
          </p:txBody>
        </p:sp>
        <p:sp>
          <p:nvSpPr>
            <p:cNvPr id="27676" name="Rectangle 65"/>
            <p:cNvSpPr>
              <a:spLocks noChangeArrowheads="1"/>
            </p:cNvSpPr>
            <p:nvPr/>
          </p:nvSpPr>
          <p:spPr bwMode="auto">
            <a:xfrm>
              <a:off x="3581400" y="4040237"/>
              <a:ext cx="263396"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FF5050"/>
                  </a:solidFill>
                </a:rPr>
                <a:t>𝑏</a:t>
              </a:r>
              <a:endParaRPr kumimoji="1" lang="en-US" altLang="zh-CN" dirty="0">
                <a:solidFill>
                  <a:srgbClr val="FF5050"/>
                </a:solidFill>
              </a:endParaRPr>
            </a:p>
          </p:txBody>
        </p:sp>
        <p:sp>
          <p:nvSpPr>
            <p:cNvPr id="27677" name="Rectangle 66"/>
            <p:cNvSpPr>
              <a:spLocks noChangeArrowheads="1"/>
            </p:cNvSpPr>
            <p:nvPr/>
          </p:nvSpPr>
          <p:spPr bwMode="auto">
            <a:xfrm>
              <a:off x="6096000" y="3887837"/>
              <a:ext cx="263396"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FF5050"/>
                  </a:solidFill>
                </a:rPr>
                <a:t>𝑏</a:t>
              </a:r>
              <a:endParaRPr kumimoji="1" lang="en-US" altLang="zh-CN" dirty="0">
                <a:solidFill>
                  <a:srgbClr val="FF5050"/>
                </a:solidFill>
              </a:endParaRPr>
            </a:p>
          </p:txBody>
        </p:sp>
        <p:sp>
          <p:nvSpPr>
            <p:cNvPr id="27678" name="Rectangle 67"/>
            <p:cNvSpPr>
              <a:spLocks noChangeArrowheads="1"/>
            </p:cNvSpPr>
            <p:nvPr/>
          </p:nvSpPr>
          <p:spPr bwMode="auto">
            <a:xfrm>
              <a:off x="2590800" y="3659237"/>
              <a:ext cx="301848"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3333CC"/>
                  </a:solidFill>
                </a:rPr>
                <a:t> </a:t>
              </a:r>
              <a:r>
                <a:rPr kumimoji="1" lang="en-US" altLang="zh-CN" dirty="0">
                  <a:solidFill>
                    <a:srgbClr val="FF5050"/>
                  </a:solidFill>
                </a:rPr>
                <a:t>𝑐</a:t>
              </a:r>
              <a:endParaRPr kumimoji="1" lang="en-US" altLang="zh-CN" dirty="0">
                <a:solidFill>
                  <a:srgbClr val="FF5050"/>
                </a:solidFill>
              </a:endParaRPr>
            </a:p>
          </p:txBody>
        </p:sp>
        <p:sp>
          <p:nvSpPr>
            <p:cNvPr id="27679" name="Rectangle 68"/>
            <p:cNvSpPr>
              <a:spLocks noChangeArrowheads="1"/>
            </p:cNvSpPr>
            <p:nvPr/>
          </p:nvSpPr>
          <p:spPr bwMode="auto">
            <a:xfrm>
              <a:off x="4800600" y="4040237"/>
              <a:ext cx="301848"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FF5050"/>
                  </a:solidFill>
                </a:rPr>
                <a:t> 𝑐</a:t>
              </a:r>
              <a:endParaRPr kumimoji="1" lang="en-US" altLang="zh-CN" dirty="0">
                <a:solidFill>
                  <a:srgbClr val="FF5050"/>
                </a:solidFill>
              </a:endParaRPr>
            </a:p>
          </p:txBody>
        </p:sp>
        <p:sp>
          <p:nvSpPr>
            <p:cNvPr id="27680" name="Rectangle 69"/>
            <p:cNvSpPr>
              <a:spLocks noChangeArrowheads="1"/>
            </p:cNvSpPr>
            <p:nvPr/>
          </p:nvSpPr>
          <p:spPr bwMode="auto">
            <a:xfrm>
              <a:off x="7543800" y="3964037"/>
              <a:ext cx="301848" cy="46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3333CC"/>
                  </a:solidFill>
                </a:rPr>
                <a:t> </a:t>
              </a:r>
              <a:r>
                <a:rPr kumimoji="1" lang="en-US" altLang="zh-CN" dirty="0">
                  <a:solidFill>
                    <a:srgbClr val="FF5050"/>
                  </a:solidFill>
                </a:rPr>
                <a:t>𝑐</a:t>
              </a:r>
              <a:endParaRPr kumimoji="1" lang="en-US" altLang="zh-CN" dirty="0">
                <a:solidFill>
                  <a:srgbClr val="FF5050"/>
                </a:solidFill>
              </a:endParaRPr>
            </a:p>
          </p:txBody>
        </p:sp>
        <p:sp>
          <p:nvSpPr>
            <p:cNvPr id="27681" name="Line 70"/>
            <p:cNvSpPr>
              <a:spLocks noChangeShapeType="1"/>
            </p:cNvSpPr>
            <p:nvPr/>
          </p:nvSpPr>
          <p:spPr bwMode="auto">
            <a:xfrm flipH="1">
              <a:off x="4038600" y="3278237"/>
              <a:ext cx="457200" cy="990600"/>
            </a:xfrm>
            <a:prstGeom prst="line">
              <a:avLst/>
            </a:prstGeom>
            <a:noFill/>
            <a:ln w="12700">
              <a:solidFill>
                <a:srgbClr val="FF505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27682" name="Arc 72"/>
            <p:cNvSpPr/>
            <p:nvPr/>
          </p:nvSpPr>
          <p:spPr bwMode="auto">
            <a:xfrm>
              <a:off x="6477000" y="4040237"/>
              <a:ext cx="1066800" cy="152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5050"/>
              </a:solidFill>
              <a:round/>
              <a:head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p:cNvSpPr/>
            <p:nvPr/>
          </p:nvSpPr>
          <p:spPr>
            <a:xfrm>
              <a:off x="395536" y="4451629"/>
              <a:ext cx="8352928" cy="1200052"/>
            </a:xfrm>
            <a:prstGeom prst="rect">
              <a:avLst/>
            </a:prstGeom>
          </p:spPr>
          <p:txBody>
            <a:bodyPr wrap="square">
              <a:spAutoFit/>
            </a:bodyPr>
            <a:lstStyle/>
            <a:p>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              </a:t>
              </a:r>
              <a:r>
                <a:rPr lang="en-US" altLang="zh-CN" dirty="0">
                  <a:latin typeface="Cambria Math" panose="02040503050406030204" pitchFamily="18" charset="0"/>
                  <a:ea typeface="圆体-简 常规体" charset="-122"/>
                </a:rPr>
                <a:t>(</a:t>
              </a:r>
              <a:r>
                <a:rPr lang="en-US" altLang="zh-CN" dirty="0">
                  <a:latin typeface="Cambria Math" panose="02040503050406030204" pitchFamily="18" charset="0"/>
                  <a:ea typeface="圆体-简 常规体" charset="-122"/>
                </a:rPr>
                <a:t>1</a:t>
              </a:r>
              <a:r>
                <a:rPr lang="en-US" altLang="zh-CN" dirty="0">
                  <a:latin typeface="Cambria Math" panose="02040503050406030204" pitchFamily="18" charset="0"/>
                  <a:ea typeface="圆体-简 常规体" charset="-122"/>
                </a:rPr>
                <a:t>) </a:t>
              </a:r>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  </a:t>
              </a:r>
              <a:r>
                <a:rPr lang="zh-CN" altLang="en-US" dirty="0" smtClean="0">
                  <a:latin typeface="Cambria Math" panose="02040503050406030204" pitchFamily="18" charset="0"/>
                  <a:ea typeface="圆体-简 常规体" charset="-122"/>
                </a:rPr>
                <a:t>                                 </a:t>
              </a:r>
              <a:r>
                <a:rPr lang="en-US" altLang="zh-CN" dirty="0" smtClean="0">
                  <a:latin typeface="Cambria Math" panose="02040503050406030204" pitchFamily="18" charset="0"/>
                  <a:ea typeface="圆体-简 常规体" charset="-122"/>
                </a:rPr>
                <a:t>  </a:t>
              </a:r>
              <a:r>
                <a:rPr lang="en-US" altLang="zh-CN" dirty="0">
                  <a:latin typeface="Cambria Math" panose="02040503050406030204" pitchFamily="18" charset="0"/>
                  <a:ea typeface="圆体-简 常规体" charset="-122"/>
                </a:rPr>
                <a:t>(</a:t>
              </a:r>
              <a:r>
                <a:rPr lang="en-US" altLang="zh-CN" dirty="0">
                  <a:latin typeface="Cambria Math" panose="02040503050406030204" pitchFamily="18" charset="0"/>
                  <a:ea typeface="圆体-简 常规体" charset="-122"/>
                </a:rPr>
                <a:t>2</a:t>
              </a:r>
              <a:r>
                <a:rPr lang="en-US" altLang="zh-CN" dirty="0">
                  <a:latin typeface="Cambria Math" panose="02040503050406030204" pitchFamily="18" charset="0"/>
                  <a:ea typeface="圆体-简 常规体" charset="-122"/>
                </a:rPr>
                <a:t>) </a:t>
              </a:r>
              <a:r>
                <a:rPr lang="en-US" altLang="zh-CN" dirty="0">
                  <a:latin typeface="Cambria Math" panose="02040503050406030204" pitchFamily="18" charset="0"/>
                  <a:ea typeface="圆体-简 常规体" charset="-122"/>
                </a:rPr>
                <a:t>                  </a:t>
              </a:r>
              <a:r>
                <a:rPr lang="en-US" altLang="zh-CN" dirty="0" smtClean="0">
                  <a:latin typeface="Cambria Math" panose="02040503050406030204" pitchFamily="18" charset="0"/>
                  <a:ea typeface="圆体-简 常规体" charset="-122"/>
                </a:rPr>
                <a:t>                            </a:t>
              </a:r>
              <a:r>
                <a:rPr lang="en-US" altLang="zh-CN" dirty="0">
                  <a:latin typeface="Cambria Math" panose="02040503050406030204" pitchFamily="18" charset="0"/>
                  <a:ea typeface="圆体-简 常规体" charset="-122"/>
                </a:rPr>
                <a:t>(</a:t>
              </a:r>
              <a:r>
                <a:rPr lang="en-US" altLang="zh-CN" dirty="0">
                  <a:latin typeface="Cambria Math" panose="02040503050406030204" pitchFamily="18" charset="0"/>
                  <a:ea typeface="圆体-简 常规体" charset="-122"/>
                </a:rPr>
                <a:t>3</a:t>
              </a:r>
              <a:r>
                <a:rPr lang="en-US" altLang="zh-CN" dirty="0">
                  <a:latin typeface="Cambria Math" panose="02040503050406030204" pitchFamily="18" charset="0"/>
                  <a:ea typeface="圆体-简 常规体" charset="-122"/>
                </a:rPr>
                <a:t>) </a:t>
              </a:r>
              <a:endParaRPr lang="en-US" altLang="zh-CN" dirty="0">
                <a:latin typeface="Cambria Math" panose="02040503050406030204" pitchFamily="18" charset="0"/>
                <a:ea typeface="圆体-简 常规体" charset="-122"/>
              </a:endParaRPr>
            </a:p>
            <a:p>
              <a:r>
                <a:rPr lang="zh-CN" altLang="en-US" dirty="0">
                  <a:latin typeface="Cambria Math" panose="02040503050406030204" pitchFamily="18" charset="0"/>
                  <a:ea typeface="圆体-简 常规体" charset="-122"/>
                </a:rPr>
                <a:t>  自反的</a:t>
              </a:r>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对称的 </a:t>
              </a:r>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  </a:t>
              </a:r>
              <a:r>
                <a:rPr lang="zh-CN" altLang="en-US" dirty="0" smtClean="0">
                  <a:latin typeface="Cambria Math" panose="02040503050406030204" pitchFamily="18" charset="0"/>
                  <a:ea typeface="圆体-简 常规体" charset="-122"/>
                </a:rPr>
                <a:t>                               反</a:t>
              </a:r>
              <a:r>
                <a:rPr lang="zh-CN" altLang="en-US" dirty="0">
                  <a:latin typeface="Cambria Math" panose="02040503050406030204" pitchFamily="18" charset="0"/>
                  <a:ea typeface="圆体-简 常规体" charset="-122"/>
                </a:rPr>
                <a:t>对称的       </a:t>
              </a:r>
              <a:r>
                <a:rPr lang="zh-CN" altLang="en-US" dirty="0" smtClean="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反自反的</a:t>
              </a:r>
              <a:endParaRPr lang="zh-CN" altLang="en-US" dirty="0">
                <a:latin typeface="Cambria Math" panose="02040503050406030204" pitchFamily="18" charset="0"/>
                <a:ea typeface="圆体-简 常规体" charset="-122"/>
              </a:endParaRPr>
            </a:p>
            <a:p>
              <a:r>
                <a:rPr lang="zh-CN" altLang="en-US" dirty="0">
                  <a:latin typeface="Cambria Math" panose="02040503050406030204" pitchFamily="18" charset="0"/>
                  <a:ea typeface="圆体-简 常规体" charset="-122"/>
                </a:rPr>
                <a:t>  反对称的</a:t>
              </a:r>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传递的 </a:t>
              </a:r>
              <a:r>
                <a:rPr lang="en-US" altLang="zh-CN" dirty="0">
                  <a:latin typeface="Cambria Math" panose="02040503050406030204" pitchFamily="18" charset="0"/>
                  <a:ea typeface="圆体-简 常规体" charset="-122"/>
                </a:rPr>
                <a:t>     </a:t>
              </a:r>
              <a:r>
                <a:rPr lang="en-US" altLang="zh-CN" dirty="0" smtClean="0">
                  <a:latin typeface="Cambria Math" panose="02040503050406030204" pitchFamily="18" charset="0"/>
                  <a:ea typeface="圆体-简 常规体" charset="-122"/>
                </a:rPr>
                <a:t>                               </a:t>
              </a:r>
              <a:r>
                <a:rPr lang="zh-CN" altLang="en-US" dirty="0" smtClean="0">
                  <a:latin typeface="Cambria Math" panose="02040503050406030204" pitchFamily="18" charset="0"/>
                  <a:ea typeface="圆体-简 常规体" charset="-122"/>
                </a:rPr>
                <a:t>传</a:t>
              </a:r>
              <a:r>
                <a:rPr lang="zh-CN" altLang="en-US" dirty="0">
                  <a:latin typeface="Cambria Math" panose="02040503050406030204" pitchFamily="18" charset="0"/>
                  <a:ea typeface="圆体-简 常规体" charset="-122"/>
                </a:rPr>
                <a:t>递的</a:t>
              </a:r>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  </a:t>
              </a:r>
              <a:r>
                <a:rPr lang="en-US" altLang="zh-CN" dirty="0">
                  <a:latin typeface="Cambria Math" panose="02040503050406030204" pitchFamily="18" charset="0"/>
                  <a:ea typeface="圆体-简 常规体" charset="-122"/>
                </a:rPr>
                <a:t> </a:t>
              </a:r>
              <a:r>
                <a:rPr lang="zh-CN" altLang="en-US" dirty="0">
                  <a:latin typeface="Cambria Math" panose="02040503050406030204" pitchFamily="18" charset="0"/>
                  <a:ea typeface="圆体-简 常规体" charset="-122"/>
                </a:rPr>
                <a:t>          </a:t>
              </a:r>
              <a:r>
                <a:rPr lang="zh-CN" altLang="en-US" dirty="0" smtClean="0">
                  <a:latin typeface="Cambria Math" panose="02040503050406030204" pitchFamily="18" charset="0"/>
                  <a:ea typeface="圆体-简 常规体" charset="-122"/>
                </a:rPr>
                <a:t>                         对</a:t>
              </a:r>
              <a:r>
                <a:rPr lang="zh-CN" altLang="en-US" dirty="0">
                  <a:latin typeface="Cambria Math" panose="02040503050406030204" pitchFamily="18" charset="0"/>
                  <a:ea typeface="圆体-简 常规体" charset="-122"/>
                </a:rPr>
                <a:t>称的</a:t>
              </a:r>
              <a:endParaRPr lang="zh-CN" altLang="en-US" dirty="0">
                <a:ea typeface="圆体-简 常规体" charset="-122"/>
              </a:endParaRPr>
            </a:p>
          </p:txBody>
        </p:sp>
      </p:grpSp>
      <p:sp>
        <p:nvSpPr>
          <p:cNvPr id="4" name="幻灯片编号占位符 3"/>
          <p:cNvSpPr>
            <a:spLocks noGrp="1"/>
          </p:cNvSpPr>
          <p:nvPr>
            <p:ph type="sldNum" sz="quarter" idx="4"/>
          </p:nvPr>
        </p:nvSpPr>
        <p:spPr/>
        <p:txBody>
          <a:bodyPr/>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27656" y="332733"/>
            <a:ext cx="11143038" cy="504173"/>
          </a:xfrm>
        </p:spPr>
        <p:txBody>
          <a:bodyPr>
            <a:normAutofit fontScale="92500" lnSpcReduction="10000"/>
          </a:bodyPr>
          <a:lstStyle/>
          <a:p>
            <a:pPr marL="0" indent="0">
              <a:buNone/>
            </a:pPr>
            <a:r>
              <a:rPr lang="en-US" altLang="zh-CN" sz="2900" dirty="0">
                <a:solidFill>
                  <a:schemeClr val="accent2">
                    <a:lumMod val="20000"/>
                    <a:lumOff val="80000"/>
                  </a:schemeClr>
                </a:solidFill>
              </a:rPr>
              <a:t>【</a:t>
            </a:r>
            <a:r>
              <a:rPr lang="zh-CN" altLang="en-US" sz="2900" dirty="0">
                <a:solidFill>
                  <a:schemeClr val="accent2">
                    <a:lumMod val="20000"/>
                    <a:lumOff val="80000"/>
                  </a:schemeClr>
                </a:solidFill>
              </a:rPr>
              <a:t>示例</a:t>
            </a:r>
            <a:r>
              <a:rPr lang="en-US" altLang="zh-CN" sz="2900" dirty="0">
                <a:solidFill>
                  <a:schemeClr val="accent2">
                    <a:lumMod val="20000"/>
                    <a:lumOff val="80000"/>
                  </a:schemeClr>
                </a:solidFill>
              </a:rPr>
              <a:t>2】</a:t>
            </a:r>
            <a:r>
              <a:rPr lang="zh-CN" altLang="en-US" sz="2900" dirty="0">
                <a:solidFill>
                  <a:schemeClr val="accent2">
                    <a:lumMod val="20000"/>
                    <a:lumOff val="80000"/>
                  </a:schemeClr>
                </a:solidFill>
                <a:latin typeface="黑体" panose="02010609060101010101" pitchFamily="49" charset="-122"/>
              </a:rPr>
              <a:t>判断图中关系的性质</a:t>
            </a:r>
            <a:endParaRPr lang="en-US" altLang="zh-CN" sz="2900" dirty="0">
              <a:solidFill>
                <a:schemeClr val="accent2">
                  <a:lumMod val="20000"/>
                  <a:lumOff val="80000"/>
                </a:schemeClr>
              </a:solidFill>
              <a:latin typeface="黑体" panose="02010609060101010101" pitchFamily="49" charset="-122"/>
            </a:endParaRPr>
          </a:p>
        </p:txBody>
      </p:sp>
      <p:sp>
        <p:nvSpPr>
          <p:cNvPr id="3" name="幻灯片编号占位符 2"/>
          <p:cNvSpPr>
            <a:spLocks noGrp="1"/>
          </p:cNvSpPr>
          <p:nvPr>
            <p:ph type="sldNum" sz="quarter" idx="4"/>
          </p:nvPr>
        </p:nvSpPr>
        <p:spPr/>
        <p:txBody>
          <a:bodyPr/>
          <a:lstStyle/>
          <a:p>
            <a:pPr>
              <a:defRPr/>
            </a:pPr>
            <a:fld id="{F37ECD3A-A07E-F94E-BA38-E1841CA883D1}" type="slidenum">
              <a:rPr lang="en-US" altLang="zh-CN" smtClean="0"/>
            </a:fld>
            <a:endParaRPr lang="en-US" altLang="zh-CN" dirty="0"/>
          </a:p>
        </p:txBody>
      </p:sp>
      <p:grpSp>
        <p:nvGrpSpPr>
          <p:cNvPr id="4" name="组合 68"/>
          <p:cNvGrpSpPr/>
          <p:nvPr/>
        </p:nvGrpSpPr>
        <p:grpSpPr bwMode="auto">
          <a:xfrm>
            <a:off x="566977" y="980955"/>
            <a:ext cx="10082698" cy="2585146"/>
            <a:chOff x="459606" y="2555612"/>
            <a:chExt cx="7558751" cy="2585008"/>
          </a:xfrm>
        </p:grpSpPr>
        <p:sp>
          <p:nvSpPr>
            <p:cNvPr id="40" name="椭圆 4"/>
            <p:cNvSpPr>
              <a:spLocks noChangeArrowheads="1"/>
            </p:cNvSpPr>
            <p:nvPr/>
          </p:nvSpPr>
          <p:spPr bwMode="auto">
            <a:xfrm>
              <a:off x="1331640" y="2924944"/>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sp>
          <p:nvSpPr>
            <p:cNvPr id="41" name="椭圆 5"/>
            <p:cNvSpPr>
              <a:spLocks noChangeArrowheads="1"/>
            </p:cNvSpPr>
            <p:nvPr/>
          </p:nvSpPr>
          <p:spPr bwMode="auto">
            <a:xfrm>
              <a:off x="827584" y="3933056"/>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sp>
          <p:nvSpPr>
            <p:cNvPr id="42" name="椭圆 6"/>
            <p:cNvSpPr>
              <a:spLocks noChangeArrowheads="1"/>
            </p:cNvSpPr>
            <p:nvPr/>
          </p:nvSpPr>
          <p:spPr bwMode="auto">
            <a:xfrm>
              <a:off x="1907704" y="3933056"/>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cxnSp>
          <p:nvCxnSpPr>
            <p:cNvPr id="43" name="曲线连接符 8"/>
            <p:cNvCxnSpPr>
              <a:cxnSpLocks noChangeShapeType="1"/>
            </p:cNvCxnSpPr>
            <p:nvPr/>
          </p:nvCxnSpPr>
          <p:spPr bwMode="auto">
            <a:xfrm flipH="1">
              <a:off x="1331640" y="2996952"/>
              <a:ext cx="144016" cy="12700"/>
            </a:xfrm>
            <a:prstGeom prst="curvedConnector5">
              <a:avLst>
                <a:gd name="adj1" fmla="val -109130"/>
                <a:gd name="adj2" fmla="val -2020514"/>
                <a:gd name="adj3" fmla="val 189287"/>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4" name="曲线连接符 13"/>
            <p:cNvCxnSpPr>
              <a:cxnSpLocks noChangeShapeType="1"/>
            </p:cNvCxnSpPr>
            <p:nvPr/>
          </p:nvCxnSpPr>
          <p:spPr bwMode="auto">
            <a:xfrm rot="16200000" flipV="1">
              <a:off x="1274546" y="3198063"/>
              <a:ext cx="957195" cy="554973"/>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5" name="曲线连接符 15"/>
            <p:cNvCxnSpPr>
              <a:cxnSpLocks noChangeShapeType="1"/>
            </p:cNvCxnSpPr>
            <p:nvPr/>
          </p:nvCxnSpPr>
          <p:spPr bwMode="auto">
            <a:xfrm rot="16200000" flipH="1">
              <a:off x="1259631" y="3284984"/>
              <a:ext cx="936104" cy="504056"/>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6" name="曲线连接符 18"/>
            <p:cNvCxnSpPr>
              <a:cxnSpLocks noChangeShapeType="1"/>
            </p:cNvCxnSpPr>
            <p:nvPr/>
          </p:nvCxnSpPr>
          <p:spPr bwMode="auto">
            <a:xfrm rot="10800000" flipV="1">
              <a:off x="848676" y="2996951"/>
              <a:ext cx="482965" cy="957195"/>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7" name="曲线连接符 20"/>
            <p:cNvCxnSpPr>
              <a:cxnSpLocks noChangeShapeType="1"/>
            </p:cNvCxnSpPr>
            <p:nvPr/>
          </p:nvCxnSpPr>
          <p:spPr bwMode="auto">
            <a:xfrm flipV="1">
              <a:off x="971600" y="3068960"/>
              <a:ext cx="432048" cy="936104"/>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8" name="TextBox 21"/>
            <p:cNvSpPr txBox="1">
              <a:spLocks noChangeArrowheads="1"/>
            </p:cNvSpPr>
            <p:nvPr/>
          </p:nvSpPr>
          <p:spPr bwMode="auto">
            <a:xfrm>
              <a:off x="1753143" y="2564904"/>
              <a:ext cx="277487"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1</a:t>
              </a:r>
              <a:endParaRPr lang="zh-CN" altLang="en-US" sz="2100" kern="0" dirty="0">
                <a:solidFill>
                  <a:srgbClr val="000000"/>
                </a:solidFill>
                <a:latin typeface="Arial" panose="020B0604020202020204" pitchFamily="34" charset="0"/>
              </a:endParaRPr>
            </a:p>
          </p:txBody>
        </p:sp>
        <p:sp>
          <p:nvSpPr>
            <p:cNvPr id="49" name="TextBox 22"/>
            <p:cNvSpPr txBox="1">
              <a:spLocks noChangeArrowheads="1"/>
            </p:cNvSpPr>
            <p:nvPr/>
          </p:nvSpPr>
          <p:spPr bwMode="auto">
            <a:xfrm>
              <a:off x="459606" y="4110965"/>
              <a:ext cx="359271"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2</a:t>
              </a:r>
              <a:endParaRPr lang="zh-CN" altLang="en-US" sz="2100" kern="0" dirty="0">
                <a:solidFill>
                  <a:srgbClr val="000000"/>
                </a:solidFill>
                <a:latin typeface="Arial" panose="020B0604020202020204" pitchFamily="34" charset="0"/>
              </a:endParaRPr>
            </a:p>
          </p:txBody>
        </p:sp>
        <p:sp>
          <p:nvSpPr>
            <p:cNvPr id="50" name="TextBox 23"/>
            <p:cNvSpPr txBox="1">
              <a:spLocks noChangeArrowheads="1"/>
            </p:cNvSpPr>
            <p:nvPr/>
          </p:nvSpPr>
          <p:spPr bwMode="auto">
            <a:xfrm>
              <a:off x="2069758" y="4101698"/>
              <a:ext cx="324037"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3</a:t>
              </a:r>
              <a:endParaRPr lang="zh-CN" altLang="en-US" sz="2100" kern="0" dirty="0">
                <a:solidFill>
                  <a:srgbClr val="000000"/>
                </a:solidFill>
                <a:latin typeface="Arial" panose="020B0604020202020204" pitchFamily="34" charset="0"/>
              </a:endParaRPr>
            </a:p>
          </p:txBody>
        </p:sp>
        <p:sp>
          <p:nvSpPr>
            <p:cNvPr id="51" name="TextBox 24"/>
            <p:cNvSpPr txBox="1">
              <a:spLocks noChangeArrowheads="1"/>
            </p:cNvSpPr>
            <p:nvPr/>
          </p:nvSpPr>
          <p:spPr bwMode="auto">
            <a:xfrm>
              <a:off x="1090158" y="4725144"/>
              <a:ext cx="637525"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zh-CN" altLang="en-US" sz="2100" kern="0" dirty="0">
                  <a:solidFill>
                    <a:srgbClr val="000000"/>
                  </a:solidFill>
                  <a:latin typeface="Arial" panose="020B0604020202020204" pitchFamily="34" charset="0"/>
                </a:rPr>
                <a:t>（𝑎）</a:t>
              </a:r>
              <a:endParaRPr lang="zh-CN" altLang="en-US" sz="2100" kern="0" dirty="0">
                <a:solidFill>
                  <a:srgbClr val="000000"/>
                </a:solidFill>
                <a:latin typeface="Arial" panose="020B0604020202020204" pitchFamily="34" charset="0"/>
              </a:endParaRPr>
            </a:p>
          </p:txBody>
        </p:sp>
        <p:sp>
          <p:nvSpPr>
            <p:cNvPr id="52" name="椭圆 25"/>
            <p:cNvSpPr>
              <a:spLocks noChangeArrowheads="1"/>
            </p:cNvSpPr>
            <p:nvPr/>
          </p:nvSpPr>
          <p:spPr bwMode="auto">
            <a:xfrm>
              <a:off x="6956202" y="2915652"/>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sp>
          <p:nvSpPr>
            <p:cNvPr id="53" name="椭圆 26"/>
            <p:cNvSpPr>
              <a:spLocks noChangeArrowheads="1"/>
            </p:cNvSpPr>
            <p:nvPr/>
          </p:nvSpPr>
          <p:spPr bwMode="auto">
            <a:xfrm>
              <a:off x="6452146" y="4005064"/>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sp>
          <p:nvSpPr>
            <p:cNvPr id="54" name="椭圆 27"/>
            <p:cNvSpPr>
              <a:spLocks noChangeArrowheads="1"/>
            </p:cNvSpPr>
            <p:nvPr/>
          </p:nvSpPr>
          <p:spPr bwMode="auto">
            <a:xfrm>
              <a:off x="7532266" y="3923764"/>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cxnSp>
          <p:nvCxnSpPr>
            <p:cNvPr id="55" name="曲线连接符 28"/>
            <p:cNvCxnSpPr>
              <a:cxnSpLocks noChangeShapeType="1"/>
            </p:cNvCxnSpPr>
            <p:nvPr/>
          </p:nvCxnSpPr>
          <p:spPr bwMode="auto">
            <a:xfrm flipH="1">
              <a:off x="6956202" y="2987660"/>
              <a:ext cx="144016" cy="12700"/>
            </a:xfrm>
            <a:prstGeom prst="curvedConnector5">
              <a:avLst>
                <a:gd name="adj1" fmla="val -109130"/>
                <a:gd name="adj2" fmla="val -2020514"/>
                <a:gd name="adj3" fmla="val 189287"/>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曲线连接符 30"/>
            <p:cNvCxnSpPr>
              <a:cxnSpLocks noChangeShapeType="1"/>
            </p:cNvCxnSpPr>
            <p:nvPr/>
          </p:nvCxnSpPr>
          <p:spPr bwMode="auto">
            <a:xfrm rot="16200000" flipH="1">
              <a:off x="6960576" y="3199313"/>
              <a:ext cx="873386" cy="594099"/>
            </a:xfrm>
            <a:prstGeom prst="curvedConnector3">
              <a:avLst>
                <a:gd name="adj1" fmla="val 27097"/>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7" name="曲线连接符 32"/>
            <p:cNvCxnSpPr>
              <a:cxnSpLocks noChangeShapeType="1"/>
            </p:cNvCxnSpPr>
            <p:nvPr/>
          </p:nvCxnSpPr>
          <p:spPr bwMode="auto">
            <a:xfrm rot="5400000" flipH="1" flipV="1">
              <a:off x="6231476" y="3280338"/>
              <a:ext cx="987578" cy="504056"/>
            </a:xfrm>
            <a:prstGeom prst="curvedConnector3">
              <a:avLst>
                <a:gd name="adj1" fmla="val 50000"/>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8" name="TextBox 33"/>
            <p:cNvSpPr txBox="1">
              <a:spLocks noChangeArrowheads="1"/>
            </p:cNvSpPr>
            <p:nvPr/>
          </p:nvSpPr>
          <p:spPr bwMode="auto">
            <a:xfrm>
              <a:off x="7377705" y="2555612"/>
              <a:ext cx="277487"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1</a:t>
              </a:r>
              <a:endParaRPr lang="zh-CN" altLang="en-US" sz="2100" kern="0" dirty="0">
                <a:solidFill>
                  <a:srgbClr val="000000"/>
                </a:solidFill>
                <a:latin typeface="Arial" panose="020B0604020202020204" pitchFamily="34" charset="0"/>
              </a:endParaRPr>
            </a:p>
          </p:txBody>
        </p:sp>
        <p:sp>
          <p:nvSpPr>
            <p:cNvPr id="59" name="TextBox 34"/>
            <p:cNvSpPr txBox="1">
              <a:spLocks noChangeArrowheads="1"/>
            </p:cNvSpPr>
            <p:nvPr/>
          </p:nvSpPr>
          <p:spPr bwMode="auto">
            <a:xfrm>
              <a:off x="6516985" y="4077073"/>
              <a:ext cx="359271"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2</a:t>
              </a:r>
              <a:endParaRPr lang="zh-CN" altLang="en-US" sz="2100" kern="0" dirty="0">
                <a:solidFill>
                  <a:srgbClr val="000000"/>
                </a:solidFill>
                <a:latin typeface="Arial" panose="020B0604020202020204" pitchFamily="34" charset="0"/>
              </a:endParaRPr>
            </a:p>
          </p:txBody>
        </p:sp>
        <p:sp>
          <p:nvSpPr>
            <p:cNvPr id="60" name="TextBox 35"/>
            <p:cNvSpPr txBox="1">
              <a:spLocks noChangeArrowheads="1"/>
            </p:cNvSpPr>
            <p:nvPr/>
          </p:nvSpPr>
          <p:spPr bwMode="auto">
            <a:xfrm>
              <a:off x="7694320" y="4092406"/>
              <a:ext cx="324037"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3</a:t>
              </a:r>
              <a:endParaRPr lang="zh-CN" altLang="en-US" sz="2100" kern="0" dirty="0">
                <a:solidFill>
                  <a:srgbClr val="000000"/>
                </a:solidFill>
                <a:latin typeface="Arial" panose="020B0604020202020204" pitchFamily="34" charset="0"/>
              </a:endParaRPr>
            </a:p>
          </p:txBody>
        </p:sp>
        <p:sp>
          <p:nvSpPr>
            <p:cNvPr id="61" name="TextBox 36"/>
            <p:cNvSpPr txBox="1">
              <a:spLocks noChangeArrowheads="1"/>
            </p:cNvSpPr>
            <p:nvPr/>
          </p:nvSpPr>
          <p:spPr bwMode="auto">
            <a:xfrm>
              <a:off x="6714720" y="4715853"/>
              <a:ext cx="637525"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zh-CN" altLang="en-US" sz="2100" kern="0" dirty="0">
                  <a:solidFill>
                    <a:srgbClr val="000000"/>
                  </a:solidFill>
                  <a:latin typeface="Arial" panose="020B0604020202020204" pitchFamily="34" charset="0"/>
                </a:rPr>
                <a:t>（𝑐）</a:t>
              </a:r>
              <a:endParaRPr lang="zh-CN" altLang="en-US" sz="2100" kern="0" dirty="0">
                <a:solidFill>
                  <a:srgbClr val="000000"/>
                </a:solidFill>
                <a:latin typeface="Arial" panose="020B0604020202020204" pitchFamily="34" charset="0"/>
              </a:endParaRPr>
            </a:p>
          </p:txBody>
        </p:sp>
        <p:sp>
          <p:nvSpPr>
            <p:cNvPr id="62" name="椭圆 37"/>
            <p:cNvSpPr>
              <a:spLocks noChangeArrowheads="1"/>
            </p:cNvSpPr>
            <p:nvPr/>
          </p:nvSpPr>
          <p:spPr bwMode="auto">
            <a:xfrm>
              <a:off x="3869885" y="2924944"/>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sp>
          <p:nvSpPr>
            <p:cNvPr id="63" name="椭圆 38"/>
            <p:cNvSpPr>
              <a:spLocks noChangeArrowheads="1"/>
            </p:cNvSpPr>
            <p:nvPr/>
          </p:nvSpPr>
          <p:spPr bwMode="auto">
            <a:xfrm>
              <a:off x="3365829" y="3933056"/>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sp>
          <p:nvSpPr>
            <p:cNvPr id="64" name="椭圆 39"/>
            <p:cNvSpPr>
              <a:spLocks noChangeArrowheads="1"/>
            </p:cNvSpPr>
            <p:nvPr/>
          </p:nvSpPr>
          <p:spPr bwMode="auto">
            <a:xfrm>
              <a:off x="4445949" y="3933056"/>
              <a:ext cx="144016" cy="144016"/>
            </a:xfrm>
            <a:prstGeom prst="ellipse">
              <a:avLst/>
            </a:prstGeom>
            <a:solidFill>
              <a:srgbClr val="CFDEF3"/>
            </a:solidFill>
            <a:ln w="9525">
              <a:solidFill>
                <a:srgbClr val="0000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endParaRPr lang="zh-CN" altLang="en-US" sz="2100" kern="0" dirty="0">
                <a:solidFill>
                  <a:srgbClr val="000000"/>
                </a:solidFill>
                <a:latin typeface="Arial" panose="020B0604020202020204" pitchFamily="34" charset="0"/>
              </a:endParaRPr>
            </a:p>
          </p:txBody>
        </p:sp>
        <p:cxnSp>
          <p:nvCxnSpPr>
            <p:cNvPr id="65" name="曲线连接符 41"/>
            <p:cNvCxnSpPr>
              <a:cxnSpLocks noChangeShapeType="1"/>
            </p:cNvCxnSpPr>
            <p:nvPr/>
          </p:nvCxnSpPr>
          <p:spPr bwMode="auto">
            <a:xfrm rot="16200000" flipV="1">
              <a:off x="3812791" y="3198063"/>
              <a:ext cx="957195" cy="554973"/>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6" name="曲线连接符 44"/>
            <p:cNvCxnSpPr>
              <a:cxnSpLocks noChangeShapeType="1"/>
            </p:cNvCxnSpPr>
            <p:nvPr/>
          </p:nvCxnSpPr>
          <p:spPr bwMode="auto">
            <a:xfrm rot="5400000" flipH="1" flipV="1">
              <a:off x="3185809" y="3248980"/>
              <a:ext cx="936104" cy="432048"/>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7" name="TextBox 45"/>
            <p:cNvSpPr txBox="1">
              <a:spLocks noChangeArrowheads="1"/>
            </p:cNvSpPr>
            <p:nvPr/>
          </p:nvSpPr>
          <p:spPr bwMode="auto">
            <a:xfrm>
              <a:off x="4291388" y="2564904"/>
              <a:ext cx="277487"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1</a:t>
              </a:r>
              <a:endParaRPr lang="zh-CN" altLang="en-US" sz="2100" kern="0" dirty="0">
                <a:solidFill>
                  <a:srgbClr val="000000"/>
                </a:solidFill>
                <a:latin typeface="Arial" panose="020B0604020202020204" pitchFamily="34" charset="0"/>
              </a:endParaRPr>
            </a:p>
          </p:txBody>
        </p:sp>
        <p:sp>
          <p:nvSpPr>
            <p:cNvPr id="68" name="TextBox 46"/>
            <p:cNvSpPr txBox="1">
              <a:spLocks noChangeArrowheads="1"/>
            </p:cNvSpPr>
            <p:nvPr/>
          </p:nvSpPr>
          <p:spPr bwMode="auto">
            <a:xfrm>
              <a:off x="2997851" y="4110965"/>
              <a:ext cx="359271"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2</a:t>
              </a:r>
              <a:endParaRPr lang="zh-CN" altLang="en-US" sz="2100" kern="0" dirty="0">
                <a:solidFill>
                  <a:srgbClr val="000000"/>
                </a:solidFill>
                <a:latin typeface="Arial" panose="020B0604020202020204" pitchFamily="34" charset="0"/>
              </a:endParaRPr>
            </a:p>
          </p:txBody>
        </p:sp>
        <p:sp>
          <p:nvSpPr>
            <p:cNvPr id="69" name="TextBox 47"/>
            <p:cNvSpPr txBox="1">
              <a:spLocks noChangeArrowheads="1"/>
            </p:cNvSpPr>
            <p:nvPr/>
          </p:nvSpPr>
          <p:spPr bwMode="auto">
            <a:xfrm>
              <a:off x="4608003" y="4101698"/>
              <a:ext cx="324037"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en-US" altLang="zh-CN" sz="2100" kern="0" dirty="0">
                  <a:solidFill>
                    <a:srgbClr val="000000"/>
                  </a:solidFill>
                  <a:latin typeface="Arial" panose="020B0604020202020204" pitchFamily="34" charset="0"/>
                </a:rPr>
                <a:t>3</a:t>
              </a:r>
              <a:endParaRPr lang="zh-CN" altLang="en-US" sz="2100" kern="0" dirty="0">
                <a:solidFill>
                  <a:srgbClr val="000000"/>
                </a:solidFill>
                <a:latin typeface="Arial" panose="020B0604020202020204" pitchFamily="34" charset="0"/>
              </a:endParaRPr>
            </a:p>
          </p:txBody>
        </p:sp>
        <p:sp>
          <p:nvSpPr>
            <p:cNvPr id="70" name="TextBox 48"/>
            <p:cNvSpPr txBox="1">
              <a:spLocks noChangeArrowheads="1"/>
            </p:cNvSpPr>
            <p:nvPr/>
          </p:nvSpPr>
          <p:spPr bwMode="auto">
            <a:xfrm>
              <a:off x="3628403" y="4725144"/>
              <a:ext cx="637525" cy="41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089025" eaLnBrk="1" hangingPunct="1">
                <a:spcBef>
                  <a:spcPct val="0"/>
                </a:spcBef>
                <a:defRPr/>
              </a:pPr>
              <a:r>
                <a:rPr lang="zh-CN" altLang="en-US" sz="2100" kern="0" dirty="0">
                  <a:solidFill>
                    <a:srgbClr val="000000"/>
                  </a:solidFill>
                  <a:latin typeface="Arial" panose="020B0604020202020204" pitchFamily="34" charset="0"/>
                </a:rPr>
                <a:t>（𝑏）</a:t>
              </a:r>
              <a:endParaRPr lang="zh-CN" altLang="en-US" sz="2100" kern="0" dirty="0">
                <a:solidFill>
                  <a:srgbClr val="000000"/>
                </a:solidFill>
                <a:latin typeface="Arial" panose="020B0604020202020204" pitchFamily="34" charset="0"/>
              </a:endParaRPr>
            </a:p>
          </p:txBody>
        </p:sp>
        <p:cxnSp>
          <p:nvCxnSpPr>
            <p:cNvPr id="71" name="曲线连接符 58"/>
            <p:cNvCxnSpPr>
              <a:cxnSpLocks noChangeShapeType="1"/>
            </p:cNvCxnSpPr>
            <p:nvPr/>
          </p:nvCxnSpPr>
          <p:spPr bwMode="auto">
            <a:xfrm rot="5400000">
              <a:off x="7078626" y="3585316"/>
              <a:ext cx="43185" cy="1008112"/>
            </a:xfrm>
            <a:prstGeom prst="curvedConnector2">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2" name="曲线连接符 62"/>
            <p:cNvCxnSpPr>
              <a:cxnSpLocks noChangeShapeType="1"/>
            </p:cNvCxnSpPr>
            <p:nvPr/>
          </p:nvCxnSpPr>
          <p:spPr bwMode="auto">
            <a:xfrm rot="-5400000" flipH="1" flipV="1">
              <a:off x="7568270" y="3980858"/>
              <a:ext cx="122925" cy="50917"/>
            </a:xfrm>
            <a:prstGeom prst="curvedConnector5">
              <a:avLst>
                <a:gd name="adj1" fmla="val -81361"/>
                <a:gd name="adj2" fmla="val -684569"/>
                <a:gd name="adj3" fmla="val 204606"/>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3" name="曲线连接符 67"/>
            <p:cNvCxnSpPr>
              <a:cxnSpLocks noChangeShapeType="1"/>
            </p:cNvCxnSpPr>
            <p:nvPr/>
          </p:nvCxnSpPr>
          <p:spPr bwMode="auto">
            <a:xfrm rot="5400000" flipH="1">
              <a:off x="6488150" y="4041069"/>
              <a:ext cx="50917" cy="122925"/>
            </a:xfrm>
            <a:prstGeom prst="curvedConnector4">
              <a:avLst>
                <a:gd name="adj1" fmla="val -490389"/>
                <a:gd name="adj2" fmla="val 285968"/>
              </a:avLst>
            </a:prstGeom>
            <a:noFill/>
            <a:ln w="9525">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sp>
        <p:nvSpPr>
          <p:cNvPr id="74" name="矩形 73"/>
          <p:cNvSpPr/>
          <p:nvPr/>
        </p:nvSpPr>
        <p:spPr>
          <a:xfrm>
            <a:off x="566977" y="3886994"/>
            <a:ext cx="11103718" cy="1587287"/>
          </a:xfrm>
          <a:prstGeom prst="rect">
            <a:avLst/>
          </a:prstGeom>
        </p:spPr>
        <p:txBody>
          <a:bodyPr wrap="square" lIns="108896" tIns="54448" rIns="108896" bIns="54448">
            <a:spAutoFit/>
          </a:bodyPr>
          <a:lstStyle/>
          <a:p>
            <a:pPr eaLnBrk="1" hangingPunct="1"/>
            <a:r>
              <a:rPr lang="zh-CN" altLang="en-US" dirty="0">
                <a:latin typeface="Cambria Math" panose="02040503050406030204" pitchFamily="18" charset="0"/>
                <a:ea typeface="黑体" panose="02010609060101010101" pitchFamily="49" charset="-122"/>
              </a:rPr>
              <a:t>解</a:t>
            </a:r>
            <a:endParaRPr lang="en-US" altLang="zh-CN" dirty="0">
              <a:latin typeface="Cambria Math" panose="02040503050406030204" pitchFamily="18" charset="0"/>
              <a:ea typeface="黑体" panose="02010609060101010101" pitchFamily="49" charset="-122"/>
            </a:endParaRPr>
          </a:p>
          <a:p>
            <a:pPr eaLnBrk="1" hangingPunct="1"/>
            <a:r>
              <a:rPr lang="zh-CN" altLang="en-US" dirty="0">
                <a:latin typeface="Cambria Math" panose="02040503050406030204" pitchFamily="18" charset="0"/>
                <a:ea typeface="黑体" panose="02010609060101010101" pitchFamily="49" charset="-122"/>
              </a:rPr>
              <a:t>（𝑎）不是自反也不是反自反</a:t>
            </a:r>
            <a:r>
              <a:rPr lang="en-US" altLang="zh-CN" dirty="0">
                <a:latin typeface="Cambria Math" panose="02040503050406030204" pitchFamily="18" charset="0"/>
                <a:ea typeface="黑体" panose="02010609060101010101" pitchFamily="49" charset="-122"/>
              </a:rPr>
              <a:t>, </a:t>
            </a:r>
            <a:r>
              <a:rPr lang="zh-CN" altLang="en-US" dirty="0">
                <a:latin typeface="Cambria Math" panose="02040503050406030204" pitchFamily="18" charset="0"/>
                <a:ea typeface="黑体" panose="02010609060101010101" pitchFamily="49" charset="-122"/>
              </a:rPr>
              <a:t>对称但不是反对称</a:t>
            </a:r>
            <a:r>
              <a:rPr lang="en-US" altLang="zh-CN" dirty="0">
                <a:latin typeface="Cambria Math" panose="02040503050406030204" pitchFamily="18" charset="0"/>
                <a:ea typeface="黑体" panose="02010609060101010101" pitchFamily="49" charset="-122"/>
              </a:rPr>
              <a:t>, </a:t>
            </a:r>
            <a:r>
              <a:rPr lang="zh-CN" altLang="en-US" dirty="0">
                <a:latin typeface="Cambria Math" panose="02040503050406030204" pitchFamily="18" charset="0"/>
                <a:ea typeface="黑体" panose="02010609060101010101" pitchFamily="49" charset="-122"/>
              </a:rPr>
              <a:t>不是传递的。</a:t>
            </a:r>
            <a:endParaRPr lang="en-US" altLang="zh-CN" dirty="0">
              <a:latin typeface="Cambria Math" panose="02040503050406030204" pitchFamily="18" charset="0"/>
              <a:ea typeface="黑体" panose="02010609060101010101" pitchFamily="49" charset="-122"/>
            </a:endParaRPr>
          </a:p>
          <a:p>
            <a:pPr eaLnBrk="1" hangingPunct="1"/>
            <a:r>
              <a:rPr lang="zh-CN" altLang="en-US" dirty="0">
                <a:latin typeface="Cambria Math" panose="02040503050406030204" pitchFamily="18" charset="0"/>
                <a:ea typeface="黑体" panose="02010609060101010101" pitchFamily="49" charset="-122"/>
              </a:rPr>
              <a:t>（𝑏）不是自反但是反自反</a:t>
            </a:r>
            <a:r>
              <a:rPr lang="en-US" altLang="zh-CN" dirty="0">
                <a:latin typeface="Cambria Math" panose="02040503050406030204" pitchFamily="18" charset="0"/>
                <a:ea typeface="黑体" panose="02010609060101010101" pitchFamily="49" charset="-122"/>
              </a:rPr>
              <a:t>, </a:t>
            </a:r>
            <a:r>
              <a:rPr lang="zh-CN" altLang="en-US" dirty="0">
                <a:latin typeface="Cambria Math" panose="02040503050406030204" pitchFamily="18" charset="0"/>
                <a:ea typeface="黑体" panose="02010609060101010101" pitchFamily="49" charset="-122"/>
              </a:rPr>
              <a:t>不对称但是反对称</a:t>
            </a:r>
            <a:r>
              <a:rPr lang="en-US" altLang="zh-CN" dirty="0">
                <a:latin typeface="Cambria Math" panose="02040503050406030204" pitchFamily="18" charset="0"/>
                <a:ea typeface="黑体" panose="02010609060101010101" pitchFamily="49" charset="-122"/>
              </a:rPr>
              <a:t>, </a:t>
            </a:r>
            <a:r>
              <a:rPr lang="zh-CN" altLang="en-US" dirty="0">
                <a:latin typeface="Cambria Math" panose="02040503050406030204" pitchFamily="18" charset="0"/>
                <a:ea typeface="黑体" panose="02010609060101010101" pitchFamily="49" charset="-122"/>
              </a:rPr>
              <a:t>是传递的。</a:t>
            </a:r>
            <a:endParaRPr lang="zh-CN" altLang="en-US" dirty="0">
              <a:latin typeface="Cambria Math" panose="02040503050406030204" pitchFamily="18" charset="0"/>
              <a:ea typeface="黑体" panose="02010609060101010101" pitchFamily="49" charset="-122"/>
            </a:endParaRPr>
          </a:p>
          <a:p>
            <a:pPr eaLnBrk="1" hangingPunct="1"/>
            <a:r>
              <a:rPr lang="zh-CN" altLang="en-US" dirty="0">
                <a:latin typeface="Cambria Math" panose="02040503050406030204" pitchFamily="18" charset="0"/>
                <a:ea typeface="黑体" panose="02010609060101010101" pitchFamily="49" charset="-122"/>
              </a:rPr>
              <a:t>（𝑐）自反但不是反自反</a:t>
            </a:r>
            <a:r>
              <a:rPr lang="en-US" altLang="zh-CN" dirty="0">
                <a:latin typeface="Cambria Math" panose="02040503050406030204" pitchFamily="18" charset="0"/>
                <a:ea typeface="黑体" panose="02010609060101010101" pitchFamily="49" charset="-122"/>
              </a:rPr>
              <a:t>, </a:t>
            </a:r>
            <a:r>
              <a:rPr lang="zh-CN" altLang="en-US" dirty="0">
                <a:latin typeface="Cambria Math" panose="02040503050406030204" pitchFamily="18" charset="0"/>
                <a:ea typeface="黑体" panose="02010609060101010101" pitchFamily="49" charset="-122"/>
              </a:rPr>
              <a:t>不对称但是反对称</a:t>
            </a:r>
            <a:r>
              <a:rPr lang="en-US" altLang="zh-CN" dirty="0">
                <a:latin typeface="Cambria Math" panose="02040503050406030204" pitchFamily="18" charset="0"/>
                <a:ea typeface="黑体" panose="02010609060101010101" pitchFamily="49" charset="-122"/>
              </a:rPr>
              <a:t>, </a:t>
            </a:r>
            <a:r>
              <a:rPr lang="zh-CN" altLang="en-US" dirty="0">
                <a:latin typeface="Cambria Math" panose="02040503050406030204" pitchFamily="18" charset="0"/>
                <a:ea typeface="黑体" panose="02010609060101010101" pitchFamily="49" charset="-122"/>
              </a:rPr>
              <a:t>不是传递的。</a:t>
            </a:r>
            <a:endParaRPr lang="zh-CN" altLang="en-US" dirty="0">
              <a:latin typeface="Cambria Math" panose="020405030504060302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总</a:t>
            </a:r>
            <a:r>
              <a:rPr lang="zh-CN" altLang="en-US" dirty="0" smtClean="0"/>
              <a:t>结</a:t>
            </a:r>
            <a:r>
              <a:rPr lang="en-US" altLang="zh-CN" dirty="0" smtClean="0"/>
              <a:t>1</a:t>
            </a:r>
            <a:endParaRPr kumimoji="1" lang="zh-CN" altLang="en-US" dirty="0"/>
          </a:p>
        </p:txBody>
      </p:sp>
      <p:sp>
        <p:nvSpPr>
          <p:cNvPr id="5" name="内容占位符 4"/>
          <p:cNvSpPr>
            <a:spLocks noGrp="1"/>
          </p:cNvSpPr>
          <p:nvPr>
            <p:ph idx="1"/>
          </p:nvPr>
        </p:nvSpPr>
        <p:spPr/>
        <p:txBody>
          <a:bodyPr>
            <a:normAutofit/>
          </a:bodyPr>
          <a:lstStyle/>
          <a:p>
            <a:pPr marL="612775" indent="-612775">
              <a:lnSpc>
                <a:spcPct val="150000"/>
              </a:lnSpc>
              <a:buFont typeface="+mj-ea"/>
              <a:buAutoNum type="circleNumDbPlain"/>
            </a:pPr>
            <a:r>
              <a:rPr lang="zh-CN" altLang="en-US" sz="2800" dirty="0">
                <a:latin typeface="Cambria Math" panose="02040503050406030204" pitchFamily="18" charset="0"/>
              </a:rPr>
              <a:t>存在既不是</a:t>
            </a:r>
            <a:r>
              <a:rPr lang="zh-CN" altLang="en-US" sz="2800" dirty="0">
                <a:solidFill>
                  <a:srgbClr val="2929FF"/>
                </a:solidFill>
                <a:latin typeface="Cambria Math" panose="02040503050406030204" pitchFamily="18" charset="0"/>
              </a:rPr>
              <a:t>自反</a:t>
            </a:r>
            <a:r>
              <a:rPr lang="zh-CN" altLang="en-US" sz="2800" dirty="0">
                <a:latin typeface="Cambria Math" panose="02040503050406030204" pitchFamily="18" charset="0"/>
              </a:rPr>
              <a:t>的也不是</a:t>
            </a:r>
            <a:r>
              <a:rPr lang="zh-CN" altLang="en-US" sz="2800" dirty="0">
                <a:solidFill>
                  <a:srgbClr val="2929FF"/>
                </a:solidFill>
                <a:latin typeface="Cambria Math" panose="02040503050406030204" pitchFamily="18" charset="0"/>
              </a:rPr>
              <a:t>反自反</a:t>
            </a:r>
            <a:r>
              <a:rPr lang="zh-CN" altLang="en-US" sz="2800" dirty="0">
                <a:latin typeface="Cambria Math" panose="02040503050406030204" pitchFamily="18" charset="0"/>
              </a:rPr>
              <a:t>的关系；</a:t>
            </a:r>
            <a:endParaRPr lang="zh-CN" altLang="en-US" sz="2800" dirty="0">
              <a:latin typeface="Cambria Math" panose="02040503050406030204" pitchFamily="18" charset="0"/>
            </a:endParaRPr>
          </a:p>
          <a:p>
            <a:pPr marL="612775" indent="-612775">
              <a:lnSpc>
                <a:spcPct val="150000"/>
              </a:lnSpc>
              <a:buFont typeface="+mj-ea"/>
              <a:buAutoNum type="circleNumDbPlain"/>
            </a:pPr>
            <a:r>
              <a:rPr lang="zh-CN" altLang="en-US" sz="2800" dirty="0">
                <a:latin typeface="Cambria Math" panose="02040503050406030204" pitchFamily="18" charset="0"/>
              </a:rPr>
              <a:t>关系𝑅是</a:t>
            </a:r>
            <a:r>
              <a:rPr lang="zh-CN" altLang="en-US" sz="2800" dirty="0">
                <a:solidFill>
                  <a:schemeClr val="hlink"/>
                </a:solidFill>
                <a:latin typeface="Cambria Math" panose="02040503050406030204" pitchFamily="18" charset="0"/>
              </a:rPr>
              <a:t>自反</a:t>
            </a:r>
            <a:r>
              <a:rPr lang="zh-CN" altLang="en-US" sz="2800" dirty="0">
                <a:latin typeface="Cambria Math" panose="02040503050406030204" pitchFamily="18" charset="0"/>
              </a:rPr>
              <a:t>的</a:t>
            </a:r>
            <a:r>
              <a:rPr lang="en-US" altLang="zh-CN" sz="2800" dirty="0">
                <a:latin typeface="Cambria Math" panose="02040503050406030204" pitchFamily="18" charset="0"/>
                <a:sym typeface="Symbol" panose="05050102010706020507" pitchFamily="18" charset="2"/>
              </a:rPr>
              <a:t></a:t>
            </a:r>
            <a:r>
              <a:rPr lang="zh-CN" altLang="en-US" sz="2800" dirty="0">
                <a:latin typeface="Cambria Math" panose="02040503050406030204" pitchFamily="18" charset="0"/>
              </a:rPr>
              <a:t>关系图中每个结点都有</a:t>
            </a:r>
            <a:r>
              <a:rPr lang="zh-CN" altLang="en-US" sz="2800" dirty="0">
                <a:solidFill>
                  <a:schemeClr val="hlink"/>
                </a:solidFill>
                <a:latin typeface="Cambria Math" panose="02040503050406030204" pitchFamily="18" charset="0"/>
              </a:rPr>
              <a:t>自环</a:t>
            </a:r>
            <a:r>
              <a:rPr lang="en-US" altLang="zh-CN" sz="2800" dirty="0">
                <a:latin typeface="Cambria Math" panose="02040503050406030204" pitchFamily="18" charset="0"/>
                <a:sym typeface="Symbol" panose="05050102010706020507" pitchFamily="18" charset="2"/>
              </a:rPr>
              <a:t></a:t>
            </a:r>
            <a:r>
              <a:rPr lang="zh-CN" altLang="en-US" sz="2800" dirty="0">
                <a:latin typeface="Cambria Math" panose="02040503050406030204" pitchFamily="18" charset="0"/>
              </a:rPr>
              <a:t>关系矩阵的</a:t>
            </a:r>
            <a:r>
              <a:rPr lang="zh-CN" altLang="en-US" sz="2800" dirty="0">
                <a:solidFill>
                  <a:schemeClr val="hlink"/>
                </a:solidFill>
                <a:latin typeface="Cambria Math" panose="02040503050406030204" pitchFamily="18" charset="0"/>
              </a:rPr>
              <a:t>主对角线上全为1</a:t>
            </a:r>
            <a:r>
              <a:rPr lang="zh-CN" altLang="en-US" sz="2800" dirty="0">
                <a:latin typeface="Cambria Math" panose="02040503050406030204" pitchFamily="18" charset="0"/>
              </a:rPr>
              <a:t>；</a:t>
            </a:r>
            <a:r>
              <a:rPr lang="en-US" altLang="zh-CN" sz="2800" dirty="0">
                <a:latin typeface="Cambria Math" panose="02040503050406030204" pitchFamily="18" charset="0"/>
              </a:rPr>
              <a:t> </a:t>
            </a:r>
            <a:endParaRPr lang="en-US" altLang="zh-CN" sz="2800" dirty="0">
              <a:latin typeface="Cambria Math" panose="02040503050406030204" pitchFamily="18" charset="0"/>
            </a:endParaRPr>
          </a:p>
          <a:p>
            <a:pPr marL="612775" indent="-612775">
              <a:lnSpc>
                <a:spcPct val="150000"/>
              </a:lnSpc>
              <a:buFont typeface="+mj-ea"/>
              <a:buAutoNum type="circleNumDbPlain"/>
            </a:pPr>
            <a:r>
              <a:rPr lang="zh-CN" altLang="en-US" sz="2800" dirty="0">
                <a:latin typeface="Cambria Math" panose="02040503050406030204" pitchFamily="18" charset="0"/>
              </a:rPr>
              <a:t>关系𝑅是</a:t>
            </a:r>
            <a:r>
              <a:rPr lang="zh-CN" altLang="en-US" sz="2800" dirty="0">
                <a:solidFill>
                  <a:schemeClr val="hlink"/>
                </a:solidFill>
                <a:latin typeface="Cambria Math" panose="02040503050406030204" pitchFamily="18" charset="0"/>
              </a:rPr>
              <a:t>反自反</a:t>
            </a:r>
            <a:r>
              <a:rPr lang="zh-CN" altLang="en-US" sz="2800" dirty="0">
                <a:latin typeface="Cambria Math" panose="02040503050406030204" pitchFamily="18" charset="0"/>
              </a:rPr>
              <a:t>的</a:t>
            </a:r>
            <a:r>
              <a:rPr lang="en-US" altLang="zh-CN" sz="2800" dirty="0">
                <a:latin typeface="Cambria Math" panose="02040503050406030204" pitchFamily="18" charset="0"/>
                <a:sym typeface="Symbol" panose="05050102010706020507" pitchFamily="18" charset="2"/>
              </a:rPr>
              <a:t></a:t>
            </a:r>
            <a:r>
              <a:rPr lang="zh-CN" altLang="en-US" sz="2800" dirty="0">
                <a:latin typeface="Cambria Math" panose="02040503050406030204" pitchFamily="18" charset="0"/>
              </a:rPr>
              <a:t>关系图中每个结点都</a:t>
            </a:r>
            <a:r>
              <a:rPr lang="zh-CN" altLang="en-US" sz="2800" dirty="0">
                <a:solidFill>
                  <a:schemeClr val="hlink"/>
                </a:solidFill>
                <a:latin typeface="Cambria Math" panose="02040503050406030204" pitchFamily="18" charset="0"/>
              </a:rPr>
              <a:t>无自环</a:t>
            </a:r>
            <a:r>
              <a:rPr lang="en-US" altLang="zh-CN" sz="2800" dirty="0">
                <a:latin typeface="Cambria Math" panose="02040503050406030204" pitchFamily="18" charset="0"/>
                <a:sym typeface="Symbol" panose="05050102010706020507" pitchFamily="18" charset="2"/>
              </a:rPr>
              <a:t></a:t>
            </a:r>
            <a:r>
              <a:rPr lang="zh-CN" altLang="en-US" sz="2800" dirty="0">
                <a:latin typeface="Cambria Math" panose="02040503050406030204" pitchFamily="18" charset="0"/>
              </a:rPr>
              <a:t>关系矩阵的</a:t>
            </a:r>
            <a:r>
              <a:rPr lang="zh-CN" altLang="en-US" sz="2800" dirty="0">
                <a:solidFill>
                  <a:schemeClr val="hlink"/>
                </a:solidFill>
                <a:latin typeface="Cambria Math" panose="02040503050406030204" pitchFamily="18" charset="0"/>
              </a:rPr>
              <a:t>主对角线上全为0</a:t>
            </a:r>
            <a:r>
              <a:rPr lang="zh-CN" altLang="en-US" sz="2800" dirty="0">
                <a:latin typeface="Cambria Math" panose="02040503050406030204" pitchFamily="18" charset="0"/>
              </a:rPr>
              <a:t>。</a:t>
            </a:r>
            <a:endParaRPr lang="zh-CN" altLang="en-US" sz="2800" dirty="0">
              <a:latin typeface="Cambria Math" panose="02040503050406030204" pitchFamily="18" charset="0"/>
            </a:endParaRPr>
          </a:p>
        </p:txBody>
      </p:sp>
      <p:sp>
        <p:nvSpPr>
          <p:cNvPr id="3" name="幻灯片编号占位符 2"/>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总</a:t>
            </a:r>
            <a:r>
              <a:rPr lang="zh-CN" altLang="en-US" dirty="0" smtClean="0"/>
              <a:t>结</a:t>
            </a:r>
            <a:r>
              <a:rPr lang="en-US" altLang="zh-CN" dirty="0" smtClean="0"/>
              <a:t>2</a:t>
            </a:r>
            <a:endParaRPr kumimoji="1" lang="zh-CN" altLang="en-US" dirty="0"/>
          </a:p>
        </p:txBody>
      </p:sp>
      <p:sp>
        <p:nvSpPr>
          <p:cNvPr id="7" name="内容占位符 6"/>
          <p:cNvSpPr>
            <a:spLocks noGrp="1"/>
          </p:cNvSpPr>
          <p:nvPr>
            <p:ph idx="1"/>
          </p:nvPr>
        </p:nvSpPr>
        <p:spPr/>
        <p:txBody>
          <a:bodyPr>
            <a:normAutofit/>
          </a:bodyPr>
          <a:lstStyle/>
          <a:p>
            <a:pPr marL="612775" indent="-612775">
              <a:lnSpc>
                <a:spcPct val="130000"/>
              </a:lnSpc>
              <a:buFont typeface="+mj-ea"/>
              <a:buAutoNum type="circleNumDbPlain"/>
            </a:pPr>
            <a:r>
              <a:rPr lang="zh-CN" altLang="en-US" dirty="0">
                <a:latin typeface="黑体" panose="02010609060101010101" pitchFamily="49" charset="-122"/>
              </a:rPr>
              <a:t>存在既不是对称也不是反对称的关系；也存在</a:t>
            </a:r>
            <a:r>
              <a:rPr lang="zh-CN" altLang="en-US" dirty="0">
                <a:solidFill>
                  <a:srgbClr val="FF0000"/>
                </a:solidFill>
                <a:latin typeface="黑体" panose="02010609060101010101" pitchFamily="49" charset="-122"/>
              </a:rPr>
              <a:t>既是对称也是反对称的关系</a:t>
            </a:r>
            <a:r>
              <a:rPr lang="zh-CN" altLang="en-US" dirty="0">
                <a:latin typeface="黑体" panose="02010609060101010101" pitchFamily="49" charset="-122"/>
              </a:rPr>
              <a:t>。</a:t>
            </a:r>
            <a:endParaRPr lang="zh-CN" altLang="en-US" dirty="0">
              <a:latin typeface="黑体" panose="02010609060101010101" pitchFamily="49" charset="-122"/>
            </a:endParaRPr>
          </a:p>
          <a:p>
            <a:pPr marL="612775" indent="-612775">
              <a:lnSpc>
                <a:spcPct val="130000"/>
              </a:lnSpc>
              <a:buFont typeface="+mj-ea"/>
              <a:buAutoNum type="circleNumDbPlain"/>
            </a:pPr>
            <a:r>
              <a:rPr lang="zh-CN" altLang="en-US" dirty="0">
                <a:latin typeface="黑体" panose="02010609060101010101" pitchFamily="49" charset="-122"/>
              </a:rPr>
              <a:t>关系𝑅是</a:t>
            </a:r>
            <a:r>
              <a:rPr lang="zh-CN" altLang="en-US" dirty="0">
                <a:solidFill>
                  <a:schemeClr val="hlink"/>
                </a:solidFill>
                <a:latin typeface="黑体" panose="02010609060101010101" pitchFamily="49" charset="-122"/>
              </a:rPr>
              <a:t>对称</a:t>
            </a:r>
            <a:r>
              <a:rPr lang="zh-CN" altLang="en-US" dirty="0">
                <a:latin typeface="黑体" panose="02010609060101010101" pitchFamily="49" charset="-122"/>
              </a:rPr>
              <a:t>的</a:t>
            </a:r>
            <a:r>
              <a:rPr lang="en-US" altLang="zh-CN" dirty="0">
                <a:latin typeface="黑体" panose="02010609060101010101" pitchFamily="49" charset="-122"/>
                <a:sym typeface="Symbol" panose="05050102010706020507" pitchFamily="18" charset="2"/>
              </a:rPr>
              <a:t></a:t>
            </a:r>
            <a:r>
              <a:rPr lang="zh-CN" altLang="en-US" dirty="0">
                <a:latin typeface="黑体" panose="02010609060101010101" pitchFamily="49" charset="-122"/>
              </a:rPr>
              <a:t>关系图中任何一对结点之间</a:t>
            </a:r>
            <a:r>
              <a:rPr lang="en-US" altLang="zh-CN" dirty="0">
                <a:latin typeface="黑体" panose="02010609060101010101" pitchFamily="49" charset="-122"/>
              </a:rPr>
              <a:t>, </a:t>
            </a:r>
            <a:r>
              <a:rPr lang="zh-CN" altLang="en-US" dirty="0">
                <a:solidFill>
                  <a:srgbClr val="2929FF"/>
                </a:solidFill>
                <a:latin typeface="黑体" panose="02010609060101010101" pitchFamily="49" charset="-122"/>
              </a:rPr>
              <a:t>要么</a:t>
            </a:r>
            <a:r>
              <a:rPr lang="zh-CN" altLang="en-US" dirty="0">
                <a:latin typeface="黑体" panose="02010609060101010101" pitchFamily="49" charset="-122"/>
              </a:rPr>
              <a:t>有方向相反的两条边</a:t>
            </a:r>
            <a:r>
              <a:rPr lang="en-US" altLang="zh-CN" dirty="0">
                <a:latin typeface="黑体" panose="02010609060101010101" pitchFamily="49" charset="-122"/>
              </a:rPr>
              <a:t>, </a:t>
            </a:r>
            <a:r>
              <a:rPr lang="zh-CN" altLang="en-US" dirty="0">
                <a:solidFill>
                  <a:srgbClr val="2929FF"/>
                </a:solidFill>
                <a:latin typeface="黑体" panose="02010609060101010101" pitchFamily="49" charset="-122"/>
              </a:rPr>
              <a:t>要么</a:t>
            </a:r>
            <a:r>
              <a:rPr lang="zh-CN" altLang="en-US" dirty="0">
                <a:latin typeface="黑体" panose="02010609060101010101" pitchFamily="49" charset="-122"/>
              </a:rPr>
              <a:t>无任何边</a:t>
            </a:r>
            <a:r>
              <a:rPr lang="en-US" altLang="zh-CN" dirty="0">
                <a:latin typeface="黑体" panose="02010609060101010101" pitchFamily="49" charset="-122"/>
                <a:sym typeface="Symbol" panose="05050102010706020507" pitchFamily="18" charset="2"/>
              </a:rPr>
              <a:t></a:t>
            </a:r>
            <a:r>
              <a:rPr lang="en-US" altLang="zh-CN" dirty="0">
                <a:latin typeface="黑体" panose="02010609060101010101" pitchFamily="49" charset="-122"/>
              </a:rPr>
              <a:t>𝑅</a:t>
            </a:r>
            <a:r>
              <a:rPr lang="zh-CN" altLang="en-US" dirty="0">
                <a:latin typeface="黑体" panose="02010609060101010101" pitchFamily="49" charset="-122"/>
              </a:rPr>
              <a:t>的关系矩阵为</a:t>
            </a:r>
            <a:r>
              <a:rPr lang="zh-CN" altLang="en-US" dirty="0">
                <a:solidFill>
                  <a:schemeClr val="hlink"/>
                </a:solidFill>
                <a:latin typeface="黑体" panose="02010609060101010101" pitchFamily="49" charset="-122"/>
              </a:rPr>
              <a:t>对称矩阵</a:t>
            </a:r>
            <a:r>
              <a:rPr lang="zh-CN" altLang="en-US" dirty="0">
                <a:latin typeface="黑体" panose="02010609060101010101" pitchFamily="49" charset="-122"/>
              </a:rPr>
              <a:t>；</a:t>
            </a:r>
            <a:endParaRPr lang="en-US" altLang="zh-CN" dirty="0">
              <a:latin typeface="黑体" panose="02010609060101010101" pitchFamily="49" charset="-122"/>
            </a:endParaRPr>
          </a:p>
          <a:p>
            <a:pPr marL="612775" indent="-612775">
              <a:lnSpc>
                <a:spcPct val="130000"/>
              </a:lnSpc>
              <a:buFont typeface="+mj-ea"/>
              <a:buAutoNum type="circleNumDbPlain"/>
            </a:pPr>
            <a:r>
              <a:rPr lang="zh-CN" altLang="en-US" dirty="0">
                <a:latin typeface="黑体" panose="02010609060101010101" pitchFamily="49" charset="-122"/>
              </a:rPr>
              <a:t>关系𝑅是</a:t>
            </a:r>
            <a:r>
              <a:rPr lang="zh-CN" altLang="en-US" dirty="0">
                <a:solidFill>
                  <a:srgbClr val="2929FF"/>
                </a:solidFill>
                <a:latin typeface="黑体" panose="02010609060101010101" pitchFamily="49" charset="-122"/>
              </a:rPr>
              <a:t>反对称</a:t>
            </a:r>
            <a:r>
              <a:rPr lang="zh-CN" altLang="en-US" dirty="0">
                <a:latin typeface="黑体" panose="02010609060101010101" pitchFamily="49" charset="-122"/>
              </a:rPr>
              <a:t>的</a:t>
            </a:r>
            <a:r>
              <a:rPr lang="en-US" altLang="zh-CN" dirty="0">
                <a:latin typeface="黑体" panose="02010609060101010101" pitchFamily="49" charset="-122"/>
                <a:sym typeface="Symbol" panose="05050102010706020507" pitchFamily="18" charset="2"/>
              </a:rPr>
              <a:t></a:t>
            </a:r>
            <a:r>
              <a:rPr lang="zh-CN" altLang="en-US" dirty="0">
                <a:latin typeface="黑体" panose="02010609060101010101" pitchFamily="49" charset="-122"/>
              </a:rPr>
              <a:t>关系图中任何一对结点之间</a:t>
            </a:r>
            <a:r>
              <a:rPr lang="en-US" altLang="zh-CN" dirty="0">
                <a:latin typeface="黑体" panose="02010609060101010101" pitchFamily="49" charset="-122"/>
              </a:rPr>
              <a:t>, </a:t>
            </a:r>
            <a:r>
              <a:rPr lang="zh-CN" altLang="en-US" dirty="0">
                <a:solidFill>
                  <a:srgbClr val="2929FF"/>
                </a:solidFill>
                <a:latin typeface="黑体" panose="02010609060101010101" pitchFamily="49" charset="-122"/>
              </a:rPr>
              <a:t>至多</a:t>
            </a:r>
            <a:r>
              <a:rPr lang="zh-CN" altLang="en-US" dirty="0">
                <a:latin typeface="黑体" panose="02010609060101010101" pitchFamily="49" charset="-122"/>
              </a:rPr>
              <a:t>有一条边</a:t>
            </a:r>
            <a:r>
              <a:rPr lang="en-US" altLang="zh-CN" dirty="0">
                <a:latin typeface="黑体" panose="02010609060101010101" pitchFamily="49" charset="-122"/>
                <a:sym typeface="Symbol" panose="05050102010706020507" pitchFamily="18" charset="2"/>
              </a:rPr>
              <a:t></a:t>
            </a:r>
            <a:r>
              <a:rPr lang="en-US" altLang="zh-CN" dirty="0">
                <a:latin typeface="黑体" panose="02010609060101010101" pitchFamily="49" charset="-122"/>
              </a:rPr>
              <a:t>𝑅</a:t>
            </a:r>
            <a:r>
              <a:rPr lang="zh-CN" altLang="en-US" dirty="0">
                <a:latin typeface="黑体" panose="02010609060101010101" pitchFamily="49" charset="-122"/>
              </a:rPr>
              <a:t>的关系矩阵中关于主对角线对称位置上的元素不能同时为1。</a:t>
            </a:r>
            <a:endParaRPr kumimoji="1" lang="zh-CN" altLang="en-US" dirty="0"/>
          </a:p>
        </p:txBody>
      </p:sp>
      <p:sp>
        <p:nvSpPr>
          <p:cNvPr id="3" name="幻灯片编号占位符 2"/>
          <p:cNvSpPr>
            <a:spLocks noGrp="1"/>
          </p:cNvSpPr>
          <p:nvPr>
            <p:ph type="sldNum" sz="quarter" idx="4294967295"/>
          </p:nvPr>
        </p:nvSpPr>
        <p:spPr>
          <a:xfrm>
            <a:off x="11382512" y="6526855"/>
            <a:ext cx="815838" cy="332733"/>
          </a:xfrm>
          <a:prstGeom prst="rect">
            <a:avLst/>
          </a:prstGeom>
        </p:spPr>
        <p:txBody>
          <a:bodyPr lIns="108896" tIns="54448" rIns="108896" bIns="54448"/>
          <a:lstStyle/>
          <a:p>
            <a:pPr>
              <a:defRPr/>
            </a:pPr>
            <a:fld id="{F37ECD3A-A07E-F94E-BA38-E1841CA883D1}" type="slidenum">
              <a:rPr lang="en-US" altLang="zh-CN" smtClean="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4067" name="Rectangle 3"/>
          <p:cNvSpPr>
            <a:spLocks noGrp="1" noChangeArrowheads="1"/>
          </p:cNvSpPr>
          <p:nvPr>
            <p:ph type="body" idx="1"/>
          </p:nvPr>
        </p:nvSpPr>
        <p:spPr>
          <a:xfrm>
            <a:off x="307975" y="881615"/>
            <a:ext cx="11430000" cy="2577073"/>
          </a:xfrm>
        </p:spPr>
        <p:txBody>
          <a:bodyPr/>
          <a:lstStyle/>
          <a:p>
            <a:pPr marL="0" indent="0">
              <a:lnSpc>
                <a:spcPct val="150000"/>
              </a:lnSpc>
              <a:buNone/>
            </a:pPr>
            <a:r>
              <a:rPr lang="zh-CN" altLang="en-US" dirty="0">
                <a:solidFill>
                  <a:srgbClr val="C00000"/>
                </a:solidFill>
              </a:rPr>
              <a:t>例</a:t>
            </a:r>
            <a:r>
              <a:rPr lang="en-US" altLang="zh-CN" dirty="0">
                <a:solidFill>
                  <a:srgbClr val="C00000"/>
                </a:solidFill>
              </a:rPr>
              <a:t>4.36  </a:t>
            </a:r>
            <a:r>
              <a:rPr lang="zh-CN" altLang="en-US" dirty="0"/>
              <a:t>设</a:t>
            </a:r>
            <a:r>
              <a:rPr lang="en-US" altLang="zh-CN" dirty="0"/>
              <a:t>A={18:00</a:t>
            </a:r>
            <a:r>
              <a:rPr lang="zh-CN" altLang="en-US" dirty="0"/>
              <a:t>，</a:t>
            </a:r>
            <a:r>
              <a:rPr lang="en-US" altLang="zh-CN" dirty="0"/>
              <a:t>18:30</a:t>
            </a:r>
            <a:r>
              <a:rPr lang="zh-CN" altLang="en-US" dirty="0"/>
              <a:t>，</a:t>
            </a:r>
            <a:r>
              <a:rPr lang="en-US" altLang="zh-CN" dirty="0"/>
              <a:t>19:00,</a:t>
            </a:r>
            <a:r>
              <a:rPr lang="en-US" altLang="zh-CN" dirty="0">
                <a:latin typeface="宋体" panose="02010600030101010101" pitchFamily="2" charset="-122"/>
                <a:ea typeface="宋体" panose="02010600030101010101" pitchFamily="2" charset="-122"/>
              </a:rPr>
              <a:t>…</a:t>
            </a:r>
            <a:r>
              <a:rPr lang="en-US" altLang="zh-CN" dirty="0"/>
              <a:t>,21:30,22:00}</a:t>
            </a:r>
            <a:r>
              <a:rPr lang="zh-CN" altLang="en-US" dirty="0"/>
              <a:t> 表示从</a:t>
            </a:r>
            <a:r>
              <a:rPr lang="en-US" altLang="zh-CN" dirty="0"/>
              <a:t>18:00</a:t>
            </a:r>
            <a:r>
              <a:rPr lang="zh-CN" altLang="en-US" dirty="0"/>
              <a:t>到</a:t>
            </a:r>
            <a:r>
              <a:rPr lang="en-US" altLang="zh-CN" dirty="0"/>
              <a:t>22:00</a:t>
            </a:r>
            <a:r>
              <a:rPr lang="zh-CN" altLang="en-US" dirty="0"/>
              <a:t>的间隔半小时的时刻集，</a:t>
            </a:r>
            <a:r>
              <a:rPr lang="en-US" altLang="zh-CN" dirty="0"/>
              <a:t>B={1,2,5,8}</a:t>
            </a:r>
            <a:r>
              <a:rPr lang="zh-CN" altLang="en-US" dirty="0"/>
              <a:t> 表示中央电视台四个电视频道集，</a:t>
            </a:r>
            <a:r>
              <a:rPr lang="en-US" altLang="zh-CN" dirty="0"/>
              <a:t>R</a:t>
            </a:r>
            <a:r>
              <a:rPr lang="en-US" altLang="zh-CN" baseline="-25000" dirty="0"/>
              <a:t>1</a:t>
            </a:r>
            <a:r>
              <a:rPr lang="zh-CN" altLang="zh-CN" dirty="0"/>
              <a:t>和</a:t>
            </a:r>
            <a:r>
              <a:rPr lang="en-US" altLang="zh-CN" dirty="0"/>
              <a:t>R</a:t>
            </a:r>
            <a:r>
              <a:rPr lang="en-US" altLang="zh-CN" baseline="-25000" dirty="0"/>
              <a:t>2</a:t>
            </a:r>
            <a:r>
              <a:rPr lang="zh-CN" altLang="en-US" dirty="0"/>
              <a:t>是从</a:t>
            </a:r>
            <a:r>
              <a:rPr lang="en-US" altLang="zh-CN" dirty="0"/>
              <a:t>A</a:t>
            </a:r>
            <a:r>
              <a:rPr lang="zh-CN" altLang="en-US" dirty="0"/>
              <a:t>到</a:t>
            </a:r>
            <a:r>
              <a:rPr lang="en-US" altLang="zh-CN" dirty="0"/>
              <a:t>B</a:t>
            </a:r>
            <a:r>
              <a:rPr lang="zh-CN" altLang="en-US" dirty="0"/>
              <a:t>的两个二元关系，试解释二元关系</a:t>
            </a:r>
            <a:r>
              <a:rPr lang="en-US" altLang="zh-CN" dirty="0"/>
              <a:t>R</a:t>
            </a:r>
            <a:r>
              <a:rPr lang="en-US" altLang="zh-CN" baseline="-25000" dirty="0"/>
              <a:t>1</a:t>
            </a:r>
            <a:r>
              <a:rPr lang="zh-CN" altLang="en-US" dirty="0"/>
              <a:t>，</a:t>
            </a:r>
            <a:r>
              <a:rPr lang="en-US" altLang="zh-CN" dirty="0"/>
              <a:t>R</a:t>
            </a:r>
            <a:r>
              <a:rPr lang="en-US" altLang="zh-CN" baseline="-25000" dirty="0"/>
              <a:t>2</a:t>
            </a:r>
            <a:r>
              <a:rPr lang="zh-CN" altLang="en-US" dirty="0"/>
              <a:t>，</a:t>
            </a:r>
            <a:r>
              <a:rPr lang="en-US" altLang="zh-CN" dirty="0"/>
              <a:t> R</a:t>
            </a:r>
            <a:r>
              <a:rPr lang="en-US" altLang="zh-CN" baseline="-25000" dirty="0"/>
              <a:t>1 </a:t>
            </a:r>
            <a:r>
              <a:rPr lang="en-US" altLang="zh-CN" dirty="0"/>
              <a:t>∪ R</a:t>
            </a:r>
            <a:r>
              <a:rPr lang="en-US" altLang="zh-CN" baseline="-25000" dirty="0"/>
              <a:t>2 </a:t>
            </a:r>
            <a:r>
              <a:rPr lang="zh-CN" altLang="en-US" dirty="0"/>
              <a:t>，</a:t>
            </a:r>
            <a:r>
              <a:rPr lang="en-US" altLang="zh-CN" dirty="0"/>
              <a:t> R</a:t>
            </a:r>
            <a:r>
              <a:rPr lang="en-US" altLang="zh-CN" baseline="-25000" dirty="0"/>
              <a:t>1 </a:t>
            </a:r>
            <a:r>
              <a:rPr lang="en-US" altLang="zh-CN" dirty="0"/>
              <a:t>∩ R</a:t>
            </a:r>
            <a:r>
              <a:rPr lang="en-US" altLang="zh-CN" baseline="-25000" dirty="0"/>
              <a:t>2 </a:t>
            </a:r>
            <a:r>
              <a:rPr lang="zh-CN" altLang="en-US" dirty="0"/>
              <a:t>，</a:t>
            </a:r>
            <a:r>
              <a:rPr lang="en-US" altLang="zh-CN" dirty="0"/>
              <a:t> </a:t>
            </a:r>
            <a:r>
              <a:rPr lang="en-US" altLang="zh-CN" dirty="0">
                <a:solidFill>
                  <a:srgbClr val="FF0000"/>
                </a:solidFill>
              </a:rPr>
              <a:t>R</a:t>
            </a:r>
            <a:r>
              <a:rPr lang="en-US" altLang="zh-CN" baseline="-25000" dirty="0">
                <a:solidFill>
                  <a:srgbClr val="FF0000"/>
                </a:solidFill>
              </a:rPr>
              <a:t>1</a:t>
            </a:r>
            <a:r>
              <a:rPr lang="en-US" altLang="zh-CN" dirty="0">
                <a:solidFill>
                  <a:srgbClr val="FF0000"/>
                </a:solidFill>
              </a:rPr>
              <a:t>⊕R</a:t>
            </a:r>
            <a:r>
              <a:rPr lang="en-US" altLang="zh-CN" baseline="-25000" dirty="0">
                <a:solidFill>
                  <a:srgbClr val="FF0000"/>
                </a:solidFill>
              </a:rPr>
              <a:t>2</a:t>
            </a:r>
            <a:r>
              <a:rPr lang="zh-CN" altLang="en-US" dirty="0"/>
              <a:t>和</a:t>
            </a:r>
            <a:r>
              <a:rPr lang="en-US" altLang="zh-CN" dirty="0"/>
              <a:t>R</a:t>
            </a:r>
            <a:r>
              <a:rPr lang="en-US" altLang="zh-CN" baseline="-25000" dirty="0"/>
              <a:t>1</a:t>
            </a:r>
            <a:r>
              <a:rPr lang="en-US" altLang="zh-CN" dirty="0"/>
              <a:t>−R</a:t>
            </a:r>
            <a:r>
              <a:rPr lang="en-US" altLang="zh-CN" baseline="-25000" dirty="0"/>
              <a:t>2</a:t>
            </a:r>
            <a:r>
              <a:rPr lang="zh-CN" altLang="en-US" dirty="0"/>
              <a:t>的意义。</a:t>
            </a:r>
            <a:endParaRPr lang="zh-CN" altLang="en-US" dirty="0"/>
          </a:p>
        </p:txBody>
      </p:sp>
      <p:sp>
        <p:nvSpPr>
          <p:cNvPr id="7" name="Rectangle 2"/>
          <p:cNvSpPr>
            <a:spLocks noGrp="1" noChangeArrowheads="1"/>
          </p:cNvSpPr>
          <p:nvPr>
            <p:ph type="title"/>
          </p:nvPr>
        </p:nvSpPr>
        <p:spPr>
          <a:xfrm>
            <a:off x="836717" y="295691"/>
            <a:ext cx="10758267" cy="585924"/>
          </a:xfrm>
        </p:spPr>
        <p:txBody>
          <a:bodyPr/>
          <a:lstStyle/>
          <a:p>
            <a:r>
              <a:rPr lang="zh-CN" altLang="en-US" dirty="0"/>
              <a:t>二元关系应用题例</a:t>
            </a:r>
            <a:endParaRPr lang="zh-CN" altLang="en-US" dirty="0"/>
          </a:p>
        </p:txBody>
      </p:sp>
      <p:sp>
        <p:nvSpPr>
          <p:cNvPr id="17" name="Rectangle 3"/>
          <p:cNvSpPr txBox="1">
            <a:spLocks noChangeArrowheads="1"/>
          </p:cNvSpPr>
          <p:nvPr/>
        </p:nvSpPr>
        <p:spPr>
          <a:xfrm>
            <a:off x="313733" y="3201194"/>
            <a:ext cx="11506200" cy="3832453"/>
          </a:xfrm>
          <a:prstGeom prst="rect">
            <a:avLst/>
          </a:prstGeom>
        </p:spPr>
        <p:txBody>
          <a:bodyPr vert="horz" lIns="121917" tIns="60958" rIns="121917" bIns="60958" rtlCol="0">
            <a:normAutofit lnSpcReduction="10000"/>
          </a:bodyPr>
          <a:lstStyle>
            <a:lvl1pPr marL="457200" indent="-457200" algn="l" defTabSz="1219835" rtl="0" eaLnBrk="1" latinLnBrk="0" hangingPunct="1">
              <a:lnSpc>
                <a:spcPct val="12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None/>
            </a:pPr>
            <a:r>
              <a:rPr lang="zh-CN" altLang="zh-CN" dirty="0">
                <a:solidFill>
                  <a:srgbClr val="C00000"/>
                </a:solidFill>
              </a:rPr>
              <a:t>解 </a:t>
            </a:r>
            <a:r>
              <a:rPr lang="zh-CN" altLang="zh-CN" dirty="0"/>
              <a:t> </a:t>
            </a:r>
            <a:r>
              <a:rPr lang="zh-CN" altLang="en-US" dirty="0"/>
              <a:t> </a:t>
            </a:r>
            <a:r>
              <a:rPr lang="en-US" altLang="zh-CN" dirty="0"/>
              <a:t>A×B</a:t>
            </a:r>
            <a:r>
              <a:rPr lang="zh-CN" altLang="en-US" dirty="0"/>
              <a:t>表示在晚上九个时刻和四个电视频道所组成的电视节目表，</a:t>
            </a:r>
            <a:r>
              <a:rPr lang="en-US" altLang="zh-CN" dirty="0"/>
              <a:t> R</a:t>
            </a:r>
            <a:r>
              <a:rPr lang="en-US" altLang="zh-CN" baseline="-25000" dirty="0"/>
              <a:t>1</a:t>
            </a:r>
            <a:r>
              <a:rPr lang="zh-CN" altLang="zh-CN" dirty="0"/>
              <a:t>和</a:t>
            </a:r>
            <a:r>
              <a:rPr lang="en-US" altLang="zh-CN" dirty="0"/>
              <a:t>R</a:t>
            </a:r>
            <a:r>
              <a:rPr lang="en-US" altLang="zh-CN" baseline="-25000" dirty="0"/>
              <a:t>2</a:t>
            </a:r>
            <a:r>
              <a:rPr lang="zh-CN" altLang="en-US" dirty="0"/>
              <a:t>分别是 </a:t>
            </a:r>
            <a:r>
              <a:rPr lang="en-US" altLang="zh-CN" dirty="0"/>
              <a:t>A×B</a:t>
            </a:r>
            <a:r>
              <a:rPr lang="zh-CN" altLang="en-US" dirty="0"/>
              <a:t>的两个子集。</a:t>
            </a:r>
            <a:endParaRPr lang="en-US" altLang="zh-CN" dirty="0"/>
          </a:p>
          <a:p>
            <a:pPr marL="0" indent="0">
              <a:lnSpc>
                <a:spcPct val="150000"/>
              </a:lnSpc>
              <a:buNone/>
            </a:pPr>
            <a:r>
              <a:rPr lang="en-US" altLang="zh-CN" dirty="0"/>
              <a:t>      </a:t>
            </a:r>
            <a:r>
              <a:rPr lang="zh-CN" altLang="en-US" dirty="0"/>
              <a:t>如果</a:t>
            </a:r>
            <a:r>
              <a:rPr lang="en-US" altLang="zh-CN" dirty="0"/>
              <a:t>R</a:t>
            </a:r>
            <a:r>
              <a:rPr lang="en-US" altLang="zh-CN" baseline="-25000" dirty="0"/>
              <a:t>1</a:t>
            </a:r>
            <a:r>
              <a:rPr lang="zh-CN" altLang="en-US" dirty="0"/>
              <a:t>表示音乐节目播出的时间表，</a:t>
            </a:r>
            <a:r>
              <a:rPr lang="en-US" altLang="zh-CN" dirty="0"/>
              <a:t> R</a:t>
            </a:r>
            <a:r>
              <a:rPr lang="en-US" altLang="zh-CN" baseline="-25000" dirty="0"/>
              <a:t>2</a:t>
            </a:r>
            <a:r>
              <a:rPr lang="zh-CN" altLang="en-US" dirty="0"/>
              <a:t>表示戏曲节目的播出时间表，则</a:t>
            </a:r>
            <a:endParaRPr lang="en-US" altLang="zh-CN" dirty="0"/>
          </a:p>
          <a:p>
            <a:pPr marL="0" indent="0">
              <a:lnSpc>
                <a:spcPct val="150000"/>
              </a:lnSpc>
              <a:buNone/>
            </a:pPr>
            <a:r>
              <a:rPr lang="en-US" altLang="zh-CN" dirty="0"/>
              <a:t>      R</a:t>
            </a:r>
            <a:r>
              <a:rPr lang="en-US" altLang="zh-CN" baseline="-25000" dirty="0"/>
              <a:t>1 </a:t>
            </a:r>
            <a:r>
              <a:rPr lang="en-US" altLang="zh-CN" dirty="0"/>
              <a:t>∪ R</a:t>
            </a:r>
            <a:r>
              <a:rPr lang="en-US" altLang="zh-CN" baseline="-25000" dirty="0"/>
              <a:t>2</a:t>
            </a:r>
            <a:r>
              <a:rPr lang="zh-CN" altLang="en-US" dirty="0"/>
              <a:t>表示音乐或戏曲节目的播出时间表；</a:t>
            </a:r>
            <a:r>
              <a:rPr lang="en-US" altLang="zh-CN" dirty="0"/>
              <a:t> </a:t>
            </a:r>
            <a:endParaRPr lang="en-US" altLang="zh-CN" dirty="0"/>
          </a:p>
          <a:p>
            <a:pPr marL="0" indent="0">
              <a:lnSpc>
                <a:spcPct val="150000"/>
              </a:lnSpc>
              <a:buNone/>
            </a:pPr>
            <a:r>
              <a:rPr lang="en-US" altLang="zh-CN" dirty="0"/>
              <a:t>      R</a:t>
            </a:r>
            <a:r>
              <a:rPr lang="en-US" altLang="zh-CN" baseline="-25000" dirty="0"/>
              <a:t>1 </a:t>
            </a:r>
            <a:r>
              <a:rPr lang="en-US" altLang="zh-CN" dirty="0"/>
              <a:t>∩ R</a:t>
            </a:r>
            <a:r>
              <a:rPr lang="en-US" altLang="zh-CN" baseline="-25000" dirty="0"/>
              <a:t>2</a:t>
            </a:r>
            <a:r>
              <a:rPr lang="zh-CN" altLang="en-US" dirty="0"/>
              <a:t>表示音乐和戏曲一起播出的时间表；</a:t>
            </a:r>
            <a:r>
              <a:rPr lang="en-US" altLang="zh-CN" dirty="0"/>
              <a:t> </a:t>
            </a:r>
            <a:endParaRPr lang="en-US" altLang="zh-CN" dirty="0"/>
          </a:p>
          <a:p>
            <a:pPr marL="0" indent="0">
              <a:lnSpc>
                <a:spcPct val="150000"/>
              </a:lnSpc>
              <a:buNone/>
            </a:pPr>
            <a:r>
              <a:rPr lang="en-US" altLang="zh-CN" dirty="0"/>
              <a:t>      </a:t>
            </a:r>
            <a:r>
              <a:rPr lang="en-US" altLang="zh-CN" dirty="0">
                <a:solidFill>
                  <a:srgbClr val="FF0000"/>
                </a:solidFill>
              </a:rPr>
              <a:t>R</a:t>
            </a:r>
            <a:r>
              <a:rPr lang="en-US" altLang="zh-CN" baseline="-25000" dirty="0">
                <a:solidFill>
                  <a:srgbClr val="FF0000"/>
                </a:solidFill>
              </a:rPr>
              <a:t>1</a:t>
            </a:r>
            <a:r>
              <a:rPr lang="en-US" altLang="zh-CN" dirty="0">
                <a:solidFill>
                  <a:srgbClr val="FF0000"/>
                </a:solidFill>
              </a:rPr>
              <a:t>⊕R</a:t>
            </a:r>
            <a:r>
              <a:rPr lang="en-US" altLang="zh-CN" baseline="-25000" dirty="0">
                <a:solidFill>
                  <a:srgbClr val="FF0000"/>
                </a:solidFill>
              </a:rPr>
              <a:t>2</a:t>
            </a:r>
            <a:r>
              <a:rPr lang="zh-CN" altLang="en-US" dirty="0"/>
              <a:t>表示音乐节目表以及戏曲节目表，但不是音乐和戏曲一起的节目表；</a:t>
            </a:r>
            <a:endParaRPr lang="en-US" altLang="zh-CN" dirty="0"/>
          </a:p>
          <a:p>
            <a:pPr marL="0" indent="0">
              <a:lnSpc>
                <a:spcPct val="150000"/>
              </a:lnSpc>
              <a:buNone/>
            </a:pPr>
            <a:r>
              <a:rPr lang="en-US" altLang="zh-CN" dirty="0"/>
              <a:t>      R</a:t>
            </a:r>
            <a:r>
              <a:rPr lang="en-US" altLang="zh-CN" baseline="-25000" dirty="0"/>
              <a:t>1</a:t>
            </a:r>
            <a:r>
              <a:rPr lang="en-US" altLang="zh-CN" dirty="0"/>
              <a:t>−R</a:t>
            </a:r>
            <a:r>
              <a:rPr lang="en-US" altLang="zh-CN" baseline="-25000" dirty="0"/>
              <a:t>2</a:t>
            </a:r>
            <a:r>
              <a:rPr lang="zh-CN" altLang="en-US" dirty="0"/>
              <a:t>表示不是戏曲时间的音乐节目时间表。</a:t>
            </a:r>
            <a:endParaRPr lang="zh-CN" altLang="en-US"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500" fill="hold"/>
                                        <p:tgtEl>
                                          <p:spTgt spid="1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additive="base">
                                        <p:cTn id="19" dur="500" fill="hold"/>
                                        <p:tgtEl>
                                          <p:spTgt spid="1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
                                            <p:txEl>
                                              <p:pRg st="3" end="3"/>
                                            </p:txEl>
                                          </p:spTgt>
                                        </p:tgtEl>
                                        <p:attrNameLst>
                                          <p:attrName>style.visibility</p:attrName>
                                        </p:attrNameLst>
                                      </p:cBhvr>
                                      <p:to>
                                        <p:strVal val="visible"/>
                                      </p:to>
                                    </p:set>
                                    <p:anim calcmode="lin" valueType="num">
                                      <p:cBhvr additive="base">
                                        <p:cTn id="25" dur="500" fill="hold"/>
                                        <p:tgtEl>
                                          <p:spTgt spid="1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
                                            <p:txEl>
                                              <p:pRg st="4" end="4"/>
                                            </p:txEl>
                                          </p:spTgt>
                                        </p:tgtEl>
                                        <p:attrNameLst>
                                          <p:attrName>style.visibility</p:attrName>
                                        </p:attrNameLst>
                                      </p:cBhvr>
                                      <p:to>
                                        <p:strVal val="visible"/>
                                      </p:to>
                                    </p:set>
                                    <p:anim calcmode="lin" valueType="num">
                                      <p:cBhvr additive="base">
                                        <p:cTn id="31" dur="500" fill="hold"/>
                                        <p:tgtEl>
                                          <p:spTgt spid="1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7">
                                            <p:txEl>
                                              <p:pRg st="5" end="5"/>
                                            </p:txEl>
                                          </p:spTgt>
                                        </p:tgtEl>
                                        <p:attrNameLst>
                                          <p:attrName>style.visibility</p:attrName>
                                        </p:attrNameLst>
                                      </p:cBhvr>
                                      <p:to>
                                        <p:strVal val="visible"/>
                                      </p:to>
                                    </p:set>
                                    <p:anim calcmode="lin" valueType="num">
                                      <p:cBhvr additive="base">
                                        <p:cTn id="37" dur="500" fill="hold"/>
                                        <p:tgtEl>
                                          <p:spTgt spid="1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dvAuto="0" autoUpdateAnimBg="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96773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5337175" y="5568101"/>
            <a:ext cx="4913633" cy="531216"/>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TextBox 1"/>
          <p:cNvSpPr txBox="1"/>
          <p:nvPr/>
        </p:nvSpPr>
        <p:spPr>
          <a:xfrm>
            <a:off x="6593209" y="2157134"/>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学习要求</a:t>
            </a:r>
            <a:endParaRPr lang="zh-CN" altLang="en-US" b="1" dirty="0">
              <a:latin typeface="Microsoft YaHei UI" panose="020B0503020204020204" pitchFamily="18" charset="-122"/>
              <a:cs typeface="Microsoft YaHei UI" panose="020B0503020204020204" pitchFamily="18" charset="-122"/>
            </a:endParaRPr>
          </a:p>
        </p:txBody>
      </p:sp>
      <p:sp>
        <p:nvSpPr>
          <p:cNvPr id="18" name="TextBox 1"/>
          <p:cNvSpPr txBox="1"/>
          <p:nvPr/>
        </p:nvSpPr>
        <p:spPr>
          <a:xfrm>
            <a:off x="6593209" y="1511365"/>
            <a:ext cx="1231106"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历史人物</a:t>
            </a:r>
            <a:endParaRPr lang="zh-CN" altLang="en-US" b="1" dirty="0">
              <a:latin typeface="Microsoft YaHei UI" panose="020B0503020204020204" pitchFamily="18" charset="-122"/>
              <a:cs typeface="Microsoft YaHei UI" panose="020B0503020204020204" pitchFamily="18" charset="-122"/>
            </a:endParaRPr>
          </a:p>
        </p:txBody>
      </p:sp>
      <p:sp>
        <p:nvSpPr>
          <p:cNvPr id="47" name="TextBox 1"/>
          <p:cNvSpPr txBox="1"/>
          <p:nvPr/>
        </p:nvSpPr>
        <p:spPr>
          <a:xfrm>
            <a:off x="6593209" y="2752443"/>
            <a:ext cx="246221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二元关系及其表示</a:t>
            </a:r>
            <a:endParaRPr lang="zh-CN" altLang="en-US" b="1" dirty="0">
              <a:latin typeface="Microsoft YaHei UI" panose="020B0503020204020204" pitchFamily="18" charset="-122"/>
              <a:cs typeface="Microsoft YaHei UI" panose="020B0503020204020204" pitchFamily="18" charset="-122"/>
            </a:endParaRPr>
          </a:p>
        </p:txBody>
      </p:sp>
      <p:sp>
        <p:nvSpPr>
          <p:cNvPr id="48" name="TextBox 1"/>
          <p:cNvSpPr txBox="1"/>
          <p:nvPr/>
        </p:nvSpPr>
        <p:spPr>
          <a:xfrm>
            <a:off x="6593209" y="3308445"/>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关系的运算</a:t>
            </a:r>
            <a:endParaRPr lang="zh-CN" altLang="en-US" b="1" dirty="0">
              <a:latin typeface="Microsoft YaHei UI" panose="020B0503020204020204" pitchFamily="18" charset="-122"/>
              <a:cs typeface="Microsoft YaHei UI" panose="020B0503020204020204" pitchFamily="18" charset="-122"/>
            </a:endParaRPr>
          </a:p>
        </p:txBody>
      </p:sp>
      <p:sp>
        <p:nvSpPr>
          <p:cNvPr id="51" name="Freeform 3"/>
          <p:cNvSpPr/>
          <p:nvPr/>
        </p:nvSpPr>
        <p:spPr>
          <a:xfrm>
            <a:off x="6274895" y="1139593"/>
            <a:ext cx="45719" cy="488100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52" name="Freeform 3"/>
          <p:cNvSpPr/>
          <p:nvPr/>
        </p:nvSpPr>
        <p:spPr>
          <a:xfrm>
            <a:off x="6212209" y="155241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B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7" name="Freeform 3"/>
          <p:cNvSpPr/>
          <p:nvPr/>
        </p:nvSpPr>
        <p:spPr>
          <a:xfrm>
            <a:off x="6212209" y="220793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3" name="Freeform 3"/>
          <p:cNvSpPr/>
          <p:nvPr/>
        </p:nvSpPr>
        <p:spPr>
          <a:xfrm>
            <a:off x="6212209" y="279893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4" name="Freeform 3"/>
          <p:cNvSpPr/>
          <p:nvPr/>
        </p:nvSpPr>
        <p:spPr>
          <a:xfrm>
            <a:off x="6212209" y="3380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6" name="TextBox 1"/>
          <p:cNvSpPr txBox="1"/>
          <p:nvPr/>
        </p:nvSpPr>
        <p:spPr>
          <a:xfrm>
            <a:off x="5627742" y="1516771"/>
            <a:ext cx="426399" cy="369353"/>
          </a:xfrm>
          <a:prstGeom prst="rect">
            <a:avLst/>
          </a:prstGeom>
          <a:noFill/>
          <a:ln>
            <a:noFill/>
          </a:ln>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1</a:t>
            </a:r>
            <a:endParaRPr lang="zh-CN" altLang="en-US" b="1" dirty="0">
              <a:solidFill>
                <a:schemeClr val="bg1"/>
              </a:solidFill>
              <a:latin typeface="+mj-lt"/>
              <a:cs typeface="Microsoft YaHei UI" panose="020B0503020204020204" pitchFamily="18" charset="-122"/>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a:lnSpc>
                <a:spcPts val="6935"/>
              </a:lnSpc>
            </a:pPr>
            <a:r>
              <a:rPr lang="zh-CN" altLang="en-US" sz="3600" b="1" dirty="0">
                <a:solidFill>
                  <a:srgbClr val="4197DF"/>
                </a:solidFill>
                <a:latin typeface="Microsoft YaHei UI" panose="020B0503020204020204" pitchFamily="18" charset="-122"/>
                <a:cs typeface="Microsoft YaHei UI" panose="020B0503020204020204" pitchFamily="18" charset="-122"/>
              </a:rPr>
              <a:t>内容导航</a:t>
            </a:r>
            <a:endParaRPr lang="en-US" altLang="zh-CN" sz="3600" b="1" dirty="0">
              <a:solidFill>
                <a:srgbClr val="4197DF"/>
              </a:solidFill>
              <a:latin typeface="Microsoft YaHei UI" panose="020B0503020204020204" pitchFamily="18" charset="-122"/>
              <a:cs typeface="Microsoft YaHei UI" panose="020B0503020204020204" pitchFamily="18" charset="-122"/>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0"/>
              </a:lnSpc>
            </a:pPr>
            <a:r>
              <a:rPr lang="en-US" altLang="zh-CN" sz="1900" b="1" dirty="0">
                <a:solidFill>
                  <a:srgbClr val="4197DF"/>
                </a:solidFill>
                <a:latin typeface="Times New Roman" panose="02020603050405020304" pitchFamily="18" charset="0"/>
                <a:cs typeface="Times New Roman" panose="02020603050405020304" pitchFamily="18" charset="0"/>
              </a:rPr>
              <a:t>CONTENTS</a:t>
            </a:r>
            <a:endParaRPr lang="en-US" altLang="zh-CN" sz="1900" b="1" dirty="0">
              <a:solidFill>
                <a:srgbClr val="4197DF"/>
              </a:solidFill>
              <a:latin typeface="Times New Roman" panose="02020603050405020304" pitchFamily="18" charset="0"/>
              <a:cs typeface="Times New Roman" panose="02020603050405020304" pitchFamily="18" charset="0"/>
            </a:endParaRP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1"/>
          <p:cNvSpPr txBox="1"/>
          <p:nvPr/>
        </p:nvSpPr>
        <p:spPr>
          <a:xfrm>
            <a:off x="6593209" y="3949041"/>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关系的性质</a:t>
            </a:r>
            <a:endParaRPr lang="zh-CN" altLang="en-US" b="1" dirty="0">
              <a:latin typeface="Microsoft YaHei UI" panose="020B0503020204020204" pitchFamily="18" charset="-122"/>
              <a:cs typeface="Microsoft YaHei UI" panose="020B0503020204020204" pitchFamily="18" charset="-122"/>
            </a:endParaRPr>
          </a:p>
        </p:txBody>
      </p:sp>
      <p:sp>
        <p:nvSpPr>
          <p:cNvPr id="39" name="TextBox 1"/>
          <p:cNvSpPr txBox="1"/>
          <p:nvPr/>
        </p:nvSpPr>
        <p:spPr>
          <a:xfrm>
            <a:off x="6580509" y="4564237"/>
            <a:ext cx="1538883" cy="369353"/>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关系的闭包</a:t>
            </a:r>
            <a:endParaRPr lang="zh-CN" altLang="en-US" b="1" dirty="0">
              <a:latin typeface="Microsoft YaHei UI" panose="020B0503020204020204" pitchFamily="18" charset="-122"/>
              <a:cs typeface="Microsoft YaHei UI" panose="020B0503020204020204" pitchFamily="18" charset="-122"/>
            </a:endParaRPr>
          </a:p>
        </p:txBody>
      </p:sp>
      <p:sp>
        <p:nvSpPr>
          <p:cNvPr id="40" name="Freeform 3"/>
          <p:cNvSpPr/>
          <p:nvPr/>
        </p:nvSpPr>
        <p:spPr>
          <a:xfrm>
            <a:off x="6212209" y="40248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41" name="Freeform 3"/>
          <p:cNvSpPr/>
          <p:nvPr/>
        </p:nvSpPr>
        <p:spPr>
          <a:xfrm>
            <a:off x="6212209" y="4607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2" name="TextBox 1"/>
          <p:cNvSpPr txBox="1"/>
          <p:nvPr/>
        </p:nvSpPr>
        <p:spPr>
          <a:xfrm>
            <a:off x="5627742" y="2760837"/>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4.1</a:t>
            </a:r>
            <a:endParaRPr lang="en-US" altLang="zh-CN" b="1" dirty="0">
              <a:latin typeface="Microsoft YaHei UI" panose="020B0503020204020204" pitchFamily="18" charset="-122"/>
              <a:cs typeface="Microsoft YaHei UI" panose="020B0503020204020204" pitchFamily="18" charset="-122"/>
            </a:endParaRPr>
          </a:p>
        </p:txBody>
      </p:sp>
      <p:sp>
        <p:nvSpPr>
          <p:cNvPr id="43" name="TextBox 1"/>
          <p:cNvSpPr txBox="1"/>
          <p:nvPr/>
        </p:nvSpPr>
        <p:spPr>
          <a:xfrm>
            <a:off x="5627742" y="3319637"/>
            <a:ext cx="533800"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4</a:t>
            </a:r>
            <a:r>
              <a:rPr lang="en-US" altLang="zh-CN" b="1" dirty="0">
                <a:latin typeface="Microsoft YaHei UI" panose="020B0503020204020204" pitchFamily="18" charset="-122"/>
                <a:cs typeface="Microsoft YaHei UI" panose="020B0503020204020204" pitchFamily="18" charset="-122"/>
              </a:rPr>
              <a:t>.2</a:t>
            </a:r>
            <a:endParaRPr lang="en-US" altLang="zh-CN" b="1" dirty="0">
              <a:latin typeface="Microsoft YaHei UI" panose="020B0503020204020204" pitchFamily="18" charset="-122"/>
              <a:cs typeface="Microsoft YaHei UI" panose="020B0503020204020204" pitchFamily="18" charset="-122"/>
            </a:endParaRPr>
          </a:p>
        </p:txBody>
      </p:sp>
      <p:sp>
        <p:nvSpPr>
          <p:cNvPr id="44" name="TextBox 1"/>
          <p:cNvSpPr txBox="1"/>
          <p:nvPr/>
        </p:nvSpPr>
        <p:spPr>
          <a:xfrm>
            <a:off x="5627742" y="3974021"/>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4.3</a:t>
            </a:r>
            <a:endParaRPr lang="en-US" altLang="zh-CN" b="1" dirty="0">
              <a:latin typeface="Microsoft YaHei UI" panose="020B0503020204020204" pitchFamily="18" charset="-122"/>
              <a:cs typeface="Microsoft YaHei UI" panose="020B0503020204020204" pitchFamily="18" charset="-122"/>
            </a:endParaRPr>
          </a:p>
        </p:txBody>
      </p:sp>
      <p:sp>
        <p:nvSpPr>
          <p:cNvPr id="45" name="TextBox 1"/>
          <p:cNvSpPr txBox="1"/>
          <p:nvPr/>
        </p:nvSpPr>
        <p:spPr>
          <a:xfrm>
            <a:off x="5627742" y="4577605"/>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4.4</a:t>
            </a:r>
            <a:endParaRPr lang="en-US" altLang="zh-CN" b="1" dirty="0">
              <a:latin typeface="Microsoft YaHei UI" panose="020B0503020204020204" pitchFamily="18" charset="-122"/>
              <a:cs typeface="Microsoft YaHei UI" panose="020B0503020204020204" pitchFamily="18" charset="-122"/>
            </a:endParaRPr>
          </a:p>
        </p:txBody>
      </p:sp>
      <p:sp>
        <p:nvSpPr>
          <p:cNvPr id="77" name="等腰三角形 76"/>
          <p:cNvSpPr/>
          <p:nvPr/>
        </p:nvSpPr>
        <p:spPr>
          <a:xfrm>
            <a:off x="5770064" y="1474713"/>
            <a:ext cx="304800" cy="267093"/>
          </a:xfrm>
          <a:prstGeom prst="triangle">
            <a:avLst/>
          </a:prstGeom>
          <a:solidFill>
            <a:srgbClr val="FDB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5749341" y="213907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TextBox 1"/>
          <p:cNvSpPr txBox="1"/>
          <p:nvPr/>
        </p:nvSpPr>
        <p:spPr>
          <a:xfrm>
            <a:off x="6598153" y="5140151"/>
            <a:ext cx="2133600" cy="368300"/>
          </a:xfrm>
          <a:prstGeom prst="rect">
            <a:avLst/>
          </a:prstGeom>
          <a:noFill/>
        </p:spPr>
        <p:txBody>
          <a:bodyPr wrap="none" lIns="0" tIns="0" rIns="0" bIns="60981" rtlCol="0">
            <a:spAutoFit/>
          </a:bodyPr>
          <a:lstStyle/>
          <a:p>
            <a:pPr>
              <a:lnSpc>
                <a:spcPts val="2400"/>
              </a:lnSpc>
            </a:pPr>
            <a:r>
              <a:rPr lang="zh-CN" altLang="en-US" b="1" dirty="0">
                <a:latin typeface="Microsoft YaHei UI" panose="020B0503020204020204" pitchFamily="18" charset="-122"/>
                <a:cs typeface="Microsoft YaHei UI" panose="020B0503020204020204" pitchFamily="18" charset="-122"/>
              </a:rPr>
              <a:t>等价与偏序关系</a:t>
            </a:r>
            <a:endParaRPr lang="zh-CN" altLang="en-US" b="1" dirty="0">
              <a:latin typeface="Microsoft YaHei UI" panose="020B0503020204020204" pitchFamily="18" charset="-122"/>
              <a:cs typeface="Microsoft YaHei UI" panose="020B0503020204020204" pitchFamily="18" charset="-122"/>
            </a:endParaRPr>
          </a:p>
        </p:txBody>
      </p:sp>
      <p:sp>
        <p:nvSpPr>
          <p:cNvPr id="81" name="Freeform 3"/>
          <p:cNvSpPr/>
          <p:nvPr/>
        </p:nvSpPr>
        <p:spPr>
          <a:xfrm>
            <a:off x="6212209" y="51832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82" name="TextBox 1"/>
          <p:cNvSpPr txBox="1"/>
          <p:nvPr/>
        </p:nvSpPr>
        <p:spPr>
          <a:xfrm>
            <a:off x="5645386" y="5153519"/>
            <a:ext cx="551433" cy="369353"/>
          </a:xfrm>
          <a:prstGeom prst="rect">
            <a:avLst/>
          </a:prstGeom>
          <a:noFill/>
        </p:spPr>
        <p:txBody>
          <a:bodyPr wrap="none" lIns="0" tIns="0" rIns="0" bIns="60981" rtlCol="0">
            <a:spAutoFit/>
          </a:bodyPr>
          <a:lstStyle/>
          <a:p>
            <a:pPr>
              <a:lnSpc>
                <a:spcPts val="2400"/>
              </a:lnSpc>
            </a:pPr>
            <a:r>
              <a:rPr lang="en-US" altLang="zh-CN" b="1" dirty="0">
                <a:latin typeface="+mj-lt"/>
                <a:cs typeface="Microsoft YaHei UI" panose="020B0503020204020204" pitchFamily="18" charset="-122"/>
              </a:rPr>
              <a:t> </a:t>
            </a:r>
            <a:r>
              <a:rPr lang="en-US" altLang="zh-CN" b="1" dirty="0">
                <a:latin typeface="Microsoft YaHei UI" panose="020B0503020204020204" pitchFamily="18" charset="-122"/>
                <a:cs typeface="Microsoft YaHei UI" panose="020B0503020204020204" pitchFamily="18" charset="-122"/>
              </a:rPr>
              <a:t>4.5</a:t>
            </a:r>
            <a:endParaRPr lang="en-US" altLang="zh-CN" b="1" dirty="0">
              <a:latin typeface="Microsoft YaHei UI" panose="020B0503020204020204" pitchFamily="18" charset="-122"/>
              <a:cs typeface="Microsoft YaHei UI" panose="020B0503020204020204" pitchFamily="18" charset="-122"/>
            </a:endParaRPr>
          </a:p>
        </p:txBody>
      </p:sp>
      <p:sp>
        <p:nvSpPr>
          <p:cNvPr id="49" name="Freeform 3"/>
          <p:cNvSpPr/>
          <p:nvPr/>
        </p:nvSpPr>
        <p:spPr>
          <a:xfrm>
            <a:off x="6212209" y="5759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0" name="TextBox 1"/>
          <p:cNvSpPr txBox="1"/>
          <p:nvPr/>
        </p:nvSpPr>
        <p:spPr>
          <a:xfrm>
            <a:off x="6598153" y="5712178"/>
            <a:ext cx="615553" cy="369353"/>
          </a:xfrm>
          <a:prstGeom prst="rect">
            <a:avLst/>
          </a:prstGeom>
          <a:noFill/>
        </p:spPr>
        <p:txBody>
          <a:bodyPr wrap="none" lIns="0" tIns="0" rIns="0" bIns="60981" rtlCol="0">
            <a:spAutoFit/>
          </a:bodyPr>
          <a:lstStyle/>
          <a:p>
            <a:pPr>
              <a:lnSpc>
                <a:spcPts val="2400"/>
              </a:lnSpc>
            </a:pPr>
            <a:r>
              <a:rPr lang="zh-CN" altLang="en-US" b="1" dirty="0">
                <a:solidFill>
                  <a:schemeClr val="bg1"/>
                </a:solidFill>
                <a:latin typeface="Microsoft YaHei UI" panose="020B0503020204020204" pitchFamily="18" charset="-122"/>
                <a:cs typeface="Microsoft YaHei UI" panose="020B0503020204020204" pitchFamily="18" charset="-122"/>
              </a:rPr>
              <a:t>作业</a:t>
            </a:r>
            <a:endParaRPr lang="zh-CN" altLang="en-US" b="1" dirty="0">
              <a:solidFill>
                <a:schemeClr val="bg1"/>
              </a:solidFill>
              <a:latin typeface="Microsoft YaHei UI" panose="020B0503020204020204" pitchFamily="18" charset="-122"/>
              <a:cs typeface="Microsoft YaHei UI" panose="020B0503020204020204" pitchFamily="18" charset="-122"/>
            </a:endParaRPr>
          </a:p>
        </p:txBody>
      </p:sp>
      <p:sp>
        <p:nvSpPr>
          <p:cNvPr id="56" name="TextBox 1"/>
          <p:cNvSpPr txBox="1"/>
          <p:nvPr/>
        </p:nvSpPr>
        <p:spPr>
          <a:xfrm>
            <a:off x="5645386" y="5725546"/>
            <a:ext cx="551433" cy="369353"/>
          </a:xfrm>
          <a:prstGeom prst="rect">
            <a:avLst/>
          </a:prstGeom>
          <a:noFill/>
        </p:spPr>
        <p:txBody>
          <a:bodyPr wrap="none" lIns="0" tIns="0" rIns="0" bIns="60981" rtlCol="0">
            <a:spAutoFit/>
          </a:bodyPr>
          <a:lstStyle/>
          <a:p>
            <a:pPr>
              <a:lnSpc>
                <a:spcPts val="2400"/>
              </a:lnSpc>
            </a:pPr>
            <a:r>
              <a:rPr lang="en-US" altLang="zh-CN" b="1" dirty="0">
                <a:solidFill>
                  <a:schemeClr val="bg1"/>
                </a:solidFill>
                <a:latin typeface="+mj-lt"/>
                <a:cs typeface="Microsoft YaHei UI" panose="020B0503020204020204" pitchFamily="18" charset="-122"/>
              </a:rPr>
              <a:t> </a:t>
            </a:r>
            <a:r>
              <a:rPr lang="en-US" altLang="zh-CN" b="1" dirty="0">
                <a:solidFill>
                  <a:schemeClr val="bg1"/>
                </a:solidFill>
                <a:latin typeface="Microsoft YaHei UI" panose="020B0503020204020204" pitchFamily="18" charset="-122"/>
                <a:cs typeface="Microsoft YaHei UI" panose="020B0503020204020204" pitchFamily="18" charset="-122"/>
              </a:rPr>
              <a:t>4.6</a:t>
            </a:r>
            <a:endParaRPr lang="en-US" altLang="zh-CN" b="1" dirty="0">
              <a:solidFill>
                <a:schemeClr val="bg1"/>
              </a:solidFill>
              <a:latin typeface="Microsoft YaHei UI" panose="020B0503020204020204" pitchFamily="18" charset="-122"/>
              <a:cs typeface="Microsoft YaHei UI" panose="020B0503020204020204" pitchFamily="18" charset="-122"/>
            </a:endParaRPr>
          </a:p>
        </p:txBody>
      </p:sp>
    </p:spTree>
  </p:cSld>
  <p:clrMapOvr>
    <a:masterClrMapping/>
  </p:clrMapOvr>
  <p:transition spd="slow">
    <p:push dir="u"/>
  </p:transition>
</p:sld>
</file>

<file path=ppt/tags/tag1.xml><?xml version="1.0" encoding="utf-8"?>
<p:tagLst xmlns:p="http://schemas.openxmlformats.org/presentationml/2006/main">
  <p:tag name="TIMING" val="|53.6|29.6|13.9|20.4"/>
</p:tagLst>
</file>

<file path=ppt/tags/tag2.xml><?xml version="1.0" encoding="utf-8"?>
<p:tagLst xmlns:p="http://schemas.openxmlformats.org/presentationml/2006/main">
  <p:tag name="TIMING" val="|21.4|8.5|4.2|5.7|15.8|22.5"/>
</p:tagLst>
</file>

<file path=ppt/tags/tag3.xml><?xml version="1.0" encoding="utf-8"?>
<p:tagLst xmlns:p="http://schemas.openxmlformats.org/presentationml/2006/main">
  <p:tag name="TIMING" val="|23.6|19.2|26.8"/>
</p:tagLst>
</file>

<file path=ppt/tags/tag4.xml><?xml version="1.0" encoding="utf-8"?>
<p:tagLst xmlns:p="http://schemas.openxmlformats.org/presentationml/2006/main">
  <p:tag name="TIMING" val="|12|6.4|25.5|94.1"/>
</p:tagLst>
</file>

<file path=ppt/tags/tag5.xml><?xml version="1.0" encoding="utf-8"?>
<p:tagLst xmlns:p="http://schemas.openxmlformats.org/presentationml/2006/main">
  <p:tag name="TIMING" val="|40.1|17.6|8.5|13.4|30|20.4|8.8"/>
</p:tagLst>
</file>

<file path=ppt/tags/tag6.xml><?xml version="1.0" encoding="utf-8"?>
<p:tagLst xmlns:p="http://schemas.openxmlformats.org/presentationml/2006/main">
  <p:tag name="TIMING" val="|9.3|2.4|2.4|2.8|2.9|9.5|17.2"/>
</p:tagLst>
</file>

<file path=ppt/tags/tag7.xml><?xml version="1.0" encoding="utf-8"?>
<p:tagLst xmlns:p="http://schemas.openxmlformats.org/presentationml/2006/main">
  <p:tag name="TIMING" val="|2|70.5|6.6|4.6|4.9|1"/>
</p:tagLst>
</file>

<file path=ppt/tags/tag8.xml><?xml version="1.0" encoding="utf-8"?>
<p:tagLst xmlns:p="http://schemas.openxmlformats.org/presentationml/2006/main">
  <p:tag name="TIMING" val="|0.5|37.8|31.2|15.1"/>
</p:tagLst>
</file>

<file path=ppt/tags/tag9.xml><?xml version="1.0" encoding="utf-8"?>
<p:tagLst xmlns:p="http://schemas.openxmlformats.org/presentationml/2006/main">
  <p:tag name="TIMING" val="|6.4|50|8.5|15.8"/>
</p:tagLst>
</file>

<file path=ppt/tags/tag10.xml><?xml version="1.0" encoding="utf-8"?>
<p:tagLst xmlns:p="http://schemas.openxmlformats.org/presentationml/2006/main">
  <p:tag name="TIMING" val="|2.9|87.1|13.6|15.9|12.4|30.7|14.3"/>
</p:tagLst>
</file>

<file path=ppt/tags/tag11.xml><?xml version="1.0" encoding="utf-8"?>
<p:tagLst xmlns:p="http://schemas.openxmlformats.org/presentationml/2006/main">
  <p:tag name="TIMING" val="|68.7|13.9|72.3|20.5|68"/>
</p:tagLst>
</file>

<file path=ppt/tags/tag12.xml><?xml version="1.0" encoding="utf-8"?>
<p:tagLst xmlns:p="http://schemas.openxmlformats.org/presentationml/2006/main">
  <p:tag name="TIMING" val="|5.8|1|62.2|1.2|35.1|0.2|48.8"/>
</p:tagLst>
</file>

<file path=ppt/tags/tag13.xml><?xml version="1.0" encoding="utf-8"?>
<p:tagLst xmlns:p="http://schemas.openxmlformats.org/presentationml/2006/main">
  <p:tag name="TIMING" val="|105.3|12.9|10.2|7.6|14.6"/>
</p:tagLst>
</file>

<file path=ppt/tags/tag14.xml><?xml version="1.0" encoding="utf-8"?>
<p:tagLst xmlns:p="http://schemas.openxmlformats.org/presentationml/2006/main">
  <p:tag name="TIMING" val="|2.8|27.9|32.1|7.2|9.7|0.9|18|1.4|13.2|1|13.2|29.8|21.6|35.3"/>
</p:tagLst>
</file>

<file path=ppt/tags/tag15.xml><?xml version="1.0" encoding="utf-8"?>
<p:tagLst xmlns:p="http://schemas.openxmlformats.org/presentationml/2006/main">
  <p:tag name="TIMING" val="|46.4|128|6|3.8|5.3|5.1|5.2|10|123.4|6.5|3.5|4.6|6.5|42.5"/>
</p:tagLst>
</file>

<file path=ppt/tags/tag16.xml><?xml version="1.0" encoding="utf-8"?>
<p:tagLst xmlns:p="http://schemas.openxmlformats.org/presentationml/2006/main">
  <p:tag name="TIMING" val="|0.8|9|8|31.3|35.3"/>
</p:tagLst>
</file>

<file path=ppt/tags/tag17.xml><?xml version="1.0" encoding="utf-8"?>
<p:tagLst xmlns:p="http://schemas.openxmlformats.org/presentationml/2006/main">
  <p:tag name="TIMING" val="|29.1|11.7|13.6|51.9"/>
</p:tagLst>
</file>

<file path=ppt/tags/tag18.xml><?xml version="1.0" encoding="utf-8"?>
<p:tagLst xmlns:p="http://schemas.openxmlformats.org/presentationml/2006/main">
  <p:tag name="TIMING" val="|28.4|32.4|24"/>
</p:tagLst>
</file>

<file path=ppt/tags/tag19.xml><?xml version="1.0" encoding="utf-8"?>
<p:tagLst xmlns:p="http://schemas.openxmlformats.org/presentationml/2006/main">
  <p:tag name="TIMING" val="|18.5|42.8|47|23.8|6.7|87|14.2"/>
</p:tagLst>
</file>

<file path=ppt/tags/tag20.xml><?xml version="1.0" encoding="utf-8"?>
<p:tagLst xmlns:p="http://schemas.openxmlformats.org/presentationml/2006/main">
  <p:tag name="TIMING" val="|98.3|63.5"/>
</p:tagLst>
</file>

<file path=ppt/tags/tag21.xml><?xml version="1.0" encoding="utf-8"?>
<p:tagLst xmlns:p="http://schemas.openxmlformats.org/presentationml/2006/main">
  <p:tag name="TIMING" val="|25.3"/>
</p:tagLst>
</file>

<file path=ppt/tags/tag22.xml><?xml version="1.0" encoding="utf-8"?>
<p:tagLst xmlns:p="http://schemas.openxmlformats.org/presentationml/2006/main">
  <p:tag name="TIMING" val="|9.7|6.6|6.6"/>
</p:tagLst>
</file>

<file path=ppt/tags/tag23.xml><?xml version="1.0" encoding="utf-8"?>
<p:tagLst xmlns:p="http://schemas.openxmlformats.org/presentationml/2006/main">
  <p:tag name="TIMING" val="|55.9|4.4|23.9|16.1"/>
</p:tagLst>
</file>

<file path=ppt/tags/tag24.xml><?xml version="1.0" encoding="utf-8"?>
<p:tagLst xmlns:p="http://schemas.openxmlformats.org/presentationml/2006/main">
  <p:tag name="TIMING" val="|4.6|15.1|9.2|14.2"/>
</p:tagLst>
</file>

<file path=ppt/tags/tag25.xml><?xml version="1.0" encoding="utf-8"?>
<p:tagLst xmlns:p="http://schemas.openxmlformats.org/presentationml/2006/main">
  <p:tag name="TIMING" val="|164.2|65.9|2.5|1|1.8|1.1|84.4|3.4|8.1"/>
</p:tagLst>
</file>

<file path=ppt/tags/tag26.xml><?xml version="1.0" encoding="utf-8"?>
<p:tagLst xmlns:p="http://schemas.openxmlformats.org/presentationml/2006/main">
  <p:tag name="TIMING" val="|69.3|26.1|7.2|5.8|14.9|16.5|17.1"/>
</p:tagLst>
</file>

<file path=ppt/tags/tag27.xml><?xml version="1.0" encoding="utf-8"?>
<p:tagLst xmlns:p="http://schemas.openxmlformats.org/presentationml/2006/main">
  <p:tag name="TIMING" val="|41.9|19.2|2.4|22.9|9.2|16.9"/>
</p:tagLst>
</file>

<file path=ppt/tags/tag28.xml><?xml version="1.0" encoding="utf-8"?>
<p:tagLst xmlns:p="http://schemas.openxmlformats.org/presentationml/2006/main">
  <p:tag name="TIMING" val="|45.6|23|8.7"/>
</p:tagLst>
</file>

<file path=ppt/tags/tag29.xml><?xml version="1.0" encoding="utf-8"?>
<p:tagLst xmlns:p="http://schemas.openxmlformats.org/presentationml/2006/main">
  <p:tag name="TIMING" val="|104.3|32.7|2.4|15.8|8.2|11.6"/>
</p:tagLst>
</file>

<file path=ppt/tags/tag30.xml><?xml version="1.0" encoding="utf-8"?>
<p:tagLst xmlns:p="http://schemas.openxmlformats.org/presentationml/2006/main">
  <p:tag name="TIMING" val="|19.7|9.5|47.3|10.8|54.4|1.8|1.4"/>
</p:tagLst>
</file>

<file path=ppt/tags/tag31.xml><?xml version="1.0" encoding="utf-8"?>
<p:tagLst xmlns:p="http://schemas.openxmlformats.org/presentationml/2006/main">
  <p:tag name="TIMING" val="|36.5|17.7|6.9"/>
</p:tagLst>
</file>

<file path=ppt/tags/tag32.xml><?xml version="1.0" encoding="utf-8"?>
<p:tagLst xmlns:p="http://schemas.openxmlformats.org/presentationml/2006/main">
  <p:tag name="TIMING" val="|11|44"/>
</p:tagLst>
</file>

<file path=ppt/tags/tag33.xml><?xml version="1.0" encoding="utf-8"?>
<p:tagLst xmlns:p="http://schemas.openxmlformats.org/presentationml/2006/main">
  <p:tag name="TIMING" val="|60.3|11.8|46.5"/>
</p:tagLst>
</file>

<file path=ppt/tags/tag34.xml><?xml version="1.0" encoding="utf-8"?>
<p:tagLst xmlns:p="http://schemas.openxmlformats.org/presentationml/2006/main">
  <p:tag name="TIMING" val="|0.9|28.1|20.5"/>
</p:tagLst>
</file>

<file path=ppt/tags/tag35.xml><?xml version="1.0" encoding="utf-8"?>
<p:tagLst xmlns:p="http://schemas.openxmlformats.org/presentationml/2006/main">
  <p:tag name="TIMING" val="|26.3"/>
</p:tagLst>
</file>

<file path=ppt/tags/tag36.xml><?xml version="1.0" encoding="utf-8"?>
<p:tagLst xmlns:p="http://schemas.openxmlformats.org/presentationml/2006/main">
  <p:tag name="TIMING" val="|13.2|16.1|41.4|11.1|11.2|14.7"/>
</p:tagLst>
</file>

<file path=ppt/tags/tag37.xml><?xml version="1.0" encoding="utf-8"?>
<p:tagLst xmlns:p="http://schemas.openxmlformats.org/presentationml/2006/main">
  <p:tag name="TIMING" val="|46.8|48.8|15.3|15.9|17.9|29.2|7.5|10.3"/>
</p:tagLst>
</file>

<file path=ppt/tags/tag38.xml><?xml version="1.0" encoding="utf-8"?>
<p:tagLst xmlns:p="http://schemas.openxmlformats.org/presentationml/2006/main">
  <p:tag name="TIMING" val="|142.4|96|10.7|36.8"/>
</p:tagLst>
</file>

<file path=ppt/tags/tag39.xml><?xml version="1.0" encoding="utf-8"?>
<p:tagLst xmlns:p="http://schemas.openxmlformats.org/presentationml/2006/main">
  <p:tag name="TIMING" val="|149.8|70.9|17"/>
</p:tagLst>
</file>

<file path=ppt/tags/tag40.xml><?xml version="1.0" encoding="utf-8"?>
<p:tagLst xmlns:p="http://schemas.openxmlformats.org/presentationml/2006/main">
  <p:tag name="TIMING" val="|13.2|10.2|49|16.9|2.9"/>
</p:tagLst>
</file>

<file path=ppt/tags/tag41.xml><?xml version="1.0" encoding="utf-8"?>
<p:tagLst xmlns:p="http://schemas.openxmlformats.org/presentationml/2006/main">
  <p:tag name="TIMING" val="|82.4|1.8|4.1|9.7|8.6|6.8"/>
</p:tagLst>
</file>

<file path=ppt/tags/tag42.xml><?xml version="1.0" encoding="utf-8"?>
<p:tagLst xmlns:p="http://schemas.openxmlformats.org/presentationml/2006/main">
  <p:tag name="TIMING" val="|36.1|5.7|7.9|15.9|15.3|5.9|4"/>
</p:tagLst>
</file>

<file path=ppt/tags/tag43.xml><?xml version="1.0" encoding="utf-8"?>
<p:tagLst xmlns:p="http://schemas.openxmlformats.org/presentationml/2006/main">
  <p:tag name="TIMING" val="|45.8|10.3|0"/>
</p:tagLst>
</file>

<file path=ppt/tags/tag44.xml><?xml version="1.0" encoding="utf-8"?>
<p:tagLst xmlns:p="http://schemas.openxmlformats.org/presentationml/2006/main">
  <p:tag name="TIMING" val="|65.4|76.6"/>
</p:tagLst>
</file>

<file path=ppt/tags/tag45.xml><?xml version="1.0" encoding="utf-8"?>
<p:tagLst xmlns:p="http://schemas.openxmlformats.org/presentationml/2006/main">
  <p:tag name="TIMING" val="|3.1|2|17.7|1.4|19.7"/>
</p:tagLst>
</file>

<file path=ppt/tags/tag46.xml><?xml version="1.0" encoding="utf-8"?>
<p:tagLst xmlns:p="http://schemas.openxmlformats.org/presentationml/2006/main">
  <p:tag name="TIMING" val="|1|149.3|15.5|27.4|4.9|2.8"/>
</p:tagLst>
</file>

<file path=ppt/tags/tag47.xml><?xml version="1.0" encoding="utf-8"?>
<p:tagLst xmlns:p="http://schemas.openxmlformats.org/presentationml/2006/main">
  <p:tag name="TIMING" val="|98.4|5.5|21.9|23.2|15|22.3|30.5|0.5"/>
</p:tagLst>
</file>

<file path=ppt/tags/tag48.xml><?xml version="1.0" encoding="utf-8"?>
<p:tagLst xmlns:p="http://schemas.openxmlformats.org/presentationml/2006/main">
  <p:tag name="TIMING" val="|0.2|22.6|2.4|10.2|18.9|24.1"/>
</p:tagLst>
</file>

<file path=ppt/tags/tag49.xml><?xml version="1.0" encoding="utf-8"?>
<p:tagLst xmlns:p="http://schemas.openxmlformats.org/presentationml/2006/main">
  <p:tag name="TIMING" val="|20.7|8.2|17.3|20.1|8.4|10.4|8.6"/>
</p:tagLst>
</file>

<file path=ppt/tags/tag50.xml><?xml version="1.0" encoding="utf-8"?>
<p:tagLst xmlns:p="http://schemas.openxmlformats.org/presentationml/2006/main">
  <p:tag name="TIMING" val="|65.8|4.4|30.7"/>
</p:tagLst>
</file>

<file path=ppt/tags/tag51.xml><?xml version="1.0" encoding="utf-8"?>
<p:tagLst xmlns:p="http://schemas.openxmlformats.org/presentationml/2006/main">
  <p:tag name="TIMING" val="|45.5|29.9|9.2"/>
</p:tagLst>
</file>

<file path=ppt/tags/tag52.xml><?xml version="1.0" encoding="utf-8"?>
<p:tagLst xmlns:p="http://schemas.openxmlformats.org/presentationml/2006/main">
  <p:tag name="TIMING" val="|137.6|22|8.9"/>
</p:tagLst>
</file>

<file path=ppt/tags/tag53.xml><?xml version="1.0" encoding="utf-8"?>
<p:tagLst xmlns:p="http://schemas.openxmlformats.org/presentationml/2006/main">
  <p:tag name="TIMING" val="|8|27.5|11.8|0.1|68.1"/>
</p:tagLst>
</file>

<file path=ppt/tags/tag54.xml><?xml version="1.0" encoding="utf-8"?>
<p:tagLst xmlns:p="http://schemas.openxmlformats.org/presentationml/2006/main">
  <p:tag name="TIMING" val="|0.9|76.6"/>
</p:tagLst>
</file>

<file path=ppt/tags/tag55.xml><?xml version="1.0" encoding="utf-8"?>
<p:tagLst xmlns:p="http://schemas.openxmlformats.org/presentationml/2006/main">
  <p:tag name="TIMING" val="|37.6|21.2|36.3"/>
</p:tagLst>
</file>

<file path=ppt/tags/tag56.xml><?xml version="1.0" encoding="utf-8"?>
<p:tagLst xmlns:p="http://schemas.openxmlformats.org/presentationml/2006/main">
  <p:tag name="TIMING" val="|0.8|2.1|3.9|9.9|7.6|9.1"/>
</p:tagLst>
</file>

<file path=ppt/tags/tag57.xml><?xml version="1.0" encoding="utf-8"?>
<p:tagLst xmlns:p="http://schemas.openxmlformats.org/presentationml/2006/main">
  <p:tag name="TIMING" val="|10.6|250.4|11.2|6"/>
</p:tagLst>
</file>

<file path=ppt/tags/tag58.xml><?xml version="1.0" encoding="utf-8"?>
<p:tagLst xmlns:p="http://schemas.openxmlformats.org/presentationml/2006/main">
  <p:tag name="TIMING" val="|152.9"/>
</p:tagLst>
</file>

<file path=ppt/tags/tag59.xml><?xml version="1.0" encoding="utf-8"?>
<p:tagLst xmlns:p="http://schemas.openxmlformats.org/presentationml/2006/main">
  <p:tag name="TIMING" val="|0.8|1.3|2.9|5.3|11.4|2.7"/>
</p:tagLst>
</file>

<file path=ppt/tags/tag60.xml><?xml version="1.0" encoding="utf-8"?>
<p:tagLst xmlns:p="http://schemas.openxmlformats.org/presentationml/2006/main">
  <p:tag name="TIMING" val="|7.7|157.7|1.6"/>
</p:tagLst>
</file>

<file path=ppt/tags/tag61.xml><?xml version="1.0" encoding="utf-8"?>
<p:tagLst xmlns:p="http://schemas.openxmlformats.org/presentationml/2006/main">
  <p:tag name="TIMING" val="|34.6|30.8|1.4"/>
</p:tagLst>
</file>

<file path=ppt/tags/tag62.xml><?xml version="1.0" encoding="utf-8"?>
<p:tagLst xmlns:p="http://schemas.openxmlformats.org/presentationml/2006/main">
  <p:tag name="TIMING" val="|143.4|85.4|127.9|46.3"/>
</p:tagLst>
</file>

<file path=ppt/tags/tag63.xml><?xml version="1.0" encoding="utf-8"?>
<p:tagLst xmlns:p="http://schemas.openxmlformats.org/presentationml/2006/main">
  <p:tag name="TIMING" val="|34.7|9.1|12.5|11.9|34.9|10.6"/>
</p:tagLst>
</file>

<file path=ppt/tags/tag64.xml><?xml version="1.0" encoding="utf-8"?>
<p:tagLst xmlns:p="http://schemas.openxmlformats.org/presentationml/2006/main">
  <p:tag name="TIMING" val="|44.6|40.4|11.8"/>
</p:tagLst>
</file>

<file path=ppt/tags/tag65.xml><?xml version="1.0" encoding="utf-8"?>
<p:tagLst xmlns:p="http://schemas.openxmlformats.org/presentationml/2006/main">
  <p:tag name="TIMING" val="|79.4|3.5|5.8"/>
</p:tagLst>
</file>

<file path=ppt/tags/tag66.xml><?xml version="1.0" encoding="utf-8"?>
<p:tagLst xmlns:p="http://schemas.openxmlformats.org/presentationml/2006/main">
  <p:tag name="TIMING" val="|22.2|5.2"/>
</p:tagLst>
</file>

<file path=ppt/tags/tag67.xml><?xml version="1.0" encoding="utf-8"?>
<p:tagLst xmlns:p="http://schemas.openxmlformats.org/presentationml/2006/main">
  <p:tag name="TIMING" val="|20.6|39|25.6|38.4"/>
</p:tagLst>
</file>

<file path=ppt/tags/tag68.xml><?xml version="1.0" encoding="utf-8"?>
<p:tagLst xmlns:p="http://schemas.openxmlformats.org/presentationml/2006/main">
  <p:tag name="TIMING" val="|3.2|38.2|4.1|13.3|6.9|8.6|19.1|12|49|18.8"/>
</p:tagLst>
</file>

<file path=ppt/tags/tag69.xml><?xml version="1.0" encoding="utf-8"?>
<p:tagLst xmlns:p="http://schemas.openxmlformats.org/presentationml/2006/main">
  <p:tag name="TIMING" val="|5.8|100.5|4.6|14.9|10.3|24.1|104.7|6.3|2.5|9.5|16.4|17.1|4.6|13.1"/>
</p:tagLst>
</file>

<file path=ppt/tags/tag70.xml><?xml version="1.0" encoding="utf-8"?>
<p:tagLst xmlns:p="http://schemas.openxmlformats.org/presentationml/2006/main">
  <p:tag name="TIMING" val="|0.9|22|5.8|19.8|20.5|3.3|12|11.3|2.8|25.7|6.3|11.1"/>
</p:tagLst>
</file>

<file path=ppt/tags/tag71.xml><?xml version="1.0" encoding="utf-8"?>
<p:tagLst xmlns:p="http://schemas.openxmlformats.org/presentationml/2006/main">
  <p:tag name="TIMING" val="|1|18.6|14.6|7.7|12.1|0.8|48.3|2.2"/>
</p:tagLst>
</file>

<file path=ppt/tags/tag72.xml><?xml version="1.0" encoding="utf-8"?>
<p:tagLst xmlns:p="http://schemas.openxmlformats.org/presentationml/2006/main">
  <p:tag name="TIMING" val="|147.6"/>
</p:tagLst>
</file>

<file path=ppt/tags/tag73.xml><?xml version="1.0" encoding="utf-8"?>
<p:tagLst xmlns:p="http://schemas.openxmlformats.org/presentationml/2006/main">
  <p:tag name="TIMING" val="|75.6|7.3|47|24.2|8.3|7.8"/>
</p:tagLst>
</file>

<file path=ppt/tags/tag74.xml><?xml version="1.0" encoding="utf-8"?>
<p:tagLst xmlns:p="http://schemas.openxmlformats.org/presentationml/2006/main">
  <p:tag name="TIMING" val="|35.8|0.9"/>
</p:tagLst>
</file>

<file path=ppt/tags/tag75.xml><?xml version="1.0" encoding="utf-8"?>
<p:tagLst xmlns:p="http://schemas.openxmlformats.org/presentationml/2006/main">
  <p:tag name="TIMING" val="|0|48.4|8|1.6|25.8"/>
</p:tagLst>
</file>

<file path=ppt/tags/tag76.xml><?xml version="1.0" encoding="utf-8"?>
<p:tagLst xmlns:p="http://schemas.openxmlformats.org/presentationml/2006/main">
  <p:tag name="TIMING" val="|2|14.8|8.2|7.3|20.3|29.6|6.8|15.2|7"/>
</p:tagLst>
</file>

<file path=ppt/tags/tag77.xml><?xml version="1.0" encoding="utf-8"?>
<p:tagLst xmlns:p="http://schemas.openxmlformats.org/presentationml/2006/main">
  <p:tag name="TIMING" val="|28.9"/>
</p:tagLst>
</file>

<file path=ppt/tags/tag78.xml><?xml version="1.0" encoding="utf-8"?>
<p:tagLst xmlns:p="http://schemas.openxmlformats.org/presentationml/2006/main">
  <p:tag name="TIMING" val="|0.4|7.2|17.2|34.2|3.3|2.4|2.6"/>
</p:tagLst>
</file>

<file path=ppt/tags/tag79.xml><?xml version="1.0" encoding="utf-8"?>
<p:tagLst xmlns:p="http://schemas.openxmlformats.org/presentationml/2006/main">
  <p:tag name="TIMING" val="|20|4.6"/>
</p:tagLst>
</file>

<file path=ppt/tags/tag80.xml><?xml version="1.0" encoding="utf-8"?>
<p:tagLst xmlns:p="http://schemas.openxmlformats.org/presentationml/2006/main">
  <p:tag name="KSO_WM_UNIT_TABLE_BEAUTIFY" val="smartTable{48847e1a-35d8-4610-9fa8-a5b93792f8ed}"/>
</p:tagLst>
</file>

<file path=ppt/tags/tag81.xml><?xml version="1.0" encoding="utf-8"?>
<p:tagLst xmlns:p="http://schemas.openxmlformats.org/presentationml/2006/main">
  <p:tag name="TIMING" val="|140.9|35.4|22.4|9.3|13.2|16.7"/>
</p:tagLst>
</file>

<file path=ppt/tags/tag82.xml><?xml version="1.0" encoding="utf-8"?>
<p:tagLst xmlns:p="http://schemas.openxmlformats.org/presentationml/2006/main">
  <p:tag name="KSO_WPP_MARK_KEY" val="0fb36808-c423-475e-8c81-65e412f89202"/>
  <p:tag name="COMMONDATA" val="eyJoZGlkIjoiNjU3NjkzY2RkZTMwZmM1OGI4YjMxODJhZmRlMDMzN2M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26483</Words>
  <Application>WPS 演示</Application>
  <PresentationFormat>自定义</PresentationFormat>
  <Paragraphs>2142</Paragraphs>
  <Slides>135</Slides>
  <Notes>100</Notes>
  <HiddenSlides>0</HiddenSlides>
  <MMClips>0</MMClips>
  <ScaleCrop>false</ScaleCrop>
  <HeadingPairs>
    <vt:vector size="8" baseType="variant">
      <vt:variant>
        <vt:lpstr>已用的字体</vt:lpstr>
      </vt:variant>
      <vt:variant>
        <vt:i4>26</vt:i4>
      </vt:variant>
      <vt:variant>
        <vt:lpstr>主题</vt:lpstr>
      </vt:variant>
      <vt:variant>
        <vt:i4>2</vt:i4>
      </vt:variant>
      <vt:variant>
        <vt:lpstr>嵌入 OLE 服务器</vt:lpstr>
      </vt:variant>
      <vt:variant>
        <vt:i4>35</vt:i4>
      </vt:variant>
      <vt:variant>
        <vt:lpstr>幻灯片标题</vt:lpstr>
      </vt:variant>
      <vt:variant>
        <vt:i4>135</vt:i4>
      </vt:variant>
    </vt:vector>
  </HeadingPairs>
  <TitlesOfParts>
    <vt:vector size="198" baseType="lpstr">
      <vt:lpstr>Arial</vt:lpstr>
      <vt:lpstr>宋体</vt:lpstr>
      <vt:lpstr>Wingdings</vt:lpstr>
      <vt:lpstr>微软雅黑</vt:lpstr>
      <vt:lpstr>Arial Unicode MS</vt:lpstr>
      <vt:lpstr>Calibri Bold</vt:lpstr>
      <vt:lpstr>Calibri</vt:lpstr>
      <vt:lpstr>华文隶书</vt:lpstr>
      <vt:lpstr>Microsoft YaHei UI</vt:lpstr>
      <vt:lpstr>Times New Roman</vt:lpstr>
      <vt:lpstr>黑体</vt:lpstr>
      <vt:lpstr>等线</vt:lpstr>
      <vt:lpstr>Arial</vt:lpstr>
      <vt:lpstr>MS UI Gothic</vt:lpstr>
      <vt:lpstr>Cambria Math</vt:lpstr>
      <vt:lpstr>Symbol</vt:lpstr>
      <vt:lpstr>楷体_GB2312</vt:lpstr>
      <vt:lpstr>新宋体</vt:lpstr>
      <vt:lpstr>圆体-简 常规体</vt:lpstr>
      <vt:lpstr>BatangChe</vt:lpstr>
      <vt:lpstr>ksdb</vt:lpstr>
      <vt:lpstr>Arial Black</vt:lpstr>
      <vt:lpstr>HiraginoSans-W3</vt:lpstr>
      <vt:lpstr>Yu Gothic</vt:lpstr>
      <vt:lpstr>Calibri Math</vt:lpstr>
      <vt:lpstr>ZapfDingbatsITC</vt:lpstr>
      <vt:lpstr>Office Theme</vt:lpstr>
      <vt:lpstr>1_Office Theme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本章导读</vt:lpstr>
      <vt:lpstr>本章导读</vt:lpstr>
      <vt:lpstr>PowerPoint 演示文稿</vt:lpstr>
      <vt:lpstr>PowerPoint 演示文稿</vt:lpstr>
      <vt:lpstr>PowerPoint 演示文稿</vt:lpstr>
      <vt:lpstr>PowerPoint 演示文稿</vt:lpstr>
      <vt:lpstr>PowerPoint 演示文稿</vt:lpstr>
      <vt:lpstr>问题引入</vt:lpstr>
      <vt:lpstr>序偶的定义</vt:lpstr>
      <vt:lpstr>序偶相等</vt:lpstr>
      <vt:lpstr>序偶思想的推广</vt:lpstr>
      <vt:lpstr>笛卡尔乘积</vt:lpstr>
      <vt:lpstr>实例</vt:lpstr>
      <vt:lpstr>实例（续）</vt:lpstr>
      <vt:lpstr>定理4.1</vt:lpstr>
      <vt:lpstr>定理4.1 证明</vt:lpstr>
      <vt:lpstr>定理4.2</vt:lpstr>
      <vt:lpstr>笛卡尔积的推广</vt:lpstr>
      <vt:lpstr>PowerPoint 演示文稿</vt:lpstr>
      <vt:lpstr>二元关系的定义</vt:lpstr>
      <vt:lpstr>二元关系的定义</vt:lpstr>
      <vt:lpstr>例4.3</vt:lpstr>
      <vt:lpstr>例4.4</vt:lpstr>
      <vt:lpstr>例4.5</vt:lpstr>
      <vt:lpstr>二元关系的推广</vt:lpstr>
      <vt:lpstr>问题引入</vt:lpstr>
      <vt:lpstr>关系图表示法</vt:lpstr>
      <vt:lpstr>关系图表示法（续）</vt:lpstr>
      <vt:lpstr>例4.6</vt:lpstr>
      <vt:lpstr>例4.7</vt:lpstr>
      <vt:lpstr>例4.8</vt:lpstr>
      <vt:lpstr>例4.9</vt:lpstr>
      <vt:lpstr>关系矩阵</vt:lpstr>
      <vt:lpstr>例4.10  试用关系矩阵表示例4.6的关系。</vt:lpstr>
      <vt:lpstr>例4.11 </vt:lpstr>
      <vt:lpstr>例4.11（续）</vt:lpstr>
      <vt:lpstr>布尔矩阵的运算</vt:lpstr>
      <vt:lpstr>例4.12</vt:lpstr>
      <vt:lpstr>例4.12（续）</vt:lpstr>
      <vt:lpstr>定理4.3</vt:lpstr>
      <vt:lpstr>A上重要关系的实例</vt:lpstr>
      <vt:lpstr>A上重要关系的实例（续）</vt:lpstr>
      <vt:lpstr>实例</vt:lpstr>
      <vt:lpstr>PowerPoint 演示文稿</vt:lpstr>
      <vt:lpstr>问题引入</vt:lpstr>
      <vt:lpstr>4.2 关系的运算</vt:lpstr>
      <vt:lpstr>例4.13 </vt:lpstr>
      <vt:lpstr>问题引入</vt:lpstr>
      <vt:lpstr>复合（合成）运算的定义</vt:lpstr>
      <vt:lpstr>例4.15</vt:lpstr>
      <vt:lpstr>例4.15（续）</vt:lpstr>
      <vt:lpstr>定理4.4</vt:lpstr>
      <vt:lpstr>证明</vt:lpstr>
      <vt:lpstr>问题引入</vt:lpstr>
      <vt:lpstr>逆运算的定义</vt:lpstr>
      <vt:lpstr>例4.17</vt:lpstr>
      <vt:lpstr>例4.17（续）</vt:lpstr>
      <vt:lpstr>例4.2.7 （续）</vt:lpstr>
      <vt:lpstr>注意</vt:lpstr>
      <vt:lpstr>定理4.6</vt:lpstr>
      <vt:lpstr>定理4.7</vt:lpstr>
      <vt:lpstr>问题引入</vt:lpstr>
      <vt:lpstr>A上关系的幂运算</vt:lpstr>
      <vt:lpstr>幂的求法</vt:lpstr>
      <vt:lpstr>幂的求法（续）</vt:lpstr>
      <vt:lpstr>幂的求法（续）</vt:lpstr>
      <vt:lpstr>幂运算的性质</vt:lpstr>
      <vt:lpstr>幂运算的性质（续）</vt:lpstr>
      <vt:lpstr>幂运算的性质（续）</vt:lpstr>
      <vt:lpstr>PowerPoint 演示文稿</vt:lpstr>
      <vt:lpstr>1、自反性和反自反性</vt:lpstr>
      <vt:lpstr>解题小贴士</vt:lpstr>
      <vt:lpstr>例4.19</vt:lpstr>
      <vt:lpstr>例4.19 （续）</vt:lpstr>
      <vt:lpstr>解题小贴士</vt:lpstr>
      <vt:lpstr>2、对称性和反对称性</vt:lpstr>
      <vt:lpstr>解题小贴士</vt:lpstr>
      <vt:lpstr>例4.21</vt:lpstr>
      <vt:lpstr>例4.21 （续）</vt:lpstr>
      <vt:lpstr>例4.21 （续）</vt:lpstr>
      <vt:lpstr>解题小贴士</vt:lpstr>
      <vt:lpstr>3、传递性</vt:lpstr>
      <vt:lpstr>例4.22</vt:lpstr>
      <vt:lpstr>例4.22 解</vt:lpstr>
      <vt:lpstr>PowerPoint 演示文稿</vt:lpstr>
      <vt:lpstr>解题小贴士</vt:lpstr>
      <vt:lpstr>总结</vt:lpstr>
      <vt:lpstr>例4.23</vt:lpstr>
      <vt:lpstr>例4.25</vt:lpstr>
      <vt:lpstr>例4.26</vt:lpstr>
      <vt:lpstr>3.3二元关系的性质与闭包</vt:lpstr>
      <vt:lpstr>例4.24</vt:lpstr>
      <vt:lpstr>问题引入</vt:lpstr>
      <vt:lpstr>解题小贴士—关系性质的定义证明方法</vt:lpstr>
      <vt:lpstr>例4.27</vt:lpstr>
      <vt:lpstr>关系性质的定义证明方法框架</vt:lpstr>
      <vt:lpstr>定理4.9</vt:lpstr>
      <vt:lpstr>证明（2）</vt:lpstr>
      <vt:lpstr>证明（4）</vt:lpstr>
      <vt:lpstr>证明（5）</vt:lpstr>
      <vt:lpstr>PowerPoint 演示文稿</vt:lpstr>
      <vt:lpstr>问题引入</vt:lpstr>
      <vt:lpstr>关系闭包的定义</vt:lpstr>
      <vt:lpstr>说明</vt:lpstr>
      <vt:lpstr>例4.29</vt:lpstr>
      <vt:lpstr>例4.30</vt:lpstr>
      <vt:lpstr>例4.30 （续）</vt:lpstr>
      <vt:lpstr>解题小贴士</vt:lpstr>
      <vt:lpstr>定理4.10</vt:lpstr>
      <vt:lpstr>证明(1)</vt:lpstr>
      <vt:lpstr>定理证明       (2)  𝑠(𝑅)=𝑅∪𝑅-1</vt:lpstr>
      <vt:lpstr>例4.31 </vt:lpstr>
      <vt:lpstr>例4.31 （续） </vt:lpstr>
      <vt:lpstr>PowerPoint 演示文稿</vt:lpstr>
      <vt:lpstr>§4-5-1  等价关系的概念 Equivalence Relation</vt:lpstr>
      <vt:lpstr>示例1</vt:lpstr>
      <vt:lpstr>等价关系的定义与实例</vt:lpstr>
      <vt:lpstr>等价关系的验证</vt:lpstr>
      <vt:lpstr>A上模3等价关系的关系图</vt:lpstr>
      <vt:lpstr>PowerPoint 演示文稿</vt:lpstr>
      <vt:lpstr>集合的划分</vt:lpstr>
      <vt:lpstr>集合的划分</vt:lpstr>
      <vt:lpstr>例题</vt:lpstr>
      <vt:lpstr>§4-5-2  偏序关系   Partial Order</vt:lpstr>
      <vt:lpstr>示例</vt:lpstr>
      <vt:lpstr>PowerPoint 演示文稿</vt:lpstr>
      <vt:lpstr>PowerPoint 演示文稿</vt:lpstr>
      <vt:lpstr>PowerPoint 演示文稿</vt:lpstr>
      <vt:lpstr>PowerPoint 演示文稿</vt:lpstr>
      <vt:lpstr>总结1</vt:lpstr>
      <vt:lpstr>总结2</vt:lpstr>
      <vt:lpstr>二元关系应用题例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lwenhan</cp:lastModifiedBy>
  <cp:revision>754</cp:revision>
  <dcterms:created xsi:type="dcterms:W3CDTF">2006-08-16T00:00:00Z</dcterms:created>
  <dcterms:modified xsi:type="dcterms:W3CDTF">2025-11-24T15:07:05Z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E718A27E7C0645ADA3288CA8D84284A3_13</vt:lpwstr>
  </property>
  <property fmtid="{D5CDD505-2E9C-101B-9397-08002B2CF9AE}" pid="3" name="KSOProductBuildVer">
    <vt:lpwstr>2052-12.1.0.23542</vt:lpwstr>
  </property>
</Properties>
</file>