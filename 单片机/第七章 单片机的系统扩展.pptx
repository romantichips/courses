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tags/tag2.xml" ContentType="application/vnd.openxmlformats-officedocument.presentationml.tags+xml"/>
  <Override PartName="/ppt/notesSlides/notesSlide37.xml" ContentType="application/vnd.openxmlformats-officedocument.presentationml.notesSlide+xml"/>
  <Override PartName="/ppt/tags/tag3.xml" ContentType="application/vnd.openxmlformats-officedocument.presentationml.tags+xml"/>
  <Override PartName="/ppt/notesSlides/notesSlide38.xml" ContentType="application/vnd.openxmlformats-officedocument.presentationml.notesSlide+xml"/>
  <Override PartName="/ppt/tags/tag4.xml" ContentType="application/vnd.openxmlformats-officedocument.presentationml.tags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450" r:id="rId2"/>
    <p:sldId id="465" r:id="rId3"/>
    <p:sldId id="395" r:id="rId4"/>
    <p:sldId id="500" r:id="rId5"/>
    <p:sldId id="572" r:id="rId6"/>
    <p:sldId id="573" r:id="rId7"/>
    <p:sldId id="574" r:id="rId8"/>
    <p:sldId id="590" r:id="rId9"/>
    <p:sldId id="567" r:id="rId10"/>
    <p:sldId id="615" r:id="rId11"/>
    <p:sldId id="616" r:id="rId12"/>
    <p:sldId id="508" r:id="rId13"/>
    <p:sldId id="576" r:id="rId14"/>
    <p:sldId id="577" r:id="rId15"/>
    <p:sldId id="578" r:id="rId16"/>
    <p:sldId id="582" r:id="rId17"/>
    <p:sldId id="579" r:id="rId18"/>
    <p:sldId id="592" r:id="rId19"/>
    <p:sldId id="580" r:id="rId20"/>
    <p:sldId id="591" r:id="rId21"/>
    <p:sldId id="611" r:id="rId22"/>
    <p:sldId id="568" r:id="rId23"/>
    <p:sldId id="593" r:id="rId24"/>
    <p:sldId id="594" r:id="rId25"/>
    <p:sldId id="596" r:id="rId26"/>
    <p:sldId id="598" r:id="rId27"/>
    <p:sldId id="595" r:id="rId28"/>
    <p:sldId id="609" r:id="rId29"/>
    <p:sldId id="610" r:id="rId30"/>
    <p:sldId id="569" r:id="rId31"/>
    <p:sldId id="550" r:id="rId32"/>
    <p:sldId id="600" r:id="rId33"/>
    <p:sldId id="601" r:id="rId34"/>
    <p:sldId id="599" r:id="rId35"/>
    <p:sldId id="584" r:id="rId36"/>
    <p:sldId id="602" r:id="rId37"/>
    <p:sldId id="603" r:id="rId38"/>
    <p:sldId id="583" r:id="rId39"/>
    <p:sldId id="585" r:id="rId40"/>
    <p:sldId id="586" r:id="rId41"/>
    <p:sldId id="587" r:id="rId42"/>
    <p:sldId id="604" r:id="rId43"/>
    <p:sldId id="588" r:id="rId44"/>
    <p:sldId id="589" r:id="rId45"/>
    <p:sldId id="605" r:id="rId46"/>
    <p:sldId id="570" r:id="rId47"/>
    <p:sldId id="608" r:id="rId48"/>
    <p:sldId id="613" r:id="rId49"/>
    <p:sldId id="607" r:id="rId50"/>
    <p:sldId id="614" r:id="rId5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5">
          <p15:clr>
            <a:srgbClr val="A4A3A4"/>
          </p15:clr>
        </p15:guide>
        <p15:guide id="2" orient="horz" pos="2205">
          <p15:clr>
            <a:srgbClr val="A4A3A4"/>
          </p15:clr>
        </p15:guide>
        <p15:guide id="3" orient="horz" pos="50">
          <p15:clr>
            <a:srgbClr val="A4A3A4"/>
          </p15:clr>
        </p15:guide>
        <p15:guide id="4" orient="horz" pos="4201" userDrawn="1">
          <p15:clr>
            <a:srgbClr val="A4A3A4"/>
          </p15:clr>
        </p15:guide>
        <p15:guide id="5" pos="168">
          <p15:clr>
            <a:srgbClr val="A4A3A4"/>
          </p15:clr>
        </p15:guide>
        <p15:guide id="6" pos="5603">
          <p15:clr>
            <a:srgbClr val="A4A3A4"/>
          </p15:clr>
        </p15:guide>
        <p15:guide id="7" orient="horz" pos="390">
          <p15:clr>
            <a:srgbClr val="A4A3A4"/>
          </p15:clr>
        </p15:guide>
        <p15:guide id="8" pos="612">
          <p15:clr>
            <a:srgbClr val="A4A3A4"/>
          </p15:clr>
        </p15:guide>
        <p15:guide id="9" orient="horz" pos="3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25" autoAdjust="0"/>
    <p:restoredTop sz="88393" autoAdjust="0"/>
  </p:normalViewPr>
  <p:slideViewPr>
    <p:cSldViewPr snapToGrid="0" showGuides="1">
      <p:cViewPr varScale="1">
        <p:scale>
          <a:sx n="98" d="100"/>
          <a:sy n="98" d="100"/>
        </p:scale>
        <p:origin x="774" y="78"/>
      </p:cViewPr>
      <p:guideLst>
        <p:guide pos="2885"/>
        <p:guide orient="horz" pos="2205"/>
        <p:guide orient="horz" pos="50"/>
        <p:guide orient="horz" pos="4201"/>
        <p:guide pos="168"/>
        <p:guide pos="5603"/>
        <p:guide orient="horz" pos="390"/>
        <p:guide pos="612"/>
        <p:guide orient="horz" pos="352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A1003E-7D35-47D3-9E66-6CE4588D3A20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3BCA56-867C-475F-9A3D-BF45B115EAB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1055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0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614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546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7483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201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8471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673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071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盘是以半导体材料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芯片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作为存储单元，又叫固体存储器，没有机械部分；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动硬盘则是以磁性介质作为存储器，有机械部分；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固态硬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(Solid State Drive, SSD)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也是以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NAND(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非易失性存储器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型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Flash 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为基础所建构的储存装置。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284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2196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9301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3363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7364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8128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69445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946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1219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1789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51263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79895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96238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2159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32886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8701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7183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3353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12338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7321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994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4226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61955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3045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1629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43278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1630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40171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93397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4854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00678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118139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94659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17702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722263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5698638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3BCA56-867C-475F-9A3D-BF45B115EAB0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79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90358-C6B8-4813-A004-5C72FCDDCB7D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90358-C6B8-4813-A004-5C72FCDDCB7D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EA4BA-1B84-499E-841F-8CAA84310D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tiff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2.tiff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2.tif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tiff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12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2.tif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2.tif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15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16.e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2.tif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2.tif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8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7" Type="http://schemas.openxmlformats.org/officeDocument/2006/relationships/image" Target="../media/image2.tif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9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3" Type="http://schemas.openxmlformats.org/officeDocument/2006/relationships/notesSlide" Target="../notesSlides/notesSlide35.xml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0.e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.png"/><Relationship Id="rId9" Type="http://schemas.openxmlformats.org/officeDocument/2006/relationships/image" Target="../media/image2.tif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image" Target="../media/image2.tiff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2.tif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2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7" Type="http://schemas.openxmlformats.org/officeDocument/2006/relationships/image" Target="../media/image2.tif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3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.tif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tif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.tif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71550" y="1685442"/>
            <a:ext cx="7921624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</a:t>
            </a:r>
            <a:r>
              <a:rPr lang="zh-CN" altLang="en-US" sz="2800" b="1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单片机系统扩展概述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常用程序存储器及其扩展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数据存储器及其扩展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 I/O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单片机扩展系统外部地址空间的编址方法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68014" y="744558"/>
            <a:ext cx="8625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单片机的系统扩展</a:t>
            </a:r>
            <a:endParaRPr lang="zh-CN" altLang="en-US" sz="3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971550" y="1701466"/>
            <a:ext cx="79216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教学目标</a:t>
            </a:r>
            <a:endParaRPr lang="en-US" altLang="zh-CN" sz="2800" b="1" dirty="0" smtClean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80C51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单片机三总线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(DB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CB)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的构成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80C51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单片机扩展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80C51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单片机扩展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8255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8155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的方法及应用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zh-CN" altLang="en-US" sz="2800" b="1" dirty="0" smtClean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学习</a:t>
            </a:r>
            <a:r>
              <a:rPr lang="zh-CN" altLang="en-US" sz="28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重点和难点</a:t>
            </a:r>
            <a:endParaRPr lang="en-US" altLang="zh-CN" sz="28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ROM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的扩展和分析方法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可编程芯片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8255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8155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68014" y="744558"/>
            <a:ext cx="8625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3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  单片机的系统扩展</a:t>
            </a:r>
            <a:endParaRPr lang="zh-CN" altLang="en-US" sz="3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71550" y="1809621"/>
            <a:ext cx="7921624" cy="2797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单片机系统扩展概述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常用程序存储器及其扩展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常用数据存储器及其扩展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 I/O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单片机扩展系统外部地址空间的编址方法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692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80C51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系列单片机内部已有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基本功能部件，对于小的应用系统可满足系统要求。但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较大应用系统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，还需进行系统扩展，如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数据存储器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接口电路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扩展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单片机最小应用系统不能满足应用系统要求时，需要在单片机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外部连接外围芯片以满足应用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系统要求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系列单片机具有很强的系统扩展能力，可以扩展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64KB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64KB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输入输出口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扩展的内容有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总线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数据存储器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扩展等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一般微机的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外部都有单独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CB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系列单片机由于受管脚数量的限制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DB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P0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。为了将其分离开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，以便同外围芯片正确地连接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，需要在单片机外部增加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地址锁存器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74LS373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8282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从而构成与一般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类似的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片外三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总线，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lang="zh-CN" altLang="en-US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芯片通过三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组总线进行扩展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单片机系统扩展概述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单片机系统扩展概述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4" descr="D:\单片机\图文件\601.t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632" y="1800524"/>
            <a:ext cx="4321381" cy="316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2226640" y="5587155"/>
            <a:ext cx="4698035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20000"/>
              </a:spcBef>
              <a:buFontTx/>
              <a:buNone/>
            </a:pP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</a:t>
            </a:r>
            <a:r>
              <a:rPr lang="en-US" altLang="zh-CN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7-1  MCS-51</a:t>
            </a:r>
            <a:r>
              <a:rPr lang="zh-CN" altLang="en-US" sz="2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系列单片机扩展</a:t>
            </a:r>
            <a:r>
              <a:rPr lang="zh-CN" altLang="en-US" sz="20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三总线</a:t>
            </a:r>
          </a:p>
        </p:txBody>
      </p:sp>
      <p:sp>
        <p:nvSpPr>
          <p:cNvPr id="10" name="矩形 9"/>
          <p:cNvSpPr/>
          <p:nvPr/>
        </p:nvSpPr>
        <p:spPr>
          <a:xfrm>
            <a:off x="3696724" y="1800524"/>
            <a:ext cx="1265801" cy="1216252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696724" y="3095875"/>
            <a:ext cx="1265801" cy="542328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696724" y="3756272"/>
            <a:ext cx="1265801" cy="1140812"/>
          </a:xfrm>
          <a:prstGeom prst="rect">
            <a:avLst/>
          </a:prstGeom>
          <a:noFill/>
          <a:ln w="28575">
            <a:solidFill>
              <a:srgbClr val="FF00FF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993830" y="3464059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地址锁存允许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993830" y="3756272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外部程序储存器读选通信号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93830" y="4119368"/>
            <a:ext cx="19153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内、外</a:t>
            </a:r>
            <a:r>
              <a:rPr lang="en-US" altLang="zh-CN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选择端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993830" y="4424036"/>
            <a:ext cx="3467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外部数据存储器“写”控制输出信号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993830" y="4776272"/>
            <a:ext cx="34676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外部数据存储器“读”控制输出信号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4336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地址总线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(AB)</a:t>
            </a: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地址总线宽为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寻址范围为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000" baseline="30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=64KB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位地址总线由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P0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口提供低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口提供高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A8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A15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。由于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P0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口用作地址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数据复用总线，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P0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口输出低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位地址时需要通过</a:t>
            </a:r>
            <a:r>
              <a:rPr lang="zh-CN" altLang="en-US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锁存器锁存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。锁存器的控制信号为</a:t>
            </a:r>
            <a:r>
              <a:rPr lang="en-US" altLang="zh-CN" sz="20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ALE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的输出信号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下降沿有效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口具有输出锁存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功能，不需要外加锁存器。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地址总线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的，只能由单片机向外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发送，用于选择单片机要访问的存储单元或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口。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P0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P2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口在系统扩展中用作地址线后，不能再作为一般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口使用。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数据总线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(DB)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buClr>
                <a:srgbClr val="FF0000"/>
              </a:buClr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数据总线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口提供，其宽度为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位，用于单片机与外部存储器和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设备之间传送数据。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口为三态双向口，可以进行两个方向的数据传送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单片机系统扩展概述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57505" y="736608"/>
                <a:ext cx="8635669" cy="5783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lnSpc>
                    <a:spcPct val="14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n"/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控制总线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(CB)</a:t>
                </a:r>
              </a:p>
              <a:p>
                <a:pPr algn="just">
                  <a:lnSpc>
                    <a:spcPct val="140000"/>
                  </a:lnSpc>
                  <a:buClr>
                    <a:srgbClr val="FF0000"/>
                  </a:buClr>
                </a:pP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控制总线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是单片机发出的控制片外存储器和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I/O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口读</a:t>
                </a:r>
                <a:r>
                  <a:rPr lang="en-US" altLang="zh-CN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写操作的一组控制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线，其中包括以下控制信号线。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4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en-US" altLang="zh-CN" sz="24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ALE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：地址锁存允许信号，即地址锁存器的选通信号，用于锁存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P0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口输出的低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8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位地址。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4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PSEN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：扩展程序存储器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ROM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的读选通信号。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4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EA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zh-CN" altLang="en-US" sz="24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片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内或片外程序储存器的选择信号。当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EA</m:t>
                        </m:r>
                      </m:e>
                    </m:acc>
                  </m:oMath>
                </a14:m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=0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时，只访问外部程序存储器，因此在扩展并且只使用外部程序储存器时，必须使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EA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接地。</a:t>
                </a:r>
                <a:endPara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4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RD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zh-CN" alt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WR</m:t>
                        </m:r>
                      </m:e>
                    </m:acc>
                  </m:oMath>
                </a14:m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：片外数据储存器和扩展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I/O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口读、写选通信号，执行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MOVX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指令时，这两个控制信号分别自动有效。</a:t>
                </a:r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5783314"/>
              </a:xfrm>
              <a:prstGeom prst="rect">
                <a:avLst/>
              </a:prstGeom>
              <a:blipFill rotWithShape="0">
                <a:blip r:embed="rId4"/>
                <a:stretch>
                  <a:fillRect l="-1059" r="-1059" b="-5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单片机系统扩展概述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655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片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外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操作时序</a:t>
            </a:r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片内片外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读，用指令</a:t>
            </a:r>
            <a:r>
              <a:rPr lang="en-US" altLang="zh-CN" sz="20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MOVC(</a:t>
            </a:r>
            <a:r>
              <a:rPr lang="zh-CN" altLang="en-US" sz="20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产生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PSEN</a:t>
            </a:r>
            <a:r>
              <a:rPr lang="zh-CN" altLang="en-US" sz="20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信号</a:t>
            </a:r>
            <a:r>
              <a:rPr lang="en-US" altLang="zh-CN" sz="20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 algn="just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片外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选择，用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EA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。片外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最大容量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64K</a:t>
            </a:r>
            <a:r>
              <a:rPr lang="zh-CN" altLang="en-US" sz="2000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单片机系统扩展概述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sp>
        <p:nvSpPr>
          <p:cNvPr id="12" name="Rectangle 27"/>
          <p:cNvSpPr>
            <a:spLocks noChangeArrowheads="1"/>
          </p:cNvSpPr>
          <p:nvPr/>
        </p:nvSpPr>
        <p:spPr bwMode="auto">
          <a:xfrm>
            <a:off x="268014" y="1557338"/>
            <a:ext cx="8264799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indent="35560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marL="342900" marR="0" lvl="0" indent="-342900" algn="just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altLang="zh-CN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798853"/>
              </p:ext>
            </p:extLst>
          </p:nvPr>
        </p:nvGraphicFramePr>
        <p:xfrm>
          <a:off x="323850" y="3213100"/>
          <a:ext cx="8496300" cy="285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1" name="Visio" r:id="rId6" imgW="4705387" imgH="1571488" progId="Visio.Drawing.11">
                  <p:embed/>
                </p:oleObj>
              </mc:Choice>
              <mc:Fallback>
                <p:oleObj name="Visio" r:id="rId6" imgW="4705387" imgH="1571488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213100"/>
                        <a:ext cx="8496300" cy="285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30"/>
          <p:cNvSpPr>
            <a:spLocks noChangeArrowheads="1"/>
          </p:cNvSpPr>
          <p:nvPr/>
        </p:nvSpPr>
        <p:spPr bwMode="auto">
          <a:xfrm>
            <a:off x="277675" y="2619056"/>
            <a:ext cx="861708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7-1】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读外部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时序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71550" y="1809621"/>
            <a:ext cx="79216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单片机系统扩展概述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常用程序存储器及其扩展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常用数据存储器及其扩展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 I/O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单片机扩展系统外部地址空间的编址方法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521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常用程序存储器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腌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膜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</a:p>
          <a:p>
            <a:pPr algn="just">
              <a:lnSpc>
                <a:spcPct val="12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编程由半导体制造厂家完成，结构简单、集成度高，但腌膜的成本很高，只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适合于大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批量生产。腌膜型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可用来存储一些标准的程序，如监控程序、汇编程序、储存数据用表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正弦函数表、平方根表等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、代码转换表、逻辑函数表等。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ROM(PROM)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可编程只读存储器，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在出厂并未存储任何信息，用户需要用专门的编程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写入。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的存储内容一旦写入，无法修改，即用户只能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写入一次。 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2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紫外线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擦除只读存储器，用户可多次改写，擦除时间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20min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，需使用专门的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编程器写入数据。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4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常用程序存储器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en-US" altLang="zh-CN" sz="2400" baseline="30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</a:t>
            </a:r>
          </a:p>
          <a:p>
            <a:pPr algn="just">
              <a:lnSpc>
                <a:spcPct val="12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电可擦除只读存储器，读写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相似，写入速度稍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慢，断电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后能够保存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信息，写入次数有限，为几百次到几万次不等。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EEPROM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性能优越，但价格较高。</a:t>
            </a:r>
            <a:endParaRPr lang="en-US" altLang="zh-CN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2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Flash ROM</a:t>
            </a:r>
          </a:p>
          <a:p>
            <a:pPr algn="just">
              <a:lnSpc>
                <a:spcPct val="120000"/>
              </a:lnSpc>
              <a:buClr>
                <a:srgbClr val="FF0000"/>
              </a:buClr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闪烁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存储器，简称闪存。电改写，电擦除，读写速度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(70ns)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读写次数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。主要特点是在不加电的情况下能长期保持存储的信息，使用方便，价格低廉。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436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5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常用程序存储器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紫外线擦除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可编程只读存储器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，掉电后信息不会丢失。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中的程序需要由</a:t>
            </a:r>
            <a:r>
              <a:rPr lang="zh-CN" altLang="en-US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专门的编程器写入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，许多单片机开发装置具有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写入功能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单片机内部没有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，或虽有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但容量太小时，必须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扩展外部程序存储器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方能工作。最常用的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器件是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主要是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系列芯片：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如：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(2K)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(4K)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(8K)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(16K) 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en-US" altLang="zh-CN" sz="20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256(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32K)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，一般选择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8KB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芯片作为外部程序存储器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后数字为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位存储容量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是无论擦除或写入都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需要专用设备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，即使写错一个字节，也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必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须全片擦掉后重写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，从而给使用带来不便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57505" y="736608"/>
                <a:ext cx="8635669" cy="6065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7.2.1 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常用程序存储器</a:t>
                </a:r>
                <a:endParaRPr lang="en-US" altLang="zh-CN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n"/>
                </a:pP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EPROM</a:t>
                </a: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引脚符号的含义和功能：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D7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～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D0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：三态数据总线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A0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～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Ai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：地址输入线，</a:t>
                </a:r>
                <a:r>
                  <a:rPr lang="en-US" altLang="zh-CN" sz="2000" dirty="0" err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=10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～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15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 algn="just">
                  <a:lnSpc>
                    <a:spcPct val="130000"/>
                  </a:lnSpc>
                  <a:buClr>
                    <a:srgbClr val="FF0000"/>
                  </a:buClr>
                </a:pP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如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2764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的地址线为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位，</a:t>
                </a:r>
                <a:r>
                  <a:rPr lang="en-US" altLang="zh-CN" sz="2000" dirty="0" err="1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=12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 algn="just">
                  <a:lnSpc>
                    <a:spcPct val="130000"/>
                  </a:lnSpc>
                  <a:buClr>
                    <a:srgbClr val="FF0000"/>
                  </a:buClr>
                </a:pP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       27512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的地址线为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位，</a:t>
                </a:r>
                <a:r>
                  <a:rPr lang="en-US" altLang="zh-CN" sz="2000" dirty="0" err="1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=15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CE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片选信号输入线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OE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输出允许输入线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en-US" altLang="zh-CN" sz="2000" baseline="-25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PP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：编程电源输入线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PGM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：编程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脉冲输入线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en-US" altLang="zh-CN" sz="2000" baseline="-25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CC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：电源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GND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：接地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NC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：空引脚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zh-CN" altLang="en-US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6065891"/>
              </a:xfrm>
              <a:prstGeom prst="rect">
                <a:avLst/>
              </a:prstGeom>
              <a:blipFill rotWithShape="0">
                <a:blip r:embed="rId4"/>
                <a:stretch>
                  <a:fillRect l="-1059" b="-2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  <a:endParaRPr lang="zh-CN" altLang="en-US">
                  <a:noFill/>
                </a:endParaRP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456" y="1321552"/>
            <a:ext cx="2962718" cy="463474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常用程序存储器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工作方式：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Group 113"/>
          <p:cNvGraphicFramePr/>
          <p:nvPr>
            <p:custDataLst>
              <p:tags r:id="rId1"/>
            </p:custDataLst>
          </p:nvPr>
        </p:nvGraphicFramePr>
        <p:xfrm>
          <a:off x="295275" y="2670175"/>
          <a:ext cx="8569325" cy="2686051"/>
        </p:xfrm>
        <a:graphic>
          <a:graphicData uri="http://schemas.openxmlformats.org/drawingml/2006/table">
            <a:tbl>
              <a:tblPr/>
              <a:tblGrid>
                <a:gridCol w="14414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5096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9383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255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647700"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</a:t>
                      </a: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方式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5"/>
                      <a:stretch>
                        <a:fillRect l="-101282" t="-1887" r="-400427" b="-33207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5"/>
                      <a:stretch>
                        <a:fillRect l="-212162" t="-1887" r="-322072" b="-332075"/>
                      </a:stretch>
                    </a:blipFill>
                  </a:tcPr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blipFill rotWithShape="0">
                      <a:blip r:embed="rId5"/>
                      <a:stretch>
                        <a:fillRect l="-282857" t="-1887" r="-191837" b="-332075"/>
                      </a:stretch>
                    </a:blipFill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</a:t>
                      </a:r>
                      <a:r>
                        <a:rPr kumimoji="1" lang="en-US" altLang="zh-CN" sz="20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PP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kumimoji="1" lang="en-US" altLang="zh-CN" sz="20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～</a:t>
                      </a: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kumimoji="1" lang="en-US" altLang="zh-CN" sz="20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07988"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读      出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5V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kumimoji="1" lang="en-US" altLang="zh-CN" sz="20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6400"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维      持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5V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高阻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09575"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      程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编程脉冲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12.5V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kumimoji="1" lang="en-US" altLang="zh-CN" sz="20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06400"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编程校验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12.5V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kumimoji="1" lang="en-US" altLang="zh-CN" sz="20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OUT</a:t>
                      </a:r>
                      <a:endParaRPr kumimoji="1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07988"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编程禁止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×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12.5V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pos="914400" algn="l"/>
                          <a:tab pos="1028700" algn="l"/>
                        </a:tabLst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tabLst>
                          <a:tab pos="914400" algn="l"/>
                          <a:tab pos="1028700" algn="l"/>
                        </a:tabLst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tabLst>
                          <a:tab pos="914400" algn="l"/>
                          <a:tab pos="1028700" algn="l"/>
                        </a:tabLst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914400" algn="l"/>
                          <a:tab pos="1028700" algn="l"/>
                        </a:tabLs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914400" algn="l"/>
                          <a:tab pos="1028700" algn="l"/>
                        </a:tabLst>
                      </a:pPr>
                      <a:r>
                        <a:rPr kumimoji="1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高阻</a:t>
                      </a:r>
                    </a:p>
                  </a:txBody>
                  <a:tcPr anchor="ctr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常用程序存储器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EEPROM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EEPROM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</a:t>
            </a:r>
            <a:r>
              <a:rPr lang="zh-CN" altLang="en-US" sz="2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擦除可编程存储器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，掉电后信息不会丢失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+5V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供电下便可进行编程，不需要专用的编程器和擦除器。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整片擦除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可以字节为单位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擦除和写入，且可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在线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EEPROM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是一种特殊的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可读写存储器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，存放重要数据或程序。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EEPROM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</a:t>
            </a:r>
            <a:r>
              <a:rPr lang="zh-CN" altLang="en-US" sz="24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时间稍慢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必须用软件或硬件来检测写入周期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品种多，有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EEPROM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串行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EEPROM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，常见的并行程序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EEPROM 2816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2817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2864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28256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57505" y="736608"/>
                <a:ext cx="8635669" cy="5665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7.2.1 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常用程序存储器</a:t>
                </a:r>
                <a:endParaRPr lang="en-US" altLang="zh-CN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n"/>
                </a:pPr>
                <a:r>
                  <a:rPr lang="en-US" altLang="zh-CN" sz="24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EEPROM</a:t>
                </a: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引脚符号的含义和功能：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I/O7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～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I/O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zh-CN" altLang="en-US" sz="20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双向三态数据线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A0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～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Ai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地址输入</a:t>
                </a:r>
                <a:r>
                  <a:rPr lang="zh-CN" altLang="en-US" sz="20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</a:t>
                </a:r>
                <a:r>
                  <a:rPr lang="en-US" altLang="zh-CN" sz="2000" dirty="0" err="1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=10(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芯片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6116)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r>
                  <a:rPr lang="en-US" altLang="zh-CN" sz="2000" dirty="0" err="1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=12(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芯片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6264)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r>
                  <a:rPr lang="en-US" altLang="zh-CN" sz="2000" dirty="0" err="1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=14(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芯片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62256)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zh-CN" altLang="en-US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CE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片选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信号输入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线，低电平有效；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OE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zh-CN" altLang="en-US" sz="20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输出允许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，低电平有效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WE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zh-CN" altLang="en-US" sz="20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写选通信号</a:t>
                </a:r>
                <a:r>
                  <a:rPr lang="zh-CN" altLang="en-US" sz="2000" dirty="0" smtClean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输入线，低电平有效；</a:t>
                </a:r>
                <a:endParaRPr lang="en-US" altLang="zh-CN" sz="2000" dirty="0" smtClean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RDY/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BUSY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2817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</a:t>
                </a:r>
                <a:r>
                  <a:rPr lang="zh-CN" altLang="en-US" sz="20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空</a:t>
                </a:r>
                <a:r>
                  <a:rPr lang="en-US" altLang="zh-CN" sz="20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000" dirty="0" smtClean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忙状态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输出线，当芯片进行擦写操作时该信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lvl="1" algn="just">
                  <a:lnSpc>
                    <a:spcPct val="130000"/>
                  </a:lnSpc>
                  <a:buClr>
                    <a:srgbClr val="FF0000"/>
                  </a:buClr>
                </a:pP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    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号线为低电平，擦写完毕后该信号线为高阻状态，漏极开路输出；</a:t>
                </a:r>
                <a:endParaRPr lang="en-US" altLang="zh-CN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en-US" altLang="zh-CN" sz="2000" baseline="-25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CC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：工作电源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+5V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GND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：地线。</a:t>
                </a:r>
                <a:endParaRPr lang="zh-CN" altLang="en-US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5665782"/>
              </a:xfrm>
              <a:prstGeom prst="rect">
                <a:avLst/>
              </a:prstGeom>
              <a:blipFill rotWithShape="0">
                <a:blip r:embed="rId4"/>
                <a:stretch>
                  <a:fillRect l="-1059" r="-3670" b="-3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访问外部程序存储器的操作时序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255314" y="2345531"/>
          <a:ext cx="8637031" cy="31241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Visio" r:id="rId5" imgW="4343400" imgH="1571625" progId="Visio.Drawing.11">
                  <p:embed/>
                </p:oleObj>
              </mc:Choice>
              <mc:Fallback>
                <p:oleObj name="Visio" r:id="rId5" imgW="4343400" imgH="1571625" progId="Visio.Drawing.11">
                  <p:embed/>
                  <p:pic>
                    <p:nvPicPr>
                      <p:cNvPr id="0" name="图片 10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314" y="2345531"/>
                        <a:ext cx="8637031" cy="31241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访问外部程序存储器的操作时序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80C51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系列单片机的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在访问片外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的一个机器周期内，信号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ALE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出现两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正脉冲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选通信号也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两次有效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，这说明在一个机器周期内，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两次访问片外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，也即在一个机器周期内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可以处理两个字节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的指令代码，所以在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80C51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系列单片机指令系统中有很多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单周期双字节指令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程序存储器扩展的一般方法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典型的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27128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5" descr="8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35"/>
          <a:stretch>
            <a:fillRect/>
          </a:stretch>
        </p:blipFill>
        <p:spPr bwMode="auto">
          <a:xfrm>
            <a:off x="1704975" y="2409587"/>
            <a:ext cx="5736477" cy="42172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程序存储器扩展的一般方法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典型的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EPROM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</a:t>
            </a:r>
            <a:r>
              <a:rPr lang="en-US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27128)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Picture 5" descr="8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" b="10407"/>
          <a:stretch>
            <a:fillRect/>
          </a:stretch>
        </p:blipFill>
        <p:spPr bwMode="auto">
          <a:xfrm>
            <a:off x="333375" y="2390774"/>
            <a:ext cx="8458200" cy="4241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程序存储器芯片特性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graphicFrame>
        <p:nvGraphicFramePr>
          <p:cNvPr id="11" name="Group 5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555574"/>
              </p:ext>
            </p:extLst>
          </p:nvPr>
        </p:nvGraphicFramePr>
        <p:xfrm>
          <a:off x="481013" y="2108200"/>
          <a:ext cx="8207375" cy="3453132"/>
        </p:xfrm>
        <a:graphic>
          <a:graphicData uri="http://schemas.openxmlformats.org/drawingml/2006/table">
            <a:tbl>
              <a:tblPr/>
              <a:tblGrid>
                <a:gridCol w="22320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74787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6224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3668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44145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51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芯片型号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27C64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27C128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27C256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27C512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容量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8 KB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16 KB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32 KB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64 KB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引脚数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28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读出时间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/ns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charset="0"/>
                        </a:rPr>
                        <a:t>120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charset="0"/>
                        </a:rPr>
                        <a:t>120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90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90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最大工作电流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/mA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5127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最大维持电流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/mA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0.1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itchFamily="18" charset="0"/>
                        </a:rPr>
                        <a:t>0.03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2" name="Rectangle 509"/>
          <p:cNvSpPr>
            <a:spLocks noChangeArrowheads="1"/>
          </p:cNvSpPr>
          <p:nvPr/>
        </p:nvSpPr>
        <p:spPr bwMode="auto">
          <a:xfrm>
            <a:off x="268014" y="5851525"/>
            <a:ext cx="862516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b="0" dirty="0">
                <a:solidFill>
                  <a:srgbClr val="0A10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注：应注意优先选用</a:t>
            </a:r>
            <a:r>
              <a:rPr lang="en-US" altLang="zh-CN" b="0" dirty="0">
                <a:solidFill>
                  <a:srgbClr val="0A10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CMOS</a:t>
            </a:r>
            <a:r>
              <a:rPr lang="zh-CN" altLang="en-US" b="0" dirty="0">
                <a:solidFill>
                  <a:srgbClr val="0A10F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器件，其读出时间短，耗电少。</a:t>
            </a:r>
          </a:p>
        </p:txBody>
      </p:sp>
    </p:spTree>
    <p:extLst>
      <p:ext uri="{BB962C8B-B14F-4D97-AF65-F5344CB8AC3E}">
        <p14:creationId xmlns:p14="http://schemas.microsoft.com/office/powerpoint/2010/main" val="548625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71550" y="1809621"/>
            <a:ext cx="79216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单片机系统扩展概述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常用程序存储器及其扩展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常用数据存储器及其扩展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 I/O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单片机扩展系统外部地址空间的编址方法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57505" y="736608"/>
                <a:ext cx="8635669" cy="529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  <a:buClr>
                    <a:srgbClr val="FF0000"/>
                  </a:buClr>
                </a:pPr>
                <a:r>
                  <a:rPr lang="en-US" altLang="zh-CN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7.3.1 </a:t>
                </a:r>
                <a:r>
                  <a:rPr lang="zh-CN" altLang="en-US" sz="2400" b="1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常用数据存储器</a:t>
                </a:r>
                <a:endParaRPr lang="en-US" altLang="zh-CN" sz="2400" b="1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单片机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外部数据存储器的扩展芯片大多采用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SRAM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，根据需要也可采用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EEPROM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或其他非易失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随机存储器</a:t>
                </a: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(NV-SRAM)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芯片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常用的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SRAM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6116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6264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、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62256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等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。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342900" indent="-342900" algn="just">
                  <a:lnSpc>
                    <a:spcPct val="150000"/>
                  </a:lnSpc>
                  <a:buClr>
                    <a:srgbClr val="FF0000"/>
                  </a:buClr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引脚符号的含义和功能：</a:t>
                </a:r>
                <a:endParaRPr lang="en-US" altLang="zh-CN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D7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～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D0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：三态数据总线；</a:t>
                </a:r>
                <a:endParaRPr lang="en-US" altLang="zh-CN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A0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～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Ai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：地址输入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线；</a:t>
                </a:r>
                <a:endParaRPr lang="en-US" altLang="zh-CN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CE</m:t>
                        </m:r>
                      </m:e>
                    </m:acc>
                  </m:oMath>
                </a14:m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：片选信号输入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，低电平有效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00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RD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：读选通信号输入线，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低电平有效；</a:t>
                </a:r>
                <a:endParaRPr lang="en-US" altLang="zh-CN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000" i="1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WR</m:t>
                        </m:r>
                      </m:e>
                    </m:acc>
                  </m:oMath>
                </a14:m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：写选通信号输入线，低电平有效；</a:t>
                </a:r>
                <a:endParaRPr lang="en-US" altLang="zh-CN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V</a:t>
                </a:r>
                <a:r>
                  <a:rPr lang="en-US" altLang="zh-CN" sz="2000" baseline="-25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CC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：电源；</a:t>
                </a:r>
                <a:endParaRPr lang="en-US" altLang="zh-CN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800100" lvl="1" indent="-342900" algn="just">
                  <a:lnSpc>
                    <a:spcPct val="130000"/>
                  </a:lnSpc>
                  <a:buClr>
                    <a:srgbClr val="FF0000"/>
                  </a:buClr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GND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：接地</a:t>
                </a:r>
                <a:r>
                  <a:rPr lang="zh-CN" altLang="en-US" sz="2000" dirty="0" smtClean="0">
                    <a:solidFill>
                      <a:prstClr val="black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；</a:t>
                </a:r>
                <a:endParaRPr lang="en-US" altLang="zh-CN" sz="20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505" y="736608"/>
                <a:ext cx="8635669" cy="5295552"/>
              </a:xfrm>
              <a:prstGeom prst="rect">
                <a:avLst/>
              </a:prstGeom>
              <a:blipFill rotWithShape="0">
                <a:blip r:embed="rId4"/>
                <a:stretch>
                  <a:fillRect l="-1059" r="-706" b="-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常用数据储存器及其扩展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数据存储器的扩展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访问外部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的操作时序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扩展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和扩展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类似，由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口提供高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位地址，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口分时地作为低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位地址线和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位双向数据总线。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MCS-51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对外部数据存储器的访问指令有以下四条：</a:t>
            </a:r>
          </a:p>
          <a:p>
            <a:pPr lvl="2"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MOVX   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@</a:t>
            </a:r>
            <a:r>
              <a:rPr lang="en-US" altLang="zh-CN" sz="24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</a:t>
            </a:r>
          </a:p>
          <a:p>
            <a:pPr lvl="2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MOVX   @</a:t>
            </a:r>
            <a:r>
              <a:rPr lang="en-US" altLang="zh-CN" sz="24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A</a:t>
            </a: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MOVX   A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@DPTR		</a:t>
            </a:r>
          </a:p>
          <a:p>
            <a:pPr lvl="2"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 MOVX   @DPTR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A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常用数据储存器及其扩展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数据存储器的扩展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访问外部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的操作时序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常用数据储存器及其扩展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713957"/>
              </p:ext>
            </p:extLst>
          </p:nvPr>
        </p:nvGraphicFramePr>
        <p:xfrm>
          <a:off x="292099" y="2459126"/>
          <a:ext cx="8604251" cy="3900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2" name="Visio" r:id="rId6" imgW="4410181" imgH="1990692" progId="Visio.Drawing.11">
                  <p:embed/>
                </p:oleObj>
              </mc:Choice>
              <mc:Fallback>
                <p:oleObj name="Visio" r:id="rId6" imgW="4410181" imgH="199069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099" y="2459126"/>
                        <a:ext cx="8604251" cy="39004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数据存储器的扩展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访问外部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的操作时序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外部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写时序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常用数据储存器及其扩展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388460"/>
              </p:ext>
            </p:extLst>
          </p:nvPr>
        </p:nvGraphicFramePr>
        <p:xfrm>
          <a:off x="274638" y="2495550"/>
          <a:ext cx="8605837" cy="3902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9" name="Visio" r:id="rId5" imgW="4410181" imgH="1990692" progId="Visio.Drawing.11">
                  <p:embed/>
                </p:oleObj>
              </mc:Choice>
              <mc:Fallback>
                <p:oleObj name="Visio" r:id="rId5" imgW="4410181" imgH="1990692" progId="Visio.Drawing.11">
                  <p:embed/>
                  <p:pic>
                    <p:nvPicPr>
                      <p:cNvPr id="0" name="图片 61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638" y="2495550"/>
                        <a:ext cx="8605837" cy="39020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数据存储器的扩展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数据存储器扩展的一般方法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endParaRPr lang="en-US" altLang="zh-CN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常用数据储存器及其扩展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Object 5"/>
          <p:cNvGraphicFramePr>
            <a:graphicFrameLocks noChangeAspect="1"/>
          </p:cNvGraphicFramePr>
          <p:nvPr/>
        </p:nvGraphicFramePr>
        <p:xfrm>
          <a:off x="592138" y="2054225"/>
          <a:ext cx="7993062" cy="4078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2" name="Visio" r:id="rId5" imgW="4100830" imgH="2114550" progId="Visio.Drawing.6">
                  <p:embed/>
                </p:oleObj>
              </mc:Choice>
              <mc:Fallback>
                <p:oleObj name="Visio" r:id="rId5" imgW="4100830" imgH="2114550" progId="Visio.Drawing.6">
                  <p:embed/>
                  <p:pic>
                    <p:nvPicPr>
                      <p:cNvPr id="0" name="图片 717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2054225"/>
                        <a:ext cx="7993062" cy="4078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数据存储器的扩展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7-2】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(DPTR)=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2030H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，片外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单元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2030H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55H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，指令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A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DPTR(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指令代码为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E0H)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所在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片外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的地址为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2314H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常用数据储存器及其扩展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graphicFrame>
        <p:nvGraphicFramePr>
          <p:cNvPr id="11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483014"/>
              </p:ext>
            </p:extLst>
          </p:nvPr>
        </p:nvGraphicFramePr>
        <p:xfrm>
          <a:off x="268014" y="2466556"/>
          <a:ext cx="8626608" cy="3788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Visio" r:id="rId6" imgW="4467397" imgH="1971734" progId="Visio.Drawing.11">
                  <p:embed/>
                </p:oleObj>
              </mc:Choice>
              <mc:Fallback>
                <p:oleObj name="Visio" r:id="rId6" imgW="4467397" imgH="197173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014" y="2466556"/>
                        <a:ext cx="8626608" cy="378838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5215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数据存储器的扩展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7-3】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(DPTR)=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1040H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(A)=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88H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，指令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MOV  @DPTR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A(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该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指令代码为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F0H)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所在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片外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的地址为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2218H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常用数据储存器及其扩展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graphicFrame>
        <p:nvGraphicFramePr>
          <p:cNvPr id="1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636911"/>
              </p:ext>
            </p:extLst>
          </p:nvPr>
        </p:nvGraphicFramePr>
        <p:xfrm>
          <a:off x="268015" y="2467074"/>
          <a:ext cx="8625160" cy="3753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8" name="Visio" r:id="rId6" imgW="4467397" imgH="1971734" progId="Visio.Drawing.11">
                  <p:embed/>
                </p:oleObj>
              </mc:Choice>
              <mc:Fallback>
                <p:oleObj name="Visio" r:id="rId6" imgW="4467397" imgH="1971734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015" y="2467074"/>
                        <a:ext cx="8625160" cy="37531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30990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71550" y="1809621"/>
            <a:ext cx="79216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单片机系统扩展概述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常用程序存储器及其扩展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常用数据存储器及其扩展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 I/O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单片机扩展系统外部地址空间的编址方法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80C51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单片机内部有四个并行口和一个串行口，对于简单的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设备可以直接连接。当系统较为复杂时，往往要借助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简称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设备的连接。现在，许多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接口已经系列化、标准化，并具有可编程功能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单片机与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设备的关系：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I/O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/>
        </p:nvGraphicFramePr>
        <p:xfrm>
          <a:off x="1112838" y="3094910"/>
          <a:ext cx="6945312" cy="3345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7" name="Visio" r:id="rId5" imgW="4329430" imgH="2085975" progId="Visio.Drawing.6">
                  <p:embed/>
                </p:oleObj>
              </mc:Choice>
              <mc:Fallback>
                <p:oleObj name="Visio" r:id="rId5" imgW="4329430" imgH="2085975" progId="Visio.Drawing.6">
                  <p:embed/>
                  <p:pic>
                    <p:nvPicPr>
                      <p:cNvPr id="0" name="图片 82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2838" y="3094910"/>
                        <a:ext cx="6945312" cy="334506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692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接口的功能：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对单片机输出的数据锁存</a:t>
            </a:r>
          </a:p>
          <a:p>
            <a:pPr algn="just">
              <a:lnSpc>
                <a:spcPct val="14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存数据线瞬间出现的数据，以解决单片机与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设备的速度协调问题。</a:t>
            </a: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对输入设备的三态缓冲</a:t>
            </a:r>
          </a:p>
          <a:p>
            <a:pPr algn="just">
              <a:lnSpc>
                <a:spcPct val="14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外设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传送数据时要占用总线，不传送数据时必须对总线呈高阻状态。利用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接口的三态缓冲功能，可以实现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设备与数据总线的隔离，便于其它设备的总线挂接。</a:t>
            </a: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信号转换</a:t>
            </a:r>
          </a:p>
          <a:p>
            <a:pPr algn="just">
              <a:lnSpc>
                <a:spcPct val="140000"/>
              </a:lnSpc>
              <a:buClr>
                <a:srgbClr val="FF0000"/>
              </a:buClr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信号类型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数字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与模拟、电流与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电压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、信号电平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高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与低、正与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负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、信号格式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并行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串行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的转换。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时序协调</a:t>
            </a:r>
          </a:p>
          <a:p>
            <a:pPr algn="just">
              <a:lnSpc>
                <a:spcPct val="14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不同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设备定时与控制逻辑是不同的，并与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的时序往往是不一致的，这就需要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接口进行时序的协调。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I/O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474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单片机与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设备的数据传送方式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无条件传送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buClr>
                <a:srgbClr val="FF0000"/>
              </a:buClr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适用于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对简单的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设备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开关、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显示器、继电器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en-US" altLang="zh-CN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操作，或者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设备的定时固定或已知的场合。</a:t>
            </a: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查询状态传送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buClr>
                <a:srgbClr val="FF0000"/>
              </a:buClr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效率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低。</a:t>
            </a: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中断传送方式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buClr>
                <a:srgbClr val="FF0000"/>
              </a:buClr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效率高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4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直接存储器存取</a:t>
            </a:r>
            <a:r>
              <a:rPr lang="en-US" altLang="zh-CN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(DMA)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</a:t>
            </a:r>
            <a:endParaRPr lang="en-US" altLang="zh-CN" sz="24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40000"/>
              </a:lnSpc>
              <a:buClr>
                <a:srgbClr val="FF0000"/>
              </a:buClr>
            </a:pP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   适于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高速外设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以及成组交换数据的场合 </a:t>
            </a:r>
            <a:r>
              <a:rPr lang="zh-CN" altLang="en-US" sz="2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I/O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简单并行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并行输出口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的扩展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扩展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位输出口常用的锁存器有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74LS273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74LS377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以及带三态门的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8D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锁存器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74LS373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(1)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74LS273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74LS273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是带清除端的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8D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触发器，上升沿触发，具有锁存功能。 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(2)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74LS377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74LS377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是带有输出允许控制的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8D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触发器，上升沿触发 。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I/O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简单并行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并行输入口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的扩展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扩展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位并行输入口常用的三态门电路有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74LS244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74LS245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74LS373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(1)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74LS244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74LS244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是一种三态输出的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位总线缓冲驱动器，无锁存功能 。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(2)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74LS245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74LS245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是三态输出的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位总线收发器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驱动器，无锁存功能。 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I/O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简单并行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基本扩展电路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I/O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8471602"/>
              </p:ext>
            </p:extLst>
          </p:nvPr>
        </p:nvGraphicFramePr>
        <p:xfrm>
          <a:off x="595313" y="2243138"/>
          <a:ext cx="7951787" cy="3846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1" name="Visio" r:id="rId5" imgW="4924421" imgH="2333710" progId="Visio.Drawing.11">
                  <p:embed/>
                </p:oleObj>
              </mc:Choice>
              <mc:Fallback>
                <p:oleObj name="Visio" r:id="rId5" imgW="4924421" imgH="2333710" progId="Visio.Drawing.11">
                  <p:embed/>
                  <p:pic>
                    <p:nvPicPr>
                      <p:cNvPr id="0" name="图片 9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3" y="2243138"/>
                        <a:ext cx="7951787" cy="38465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简单并行</a:t>
            </a: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LED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数码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管示例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I/O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4886454"/>
              </p:ext>
            </p:extLst>
          </p:nvPr>
        </p:nvGraphicFramePr>
        <p:xfrm>
          <a:off x="1601788" y="2157413"/>
          <a:ext cx="5929312" cy="430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" name="Visio" r:id="rId5" imgW="4667126" imgH="3705075" progId="Visio.Drawing.11">
                  <p:embed/>
                </p:oleObj>
              </mc:Choice>
              <mc:Fallback>
                <p:oleObj name="Visio" r:id="rId5" imgW="4667126" imgH="3705075" progId="Visio.Drawing.11">
                  <p:embed/>
                  <p:pic>
                    <p:nvPicPr>
                      <p:cNvPr id="0" name="图片 102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1788" y="2157413"/>
                        <a:ext cx="5929312" cy="43037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7.4.2 8155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可编程多功能接口的扩展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8155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除了有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个可编程并行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端口外，还有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字节的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和一个计数器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定时器，特别适合于单片机系统需要同时扩展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口、少量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及计数器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定时器的场合。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8155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的结构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它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由下列三部分组成：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(1)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：容量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256×8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位的静态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(2)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</a:p>
          <a:p>
            <a:pPr algn="just">
              <a:lnSpc>
                <a:spcPct val="12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端口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A(PA)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PA7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2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端口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B(PB)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PB0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PB7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 algn="just">
              <a:lnSpc>
                <a:spcPct val="120000"/>
              </a:lnSpc>
              <a:buClr>
                <a:srgbClr val="FF0000"/>
              </a:buClr>
            </a:pP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端口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C(PC)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PC0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PC5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0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位二进制减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可编程计数器</a:t>
            </a:r>
            <a:r>
              <a:rPr lang="en-US" altLang="zh-CN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zh-CN" altLang="en-US" sz="20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0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I/O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7.4.2 8155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可编程多功能接口的扩展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8155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的内部结构与引脚功能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I/O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047965"/>
              </p:ext>
            </p:extLst>
          </p:nvPr>
        </p:nvGraphicFramePr>
        <p:xfrm>
          <a:off x="5214938" y="2252663"/>
          <a:ext cx="3500437" cy="396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2" name="Visio" r:id="rId5" imgW="2057312" imgH="2543312" progId="Visio.Drawing.11">
                  <p:embed/>
                </p:oleObj>
              </mc:Choice>
              <mc:Fallback>
                <p:oleObj name="Visio" r:id="rId5" imgW="2057312" imgH="2543312" progId="Visio.Drawing.11">
                  <p:embed/>
                  <p:pic>
                    <p:nvPicPr>
                      <p:cNvPr id="0" name="图片 112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4938" y="2252663"/>
                        <a:ext cx="3500437" cy="3960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5530864"/>
              </p:ext>
            </p:extLst>
          </p:nvPr>
        </p:nvGraphicFramePr>
        <p:xfrm>
          <a:off x="304800" y="2019300"/>
          <a:ext cx="4318000" cy="435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3" name="Visio" r:id="rId7" imgW="2476427" imgH="2419376" progId="Visio.Drawing.11">
                  <p:embed/>
                </p:oleObj>
              </mc:Choice>
              <mc:Fallback>
                <p:oleObj name="Visio" r:id="rId7" imgW="2476427" imgH="2419376" progId="Visio.Drawing.11">
                  <p:embed/>
                  <p:pic>
                    <p:nvPicPr>
                      <p:cNvPr id="0" name="图片 112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" y="2019300"/>
                        <a:ext cx="4318000" cy="435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7.4.2 8155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可编程多功能接口的扩展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8155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 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口寻址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00H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FFH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内部端口地址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：命令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状态寄存器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001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：计数器低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</a:p>
          <a:p>
            <a:pPr lvl="1"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：计数器高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位及计数器方式设置位</a:t>
            </a: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I/O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7.4.2 8155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可编程多功能接口的扩展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8155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的命令字、状态字及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口工作方式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方式设置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只写，不能读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I/O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Group 9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668338" y="2371723"/>
          <a:ext cx="7837486" cy="1128714"/>
        </p:xfrm>
        <a:graphic>
          <a:graphicData uri="http://schemas.openxmlformats.org/drawingml/2006/table">
            <a:tbl>
              <a:tblPr/>
              <a:tblGrid>
                <a:gridCol w="72634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7226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2820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726346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2448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2634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724489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72634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2032285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5643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anchor="ctr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anchor="ctr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en-US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677" marB="4567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5643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TM2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TM1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IEB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IEA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PC2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PC1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PB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6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PA</a:t>
                      </a:r>
                      <a:endParaRPr kumimoji="0" lang="en-US" altLang="zh-CN" sz="16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地址：</a:t>
                      </a:r>
                      <a:r>
                        <a:rPr kumimoji="0" lang="en-US" altLang="zh-CN" sz="16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000</a:t>
                      </a:r>
                      <a:endParaRPr kumimoji="0" lang="en-US" altLang="zh-CN" sz="16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T="45677" marB="45677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8" name="Rectangle 92"/>
          <p:cNvSpPr>
            <a:spLocks noChangeArrowheads="1"/>
          </p:cNvSpPr>
          <p:nvPr/>
        </p:nvSpPr>
        <p:spPr bwMode="auto">
          <a:xfrm>
            <a:off x="253999" y="3988638"/>
            <a:ext cx="8639175" cy="224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口方向。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0--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输入；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1--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PB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口方向。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0--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输入；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1--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IEA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口中断。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：允许，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：禁止</a:t>
            </a: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IEB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口中断。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：允许， 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：禁止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7.4.2 8155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可编程多功能接口的扩展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8155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的命令字、状态字及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口工作方式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PC1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PC2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口工作方式设置位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I/O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Group 3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68014" y="2490933"/>
          <a:ext cx="8625162" cy="3230880"/>
        </p:xfrm>
        <a:graphic>
          <a:graphicData uri="http://schemas.openxmlformats.org/drawingml/2006/table">
            <a:tbl>
              <a:tblPr/>
              <a:tblGrid>
                <a:gridCol w="147544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7714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67257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49376"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PC2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PC1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工作方式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说                明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9376"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ALT1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口为基本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I/O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口方向为输入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49376"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ALT2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口为基本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I/O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口方向为输出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95050"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ALT3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口为选通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I/O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PC0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PC2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作为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口的选通应答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口为基本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I/O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PC3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PC5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方向为输出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95050"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ALT4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口为选通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I/O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PC0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PC2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作为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口的选通应答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口为选通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I/O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PC3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～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PC5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作为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口的选通应答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11" name="Rectangle 112"/>
          <p:cNvSpPr>
            <a:spLocks noChangeArrowheads="1"/>
          </p:cNvSpPr>
          <p:nvPr/>
        </p:nvSpPr>
        <p:spPr bwMode="auto">
          <a:xfrm>
            <a:off x="250824" y="5631207"/>
            <a:ext cx="8642349" cy="100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 eaLnBrk="0" hangingPunct="0"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Font typeface="Wingdings" panose="05000000000000000000" pitchFamily="2" charset="2"/>
              <a:buChar char="v"/>
              <a:defRPr sz="2400" b="1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IEA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口的中断允许设置位。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0--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禁止；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1--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允许。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IEB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口的中断允许设置位。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0--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禁止；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1--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允许。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7.4.2 8155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可编程多功能接口的扩展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8155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的定时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计数器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TM2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TM1</a:t>
            </a:r>
            <a:r>
              <a:rPr lang="zh-CN" altLang="en-US" sz="2400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：计数器工作方式设置位</a:t>
            </a:r>
            <a:endParaRPr lang="zh-CN" altLang="en-US" sz="2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I/O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Group 129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50825" y="2681288"/>
          <a:ext cx="8642350" cy="3686812"/>
        </p:xfrm>
        <a:graphic>
          <a:graphicData uri="http://schemas.openxmlformats.org/drawingml/2006/table">
            <a:tbl>
              <a:tblPr/>
              <a:tblGrid>
                <a:gridCol w="153987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711825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01663"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TM2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TM1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工作方式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说                明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601663"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方式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空操作，对计数器无影响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01663"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方式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使计数器停止计数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01663"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方式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减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计数器回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后停止工作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120775"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方式</a:t>
                      </a:r>
                      <a:r>
                        <a:rPr kumimoji="0" lang="en-US" altLang="zh-CN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buClr>
                          <a:schemeClr val="hlink"/>
                        </a:buClr>
                        <a:defRPr sz="2400" b="1">
                          <a:solidFill>
                            <a:schemeClr val="hlink"/>
                          </a:solidFill>
                          <a:latin typeface="Verdana" panose="020B0604030504040204" pitchFamily="34" charset="0"/>
                        </a:defRPr>
                      </a:lvl1pPr>
                      <a:lvl2pPr marL="742950" indent="-285750" eaLnBrk="0" hangingPunct="0">
                        <a:buClr>
                          <a:schemeClr val="accent1"/>
                        </a:buClr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 eaLnBrk="0" hangingPunct="0"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未计数时，送完初值及方式后立即启动计数；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正在计数时，重置初值后，减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计数器回</a:t>
                      </a:r>
                      <a:r>
                        <a:rPr kumimoji="0" lang="en-US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zh-CN" alt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则按新计数初值计数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7.4.2 8155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可编程多功能接口的扩展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8155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系列单片机的连接方法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I/O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3663529"/>
              </p:ext>
            </p:extLst>
          </p:nvPr>
        </p:nvGraphicFramePr>
        <p:xfrm>
          <a:off x="1481138" y="2132013"/>
          <a:ext cx="6173787" cy="414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name="Visio" r:id="rId5" imgW="2867109" imgH="2276482" progId="Visio.Drawing.11">
                  <p:embed/>
                </p:oleObj>
              </mc:Choice>
              <mc:Fallback>
                <p:oleObj name="Visio" r:id="rId5" imgW="2867109" imgH="2276482" progId="Visio.Drawing.11">
                  <p:embed/>
                  <p:pic>
                    <p:nvPicPr>
                      <p:cNvPr id="0" name="图片 122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1138" y="2132013"/>
                        <a:ext cx="6173787" cy="414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7.4.2 8155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可编程多功能接口的扩展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8155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MCS-51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系列单片机的连接方法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I/O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5801051"/>
              </p:ext>
            </p:extLst>
          </p:nvPr>
        </p:nvGraphicFramePr>
        <p:xfrm>
          <a:off x="990600" y="2379663"/>
          <a:ext cx="7170738" cy="3951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6" name="Visio" r:id="rId5" imgW="5429184" imgH="2990954" progId="Visio.Drawing.11">
                  <p:embed/>
                </p:oleObj>
              </mc:Choice>
              <mc:Fallback>
                <p:oleObj name="Visio" r:id="rId5" imgW="5429184" imgH="2990954" progId="Visio.Drawing.11">
                  <p:embed/>
                  <p:pic>
                    <p:nvPicPr>
                      <p:cNvPr id="0" name="图片 133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379663"/>
                        <a:ext cx="7170738" cy="3951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71550" y="1809621"/>
            <a:ext cx="79216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单片机系统扩展概述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7.2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常用程序存储器及其扩展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7.3 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常用数据存储器及其扩展</a:t>
            </a:r>
          </a:p>
          <a:p>
            <a:pPr lvl="0" algn="just">
              <a:lnSpc>
                <a:spcPct val="150000"/>
              </a:lnSpc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7.4  I/O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口的扩展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单片机扩展系统外部地址空间的编址方法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所谓</a:t>
            </a:r>
            <a:r>
              <a:rPr lang="zh-CN" altLang="en-US" sz="24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编址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，就是使用系统提供的地址线，通过适当地连接，使外部存储器的每一个单元，或扩展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I/O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接口的每一个端口都对应一个地址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线选法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</a:t>
            </a:r>
            <a:r>
              <a:rPr lang="zh-CN" altLang="en-US" sz="24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法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：单片机</a:t>
            </a:r>
            <a:r>
              <a:rPr lang="en-US" altLang="zh-CN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口未被扩展芯片地址线占用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的地址总线直接</a:t>
            </a:r>
            <a:r>
              <a:rPr lang="zh-CN" altLang="en-US" sz="24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与外接芯片的片选端相连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，即直接用系统的高位地址线作</a:t>
            </a:r>
            <a:r>
              <a:rPr lang="en-US" altLang="zh-CN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芯片的片选信号。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：电路简单，不需要外加增加硬件，体积小，成本低。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缺点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：可寻址的器件数目受限，地址空间不连续。 </a:t>
            </a:r>
            <a:endParaRPr lang="en-US" altLang="zh-CN" sz="24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4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只适于外扩芯片不多，规模不大的单片机系统。</a:t>
            </a:r>
            <a:endParaRPr lang="zh-CN" altLang="en-US" sz="24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扩展系统外部地址空间的编址方法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7.5.1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线选法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扩展系统外部地址空间的编址方法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10" name="Picture 4" descr="8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620"/>
          <a:stretch/>
        </p:blipFill>
        <p:spPr bwMode="auto">
          <a:xfrm>
            <a:off x="2066925" y="3087528"/>
            <a:ext cx="5064285" cy="349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268015" y="1308370"/>
            <a:ext cx="86251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2732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4KB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根地址线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A11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根片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选线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6116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2KB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根地址线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根片选线</a:t>
            </a:r>
          </a:p>
          <a:p>
            <a:pPr>
              <a:lnSpc>
                <a:spcPct val="120000"/>
              </a:lnSpc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 片选端低电平有效，地址范围：   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2732(1)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7000H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7FFFH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;  2732(2)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B000H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BFFFH;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6116(1)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E800H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EFFFH;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6116(2)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D800H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DFFFH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4526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 smtClean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译码法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：单片机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口未被扩展芯片地址线占用的地址总线首先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译码器译码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，译码输出信号线再与外接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芯片片选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端相连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，当某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位译码输出信号为低电平，与译码输出信号相连的外接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芯片被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选中。</a:t>
            </a: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特点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：在</a:t>
            </a:r>
            <a:r>
              <a:rPr lang="en-US" altLang="zh-CN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口未被扩展芯片地址线占用的地址总线数量相同的情况下，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可比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线选法扩展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更多的芯片，且可使各扩展芯片空间</a:t>
            </a:r>
            <a:r>
              <a:rPr lang="zh-CN" altLang="en-US" sz="2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地址连续，因而</a:t>
            </a:r>
            <a:r>
              <a:rPr lang="zh-CN" altLang="en-US" sz="22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适用于扩展芯片数量多、地址空间容量大的复杂系统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2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</a:t>
            </a:r>
            <a:r>
              <a:rPr lang="zh-CN" altLang="en-US" sz="2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：全部高位地址都参加译码。</a:t>
            </a:r>
            <a:endParaRPr lang="en-US" altLang="zh-CN" sz="22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n"/>
            </a:pPr>
            <a:r>
              <a:rPr lang="zh-CN" altLang="en-US" sz="2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部分译码</a:t>
            </a:r>
            <a:r>
              <a:rPr lang="zh-CN" altLang="en-US" sz="2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：仅部分高位地址参加译码。</a:t>
            </a:r>
            <a:endParaRPr lang="zh-CN" altLang="en-US" sz="2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扩展系统外部地址空间的编址方法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801" y="6420139"/>
            <a:ext cx="2496522" cy="3600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7505" y="736608"/>
            <a:ext cx="8635669" cy="581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>
                <a:srgbClr val="FF0000"/>
              </a:buClr>
            </a:pPr>
            <a:r>
              <a:rPr lang="en-US" altLang="zh-CN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7.5.2 </a:t>
            </a:r>
            <a:r>
              <a:rPr lang="zh-CN" altLang="en-US" sz="24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译码法</a:t>
            </a:r>
            <a:endParaRPr lang="en-US" altLang="zh-CN" sz="24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8014" y="202402"/>
            <a:ext cx="8625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7.5 </a:t>
            </a:r>
            <a:r>
              <a:rPr lang="zh-CN" altLang="en-US" sz="28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扩展系统外部地址空间的编址方法</a:t>
            </a:r>
            <a:endParaRPr lang="zh-CN" altLang="en-US" sz="28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9106" y="80688"/>
            <a:ext cx="1876103" cy="540000"/>
          </a:xfrm>
          <a:prstGeom prst="rect">
            <a:avLst/>
          </a:prstGeom>
        </p:spPr>
      </p:pic>
      <p:pic>
        <p:nvPicPr>
          <p:cNvPr id="10" name="Picture 6" descr="8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9" t="1628" r="1422" b="12291"/>
          <a:stretch/>
        </p:blipFill>
        <p:spPr bwMode="auto">
          <a:xfrm>
            <a:off x="276225" y="1609725"/>
            <a:ext cx="8629650" cy="352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09950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42289604-0fe6-4cb7-8cbe-8b781eacdc98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98630384-f8b3-4580-a88e-e23cc10e45a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3ddfde6f-4fc5-4b37-9565-df21a75d8524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{cec3970b-46f2-42bd-be24-cd8bef8952e6}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393</TotalTime>
  <Words>3726</Words>
  <Application>Microsoft Office PowerPoint</Application>
  <PresentationFormat>全屏显示(4:3)</PresentationFormat>
  <Paragraphs>469</Paragraphs>
  <Slides>50</Slides>
  <Notes>45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50</vt:i4>
      </vt:variant>
    </vt:vector>
  </HeadingPairs>
  <TitlesOfParts>
    <vt:vector size="62" baseType="lpstr">
      <vt:lpstr>黑体</vt:lpstr>
      <vt:lpstr>宋体</vt:lpstr>
      <vt:lpstr>微软雅黑</vt:lpstr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GXH</dc:creator>
  <cp:lastModifiedBy>GXH_PC</cp:lastModifiedBy>
  <cp:revision>618</cp:revision>
  <dcterms:created xsi:type="dcterms:W3CDTF">2019-03-15T01:02:00Z</dcterms:created>
  <dcterms:modified xsi:type="dcterms:W3CDTF">2022-03-29T00:52:20Z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