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2"/>
  </p:notesMasterIdLst>
  <p:sldIdLst>
    <p:sldId id="469" r:id="rId2"/>
    <p:sldId id="256" r:id="rId3"/>
    <p:sldId id="258" r:id="rId4"/>
    <p:sldId id="267" r:id="rId5"/>
    <p:sldId id="329" r:id="rId6"/>
    <p:sldId id="330" r:id="rId7"/>
    <p:sldId id="331" r:id="rId8"/>
    <p:sldId id="274" r:id="rId9"/>
    <p:sldId id="459" r:id="rId10"/>
    <p:sldId id="275" r:id="rId11"/>
    <p:sldId id="284" r:id="rId12"/>
    <p:sldId id="291" r:id="rId13"/>
    <p:sldId id="285" r:id="rId14"/>
    <p:sldId id="288" r:id="rId15"/>
    <p:sldId id="450" r:id="rId16"/>
    <p:sldId id="451" r:id="rId17"/>
    <p:sldId id="286" r:id="rId18"/>
    <p:sldId id="276" r:id="rId19"/>
    <p:sldId id="277" r:id="rId20"/>
    <p:sldId id="467" r:id="rId21"/>
    <p:sldId id="468" r:id="rId22"/>
    <p:sldId id="281" r:id="rId23"/>
    <p:sldId id="460" r:id="rId24"/>
    <p:sldId id="282" r:id="rId25"/>
    <p:sldId id="260" r:id="rId26"/>
    <p:sldId id="461" r:id="rId27"/>
    <p:sldId id="462" r:id="rId28"/>
    <p:sldId id="289" r:id="rId29"/>
    <p:sldId id="264" r:id="rId30"/>
    <p:sldId id="290" r:id="rId31"/>
    <p:sldId id="278" r:id="rId32"/>
    <p:sldId id="314" r:id="rId33"/>
    <p:sldId id="315" r:id="rId34"/>
    <p:sldId id="280" r:id="rId35"/>
    <p:sldId id="299" r:id="rId36"/>
    <p:sldId id="287" r:id="rId37"/>
    <p:sldId id="292" r:id="rId38"/>
    <p:sldId id="293" r:id="rId39"/>
    <p:sldId id="294" r:id="rId40"/>
    <p:sldId id="427" r:id="rId41"/>
    <p:sldId id="300" r:id="rId42"/>
    <p:sldId id="301" r:id="rId43"/>
    <p:sldId id="302" r:id="rId44"/>
    <p:sldId id="303" r:id="rId45"/>
    <p:sldId id="304" r:id="rId46"/>
    <p:sldId id="305" r:id="rId47"/>
    <p:sldId id="306" r:id="rId48"/>
    <p:sldId id="307" r:id="rId49"/>
    <p:sldId id="309" r:id="rId50"/>
    <p:sldId id="308" r:id="rId51"/>
    <p:sldId id="310" r:id="rId52"/>
    <p:sldId id="311" r:id="rId53"/>
    <p:sldId id="316" r:id="rId54"/>
    <p:sldId id="465" r:id="rId55"/>
    <p:sldId id="317" r:id="rId56"/>
    <p:sldId id="313" r:id="rId57"/>
    <p:sldId id="318" r:id="rId58"/>
    <p:sldId id="319" r:id="rId59"/>
    <p:sldId id="328" r:id="rId60"/>
    <p:sldId id="320" r:id="rId61"/>
    <p:sldId id="453" r:id="rId62"/>
    <p:sldId id="326" r:id="rId63"/>
    <p:sldId id="452" r:id="rId64"/>
    <p:sldId id="454" r:id="rId65"/>
    <p:sldId id="455" r:id="rId66"/>
    <p:sldId id="456" r:id="rId67"/>
    <p:sldId id="464" r:id="rId68"/>
    <p:sldId id="327" r:id="rId69"/>
    <p:sldId id="321" r:id="rId70"/>
    <p:sldId id="466" r:id="rId71"/>
  </p:sldIdLst>
  <p:sldSz cx="9144000" cy="6858000" type="screen4x3"/>
  <p:notesSz cx="6858000" cy="9144000"/>
  <p:custDataLst>
    <p:tags r:id="rId73"/>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51" userDrawn="1">
          <p15:clr>
            <a:srgbClr val="A4A3A4"/>
          </p15:clr>
        </p15:guide>
        <p15:guide id="3" orient="horz" pos="4159" userDrawn="1">
          <p15:clr>
            <a:srgbClr val="A4A3A4"/>
          </p15:clr>
        </p15:guide>
        <p15:guide id="4" orient="horz" pos="459" userDrawn="1">
          <p15:clr>
            <a:srgbClr val="A4A3A4"/>
          </p15:clr>
        </p15:guide>
        <p15:guide id="5" pos="3055" userDrawn="1">
          <p15:clr>
            <a:srgbClr val="A4A3A4"/>
          </p15:clr>
        </p15:guide>
        <p15:guide id="6" pos="158" userDrawn="1">
          <p15:clr>
            <a:srgbClr val="A4A3A4"/>
          </p15:clr>
        </p15:guide>
        <p15:guide id="7" pos="5603" userDrawn="1">
          <p15:clr>
            <a:srgbClr val="A4A3A4"/>
          </p15:clr>
        </p15:guide>
        <p15:guide id="8" pos="5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76A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39" autoAdjust="0"/>
    <p:restoredTop sz="85415" autoAdjust="0"/>
  </p:normalViewPr>
  <p:slideViewPr>
    <p:cSldViewPr snapToGrid="0" showGuides="1">
      <p:cViewPr varScale="1">
        <p:scale>
          <a:sx n="64" d="100"/>
          <a:sy n="64" d="100"/>
        </p:scale>
        <p:origin x="1284" y="33"/>
      </p:cViewPr>
      <p:guideLst>
        <p:guide orient="horz" pos="2160"/>
        <p:guide orient="horz" pos="51"/>
        <p:guide orient="horz" pos="4159"/>
        <p:guide orient="horz" pos="459"/>
        <p:guide pos="3055"/>
        <p:guide pos="158"/>
        <p:guide pos="5603"/>
        <p:guide pos="535"/>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02C4C965-7A50-402F-B779-42FCAFEAA790}" type="datetimeFigureOut">
              <a:rPr lang="zh-CN" altLang="en-US"/>
              <a:t>2025/9/23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FC1D4CF8-9B35-4CEF-969D-82DBBB605237}"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blog.csdn.net/weixin_53269100/article/details/140146647"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zhidao.baidu.com/search?word=%E5%AF%84%E5%AD%98%E5%99%A8&amp;fr=iknow_pc_qb_highlight"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zhidao.baidu.com/search?word=%E5%81%8F%E7%A7%BB%E9%87%8F&amp;fr=iknow_pc_qb_highlight"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BCB</a:t>
            </a:r>
            <a:endParaRPr lang="zh-CN" altLang="en-US" dirty="0"/>
          </a:p>
        </p:txBody>
      </p:sp>
      <p:sp>
        <p:nvSpPr>
          <p:cNvPr id="4" name="灯片编号占位符 3"/>
          <p:cNvSpPr>
            <a:spLocks noGrp="1"/>
          </p:cNvSpPr>
          <p:nvPr>
            <p:ph type="sldNum" sz="quarter" idx="5"/>
          </p:nvPr>
        </p:nvSpPr>
        <p:spPr/>
        <p:txBody>
          <a:bodyPr/>
          <a:lstStyle/>
          <a:p>
            <a:pPr>
              <a:defRPr/>
            </a:pPr>
            <a:fld id="{FC1D4CF8-9B35-4CEF-969D-82DBBB605237}" type="slidenum">
              <a:rPr lang="zh-CN" altLang="en-US" smtClean="0"/>
              <a:t>1</a:t>
            </a:fld>
            <a:endParaRPr lang="zh-CN" altLang="en-US"/>
          </a:p>
        </p:txBody>
      </p:sp>
    </p:spTree>
    <p:extLst>
      <p:ext uri="{BB962C8B-B14F-4D97-AF65-F5344CB8AC3E}">
        <p14:creationId xmlns:p14="http://schemas.microsoft.com/office/powerpoint/2010/main" val="1371301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C1D4CF8-9B35-4CEF-969D-82DBBB60523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1"/>
          <p:cNvSpPr>
            <a:spLocks noGrp="1" noRot="1" noChangeAspect="1"/>
          </p:cNvSpPr>
          <p:nvPr>
            <p:ph type="sldImg"/>
          </p:nvPr>
        </p:nvSpPr>
        <p:spPr bwMode="auto">
          <a:noFill/>
          <a:ln>
            <a:solidFill>
              <a:srgbClr val="000000"/>
            </a:solidFill>
            <a:miter lim="800000"/>
          </a:ln>
        </p:spPr>
      </p:sp>
      <p:sp>
        <p:nvSpPr>
          <p:cNvPr id="17410" name="备注占位符 2"/>
          <p:cNvSpPr>
            <a:spLocks noGrp="1"/>
          </p:cNvSpPr>
          <p:nvPr>
            <p:ph type="body" idx="1"/>
          </p:nvPr>
        </p:nvSpPr>
        <p:spPr bwMode="auto">
          <a:noFill/>
        </p:spPr>
        <p:txBody>
          <a:bodyPr wrap="square" numCol="1" anchor="t" anchorCtr="0" compatLnSpc="1"/>
          <a:lstStyle/>
          <a:p>
            <a:pPr>
              <a:spcBef>
                <a:spcPct val="0"/>
              </a:spcBef>
            </a:pPr>
            <a:r>
              <a:rPr lang="en-US" altLang="zh-CN" sz="1200" b="1" i="0" kern="1200" dirty="0">
                <a:solidFill>
                  <a:schemeClr val="tx1"/>
                </a:solidFill>
                <a:effectLst/>
                <a:latin typeface="+mn-lt"/>
                <a:ea typeface="+mn-ea"/>
                <a:cs typeface="+mn-cs"/>
              </a:rPr>
              <a:t>EPROM </a:t>
            </a:r>
            <a:r>
              <a:rPr lang="zh-CN" altLang="en-US" sz="1200" b="0" i="0" kern="1200" dirty="0">
                <a:solidFill>
                  <a:schemeClr val="tx1"/>
                </a:solidFill>
                <a:effectLst/>
                <a:latin typeface="+mn-lt"/>
                <a:ea typeface="+mn-ea"/>
                <a:cs typeface="+mn-cs"/>
              </a:rPr>
              <a:t>可擦写可编程只读存储器，是一种非易失性存储器，这意味着即使在断电后，它也能保留数据。</a:t>
            </a:r>
            <a:r>
              <a:rPr lang="en-US" altLang="zh-CN" sz="1200" b="0" i="0" kern="1200" dirty="0">
                <a:solidFill>
                  <a:schemeClr val="tx1"/>
                </a:solidFill>
                <a:effectLst/>
                <a:latin typeface="+mn-lt"/>
                <a:ea typeface="+mn-ea"/>
                <a:cs typeface="+mn-cs"/>
              </a:rPr>
              <a:t>EPROM</a:t>
            </a:r>
            <a:r>
              <a:rPr lang="zh-CN" altLang="en-US" sz="1200" b="0" i="0" kern="1200" dirty="0">
                <a:solidFill>
                  <a:schemeClr val="tx1"/>
                </a:solidFill>
                <a:effectLst/>
                <a:latin typeface="+mn-lt"/>
                <a:ea typeface="+mn-ea"/>
                <a:cs typeface="+mn-cs"/>
              </a:rPr>
              <a:t>的特点是可以通过紫外线擦除数据，然后重新编程。</a:t>
            </a:r>
            <a:endParaRPr lang="en-US" altLang="zh-CN" sz="1200" b="0" i="0" kern="1200" dirty="0">
              <a:solidFill>
                <a:schemeClr val="tx1"/>
              </a:solidFill>
              <a:effectLst/>
              <a:latin typeface="+mn-lt"/>
              <a:ea typeface="+mn-ea"/>
              <a:cs typeface="+mn-cs"/>
            </a:endParaRPr>
          </a:p>
          <a:p>
            <a:pPr>
              <a:spcBef>
                <a:spcPct val="0"/>
              </a:spcBef>
            </a:pPr>
            <a:r>
              <a:rPr lang="en-US" altLang="zh-CN" sz="1200" b="1" i="0" kern="1200" dirty="0">
                <a:solidFill>
                  <a:schemeClr val="tx1"/>
                </a:solidFill>
                <a:effectLst/>
                <a:latin typeface="+mn-lt"/>
                <a:ea typeface="+mn-ea"/>
                <a:cs typeface="+mn-cs"/>
              </a:rPr>
              <a:t>E2PROM</a:t>
            </a:r>
            <a:r>
              <a:rPr lang="zh-CN" altLang="en-US" sz="1200" b="0" i="0" kern="1200" dirty="0">
                <a:solidFill>
                  <a:schemeClr val="tx1"/>
                </a:solidFill>
                <a:effectLst/>
                <a:latin typeface="+mn-lt"/>
                <a:ea typeface="+mn-ea"/>
                <a:cs typeface="+mn-cs"/>
              </a:rPr>
              <a:t>电可擦除可编程只读存储器，是一种非易失性存储器，即使在断电的情况下也能保持数据不丢失。</a:t>
            </a:r>
            <a:r>
              <a:rPr lang="en-US" altLang="zh-CN" sz="1200" b="0" i="0" kern="1200" dirty="0">
                <a:solidFill>
                  <a:schemeClr val="tx1"/>
                </a:solidFill>
                <a:effectLst/>
                <a:latin typeface="+mn-lt"/>
                <a:ea typeface="+mn-ea"/>
                <a:cs typeface="+mn-cs"/>
              </a:rPr>
              <a:t>EEPROM</a:t>
            </a:r>
            <a:r>
              <a:rPr lang="zh-CN" altLang="en-US" sz="1200" b="0" i="0" kern="1200" dirty="0">
                <a:solidFill>
                  <a:schemeClr val="tx1"/>
                </a:solidFill>
                <a:effectLst/>
                <a:latin typeface="+mn-lt"/>
                <a:ea typeface="+mn-ea"/>
                <a:cs typeface="+mn-cs"/>
              </a:rPr>
              <a:t>可以通过电子信号擦除和重新编程，常用于存储少量数据，如设备配置信息或小型程序。</a:t>
            </a:r>
            <a:endParaRPr lang="zh-CN" altLang="en-US" dirty="0"/>
          </a:p>
          <a:p>
            <a:pPr>
              <a:spcBef>
                <a:spcPct val="0"/>
              </a:spcBef>
            </a:pPr>
            <a:endParaRPr lang="zh-CN" altLang="en-US" dirty="0"/>
          </a:p>
        </p:txBody>
      </p:sp>
      <p:sp>
        <p:nvSpPr>
          <p:cNvPr id="1741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E0687CA2-0874-4488-AF60-B222B16ED299}" type="slidenum">
              <a:rPr lang="zh-CN" altLang="en-US"/>
              <a:t>4</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p:cNvSpPr>
          <p:nvPr>
            <p:ph type="sldImg"/>
          </p:nvPr>
        </p:nvSpPr>
        <p:spPr bwMode="auto">
          <a:noFill/>
          <a:ln>
            <a:solidFill>
              <a:srgbClr val="000000"/>
            </a:solidFill>
            <a:miter lim="800000"/>
          </a:ln>
        </p:spPr>
      </p:sp>
      <p:sp>
        <p:nvSpPr>
          <p:cNvPr id="19458" name="备注占位符 2"/>
          <p:cNvSpPr>
            <a:spLocks noGrp="1"/>
          </p:cNvSpPr>
          <p:nvPr>
            <p:ph type="body" idx="1"/>
          </p:nvPr>
        </p:nvSpPr>
        <p:spPr bwMode="auto">
          <a:noFill/>
        </p:spPr>
        <p:txBody>
          <a:bodyPr wrap="square" numCol="1" anchor="t" anchorCtr="0" compatLnSpc="1"/>
          <a:lstStyle/>
          <a:p>
            <a:pPr>
              <a:spcBef>
                <a:spcPct val="0"/>
              </a:spcBef>
            </a:pPr>
            <a:r>
              <a:rPr lang="en-US" altLang="zh-CN" sz="1200" b="1" i="0" kern="1200" dirty="0">
                <a:solidFill>
                  <a:schemeClr val="tx1"/>
                </a:solidFill>
                <a:effectLst/>
                <a:latin typeface="+mn-lt"/>
                <a:ea typeface="+mn-ea"/>
                <a:cs typeface="+mn-cs"/>
              </a:rPr>
              <a:t>DIP</a:t>
            </a:r>
            <a:r>
              <a:rPr lang="zh-CN" altLang="en-US" sz="1200" b="1" i="0" kern="1200" dirty="0">
                <a:solidFill>
                  <a:schemeClr val="tx1"/>
                </a:solidFill>
                <a:effectLst/>
                <a:latin typeface="+mn-lt"/>
                <a:ea typeface="+mn-ea"/>
                <a:cs typeface="+mn-cs"/>
              </a:rPr>
              <a:t>封装</a:t>
            </a:r>
            <a:r>
              <a:rPr lang="zh-CN" altLang="en-US" sz="1200" b="0" i="0" kern="1200" dirty="0">
                <a:solidFill>
                  <a:schemeClr val="tx1"/>
                </a:solidFill>
                <a:effectLst/>
                <a:latin typeface="+mn-lt"/>
                <a:ea typeface="+mn-ea"/>
                <a:cs typeface="+mn-cs"/>
              </a:rPr>
              <a:t> 双列直插式封装，具有两排平行的金属引脚</a:t>
            </a:r>
            <a:endParaRPr lang="zh-CN" altLang="en-US" dirty="0"/>
          </a:p>
        </p:txBody>
      </p:sp>
      <p:sp>
        <p:nvSpPr>
          <p:cNvPr id="1945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D9126124-50AF-4A0C-8198-CEF3501371C6}" type="slidenum">
              <a:rPr lang="zh-CN" altLang="en-US"/>
              <a:t>5</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p:cNvSpPr>
          <p:nvPr>
            <p:ph type="sldImg"/>
          </p:nvPr>
        </p:nvSpPr>
        <p:spPr bwMode="auto">
          <a:noFill/>
          <a:ln>
            <a:solidFill>
              <a:srgbClr val="000000"/>
            </a:solidFill>
            <a:miter lim="800000"/>
          </a:ln>
        </p:spPr>
      </p:sp>
      <p:sp>
        <p:nvSpPr>
          <p:cNvPr id="21506" name="备注占位符 2"/>
          <p:cNvSpPr>
            <a:spLocks noGrp="1"/>
          </p:cNvSpPr>
          <p:nvPr>
            <p:ph type="body" idx="1"/>
          </p:nvPr>
        </p:nvSpPr>
        <p:spPr bwMode="auto">
          <a:noFill/>
        </p:spPr>
        <p:txBody>
          <a:bodyPr wrap="square" numCol="1" anchor="t" anchorCtr="0" compatLnSpc="1"/>
          <a:lstStyle/>
          <a:p>
            <a:r>
              <a:rPr lang="zh-CN" altLang="en-US" sz="1200" b="1" i="0" kern="1200" dirty="0">
                <a:solidFill>
                  <a:schemeClr val="tx1"/>
                </a:solidFill>
                <a:effectLst/>
                <a:latin typeface="+mn-lt"/>
                <a:ea typeface="+mn-ea"/>
                <a:cs typeface="+mn-cs"/>
              </a:rPr>
              <a:t>晶振</a:t>
            </a:r>
            <a:r>
              <a:rPr lang="zh-CN" altLang="en-US" sz="1200" b="0" i="0" kern="1200" dirty="0">
                <a:solidFill>
                  <a:schemeClr val="tx1"/>
                </a:solidFill>
                <a:effectLst/>
                <a:latin typeface="+mn-lt"/>
                <a:ea typeface="+mn-ea"/>
                <a:cs typeface="+mn-cs"/>
              </a:rPr>
              <a:t>，即</a:t>
            </a:r>
            <a:r>
              <a:rPr lang="zh-CN" altLang="en-US" sz="1200" b="1" i="0" kern="1200" dirty="0">
                <a:solidFill>
                  <a:schemeClr val="tx1"/>
                </a:solidFill>
                <a:effectLst/>
                <a:latin typeface="+mn-lt"/>
                <a:ea typeface="+mn-ea"/>
                <a:cs typeface="+mn-cs"/>
              </a:rPr>
              <a:t>晶体振荡器</a:t>
            </a:r>
            <a:r>
              <a:rPr lang="zh-CN" altLang="en-US" sz="1200" b="0" i="0" kern="1200" dirty="0">
                <a:solidFill>
                  <a:schemeClr val="tx1"/>
                </a:solidFill>
                <a:effectLst/>
                <a:latin typeface="+mn-lt"/>
                <a:ea typeface="+mn-ea"/>
                <a:cs typeface="+mn-cs"/>
              </a:rPr>
              <a:t>，是电子电路中常用的元件，主要分为</a:t>
            </a:r>
            <a:r>
              <a:rPr lang="zh-CN" altLang="en-US" sz="1200" b="1" i="0" kern="1200" dirty="0">
                <a:solidFill>
                  <a:schemeClr val="tx1"/>
                </a:solidFill>
                <a:effectLst/>
                <a:latin typeface="+mn-lt"/>
                <a:ea typeface="+mn-ea"/>
                <a:cs typeface="+mn-cs"/>
              </a:rPr>
              <a:t>有源晶振</a:t>
            </a:r>
            <a:r>
              <a:rPr lang="zh-CN" altLang="en-US" sz="1200" b="0" i="0" kern="1200" dirty="0">
                <a:solidFill>
                  <a:schemeClr val="tx1"/>
                </a:solidFill>
                <a:effectLst/>
                <a:latin typeface="+mn-lt"/>
                <a:ea typeface="+mn-ea"/>
                <a:cs typeface="+mn-cs"/>
              </a:rPr>
              <a:t>和</a:t>
            </a:r>
            <a:r>
              <a:rPr lang="zh-CN" altLang="en-US" sz="1200" b="1" i="0" kern="1200" dirty="0">
                <a:solidFill>
                  <a:schemeClr val="tx1"/>
                </a:solidFill>
                <a:effectLst/>
                <a:latin typeface="+mn-lt"/>
                <a:ea typeface="+mn-ea"/>
                <a:cs typeface="+mn-cs"/>
              </a:rPr>
              <a:t>无源晶振</a:t>
            </a:r>
            <a:r>
              <a:rPr lang="zh-CN" altLang="en-US" sz="1200" b="0" i="0" kern="1200" dirty="0">
                <a:solidFill>
                  <a:schemeClr val="tx1"/>
                </a:solidFill>
                <a:effectLst/>
                <a:latin typeface="+mn-lt"/>
                <a:ea typeface="+mn-ea"/>
                <a:cs typeface="+mn-cs"/>
              </a:rPr>
              <a:t>两种类型。晶振的主要功能是提供稳定的频率信号，广泛应用于时钟、通信和信号处理等领域。</a:t>
            </a:r>
            <a:r>
              <a:rPr lang="zh-CN" altLang="en-US" sz="1200" b="1" i="0" u="none" strike="noStrike" kern="1200" dirty="0">
                <a:solidFill>
                  <a:schemeClr val="tx1"/>
                </a:solidFill>
                <a:effectLst/>
                <a:latin typeface="+mn-lt"/>
                <a:ea typeface="+mn-ea"/>
                <a:cs typeface="+mn-cs"/>
              </a:rPr>
              <a:t>应用</a:t>
            </a:r>
            <a:r>
              <a:rPr lang="zh-CN" altLang="en-US" sz="1200" b="0" i="0" u="none" strike="noStrike" kern="1200" dirty="0">
                <a:solidFill>
                  <a:schemeClr val="tx1"/>
                </a:solidFill>
                <a:effectLst/>
                <a:latin typeface="+mn-lt"/>
                <a:ea typeface="+mn-ea"/>
                <a:cs typeface="+mn-cs"/>
              </a:rPr>
              <a:t>：晶振在电子设备中用于时钟生成、频率合成和信号处理等。 </a:t>
            </a:r>
            <a:endParaRPr lang="en-US" altLang="zh-CN" sz="1200" b="0" i="0" u="none" strike="noStrike"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特殊功能寄存器（</a:t>
            </a:r>
            <a:r>
              <a:rPr lang="en-US" altLang="zh-CN" sz="1200" b="0" i="0" kern="1200" dirty="0">
                <a:solidFill>
                  <a:schemeClr val="tx1"/>
                </a:solidFill>
                <a:effectLst/>
                <a:latin typeface="+mn-lt"/>
                <a:ea typeface="+mn-ea"/>
                <a:cs typeface="+mn-cs"/>
              </a:rPr>
              <a:t>Special Function Register</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SFR</a:t>
            </a:r>
            <a:r>
              <a:rPr lang="zh-CN" altLang="en-US" sz="1200" b="0" i="0" kern="1200" dirty="0">
                <a:solidFill>
                  <a:schemeClr val="tx1"/>
                </a:solidFill>
                <a:effectLst/>
                <a:latin typeface="+mn-lt"/>
                <a:ea typeface="+mn-ea"/>
                <a:cs typeface="+mn-cs"/>
              </a:rPr>
              <a:t>）是</a:t>
            </a:r>
            <a:r>
              <a:rPr lang="en-US" altLang="zh-CN" sz="1200" b="0" i="0" kern="1200" dirty="0">
                <a:solidFill>
                  <a:schemeClr val="tx1"/>
                </a:solidFill>
                <a:effectLst/>
                <a:latin typeface="+mn-lt"/>
                <a:ea typeface="+mn-ea"/>
                <a:cs typeface="+mn-cs"/>
              </a:rPr>
              <a:t>80C51</a:t>
            </a:r>
            <a:r>
              <a:rPr lang="zh-CN" altLang="en-US" sz="1200" b="0" i="0" kern="1200" dirty="0">
                <a:solidFill>
                  <a:schemeClr val="tx1"/>
                </a:solidFill>
                <a:effectLst/>
                <a:latin typeface="+mn-lt"/>
                <a:ea typeface="+mn-ea"/>
                <a:cs typeface="+mn-cs"/>
              </a:rPr>
              <a:t>单片机中各功能部件对应的寄存器，用于存放相应功能部件的控制命令、状态或数据。这些寄存器在单片机的操作和控制中起着至关重要的作用。包括：</a:t>
            </a:r>
            <a:r>
              <a:rPr lang="zh-CN" altLang="en-US" sz="1200" b="1" i="0" kern="1200" dirty="0">
                <a:solidFill>
                  <a:schemeClr val="tx1"/>
                </a:solidFill>
                <a:effectLst/>
                <a:latin typeface="+mn-lt"/>
                <a:ea typeface="+mn-ea"/>
                <a:cs typeface="+mn-cs"/>
              </a:rPr>
              <a:t>累加器（</a:t>
            </a:r>
            <a:r>
              <a:rPr lang="en-US" altLang="zh-CN" sz="1200" b="1" i="0" kern="1200" dirty="0">
                <a:solidFill>
                  <a:schemeClr val="tx1"/>
                </a:solidFill>
                <a:effectLst/>
                <a:latin typeface="+mn-lt"/>
                <a:ea typeface="+mn-ea"/>
                <a:cs typeface="+mn-cs"/>
              </a:rPr>
              <a:t>ACC</a:t>
            </a:r>
            <a:r>
              <a:rPr lang="zh-CN" altLang="en-US" sz="1200" b="1" i="0" kern="1200" dirty="0">
                <a:solidFill>
                  <a:schemeClr val="tx1"/>
                </a:solidFill>
                <a:effectLst/>
                <a:latin typeface="+mn-lt"/>
                <a:ea typeface="+mn-ea"/>
                <a:cs typeface="+mn-cs"/>
              </a:rPr>
              <a:t>），程序状态字（</a:t>
            </a:r>
            <a:r>
              <a:rPr lang="en-US" altLang="zh-CN" sz="1200" b="1" i="0" kern="1200" dirty="0">
                <a:solidFill>
                  <a:schemeClr val="tx1"/>
                </a:solidFill>
                <a:effectLst/>
                <a:latin typeface="+mn-lt"/>
                <a:ea typeface="+mn-ea"/>
                <a:cs typeface="+mn-cs"/>
              </a:rPr>
              <a:t>PSW</a:t>
            </a:r>
            <a:r>
              <a:rPr lang="zh-CN" altLang="en-US" sz="1200" b="1" i="0" kern="1200" dirty="0">
                <a:solidFill>
                  <a:schemeClr val="tx1"/>
                </a:solidFill>
                <a:effectLst/>
                <a:latin typeface="+mn-lt"/>
                <a:ea typeface="+mn-ea"/>
                <a:cs typeface="+mn-cs"/>
              </a:rPr>
              <a:t>），中断优先级控制寄存器（</a:t>
            </a:r>
            <a:r>
              <a:rPr lang="en-US" altLang="zh-CN" sz="1200" b="1" i="0" kern="1200" dirty="0">
                <a:solidFill>
                  <a:schemeClr val="tx1"/>
                </a:solidFill>
                <a:effectLst/>
                <a:latin typeface="+mn-lt"/>
                <a:ea typeface="+mn-ea"/>
                <a:cs typeface="+mn-cs"/>
              </a:rPr>
              <a:t>IP</a:t>
            </a:r>
            <a:r>
              <a:rPr lang="zh-CN" altLang="en-US" sz="1200" b="1" i="0" kern="1200" dirty="0">
                <a:solidFill>
                  <a:schemeClr val="tx1"/>
                </a:solidFill>
                <a:effectLst/>
                <a:latin typeface="+mn-lt"/>
                <a:ea typeface="+mn-ea"/>
                <a:cs typeface="+mn-cs"/>
              </a:rPr>
              <a:t>），中断允许寄存器（</a:t>
            </a:r>
            <a:r>
              <a:rPr lang="en-US" altLang="zh-CN" sz="1200" b="1" i="0" kern="1200" dirty="0">
                <a:solidFill>
                  <a:schemeClr val="tx1"/>
                </a:solidFill>
                <a:effectLst/>
                <a:latin typeface="+mn-lt"/>
                <a:ea typeface="+mn-ea"/>
                <a:cs typeface="+mn-cs"/>
              </a:rPr>
              <a:t>IE</a:t>
            </a:r>
            <a:r>
              <a:rPr lang="zh-CN" altLang="en-US" sz="1200" b="1" i="0" kern="1200" dirty="0">
                <a:solidFill>
                  <a:schemeClr val="tx1"/>
                </a:solidFill>
                <a:effectLst/>
                <a:latin typeface="+mn-lt"/>
                <a:ea typeface="+mn-ea"/>
                <a:cs typeface="+mn-cs"/>
              </a:rPr>
              <a:t>），端口寄存器（</a:t>
            </a:r>
            <a:r>
              <a:rPr lang="en-US" altLang="zh-CN" sz="1200" b="1" i="0" kern="1200" dirty="0">
                <a:solidFill>
                  <a:schemeClr val="tx1"/>
                </a:solidFill>
                <a:effectLst/>
                <a:latin typeface="+mn-lt"/>
                <a:ea typeface="+mn-ea"/>
                <a:cs typeface="+mn-cs"/>
              </a:rPr>
              <a:t>P0, P1, P2, P3</a:t>
            </a:r>
            <a:r>
              <a:rPr lang="zh-CN" altLang="en-US" sz="1200" b="1"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特殊功能寄存器的地址空间为</a:t>
            </a:r>
            <a:r>
              <a:rPr lang="en-US" altLang="zh-CN" sz="1200" b="0" i="0" kern="1200" dirty="0">
                <a:solidFill>
                  <a:schemeClr val="tx1"/>
                </a:solidFill>
                <a:effectLst/>
                <a:latin typeface="+mn-lt"/>
                <a:ea typeface="+mn-ea"/>
                <a:cs typeface="+mn-cs"/>
              </a:rPr>
              <a:t>80H~FFH</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ram</a:t>
            </a:r>
            <a:r>
              <a:rPr lang="zh-CN" altLang="en-US" sz="1200" b="0" i="0" kern="1200" dirty="0">
                <a:solidFill>
                  <a:schemeClr val="tx1"/>
                </a:solidFill>
                <a:effectLst/>
                <a:latin typeface="+mn-lt"/>
                <a:ea typeface="+mn-ea"/>
                <a:cs typeface="+mn-cs"/>
              </a:rPr>
              <a:t>的地址范围为</a:t>
            </a:r>
            <a:r>
              <a:rPr lang="en-US" altLang="zh-CN" sz="1200" b="0" i="0" kern="1200" dirty="0">
                <a:solidFill>
                  <a:schemeClr val="tx1"/>
                </a:solidFill>
                <a:effectLst/>
                <a:latin typeface="+mn-lt"/>
                <a:ea typeface="+mn-ea"/>
                <a:cs typeface="+mn-cs"/>
              </a:rPr>
              <a:t>00H~FFH</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256B</a:t>
            </a:r>
          </a:p>
          <a:p>
            <a:r>
              <a:rPr lang="zh-CN" altLang="en-US" sz="1200" b="1" i="0" kern="1200" dirty="0">
                <a:solidFill>
                  <a:schemeClr val="tx1"/>
                </a:solidFill>
                <a:effectLst/>
                <a:latin typeface="+mn-lt"/>
                <a:ea typeface="+mn-ea"/>
                <a:cs typeface="+mn-cs"/>
              </a:rPr>
              <a:t>两个</a:t>
            </a:r>
            <a:r>
              <a:rPr lang="en-US" altLang="zh-CN" sz="1200" b="1" i="0" kern="1200" dirty="0">
                <a:solidFill>
                  <a:schemeClr val="tx1"/>
                </a:solidFill>
                <a:effectLst/>
                <a:latin typeface="+mn-lt"/>
                <a:ea typeface="+mn-ea"/>
                <a:cs typeface="+mn-cs"/>
              </a:rPr>
              <a:t>16</a:t>
            </a:r>
            <a:r>
              <a:rPr lang="zh-CN" altLang="en-US" sz="1200" b="1" i="0" kern="1200" dirty="0">
                <a:solidFill>
                  <a:schemeClr val="tx1"/>
                </a:solidFill>
                <a:effectLst/>
                <a:latin typeface="+mn-lt"/>
                <a:ea typeface="+mn-ea"/>
                <a:cs typeface="+mn-cs"/>
              </a:rPr>
              <a:t>位定时器</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计数器</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分别为定时器</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计数器</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和定时器</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计数器</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都是</a:t>
            </a:r>
            <a:r>
              <a:rPr lang="en-US" altLang="zh-CN" sz="1200" b="0" i="0" kern="1200" dirty="0">
                <a:solidFill>
                  <a:schemeClr val="tx1"/>
                </a:solidFill>
                <a:effectLst/>
                <a:latin typeface="+mn-lt"/>
                <a:ea typeface="+mn-ea"/>
                <a:cs typeface="+mn-cs"/>
              </a:rPr>
              <a:t>16</a:t>
            </a:r>
            <a:r>
              <a:rPr lang="zh-CN" altLang="en-US" sz="1200" b="0" i="0" kern="1200" dirty="0">
                <a:solidFill>
                  <a:schemeClr val="tx1"/>
                </a:solidFill>
                <a:effectLst/>
                <a:latin typeface="+mn-lt"/>
                <a:ea typeface="+mn-ea"/>
                <a:cs typeface="+mn-cs"/>
              </a:rPr>
              <a:t>位加法计数结构</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由于在</a:t>
            </a:r>
            <a:r>
              <a:rPr lang="en-US" altLang="zh-CN" sz="1200" b="0" i="0" kern="1200" dirty="0">
                <a:solidFill>
                  <a:schemeClr val="tx1"/>
                </a:solidFill>
                <a:effectLst/>
                <a:latin typeface="+mn-lt"/>
                <a:ea typeface="+mn-ea"/>
                <a:cs typeface="+mn-cs"/>
              </a:rPr>
              <a:t>80C51</a:t>
            </a:r>
            <a:r>
              <a:rPr lang="zh-CN" altLang="en-US" sz="1200" b="0" i="0" kern="1200" dirty="0">
                <a:solidFill>
                  <a:schemeClr val="tx1"/>
                </a:solidFill>
                <a:effectLst/>
                <a:latin typeface="+mn-lt"/>
                <a:ea typeface="+mn-ea"/>
                <a:cs typeface="+mn-cs"/>
              </a:rPr>
              <a:t>中只能使用</a:t>
            </a:r>
            <a:r>
              <a:rPr lang="en-US" altLang="zh-CN" sz="1200" b="0" i="0" kern="1200" dirty="0">
                <a:solidFill>
                  <a:schemeClr val="tx1"/>
                </a:solidFill>
                <a:effectLst/>
                <a:latin typeface="+mn-lt"/>
                <a:ea typeface="+mn-ea"/>
                <a:cs typeface="+mn-cs"/>
              </a:rPr>
              <a:t>8</a:t>
            </a:r>
            <a:r>
              <a:rPr lang="zh-CN" altLang="en-US" sz="1200" b="0" i="0" kern="1200" dirty="0">
                <a:solidFill>
                  <a:schemeClr val="tx1"/>
                </a:solidFill>
                <a:effectLst/>
                <a:latin typeface="+mn-lt"/>
                <a:ea typeface="+mn-ea"/>
                <a:cs typeface="+mn-cs"/>
              </a:rPr>
              <a:t>位字节寄存器</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所以把两个</a:t>
            </a:r>
            <a:r>
              <a:rPr lang="en-US" altLang="zh-CN" sz="1200" b="0" i="0" kern="1200" dirty="0">
                <a:solidFill>
                  <a:schemeClr val="tx1"/>
                </a:solidFill>
                <a:effectLst/>
                <a:latin typeface="+mn-lt"/>
                <a:ea typeface="+mn-ea"/>
                <a:cs typeface="+mn-cs"/>
              </a:rPr>
              <a:t>16</a:t>
            </a:r>
            <a:r>
              <a:rPr lang="zh-CN" altLang="en-US" sz="1200" b="0" i="0" kern="1200" dirty="0">
                <a:solidFill>
                  <a:schemeClr val="tx1"/>
                </a:solidFill>
                <a:effectLst/>
                <a:latin typeface="+mn-lt"/>
                <a:ea typeface="+mn-ea"/>
                <a:cs typeface="+mn-cs"/>
              </a:rPr>
              <a:t>位定时器分解为</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个</a:t>
            </a:r>
            <a:r>
              <a:rPr lang="en-US" altLang="zh-CN" sz="1200" b="0" i="0" kern="1200" dirty="0">
                <a:solidFill>
                  <a:schemeClr val="tx1"/>
                </a:solidFill>
                <a:effectLst/>
                <a:latin typeface="+mn-lt"/>
                <a:ea typeface="+mn-ea"/>
                <a:cs typeface="+mn-cs"/>
              </a:rPr>
              <a:t>8</a:t>
            </a:r>
            <a:r>
              <a:rPr lang="zh-CN" altLang="en-US" sz="1200" b="0" i="0" kern="1200" dirty="0">
                <a:solidFill>
                  <a:schemeClr val="tx1"/>
                </a:solidFill>
                <a:effectLst/>
                <a:latin typeface="+mn-lt"/>
                <a:ea typeface="+mn-ea"/>
                <a:cs typeface="+mn-cs"/>
              </a:rPr>
              <a:t>位定时器</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依次为</a:t>
            </a:r>
            <a:r>
              <a:rPr lang="en-US" altLang="zh-CN" sz="1200" b="0" i="0" kern="1200" dirty="0">
                <a:solidFill>
                  <a:schemeClr val="tx1"/>
                </a:solidFill>
                <a:effectLst/>
                <a:latin typeface="+mn-lt"/>
                <a:ea typeface="+mn-ea"/>
                <a:cs typeface="+mn-cs"/>
              </a:rPr>
              <a:t>TL0,TL1,TH0,TH1,</a:t>
            </a:r>
            <a:r>
              <a:rPr lang="zh-CN" altLang="en-US" sz="1200" b="0" i="0" kern="1200" dirty="0">
                <a:solidFill>
                  <a:schemeClr val="tx1"/>
                </a:solidFill>
                <a:effectLst/>
                <a:latin typeface="+mn-lt"/>
                <a:ea typeface="+mn-ea"/>
                <a:cs typeface="+mn-cs"/>
              </a:rPr>
              <a:t>对应地址为</a:t>
            </a:r>
            <a:r>
              <a:rPr lang="en-US" altLang="zh-CN" sz="1200" b="0" i="0" kern="1200" dirty="0">
                <a:solidFill>
                  <a:schemeClr val="tx1"/>
                </a:solidFill>
                <a:effectLst/>
                <a:latin typeface="+mn-lt"/>
                <a:ea typeface="+mn-ea"/>
                <a:cs typeface="+mn-cs"/>
              </a:rPr>
              <a:t>8AH,8BH,8CH,8DH. </a:t>
            </a:r>
            <a:r>
              <a:rPr lang="zh-CN" altLang="en-US" sz="1200" b="0" i="0" kern="1200" dirty="0">
                <a:solidFill>
                  <a:schemeClr val="tx1"/>
                </a:solidFill>
                <a:effectLst/>
                <a:latin typeface="+mn-lt"/>
                <a:ea typeface="+mn-ea"/>
                <a:cs typeface="+mn-cs"/>
              </a:rPr>
              <a:t>他们均属于专用寄存器之列</a:t>
            </a:r>
            <a:r>
              <a:rPr lang="en-US" altLang="zh-CN" sz="1200" b="0" i="0" kern="1200" dirty="0">
                <a:solidFill>
                  <a:schemeClr val="tx1"/>
                </a:solidFill>
                <a:effectLst/>
                <a:latin typeface="+mn-lt"/>
                <a:ea typeface="+mn-ea"/>
                <a:cs typeface="+mn-cs"/>
              </a:rPr>
              <a:t>.</a:t>
            </a:r>
          </a:p>
          <a:p>
            <a:r>
              <a:rPr lang="zh-CN" altLang="en-US" sz="1200" b="1" i="0" kern="1200" dirty="0">
                <a:solidFill>
                  <a:schemeClr val="tx1"/>
                </a:solidFill>
                <a:effectLst/>
                <a:latin typeface="+mn-lt"/>
                <a:ea typeface="+mn-ea"/>
                <a:cs typeface="+mn-cs"/>
              </a:rPr>
              <a:t>全双工方式</a:t>
            </a:r>
            <a:r>
              <a:rPr lang="zh-CN" altLang="en-US" sz="1200" b="0" i="0" kern="1200" dirty="0">
                <a:solidFill>
                  <a:schemeClr val="tx1"/>
                </a:solidFill>
                <a:effectLst/>
                <a:latin typeface="+mn-lt"/>
                <a:ea typeface="+mn-ea"/>
                <a:cs typeface="+mn-cs"/>
              </a:rPr>
              <a:t>分别由两根不同的传输线传送数据时，通信双方都能在同一时刻进行发送和接收操作，通信系统的每一端都设置了发送器和接收器，因此，能控制数据同时在发送和接受两个方向上传送。</a:t>
            </a:r>
            <a:endParaRPr lang="en-US" altLang="zh-CN" sz="1200" b="0" i="0" kern="1200" dirty="0">
              <a:solidFill>
                <a:schemeClr val="tx1"/>
              </a:solidFill>
              <a:effectLst/>
              <a:latin typeface="+mn-lt"/>
              <a:ea typeface="+mn-ea"/>
              <a:cs typeface="+mn-cs"/>
            </a:endParaRPr>
          </a:p>
          <a:p>
            <a:endParaRPr lang="zh-CN" altLang="en-US" dirty="0"/>
          </a:p>
        </p:txBody>
      </p:sp>
      <p:sp>
        <p:nvSpPr>
          <p:cNvPr id="2150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C845DF7B-FB35-4549-AA86-005880D24C37}" type="slidenum">
              <a:rPr lang="zh-CN" altLang="en-US"/>
              <a:t>6</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幻灯片图像占位符 1"/>
          <p:cNvSpPr>
            <a:spLocks noGrp="1" noRot="1" noChangeAspect="1"/>
          </p:cNvSpPr>
          <p:nvPr>
            <p:ph type="sldImg"/>
          </p:nvPr>
        </p:nvSpPr>
        <p:spPr bwMode="auto">
          <a:noFill/>
          <a:ln>
            <a:solidFill>
              <a:srgbClr val="000000"/>
            </a:solidFill>
            <a:miter lim="800000"/>
          </a:ln>
        </p:spPr>
      </p:sp>
      <p:sp>
        <p:nvSpPr>
          <p:cNvPr id="23554" name="备注占位符 2"/>
          <p:cNvSpPr>
            <a:spLocks noGrp="1"/>
          </p:cNvSpPr>
          <p:nvPr>
            <p:ph type="body" idx="1"/>
          </p:nvPr>
        </p:nvSpPr>
        <p:spPr bwMode="auto">
          <a:noFill/>
        </p:spPr>
        <p:txBody>
          <a:bodyPr wrap="square" numCol="1" anchor="t" anchorCtr="0" compatLnSpc="1"/>
          <a:lstStyle/>
          <a:p>
            <a:pPr>
              <a:spcBef>
                <a:spcPct val="0"/>
              </a:spcBef>
            </a:pPr>
            <a:r>
              <a:rPr lang="en-US" altLang="zh-CN" sz="1200" b="0" i="0" kern="1200" dirty="0">
                <a:solidFill>
                  <a:schemeClr val="tx1"/>
                </a:solidFill>
                <a:effectLst/>
                <a:latin typeface="+mn-lt"/>
                <a:ea typeface="+mn-ea"/>
                <a:cs typeface="+mn-cs"/>
              </a:rPr>
              <a:t>51 </a:t>
            </a:r>
            <a:r>
              <a:rPr lang="zh-CN" altLang="en-US" sz="1200" b="0" i="0" kern="1200" dirty="0">
                <a:solidFill>
                  <a:schemeClr val="tx1"/>
                </a:solidFill>
                <a:effectLst/>
                <a:latin typeface="+mn-lt"/>
                <a:ea typeface="+mn-ea"/>
                <a:cs typeface="+mn-cs"/>
              </a:rPr>
              <a:t>单片机的</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个控制引脚，</a:t>
            </a:r>
            <a:r>
              <a:rPr lang="en-US" altLang="zh-CN" sz="1200" b="0" i="0" kern="1200" dirty="0">
                <a:solidFill>
                  <a:schemeClr val="tx1"/>
                </a:solidFill>
                <a:effectLst/>
                <a:latin typeface="+mn-lt"/>
                <a:ea typeface="+mn-ea"/>
                <a:cs typeface="+mn-cs"/>
              </a:rPr>
              <a:t>PSEN ——</a:t>
            </a:r>
            <a:r>
              <a:rPr lang="zh-CN" altLang="en-US" sz="1200" b="0" i="0" kern="1200" dirty="0">
                <a:solidFill>
                  <a:schemeClr val="tx1"/>
                </a:solidFill>
                <a:effectLst/>
                <a:latin typeface="+mn-lt"/>
                <a:ea typeface="+mn-ea"/>
                <a:cs typeface="+mn-cs"/>
              </a:rPr>
              <a:t>外部程序存储器的读选通信号。当访问外部 </a:t>
            </a:r>
            <a:r>
              <a:rPr lang="en-US" altLang="zh-CN" sz="1200" b="0" i="0" kern="1200" dirty="0">
                <a:solidFill>
                  <a:schemeClr val="tx1"/>
                </a:solidFill>
                <a:effectLst/>
                <a:latin typeface="+mn-lt"/>
                <a:ea typeface="+mn-ea"/>
                <a:cs typeface="+mn-cs"/>
              </a:rPr>
              <a:t>ROM </a:t>
            </a:r>
            <a:r>
              <a:rPr lang="zh-CN" altLang="en-US" sz="1200" b="0" i="0" kern="1200" dirty="0">
                <a:solidFill>
                  <a:schemeClr val="tx1"/>
                </a:solidFill>
                <a:effectLst/>
                <a:latin typeface="+mn-lt"/>
                <a:ea typeface="+mn-ea"/>
                <a:cs typeface="+mn-cs"/>
              </a:rPr>
              <a:t>时， </a:t>
            </a:r>
            <a:r>
              <a:rPr lang="en-US" altLang="zh-CN" sz="1200" b="0" i="0" kern="1200" dirty="0">
                <a:solidFill>
                  <a:schemeClr val="tx1"/>
                </a:solidFill>
                <a:effectLst/>
                <a:latin typeface="+mn-lt"/>
                <a:ea typeface="+mn-ea"/>
                <a:cs typeface="+mn-cs"/>
              </a:rPr>
              <a:t>PSEN </a:t>
            </a:r>
            <a:r>
              <a:rPr lang="zh-CN" altLang="en-US" sz="1200" b="0" i="0" kern="1200" dirty="0">
                <a:solidFill>
                  <a:schemeClr val="tx1"/>
                </a:solidFill>
                <a:effectLst/>
                <a:latin typeface="+mn-lt"/>
                <a:ea typeface="+mn-ea"/>
                <a:cs typeface="+mn-cs"/>
              </a:rPr>
              <a:t>产生负脉冲作 为外部 </a:t>
            </a:r>
            <a:r>
              <a:rPr lang="en-US" altLang="zh-CN" sz="1200" b="0" i="0" kern="1200" dirty="0">
                <a:solidFill>
                  <a:schemeClr val="tx1"/>
                </a:solidFill>
                <a:effectLst/>
                <a:latin typeface="+mn-lt"/>
                <a:ea typeface="+mn-ea"/>
                <a:cs typeface="+mn-cs"/>
              </a:rPr>
              <a:t>ROM</a:t>
            </a:r>
            <a:r>
              <a:rPr lang="zh-CN" altLang="en-US" sz="1200" b="0" i="0" kern="1200" dirty="0">
                <a:solidFill>
                  <a:schemeClr val="tx1"/>
                </a:solidFill>
                <a:effectLst/>
                <a:latin typeface="+mn-lt"/>
                <a:ea typeface="+mn-ea"/>
                <a:cs typeface="+mn-cs"/>
              </a:rPr>
              <a:t>的选通信号</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在访问外部 </a:t>
            </a:r>
            <a:r>
              <a:rPr lang="en-US" altLang="zh-CN" sz="1200" b="0" i="0" kern="1200" dirty="0">
                <a:solidFill>
                  <a:schemeClr val="tx1"/>
                </a:solidFill>
                <a:effectLst/>
                <a:latin typeface="+mn-lt"/>
                <a:ea typeface="+mn-ea"/>
                <a:cs typeface="+mn-cs"/>
              </a:rPr>
              <a:t>RAM</a:t>
            </a:r>
            <a:r>
              <a:rPr lang="zh-CN" altLang="en-US" sz="1200" b="0" i="0" kern="1200" dirty="0">
                <a:solidFill>
                  <a:schemeClr val="tx1"/>
                </a:solidFill>
                <a:effectLst/>
                <a:latin typeface="+mn-lt"/>
                <a:ea typeface="+mn-ea"/>
                <a:cs typeface="+mn-cs"/>
              </a:rPr>
              <a:t>或片内 </a:t>
            </a:r>
            <a:r>
              <a:rPr lang="en-US" altLang="zh-CN" sz="1200" b="0" i="0" kern="1200" dirty="0">
                <a:solidFill>
                  <a:schemeClr val="tx1"/>
                </a:solidFill>
                <a:effectLst/>
                <a:latin typeface="+mn-lt"/>
                <a:ea typeface="+mn-ea"/>
                <a:cs typeface="+mn-cs"/>
              </a:rPr>
              <a:t>ROM</a:t>
            </a:r>
            <a:r>
              <a:rPr lang="zh-CN" altLang="en-US" sz="1200" b="0" i="0" kern="1200" dirty="0">
                <a:solidFill>
                  <a:schemeClr val="tx1"/>
                </a:solidFill>
                <a:effectLst/>
                <a:latin typeface="+mn-lt"/>
                <a:ea typeface="+mn-ea"/>
                <a:cs typeface="+mn-cs"/>
              </a:rPr>
              <a:t>时，不会产生有效的</a:t>
            </a:r>
            <a:r>
              <a:rPr lang="en-US" altLang="zh-CN" sz="1200" b="0" i="0" kern="1200" dirty="0">
                <a:solidFill>
                  <a:schemeClr val="tx1"/>
                </a:solidFill>
                <a:effectLst/>
                <a:latin typeface="+mn-lt"/>
                <a:ea typeface="+mn-ea"/>
                <a:cs typeface="+mn-cs"/>
              </a:rPr>
              <a:t>PSEN </a:t>
            </a:r>
            <a:r>
              <a:rPr lang="zh-CN" altLang="en-US" sz="1200" b="0" i="0" kern="1200" dirty="0">
                <a:solidFill>
                  <a:schemeClr val="tx1"/>
                </a:solidFill>
                <a:effectLst/>
                <a:latin typeface="+mn-lt"/>
                <a:ea typeface="+mn-ea"/>
                <a:cs typeface="+mn-cs"/>
              </a:rPr>
              <a:t>信 号。 </a:t>
            </a:r>
            <a:r>
              <a:rPr lang="en-US" altLang="zh-CN" sz="1200" b="0" i="0" kern="1200" dirty="0">
                <a:solidFill>
                  <a:schemeClr val="tx1"/>
                </a:solidFill>
                <a:effectLst/>
                <a:latin typeface="+mn-lt"/>
                <a:ea typeface="+mn-ea"/>
                <a:cs typeface="+mn-cs"/>
              </a:rPr>
              <a:t>PSEN </a:t>
            </a:r>
            <a:r>
              <a:rPr lang="zh-CN" altLang="en-US" sz="1200" b="0" i="0" kern="1200" dirty="0">
                <a:solidFill>
                  <a:schemeClr val="tx1"/>
                </a:solidFill>
                <a:effectLst/>
                <a:latin typeface="+mn-lt"/>
                <a:ea typeface="+mn-ea"/>
                <a:cs typeface="+mn-cs"/>
              </a:rPr>
              <a:t>可驱动 </a:t>
            </a:r>
            <a:r>
              <a:rPr lang="en-US" altLang="zh-CN" sz="1200" b="0" i="0" kern="1200" dirty="0">
                <a:solidFill>
                  <a:schemeClr val="tx1"/>
                </a:solidFill>
                <a:effectLst/>
                <a:latin typeface="+mn-lt"/>
                <a:ea typeface="+mn-ea"/>
                <a:cs typeface="+mn-cs"/>
              </a:rPr>
              <a:t>8 </a:t>
            </a:r>
            <a:r>
              <a:rPr lang="zh-CN" altLang="en-US" sz="1200" b="0" i="0" kern="1200" dirty="0">
                <a:solidFill>
                  <a:schemeClr val="tx1"/>
                </a:solidFill>
                <a:effectLst/>
                <a:latin typeface="+mn-lt"/>
                <a:ea typeface="+mn-ea"/>
                <a:cs typeface="+mn-cs"/>
              </a:rPr>
              <a:t>个</a:t>
            </a:r>
            <a:r>
              <a:rPr lang="en-US" altLang="zh-CN" sz="1200" b="0" i="0" kern="1200" dirty="0">
                <a:solidFill>
                  <a:schemeClr val="tx1"/>
                </a:solidFill>
                <a:effectLst/>
                <a:latin typeface="+mn-lt"/>
                <a:ea typeface="+mn-ea"/>
                <a:cs typeface="+mn-cs"/>
              </a:rPr>
              <a:t>LSTTL </a:t>
            </a:r>
            <a:r>
              <a:rPr lang="zh-CN" altLang="en-US" sz="1200" b="0" i="0" kern="1200" dirty="0">
                <a:solidFill>
                  <a:schemeClr val="tx1"/>
                </a:solidFill>
                <a:effectLst/>
                <a:latin typeface="+mn-lt"/>
                <a:ea typeface="+mn-ea"/>
                <a:cs typeface="+mn-cs"/>
              </a:rPr>
              <a:t>门输入端。</a:t>
            </a:r>
            <a:r>
              <a:rPr lang="en-US" altLang="zh-CN" sz="1200" b="0" i="0" kern="1200" dirty="0">
                <a:solidFill>
                  <a:schemeClr val="tx1"/>
                </a:solidFill>
                <a:effectLst/>
                <a:latin typeface="+mn-lt"/>
                <a:ea typeface="+mn-ea"/>
                <a:cs typeface="+mn-cs"/>
              </a:rPr>
              <a:t>ALE——ALE </a:t>
            </a:r>
            <a:r>
              <a:rPr lang="zh-CN" altLang="en-US" sz="1200" b="0" i="0" kern="1200" dirty="0">
                <a:solidFill>
                  <a:schemeClr val="tx1"/>
                </a:solidFill>
                <a:effectLst/>
                <a:latin typeface="+mn-lt"/>
                <a:ea typeface="+mn-ea"/>
                <a:cs typeface="+mn-cs"/>
              </a:rPr>
              <a:t>为地址锁存允许信号，在访问外部存储器时，</a:t>
            </a:r>
            <a:r>
              <a:rPr lang="en-US" altLang="zh-CN" sz="1200" b="0" i="0" kern="1200" dirty="0">
                <a:solidFill>
                  <a:schemeClr val="tx1"/>
                </a:solidFill>
                <a:effectLst/>
                <a:latin typeface="+mn-lt"/>
                <a:ea typeface="+mn-ea"/>
                <a:cs typeface="+mn-cs"/>
              </a:rPr>
              <a:t>ALE </a:t>
            </a:r>
            <a:r>
              <a:rPr lang="zh-CN" altLang="en-US" sz="1200" b="0" i="0" kern="1200" dirty="0">
                <a:solidFill>
                  <a:schemeClr val="tx1"/>
                </a:solidFill>
                <a:effectLst/>
                <a:latin typeface="+mn-lt"/>
                <a:ea typeface="+mn-ea"/>
                <a:cs typeface="+mn-cs"/>
              </a:rPr>
              <a:t>用来锁存 </a:t>
            </a:r>
            <a:r>
              <a:rPr lang="en-US" altLang="zh-CN" sz="1200" b="0" i="0" kern="1200" dirty="0">
                <a:solidFill>
                  <a:schemeClr val="tx1"/>
                </a:solidFill>
                <a:effectLst/>
                <a:latin typeface="+mn-lt"/>
                <a:ea typeface="+mn-ea"/>
                <a:cs typeface="+mn-cs"/>
              </a:rPr>
              <a:t>P0</a:t>
            </a:r>
            <a:r>
              <a:rPr lang="zh-CN" altLang="en-US" sz="1200" b="0" i="0" kern="1200" dirty="0">
                <a:solidFill>
                  <a:schemeClr val="tx1"/>
                </a:solidFill>
                <a:effectLst/>
                <a:latin typeface="+mn-lt"/>
                <a:ea typeface="+mn-ea"/>
                <a:cs typeface="+mn-cs"/>
              </a:rPr>
              <a:t>送出的低 </a:t>
            </a:r>
            <a:r>
              <a:rPr lang="en-US" altLang="zh-CN" sz="1200" b="0" i="0" kern="1200" dirty="0">
                <a:solidFill>
                  <a:schemeClr val="tx1"/>
                </a:solidFill>
                <a:effectLst/>
                <a:latin typeface="+mn-lt"/>
                <a:ea typeface="+mn-ea"/>
                <a:cs typeface="+mn-cs"/>
              </a:rPr>
              <a:t>8 </a:t>
            </a:r>
            <a:r>
              <a:rPr lang="zh-CN" altLang="en-US" sz="1200" b="0" i="0" kern="1200" dirty="0">
                <a:solidFill>
                  <a:schemeClr val="tx1"/>
                </a:solidFill>
                <a:effectLst/>
                <a:latin typeface="+mn-lt"/>
                <a:ea typeface="+mn-ea"/>
                <a:cs typeface="+mn-cs"/>
              </a:rPr>
              <a:t>位地址信号。  </a:t>
            </a:r>
            <a:r>
              <a:rPr lang="en-US" altLang="zh-CN" sz="1200" b="0" i="0" kern="1200" dirty="0">
                <a:solidFill>
                  <a:schemeClr val="tx1"/>
                </a:solidFill>
                <a:effectLst/>
                <a:latin typeface="+mn-lt"/>
                <a:ea typeface="+mn-ea"/>
                <a:cs typeface="+mn-cs"/>
              </a:rPr>
              <a:t>EA ——</a:t>
            </a:r>
            <a:r>
              <a:rPr lang="zh-CN" altLang="en-US" sz="1200" b="0" i="0" kern="1200" dirty="0">
                <a:solidFill>
                  <a:schemeClr val="tx1"/>
                </a:solidFill>
                <a:effectLst/>
                <a:latin typeface="+mn-lt"/>
                <a:ea typeface="+mn-ea"/>
                <a:cs typeface="+mn-cs"/>
              </a:rPr>
              <a:t>访问外部程序存储器控制信号。对 </a:t>
            </a:r>
            <a:r>
              <a:rPr lang="en-US" altLang="zh-CN" sz="1200" b="0" i="0" kern="1200" dirty="0">
                <a:solidFill>
                  <a:schemeClr val="tx1"/>
                </a:solidFill>
                <a:effectLst/>
                <a:latin typeface="+mn-lt"/>
                <a:ea typeface="+mn-ea"/>
                <a:cs typeface="+mn-cs"/>
              </a:rPr>
              <a:t>8051 </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8751 </a:t>
            </a:r>
            <a:r>
              <a:rPr lang="zh-CN" altLang="en-US" sz="1200" b="0" i="0" kern="1200" dirty="0">
                <a:solidFill>
                  <a:schemeClr val="tx1"/>
                </a:solidFill>
                <a:effectLst/>
                <a:latin typeface="+mn-lt"/>
                <a:ea typeface="+mn-ea"/>
                <a:cs typeface="+mn-cs"/>
              </a:rPr>
              <a:t>，它们的片内有 </a:t>
            </a:r>
            <a:r>
              <a:rPr lang="en-US" altLang="zh-CN" sz="1200" b="0" i="0" kern="1200" dirty="0">
                <a:solidFill>
                  <a:schemeClr val="tx1"/>
                </a:solidFill>
                <a:effectLst/>
                <a:latin typeface="+mn-lt"/>
                <a:ea typeface="+mn-ea"/>
                <a:cs typeface="+mn-cs"/>
              </a:rPr>
              <a:t>4KB </a:t>
            </a:r>
            <a:r>
              <a:rPr lang="zh-CN" altLang="en-US" sz="1200" b="0" i="0" kern="1200" dirty="0">
                <a:solidFill>
                  <a:schemeClr val="tx1"/>
                </a:solidFill>
                <a:effectLst/>
                <a:latin typeface="+mn-lt"/>
                <a:ea typeface="+mn-ea"/>
                <a:cs typeface="+mn-cs"/>
              </a:rPr>
              <a:t>的程序存 储器。当 </a:t>
            </a:r>
            <a:r>
              <a:rPr lang="en-US" altLang="zh-CN" sz="1200" b="0" i="0" kern="1200" dirty="0">
                <a:solidFill>
                  <a:schemeClr val="tx1"/>
                </a:solidFill>
                <a:effectLst/>
                <a:latin typeface="+mn-lt"/>
                <a:ea typeface="+mn-ea"/>
                <a:cs typeface="+mn-cs"/>
              </a:rPr>
              <a:t>EA </a:t>
            </a:r>
            <a:r>
              <a:rPr lang="zh-CN" altLang="en-US" sz="1200" b="0" i="0" kern="1200" dirty="0">
                <a:solidFill>
                  <a:schemeClr val="tx1"/>
                </a:solidFill>
                <a:effectLst/>
                <a:latin typeface="+mn-lt"/>
                <a:ea typeface="+mn-ea"/>
                <a:cs typeface="+mn-cs"/>
              </a:rPr>
              <a:t>为高电平时，</a:t>
            </a:r>
            <a:r>
              <a:rPr lang="en-US" altLang="zh-CN" sz="1200" b="0" i="0" kern="1200" dirty="0">
                <a:solidFill>
                  <a:schemeClr val="tx1"/>
                </a:solidFill>
                <a:effectLst/>
                <a:latin typeface="+mn-lt"/>
                <a:ea typeface="+mn-ea"/>
                <a:cs typeface="+mn-cs"/>
              </a:rPr>
              <a:t>CPU </a:t>
            </a:r>
            <a:r>
              <a:rPr lang="zh-CN" altLang="en-US" sz="1200" b="0" i="0" kern="1200" dirty="0">
                <a:solidFill>
                  <a:schemeClr val="tx1"/>
                </a:solidFill>
                <a:effectLst/>
                <a:latin typeface="+mn-lt"/>
                <a:ea typeface="+mn-ea"/>
                <a:cs typeface="+mn-cs"/>
              </a:rPr>
              <a:t>访问程序存储器有两种情况：一是访问的地址空间在 </a:t>
            </a:r>
            <a:r>
              <a:rPr lang="en-US" altLang="zh-CN" sz="1200" b="0" i="0" kern="1200" dirty="0">
                <a:solidFill>
                  <a:schemeClr val="tx1"/>
                </a:solidFill>
                <a:effectLst/>
                <a:latin typeface="+mn-lt"/>
                <a:ea typeface="+mn-ea"/>
                <a:cs typeface="+mn-cs"/>
              </a:rPr>
              <a:t>0 </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4K </a:t>
            </a:r>
            <a:r>
              <a:rPr lang="zh-CN" altLang="en-US" sz="1200" b="0" i="0" kern="1200" dirty="0">
                <a:solidFill>
                  <a:schemeClr val="tx1"/>
                </a:solidFill>
                <a:effectLst/>
                <a:latin typeface="+mn-lt"/>
                <a:ea typeface="+mn-ea"/>
                <a:cs typeface="+mn-cs"/>
              </a:rPr>
              <a:t>范围内，</a:t>
            </a:r>
            <a:r>
              <a:rPr lang="en-US" altLang="zh-CN" sz="1200" b="0" i="0" kern="1200" dirty="0">
                <a:solidFill>
                  <a:schemeClr val="tx1"/>
                </a:solidFill>
                <a:effectLst/>
                <a:latin typeface="+mn-lt"/>
                <a:ea typeface="+mn-ea"/>
                <a:cs typeface="+mn-cs"/>
              </a:rPr>
              <a:t>CPU </a:t>
            </a:r>
            <a:r>
              <a:rPr lang="zh-CN" altLang="en-US" sz="1200" b="0" i="0" kern="1200" dirty="0">
                <a:solidFill>
                  <a:schemeClr val="tx1"/>
                </a:solidFill>
                <a:effectLst/>
                <a:latin typeface="+mn-lt"/>
                <a:ea typeface="+mn-ea"/>
                <a:cs typeface="+mn-cs"/>
              </a:rPr>
              <a:t>访问片内程序存储器</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二是访问的地址超出 </a:t>
            </a:r>
            <a:r>
              <a:rPr lang="en-US" altLang="zh-CN" sz="1200" b="0" i="0" kern="1200" dirty="0">
                <a:solidFill>
                  <a:schemeClr val="tx1"/>
                </a:solidFill>
                <a:effectLst/>
                <a:latin typeface="+mn-lt"/>
                <a:ea typeface="+mn-ea"/>
                <a:cs typeface="+mn-cs"/>
              </a:rPr>
              <a:t>4K </a:t>
            </a:r>
            <a:r>
              <a:rPr lang="zh-CN" altLang="en-US" sz="1200" b="0" i="0" kern="1200" dirty="0">
                <a:solidFill>
                  <a:schemeClr val="tx1"/>
                </a:solidFill>
                <a:effectLst/>
                <a:latin typeface="+mn-lt"/>
                <a:ea typeface="+mn-ea"/>
                <a:cs typeface="+mn-cs"/>
              </a:rPr>
              <a:t>时，</a:t>
            </a:r>
            <a:r>
              <a:rPr lang="en-US" altLang="zh-CN" sz="1200" b="0" i="0" kern="1200" dirty="0">
                <a:solidFill>
                  <a:schemeClr val="tx1"/>
                </a:solidFill>
                <a:effectLst/>
                <a:latin typeface="+mn-lt"/>
                <a:ea typeface="+mn-ea"/>
                <a:cs typeface="+mn-cs"/>
              </a:rPr>
              <a:t>CPU </a:t>
            </a:r>
            <a:r>
              <a:rPr lang="zh-CN" altLang="en-US" sz="1200" b="0" i="0" kern="1200" dirty="0">
                <a:solidFill>
                  <a:schemeClr val="tx1"/>
                </a:solidFill>
                <a:effectLst/>
                <a:latin typeface="+mn-lt"/>
                <a:ea typeface="+mn-ea"/>
                <a:cs typeface="+mn-cs"/>
              </a:rPr>
              <a:t>将自动执 行外部程序存储器的程序。</a:t>
            </a:r>
            <a:r>
              <a:rPr lang="en-US" altLang="zh-CN" sz="1200" b="0" i="0" kern="1200" dirty="0">
                <a:solidFill>
                  <a:schemeClr val="tx1"/>
                </a:solidFill>
                <a:effectLst/>
                <a:latin typeface="+mn-lt"/>
                <a:ea typeface="+mn-ea"/>
                <a:cs typeface="+mn-cs"/>
              </a:rPr>
              <a:t>RST/</a:t>
            </a:r>
            <a:r>
              <a:rPr lang="en-US" altLang="zh-CN" sz="1200" b="0" i="0" kern="1200" dirty="0" err="1">
                <a:solidFill>
                  <a:schemeClr val="tx1"/>
                </a:solidFill>
                <a:effectLst/>
                <a:latin typeface="+mn-lt"/>
                <a:ea typeface="+mn-ea"/>
                <a:cs typeface="+mn-cs"/>
              </a:rPr>
              <a:t>Vpd</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复位引脚，当</a:t>
            </a:r>
            <a:r>
              <a:rPr lang="en-US" altLang="zh-CN" sz="1200" b="0" i="0" kern="1200" dirty="0">
                <a:solidFill>
                  <a:schemeClr val="tx1"/>
                </a:solidFill>
                <a:effectLst/>
                <a:latin typeface="+mn-lt"/>
                <a:ea typeface="+mn-ea"/>
                <a:cs typeface="+mn-cs"/>
              </a:rPr>
              <a:t>RST</a:t>
            </a:r>
            <a:r>
              <a:rPr lang="zh-CN" altLang="en-US" sz="1200" b="0" i="0" kern="1200" dirty="0">
                <a:solidFill>
                  <a:schemeClr val="tx1"/>
                </a:solidFill>
                <a:effectLst/>
                <a:latin typeface="+mn-lt"/>
                <a:ea typeface="+mn-ea"/>
                <a:cs typeface="+mn-cs"/>
              </a:rPr>
              <a:t>输入端保持</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个机器周期以上高电平时，就实现复位。</a:t>
            </a:r>
            <a:endParaRPr lang="en-US" altLang="zh-CN" sz="1200" b="0" i="0" kern="1200" dirty="0">
              <a:solidFill>
                <a:schemeClr val="tx1"/>
              </a:solidFill>
              <a:effectLst/>
              <a:latin typeface="+mn-lt"/>
              <a:ea typeface="+mn-ea"/>
              <a:cs typeface="+mn-cs"/>
            </a:endParaRPr>
          </a:p>
          <a:p>
            <a:r>
              <a:rPr lang="en-US" altLang="zh-CN" sz="1200" b="1" i="0" kern="1200" dirty="0">
                <a:solidFill>
                  <a:schemeClr val="tx1"/>
                </a:solidFill>
                <a:effectLst/>
                <a:latin typeface="+mn-lt"/>
                <a:ea typeface="+mn-ea"/>
                <a:cs typeface="+mn-cs"/>
              </a:rPr>
              <a:t>VCC</a:t>
            </a:r>
            <a:r>
              <a:rPr lang="zh-CN" altLang="en-US" sz="1200" b="1" i="0" kern="1200" dirty="0">
                <a:solidFill>
                  <a:schemeClr val="tx1"/>
                </a:solidFill>
                <a:effectLst/>
                <a:latin typeface="+mn-lt"/>
                <a:ea typeface="+mn-ea"/>
                <a:cs typeface="+mn-cs"/>
              </a:rPr>
              <a:t>引脚</a:t>
            </a:r>
            <a:r>
              <a:rPr lang="zh-CN" altLang="en-US" sz="1200" b="0" i="0" kern="1200" dirty="0">
                <a:solidFill>
                  <a:schemeClr val="tx1"/>
                </a:solidFill>
                <a:effectLst/>
                <a:latin typeface="+mn-lt"/>
                <a:ea typeface="+mn-ea"/>
                <a:cs typeface="+mn-cs"/>
              </a:rPr>
              <a:t>是其电源输入端，通常用于为单片机提供工作电压。</a:t>
            </a:r>
            <a:r>
              <a:rPr lang="zh-CN" altLang="en-US" sz="1200" b="1" i="0" kern="1200" dirty="0">
                <a:solidFill>
                  <a:schemeClr val="tx1"/>
                </a:solidFill>
                <a:effectLst/>
                <a:latin typeface="+mn-lt"/>
                <a:ea typeface="+mn-ea"/>
                <a:cs typeface="+mn-cs"/>
              </a:rPr>
              <a:t>电压范围</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VCC</a:t>
            </a:r>
            <a:r>
              <a:rPr lang="zh-CN" altLang="en-US" sz="1200" b="0" i="0" kern="1200" dirty="0">
                <a:solidFill>
                  <a:schemeClr val="tx1"/>
                </a:solidFill>
                <a:effectLst/>
                <a:latin typeface="+mn-lt"/>
                <a:ea typeface="+mn-ea"/>
                <a:cs typeface="+mn-cs"/>
              </a:rPr>
              <a:t>引脚的标准工作电压为**</a:t>
            </a:r>
            <a:r>
              <a:rPr lang="en-US" altLang="zh-CN" sz="1200" b="0" i="0" kern="1200" dirty="0">
                <a:solidFill>
                  <a:schemeClr val="tx1"/>
                </a:solidFill>
                <a:effectLst/>
                <a:latin typeface="+mn-lt"/>
                <a:ea typeface="+mn-ea"/>
                <a:cs typeface="+mn-cs"/>
              </a:rPr>
              <a:t>+5V</a:t>
            </a:r>
            <a:r>
              <a:rPr lang="zh-CN" altLang="en-US" sz="1200" b="0" i="0" kern="1200" dirty="0">
                <a:solidFill>
                  <a:schemeClr val="tx1"/>
                </a:solidFill>
                <a:effectLst/>
                <a:latin typeface="+mn-lt"/>
                <a:ea typeface="+mn-ea"/>
                <a:cs typeface="+mn-cs"/>
              </a:rPr>
              <a:t>直流电**，部分低功耗版本的单片机也支持**</a:t>
            </a:r>
            <a:r>
              <a:rPr lang="en-US" altLang="zh-CN" sz="1200" b="0" i="0" kern="1200" dirty="0">
                <a:solidFill>
                  <a:schemeClr val="tx1"/>
                </a:solidFill>
                <a:effectLst/>
                <a:latin typeface="+mn-lt"/>
                <a:ea typeface="+mn-ea"/>
                <a:cs typeface="+mn-cs"/>
              </a:rPr>
              <a:t>+3.3V</a:t>
            </a:r>
            <a:r>
              <a:rPr lang="zh-CN" altLang="en-US" sz="1200" b="1" i="0" kern="1200" dirty="0">
                <a:solidFill>
                  <a:schemeClr val="tx1"/>
                </a:solidFill>
                <a:effectLst/>
                <a:latin typeface="+mn-lt"/>
                <a:ea typeface="+mn-ea"/>
                <a:cs typeface="+mn-cs"/>
              </a:rPr>
              <a:t>供电。具体电压范围需参考单片机的</a:t>
            </a:r>
            <a:r>
              <a:rPr lang="zh-CN" altLang="en-US" sz="1200" b="0" i="0" kern="1200" dirty="0">
                <a:solidFill>
                  <a:schemeClr val="tx1"/>
                </a:solidFill>
                <a:effectLst/>
                <a:latin typeface="+mn-lt"/>
                <a:ea typeface="+mn-ea"/>
                <a:cs typeface="+mn-cs"/>
              </a:rPr>
              <a:t>数据手册**。</a:t>
            </a:r>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b="1" i="0" kern="1200" dirty="0">
                <a:solidFill>
                  <a:schemeClr val="tx1"/>
                </a:solidFill>
                <a:effectLst/>
                <a:latin typeface="+mn-lt"/>
                <a:ea typeface="+mn-ea"/>
                <a:cs typeface="+mn-cs"/>
              </a:rPr>
              <a:t>电流承载能力</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VCC</a:t>
            </a:r>
            <a:r>
              <a:rPr lang="zh-CN" altLang="en-US" sz="1200" b="0" i="0" kern="1200" dirty="0">
                <a:solidFill>
                  <a:schemeClr val="tx1"/>
                </a:solidFill>
                <a:effectLst/>
                <a:latin typeface="+mn-lt"/>
                <a:ea typeface="+mn-ea"/>
                <a:cs typeface="+mn-cs"/>
              </a:rPr>
              <a:t>引脚的电流取决于单片机的负载情况，包括所有</a:t>
            </a:r>
            <a:r>
              <a:rPr lang="en-US" altLang="zh-CN" sz="1200" b="0" i="0" kern="1200" dirty="0">
                <a:solidFill>
                  <a:schemeClr val="tx1"/>
                </a:solidFill>
                <a:effectLst/>
                <a:latin typeface="+mn-lt"/>
                <a:ea typeface="+mn-ea"/>
                <a:cs typeface="+mn-cs"/>
              </a:rPr>
              <a:t>I/O</a:t>
            </a:r>
            <a:r>
              <a:rPr lang="zh-CN" altLang="en-US" sz="1200" b="0" i="0" kern="1200" dirty="0">
                <a:solidFill>
                  <a:schemeClr val="tx1"/>
                </a:solidFill>
                <a:effectLst/>
                <a:latin typeface="+mn-lt"/>
                <a:ea typeface="+mn-ea"/>
                <a:cs typeface="+mn-cs"/>
              </a:rPr>
              <a:t>引脚的电流总和。</a:t>
            </a:r>
            <a:r>
              <a:rPr lang="en-US" altLang="zh-CN" sz="1200" b="1" i="0" kern="1200" dirty="0">
                <a:solidFill>
                  <a:schemeClr val="tx1"/>
                </a:solidFill>
                <a:effectLst/>
                <a:latin typeface="+mn-lt"/>
                <a:ea typeface="+mn-ea"/>
                <a:cs typeface="+mn-cs"/>
              </a:rPr>
              <a:t>VSS</a:t>
            </a:r>
            <a:r>
              <a:rPr lang="zh-CN" altLang="en-US" sz="1200" b="1" i="0" kern="1200" dirty="0">
                <a:solidFill>
                  <a:schemeClr val="tx1"/>
                </a:solidFill>
                <a:effectLst/>
                <a:latin typeface="+mn-lt"/>
                <a:ea typeface="+mn-ea"/>
                <a:cs typeface="+mn-cs"/>
              </a:rPr>
              <a:t>引脚</a:t>
            </a:r>
            <a:r>
              <a:rPr lang="zh-CN" altLang="en-US" sz="1200" b="0" i="0" kern="1200" dirty="0">
                <a:solidFill>
                  <a:schemeClr val="tx1"/>
                </a:solidFill>
                <a:effectLst/>
                <a:latin typeface="+mn-lt"/>
                <a:ea typeface="+mn-ea"/>
                <a:cs typeface="+mn-cs"/>
              </a:rPr>
              <a:t>：与</a:t>
            </a:r>
            <a:r>
              <a:rPr lang="en-US" altLang="zh-CN" sz="1200" b="0" i="0" kern="1200" dirty="0">
                <a:solidFill>
                  <a:schemeClr val="tx1"/>
                </a:solidFill>
                <a:effectLst/>
                <a:latin typeface="+mn-lt"/>
                <a:ea typeface="+mn-ea"/>
                <a:cs typeface="+mn-cs"/>
              </a:rPr>
              <a:t>VCC</a:t>
            </a:r>
            <a:r>
              <a:rPr lang="zh-CN" altLang="en-US" sz="1200" b="0" i="0" kern="1200" dirty="0">
                <a:solidFill>
                  <a:schemeClr val="tx1"/>
                </a:solidFill>
                <a:effectLst/>
                <a:latin typeface="+mn-lt"/>
                <a:ea typeface="+mn-ea"/>
                <a:cs typeface="+mn-cs"/>
              </a:rPr>
              <a:t>配合使用，作为接地端。</a:t>
            </a:r>
            <a:endParaRPr lang="en-US" altLang="zh-CN" sz="1200" b="0" i="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b="1" i="0" kern="1200" dirty="0">
                <a:solidFill>
                  <a:schemeClr val="tx1"/>
                </a:solidFill>
                <a:effectLst/>
                <a:latin typeface="+mn-lt"/>
                <a:ea typeface="+mn-ea"/>
                <a:cs typeface="+mn-cs"/>
              </a:rPr>
              <a:t>堆栈指针（</a:t>
            </a:r>
            <a:r>
              <a:rPr lang="en-US" altLang="zh-CN" sz="1200" b="1" i="0" kern="1200" dirty="0" err="1">
                <a:solidFill>
                  <a:schemeClr val="tx1"/>
                </a:solidFill>
                <a:effectLst/>
                <a:latin typeface="+mn-lt"/>
                <a:ea typeface="+mn-ea"/>
                <a:cs typeface="+mn-cs"/>
              </a:rPr>
              <a:t>SP,Stack</a:t>
            </a:r>
            <a:r>
              <a:rPr lang="en-US" altLang="zh-CN" sz="1200" b="1" i="0" kern="1200" dirty="0">
                <a:solidFill>
                  <a:schemeClr val="tx1"/>
                </a:solidFill>
                <a:effectLst/>
                <a:latin typeface="+mn-lt"/>
                <a:ea typeface="+mn-ea"/>
                <a:cs typeface="+mn-cs"/>
              </a:rPr>
              <a:t> Pointer</a:t>
            </a:r>
            <a:r>
              <a:rPr lang="zh-CN" altLang="en-US" sz="1200" b="1"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专门用于指出堆栈顶部数据的地址。由于单片机中存放数据的区域有限，我们不能够专门分配一块地方做堆栈，所以就在内存（</a:t>
            </a:r>
            <a:r>
              <a:rPr lang="en-US" altLang="zh-CN" sz="1200" b="0" i="0" kern="1200" dirty="0">
                <a:solidFill>
                  <a:schemeClr val="tx1"/>
                </a:solidFill>
                <a:effectLst/>
                <a:latin typeface="+mn-lt"/>
                <a:ea typeface="+mn-ea"/>
                <a:cs typeface="+mn-cs"/>
              </a:rPr>
              <a:t>RAM</a:t>
            </a:r>
            <a:r>
              <a:rPr lang="zh-CN" altLang="en-US" sz="1200" b="0" i="0" kern="1200" dirty="0">
                <a:solidFill>
                  <a:schemeClr val="tx1"/>
                </a:solidFill>
                <a:effectLst/>
                <a:latin typeface="+mn-lt"/>
                <a:ea typeface="+mn-ea"/>
                <a:cs typeface="+mn-cs"/>
              </a:rPr>
              <a:t>）中开辟一块地方，用于堆栈（</a:t>
            </a:r>
            <a:r>
              <a:rPr lang="en-US" altLang="zh-CN" sz="1200" b="0" i="0" kern="1200" dirty="0" err="1">
                <a:solidFill>
                  <a:schemeClr val="tx1"/>
                </a:solidFill>
                <a:effectLst/>
                <a:latin typeface="+mn-lt"/>
                <a:ea typeface="+mn-ea"/>
                <a:cs typeface="+mn-cs"/>
              </a:rPr>
              <a:t>zhan</a:t>
            </a:r>
            <a:r>
              <a:rPr lang="zh-CN" altLang="en-US" sz="1200" b="0" i="0" kern="1200" dirty="0">
                <a:solidFill>
                  <a:schemeClr val="tx1"/>
                </a:solidFill>
                <a:effectLst/>
                <a:latin typeface="+mn-lt"/>
                <a:ea typeface="+mn-ea"/>
                <a:cs typeface="+mn-cs"/>
              </a:rPr>
              <a:t>）。</a:t>
            </a:r>
          </a:p>
          <a:p>
            <a:r>
              <a:rPr lang="zh-CN" altLang="en-US" sz="1200" b="1" i="0" kern="1200" dirty="0">
                <a:solidFill>
                  <a:schemeClr val="tx1"/>
                </a:solidFill>
                <a:effectLst/>
                <a:latin typeface="+mn-lt"/>
                <a:ea typeface="+mn-ea"/>
                <a:cs typeface="+mn-cs"/>
              </a:rPr>
              <a:t>程序地址寄存器：</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Address Register</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AR</a:t>
            </a:r>
            <a:r>
              <a:rPr lang="zh-CN" altLang="en-US" sz="1200" b="0" i="0" kern="1200" dirty="0">
                <a:solidFill>
                  <a:schemeClr val="tx1"/>
                </a:solidFill>
                <a:effectLst/>
                <a:latin typeface="+mn-lt"/>
                <a:ea typeface="+mn-ea"/>
                <a:cs typeface="+mn-cs"/>
              </a:rPr>
              <a:t>）是</a:t>
            </a:r>
            <a:r>
              <a:rPr lang="en-US" altLang="zh-CN" sz="1200" b="0" i="0" kern="1200" dirty="0">
                <a:solidFill>
                  <a:schemeClr val="tx1"/>
                </a:solidFill>
                <a:effectLst/>
                <a:latin typeface="+mn-lt"/>
                <a:ea typeface="+mn-ea"/>
                <a:cs typeface="+mn-cs"/>
              </a:rPr>
              <a:t>CPU</a:t>
            </a:r>
            <a:r>
              <a:rPr lang="zh-CN" altLang="en-US" sz="1200" b="0" i="0" kern="1200" dirty="0">
                <a:solidFill>
                  <a:schemeClr val="tx1"/>
                </a:solidFill>
                <a:effectLst/>
                <a:latin typeface="+mn-lt"/>
                <a:ea typeface="+mn-ea"/>
                <a:cs typeface="+mn-cs"/>
              </a:rPr>
              <a:t>中的一种重要寄存器，用于保存当前</a:t>
            </a:r>
            <a:r>
              <a:rPr lang="en-US" altLang="zh-CN" sz="1200" b="0" i="0" kern="1200" dirty="0">
                <a:solidFill>
                  <a:schemeClr val="tx1"/>
                </a:solidFill>
                <a:effectLst/>
                <a:latin typeface="+mn-lt"/>
                <a:ea typeface="+mn-ea"/>
                <a:cs typeface="+mn-cs"/>
              </a:rPr>
              <a:t>CPU</a:t>
            </a:r>
            <a:r>
              <a:rPr lang="zh-CN" altLang="en-US" sz="1200" b="0" i="0" kern="1200" dirty="0">
                <a:solidFill>
                  <a:schemeClr val="tx1"/>
                </a:solidFill>
                <a:effectLst/>
                <a:latin typeface="+mn-lt"/>
                <a:ea typeface="+mn-ea"/>
                <a:cs typeface="+mn-cs"/>
              </a:rPr>
              <a:t>所访问的内存单元的地址。由于内存和</a:t>
            </a:r>
            <a:r>
              <a:rPr lang="en-US" altLang="zh-CN" sz="1200" b="0" i="0" kern="1200" dirty="0">
                <a:solidFill>
                  <a:schemeClr val="tx1"/>
                </a:solidFill>
                <a:effectLst/>
                <a:latin typeface="+mn-lt"/>
                <a:ea typeface="+mn-ea"/>
                <a:cs typeface="+mn-cs"/>
              </a:rPr>
              <a:t>CPU</a:t>
            </a:r>
            <a:r>
              <a:rPr lang="zh-CN" altLang="en-US" sz="1200" b="0" i="0" kern="1200" dirty="0">
                <a:solidFill>
                  <a:schemeClr val="tx1"/>
                </a:solidFill>
                <a:effectLst/>
                <a:latin typeface="+mn-lt"/>
                <a:ea typeface="+mn-ea"/>
                <a:cs typeface="+mn-cs"/>
              </a:rPr>
              <a:t>之间存在操作速度上的差异，地址寄存器的主要作用是保持地址信息，直到内存的读</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写操作完成为止。内部有一个全双工的串行通信口，即串行接收和发送</a:t>
            </a:r>
            <a:r>
              <a:rPr lang="zh-CN" altLang="en-US" sz="1200" b="1" i="0" kern="1200" dirty="0">
                <a:solidFill>
                  <a:schemeClr val="tx1"/>
                </a:solidFill>
                <a:effectLst/>
                <a:latin typeface="+mn-lt"/>
                <a:ea typeface="+mn-ea"/>
                <a:cs typeface="+mn-cs"/>
              </a:rPr>
              <a:t>缓冲器</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SBUF</a:t>
            </a:r>
            <a:r>
              <a:rPr lang="zh-CN" altLang="en-US" sz="1200" b="0" i="0" kern="1200" dirty="0">
                <a:solidFill>
                  <a:schemeClr val="tx1"/>
                </a:solidFill>
                <a:effectLst/>
                <a:latin typeface="+mn-lt"/>
                <a:ea typeface="+mn-ea"/>
                <a:cs typeface="+mn-cs"/>
              </a:rPr>
              <a:t>），这两个在物理上独立的接收发送器，既可以接收数据也可以发送数据。 但接收</a:t>
            </a:r>
            <a:r>
              <a:rPr lang="zh-CN" altLang="en-US" sz="1200" b="1" i="0" kern="1200" dirty="0">
                <a:solidFill>
                  <a:schemeClr val="tx1"/>
                </a:solidFill>
                <a:effectLst/>
                <a:latin typeface="+mn-lt"/>
                <a:ea typeface="+mn-ea"/>
                <a:cs typeface="+mn-cs"/>
              </a:rPr>
              <a:t>缓冲器</a:t>
            </a:r>
            <a:r>
              <a:rPr lang="zh-CN" altLang="en-US" sz="1200" b="0" i="0" kern="1200" dirty="0">
                <a:solidFill>
                  <a:schemeClr val="tx1"/>
                </a:solidFill>
                <a:effectLst/>
                <a:latin typeface="+mn-lt"/>
                <a:ea typeface="+mn-ea"/>
                <a:cs typeface="+mn-cs"/>
              </a:rPr>
              <a:t>只能读出不能写入，而发送</a:t>
            </a:r>
            <a:r>
              <a:rPr lang="zh-CN" altLang="en-US" sz="1200" b="1" i="0" kern="1200" dirty="0">
                <a:solidFill>
                  <a:schemeClr val="tx1"/>
                </a:solidFill>
                <a:effectLst/>
                <a:latin typeface="+mn-lt"/>
                <a:ea typeface="+mn-ea"/>
                <a:cs typeface="+mn-cs"/>
              </a:rPr>
              <a:t>缓冲</a:t>
            </a:r>
            <a:r>
              <a:rPr lang="zh-CN" altLang="en-US" sz="1200" b="0" i="0" kern="1200" dirty="0">
                <a:solidFill>
                  <a:schemeClr val="tx1"/>
                </a:solidFill>
                <a:effectLst/>
                <a:latin typeface="+mn-lt"/>
                <a:ea typeface="+mn-ea"/>
                <a:cs typeface="+mn-cs"/>
              </a:rPr>
              <a:t>器则只能写入不能读出，它们的地址为</a:t>
            </a:r>
            <a:r>
              <a:rPr lang="en-US" altLang="zh-CN" sz="1200" b="0" i="0" kern="1200" dirty="0">
                <a:solidFill>
                  <a:schemeClr val="tx1"/>
                </a:solidFill>
                <a:effectLst/>
                <a:latin typeface="+mn-lt"/>
                <a:ea typeface="+mn-ea"/>
                <a:cs typeface="+mn-cs"/>
              </a:rPr>
              <a:t>99H</a:t>
            </a:r>
            <a:r>
              <a:rPr lang="zh-CN" altLang="en-US" sz="1200" b="0" i="0" kern="1200" dirty="0">
                <a:solidFill>
                  <a:schemeClr val="tx1"/>
                </a:solidFill>
                <a:effectLst/>
                <a:latin typeface="+mn-lt"/>
                <a:ea typeface="+mn-ea"/>
                <a:cs typeface="+mn-cs"/>
              </a:rPr>
              <a:t>。</a:t>
            </a:r>
            <a:r>
              <a:rPr lang="en-US" altLang="zh-CN" sz="1200" b="1" i="0" kern="1200" dirty="0">
                <a:solidFill>
                  <a:schemeClr val="tx1"/>
                </a:solidFill>
                <a:effectLst/>
                <a:latin typeface="+mn-lt"/>
                <a:ea typeface="+mn-ea"/>
                <a:cs typeface="+mn-cs"/>
              </a:rPr>
              <a:t>DPTR</a:t>
            </a:r>
            <a:r>
              <a:rPr lang="zh-CN" altLang="en-US" sz="1200" b="1" i="0" kern="1200" dirty="0">
                <a:solidFill>
                  <a:schemeClr val="tx1"/>
                </a:solidFill>
                <a:effectLst/>
                <a:latin typeface="+mn-lt"/>
                <a:ea typeface="+mn-ea"/>
                <a:cs typeface="+mn-cs"/>
              </a:rPr>
              <a:t>（数据指针）是</a:t>
            </a:r>
            <a:r>
              <a:rPr lang="en-US" altLang="zh-CN" sz="1200" b="1" i="0" kern="1200" dirty="0">
                <a:solidFill>
                  <a:schemeClr val="tx1"/>
                </a:solidFill>
                <a:effectLst/>
                <a:latin typeface="+mn-lt"/>
                <a:ea typeface="+mn-ea"/>
                <a:cs typeface="+mn-cs"/>
              </a:rPr>
              <a:t>51</a:t>
            </a:r>
            <a:r>
              <a:rPr lang="zh-CN" altLang="en-US" sz="1200" b="1" i="0" kern="1200" dirty="0">
                <a:solidFill>
                  <a:schemeClr val="tx1"/>
                </a:solidFill>
                <a:effectLst/>
                <a:latin typeface="+mn-lt"/>
                <a:ea typeface="+mn-ea"/>
                <a:cs typeface="+mn-cs"/>
              </a:rPr>
              <a:t>单片机中的一个</a:t>
            </a:r>
            <a:r>
              <a:rPr lang="en-US" altLang="zh-CN" sz="1200" b="1" i="0" kern="1200" dirty="0">
                <a:solidFill>
                  <a:schemeClr val="tx1"/>
                </a:solidFill>
                <a:effectLst/>
                <a:latin typeface="+mn-lt"/>
                <a:ea typeface="+mn-ea"/>
                <a:cs typeface="+mn-cs"/>
              </a:rPr>
              <a:t>16</a:t>
            </a:r>
            <a:r>
              <a:rPr lang="zh-CN" altLang="en-US" sz="1200" b="1" i="0" kern="1200" dirty="0">
                <a:solidFill>
                  <a:schemeClr val="tx1"/>
                </a:solidFill>
                <a:effectLst/>
                <a:latin typeface="+mn-lt"/>
                <a:ea typeface="+mn-ea"/>
                <a:cs typeface="+mn-cs"/>
              </a:rPr>
              <a:t>位特殊寄存器，用于存储外部存储器的地址，主要用于间接寻址和数据传输。</a:t>
            </a:r>
            <a:r>
              <a:rPr lang="en-US" altLang="zh-CN" sz="1200" b="0" i="0" kern="1200" dirty="0">
                <a:solidFill>
                  <a:schemeClr val="tx1"/>
                </a:solidFill>
                <a:effectLst/>
                <a:latin typeface="+mn-lt"/>
                <a:ea typeface="+mn-ea"/>
                <a:cs typeface="+mn-cs"/>
              </a:rPr>
              <a:t>DPTR</a:t>
            </a:r>
            <a:r>
              <a:rPr lang="zh-CN" altLang="en-US" sz="1200" b="0" i="0" kern="1200" dirty="0">
                <a:solidFill>
                  <a:schemeClr val="tx1"/>
                </a:solidFill>
                <a:effectLst/>
                <a:latin typeface="+mn-lt"/>
                <a:ea typeface="+mn-ea"/>
                <a:cs typeface="+mn-cs"/>
              </a:rPr>
              <a:t>由两个</a:t>
            </a:r>
            <a:r>
              <a:rPr lang="en-US" altLang="zh-CN" sz="1200" b="0" i="0" kern="1200" dirty="0">
                <a:solidFill>
                  <a:schemeClr val="tx1"/>
                </a:solidFill>
                <a:effectLst/>
                <a:latin typeface="+mn-lt"/>
                <a:ea typeface="+mn-ea"/>
                <a:cs typeface="+mn-cs"/>
              </a:rPr>
              <a:t>8</a:t>
            </a:r>
            <a:r>
              <a:rPr lang="zh-CN" altLang="en-US" sz="1200" b="0" i="0" kern="1200" dirty="0">
                <a:solidFill>
                  <a:schemeClr val="tx1"/>
                </a:solidFill>
                <a:effectLst/>
                <a:latin typeface="+mn-lt"/>
                <a:ea typeface="+mn-ea"/>
                <a:cs typeface="+mn-cs"/>
              </a:rPr>
              <a:t>位寄存器组成：</a:t>
            </a:r>
          </a:p>
          <a:p>
            <a:r>
              <a:rPr lang="en-US" altLang="zh-CN" sz="1200" b="1" i="0" kern="1200" dirty="0">
                <a:solidFill>
                  <a:schemeClr val="tx1"/>
                </a:solidFill>
                <a:effectLst/>
                <a:latin typeface="+mn-lt"/>
                <a:ea typeface="+mn-ea"/>
                <a:cs typeface="+mn-cs"/>
              </a:rPr>
              <a:t>DPH</a:t>
            </a:r>
            <a:r>
              <a:rPr lang="zh-CN" altLang="en-US" sz="1200" b="0" i="0" kern="1200" dirty="0">
                <a:solidFill>
                  <a:schemeClr val="tx1"/>
                </a:solidFill>
                <a:effectLst/>
                <a:latin typeface="+mn-lt"/>
                <a:ea typeface="+mn-ea"/>
                <a:cs typeface="+mn-cs"/>
              </a:rPr>
              <a:t>：高</a:t>
            </a:r>
            <a:r>
              <a:rPr lang="en-US" altLang="zh-CN" sz="1200" b="0" i="0" kern="1200" dirty="0">
                <a:solidFill>
                  <a:schemeClr val="tx1"/>
                </a:solidFill>
                <a:effectLst/>
                <a:latin typeface="+mn-lt"/>
                <a:ea typeface="+mn-ea"/>
                <a:cs typeface="+mn-cs"/>
              </a:rPr>
              <a:t>8</a:t>
            </a:r>
            <a:r>
              <a:rPr lang="zh-CN" altLang="en-US" sz="1200" b="0" i="0" kern="1200" dirty="0">
                <a:solidFill>
                  <a:schemeClr val="tx1"/>
                </a:solidFill>
                <a:effectLst/>
                <a:latin typeface="+mn-lt"/>
                <a:ea typeface="+mn-ea"/>
                <a:cs typeface="+mn-cs"/>
              </a:rPr>
              <a:t>位寄存器 ；</a:t>
            </a:r>
            <a:r>
              <a:rPr lang="en-US" altLang="zh-CN" sz="1200" b="0" i="0" u="non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DPL</a:t>
            </a:r>
            <a:r>
              <a:rPr lang="zh-CN" altLang="en-US" sz="1200" b="0" i="0" u="non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：低</a:t>
            </a:r>
            <a:r>
              <a:rPr lang="en-US" altLang="zh-CN" sz="1200" b="0" i="0" u="non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8</a:t>
            </a:r>
            <a:r>
              <a:rPr lang="zh-CN" altLang="en-US" sz="1200" b="0" i="0" u="non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位寄存器 这两个寄存器结合起来形成一个</a:t>
            </a:r>
            <a:r>
              <a:rPr lang="en-US" altLang="zh-CN" sz="1200" b="0" i="0" u="non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16</a:t>
            </a:r>
            <a:r>
              <a:rPr lang="zh-CN" altLang="en-US" sz="1200" b="0" i="0" u="non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位的地址寄存器，使得</a:t>
            </a:r>
            <a:r>
              <a:rPr lang="en-US" altLang="zh-CN" sz="1200" b="0" i="0" u="non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DPTR</a:t>
            </a:r>
            <a:r>
              <a:rPr lang="zh-CN" altLang="en-US" sz="1200" b="0" i="0" u="non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能够寻址外部存储器（如外部</a:t>
            </a:r>
            <a:r>
              <a:rPr lang="en-US" altLang="zh-CN" sz="1200" b="0" i="0" u="non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RAM</a:t>
            </a:r>
            <a:r>
              <a:rPr lang="zh-CN" altLang="en-US" sz="1200" b="0" i="0" u="non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和</a:t>
            </a:r>
            <a:r>
              <a:rPr lang="en-US" altLang="zh-CN" sz="1200" b="0" i="0" u="non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ROM</a:t>
            </a:r>
            <a:r>
              <a:rPr lang="zh-CN" altLang="en-US" sz="1200" b="0" i="0" u="non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）中的数据。 </a:t>
            </a:r>
            <a:endParaRPr lang="zh-CN" altLang="en-US" sz="1200" b="0" i="0" u="none" kern="1200" dirty="0">
              <a:solidFill>
                <a:schemeClr val="tx1"/>
              </a:solidFill>
              <a:effectLst/>
              <a:latin typeface="+mn-lt"/>
              <a:ea typeface="+mn-ea"/>
              <a:cs typeface="+mn-cs"/>
            </a:endParaRPr>
          </a:p>
          <a:p>
            <a:endParaRPr lang="zh-CN" altLang="en-US" sz="1200" b="0" i="0" kern="1200" dirty="0">
              <a:solidFill>
                <a:schemeClr val="tx1"/>
              </a:solidFill>
              <a:effectLst/>
              <a:latin typeface="+mn-lt"/>
              <a:ea typeface="+mn-ea"/>
              <a:cs typeface="+mn-cs"/>
            </a:endParaRPr>
          </a:p>
          <a:p>
            <a:pPr>
              <a:spcBef>
                <a:spcPct val="0"/>
              </a:spcBef>
            </a:pPr>
            <a:endParaRPr lang="zh-CN" altLang="en-US" dirty="0"/>
          </a:p>
        </p:txBody>
      </p:sp>
      <p:sp>
        <p:nvSpPr>
          <p:cNvPr id="2355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66FBAD82-BCF4-4A0A-9164-814DA6C19AED}" type="slidenum">
              <a:rPr lang="zh-CN" altLang="en-US"/>
              <a:t>7</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p:cNvSpPr>
          <p:nvPr>
            <p:ph type="sldImg"/>
          </p:nvPr>
        </p:nvSpPr>
        <p:spPr bwMode="auto">
          <a:noFill/>
          <a:ln>
            <a:solidFill>
              <a:srgbClr val="000000"/>
            </a:solidFill>
            <a:miter lim="800000"/>
          </a:ln>
        </p:spPr>
      </p:sp>
      <p:sp>
        <p:nvSpPr>
          <p:cNvPr id="2560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2560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50DEB60A-E33B-4C53-8E37-0B97D6154962}" type="slidenum">
              <a:rPr lang="zh-CN" altLang="en-US"/>
              <a:t>8</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p:cNvSpPr>
          <p:nvPr>
            <p:ph type="sldImg"/>
          </p:nvPr>
        </p:nvSpPr>
        <p:spPr bwMode="auto">
          <a:noFill/>
          <a:ln>
            <a:solidFill>
              <a:srgbClr val="000000"/>
            </a:solidFill>
            <a:miter lim="800000"/>
          </a:ln>
        </p:spPr>
      </p:sp>
      <p:sp>
        <p:nvSpPr>
          <p:cNvPr id="2560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2560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50DEB60A-E33B-4C53-8E37-0B97D6154962}" type="slidenum">
              <a:rPr lang="zh-CN" altLang="en-US"/>
              <a:t>9</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p:cNvSpPr>
          <p:nvPr>
            <p:ph type="sldImg"/>
          </p:nvPr>
        </p:nvSpPr>
        <p:spPr bwMode="auto">
          <a:noFill/>
          <a:ln>
            <a:solidFill>
              <a:srgbClr val="000000"/>
            </a:solidFill>
            <a:miter lim="800000"/>
          </a:ln>
        </p:spPr>
      </p:sp>
      <p:sp>
        <p:nvSpPr>
          <p:cNvPr id="2765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2765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4FB97D49-C0D2-4517-B757-40597BB9065D}" type="slidenum">
              <a:rPr lang="zh-CN" altLang="en-US"/>
              <a:t>10</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幻灯片图像占位符 1"/>
          <p:cNvSpPr>
            <a:spLocks noGrp="1" noRot="1" noChangeAspect="1"/>
          </p:cNvSpPr>
          <p:nvPr>
            <p:ph type="sldImg"/>
          </p:nvPr>
        </p:nvSpPr>
        <p:spPr bwMode="auto">
          <a:noFill/>
          <a:ln>
            <a:solidFill>
              <a:srgbClr val="000000"/>
            </a:solidFill>
            <a:miter lim="800000"/>
          </a:ln>
        </p:spPr>
      </p:sp>
      <p:sp>
        <p:nvSpPr>
          <p:cNvPr id="29698" name="备注占位符 2"/>
          <p:cNvSpPr>
            <a:spLocks noGrp="1"/>
          </p:cNvSpPr>
          <p:nvPr>
            <p:ph type="body" idx="1"/>
          </p:nvPr>
        </p:nvSpPr>
        <p:spPr bwMode="auto">
          <a:noFill/>
        </p:spPr>
        <p:txBody>
          <a:bodyPr wrap="square" numCol="1" anchor="t" anchorCtr="0" compatLnSpc="1"/>
          <a:lstStyle/>
          <a:p>
            <a:pPr>
              <a:spcBef>
                <a:spcPct val="0"/>
              </a:spcBef>
            </a:pPr>
            <a:r>
              <a:rPr lang="en-US" altLang="zh-CN" sz="1200" b="0" i="0" u="none" strike="noStrike" kern="1200" dirty="0">
                <a:solidFill>
                  <a:schemeClr val="tx1"/>
                </a:solidFill>
                <a:effectLst/>
                <a:latin typeface="+mn-lt"/>
                <a:ea typeface="+mn-ea"/>
                <a:cs typeface="+mn-cs"/>
              </a:rPr>
              <a:t>MOVX A, @DPTR </a:t>
            </a:r>
            <a:r>
              <a:rPr lang="zh-CN" altLang="en-US" sz="1200" b="0" i="0" u="none" strike="noStrike" kern="1200" dirty="0">
                <a:solidFill>
                  <a:schemeClr val="tx1"/>
                </a:solidFill>
                <a:effectLst/>
                <a:latin typeface="+mn-lt"/>
                <a:ea typeface="+mn-ea"/>
                <a:cs typeface="+mn-cs"/>
              </a:rPr>
              <a:t>是一种用于</a:t>
            </a:r>
            <a:r>
              <a:rPr lang="en-US" altLang="zh-CN" sz="1200" b="0" i="0" u="none" strike="noStrike" kern="1200" dirty="0">
                <a:solidFill>
                  <a:schemeClr val="tx1"/>
                </a:solidFill>
                <a:effectLst/>
                <a:latin typeface="+mn-lt"/>
                <a:ea typeface="+mn-ea"/>
                <a:cs typeface="+mn-cs"/>
              </a:rPr>
              <a:t>8051</a:t>
            </a:r>
            <a:r>
              <a:rPr lang="zh-CN" altLang="en-US" sz="1200" b="0" i="0" u="none" strike="noStrike" kern="1200" dirty="0">
                <a:solidFill>
                  <a:schemeClr val="tx1"/>
                </a:solidFill>
                <a:effectLst/>
                <a:latin typeface="+mn-lt"/>
                <a:ea typeface="+mn-ea"/>
                <a:cs typeface="+mn-cs"/>
              </a:rPr>
              <a:t>系列单片机的汇编指令。它的意思是将外部数据存储器中由 </a:t>
            </a:r>
            <a:r>
              <a:rPr lang="en-US" altLang="zh-CN" sz="1200" b="0" i="0" u="none" strike="noStrike" kern="1200" dirty="0">
                <a:solidFill>
                  <a:schemeClr val="tx1"/>
                </a:solidFill>
                <a:effectLst/>
                <a:latin typeface="+mn-lt"/>
                <a:ea typeface="+mn-ea"/>
                <a:cs typeface="+mn-cs"/>
              </a:rPr>
              <a:t>DPTR </a:t>
            </a:r>
            <a:r>
              <a:rPr lang="zh-CN" altLang="en-US" sz="1200" b="0" i="0" u="none" strike="noStrike" kern="1200" dirty="0">
                <a:solidFill>
                  <a:schemeClr val="tx1"/>
                </a:solidFill>
                <a:effectLst/>
                <a:latin typeface="+mn-lt"/>
                <a:ea typeface="+mn-ea"/>
                <a:cs typeface="+mn-cs"/>
              </a:rPr>
              <a:t>指向的地址的内容加载到 </a:t>
            </a:r>
            <a:r>
              <a:rPr lang="en-US" altLang="zh-CN" sz="1200" b="0" i="0" u="none" strike="noStrike" kern="1200" dirty="0">
                <a:solidFill>
                  <a:schemeClr val="tx1"/>
                </a:solidFill>
                <a:effectLst/>
                <a:latin typeface="+mn-lt"/>
                <a:ea typeface="+mn-ea"/>
                <a:cs typeface="+mn-cs"/>
              </a:rPr>
              <a:t>A</a:t>
            </a:r>
            <a:r>
              <a:rPr lang="zh-CN" altLang="en-US" sz="1200" b="0" i="0" u="none" strike="noStrike" kern="1200" dirty="0">
                <a:solidFill>
                  <a:schemeClr val="tx1"/>
                </a:solidFill>
                <a:effectLst/>
                <a:latin typeface="+mn-lt"/>
                <a:ea typeface="+mn-ea"/>
                <a:cs typeface="+mn-cs"/>
              </a:rPr>
              <a:t>（累加器）寄存器中。指令 </a:t>
            </a:r>
            <a:r>
              <a:rPr lang="en-US" altLang="zh-CN" sz="1200" b="0" i="0" u="none" strike="noStrike" kern="1200" dirty="0">
                <a:solidFill>
                  <a:schemeClr val="tx1"/>
                </a:solidFill>
                <a:effectLst/>
                <a:latin typeface="+mn-lt"/>
                <a:ea typeface="+mn-ea"/>
                <a:cs typeface="+mn-cs"/>
              </a:rPr>
              <a:t>MOVX @DPTR, A </a:t>
            </a:r>
            <a:r>
              <a:rPr lang="zh-CN" altLang="en-US" sz="1200" b="0" i="0" u="none" strike="noStrike" kern="1200" dirty="0">
                <a:solidFill>
                  <a:schemeClr val="tx1"/>
                </a:solidFill>
                <a:effectLst/>
                <a:latin typeface="+mn-lt"/>
                <a:ea typeface="+mn-ea"/>
                <a:cs typeface="+mn-cs"/>
              </a:rPr>
              <a:t>的意思是将累加器 </a:t>
            </a:r>
            <a:r>
              <a:rPr lang="en-US" altLang="zh-CN" sz="1200" b="0" i="0" u="none" strike="noStrike" kern="1200" dirty="0">
                <a:solidFill>
                  <a:schemeClr val="tx1"/>
                </a:solidFill>
                <a:effectLst/>
                <a:latin typeface="+mn-lt"/>
                <a:ea typeface="+mn-ea"/>
                <a:cs typeface="+mn-cs"/>
              </a:rPr>
              <a:t>A </a:t>
            </a:r>
            <a:r>
              <a:rPr lang="zh-CN" altLang="en-US" sz="1200" b="0" i="0" u="none" strike="noStrike" kern="1200" dirty="0">
                <a:solidFill>
                  <a:schemeClr val="tx1"/>
                </a:solidFill>
                <a:effectLst/>
                <a:latin typeface="+mn-lt"/>
                <a:ea typeface="+mn-ea"/>
                <a:cs typeface="+mn-cs"/>
              </a:rPr>
              <a:t>中的内容写入由 </a:t>
            </a:r>
            <a:r>
              <a:rPr lang="en-US" altLang="zh-CN" sz="1200" b="0" i="0" u="none" strike="noStrike" kern="1200" dirty="0">
                <a:solidFill>
                  <a:schemeClr val="tx1"/>
                </a:solidFill>
                <a:effectLst/>
                <a:latin typeface="+mn-lt"/>
                <a:ea typeface="+mn-ea"/>
                <a:cs typeface="+mn-cs"/>
              </a:rPr>
              <a:t>DPTR </a:t>
            </a:r>
            <a:r>
              <a:rPr lang="zh-CN" altLang="en-US" sz="1200" b="0" i="0" u="none" strike="noStrike" kern="1200" dirty="0">
                <a:solidFill>
                  <a:schemeClr val="tx1"/>
                </a:solidFill>
                <a:effectLst/>
                <a:latin typeface="+mn-lt"/>
                <a:ea typeface="+mn-ea"/>
                <a:cs typeface="+mn-cs"/>
              </a:rPr>
              <a:t>寄存器指向的外部数据存储器地址中。具体来说，这条指令会将 </a:t>
            </a:r>
            <a:r>
              <a:rPr lang="en-US" altLang="zh-CN" sz="1200" b="0" i="0" u="none" strike="noStrike" kern="1200" dirty="0">
                <a:solidFill>
                  <a:schemeClr val="tx1"/>
                </a:solidFill>
                <a:effectLst/>
                <a:latin typeface="+mn-lt"/>
                <a:ea typeface="+mn-ea"/>
                <a:cs typeface="+mn-cs"/>
              </a:rPr>
              <a:t>A </a:t>
            </a:r>
            <a:r>
              <a:rPr lang="zh-CN" altLang="en-US" sz="1200" b="0" i="0" u="none" strike="noStrike" kern="1200" dirty="0">
                <a:solidFill>
                  <a:schemeClr val="tx1"/>
                </a:solidFill>
                <a:effectLst/>
                <a:latin typeface="+mn-lt"/>
                <a:ea typeface="+mn-ea"/>
                <a:cs typeface="+mn-cs"/>
              </a:rPr>
              <a:t>中的数据存储到 </a:t>
            </a:r>
            <a:r>
              <a:rPr lang="en-US" altLang="zh-CN" sz="1200" b="0" i="0" u="none" strike="noStrike" kern="1200" dirty="0">
                <a:solidFill>
                  <a:schemeClr val="tx1"/>
                </a:solidFill>
                <a:effectLst/>
                <a:latin typeface="+mn-lt"/>
                <a:ea typeface="+mn-ea"/>
                <a:cs typeface="+mn-cs"/>
              </a:rPr>
              <a:t>DPTR </a:t>
            </a:r>
            <a:r>
              <a:rPr lang="zh-CN" altLang="en-US" sz="1200" b="0" i="0" u="none" strike="noStrike" kern="1200" dirty="0">
                <a:solidFill>
                  <a:schemeClr val="tx1"/>
                </a:solidFill>
                <a:effectLst/>
                <a:latin typeface="+mn-lt"/>
                <a:ea typeface="+mn-ea"/>
                <a:cs typeface="+mn-cs"/>
              </a:rPr>
              <a:t>指向的地址（例如 </a:t>
            </a:r>
            <a:r>
              <a:rPr lang="en-US" altLang="zh-CN" sz="1200" b="0" i="0" u="none" strike="noStrike" kern="1200" dirty="0">
                <a:solidFill>
                  <a:schemeClr val="tx1"/>
                </a:solidFill>
                <a:effectLst/>
                <a:latin typeface="+mn-lt"/>
                <a:ea typeface="+mn-ea"/>
                <a:cs typeface="+mn-cs"/>
              </a:rPr>
              <a:t>7000H</a:t>
            </a:r>
            <a:r>
              <a:rPr lang="zh-CN" altLang="en-US" sz="1200" b="0" i="0" u="none" strike="noStrike" kern="1200" dirty="0">
                <a:solidFill>
                  <a:schemeClr val="tx1"/>
                </a:solidFill>
                <a:effectLst/>
                <a:latin typeface="+mn-lt"/>
                <a:ea typeface="+mn-ea"/>
                <a:cs typeface="+mn-cs"/>
              </a:rPr>
              <a:t>）中，从而实现数据的转移。</a:t>
            </a:r>
            <a:r>
              <a:rPr lang="en-US" altLang="zh-CN" sz="1200" b="0" i="0" kern="1200" dirty="0">
                <a:solidFill>
                  <a:schemeClr val="tx1"/>
                </a:solidFill>
                <a:effectLst/>
                <a:latin typeface="+mn-lt"/>
                <a:ea typeface="+mn-ea"/>
                <a:cs typeface="+mn-cs"/>
              </a:rPr>
              <a:t>MOVC A,@A+DPTR</a:t>
            </a:r>
            <a:r>
              <a:rPr lang="zh-CN" altLang="en-US" sz="1200" b="0" i="0" kern="1200" dirty="0">
                <a:solidFill>
                  <a:schemeClr val="tx1"/>
                </a:solidFill>
                <a:effectLst/>
                <a:latin typeface="+mn-lt"/>
                <a:ea typeface="+mn-ea"/>
                <a:cs typeface="+mn-cs"/>
              </a:rPr>
              <a:t>。这条指令是单片机查表指令，</a:t>
            </a:r>
            <a:r>
              <a:rPr lang="en-US" altLang="zh-CN" sz="1200" b="0" i="0" kern="1200" dirty="0">
                <a:solidFill>
                  <a:schemeClr val="tx1"/>
                </a:solidFill>
                <a:effectLst/>
                <a:latin typeface="+mn-lt"/>
                <a:ea typeface="+mn-ea"/>
                <a:cs typeface="+mn-cs"/>
              </a:rPr>
              <a:t>DPTR</a:t>
            </a:r>
            <a:r>
              <a:rPr lang="zh-CN" altLang="en-US" sz="1200" b="0" i="0" kern="1200" dirty="0">
                <a:solidFill>
                  <a:schemeClr val="tx1"/>
                </a:solidFill>
                <a:effectLst/>
                <a:latin typeface="+mn-lt"/>
                <a:ea typeface="+mn-ea"/>
                <a:cs typeface="+mn-cs"/>
              </a:rPr>
              <a:t>是首地址，</a:t>
            </a:r>
            <a:r>
              <a:rPr lang="en-US" altLang="zh-CN" sz="1200" b="0" i="0" kern="1200" dirty="0">
                <a:solidFill>
                  <a:schemeClr val="tx1"/>
                </a:solidFill>
                <a:effectLst/>
                <a:latin typeface="+mn-lt"/>
                <a:ea typeface="+mn-ea"/>
                <a:cs typeface="+mn-cs"/>
              </a:rPr>
              <a:t>A</a:t>
            </a:r>
            <a:r>
              <a:rPr lang="zh-CN" altLang="en-US" sz="1200" b="0" i="0" u="none" strike="noStrike" kern="1200" dirty="0">
                <a:solidFill>
                  <a:schemeClr val="tx1"/>
                </a:solidFill>
                <a:effectLst/>
                <a:latin typeface="+mn-lt"/>
                <a:ea typeface="+mn-ea"/>
                <a:cs typeface="+mn-cs"/>
                <a:hlinkClick r:id="rId3"/>
              </a:rPr>
              <a:t>寄存器</a:t>
            </a:r>
            <a:r>
              <a:rPr lang="zh-CN" altLang="en-US" sz="1200" b="0" i="0" kern="1200" dirty="0">
                <a:solidFill>
                  <a:schemeClr val="tx1"/>
                </a:solidFill>
                <a:effectLst/>
                <a:latin typeface="+mn-lt"/>
                <a:ea typeface="+mn-ea"/>
                <a:cs typeface="+mn-cs"/>
              </a:rPr>
              <a:t>，指令的意思就是将</a:t>
            </a:r>
            <a:r>
              <a:rPr lang="en-US" altLang="zh-CN" sz="1200" b="0" i="0" kern="1200" dirty="0">
                <a:solidFill>
                  <a:schemeClr val="tx1"/>
                </a:solidFill>
                <a:effectLst/>
                <a:latin typeface="+mn-lt"/>
                <a:ea typeface="+mn-ea"/>
                <a:cs typeface="+mn-cs"/>
              </a:rPr>
              <a:t>DPTR</a:t>
            </a:r>
            <a:r>
              <a:rPr lang="zh-CN" altLang="en-US" sz="1200" b="0" i="0" kern="1200" dirty="0">
                <a:solidFill>
                  <a:schemeClr val="tx1"/>
                </a:solidFill>
                <a:effectLst/>
                <a:latin typeface="+mn-lt"/>
                <a:ea typeface="+mn-ea"/>
                <a:cs typeface="+mn-cs"/>
              </a:rPr>
              <a:t>的地址加上累加器</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存的</a:t>
            </a:r>
            <a:r>
              <a:rPr lang="zh-CN" altLang="en-US" sz="1200" b="0" i="0" u="none" strike="noStrike" kern="1200" dirty="0">
                <a:solidFill>
                  <a:schemeClr val="tx1"/>
                </a:solidFill>
                <a:effectLst/>
                <a:latin typeface="+mn-lt"/>
                <a:ea typeface="+mn-ea"/>
                <a:cs typeface="+mn-cs"/>
                <a:hlinkClick r:id="rId4"/>
              </a:rPr>
              <a:t>偏移量</a:t>
            </a:r>
            <a:r>
              <a:rPr lang="zh-CN" altLang="en-US" sz="1200" b="0" i="0" kern="1200" dirty="0">
                <a:solidFill>
                  <a:schemeClr val="tx1"/>
                </a:solidFill>
                <a:effectLst/>
                <a:latin typeface="+mn-lt"/>
                <a:ea typeface="+mn-ea"/>
                <a:cs typeface="+mn-cs"/>
              </a:rPr>
              <a:t>，形成的新地址中的数取出给</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jmp</a:t>
            </a:r>
            <a:r>
              <a:rPr lang="zh-CN" altLang="en-US" sz="1200" b="0" i="0" kern="1200" dirty="0">
                <a:solidFill>
                  <a:schemeClr val="tx1"/>
                </a:solidFill>
                <a:effectLst/>
                <a:latin typeface="+mn-lt"/>
                <a:ea typeface="+mn-ea"/>
                <a:cs typeface="+mn-cs"/>
              </a:rPr>
              <a:t>是无条件跳转指令</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jmp</a:t>
            </a:r>
            <a:r>
              <a:rPr lang="zh-CN" altLang="en-US" sz="1200" b="0" i="0" kern="1200" dirty="0">
                <a:solidFill>
                  <a:schemeClr val="tx1"/>
                </a:solidFill>
                <a:effectLst/>
                <a:latin typeface="+mn-lt"/>
                <a:ea typeface="+mn-ea"/>
                <a:cs typeface="+mn-cs"/>
              </a:rPr>
              <a:t>后直接是下一条要跳转指令的地址</a:t>
            </a:r>
            <a:endParaRPr lang="en-US" altLang="zh-CN" sz="1200" b="0" i="0" kern="1200" dirty="0">
              <a:solidFill>
                <a:schemeClr val="tx1"/>
              </a:solidFill>
              <a:effectLst/>
              <a:latin typeface="+mn-lt"/>
              <a:ea typeface="+mn-ea"/>
              <a:cs typeface="+mn-cs"/>
            </a:endParaRPr>
          </a:p>
          <a:p>
            <a:pPr>
              <a:spcBef>
                <a:spcPct val="0"/>
              </a:spcBef>
            </a:pPr>
            <a:r>
              <a:rPr lang="en-US" altLang="zh-CN" sz="1200" b="0" i="0" kern="1200" dirty="0">
                <a:solidFill>
                  <a:schemeClr val="tx1"/>
                </a:solidFill>
                <a:effectLst/>
                <a:latin typeface="+mn-lt"/>
                <a:ea typeface="+mn-ea"/>
                <a:cs typeface="+mn-cs"/>
              </a:rPr>
              <a:t>MOV</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MOV</a:t>
            </a:r>
            <a:r>
              <a:rPr lang="zh-CN" altLang="en-US" sz="1200" b="0" i="0" kern="1200" dirty="0">
                <a:solidFill>
                  <a:schemeClr val="tx1"/>
                </a:solidFill>
                <a:effectLst/>
                <a:latin typeface="+mn-lt"/>
                <a:ea typeface="+mn-ea"/>
                <a:cs typeface="+mn-cs"/>
              </a:rPr>
              <a:t>是内部数据传送指令</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就是寄存器之间、寄存器与通用存储区之间的数据传送。</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MOVX</a:t>
            </a:r>
            <a:r>
              <a:rPr lang="zh-CN" altLang="en-US" sz="1200" b="0" i="0" kern="1200" dirty="0">
                <a:solidFill>
                  <a:schemeClr val="tx1"/>
                </a:solidFill>
                <a:effectLst/>
                <a:latin typeface="+mn-lt"/>
                <a:ea typeface="+mn-ea"/>
                <a:cs typeface="+mn-cs"/>
              </a:rPr>
              <a:t>是外部数据存储器（外部</a:t>
            </a:r>
            <a:r>
              <a:rPr lang="en-US" altLang="zh-CN" sz="1200" b="0" i="0" kern="1200" dirty="0">
                <a:solidFill>
                  <a:schemeClr val="tx1"/>
                </a:solidFill>
                <a:effectLst/>
                <a:latin typeface="+mn-lt"/>
                <a:ea typeface="+mn-ea"/>
                <a:cs typeface="+mn-cs"/>
              </a:rPr>
              <a:t>RAM</a:t>
            </a:r>
            <a:r>
              <a:rPr lang="zh-CN" altLang="en-US" sz="1200" b="0" i="0" kern="1200" dirty="0">
                <a:solidFill>
                  <a:schemeClr val="tx1"/>
                </a:solidFill>
                <a:effectLst/>
                <a:latin typeface="+mn-lt"/>
                <a:ea typeface="+mn-ea"/>
                <a:cs typeface="+mn-cs"/>
              </a:rPr>
              <a:t>）与累加器</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之间的数据传送指令</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MOVC</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MOVC</a:t>
            </a:r>
            <a:r>
              <a:rPr lang="zh-CN" altLang="en-US" sz="1200" b="0" i="0" kern="1200" dirty="0">
                <a:solidFill>
                  <a:schemeClr val="tx1"/>
                </a:solidFill>
                <a:effectLst/>
                <a:latin typeface="+mn-lt"/>
                <a:ea typeface="+mn-ea"/>
                <a:cs typeface="+mn-cs"/>
              </a:rPr>
              <a:t>是累加器与程序存储区之间的数据传送指令。它比</a:t>
            </a:r>
            <a:r>
              <a:rPr lang="en-US" altLang="zh-CN" sz="1200" b="0" i="0" kern="1200" dirty="0">
                <a:solidFill>
                  <a:schemeClr val="tx1"/>
                </a:solidFill>
                <a:effectLst/>
                <a:latin typeface="+mn-lt"/>
                <a:ea typeface="+mn-ea"/>
                <a:cs typeface="+mn-cs"/>
              </a:rPr>
              <a:t>MOV</a:t>
            </a:r>
            <a:r>
              <a:rPr lang="zh-CN" altLang="en-US" sz="1200" b="0" i="0" kern="1200" dirty="0">
                <a:solidFill>
                  <a:schemeClr val="tx1"/>
                </a:solidFill>
                <a:effectLst/>
                <a:latin typeface="+mn-lt"/>
                <a:ea typeface="+mn-ea"/>
                <a:cs typeface="+mn-cs"/>
              </a:rPr>
              <a:t>指令多了一个字母“</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，这个“</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就是“</a:t>
            </a:r>
            <a:r>
              <a:rPr lang="en-US" altLang="zh-CN" sz="1200" b="0" i="0" kern="1200" dirty="0">
                <a:solidFill>
                  <a:schemeClr val="tx1"/>
                </a:solidFill>
                <a:effectLst/>
                <a:latin typeface="+mn-lt"/>
                <a:ea typeface="+mn-ea"/>
                <a:cs typeface="+mn-cs"/>
              </a:rPr>
              <a:t>Code”</a:t>
            </a:r>
            <a:r>
              <a:rPr lang="zh-CN" altLang="en-US" sz="1200" b="0" i="0" kern="1200" dirty="0">
                <a:solidFill>
                  <a:schemeClr val="tx1"/>
                </a:solidFill>
                <a:effectLst/>
                <a:latin typeface="+mn-lt"/>
                <a:ea typeface="+mn-ea"/>
                <a:cs typeface="+mn-cs"/>
              </a:rPr>
              <a:t>的意思，翻译过来就是“代码”的意思，就是代码区（程序存储区）与</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之间的数据传送指令。它可以用于内部程序存储区（内部</a:t>
            </a:r>
            <a:r>
              <a:rPr lang="en-US" altLang="zh-CN" sz="1200" b="0" i="0" kern="1200" dirty="0">
                <a:solidFill>
                  <a:schemeClr val="tx1"/>
                </a:solidFill>
                <a:effectLst/>
                <a:latin typeface="+mn-lt"/>
                <a:ea typeface="+mn-ea"/>
                <a:cs typeface="+mn-cs"/>
              </a:rPr>
              <a:t>ROM</a:t>
            </a:r>
            <a:r>
              <a:rPr lang="zh-CN" altLang="en-US" sz="1200" b="0" i="0" kern="1200" dirty="0">
                <a:solidFill>
                  <a:schemeClr val="tx1"/>
                </a:solidFill>
                <a:effectLst/>
                <a:latin typeface="+mn-lt"/>
                <a:ea typeface="+mn-ea"/>
                <a:cs typeface="+mn-cs"/>
              </a:rPr>
              <a:t>）与</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之间的数据传送，也可以 用于外部程序存储区（外部</a:t>
            </a:r>
            <a:r>
              <a:rPr lang="en-US" altLang="zh-CN" sz="1200" b="0" i="0" kern="1200" dirty="0">
                <a:solidFill>
                  <a:schemeClr val="tx1"/>
                </a:solidFill>
                <a:effectLst/>
                <a:latin typeface="+mn-lt"/>
                <a:ea typeface="+mn-ea"/>
                <a:cs typeface="+mn-cs"/>
              </a:rPr>
              <a:t>ROM</a:t>
            </a:r>
            <a:r>
              <a:rPr lang="zh-CN" altLang="en-US" sz="1200" b="0" i="0" kern="1200" dirty="0">
                <a:solidFill>
                  <a:schemeClr val="tx1"/>
                </a:solidFill>
                <a:effectLst/>
                <a:latin typeface="+mn-lt"/>
                <a:ea typeface="+mn-ea"/>
                <a:cs typeface="+mn-cs"/>
              </a:rPr>
              <a:t>）与</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之间的数据传送。因为程序存储区内外统一编址，所以一条指令就可以了。</a:t>
            </a:r>
            <a:endParaRPr lang="zh-CN" altLang="en-US" dirty="0"/>
          </a:p>
        </p:txBody>
      </p:sp>
      <p:sp>
        <p:nvSpPr>
          <p:cNvPr id="2969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7F45F4C8-4AAC-4CF7-9CDB-40BC31C9022F}" type="slidenum">
              <a:rPr lang="zh-CN" altLang="en-US"/>
              <a:t>11</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p:cNvSpPr>
          <p:nvPr>
            <p:ph type="sldImg"/>
          </p:nvPr>
        </p:nvSpPr>
        <p:spPr bwMode="auto">
          <a:noFill/>
          <a:ln>
            <a:solidFill>
              <a:srgbClr val="000000"/>
            </a:solidFill>
            <a:miter lim="800000"/>
          </a:ln>
        </p:spPr>
      </p:sp>
      <p:sp>
        <p:nvSpPr>
          <p:cNvPr id="31746"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3174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9191A39-5067-436B-B765-20FF273AB9A2}" type="slidenum">
              <a:rPr lang="zh-CN" altLang="en-US"/>
              <a:t>12</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幻灯片图像占位符 1"/>
          <p:cNvSpPr>
            <a:spLocks noGrp="1" noRot="1" noChangeAspect="1"/>
          </p:cNvSpPr>
          <p:nvPr>
            <p:ph type="sldImg"/>
          </p:nvPr>
        </p:nvSpPr>
        <p:spPr bwMode="auto">
          <a:noFill/>
          <a:ln>
            <a:solidFill>
              <a:srgbClr val="000000"/>
            </a:solidFill>
            <a:miter lim="800000"/>
          </a:ln>
        </p:spPr>
      </p:sp>
      <p:sp>
        <p:nvSpPr>
          <p:cNvPr id="33794"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3379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58B9E8C4-70B3-4CDE-822B-83AEC314E0E1}" type="slidenum">
              <a:rPr lang="zh-CN" altLang="en-US"/>
              <a:t>13</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p:cNvSpPr>
            <a:spLocks noGrp="1" noRot="1" noChangeAspect="1"/>
          </p:cNvSpPr>
          <p:nvPr>
            <p:ph type="sldImg"/>
          </p:nvPr>
        </p:nvSpPr>
        <p:spPr bwMode="auto">
          <a:noFill/>
          <a:ln>
            <a:solidFill>
              <a:srgbClr val="000000"/>
            </a:solidFill>
            <a:miter lim="800000"/>
          </a:ln>
        </p:spPr>
      </p:sp>
      <p:sp>
        <p:nvSpPr>
          <p:cNvPr id="3584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3584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7E17E19D-9727-4422-804B-F3DA54E4F6B7}" type="slidenum">
              <a:rPr lang="zh-CN" altLang="en-US"/>
              <a:t>14</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p:cNvSpPr>
            <a:spLocks noGrp="1" noRot="1" noChangeAspect="1"/>
          </p:cNvSpPr>
          <p:nvPr>
            <p:ph type="sldImg"/>
          </p:nvPr>
        </p:nvSpPr>
        <p:spPr bwMode="auto">
          <a:noFill/>
          <a:ln>
            <a:solidFill>
              <a:srgbClr val="000000"/>
            </a:solidFill>
            <a:miter lim="800000"/>
          </a:ln>
        </p:spPr>
      </p:sp>
      <p:sp>
        <p:nvSpPr>
          <p:cNvPr id="3584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3584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7E17E19D-9727-4422-804B-F3DA54E4F6B7}" type="slidenum">
              <a:rPr lang="zh-CN" altLang="en-US"/>
              <a:t>15</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p:cNvSpPr>
            <a:spLocks noGrp="1" noRot="1" noChangeAspect="1"/>
          </p:cNvSpPr>
          <p:nvPr>
            <p:ph type="sldImg"/>
          </p:nvPr>
        </p:nvSpPr>
        <p:spPr bwMode="auto">
          <a:noFill/>
          <a:ln>
            <a:solidFill>
              <a:srgbClr val="000000"/>
            </a:solidFill>
            <a:miter lim="800000"/>
          </a:ln>
        </p:spPr>
      </p:sp>
      <p:sp>
        <p:nvSpPr>
          <p:cNvPr id="3584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3584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7E17E19D-9727-4422-804B-F3DA54E4F6B7}" type="slidenum">
              <a:rPr lang="zh-CN" altLang="en-US"/>
              <a:t>16</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p:cNvSpPr>
            <a:spLocks noGrp="1" noRot="1" noChangeAspect="1"/>
          </p:cNvSpPr>
          <p:nvPr>
            <p:ph type="sldImg"/>
          </p:nvPr>
        </p:nvSpPr>
        <p:spPr bwMode="auto">
          <a:noFill/>
          <a:ln>
            <a:solidFill>
              <a:srgbClr val="000000"/>
            </a:solidFill>
            <a:miter lim="800000"/>
          </a:ln>
        </p:spPr>
      </p:sp>
      <p:sp>
        <p:nvSpPr>
          <p:cNvPr id="3789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3789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9C5A1EB1-BD9F-4C39-80EA-D7C3E3289646}" type="slidenum">
              <a:rPr lang="zh-CN" altLang="en-US"/>
              <a:t>17</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p:cNvSpPr>
            <a:spLocks noGrp="1" noRot="1" noChangeAspect="1"/>
          </p:cNvSpPr>
          <p:nvPr>
            <p:ph type="sldImg"/>
          </p:nvPr>
        </p:nvSpPr>
        <p:spPr bwMode="auto">
          <a:noFill/>
          <a:ln>
            <a:solidFill>
              <a:srgbClr val="000000"/>
            </a:solidFill>
            <a:miter lim="800000"/>
          </a:ln>
        </p:spPr>
      </p:sp>
      <p:sp>
        <p:nvSpPr>
          <p:cNvPr id="39938"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3993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BDC746ED-E786-458A-8188-00F60F08B4B6}" type="slidenum">
              <a:rPr lang="zh-CN" altLang="en-US"/>
              <a:t>18</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幻灯片图像占位符 1"/>
          <p:cNvSpPr>
            <a:spLocks noGrp="1" noRot="1" noChangeAspect="1"/>
          </p:cNvSpPr>
          <p:nvPr>
            <p:ph type="sldImg"/>
          </p:nvPr>
        </p:nvSpPr>
        <p:spPr bwMode="auto">
          <a:noFill/>
          <a:ln>
            <a:solidFill>
              <a:srgbClr val="000000"/>
            </a:solidFill>
            <a:miter lim="800000"/>
          </a:ln>
        </p:spPr>
      </p:sp>
      <p:sp>
        <p:nvSpPr>
          <p:cNvPr id="41986"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4198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983589A4-C1AF-4A45-B12B-9114AB06FAD8}" type="slidenum">
              <a:rPr lang="zh-CN" altLang="en-US"/>
              <a:t>19</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、存储器的作用是什么？只读存储器和随机存储器有什么不同？</a:t>
            </a:r>
          </a:p>
          <a:p>
            <a:r>
              <a:rPr lang="zh-CN" altLang="en-US" sz="1200" kern="1200" dirty="0">
                <a:solidFill>
                  <a:schemeClr val="tx1"/>
                </a:solidFill>
                <a:effectLst/>
                <a:latin typeface="+mn-lt"/>
                <a:ea typeface="+mn-ea"/>
                <a:cs typeface="+mn-cs"/>
              </a:rPr>
              <a:t>答案：存储器具有记忆功能，用来存放数据和程序。计算机中的存储器主要有随机存储器（</a:t>
            </a:r>
            <a:r>
              <a:rPr lang="en-US" altLang="zh-CN" sz="1200" kern="1200" dirty="0">
                <a:solidFill>
                  <a:schemeClr val="tx1"/>
                </a:solidFill>
                <a:effectLst/>
                <a:latin typeface="+mn-lt"/>
                <a:ea typeface="+mn-ea"/>
                <a:cs typeface="+mn-cs"/>
              </a:rPr>
              <a:t>RAM</a:t>
            </a:r>
            <a:r>
              <a:rPr lang="zh-CN" altLang="en-US" sz="1200" kern="1200" dirty="0">
                <a:solidFill>
                  <a:schemeClr val="tx1"/>
                </a:solidFill>
                <a:effectLst/>
                <a:latin typeface="+mn-lt"/>
                <a:ea typeface="+mn-ea"/>
                <a:cs typeface="+mn-cs"/>
              </a:rPr>
              <a:t>）和只读存储器（</a:t>
            </a:r>
            <a:r>
              <a:rPr lang="en-US" altLang="zh-CN" sz="1200" kern="1200" dirty="0">
                <a:solidFill>
                  <a:schemeClr val="tx1"/>
                </a:solidFill>
                <a:effectLst/>
                <a:latin typeface="+mn-lt"/>
                <a:ea typeface="+mn-ea"/>
                <a:cs typeface="+mn-cs"/>
              </a:rPr>
              <a:t>ROM</a:t>
            </a:r>
            <a:r>
              <a:rPr lang="zh-CN" altLang="en-US" sz="1200" kern="1200" dirty="0">
                <a:solidFill>
                  <a:schemeClr val="tx1"/>
                </a:solidFill>
                <a:effectLst/>
                <a:latin typeface="+mn-lt"/>
                <a:ea typeface="+mn-ea"/>
                <a:cs typeface="+mn-cs"/>
              </a:rPr>
              <a:t>）两种。随机存储器一般用来存放程序运行过程中的中间数据，计算机掉电时数据不再保存。只读存储器一般用来存放程序，计算机掉电时信息不会丢失。</a:t>
            </a:r>
          </a:p>
          <a:p>
            <a:endParaRPr lang="zh-CN" altLang="en-US" dirty="0"/>
          </a:p>
        </p:txBody>
      </p:sp>
      <p:sp>
        <p:nvSpPr>
          <p:cNvPr id="4" name="灯片编号占位符 3"/>
          <p:cNvSpPr>
            <a:spLocks noGrp="1"/>
          </p:cNvSpPr>
          <p:nvPr>
            <p:ph type="sldNum" sz="quarter" idx="5"/>
          </p:nvPr>
        </p:nvSpPr>
        <p:spPr/>
        <p:txBody>
          <a:bodyPr/>
          <a:lstStyle/>
          <a:p>
            <a:pPr>
              <a:defRPr/>
            </a:pPr>
            <a:fld id="{FC1D4CF8-9B35-4CEF-969D-82DBBB605237}" type="slidenum">
              <a:rPr lang="zh-CN" altLang="en-US" smtClean="0"/>
              <a:t>21</a:t>
            </a:fld>
            <a:endParaRPr lang="zh-CN" altLang="en-US"/>
          </a:p>
        </p:txBody>
      </p:sp>
    </p:spTree>
    <p:extLst>
      <p:ext uri="{BB962C8B-B14F-4D97-AF65-F5344CB8AC3E}">
        <p14:creationId xmlns:p14="http://schemas.microsoft.com/office/powerpoint/2010/main" val="2681534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幻灯片图像占位符 1"/>
          <p:cNvSpPr>
            <a:spLocks noGrp="1" noRot="1" noChangeAspect="1"/>
          </p:cNvSpPr>
          <p:nvPr>
            <p:ph type="sldImg"/>
          </p:nvPr>
        </p:nvSpPr>
        <p:spPr bwMode="auto">
          <a:noFill/>
          <a:ln>
            <a:solidFill>
              <a:srgbClr val="000000"/>
            </a:solidFill>
            <a:miter lim="800000"/>
          </a:ln>
        </p:spPr>
      </p:sp>
      <p:sp>
        <p:nvSpPr>
          <p:cNvPr id="44034"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4403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C6E15468-3017-49C8-8F4F-0AA6C0C021D8}" type="slidenum">
              <a:rPr lang="zh-CN" altLang="en-US"/>
              <a:t>22</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幻灯片图像占位符 1"/>
          <p:cNvSpPr>
            <a:spLocks noGrp="1" noRot="1" noChangeAspect="1"/>
          </p:cNvSpPr>
          <p:nvPr>
            <p:ph type="sldImg"/>
          </p:nvPr>
        </p:nvSpPr>
        <p:spPr bwMode="auto">
          <a:noFill/>
          <a:ln>
            <a:solidFill>
              <a:srgbClr val="000000"/>
            </a:solidFill>
            <a:miter lim="800000"/>
          </a:ln>
        </p:spPr>
      </p:sp>
      <p:sp>
        <p:nvSpPr>
          <p:cNvPr id="23554"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2355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66FBAD82-BCF4-4A0A-9164-814DA6C19AED}" type="slidenum">
              <a:rPr lang="zh-CN" altLang="en-US"/>
              <a:t>23</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幻灯片图像占位符 1"/>
          <p:cNvSpPr>
            <a:spLocks noGrp="1" noRot="1" noChangeAspect="1"/>
          </p:cNvSpPr>
          <p:nvPr>
            <p:ph type="sldImg"/>
          </p:nvPr>
        </p:nvSpPr>
        <p:spPr bwMode="auto">
          <a:noFill/>
          <a:ln>
            <a:solidFill>
              <a:srgbClr val="000000"/>
            </a:solidFill>
            <a:miter lim="800000"/>
          </a:ln>
        </p:spPr>
      </p:sp>
      <p:sp>
        <p:nvSpPr>
          <p:cNvPr id="4813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4813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F5165486-C8E5-4A11-926B-1C2C196B3B2E}" type="slidenum">
              <a:rPr lang="zh-CN" altLang="en-US"/>
              <a:t>24</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幻灯片图像占位符 1"/>
          <p:cNvSpPr>
            <a:spLocks noGrp="1" noRot="1" noChangeAspect="1"/>
          </p:cNvSpPr>
          <p:nvPr>
            <p:ph type="sldImg"/>
          </p:nvPr>
        </p:nvSpPr>
        <p:spPr bwMode="auto">
          <a:noFill/>
          <a:ln>
            <a:solidFill>
              <a:srgbClr val="000000"/>
            </a:solidFill>
            <a:miter lim="800000"/>
          </a:ln>
        </p:spPr>
      </p:sp>
      <p:sp>
        <p:nvSpPr>
          <p:cNvPr id="50178"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5017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9A818816-7A33-45DD-A38C-39E50C1D50D7}" type="slidenum">
              <a:rPr lang="zh-CN" altLang="en-US"/>
              <a:t>25</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幻灯片图像占位符 1"/>
          <p:cNvSpPr>
            <a:spLocks noGrp="1" noRot="1" noChangeAspect="1"/>
          </p:cNvSpPr>
          <p:nvPr>
            <p:ph type="sldImg"/>
          </p:nvPr>
        </p:nvSpPr>
        <p:spPr bwMode="auto">
          <a:noFill/>
          <a:ln>
            <a:solidFill>
              <a:srgbClr val="000000"/>
            </a:solidFill>
            <a:miter lim="800000"/>
          </a:ln>
        </p:spPr>
      </p:sp>
      <p:sp>
        <p:nvSpPr>
          <p:cNvPr id="50178"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5017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9A818816-7A33-45DD-A38C-39E50C1D50D7}" type="slidenum">
              <a:rPr lang="zh-CN" altLang="en-US"/>
              <a:t>26</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幻灯片图像占位符 1"/>
          <p:cNvSpPr>
            <a:spLocks noGrp="1" noRot="1" noChangeAspect="1"/>
          </p:cNvSpPr>
          <p:nvPr>
            <p:ph type="sldImg"/>
          </p:nvPr>
        </p:nvSpPr>
        <p:spPr bwMode="auto">
          <a:noFill/>
          <a:ln>
            <a:solidFill>
              <a:srgbClr val="000000"/>
            </a:solidFill>
            <a:miter lim="800000"/>
          </a:ln>
        </p:spPr>
      </p:sp>
      <p:sp>
        <p:nvSpPr>
          <p:cNvPr id="50178"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5017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9A818816-7A33-45DD-A38C-39E50C1D50D7}" type="slidenum">
              <a:rPr lang="zh-CN" altLang="en-US"/>
              <a:t>27</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幻灯片图像占位符 1"/>
          <p:cNvSpPr>
            <a:spLocks noGrp="1" noRot="1" noChangeAspect="1"/>
          </p:cNvSpPr>
          <p:nvPr>
            <p:ph type="sldImg"/>
          </p:nvPr>
        </p:nvSpPr>
        <p:spPr bwMode="auto">
          <a:noFill/>
          <a:ln>
            <a:solidFill>
              <a:srgbClr val="000000"/>
            </a:solidFill>
            <a:miter lim="800000"/>
          </a:ln>
        </p:spPr>
      </p:sp>
      <p:sp>
        <p:nvSpPr>
          <p:cNvPr id="52226"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5222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9F1DA501-2576-4393-BC7D-406D6D4A81F2}" type="slidenum">
              <a:rPr lang="zh-CN" altLang="en-US"/>
              <a:t>28</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幻灯片图像占位符 1"/>
          <p:cNvSpPr>
            <a:spLocks noGrp="1" noRot="1" noChangeAspect="1"/>
          </p:cNvSpPr>
          <p:nvPr>
            <p:ph type="sldImg"/>
          </p:nvPr>
        </p:nvSpPr>
        <p:spPr bwMode="auto">
          <a:noFill/>
          <a:ln>
            <a:solidFill>
              <a:srgbClr val="000000"/>
            </a:solidFill>
            <a:miter lim="800000"/>
          </a:ln>
        </p:spPr>
      </p:sp>
      <p:sp>
        <p:nvSpPr>
          <p:cNvPr id="54274" name="备注占位符 2"/>
          <p:cNvSpPr>
            <a:spLocks noGrp="1"/>
          </p:cNvSpPr>
          <p:nvPr>
            <p:ph type="body" idx="1"/>
          </p:nvPr>
        </p:nvSpPr>
        <p:spPr bwMode="auto">
          <a:noFill/>
        </p:spPr>
        <p:txBody>
          <a:bodyPr wrap="square"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200" b="1" i="0" kern="1200" dirty="0">
                <a:solidFill>
                  <a:schemeClr val="tx1"/>
                </a:solidFill>
                <a:effectLst/>
                <a:latin typeface="+mn-lt"/>
                <a:ea typeface="+mn-ea"/>
                <a:cs typeface="+mn-cs"/>
              </a:rPr>
              <a:t>噪声容限</a:t>
            </a:r>
            <a:r>
              <a:rPr lang="en-US" altLang="zh-CN" sz="1200" b="0" i="0" kern="1200" dirty="0">
                <a:solidFill>
                  <a:schemeClr val="tx1"/>
                </a:solidFill>
                <a:effectLst/>
                <a:latin typeface="+mn-lt"/>
                <a:ea typeface="+mn-ea"/>
                <a:cs typeface="+mn-cs"/>
              </a:rPr>
              <a:t>(Noise Margin)</a:t>
            </a:r>
            <a:r>
              <a:rPr lang="zh-CN" altLang="en-US" sz="1200" b="0" i="0" kern="1200" dirty="0">
                <a:solidFill>
                  <a:schemeClr val="tx1"/>
                </a:solidFill>
                <a:effectLst/>
                <a:latin typeface="+mn-lt"/>
                <a:ea typeface="+mn-ea"/>
                <a:cs typeface="+mn-cs"/>
              </a:rPr>
              <a:t>：</a:t>
            </a:r>
            <a:r>
              <a:rPr lang="zh-CN" altLang="en-US" dirty="0"/>
              <a:t>在前一极输出为最坏的情况下，为保证后一极正常工作，所允许的最大噪声幅度。</a:t>
            </a:r>
            <a:r>
              <a:rPr lang="zh-CN" altLang="en-US" sz="1200" b="0" i="0" kern="1200" dirty="0">
                <a:solidFill>
                  <a:schemeClr val="tx1"/>
                </a:solidFill>
                <a:effectLst/>
                <a:latin typeface="+mn-lt"/>
                <a:ea typeface="+mn-ea"/>
                <a:cs typeface="+mn-cs"/>
              </a:rPr>
              <a:t>在数字电路中，一般常以“</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态下（上）限噪声容限和“</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态上（下）限噪声容限中的最小值来表示电路（或元件）的噪声容限。噪声容限越大说明容许的噪声越大，电路的抗干扰性越好。</a:t>
            </a:r>
            <a:endParaRPr lang="zh-CN" altLang="en-US" dirty="0"/>
          </a:p>
        </p:txBody>
      </p:sp>
      <p:sp>
        <p:nvSpPr>
          <p:cNvPr id="5427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BED7CCB3-2BF5-4220-B5CA-E3AC26B05EAA}" type="slidenum">
              <a:rPr lang="zh-CN" altLang="en-US"/>
              <a:t>29</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p:cNvSpPr>
          <p:nvPr>
            <p:ph type="sldImg"/>
          </p:nvPr>
        </p:nvSpPr>
        <p:spPr bwMode="auto">
          <a:noFill/>
          <a:ln>
            <a:solidFill>
              <a:srgbClr val="000000"/>
            </a:solidFill>
            <a:miter lim="800000"/>
          </a:ln>
        </p:spPr>
      </p:sp>
      <p:sp>
        <p:nvSpPr>
          <p:cNvPr id="5632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5632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63A70C8F-4D55-4995-9F05-E1F49DEAFCE9}" type="slidenum">
              <a:rPr lang="zh-CN" altLang="en-US"/>
              <a:t>30</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幻灯片图像占位符 1"/>
          <p:cNvSpPr>
            <a:spLocks noGrp="1" noRot="1" noChangeAspect="1"/>
          </p:cNvSpPr>
          <p:nvPr>
            <p:ph type="sldImg"/>
          </p:nvPr>
        </p:nvSpPr>
        <p:spPr bwMode="auto">
          <a:noFill/>
          <a:ln>
            <a:solidFill>
              <a:srgbClr val="000000"/>
            </a:solidFill>
            <a:miter lim="800000"/>
          </a:ln>
        </p:spPr>
      </p:sp>
      <p:sp>
        <p:nvSpPr>
          <p:cNvPr id="58370" name="备注占位符 2"/>
          <p:cNvSpPr>
            <a:spLocks noGrp="1"/>
          </p:cNvSpPr>
          <p:nvPr>
            <p:ph type="body" idx="1"/>
          </p:nvPr>
        </p:nvSpPr>
        <p:spPr bwMode="auto">
          <a:noFill/>
        </p:spPr>
        <p:txBody>
          <a:bodyPr wrap="square" numCol="1" anchor="t" anchorCtr="0" compatLnSpc="1"/>
          <a:lstStyle/>
          <a:p>
            <a:pPr>
              <a:spcBef>
                <a:spcPct val="0"/>
              </a:spcBef>
            </a:pPr>
            <a:r>
              <a:rPr lang="zh-CN" altLang="en-US"/>
              <a:t>上拉电阻的主要作用在于提高输出信号的驱动能力、确定输入信号的电平（防止干扰）等。</a:t>
            </a:r>
          </a:p>
        </p:txBody>
      </p:sp>
      <p:sp>
        <p:nvSpPr>
          <p:cNvPr id="5837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6BFB312E-2023-48DC-AA3B-772C5B567A5A}" type="slidenum">
              <a:rPr lang="zh-CN" altLang="en-US"/>
              <a:t>31</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幻灯片图像占位符 1"/>
          <p:cNvSpPr>
            <a:spLocks noGrp="1" noRot="1" noChangeAspect="1"/>
          </p:cNvSpPr>
          <p:nvPr>
            <p:ph type="sldImg"/>
          </p:nvPr>
        </p:nvSpPr>
        <p:spPr bwMode="auto">
          <a:noFill/>
          <a:ln>
            <a:solidFill>
              <a:srgbClr val="000000"/>
            </a:solidFill>
            <a:miter lim="800000"/>
          </a:ln>
        </p:spPr>
      </p:sp>
      <p:sp>
        <p:nvSpPr>
          <p:cNvPr id="60418" name="备注占位符 2"/>
          <p:cNvSpPr>
            <a:spLocks noGrp="1"/>
          </p:cNvSpPr>
          <p:nvPr>
            <p:ph type="body" idx="1"/>
          </p:nvPr>
        </p:nvSpPr>
        <p:spPr bwMode="auto">
          <a:noFill/>
        </p:spPr>
        <p:txBody>
          <a:bodyPr wrap="square" numCol="1" anchor="t" anchorCtr="0" compatLnSpc="1"/>
          <a:lstStyle/>
          <a:p>
            <a:pPr>
              <a:spcBef>
                <a:spcPct val="0"/>
              </a:spcBef>
            </a:pPr>
            <a:endParaRPr lang="zh-CN" altLang="en-US" dirty="0"/>
          </a:p>
        </p:txBody>
      </p:sp>
      <p:sp>
        <p:nvSpPr>
          <p:cNvPr id="6041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8AC8782E-4425-4D0A-AD5B-4F6C34AB2D41}" type="slidenum">
              <a:rPr lang="zh-CN" altLang="en-US"/>
              <a:t>32</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幻灯片图像占位符 1"/>
          <p:cNvSpPr>
            <a:spLocks noGrp="1" noRot="1" noChangeAspect="1"/>
          </p:cNvSpPr>
          <p:nvPr>
            <p:ph type="sldImg"/>
          </p:nvPr>
        </p:nvSpPr>
        <p:spPr bwMode="auto">
          <a:noFill/>
          <a:ln>
            <a:solidFill>
              <a:srgbClr val="000000"/>
            </a:solidFill>
            <a:miter lim="800000"/>
          </a:ln>
        </p:spPr>
      </p:sp>
      <p:sp>
        <p:nvSpPr>
          <p:cNvPr id="62466" name="备注占位符 2"/>
          <p:cNvSpPr>
            <a:spLocks noGrp="1"/>
          </p:cNvSpPr>
          <p:nvPr>
            <p:ph type="body" idx="1"/>
          </p:nvPr>
        </p:nvSpPr>
        <p:spPr bwMode="auto">
          <a:noFill/>
        </p:spPr>
        <p:txBody>
          <a:bodyPr wrap="square" numCol="1" anchor="t" anchorCtr="0" compatLnSpc="1"/>
          <a:lstStyle/>
          <a:p>
            <a:pPr>
              <a:spcBef>
                <a:spcPct val="0"/>
              </a:spcBef>
            </a:pPr>
            <a:endParaRPr lang="zh-CN" altLang="en-US" dirty="0"/>
          </a:p>
        </p:txBody>
      </p:sp>
      <p:sp>
        <p:nvSpPr>
          <p:cNvPr id="6246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87835ABA-7563-4698-A7F2-4F14919702F5}" type="slidenum">
              <a:rPr lang="zh-CN" altLang="en-US"/>
              <a:t>33</a:t>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幻灯片图像占位符 1"/>
          <p:cNvSpPr>
            <a:spLocks noGrp="1" noRot="1" noChangeAspect="1"/>
          </p:cNvSpPr>
          <p:nvPr>
            <p:ph type="sldImg"/>
          </p:nvPr>
        </p:nvSpPr>
        <p:spPr bwMode="auto">
          <a:noFill/>
          <a:ln>
            <a:solidFill>
              <a:srgbClr val="000000"/>
            </a:solidFill>
            <a:miter lim="800000"/>
          </a:ln>
        </p:spPr>
      </p:sp>
      <p:sp>
        <p:nvSpPr>
          <p:cNvPr id="64514" name="备注占位符 2"/>
          <p:cNvSpPr>
            <a:spLocks noGrp="1"/>
          </p:cNvSpPr>
          <p:nvPr>
            <p:ph type="body" idx="1"/>
          </p:nvPr>
        </p:nvSpPr>
        <p:spPr bwMode="auto">
          <a:noFill/>
        </p:spPr>
        <p:txBody>
          <a:bodyPr wrap="square" numCol="1" anchor="t" anchorCtr="0" compatLnSpc="1"/>
          <a:lstStyle/>
          <a:p>
            <a:pPr>
              <a:spcBef>
                <a:spcPct val="0"/>
              </a:spcBef>
            </a:pPr>
            <a:r>
              <a:rPr lang="zh-CN" altLang="en-US" dirty="0"/>
              <a:t>准双向端口：作为输入端口使用时，先向该端口写“</a:t>
            </a:r>
            <a:r>
              <a:rPr lang="en-US" altLang="zh-CN" dirty="0"/>
              <a:t>1</a:t>
            </a:r>
            <a:r>
              <a:rPr lang="zh-CN" altLang="en-US" dirty="0"/>
              <a:t>”。</a:t>
            </a:r>
          </a:p>
        </p:txBody>
      </p:sp>
      <p:sp>
        <p:nvSpPr>
          <p:cNvPr id="6451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121EE0ED-49DB-495A-88AB-AA480B93449C}" type="slidenum">
              <a:rPr lang="zh-CN" altLang="en-US"/>
              <a:t>34</a:t>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幻灯片图像占位符 1"/>
          <p:cNvSpPr>
            <a:spLocks noGrp="1" noRot="1" noChangeAspect="1"/>
          </p:cNvSpPr>
          <p:nvPr>
            <p:ph type="sldImg"/>
          </p:nvPr>
        </p:nvSpPr>
        <p:spPr bwMode="auto">
          <a:noFill/>
          <a:ln>
            <a:solidFill>
              <a:srgbClr val="000000"/>
            </a:solidFill>
            <a:miter lim="800000"/>
          </a:ln>
        </p:spPr>
      </p:sp>
      <p:sp>
        <p:nvSpPr>
          <p:cNvPr id="66562" name="备注占位符 2"/>
          <p:cNvSpPr>
            <a:spLocks noGrp="1"/>
          </p:cNvSpPr>
          <p:nvPr>
            <p:ph type="body" idx="1"/>
          </p:nvPr>
        </p:nvSpPr>
        <p:spPr bwMode="auto">
          <a:noFill/>
        </p:spPr>
        <p:txBody>
          <a:bodyPr wrap="square" numCol="1" anchor="t" anchorCtr="0" compatLnSpc="1"/>
          <a:lstStyle/>
          <a:p>
            <a:pPr>
              <a:spcBef>
                <a:spcPct val="0"/>
              </a:spcBef>
            </a:pPr>
            <a:r>
              <a:rPr lang="zh-CN" altLang="en-US" dirty="0"/>
              <a:t>初学者一般不建议将</a:t>
            </a:r>
            <a:r>
              <a:rPr lang="en-US" altLang="zh-CN" dirty="0"/>
              <a:t>P3.6</a:t>
            </a:r>
            <a:r>
              <a:rPr lang="zh-CN" altLang="en-US" dirty="0"/>
              <a:t>和</a:t>
            </a:r>
            <a:r>
              <a:rPr lang="en-US" altLang="zh-CN" dirty="0"/>
              <a:t>P3.7</a:t>
            </a:r>
            <a:r>
              <a:rPr lang="zh-CN" altLang="en-US" dirty="0"/>
              <a:t>作为普通</a:t>
            </a:r>
            <a:r>
              <a:rPr lang="en-US" altLang="zh-CN" dirty="0"/>
              <a:t>I/O</a:t>
            </a:r>
            <a:r>
              <a:rPr lang="zh-CN" altLang="en-US" dirty="0"/>
              <a:t>口使用，仿真器对</a:t>
            </a:r>
            <a:r>
              <a:rPr lang="en-US" altLang="zh-CN" dirty="0"/>
              <a:t>P3.6</a:t>
            </a:r>
            <a:r>
              <a:rPr lang="zh-CN" altLang="en-US" dirty="0"/>
              <a:t>和</a:t>
            </a:r>
            <a:r>
              <a:rPr lang="en-US" altLang="zh-CN" dirty="0"/>
              <a:t>P3.7</a:t>
            </a:r>
            <a:r>
              <a:rPr lang="zh-CN" altLang="en-US" dirty="0"/>
              <a:t>的使用有要求。</a:t>
            </a:r>
          </a:p>
        </p:txBody>
      </p:sp>
      <p:sp>
        <p:nvSpPr>
          <p:cNvPr id="6656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6D4FB067-EDC6-4A66-AC16-852BF86A3A21}" type="slidenum">
              <a:rPr lang="zh-CN" altLang="en-US"/>
              <a:t>35</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幻灯片图像占位符 1"/>
          <p:cNvSpPr>
            <a:spLocks noGrp="1" noRot="1" noChangeAspect="1"/>
          </p:cNvSpPr>
          <p:nvPr>
            <p:ph type="sldImg"/>
          </p:nvPr>
        </p:nvSpPr>
        <p:spPr bwMode="auto">
          <a:noFill/>
          <a:ln>
            <a:solidFill>
              <a:srgbClr val="000000"/>
            </a:solidFill>
            <a:miter lim="800000"/>
          </a:ln>
        </p:spPr>
      </p:sp>
      <p:sp>
        <p:nvSpPr>
          <p:cNvPr id="68610" name="备注占位符 2"/>
          <p:cNvSpPr>
            <a:spLocks noGrp="1"/>
          </p:cNvSpPr>
          <p:nvPr>
            <p:ph type="body" idx="1"/>
          </p:nvPr>
        </p:nvSpPr>
        <p:spPr bwMode="auto">
          <a:noFill/>
        </p:spPr>
        <p:txBody>
          <a:bodyPr wrap="square" numCol="1" anchor="t" anchorCtr="0" compatLnSpc="1"/>
          <a:lstStyle/>
          <a:p>
            <a:pPr>
              <a:spcBef>
                <a:spcPct val="0"/>
              </a:spcBef>
            </a:pPr>
            <a:r>
              <a:rPr lang="en-US" altLang="zh-CN" dirty="0"/>
              <a:t>8086</a:t>
            </a:r>
            <a:r>
              <a:rPr lang="zh-CN" altLang="en-US" dirty="0"/>
              <a:t>采用</a:t>
            </a:r>
            <a:r>
              <a:rPr lang="zh-CN" altLang="en-US" b="1" dirty="0"/>
              <a:t>冯*诺依曼体系</a:t>
            </a:r>
            <a:r>
              <a:rPr lang="zh-CN" altLang="en-US" dirty="0"/>
              <a:t>，其基本思想如下：</a:t>
            </a:r>
          </a:p>
          <a:p>
            <a:pPr>
              <a:spcBef>
                <a:spcPct val="0"/>
              </a:spcBef>
            </a:pPr>
            <a:r>
              <a:rPr lang="zh-CN" altLang="en-US" dirty="0"/>
              <a:t>⑴ 计算机</a:t>
            </a:r>
            <a:r>
              <a:rPr lang="en-US" altLang="zh-CN" dirty="0"/>
              <a:t>(</a:t>
            </a:r>
            <a:r>
              <a:rPr lang="zh-CN" altLang="en-US" dirty="0"/>
              <a:t>指硬件</a:t>
            </a:r>
            <a:r>
              <a:rPr lang="en-US" altLang="zh-CN" dirty="0"/>
              <a:t>)</a:t>
            </a:r>
            <a:r>
              <a:rPr lang="zh-CN" altLang="en-US" dirty="0"/>
              <a:t>由运算器、存储器、控制器、输入设备和输出设备五大基本部件组成。</a:t>
            </a:r>
          </a:p>
          <a:p>
            <a:pPr>
              <a:spcBef>
                <a:spcPct val="0"/>
              </a:spcBef>
            </a:pPr>
            <a:r>
              <a:rPr lang="zh-CN" altLang="en-US" dirty="0"/>
              <a:t>⑵ 指令和数据均以二进制编码表示，采用二进制运算。</a:t>
            </a:r>
          </a:p>
          <a:p>
            <a:pPr>
              <a:spcBef>
                <a:spcPct val="0"/>
              </a:spcBef>
            </a:pPr>
            <a:r>
              <a:rPr lang="zh-CN" altLang="en-US" dirty="0"/>
              <a:t>⑶ 采用存储程序的方式， 程序和数据存放在同一存储器中。</a:t>
            </a:r>
          </a:p>
          <a:p>
            <a:pPr>
              <a:spcBef>
                <a:spcPct val="0"/>
              </a:spcBef>
            </a:pPr>
            <a:r>
              <a:rPr lang="zh-CN" altLang="en-US" dirty="0"/>
              <a:t>⑷ 指令在存储器中按其执行顺序存放，由程序计数器指明要执行的指令地址，自动从存储器中取出指令并执行。</a:t>
            </a:r>
          </a:p>
          <a:p>
            <a:pPr>
              <a:spcBef>
                <a:spcPct val="0"/>
              </a:spcBef>
            </a:pPr>
            <a:r>
              <a:rPr lang="zh-CN" altLang="en-US" dirty="0"/>
              <a:t>⑸ 计算机是以运算器为中心的，输入</a:t>
            </a:r>
            <a:r>
              <a:rPr lang="en-US" altLang="zh-CN" dirty="0"/>
              <a:t>/</a:t>
            </a:r>
            <a:r>
              <a:rPr lang="zh-CN" altLang="en-US" dirty="0"/>
              <a:t>输出设备与存储器之间的数据传送都要通过运算器。</a:t>
            </a:r>
          </a:p>
        </p:txBody>
      </p:sp>
      <p:sp>
        <p:nvSpPr>
          <p:cNvPr id="6861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85FD0A51-8B30-4954-8E68-06F1F08AEEC9}" type="slidenum">
              <a:rPr lang="zh-CN" altLang="en-US"/>
              <a:t>36</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幻灯片图像占位符 1"/>
          <p:cNvSpPr>
            <a:spLocks noGrp="1" noRot="1" noChangeAspect="1"/>
          </p:cNvSpPr>
          <p:nvPr>
            <p:ph type="sldImg"/>
          </p:nvPr>
        </p:nvSpPr>
        <p:spPr bwMode="auto">
          <a:noFill/>
          <a:ln>
            <a:solidFill>
              <a:srgbClr val="000000"/>
            </a:solidFill>
            <a:miter lim="800000"/>
          </a:ln>
        </p:spPr>
      </p:sp>
      <p:sp>
        <p:nvSpPr>
          <p:cNvPr id="70658"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7065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7CC3CE33-475F-43C4-80EB-B6BF4411DBC1}" type="slidenum">
              <a:rPr lang="zh-CN" altLang="en-US"/>
              <a:t>37</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幻灯片图像占位符 1"/>
          <p:cNvSpPr>
            <a:spLocks noGrp="1" noRot="1" noChangeAspect="1"/>
          </p:cNvSpPr>
          <p:nvPr>
            <p:ph type="sldImg"/>
          </p:nvPr>
        </p:nvSpPr>
        <p:spPr bwMode="auto">
          <a:noFill/>
          <a:ln>
            <a:solidFill>
              <a:srgbClr val="000000"/>
            </a:solidFill>
            <a:miter lim="800000"/>
          </a:ln>
        </p:spPr>
      </p:sp>
      <p:sp>
        <p:nvSpPr>
          <p:cNvPr id="72706"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7270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E17C7EC9-3D9A-48A8-B451-11623A74BEB5}" type="slidenum">
              <a:rPr lang="zh-CN" altLang="en-US"/>
              <a:t>38</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幻灯片图像占位符 1"/>
          <p:cNvSpPr>
            <a:spLocks noGrp="1" noRot="1" noChangeAspect="1"/>
          </p:cNvSpPr>
          <p:nvPr>
            <p:ph type="sldImg"/>
          </p:nvPr>
        </p:nvSpPr>
        <p:spPr bwMode="auto">
          <a:noFill/>
          <a:ln>
            <a:solidFill>
              <a:srgbClr val="000000"/>
            </a:solidFill>
            <a:miter lim="800000"/>
          </a:ln>
        </p:spPr>
      </p:sp>
      <p:sp>
        <p:nvSpPr>
          <p:cNvPr id="74754"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7475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52FA1613-3F87-48F7-89FC-8C66123424AC}" type="slidenum">
              <a:rPr lang="zh-CN" altLang="en-US"/>
              <a:t>39</a:t>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幻灯片图像占位符 1"/>
          <p:cNvSpPr>
            <a:spLocks noGrp="1" noRot="1" noChangeAspect="1"/>
          </p:cNvSpPr>
          <p:nvPr>
            <p:ph type="sldImg"/>
          </p:nvPr>
        </p:nvSpPr>
        <p:spPr bwMode="auto">
          <a:noFill/>
          <a:ln>
            <a:solidFill>
              <a:srgbClr val="000000"/>
            </a:solidFill>
            <a:miter lim="800000"/>
          </a:ln>
        </p:spPr>
      </p:sp>
      <p:sp>
        <p:nvSpPr>
          <p:cNvPr id="7680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7680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52CF68F3-2319-4275-B747-F55992AF0D7C}" type="slidenum">
              <a:rPr lang="zh-CN" altLang="en-US"/>
              <a:t>40</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p:cNvSpPr>
          <p:nvPr>
            <p:ph type="sldImg"/>
          </p:nvPr>
        </p:nvSpPr>
        <p:spPr bwMode="auto">
          <a:noFill/>
          <a:ln>
            <a:solidFill>
              <a:srgbClr val="000000"/>
            </a:solidFill>
            <a:miter lim="800000"/>
          </a:ln>
        </p:spPr>
      </p:sp>
      <p:sp>
        <p:nvSpPr>
          <p:cNvPr id="7885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7885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F4938AE9-4D70-458B-B646-A1723D42C9C4}" type="slidenum">
              <a:rPr lang="zh-CN" altLang="en-US"/>
              <a:t>41</a:t>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幻灯片图像占位符 1"/>
          <p:cNvSpPr>
            <a:spLocks noGrp="1" noRot="1" noChangeAspect="1"/>
          </p:cNvSpPr>
          <p:nvPr>
            <p:ph type="sldImg"/>
          </p:nvPr>
        </p:nvSpPr>
        <p:spPr bwMode="auto">
          <a:noFill/>
          <a:ln>
            <a:solidFill>
              <a:srgbClr val="000000"/>
            </a:solidFill>
            <a:miter lim="800000"/>
          </a:ln>
        </p:spPr>
      </p:sp>
      <p:sp>
        <p:nvSpPr>
          <p:cNvPr id="80898"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8089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97788D76-7550-4FCF-942D-91FE7892EF1C}" type="slidenum">
              <a:rPr lang="zh-CN" altLang="en-US"/>
              <a:t>42</a:t>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幻灯片图像占位符 1"/>
          <p:cNvSpPr>
            <a:spLocks noGrp="1" noRot="1" noChangeAspect="1"/>
          </p:cNvSpPr>
          <p:nvPr>
            <p:ph type="sldImg"/>
          </p:nvPr>
        </p:nvSpPr>
        <p:spPr bwMode="auto">
          <a:noFill/>
          <a:ln>
            <a:solidFill>
              <a:srgbClr val="000000"/>
            </a:solidFill>
            <a:miter lim="800000"/>
          </a:ln>
        </p:spPr>
      </p:sp>
      <p:sp>
        <p:nvSpPr>
          <p:cNvPr id="82946"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8294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BCD522B4-9474-432C-B86F-D2BAB52B4E88}" type="slidenum">
              <a:rPr lang="zh-CN" altLang="en-US"/>
              <a:t>43</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幻灯片图像占位符 1"/>
          <p:cNvSpPr>
            <a:spLocks noGrp="1" noRot="1" noChangeAspect="1"/>
          </p:cNvSpPr>
          <p:nvPr>
            <p:ph type="sldImg"/>
          </p:nvPr>
        </p:nvSpPr>
        <p:spPr bwMode="auto">
          <a:noFill/>
          <a:ln>
            <a:solidFill>
              <a:srgbClr val="000000"/>
            </a:solidFill>
            <a:miter lim="800000"/>
          </a:ln>
        </p:spPr>
      </p:sp>
      <p:sp>
        <p:nvSpPr>
          <p:cNvPr id="84994"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8499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B271EF00-1081-4113-87FB-8AA7BC447868}" type="slidenum">
              <a:rPr lang="zh-CN" altLang="en-US"/>
              <a:t>44</a:t>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p:cNvSpPr>
            <a:spLocks noGrp="1" noRot="1" noChangeAspect="1"/>
          </p:cNvSpPr>
          <p:nvPr>
            <p:ph type="sldImg"/>
          </p:nvPr>
        </p:nvSpPr>
        <p:spPr bwMode="auto">
          <a:noFill/>
          <a:ln>
            <a:solidFill>
              <a:srgbClr val="000000"/>
            </a:solidFill>
            <a:miter lim="800000"/>
          </a:ln>
        </p:spPr>
      </p:sp>
      <p:sp>
        <p:nvSpPr>
          <p:cNvPr id="8704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8704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BED4044-AD3B-4FC9-BEA5-FCB6EB11DFDE}" type="slidenum">
              <a:rPr lang="zh-CN" altLang="en-US"/>
              <a:t>45</a:t>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幻灯片图像占位符 1"/>
          <p:cNvSpPr>
            <a:spLocks noGrp="1" noRot="1" noChangeAspect="1"/>
          </p:cNvSpPr>
          <p:nvPr>
            <p:ph type="sldImg"/>
          </p:nvPr>
        </p:nvSpPr>
        <p:spPr bwMode="auto">
          <a:noFill/>
          <a:ln>
            <a:solidFill>
              <a:srgbClr val="000000"/>
            </a:solidFill>
            <a:miter lim="800000"/>
          </a:ln>
        </p:spPr>
      </p:sp>
      <p:sp>
        <p:nvSpPr>
          <p:cNvPr id="8909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8909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8BD6E1B3-A9B3-46BF-9FD6-9E0CA10EA775}" type="slidenum">
              <a:rPr lang="zh-CN" altLang="en-US"/>
              <a:t>46</a:t>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幻灯片图像占位符 1"/>
          <p:cNvSpPr>
            <a:spLocks noGrp="1" noRot="1" noChangeAspect="1"/>
          </p:cNvSpPr>
          <p:nvPr>
            <p:ph type="sldImg"/>
          </p:nvPr>
        </p:nvSpPr>
        <p:spPr bwMode="auto">
          <a:noFill/>
          <a:ln>
            <a:solidFill>
              <a:srgbClr val="000000"/>
            </a:solidFill>
            <a:miter lim="800000"/>
          </a:ln>
        </p:spPr>
      </p:sp>
      <p:sp>
        <p:nvSpPr>
          <p:cNvPr id="91138"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9113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EBA11599-A6C9-4511-8147-D29D923778DF}" type="slidenum">
              <a:rPr lang="zh-CN" altLang="en-US"/>
              <a:t>47</a:t>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幻灯片图像占位符 1"/>
          <p:cNvSpPr>
            <a:spLocks noGrp="1" noRot="1" noChangeAspect="1"/>
          </p:cNvSpPr>
          <p:nvPr>
            <p:ph type="sldImg"/>
          </p:nvPr>
        </p:nvSpPr>
        <p:spPr bwMode="auto">
          <a:noFill/>
          <a:ln>
            <a:solidFill>
              <a:srgbClr val="000000"/>
            </a:solidFill>
            <a:miter lim="800000"/>
          </a:ln>
        </p:spPr>
      </p:sp>
      <p:sp>
        <p:nvSpPr>
          <p:cNvPr id="93186"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9318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DA309A54-07A6-423A-A8D8-CEFBCAE4CFCC}" type="slidenum">
              <a:rPr lang="zh-CN" altLang="en-US"/>
              <a:t>48</a:t>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幻灯片图像占位符 1"/>
          <p:cNvSpPr>
            <a:spLocks noGrp="1" noRot="1" noChangeAspect="1"/>
          </p:cNvSpPr>
          <p:nvPr>
            <p:ph type="sldImg"/>
          </p:nvPr>
        </p:nvSpPr>
        <p:spPr bwMode="auto">
          <a:noFill/>
          <a:ln>
            <a:solidFill>
              <a:srgbClr val="000000"/>
            </a:solidFill>
            <a:miter lim="800000"/>
          </a:ln>
        </p:spPr>
      </p:sp>
      <p:sp>
        <p:nvSpPr>
          <p:cNvPr id="95234"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9523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02162EBE-44E1-41AA-BF3B-149086E76AF6}" type="slidenum">
              <a:rPr lang="zh-CN" altLang="en-US"/>
              <a:t>49</a:t>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幻灯片图像占位符 1"/>
          <p:cNvSpPr>
            <a:spLocks noGrp="1" noRot="1" noChangeAspect="1"/>
          </p:cNvSpPr>
          <p:nvPr>
            <p:ph type="sldImg"/>
          </p:nvPr>
        </p:nvSpPr>
        <p:spPr bwMode="auto">
          <a:noFill/>
          <a:ln>
            <a:solidFill>
              <a:srgbClr val="000000"/>
            </a:solidFill>
            <a:miter lim="800000"/>
          </a:ln>
        </p:spPr>
      </p:sp>
      <p:sp>
        <p:nvSpPr>
          <p:cNvPr id="9728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9728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AF94F90F-66B1-41EE-ADA9-794122EA9E31}" type="slidenum">
              <a:rPr lang="zh-CN" altLang="en-US"/>
              <a:t>50</a:t>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幻灯片图像占位符 1"/>
          <p:cNvSpPr>
            <a:spLocks noGrp="1" noRot="1" noChangeAspect="1"/>
          </p:cNvSpPr>
          <p:nvPr>
            <p:ph type="sldImg"/>
          </p:nvPr>
        </p:nvSpPr>
        <p:spPr bwMode="auto">
          <a:noFill/>
          <a:ln>
            <a:solidFill>
              <a:srgbClr val="000000"/>
            </a:solidFill>
            <a:miter lim="800000"/>
          </a:ln>
        </p:spPr>
      </p:sp>
      <p:sp>
        <p:nvSpPr>
          <p:cNvPr id="9933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9933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5603EE16-C82E-444C-AE06-DCFFC1C9827B}" type="slidenum">
              <a:rPr lang="zh-CN" altLang="en-US"/>
              <a:t>51</a:t>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幻灯片图像占位符 1"/>
          <p:cNvSpPr>
            <a:spLocks noGrp="1" noRot="1" noChangeAspect="1"/>
          </p:cNvSpPr>
          <p:nvPr>
            <p:ph type="sldImg"/>
          </p:nvPr>
        </p:nvSpPr>
        <p:spPr bwMode="auto">
          <a:noFill/>
          <a:ln>
            <a:solidFill>
              <a:srgbClr val="000000"/>
            </a:solidFill>
            <a:miter lim="800000"/>
          </a:ln>
        </p:spPr>
      </p:sp>
      <p:sp>
        <p:nvSpPr>
          <p:cNvPr id="101378"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0137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CACD0DAE-9516-4C1E-914C-28C1E1EDC38D}" type="slidenum">
              <a:rPr lang="zh-CN" altLang="en-US"/>
              <a:t>52</a:t>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幻灯片图像占位符 1"/>
          <p:cNvSpPr>
            <a:spLocks noGrp="1" noRot="1" noChangeAspect="1"/>
          </p:cNvSpPr>
          <p:nvPr>
            <p:ph type="sldImg"/>
          </p:nvPr>
        </p:nvSpPr>
        <p:spPr bwMode="auto">
          <a:noFill/>
          <a:ln>
            <a:solidFill>
              <a:srgbClr val="000000"/>
            </a:solidFill>
            <a:miter lim="800000"/>
          </a:ln>
        </p:spPr>
      </p:sp>
      <p:sp>
        <p:nvSpPr>
          <p:cNvPr id="103426"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0342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85BD206B-8363-4C6C-AF13-3C404B484968}" type="slidenum">
              <a:rPr lang="zh-CN" altLang="en-US"/>
              <a:t>53</a:t>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幻灯片图像占位符 1"/>
          <p:cNvSpPr>
            <a:spLocks noGrp="1" noRot="1" noChangeAspect="1"/>
          </p:cNvSpPr>
          <p:nvPr>
            <p:ph type="sldImg"/>
          </p:nvPr>
        </p:nvSpPr>
        <p:spPr bwMode="auto">
          <a:noFill/>
          <a:ln>
            <a:solidFill>
              <a:srgbClr val="000000"/>
            </a:solidFill>
            <a:miter lim="800000"/>
          </a:ln>
        </p:spPr>
      </p:sp>
      <p:sp>
        <p:nvSpPr>
          <p:cNvPr id="103426"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0342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85BD206B-8363-4C6C-AF13-3C404B484968}" type="slidenum">
              <a:rPr lang="zh-CN" altLang="en-US"/>
              <a:t>54</a:t>
            </a:fld>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幻灯片图像占位符 1"/>
          <p:cNvSpPr>
            <a:spLocks noGrp="1" noRot="1" noChangeAspect="1"/>
          </p:cNvSpPr>
          <p:nvPr>
            <p:ph type="sldImg"/>
          </p:nvPr>
        </p:nvSpPr>
        <p:spPr bwMode="auto">
          <a:noFill/>
          <a:ln>
            <a:solidFill>
              <a:srgbClr val="000000"/>
            </a:solidFill>
            <a:miter lim="800000"/>
          </a:ln>
        </p:spPr>
      </p:sp>
      <p:sp>
        <p:nvSpPr>
          <p:cNvPr id="105474"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0547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E22B6865-2F27-47E7-90EC-72FA27A526D0}" type="slidenum">
              <a:rPr lang="zh-CN" altLang="en-US"/>
              <a:t>55</a:t>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幻灯片图像占位符 1"/>
          <p:cNvSpPr>
            <a:spLocks noGrp="1" noRot="1" noChangeAspect="1"/>
          </p:cNvSpPr>
          <p:nvPr>
            <p:ph type="sldImg"/>
          </p:nvPr>
        </p:nvSpPr>
        <p:spPr bwMode="auto">
          <a:noFill/>
          <a:ln>
            <a:solidFill>
              <a:srgbClr val="000000"/>
            </a:solidFill>
            <a:miter lim="800000"/>
          </a:ln>
        </p:spPr>
      </p:sp>
      <p:sp>
        <p:nvSpPr>
          <p:cNvPr id="10752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0752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FF3F2684-9BA0-4889-AEC2-637DCCB4B4E5}" type="slidenum">
              <a:rPr lang="zh-CN" altLang="en-US"/>
              <a:t>56</a:t>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幻灯片图像占位符 1"/>
          <p:cNvSpPr>
            <a:spLocks noGrp="1" noRot="1" noChangeAspect="1"/>
          </p:cNvSpPr>
          <p:nvPr>
            <p:ph type="sldImg"/>
          </p:nvPr>
        </p:nvSpPr>
        <p:spPr bwMode="auto">
          <a:noFill/>
          <a:ln>
            <a:solidFill>
              <a:srgbClr val="000000"/>
            </a:solidFill>
            <a:miter lim="800000"/>
          </a:ln>
        </p:spPr>
      </p:sp>
      <p:sp>
        <p:nvSpPr>
          <p:cNvPr id="10957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0957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6B6953F2-33C6-4F91-A6EB-CBE0AA7F567E}" type="slidenum">
              <a:rPr lang="zh-CN" altLang="en-US"/>
              <a:t>57</a:t>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幻灯片图像占位符 1"/>
          <p:cNvSpPr>
            <a:spLocks noGrp="1" noRot="1" noChangeAspect="1"/>
          </p:cNvSpPr>
          <p:nvPr>
            <p:ph type="sldImg"/>
          </p:nvPr>
        </p:nvSpPr>
        <p:spPr bwMode="auto">
          <a:noFill/>
          <a:ln>
            <a:solidFill>
              <a:srgbClr val="000000"/>
            </a:solidFill>
            <a:miter lim="800000"/>
          </a:ln>
        </p:spPr>
      </p:sp>
      <p:sp>
        <p:nvSpPr>
          <p:cNvPr id="111618"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1161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F87839D8-4378-4881-A25D-7EB9F50B8B20}" type="slidenum">
              <a:rPr lang="zh-CN" altLang="en-US"/>
              <a:t>58</a:t>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幻灯片图像占位符 1"/>
          <p:cNvSpPr>
            <a:spLocks noGrp="1" noRot="1" noChangeAspect="1"/>
          </p:cNvSpPr>
          <p:nvPr>
            <p:ph type="sldImg"/>
          </p:nvPr>
        </p:nvSpPr>
        <p:spPr bwMode="auto">
          <a:noFill/>
          <a:ln>
            <a:solidFill>
              <a:srgbClr val="000000"/>
            </a:solidFill>
            <a:miter lim="800000"/>
          </a:ln>
        </p:spPr>
      </p:sp>
      <p:sp>
        <p:nvSpPr>
          <p:cNvPr id="113666"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13667"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5678F84A-9861-4C20-9E7E-5F5393051934}" type="slidenum">
              <a:rPr lang="zh-CN" altLang="en-US"/>
              <a:t>59</a:t>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幻灯片图像占位符 1"/>
          <p:cNvSpPr>
            <a:spLocks noGrp="1" noRot="1" noChangeAspect="1"/>
          </p:cNvSpPr>
          <p:nvPr>
            <p:ph type="sldImg"/>
          </p:nvPr>
        </p:nvSpPr>
        <p:spPr bwMode="auto">
          <a:noFill/>
          <a:ln>
            <a:solidFill>
              <a:srgbClr val="000000"/>
            </a:solidFill>
            <a:miter lim="800000"/>
          </a:ln>
        </p:spPr>
      </p:sp>
      <p:sp>
        <p:nvSpPr>
          <p:cNvPr id="115714"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1571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EA9EE2B7-DD1E-4181-AB71-CF9E89E2B13C}" type="slidenum">
              <a:rPr lang="zh-CN" altLang="en-US"/>
              <a:t>60</a:t>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幻灯片图像占位符 1"/>
          <p:cNvSpPr>
            <a:spLocks noGrp="1" noRot="1" noChangeAspect="1"/>
          </p:cNvSpPr>
          <p:nvPr>
            <p:ph type="sldImg"/>
          </p:nvPr>
        </p:nvSpPr>
        <p:spPr bwMode="auto">
          <a:noFill/>
          <a:ln>
            <a:solidFill>
              <a:srgbClr val="000000"/>
            </a:solidFill>
            <a:miter lim="800000"/>
          </a:ln>
        </p:spPr>
      </p:sp>
      <p:sp>
        <p:nvSpPr>
          <p:cNvPr id="115714"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15715"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EA9EE2B7-DD1E-4181-AB71-CF9E89E2B13C}" type="slidenum">
              <a:rPr lang="zh-CN" altLang="en-US"/>
              <a:t>61</a:t>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幻灯片图像占位符 1"/>
          <p:cNvSpPr>
            <a:spLocks noGrp="1" noRot="1" noChangeAspect="1"/>
          </p:cNvSpPr>
          <p:nvPr>
            <p:ph type="sldImg"/>
          </p:nvPr>
        </p:nvSpPr>
        <p:spPr bwMode="auto">
          <a:noFill/>
          <a:ln>
            <a:solidFill>
              <a:srgbClr val="000000"/>
            </a:solidFill>
            <a:miter lim="800000"/>
          </a:ln>
        </p:spPr>
      </p:sp>
      <p:sp>
        <p:nvSpPr>
          <p:cNvPr id="11776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1776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A7C14977-5736-41A7-8F63-F8AB1DD54C61}" type="slidenum">
              <a:rPr lang="zh-CN" altLang="en-US"/>
              <a:t>62</a:t>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幻灯片图像占位符 1"/>
          <p:cNvSpPr>
            <a:spLocks noGrp="1" noRot="1" noChangeAspect="1"/>
          </p:cNvSpPr>
          <p:nvPr>
            <p:ph type="sldImg"/>
          </p:nvPr>
        </p:nvSpPr>
        <p:spPr bwMode="auto">
          <a:noFill/>
          <a:ln>
            <a:solidFill>
              <a:srgbClr val="000000"/>
            </a:solidFill>
            <a:miter lim="800000"/>
          </a:ln>
        </p:spPr>
      </p:sp>
      <p:sp>
        <p:nvSpPr>
          <p:cNvPr id="11776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1776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A7C14977-5736-41A7-8F63-F8AB1DD54C61}" type="slidenum">
              <a:rPr lang="zh-CN" altLang="en-US"/>
              <a:t>63</a:t>
            </a:fld>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幻灯片图像占位符 1"/>
          <p:cNvSpPr>
            <a:spLocks noGrp="1" noRot="1" noChangeAspect="1"/>
          </p:cNvSpPr>
          <p:nvPr>
            <p:ph type="sldImg"/>
          </p:nvPr>
        </p:nvSpPr>
        <p:spPr bwMode="auto">
          <a:noFill/>
          <a:ln>
            <a:solidFill>
              <a:srgbClr val="000000"/>
            </a:solidFill>
            <a:miter lim="800000"/>
          </a:ln>
        </p:spPr>
      </p:sp>
      <p:sp>
        <p:nvSpPr>
          <p:cNvPr id="11776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1776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A7C14977-5736-41A7-8F63-F8AB1DD54C61}" type="slidenum">
              <a:rPr lang="zh-CN" altLang="en-US"/>
              <a:t>64</a:t>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幻灯片图像占位符 1"/>
          <p:cNvSpPr>
            <a:spLocks noGrp="1" noRot="1" noChangeAspect="1"/>
          </p:cNvSpPr>
          <p:nvPr>
            <p:ph type="sldImg"/>
          </p:nvPr>
        </p:nvSpPr>
        <p:spPr bwMode="auto">
          <a:noFill/>
          <a:ln>
            <a:solidFill>
              <a:srgbClr val="000000"/>
            </a:solidFill>
            <a:miter lim="800000"/>
          </a:ln>
        </p:spPr>
      </p:sp>
      <p:sp>
        <p:nvSpPr>
          <p:cNvPr id="11776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1776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A7C14977-5736-41A7-8F63-F8AB1DD54C61}" type="slidenum">
              <a:rPr lang="zh-CN" altLang="en-US"/>
              <a:t>65</a:t>
            </a:fld>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幻灯片图像占位符 1"/>
          <p:cNvSpPr>
            <a:spLocks noGrp="1" noRot="1" noChangeAspect="1"/>
          </p:cNvSpPr>
          <p:nvPr>
            <p:ph type="sldImg"/>
          </p:nvPr>
        </p:nvSpPr>
        <p:spPr bwMode="auto">
          <a:noFill/>
          <a:ln>
            <a:solidFill>
              <a:srgbClr val="000000"/>
            </a:solidFill>
            <a:miter lim="800000"/>
          </a:ln>
        </p:spPr>
      </p:sp>
      <p:sp>
        <p:nvSpPr>
          <p:cNvPr id="117762"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17763"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A7C14977-5736-41A7-8F63-F8AB1DD54C61}" type="slidenum">
              <a:rPr lang="zh-CN" altLang="en-US"/>
              <a:t>66</a:t>
            </a:fld>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幻灯片图像占位符 1"/>
          <p:cNvSpPr>
            <a:spLocks noGrp="1" noRot="1" noChangeAspect="1"/>
          </p:cNvSpPr>
          <p:nvPr>
            <p:ph type="sldImg"/>
          </p:nvPr>
        </p:nvSpPr>
        <p:spPr bwMode="auto">
          <a:noFill/>
          <a:ln>
            <a:solidFill>
              <a:srgbClr val="000000"/>
            </a:solidFill>
            <a:miter lim="800000"/>
          </a:ln>
        </p:spPr>
      </p:sp>
      <p:sp>
        <p:nvSpPr>
          <p:cNvPr id="11981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1981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4A37E7D7-B319-4CE6-B653-C93551775B4F}" type="slidenum">
              <a:rPr lang="zh-CN" altLang="en-US"/>
              <a:t>67</a:t>
            </a:fld>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幻灯片图像占位符 1"/>
          <p:cNvSpPr>
            <a:spLocks noGrp="1" noRot="1" noChangeAspect="1"/>
          </p:cNvSpPr>
          <p:nvPr>
            <p:ph type="sldImg"/>
          </p:nvPr>
        </p:nvSpPr>
        <p:spPr bwMode="auto">
          <a:noFill/>
          <a:ln>
            <a:solidFill>
              <a:srgbClr val="000000"/>
            </a:solidFill>
            <a:miter lim="800000"/>
          </a:ln>
        </p:spPr>
      </p:sp>
      <p:sp>
        <p:nvSpPr>
          <p:cNvPr id="119810"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19811"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4A37E7D7-B319-4CE6-B653-C93551775B4F}" type="slidenum">
              <a:rPr lang="zh-CN" altLang="en-US"/>
              <a:t>68</a:t>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幻灯片图像占位符 1"/>
          <p:cNvSpPr>
            <a:spLocks noGrp="1" noRot="1" noChangeAspect="1"/>
          </p:cNvSpPr>
          <p:nvPr>
            <p:ph type="sldImg"/>
          </p:nvPr>
        </p:nvSpPr>
        <p:spPr bwMode="auto">
          <a:noFill/>
          <a:ln>
            <a:solidFill>
              <a:srgbClr val="000000"/>
            </a:solidFill>
            <a:miter lim="800000"/>
          </a:ln>
        </p:spPr>
      </p:sp>
      <p:sp>
        <p:nvSpPr>
          <p:cNvPr id="121858" name="备注占位符 2"/>
          <p:cNvSpPr>
            <a:spLocks noGrp="1"/>
          </p:cNvSpPr>
          <p:nvPr>
            <p:ph type="body" idx="1"/>
          </p:nvPr>
        </p:nvSpPr>
        <p:spPr bwMode="auto">
          <a:noFill/>
        </p:spPr>
        <p:txBody>
          <a:bodyPr wrap="square" numCol="1" anchor="t" anchorCtr="0" compatLnSpc="1"/>
          <a:lstStyle/>
          <a:p>
            <a:pPr>
              <a:spcBef>
                <a:spcPct val="0"/>
              </a:spcBef>
            </a:pPr>
            <a:endParaRPr lang="zh-CN" altLang="en-US"/>
          </a:p>
        </p:txBody>
      </p:sp>
      <p:sp>
        <p:nvSpPr>
          <p:cNvPr id="121859" name="灯片编号占位符 3"/>
          <p:cNvSpPr>
            <a:spLocks noGrp="1"/>
          </p:cNvSpPr>
          <p:nvPr>
            <p:ph type="sldNum" sz="quarter" idx="5"/>
          </p:nvPr>
        </p:nvSpPr>
        <p:spPr bwMode="auto">
          <a:noFill/>
          <a:ln>
            <a:miter lim="800000"/>
          </a:ln>
        </p:spPr>
        <p:txBody>
          <a:bodyPr wrap="square" numCol="1" anchorCtr="0" compatLnSpc="1"/>
          <a:lstStyle/>
          <a:p>
            <a:pPr fontAlgn="base">
              <a:spcBef>
                <a:spcPct val="0"/>
              </a:spcBef>
              <a:spcAft>
                <a:spcPct val="0"/>
              </a:spcAft>
            </a:pPr>
            <a:fld id="{FB97B417-B5D3-4F54-8C0A-542D856CEF9B}" type="slidenum">
              <a:rPr lang="zh-CN" altLang="en-US"/>
              <a:t>69</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6B001E92-E139-4DB0-9606-F2949ABD9530}" type="datetimeFigureOut">
              <a:rPr lang="zh-CN" altLang="en-US"/>
              <a:t>2025/9/23</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8357A7AE-CD0B-4CD5-A3EF-38A9FE89FB90}"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BF1D229D-A582-4AFB-9F1F-C5D54FE8D8EA}" type="datetimeFigureOut">
              <a:rPr lang="zh-CN" altLang="en-US"/>
              <a:t>2025/9/23</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148386AC-B0AB-4086-A264-B8BC8CFC8831}" type="slidenum">
              <a:rPr lang="zh-CN"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5FA381F4-B02C-4BBF-8F3F-F304C3F274A2}" type="datetimeFigureOut">
              <a:rPr lang="zh-CN" altLang="en-US"/>
              <a:t>2025/9/23</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7D7A98CD-D7FD-4C53-85C2-FAC242181CD4}"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390BA8B3-5545-41F6-8CA3-2CC4AA539F62}" type="datetimeFigureOut">
              <a:rPr lang="zh-CN" altLang="en-US"/>
              <a:t>2025/9/23</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BA354CA6-3639-4150-B8E4-8CCE393F4E58}"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fld id="{2359C7B2-ACB2-43DE-8799-028F6ABF60F9}" type="datetimeFigureOut">
              <a:rPr lang="zh-CN" altLang="en-US"/>
              <a:t>2025/9/23</a:t>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64FBEBF4-62E5-47A6-B9DA-75D9C3BF9F12}"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fld id="{57CFDF18-BC37-4FDA-B752-15E4AABAF8C9}" type="datetimeFigureOut">
              <a:rPr lang="zh-CN" altLang="en-US"/>
              <a:t>2025/9/23</a:t>
            </a:fld>
            <a:endParaRPr lang="zh-CN" altLang="en-US"/>
          </a:p>
        </p:txBody>
      </p:sp>
      <p:sp>
        <p:nvSpPr>
          <p:cNvPr id="4" name="Footer Placeholder 4"/>
          <p:cNvSpPr>
            <a:spLocks noGrp="1"/>
          </p:cNvSpPr>
          <p:nvPr>
            <p:ph type="ftr" sz="quarter" idx="11"/>
          </p:nvPr>
        </p:nvSpPr>
        <p:spPr/>
        <p:txBody>
          <a:bodyPr/>
          <a:lstStyle>
            <a:lvl1pPr>
              <a:defRPr/>
            </a:lvl1pPr>
          </a:lstStyle>
          <a:p>
            <a:pPr>
              <a:defRPr/>
            </a:pP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42037F55-546C-4906-9ACF-DF243D13B342}"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FB58FCD-EEF0-485C-A594-3D135D20F66F}" type="datetimeFigureOut">
              <a:rPr lang="zh-CN" altLang="en-US"/>
              <a:t>2025/9/23</a:t>
            </a:fld>
            <a:endParaRPr lang="zh-CN" altLang="en-US"/>
          </a:p>
        </p:txBody>
      </p:sp>
      <p:sp>
        <p:nvSpPr>
          <p:cNvPr id="3" name="Footer Placeholder 4"/>
          <p:cNvSpPr>
            <a:spLocks noGrp="1"/>
          </p:cNvSpPr>
          <p:nvPr>
            <p:ph type="ftr" sz="quarter" idx="11"/>
          </p:nvPr>
        </p:nvSpPr>
        <p:spPr/>
        <p:txBody>
          <a:bodyPr/>
          <a:lstStyle>
            <a:lvl1pPr>
              <a:defRPr/>
            </a:lvl1pPr>
          </a:lstStyle>
          <a:p>
            <a:pPr>
              <a:defRPr/>
            </a:pP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99035117-062D-4E70-A7D9-2BF8488D9C92}"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3E384236-0145-447D-AE6F-376E4B67C0FC}" type="datetimeFigureOut">
              <a:rPr lang="zh-CN" altLang="en-US"/>
              <a:t>2025/9/23</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0BCAA020-93F9-4260-A733-A4C46E9A90E1}"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17083211-BF0A-48FA-A3C1-A7DD31E039A8}" type="datetimeFigureOut">
              <a:rPr lang="zh-CN" altLang="en-US"/>
              <a:t>2025/9/23</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783ED158-516B-4F58-970C-3A4D9D4EB5D9}"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A9EFC2C4-842B-4B0F-BB09-BAA14D858178}" type="datetimeFigureOut">
              <a:rPr lang="zh-CN" altLang="en-US"/>
              <a:t>2025/9/23</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6EAC5B81-1405-45BE-A056-B746D9555D34}"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72D6F10A-B87A-4E34-BAA0-DA7C86D3D0AA}" type="datetimeFigureOut">
              <a:rPr lang="zh-CN" altLang="en-US"/>
              <a:t>2025/9/23</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4FCBDC32-E5C2-4E79-82A3-A8BB9071F2CA}" type="slidenum">
              <a:rPr lang="zh-CN" altLang="en-US"/>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w="9525">
            <a:noFill/>
            <a:miter lim="800000"/>
          </a:ln>
        </p:spPr>
        <p:txBody>
          <a:bodyPr vert="horz" wrap="square" lIns="91440" tIns="45720" rIns="91440" bIns="45720" numCol="1" anchor="ctr" anchorCtr="0" compatLnSpc="1"/>
          <a:lstStyle/>
          <a:p>
            <a:pPr lvl="0"/>
            <a:r>
              <a:rPr lang="zh-CN" altLang="en-US"/>
              <a:t>单击此处编辑母版标题样式</a:t>
            </a:r>
            <a:endParaRPr lang="en-US"/>
          </a:p>
        </p:txBody>
      </p:sp>
      <p:sp>
        <p:nvSpPr>
          <p:cNvPr id="1027" name="Text Placeholder 2"/>
          <p:cNvSpPr>
            <a:spLocks noGrp="1"/>
          </p:cNvSpPr>
          <p:nvPr>
            <p:ph type="body" idx="1"/>
          </p:nvPr>
        </p:nvSpPr>
        <p:spPr bwMode="auto">
          <a:xfrm>
            <a:off x="628650" y="1825625"/>
            <a:ext cx="7886700" cy="4351338"/>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46E4C87C-E2D9-4699-AC26-9BC613FAA289}" type="datetimeFigureOut">
              <a:rPr lang="zh-CN" altLang="en-US"/>
              <a:t>2025/9/23</a:t>
            </a:fld>
            <a:endParaRPr lang="zh-CN" alt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A335E2EF-433E-453E-B73F-31E44BAEE005}"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tiff"/></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tiff"/></Relationships>
</file>

<file path=ppt/slides/_rels/slide8.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tiff"/></Relationships>
</file>

<file path=ppt/slides/_rels/slide10.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tiff"/></Relationships>
</file>

<file path=ppt/slides/_rels/slide1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tiff"/></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tiff"/></Relationships>
</file>

<file path=ppt/slides/_rels/slide2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8.emf"/><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1.tiff"/><Relationship Id="rId7" Type="http://schemas.openxmlformats.org/officeDocument/2006/relationships/image" Target="../media/image11.jpe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2.png"/><Relationship Id="rId9" Type="http://schemas.openxmlformats.org/officeDocument/2006/relationships/image" Target="../media/image13.jpeg"/></Relationships>
</file>

<file path=ppt/slides/_rels/slide27.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4.emf"/><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5.png"/><Relationship Id="rId7" Type="http://schemas.openxmlformats.org/officeDocument/2006/relationships/image" Target="../media/image1.tiff"/><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15.emf"/><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tiff"/></Relationships>
</file>

<file path=ppt/slides/_rels/slide40.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16.emf"/><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17.emf"/><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9.png"/><Relationship Id="rId4" Type="http://schemas.openxmlformats.org/officeDocument/2006/relationships/oleObject" Target="../embeddings/oleObject1.bin"/></Relationships>
</file>

<file path=ppt/slides/_rels/slide6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oleObject" Target="../embeddings/oleObject2.bin"/><Relationship Id="rId4"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oleObject" Target="../embeddings/oleObject3.bin"/><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oleObject" Target="../embeddings/oleObject4.bin"/><Relationship Id="rId4" Type="http://schemas.openxmlformats.org/officeDocument/2006/relationships/image" Target="../media/image2.png"/></Relationships>
</file>

<file path=ppt/slides/_rels/slide66.xml.rels><?xml version="1.0" encoding="UTF-8" standalone="yes"?>
<Relationships xmlns="http://schemas.openxmlformats.org/package/2006/relationships"><Relationship Id="rId3" Type="http://schemas.openxmlformats.org/officeDocument/2006/relationships/image" Target="../media/image1.tiff"/><Relationship Id="rId7" Type="http://schemas.openxmlformats.org/officeDocument/2006/relationships/image" Target="../media/image25.emf"/><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24.emf"/><Relationship Id="rId5" Type="http://schemas.openxmlformats.org/officeDocument/2006/relationships/oleObject" Target="../embeddings/oleObject5.bin"/><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65.xml"/><Relationship Id="rId1" Type="http://schemas.openxmlformats.org/officeDocument/2006/relationships/slideLayout" Target="../slideLayouts/slideLayout1.xml"/><Relationship Id="rId5" Type="http://schemas.openxmlformats.org/officeDocument/2006/relationships/image" Target="../media/image26.emf"/><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image" Target="../media/image27.emf"/><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7FDBF60-81C9-B5A5-8306-EC975CA6135A}"/>
              </a:ext>
            </a:extLst>
          </p:cNvPr>
          <p:cNvSpPr txBox="1"/>
          <p:nvPr/>
        </p:nvSpPr>
        <p:spPr>
          <a:xfrm>
            <a:off x="247337" y="290971"/>
            <a:ext cx="8476937" cy="5085816"/>
          </a:xfrm>
          <a:prstGeom prst="rect">
            <a:avLst/>
          </a:prstGeom>
          <a:noFill/>
        </p:spPr>
        <p:txBody>
          <a:bodyPr wrap="square">
            <a:spAutoFit/>
          </a:bodyPr>
          <a:lstStyle/>
          <a:p>
            <a:pPr marL="0" marR="0" algn="just">
              <a:lnSpc>
                <a:spcPct val="150000"/>
              </a:lnSpc>
              <a:buNone/>
            </a:pPr>
            <a:r>
              <a:rPr lang="en-US" altLang="zh-CN" sz="1800" kern="100" dirty="0">
                <a:effectLst/>
                <a:latin typeface="Times New Roman" panose="02020603050405020304" pitchFamily="18" charset="0"/>
              </a:rPr>
              <a:t>1</a:t>
            </a:r>
            <a:r>
              <a:rPr lang="zh-CN" altLang="en-US" sz="1800" kern="100" dirty="0">
                <a:effectLst/>
                <a:latin typeface="宋体" panose="02010600030101010101" pitchFamily="2" charset="-122"/>
                <a:ea typeface="宋体" panose="02010600030101010101" pitchFamily="2" charset="-122"/>
              </a:rPr>
              <a:t>、已知某数的</a:t>
            </a:r>
            <a:r>
              <a:rPr lang="en-US" altLang="zh-CN" sz="1800" kern="100" dirty="0">
                <a:effectLst/>
                <a:latin typeface="Times New Roman" panose="02020603050405020304" pitchFamily="18" charset="0"/>
              </a:rPr>
              <a:t>BCD</a:t>
            </a:r>
            <a:r>
              <a:rPr lang="zh-CN" altLang="en-US" sz="1800" kern="100" dirty="0">
                <a:effectLst/>
                <a:latin typeface="宋体" panose="02010600030101010101" pitchFamily="2" charset="-122"/>
                <a:ea typeface="宋体" panose="02010600030101010101" pitchFamily="2" charset="-122"/>
              </a:rPr>
              <a:t>码为</a:t>
            </a:r>
            <a:r>
              <a:rPr lang="en-US" altLang="zh-CN" sz="1800" kern="100" dirty="0">
                <a:effectLst/>
                <a:latin typeface="Times New Roman" panose="02020603050405020304" pitchFamily="18" charset="0"/>
              </a:rPr>
              <a:t>0111 0101 0100 0010 </a:t>
            </a:r>
            <a:r>
              <a:rPr lang="zh-CN" altLang="en-US" sz="1800" kern="100" dirty="0">
                <a:effectLst/>
                <a:latin typeface="宋体" panose="02010600030101010101" pitchFamily="2" charset="-122"/>
                <a:ea typeface="宋体" panose="02010600030101010101" pitchFamily="2" charset="-122"/>
              </a:rPr>
              <a:t>则其表示的十进制数值为（</a:t>
            </a:r>
            <a:r>
              <a:rPr lang="zh-CN" altLang="en-US" sz="1800" kern="100" dirty="0">
                <a:effectLst/>
                <a:latin typeface="Times New Roman" panose="02020603050405020304" pitchFamily="18" charset="0"/>
              </a:rPr>
              <a:t>   </a:t>
            </a:r>
            <a:r>
              <a:rPr lang="zh-CN" altLang="en-US" sz="1800" kern="100" dirty="0">
                <a:effectLst/>
                <a:latin typeface="宋体" panose="02010600030101010101" pitchFamily="2" charset="-122"/>
                <a:ea typeface="宋体" panose="02010600030101010101" pitchFamily="2" charset="-122"/>
              </a:rPr>
              <a:t>）。</a:t>
            </a:r>
            <a:endParaRPr lang="zh-CN" altLang="en-US" sz="1400" kern="100" dirty="0">
              <a:effectLst/>
              <a:latin typeface="Times New Roman" panose="02020603050405020304" pitchFamily="18" charset="0"/>
            </a:endParaRPr>
          </a:p>
          <a:p>
            <a:pPr marL="0" marR="0" indent="152400" algn="just">
              <a:lnSpc>
                <a:spcPct val="150000"/>
              </a:lnSpc>
              <a:buNone/>
            </a:pPr>
            <a:r>
              <a:rPr lang="en-US" altLang="zh-CN" sz="1800" kern="100" dirty="0">
                <a:effectLst/>
                <a:latin typeface="Times New Roman" panose="02020603050405020304" pitchFamily="18" charset="0"/>
              </a:rPr>
              <a:t>A</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rPr>
              <a:t>7542H    </a:t>
            </a:r>
            <a:r>
              <a:rPr lang="zh-CN" altLang="en-US" sz="1800" kern="100" dirty="0">
                <a:effectLst/>
                <a:latin typeface="宋体" panose="02010600030101010101" pitchFamily="2" charset="-122"/>
                <a:ea typeface="宋体" panose="02010600030101010101" pitchFamily="2" charset="-122"/>
              </a:rPr>
              <a:t>       </a:t>
            </a:r>
            <a:r>
              <a:rPr lang="en-US" altLang="zh-CN" sz="1800" kern="100" dirty="0">
                <a:effectLst/>
                <a:latin typeface="Times New Roman" panose="02020603050405020304" pitchFamily="18" charset="0"/>
              </a:rPr>
              <a:t>B</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rPr>
              <a:t>7542    </a:t>
            </a:r>
            <a:r>
              <a:rPr lang="zh-CN" altLang="en-US" sz="1800" kern="100" dirty="0">
                <a:effectLst/>
                <a:latin typeface="宋体" panose="02010600030101010101" pitchFamily="2" charset="-122"/>
                <a:ea typeface="宋体" panose="02010600030101010101" pitchFamily="2" charset="-122"/>
              </a:rPr>
              <a:t>     </a:t>
            </a:r>
            <a:r>
              <a:rPr lang="zh-CN" altLang="en-US" sz="1800" kern="100" dirty="0">
                <a:effectLst/>
                <a:latin typeface="Times New Roman" panose="02020603050405020304" pitchFamily="18" charset="0"/>
              </a:rPr>
              <a:t>  </a:t>
            </a:r>
            <a:r>
              <a:rPr lang="en-US" altLang="zh-CN" sz="1800" kern="100" dirty="0">
                <a:effectLst/>
                <a:latin typeface="Times New Roman" panose="02020603050405020304" pitchFamily="18" charset="0"/>
              </a:rPr>
              <a:t>C</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rPr>
              <a:t>75.42H      </a:t>
            </a:r>
            <a:r>
              <a:rPr lang="zh-CN" altLang="en-US" sz="1800" kern="100" dirty="0">
                <a:effectLst/>
                <a:latin typeface="宋体" panose="02010600030101010101" pitchFamily="2" charset="-122"/>
                <a:ea typeface="宋体" panose="02010600030101010101" pitchFamily="2" charset="-122"/>
              </a:rPr>
              <a:t>     </a:t>
            </a:r>
            <a:r>
              <a:rPr lang="en-US" altLang="zh-CN" sz="1800" kern="100" dirty="0">
                <a:effectLst/>
                <a:latin typeface="Times New Roman" panose="02020603050405020304" pitchFamily="18" charset="0"/>
              </a:rPr>
              <a:t>D</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rPr>
              <a:t>75.42</a:t>
            </a:r>
            <a:endParaRPr lang="zh-CN" altLang="en-US" sz="1400" kern="100" dirty="0">
              <a:effectLst/>
              <a:latin typeface="Times New Roman" panose="02020603050405020304" pitchFamily="18" charset="0"/>
            </a:endParaRPr>
          </a:p>
          <a:p>
            <a:pPr marL="0" marR="0" algn="just">
              <a:lnSpc>
                <a:spcPct val="150000"/>
              </a:lnSpc>
              <a:buNone/>
            </a:pPr>
            <a:r>
              <a:rPr lang="en-US" altLang="zh-CN" sz="1800" kern="100" dirty="0">
                <a:effectLst/>
                <a:latin typeface="Times New Roman" panose="02020603050405020304" pitchFamily="18" charset="0"/>
              </a:rPr>
              <a:t>2</a:t>
            </a:r>
            <a:r>
              <a:rPr lang="zh-CN" altLang="en-US" sz="1800" kern="100" dirty="0">
                <a:effectLst/>
                <a:latin typeface="宋体" panose="02010600030101010101" pitchFamily="2" charset="-122"/>
                <a:ea typeface="宋体" panose="02010600030101010101" pitchFamily="2" charset="-122"/>
              </a:rPr>
              <a:t>、在微型计算机中，负数常用 （ ） 表示。</a:t>
            </a:r>
            <a:endParaRPr lang="zh-CN" altLang="en-US" sz="1400" kern="100" dirty="0">
              <a:effectLst/>
              <a:latin typeface="Times New Roman" panose="02020603050405020304" pitchFamily="18" charset="0"/>
            </a:endParaRPr>
          </a:p>
          <a:p>
            <a:pPr marL="342900" marR="0" indent="-342900" algn="just">
              <a:lnSpc>
                <a:spcPct val="150000"/>
              </a:lnSpc>
              <a:buAutoNum type="alphaUcParenBoth"/>
            </a:pPr>
            <a:r>
              <a:rPr lang="zh-CN" altLang="en-US" sz="1800" kern="100" dirty="0">
                <a:effectLst/>
                <a:latin typeface="宋体" panose="02010600030101010101" pitchFamily="2" charset="-122"/>
                <a:ea typeface="宋体" panose="02010600030101010101" pitchFamily="2" charset="-122"/>
              </a:rPr>
              <a:t>原码              </a:t>
            </a:r>
            <a:r>
              <a:rPr lang="en-US" altLang="zh-CN" sz="1800" kern="100" dirty="0">
                <a:effectLst/>
                <a:latin typeface="Times New Roman" panose="02020603050405020304" pitchFamily="18" charset="0"/>
              </a:rPr>
              <a:t>(B) </a:t>
            </a:r>
            <a:r>
              <a:rPr lang="zh-CN" altLang="en-US" sz="1800" kern="100" dirty="0">
                <a:effectLst/>
                <a:latin typeface="宋体" panose="02010600030101010101" pitchFamily="2" charset="-122"/>
                <a:ea typeface="宋体" panose="02010600030101010101" pitchFamily="2" charset="-122"/>
              </a:rPr>
              <a:t>反码         </a:t>
            </a:r>
            <a:r>
              <a:rPr lang="en-US" altLang="zh-CN" sz="1800" kern="100" dirty="0">
                <a:effectLst/>
                <a:latin typeface="Times New Roman" panose="02020603050405020304" pitchFamily="18" charset="0"/>
              </a:rPr>
              <a:t>(C) </a:t>
            </a:r>
            <a:r>
              <a:rPr lang="zh-CN" altLang="en-US" sz="1800" kern="100" dirty="0">
                <a:effectLst/>
                <a:latin typeface="宋体" panose="02010600030101010101" pitchFamily="2" charset="-122"/>
                <a:ea typeface="宋体" panose="02010600030101010101" pitchFamily="2" charset="-122"/>
              </a:rPr>
              <a:t>补码          </a:t>
            </a:r>
            <a:r>
              <a:rPr lang="en-US" altLang="zh-CN" sz="1800" kern="100" dirty="0">
                <a:effectLst/>
                <a:latin typeface="Times New Roman" panose="02020603050405020304" pitchFamily="18" charset="0"/>
              </a:rPr>
              <a:t>(D) </a:t>
            </a:r>
            <a:r>
              <a:rPr lang="zh-CN" altLang="en-US" sz="1800" kern="100" dirty="0">
                <a:effectLst/>
                <a:latin typeface="宋体" panose="02010600030101010101" pitchFamily="2" charset="-122"/>
                <a:ea typeface="宋体" panose="02010600030101010101" pitchFamily="2" charset="-122"/>
              </a:rPr>
              <a:t>真值</a:t>
            </a:r>
            <a:endParaRPr lang="en-US" altLang="zh-CN" sz="1800" kern="100" dirty="0">
              <a:effectLst/>
              <a:latin typeface="宋体" panose="02010600030101010101" pitchFamily="2" charset="-122"/>
              <a:ea typeface="宋体" panose="02010600030101010101" pitchFamily="2" charset="-122"/>
            </a:endParaRPr>
          </a:p>
          <a:p>
            <a:r>
              <a:rPr lang="en-US" altLang="zh-CN" dirty="0"/>
              <a:t>3</a:t>
            </a:r>
            <a:r>
              <a:rPr lang="zh-CN" altLang="en-US" dirty="0"/>
              <a:t>、</a:t>
            </a:r>
            <a:r>
              <a:rPr lang="en-US" altLang="zh-CN" dirty="0"/>
              <a:t>-49D</a:t>
            </a:r>
            <a:r>
              <a:rPr lang="zh-CN" altLang="en-US" dirty="0"/>
              <a:t>的二进制补码为 </a:t>
            </a:r>
            <a:r>
              <a:rPr lang="en-US" altLang="zh-CN" dirty="0"/>
              <a:t>(    ) </a:t>
            </a:r>
            <a:r>
              <a:rPr lang="zh-CN" altLang="en-US" dirty="0"/>
              <a:t>。</a:t>
            </a:r>
          </a:p>
          <a:p>
            <a:r>
              <a:rPr lang="en-US" altLang="zh-CN" dirty="0"/>
              <a:t>A</a:t>
            </a:r>
            <a:r>
              <a:rPr lang="zh-CN" altLang="en-US" dirty="0"/>
              <a:t>、</a:t>
            </a:r>
            <a:r>
              <a:rPr lang="en-US" altLang="zh-CN" dirty="0"/>
              <a:t>11100010      B</a:t>
            </a:r>
            <a:r>
              <a:rPr lang="zh-CN" altLang="en-US" dirty="0"/>
              <a:t>、</a:t>
            </a:r>
            <a:r>
              <a:rPr lang="en-US" altLang="zh-CN" dirty="0"/>
              <a:t>11001111      C</a:t>
            </a:r>
            <a:r>
              <a:rPr lang="zh-CN" altLang="en-US" dirty="0"/>
              <a:t>、</a:t>
            </a:r>
            <a:r>
              <a:rPr lang="en-US" altLang="zh-CN" dirty="0"/>
              <a:t>00011101      </a:t>
            </a:r>
            <a:r>
              <a:rPr lang="zh-CN" altLang="en-US" dirty="0"/>
              <a:t>  </a:t>
            </a:r>
            <a:r>
              <a:rPr lang="en-US" altLang="zh-CN" dirty="0"/>
              <a:t>D</a:t>
            </a:r>
            <a:r>
              <a:rPr lang="zh-CN" altLang="en-US" dirty="0"/>
              <a:t>、</a:t>
            </a:r>
            <a:r>
              <a:rPr lang="en-US" altLang="zh-CN" dirty="0"/>
              <a:t>00001111</a:t>
            </a:r>
          </a:p>
          <a:p>
            <a:r>
              <a:rPr lang="en-US" altLang="zh-CN" dirty="0"/>
              <a:t>4. </a:t>
            </a:r>
            <a:r>
              <a:rPr lang="zh-CN" altLang="en-US" dirty="0"/>
              <a:t>数值转换</a:t>
            </a:r>
            <a:endParaRPr lang="en-US" altLang="zh-CN" dirty="0"/>
          </a:p>
          <a:p>
            <a:r>
              <a:rPr lang="zh-CN" altLang="en-US" dirty="0"/>
              <a:t>（</a:t>
            </a:r>
            <a:r>
              <a:rPr lang="en-US" altLang="zh-CN" dirty="0"/>
              <a:t>1</a:t>
            </a:r>
            <a:r>
              <a:rPr lang="zh-CN" altLang="en-US" dirty="0"/>
              <a:t>）</a:t>
            </a:r>
            <a:r>
              <a:rPr lang="en-US" altLang="zh-CN" dirty="0"/>
              <a:t>37=</a:t>
            </a:r>
            <a:r>
              <a:rPr lang="zh-CN" altLang="en-US" dirty="0"/>
              <a:t>（）</a:t>
            </a:r>
            <a:r>
              <a:rPr lang="en-US" altLang="zh-CN" dirty="0"/>
              <a:t>B=</a:t>
            </a:r>
            <a:r>
              <a:rPr lang="zh-CN" altLang="en-US" dirty="0"/>
              <a:t>（）</a:t>
            </a:r>
            <a:r>
              <a:rPr lang="en-US" altLang="zh-CN" dirty="0"/>
              <a:t>H</a:t>
            </a:r>
          </a:p>
          <a:p>
            <a:r>
              <a:rPr lang="zh-CN" altLang="en-US" dirty="0"/>
              <a:t>（</a:t>
            </a:r>
            <a:r>
              <a:rPr lang="en-US" altLang="zh-CN" dirty="0"/>
              <a:t>2</a:t>
            </a:r>
            <a:r>
              <a:rPr lang="zh-CN" altLang="en-US" dirty="0"/>
              <a:t>）</a:t>
            </a:r>
            <a:r>
              <a:rPr lang="en-US" altLang="zh-CN" dirty="0"/>
              <a:t>12.875=</a:t>
            </a:r>
            <a:r>
              <a:rPr lang="zh-CN" altLang="en-US" dirty="0"/>
              <a:t>（）</a:t>
            </a:r>
            <a:r>
              <a:rPr lang="en-US" altLang="zh-CN" dirty="0"/>
              <a:t>B=</a:t>
            </a:r>
            <a:r>
              <a:rPr lang="zh-CN" altLang="en-US" dirty="0"/>
              <a:t>（）</a:t>
            </a:r>
            <a:r>
              <a:rPr lang="en-US" altLang="zh-CN" dirty="0"/>
              <a:t>H</a:t>
            </a:r>
          </a:p>
          <a:p>
            <a:r>
              <a:rPr lang="zh-CN" altLang="en-US" dirty="0"/>
              <a:t>（</a:t>
            </a:r>
            <a:r>
              <a:rPr lang="en-US" altLang="zh-CN" dirty="0"/>
              <a:t>3</a:t>
            </a:r>
            <a:r>
              <a:rPr lang="zh-CN" altLang="en-US" dirty="0"/>
              <a:t>）</a:t>
            </a:r>
            <a:r>
              <a:rPr lang="en-US" altLang="zh-CN" dirty="0"/>
              <a:t>10110011B=</a:t>
            </a:r>
            <a:r>
              <a:rPr lang="zh-CN" altLang="en-US" dirty="0"/>
              <a:t>（）</a:t>
            </a:r>
            <a:r>
              <a:rPr lang="en-US" altLang="zh-CN" dirty="0"/>
              <a:t>H=</a:t>
            </a:r>
            <a:r>
              <a:rPr lang="zh-CN" altLang="en-US" dirty="0"/>
              <a:t>（）</a:t>
            </a:r>
            <a:r>
              <a:rPr lang="en-US" altLang="zh-CN" baseline="-25000" dirty="0"/>
              <a:t>10</a:t>
            </a:r>
          </a:p>
          <a:p>
            <a:r>
              <a:rPr lang="zh-CN" altLang="en-US" dirty="0"/>
              <a:t>（</a:t>
            </a:r>
            <a:r>
              <a:rPr lang="en-US" altLang="zh-CN" dirty="0"/>
              <a:t>4</a:t>
            </a:r>
            <a:r>
              <a:rPr lang="zh-CN" altLang="en-US" dirty="0"/>
              <a:t>）</a:t>
            </a:r>
            <a:r>
              <a:rPr lang="en-US" altLang="zh-CN" dirty="0"/>
              <a:t>10111.101B=</a:t>
            </a:r>
            <a:r>
              <a:rPr lang="zh-CN" altLang="en-US" dirty="0"/>
              <a:t>（）</a:t>
            </a:r>
            <a:r>
              <a:rPr lang="en-US" altLang="zh-CN" dirty="0"/>
              <a:t>H=</a:t>
            </a:r>
            <a:r>
              <a:rPr lang="zh-CN" altLang="en-US" dirty="0"/>
              <a:t>（）</a:t>
            </a:r>
            <a:r>
              <a:rPr lang="en-US" altLang="zh-CN" dirty="0"/>
              <a:t>D</a:t>
            </a:r>
          </a:p>
          <a:p>
            <a:r>
              <a:rPr lang="zh-CN" altLang="en-US" dirty="0"/>
              <a:t>（</a:t>
            </a:r>
            <a:r>
              <a:rPr lang="en-US" altLang="zh-CN" dirty="0"/>
              <a:t>5</a:t>
            </a:r>
            <a:r>
              <a:rPr lang="zh-CN" altLang="en-US" dirty="0"/>
              <a:t>）</a:t>
            </a:r>
            <a:r>
              <a:rPr lang="en-US" altLang="zh-CN" dirty="0"/>
              <a:t>56H=</a:t>
            </a:r>
            <a:r>
              <a:rPr lang="zh-CN" altLang="en-US" dirty="0"/>
              <a:t>（）</a:t>
            </a:r>
            <a:r>
              <a:rPr lang="en-US" altLang="zh-CN" dirty="0"/>
              <a:t>B=</a:t>
            </a:r>
            <a:r>
              <a:rPr lang="zh-CN" altLang="en-US" dirty="0"/>
              <a:t>（）</a:t>
            </a:r>
            <a:r>
              <a:rPr lang="en-US" altLang="zh-CN" baseline="-25000" dirty="0"/>
              <a:t>10</a:t>
            </a:r>
          </a:p>
          <a:p>
            <a:r>
              <a:rPr lang="zh-CN" altLang="en-US" dirty="0"/>
              <a:t>（</a:t>
            </a:r>
            <a:r>
              <a:rPr lang="en-US" altLang="zh-CN" dirty="0"/>
              <a:t>6</a:t>
            </a:r>
            <a:r>
              <a:rPr lang="zh-CN" altLang="en-US" dirty="0"/>
              <a:t>）</a:t>
            </a:r>
            <a:r>
              <a:rPr lang="en-US" altLang="zh-CN" dirty="0"/>
              <a:t>3DFH=</a:t>
            </a:r>
            <a:r>
              <a:rPr lang="zh-CN" altLang="en-US" dirty="0"/>
              <a:t>（）</a:t>
            </a:r>
            <a:r>
              <a:rPr lang="en-US" altLang="zh-CN" dirty="0"/>
              <a:t>B=</a:t>
            </a:r>
            <a:r>
              <a:rPr lang="zh-CN" altLang="en-US" dirty="0"/>
              <a:t>（）</a:t>
            </a:r>
            <a:r>
              <a:rPr lang="en-US" altLang="zh-CN" dirty="0"/>
              <a:t>D</a:t>
            </a:r>
          </a:p>
          <a:p>
            <a:r>
              <a:rPr lang="zh-CN" altLang="en-US" dirty="0"/>
              <a:t>（</a:t>
            </a:r>
            <a:r>
              <a:rPr lang="en-US" altLang="zh-CN" dirty="0"/>
              <a:t>7</a:t>
            </a:r>
            <a:r>
              <a:rPr lang="zh-CN" altLang="en-US" dirty="0"/>
              <a:t>）</a:t>
            </a:r>
            <a:r>
              <a:rPr lang="en-US" altLang="zh-CN" dirty="0"/>
              <a:t>1A.F=</a:t>
            </a:r>
            <a:r>
              <a:rPr lang="zh-CN" altLang="en-US" dirty="0"/>
              <a:t>（）</a:t>
            </a:r>
            <a:r>
              <a:rPr lang="en-US" altLang="zh-CN" dirty="0"/>
              <a:t>B=</a:t>
            </a:r>
            <a:r>
              <a:rPr lang="zh-CN" altLang="en-US" dirty="0"/>
              <a:t>（）</a:t>
            </a:r>
            <a:r>
              <a:rPr lang="en-US" altLang="zh-CN" dirty="0"/>
              <a:t>D</a:t>
            </a:r>
          </a:p>
          <a:p>
            <a:r>
              <a:rPr lang="zh-CN" altLang="en-US" dirty="0"/>
              <a:t>（</a:t>
            </a:r>
            <a:r>
              <a:rPr lang="en-US" altLang="zh-CN" dirty="0"/>
              <a:t>8</a:t>
            </a:r>
            <a:r>
              <a:rPr lang="zh-CN" altLang="en-US" dirty="0"/>
              <a:t>）</a:t>
            </a:r>
            <a:r>
              <a:rPr lang="en-US" altLang="zh-CN" dirty="0"/>
              <a:t>3C4DH=</a:t>
            </a:r>
            <a:r>
              <a:rPr lang="zh-CN" altLang="en-US" dirty="0"/>
              <a:t>（）</a:t>
            </a:r>
            <a:r>
              <a:rPr lang="en-US" altLang="zh-CN" dirty="0"/>
              <a:t>B=()D</a:t>
            </a:r>
            <a:endParaRPr lang="zh-CN" altLang="en-US" dirty="0"/>
          </a:p>
          <a:p>
            <a:pPr marR="0" algn="just">
              <a:lnSpc>
                <a:spcPct val="150000"/>
              </a:lnSpc>
            </a:pPr>
            <a:endParaRPr lang="zh-CN" altLang="en-US" sz="1400" kern="100" dirty="0">
              <a:effectLst/>
              <a:latin typeface="Times New Roman" panose="02020603050405020304" pitchFamily="18" charset="0"/>
            </a:endParaRPr>
          </a:p>
        </p:txBody>
      </p:sp>
    </p:spTree>
    <p:extLst>
      <p:ext uri="{BB962C8B-B14F-4D97-AF65-F5344CB8AC3E}">
        <p14:creationId xmlns:p14="http://schemas.microsoft.com/office/powerpoint/2010/main" val="2746941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文本框 5"/>
          <p:cNvSpPr txBox="1">
            <a:spLocks noChangeArrowheads="1"/>
          </p:cNvSpPr>
          <p:nvPr/>
        </p:nvSpPr>
        <p:spPr bwMode="auto">
          <a:xfrm>
            <a:off x="849314" y="2187575"/>
            <a:ext cx="8043862" cy="3508653"/>
          </a:xfrm>
          <a:prstGeom prst="rect">
            <a:avLst/>
          </a:prstGeom>
          <a:noFill/>
          <a:ln w="9525">
            <a:noFill/>
            <a:miter lim="800000"/>
          </a:ln>
        </p:spPr>
        <p:txBody>
          <a:bodyPr wrap="square">
            <a:spAutoFit/>
          </a:bodyPr>
          <a:lstStyle/>
          <a:p>
            <a:pPr lvl="0" algn="just">
              <a:lnSpc>
                <a:spcPct val="150000"/>
              </a:lnSpc>
            </a:pPr>
            <a:r>
              <a:rPr lang="zh-CN" altLang="en-US" sz="2800" b="1" dirty="0">
                <a:solidFill>
                  <a:srgbClr val="7030A0"/>
                </a:solidFill>
                <a:latin typeface="微软雅黑" panose="020B0503020204020204" pitchFamily="34" charset="-122"/>
                <a:ea typeface="微软雅黑" panose="020B0503020204020204" pitchFamily="34" charset="-122"/>
              </a:rPr>
              <a:t>本章目录</a:t>
            </a:r>
            <a:endParaRPr lang="en-US" altLang="zh-CN" sz="2800" b="1" dirty="0">
              <a:solidFill>
                <a:srgbClr val="7030A0"/>
              </a:solidFill>
              <a:latin typeface="微软雅黑" panose="020B0503020204020204" pitchFamily="34" charset="-122"/>
              <a:ea typeface="微软雅黑" panose="020B0503020204020204" pitchFamily="34" charset="-122"/>
            </a:endParaRPr>
          </a:p>
          <a:p>
            <a:pPr algn="just">
              <a:lnSpc>
                <a:spcPct val="150000"/>
              </a:lnSpc>
            </a:pPr>
            <a:r>
              <a:rPr lang="en-US" altLang="zh-CN" sz="2400" dirty="0">
                <a:solidFill>
                  <a:srgbClr val="000000"/>
                </a:solidFill>
                <a:latin typeface="微软雅黑" panose="020B0503020204020204" pitchFamily="34" charset="-122"/>
                <a:ea typeface="微软雅黑" panose="020B0503020204020204" pitchFamily="34" charset="-122"/>
              </a:rPr>
              <a:t>2.1 MCS-51</a:t>
            </a:r>
            <a:r>
              <a:rPr lang="zh-CN" altLang="en-US" sz="2400" dirty="0">
                <a:solidFill>
                  <a:srgbClr val="000000"/>
                </a:solidFill>
                <a:latin typeface="微软雅黑" panose="020B0503020204020204" pitchFamily="34" charset="-122"/>
                <a:ea typeface="微软雅黑" panose="020B0503020204020204" pitchFamily="34" charset="-122"/>
              </a:rPr>
              <a:t>单片机总体结构</a:t>
            </a:r>
          </a:p>
          <a:p>
            <a:pPr algn="just">
              <a:lnSpc>
                <a:spcPct val="150000"/>
              </a:lnSpc>
            </a:pPr>
            <a:r>
              <a:rPr lang="en-US" altLang="zh-CN" sz="2400" dirty="0">
                <a:solidFill>
                  <a:srgbClr val="000000"/>
                </a:solidFill>
                <a:latin typeface="微软雅黑" panose="020B0503020204020204" pitchFamily="34" charset="-122"/>
                <a:ea typeface="微软雅黑" panose="020B0503020204020204" pitchFamily="34" charset="-122"/>
              </a:rPr>
              <a:t>2.2 MCS-51</a:t>
            </a:r>
            <a:r>
              <a:rPr lang="zh-CN" altLang="en-US" sz="2400" dirty="0">
                <a:solidFill>
                  <a:srgbClr val="000000"/>
                </a:solidFill>
                <a:latin typeface="微软雅黑" panose="020B0503020204020204" pitchFamily="34" charset="-122"/>
                <a:ea typeface="微软雅黑" panose="020B0503020204020204" pitchFamily="34" charset="-122"/>
              </a:rPr>
              <a:t>存储结构及位处理器</a:t>
            </a:r>
          </a:p>
          <a:p>
            <a:pPr algn="just">
              <a:lnSpc>
                <a:spcPct val="150000"/>
              </a:lnSpc>
            </a:pPr>
            <a:r>
              <a:rPr lang="en-US" altLang="zh-CN" sz="2400" dirty="0">
                <a:solidFill>
                  <a:srgbClr val="000000"/>
                </a:solidFill>
                <a:latin typeface="微软雅黑" panose="020B0503020204020204" pitchFamily="34" charset="-122"/>
                <a:ea typeface="微软雅黑" panose="020B0503020204020204" pitchFamily="34" charset="-122"/>
              </a:rPr>
              <a:t>2.3 MCS-51</a:t>
            </a:r>
            <a:r>
              <a:rPr lang="zh-CN" altLang="en-US" sz="2400" dirty="0">
                <a:solidFill>
                  <a:srgbClr val="000000"/>
                </a:solidFill>
                <a:latin typeface="微软雅黑" panose="020B0503020204020204" pitchFamily="34" charset="-122"/>
                <a:ea typeface="微软雅黑" panose="020B0503020204020204" pitchFamily="34" charset="-122"/>
              </a:rPr>
              <a:t>的工作方式</a:t>
            </a:r>
          </a:p>
          <a:p>
            <a:pPr algn="just">
              <a:lnSpc>
                <a:spcPct val="150000"/>
              </a:lnSpc>
            </a:pPr>
            <a:r>
              <a:rPr lang="en-US" altLang="zh-CN" sz="2400" dirty="0">
                <a:solidFill>
                  <a:srgbClr val="000000"/>
                </a:solidFill>
                <a:latin typeface="微软雅黑" panose="020B0503020204020204" pitchFamily="34" charset="-122"/>
                <a:ea typeface="微软雅黑" panose="020B0503020204020204" pitchFamily="34" charset="-122"/>
              </a:rPr>
              <a:t>2.4 MCS-51</a:t>
            </a:r>
            <a:r>
              <a:rPr lang="zh-CN" altLang="en-US" sz="2400" dirty="0">
                <a:solidFill>
                  <a:srgbClr val="000000"/>
                </a:solidFill>
                <a:latin typeface="微软雅黑" panose="020B0503020204020204" pitchFamily="34" charset="-122"/>
                <a:ea typeface="微软雅黑" panose="020B0503020204020204" pitchFamily="34" charset="-122"/>
              </a:rPr>
              <a:t>单片机的时序</a:t>
            </a:r>
            <a:endParaRPr lang="en-US" altLang="zh-CN" sz="2400" dirty="0">
              <a:solidFill>
                <a:srgbClr val="000000"/>
              </a:solidFill>
              <a:latin typeface="微软雅黑" panose="020B0503020204020204" pitchFamily="34" charset="-122"/>
              <a:ea typeface="微软雅黑" panose="020B0503020204020204" pitchFamily="34" charset="-122"/>
            </a:endParaRPr>
          </a:p>
          <a:p>
            <a:pPr algn="just">
              <a:lnSpc>
                <a:spcPct val="150000"/>
              </a:lnSpc>
            </a:pPr>
            <a:r>
              <a:rPr lang="en-US" altLang="zh-CN" sz="2400" dirty="0">
                <a:solidFill>
                  <a:srgbClr val="000000"/>
                </a:solidFill>
                <a:latin typeface="微软雅黑" panose="020B0503020204020204" pitchFamily="34" charset="-122"/>
                <a:ea typeface="微软雅黑" panose="020B0503020204020204" pitchFamily="34" charset="-122"/>
              </a:rPr>
              <a:t>2.5 </a:t>
            </a:r>
            <a:r>
              <a:rPr lang="zh-CN" altLang="en-US" sz="2400" dirty="0">
                <a:solidFill>
                  <a:srgbClr val="000000"/>
                </a:solidFill>
                <a:latin typeface="微软雅黑" panose="020B0503020204020204" pitchFamily="34" charset="-122"/>
                <a:ea typeface="微软雅黑" panose="020B0503020204020204" pitchFamily="34" charset="-122"/>
              </a:rPr>
              <a:t>单片机最小系统</a:t>
            </a:r>
            <a:endParaRPr lang="zh-CN" altLang="en-US" dirty="0">
              <a:latin typeface="Calibri" panose="020F0502020204030204" pitchFamily="34" charset="0"/>
            </a:endParaRPr>
          </a:p>
        </p:txBody>
      </p:sp>
      <p:sp>
        <p:nvSpPr>
          <p:cNvPr id="14338" name="文本框 6"/>
          <p:cNvSpPr txBox="1">
            <a:spLocks noChangeArrowheads="1"/>
          </p:cNvSpPr>
          <p:nvPr/>
        </p:nvSpPr>
        <p:spPr bwMode="auto">
          <a:xfrm>
            <a:off x="268288" y="1106488"/>
            <a:ext cx="8624887" cy="646112"/>
          </a:xfrm>
          <a:prstGeom prst="rect">
            <a:avLst/>
          </a:prstGeom>
          <a:noFill/>
          <a:ln w="9525">
            <a:noFill/>
            <a:miter lim="800000"/>
          </a:ln>
        </p:spPr>
        <p:txBody>
          <a:bodyPr>
            <a:spAutoFit/>
          </a:bodyPr>
          <a:lstStyle/>
          <a:p>
            <a:pPr algn="ctr"/>
            <a:r>
              <a:rPr lang="zh-CN" altLang="en-US" sz="3600">
                <a:solidFill>
                  <a:srgbClr val="000000"/>
                </a:solidFill>
                <a:latin typeface="微软雅黑" panose="020B0503020204020204" pitchFamily="34" charset="-122"/>
                <a:ea typeface="微软雅黑" panose="020B0503020204020204" pitchFamily="34" charset="-122"/>
              </a:rPr>
              <a:t>第2章  MCS-51单片机硬件结构</a:t>
            </a:r>
          </a:p>
        </p:txBody>
      </p:sp>
      <p:pic>
        <p:nvPicPr>
          <p:cNvPr id="14339"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4340"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71550" y="2005013"/>
            <a:ext cx="7921625" cy="2954655"/>
          </a:xfrm>
          <a:prstGeom prst="rect">
            <a:avLst/>
          </a:prstGeom>
          <a:noFill/>
        </p:spPr>
        <p:txBody>
          <a:bodyPr>
            <a:spAutoFit/>
          </a:bodyPr>
          <a:lstStyle/>
          <a:p>
            <a:pPr lvl="0" algn="just">
              <a:lnSpc>
                <a:spcPct val="150000"/>
              </a:lnSpc>
            </a:pPr>
            <a:r>
              <a:rPr lang="zh-CN" altLang="en-US" sz="2800" b="1" dirty="0">
                <a:solidFill>
                  <a:srgbClr val="7030A0"/>
                </a:solidFill>
                <a:latin typeface="微软雅黑" panose="020B0503020204020204" pitchFamily="34" charset="-122"/>
                <a:ea typeface="微软雅黑" panose="020B0503020204020204" pitchFamily="34" charset="-122"/>
              </a:rPr>
              <a:t>教学目标</a:t>
            </a:r>
            <a:endParaRPr lang="en-US" altLang="zh-CN" sz="2800" b="1" dirty="0">
              <a:solidFill>
                <a:srgbClr val="7030A0"/>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1. </a:t>
            </a:r>
            <a:r>
              <a:rPr lang="zh-CN" altLang="en-US" sz="2400" dirty="0">
                <a:solidFill>
                  <a:srgbClr val="0000FF"/>
                </a:solidFill>
                <a:latin typeface="微软雅黑" panose="020B0503020204020204" pitchFamily="34" charset="-122"/>
                <a:ea typeface="微软雅黑" panose="020B0503020204020204" pitchFamily="34" charset="-122"/>
              </a:rPr>
              <a:t>掌握</a:t>
            </a: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单片机基本结构 </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2. </a:t>
            </a:r>
            <a:r>
              <a:rPr lang="zh-CN" altLang="en-US" sz="2400" dirty="0">
                <a:solidFill>
                  <a:srgbClr val="0000FF"/>
                </a:solidFill>
                <a:latin typeface="微软雅黑" panose="020B0503020204020204" pitchFamily="34" charset="-122"/>
                <a:ea typeface="微软雅黑" panose="020B0503020204020204" pitchFamily="34" charset="-122"/>
              </a:rPr>
              <a:t>熟悉</a:t>
            </a: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单片机引脚功能及应用特点 </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3. </a:t>
            </a:r>
            <a:r>
              <a:rPr lang="zh-CN" altLang="en-US" sz="2400" dirty="0">
                <a:solidFill>
                  <a:srgbClr val="0000FF"/>
                </a:solidFill>
                <a:latin typeface="微软雅黑" panose="020B0503020204020204" pitchFamily="34" charset="-122"/>
                <a:ea typeface="微软雅黑" panose="020B0503020204020204" pitchFamily="34" charset="-122"/>
              </a:rPr>
              <a:t>熟悉</a:t>
            </a:r>
            <a:r>
              <a:rPr lang="zh-CN" altLang="en-US" sz="2400" dirty="0">
                <a:solidFill>
                  <a:prstClr val="black"/>
                </a:solidFill>
                <a:latin typeface="微软雅黑" panose="020B0503020204020204" pitchFamily="34" charset="-122"/>
                <a:ea typeface="微软雅黑" panose="020B0503020204020204" pitchFamily="34" charset="-122"/>
              </a:rPr>
              <a:t>片内数据存储器和特殊功能寄存器组织特点</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4. </a:t>
            </a:r>
            <a:r>
              <a:rPr lang="zh-CN" altLang="en-US" sz="2400" dirty="0">
                <a:solidFill>
                  <a:srgbClr val="0000FF"/>
                </a:solidFill>
                <a:latin typeface="微软雅黑" panose="020B0503020204020204" pitchFamily="34" charset="-122"/>
                <a:ea typeface="微软雅黑" panose="020B0503020204020204" pitchFamily="34" charset="-122"/>
              </a:rPr>
              <a:t>了解</a:t>
            </a:r>
            <a:r>
              <a:rPr lang="zh-CN" altLang="en-US" sz="2400" dirty="0">
                <a:solidFill>
                  <a:prstClr val="black"/>
                </a:solidFill>
                <a:latin typeface="微软雅黑" panose="020B0503020204020204" pitchFamily="34" charset="-122"/>
                <a:ea typeface="微软雅黑" panose="020B0503020204020204" pitchFamily="34" charset="-122"/>
              </a:rPr>
              <a:t>单片机的工作方式、典型的</a:t>
            </a:r>
            <a:r>
              <a:rPr lang="en-US" altLang="zh-CN" sz="2400" dirty="0">
                <a:solidFill>
                  <a:prstClr val="black"/>
                </a:solidFill>
                <a:latin typeface="微软雅黑" panose="020B0503020204020204" pitchFamily="34" charset="-122"/>
                <a:ea typeface="微软雅黑" panose="020B0503020204020204" pitchFamily="34" charset="-122"/>
              </a:rPr>
              <a:t>CPU</a:t>
            </a:r>
            <a:r>
              <a:rPr lang="zh-CN" altLang="en-US" sz="2400" dirty="0">
                <a:solidFill>
                  <a:prstClr val="black"/>
                </a:solidFill>
                <a:latin typeface="微软雅黑" panose="020B0503020204020204" pitchFamily="34" charset="-122"/>
                <a:ea typeface="微软雅黑" panose="020B0503020204020204" pitchFamily="34" charset="-122"/>
              </a:rPr>
              <a:t>时序、最小系统 </a:t>
            </a:r>
            <a:endParaRPr lang="zh-CN" altLang="en-US" dirty="0">
              <a:latin typeface="+mn-lt"/>
              <a:ea typeface="+mn-ea"/>
            </a:endParaRPr>
          </a:p>
        </p:txBody>
      </p:sp>
      <p:sp>
        <p:nvSpPr>
          <p:cNvPr id="15362" name="文本框 3"/>
          <p:cNvSpPr txBox="1">
            <a:spLocks noChangeArrowheads="1"/>
          </p:cNvSpPr>
          <p:nvPr/>
        </p:nvSpPr>
        <p:spPr bwMode="auto">
          <a:xfrm>
            <a:off x="268288" y="1106488"/>
            <a:ext cx="8624887" cy="646112"/>
          </a:xfrm>
          <a:prstGeom prst="rect">
            <a:avLst/>
          </a:prstGeom>
          <a:noFill/>
          <a:ln w="9525">
            <a:noFill/>
            <a:miter lim="800000"/>
          </a:ln>
        </p:spPr>
        <p:txBody>
          <a:bodyPr>
            <a:spAutoFit/>
          </a:bodyPr>
          <a:lstStyle/>
          <a:p>
            <a:pPr algn="ctr"/>
            <a:r>
              <a:rPr lang="zh-CN" altLang="en-US" sz="3600">
                <a:solidFill>
                  <a:srgbClr val="000000"/>
                </a:solidFill>
                <a:latin typeface="微软雅黑" panose="020B0503020204020204" pitchFamily="34" charset="-122"/>
                <a:ea typeface="微软雅黑" panose="020B0503020204020204" pitchFamily="34" charset="-122"/>
              </a:rPr>
              <a:t>第2章  MCS-51单片机硬件结构</a:t>
            </a:r>
          </a:p>
        </p:txBody>
      </p:sp>
      <p:pic>
        <p:nvPicPr>
          <p:cNvPr id="15363" name="图片 4"/>
          <p:cNvPicPr>
            <a:picLocks noChangeAspect="1"/>
          </p:cNvPicPr>
          <p:nvPr/>
        </p:nvPicPr>
        <p:blipFill>
          <a:blip r:embed="rId2"/>
          <a:srcRect/>
          <a:stretch>
            <a:fillRect/>
          </a:stretch>
        </p:blipFill>
        <p:spPr bwMode="auto">
          <a:xfrm>
            <a:off x="7018338" y="80963"/>
            <a:ext cx="1876425" cy="539750"/>
          </a:xfrm>
          <a:prstGeom prst="rect">
            <a:avLst/>
          </a:prstGeom>
          <a:noFill/>
          <a:ln w="9525">
            <a:noFill/>
            <a:miter lim="800000"/>
            <a:headEnd/>
            <a:tailEnd/>
          </a:ln>
        </p:spPr>
      </p:pic>
      <p:pic>
        <p:nvPicPr>
          <p:cNvPr id="15364" name="图片 5"/>
          <p:cNvPicPr>
            <a:picLocks noChangeAspect="1"/>
          </p:cNvPicPr>
          <p:nvPr/>
        </p:nvPicPr>
        <p:blipFill>
          <a:blip r:embed="rId3"/>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文本框 1"/>
          <p:cNvSpPr txBox="1">
            <a:spLocks noChangeArrowheads="1"/>
          </p:cNvSpPr>
          <p:nvPr/>
        </p:nvSpPr>
        <p:spPr bwMode="auto">
          <a:xfrm>
            <a:off x="257175" y="736600"/>
            <a:ext cx="8636000" cy="5632450"/>
          </a:xfrm>
          <a:prstGeom prst="rect">
            <a:avLst/>
          </a:prstGeom>
          <a:noFill/>
          <a:ln w="9525">
            <a:noFill/>
            <a:miter lim="800000"/>
          </a:ln>
        </p:spPr>
        <p:txBody>
          <a:bodyPr>
            <a:spAutoFit/>
          </a:bodyPr>
          <a:lstStyle/>
          <a:p>
            <a:pPr marL="342900" indent="-342900" algn="just">
              <a:lnSpc>
                <a:spcPct val="150000"/>
              </a:lnSpc>
              <a:buFont typeface="Wingdings" panose="05000000000000000000" pitchFamily="2" charset="2"/>
              <a:buChar char="p"/>
            </a:pPr>
            <a:r>
              <a:rPr lang="en-US" altLang="zh-CN" sz="2400" dirty="0">
                <a:solidFill>
                  <a:srgbClr val="000000"/>
                </a:solidFill>
                <a:latin typeface="微软雅黑" panose="020B0503020204020204" pitchFamily="34" charset="-122"/>
                <a:ea typeface="微软雅黑" panose="020B0503020204020204" pitchFamily="34" charset="-122"/>
              </a:rPr>
              <a:t>MCS-51</a:t>
            </a:r>
            <a:r>
              <a:rPr lang="zh-CN" altLang="en-US" sz="2400" dirty="0">
                <a:solidFill>
                  <a:srgbClr val="000000"/>
                </a:solidFill>
                <a:latin typeface="微软雅黑" panose="020B0503020204020204" pitchFamily="34" charset="-122"/>
                <a:ea typeface="微软雅黑" panose="020B0503020204020204" pitchFamily="34" charset="-122"/>
              </a:rPr>
              <a:t>系列单片机可分为两大系列：</a:t>
            </a:r>
            <a:r>
              <a:rPr lang="en-US" altLang="zh-CN" sz="2400" dirty="0">
                <a:solidFill>
                  <a:srgbClr val="000000"/>
                </a:solidFill>
                <a:latin typeface="微软雅黑" panose="020B0503020204020204" pitchFamily="34" charset="-122"/>
                <a:ea typeface="微软雅黑" panose="020B0503020204020204" pitchFamily="34" charset="-122"/>
              </a:rPr>
              <a:t>51</a:t>
            </a:r>
            <a:r>
              <a:rPr lang="zh-CN" altLang="en-US" sz="2400" dirty="0">
                <a:solidFill>
                  <a:srgbClr val="000000"/>
                </a:solidFill>
                <a:latin typeface="微软雅黑" panose="020B0503020204020204" pitchFamily="34" charset="-122"/>
                <a:ea typeface="微软雅黑" panose="020B0503020204020204" pitchFamily="34" charset="-122"/>
              </a:rPr>
              <a:t>子系列</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普通型</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和</a:t>
            </a:r>
            <a:r>
              <a:rPr lang="en-US" altLang="zh-CN" sz="2400" dirty="0">
                <a:solidFill>
                  <a:srgbClr val="000000"/>
                </a:solidFill>
                <a:latin typeface="微软雅黑" panose="020B0503020204020204" pitchFamily="34" charset="-122"/>
                <a:ea typeface="微软雅黑" panose="020B0503020204020204" pitchFamily="34" charset="-122"/>
              </a:rPr>
              <a:t>52</a:t>
            </a:r>
            <a:r>
              <a:rPr lang="zh-CN" altLang="en-US" sz="2400" dirty="0">
                <a:solidFill>
                  <a:srgbClr val="000000"/>
                </a:solidFill>
                <a:latin typeface="微软雅黑" panose="020B0503020204020204" pitchFamily="34" charset="-122"/>
                <a:ea typeface="微软雅黑" panose="020B0503020204020204" pitchFamily="34" charset="-122"/>
              </a:rPr>
              <a:t>子系列</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增强型</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a:t>
            </a:r>
            <a:endParaRPr lang="en-US" altLang="zh-CN" sz="2400" dirty="0">
              <a:solidFill>
                <a:srgbClr val="000000"/>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p"/>
            </a:pPr>
            <a:r>
              <a:rPr lang="en-US" altLang="zh-CN" sz="2400" dirty="0">
                <a:solidFill>
                  <a:srgbClr val="000000"/>
                </a:solidFill>
                <a:latin typeface="微软雅黑" panose="020B0503020204020204" pitchFamily="34" charset="-122"/>
                <a:ea typeface="微软雅黑" panose="020B0503020204020204" pitchFamily="34" charset="-122"/>
              </a:rPr>
              <a:t>51</a:t>
            </a:r>
            <a:r>
              <a:rPr lang="zh-CN" altLang="en-US" sz="2400" dirty="0">
                <a:solidFill>
                  <a:srgbClr val="000000"/>
                </a:solidFill>
                <a:latin typeface="微软雅黑" panose="020B0503020204020204" pitchFamily="34" charset="-122"/>
                <a:ea typeface="微软雅黑" panose="020B0503020204020204" pitchFamily="34" charset="-122"/>
              </a:rPr>
              <a:t>子系列单片机的典型产品有</a:t>
            </a:r>
            <a:r>
              <a:rPr lang="en-US" altLang="zh-CN" sz="2400" dirty="0">
                <a:solidFill>
                  <a:srgbClr val="000000"/>
                </a:solidFill>
                <a:latin typeface="微软雅黑" panose="020B0503020204020204" pitchFamily="34" charset="-122"/>
                <a:ea typeface="微软雅黑" panose="020B0503020204020204" pitchFamily="34" charset="-122"/>
              </a:rPr>
              <a:t>8031</a:t>
            </a:r>
            <a:r>
              <a:rPr lang="zh-CN" altLang="en-US" sz="2400" dirty="0">
                <a:solidFill>
                  <a:srgbClr val="000000"/>
                </a:solidFill>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8051</a:t>
            </a:r>
            <a:r>
              <a:rPr lang="zh-CN" altLang="en-US" sz="2400" dirty="0">
                <a:solidFill>
                  <a:srgbClr val="000000"/>
                </a:solidFill>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8751</a:t>
            </a:r>
            <a:r>
              <a:rPr lang="zh-CN" altLang="en-US" sz="2400" dirty="0">
                <a:solidFill>
                  <a:srgbClr val="000000"/>
                </a:solidFill>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80C51</a:t>
            </a:r>
            <a:r>
              <a:rPr lang="zh-CN" altLang="en-US" sz="2400" dirty="0">
                <a:solidFill>
                  <a:srgbClr val="000000"/>
                </a:solidFill>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80C31</a:t>
            </a:r>
            <a:r>
              <a:rPr lang="zh-CN" altLang="en-US" sz="2400" dirty="0">
                <a:solidFill>
                  <a:srgbClr val="000000"/>
                </a:solidFill>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89</a:t>
            </a:r>
            <a:r>
              <a:rPr lang="en-US" altLang="zh-CN" sz="2400" dirty="0">
                <a:solidFill>
                  <a:srgbClr val="FF0000"/>
                </a:solidFill>
                <a:latin typeface="微软雅黑" panose="020B0503020204020204" pitchFamily="34" charset="-122"/>
                <a:ea typeface="微软雅黑" panose="020B0503020204020204" pitchFamily="34" charset="-122"/>
              </a:rPr>
              <a:t>C</a:t>
            </a:r>
            <a:r>
              <a:rPr lang="en-US" altLang="zh-CN" sz="2400" dirty="0">
                <a:solidFill>
                  <a:srgbClr val="000000"/>
                </a:solidFill>
                <a:latin typeface="微软雅黑" panose="020B0503020204020204" pitchFamily="34" charset="-122"/>
                <a:ea typeface="微软雅黑" panose="020B0503020204020204" pitchFamily="34" charset="-122"/>
              </a:rPr>
              <a:t>51</a:t>
            </a:r>
            <a:r>
              <a:rPr lang="zh-CN" altLang="en-US" sz="2400" dirty="0">
                <a:solidFill>
                  <a:srgbClr val="000000"/>
                </a:solidFill>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89</a:t>
            </a:r>
            <a:r>
              <a:rPr lang="en-US" altLang="zh-CN" sz="2400" dirty="0">
                <a:solidFill>
                  <a:srgbClr val="FF0000"/>
                </a:solidFill>
                <a:latin typeface="微软雅黑" panose="020B0503020204020204" pitchFamily="34" charset="-122"/>
                <a:ea typeface="微软雅黑" panose="020B0503020204020204" pitchFamily="34" charset="-122"/>
              </a:rPr>
              <a:t>S</a:t>
            </a:r>
            <a:r>
              <a:rPr lang="en-US" altLang="zh-CN" sz="2400" dirty="0">
                <a:solidFill>
                  <a:srgbClr val="000000"/>
                </a:solidFill>
                <a:latin typeface="微软雅黑" panose="020B0503020204020204" pitchFamily="34" charset="-122"/>
                <a:ea typeface="微软雅黑" panose="020B0503020204020204" pitchFamily="34" charset="-122"/>
              </a:rPr>
              <a:t>51</a:t>
            </a:r>
            <a:r>
              <a:rPr lang="zh-CN" altLang="en-US" sz="2400" dirty="0">
                <a:solidFill>
                  <a:srgbClr val="000000"/>
                </a:solidFill>
                <a:latin typeface="微软雅黑" panose="020B0503020204020204" pitchFamily="34" charset="-122"/>
                <a:ea typeface="微软雅黑" panose="020B0503020204020204" pitchFamily="34" charset="-122"/>
              </a:rPr>
              <a:t>等。它们的</a:t>
            </a:r>
            <a:r>
              <a:rPr lang="zh-CN" altLang="en-US" sz="2400" b="1" dirty="0">
                <a:solidFill>
                  <a:srgbClr val="0000FF"/>
                </a:solidFill>
                <a:latin typeface="微软雅黑" panose="020B0503020204020204" pitchFamily="34" charset="-122"/>
                <a:ea typeface="微软雅黑" panose="020B0503020204020204" pitchFamily="34" charset="-122"/>
              </a:rPr>
              <a:t>结构基本相同</a:t>
            </a:r>
            <a:r>
              <a:rPr lang="zh-CN" altLang="en-US" sz="2400" dirty="0">
                <a:solidFill>
                  <a:srgbClr val="000000"/>
                </a:solidFill>
                <a:latin typeface="微软雅黑" panose="020B0503020204020204" pitchFamily="34" charset="-122"/>
                <a:ea typeface="微软雅黑" panose="020B0503020204020204" pitchFamily="34" charset="-122"/>
              </a:rPr>
              <a:t>，其主要差别反映在</a:t>
            </a:r>
            <a:r>
              <a:rPr lang="zh-CN" altLang="en-US" sz="2400" b="1" dirty="0">
                <a:solidFill>
                  <a:srgbClr val="0000FF"/>
                </a:solidFill>
                <a:latin typeface="微软雅黑" panose="020B0503020204020204" pitchFamily="34" charset="-122"/>
                <a:ea typeface="微软雅黑" panose="020B0503020204020204" pitchFamily="34" charset="-122"/>
              </a:rPr>
              <a:t>片内存储器</a:t>
            </a:r>
            <a:r>
              <a:rPr lang="zh-CN" altLang="en-US" sz="2400" dirty="0">
                <a:solidFill>
                  <a:srgbClr val="000000"/>
                </a:solidFill>
                <a:latin typeface="微软雅黑" panose="020B0503020204020204" pitchFamily="34" charset="-122"/>
                <a:ea typeface="微软雅黑" panose="020B0503020204020204" pitchFamily="34" charset="-122"/>
              </a:rPr>
              <a:t>的配置上有所不同。</a:t>
            </a:r>
            <a:r>
              <a:rPr lang="en-US" altLang="zh-CN" sz="2400" dirty="0">
                <a:solidFill>
                  <a:srgbClr val="000000"/>
                </a:solidFill>
                <a:latin typeface="微软雅黑" panose="020B0503020204020204" pitchFamily="34" charset="-122"/>
                <a:ea typeface="微软雅黑" panose="020B0503020204020204" pitchFamily="34" charset="-122"/>
              </a:rPr>
              <a:t>8051</a:t>
            </a:r>
            <a:r>
              <a:rPr lang="zh-CN" altLang="en-US" sz="2400" dirty="0">
                <a:solidFill>
                  <a:srgbClr val="000000"/>
                </a:solidFill>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80C51</a:t>
            </a:r>
            <a:r>
              <a:rPr lang="zh-CN" altLang="en-US" sz="2400" dirty="0">
                <a:solidFill>
                  <a:srgbClr val="000000"/>
                </a:solidFill>
                <a:latin typeface="微软雅黑" panose="020B0503020204020204" pitchFamily="34" charset="-122"/>
                <a:ea typeface="微软雅黑" panose="020B0503020204020204" pitchFamily="34" charset="-122"/>
              </a:rPr>
              <a:t>内含</a:t>
            </a:r>
            <a:r>
              <a:rPr lang="en-US" altLang="zh-CN" sz="2400" u="sng" dirty="0">
                <a:solidFill>
                  <a:srgbClr val="000000"/>
                </a:solidFill>
                <a:latin typeface="微软雅黑" panose="020B0503020204020204" pitchFamily="34" charset="-122"/>
                <a:ea typeface="微软雅黑" panose="020B0503020204020204" pitchFamily="34" charset="-122"/>
              </a:rPr>
              <a:t>4KB ROM</a:t>
            </a:r>
            <a:r>
              <a:rPr lang="zh-CN" altLang="en-US" sz="2400" dirty="0">
                <a:solidFill>
                  <a:srgbClr val="000000"/>
                </a:solidFill>
                <a:latin typeface="微软雅黑" panose="020B0503020204020204" pitchFamily="34" charset="-122"/>
                <a:ea typeface="微软雅黑" panose="020B0503020204020204" pitchFamily="34" charset="-122"/>
              </a:rPr>
              <a:t>、</a:t>
            </a:r>
            <a:r>
              <a:rPr lang="en-US" altLang="zh-CN" sz="2400" u="sng" dirty="0">
                <a:solidFill>
                  <a:srgbClr val="000000"/>
                </a:solidFill>
                <a:latin typeface="微软雅黑" panose="020B0503020204020204" pitchFamily="34" charset="-122"/>
                <a:ea typeface="微软雅黑" panose="020B0503020204020204" pitchFamily="34" charset="-122"/>
              </a:rPr>
              <a:t>128B RAM</a:t>
            </a:r>
            <a:r>
              <a:rPr lang="zh-CN" altLang="en-US" sz="2400" dirty="0">
                <a:solidFill>
                  <a:srgbClr val="000000"/>
                </a:solidFill>
                <a:latin typeface="微软雅黑" panose="020B0503020204020204" pitchFamily="34" charset="-122"/>
                <a:ea typeface="微软雅黑" panose="020B0503020204020204" pitchFamily="34" charset="-122"/>
              </a:rPr>
              <a:t>、可寻址范围</a:t>
            </a:r>
            <a:r>
              <a:rPr lang="en-US" altLang="zh-CN" sz="2400" dirty="0">
                <a:solidFill>
                  <a:srgbClr val="000000"/>
                </a:solidFill>
                <a:latin typeface="微软雅黑" panose="020B0503020204020204" pitchFamily="34" charset="-122"/>
                <a:ea typeface="微软雅黑" panose="020B0503020204020204" pitchFamily="34" charset="-122"/>
              </a:rPr>
              <a:t>64KB</a:t>
            </a:r>
            <a:r>
              <a:rPr lang="zh-CN" altLang="en-US" sz="2400" dirty="0">
                <a:solidFill>
                  <a:srgbClr val="000000"/>
                </a:solidFill>
                <a:latin typeface="微软雅黑" panose="020B0503020204020204" pitchFamily="34" charset="-122"/>
                <a:ea typeface="微软雅黑" panose="020B0503020204020204" pitchFamily="34" charset="-122"/>
              </a:rPr>
              <a:t>。</a:t>
            </a:r>
            <a:endParaRPr lang="en-US" altLang="zh-CN" sz="2400" dirty="0">
              <a:solidFill>
                <a:srgbClr val="000000"/>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p"/>
            </a:pPr>
            <a:r>
              <a:rPr lang="en-US" altLang="zh-CN" sz="2400" dirty="0">
                <a:solidFill>
                  <a:srgbClr val="000000"/>
                </a:solidFill>
                <a:latin typeface="微软雅黑" panose="020B0503020204020204" pitchFamily="34" charset="-122"/>
                <a:ea typeface="微软雅黑" panose="020B0503020204020204" pitchFamily="34" charset="-122"/>
              </a:rPr>
              <a:t>52</a:t>
            </a:r>
            <a:r>
              <a:rPr lang="zh-CN" altLang="en-US" sz="2400" dirty="0">
                <a:solidFill>
                  <a:srgbClr val="000000"/>
                </a:solidFill>
                <a:latin typeface="微软雅黑" panose="020B0503020204020204" pitchFamily="34" charset="-122"/>
                <a:ea typeface="微软雅黑" panose="020B0503020204020204" pitchFamily="34" charset="-122"/>
              </a:rPr>
              <a:t>子系列及兼容单片机的典型产品有</a:t>
            </a:r>
            <a:r>
              <a:rPr lang="en-US" altLang="zh-CN" sz="2400" dirty="0">
                <a:solidFill>
                  <a:srgbClr val="000000"/>
                </a:solidFill>
                <a:latin typeface="微软雅黑" panose="020B0503020204020204" pitchFamily="34" charset="-122"/>
                <a:ea typeface="微软雅黑" panose="020B0503020204020204" pitchFamily="34" charset="-122"/>
              </a:rPr>
              <a:t>8032</a:t>
            </a:r>
            <a:r>
              <a:rPr lang="zh-CN" altLang="en-US" sz="2400" dirty="0">
                <a:solidFill>
                  <a:srgbClr val="000000"/>
                </a:solidFill>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8052</a:t>
            </a:r>
            <a:r>
              <a:rPr lang="zh-CN" altLang="en-US" sz="2400" dirty="0">
                <a:solidFill>
                  <a:srgbClr val="000000"/>
                </a:solidFill>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8752</a:t>
            </a:r>
            <a:r>
              <a:rPr lang="zh-CN" altLang="en-US" sz="2400" dirty="0">
                <a:solidFill>
                  <a:srgbClr val="000000"/>
                </a:solidFill>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89C52</a:t>
            </a:r>
            <a:r>
              <a:rPr lang="zh-CN" altLang="en-US" sz="2400" dirty="0">
                <a:solidFill>
                  <a:srgbClr val="000000"/>
                </a:solidFill>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89S52</a:t>
            </a:r>
            <a:r>
              <a:rPr lang="zh-CN" altLang="en-US" sz="2400" dirty="0">
                <a:solidFill>
                  <a:srgbClr val="000000"/>
                </a:solidFill>
                <a:latin typeface="微软雅黑" panose="020B0503020204020204" pitchFamily="34" charset="-122"/>
                <a:ea typeface="微软雅黑" panose="020B0503020204020204" pitchFamily="34" charset="-122"/>
              </a:rPr>
              <a:t>等，其中，</a:t>
            </a:r>
            <a:r>
              <a:rPr lang="en-US" altLang="zh-CN" sz="2400" dirty="0">
                <a:solidFill>
                  <a:srgbClr val="000000"/>
                </a:solidFill>
                <a:latin typeface="微软雅黑" panose="020B0503020204020204" pitchFamily="34" charset="-122"/>
                <a:ea typeface="微软雅黑" panose="020B0503020204020204" pitchFamily="34" charset="-122"/>
              </a:rPr>
              <a:t>8052</a:t>
            </a:r>
            <a:r>
              <a:rPr lang="zh-CN" altLang="en-US" sz="2400" dirty="0">
                <a:solidFill>
                  <a:srgbClr val="000000"/>
                </a:solidFill>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8752</a:t>
            </a:r>
            <a:r>
              <a:rPr lang="zh-CN" altLang="en-US" sz="2400" dirty="0">
                <a:solidFill>
                  <a:srgbClr val="000000"/>
                </a:solidFill>
                <a:latin typeface="微软雅黑" panose="020B0503020204020204" pitchFamily="34" charset="-122"/>
                <a:ea typeface="微软雅黑" panose="020B0503020204020204" pitchFamily="34" charset="-122"/>
              </a:rPr>
              <a:t>内含</a:t>
            </a:r>
            <a:r>
              <a:rPr lang="en-US" altLang="zh-CN" sz="2400" u="sng" dirty="0">
                <a:solidFill>
                  <a:srgbClr val="000000"/>
                </a:solidFill>
                <a:latin typeface="微软雅黑" panose="020B0503020204020204" pitchFamily="34" charset="-122"/>
                <a:ea typeface="微软雅黑" panose="020B0503020204020204" pitchFamily="34" charset="-122"/>
              </a:rPr>
              <a:t>8KB</a:t>
            </a:r>
            <a:r>
              <a:rPr lang="zh-CN" altLang="en-US" sz="2400" dirty="0">
                <a:solidFill>
                  <a:srgbClr val="000000"/>
                </a:solidFill>
                <a:latin typeface="微软雅黑" panose="020B0503020204020204" pitchFamily="34" charset="-122"/>
                <a:ea typeface="微软雅黑" panose="020B0503020204020204" pitchFamily="34" charset="-122"/>
              </a:rPr>
              <a:t>的掩模</a:t>
            </a:r>
            <a:r>
              <a:rPr lang="en-US" altLang="zh-CN" sz="2400" dirty="0">
                <a:solidFill>
                  <a:srgbClr val="000000"/>
                </a:solidFill>
                <a:latin typeface="微软雅黑" panose="020B0503020204020204" pitchFamily="34" charset="-122"/>
                <a:ea typeface="微软雅黑" panose="020B0503020204020204" pitchFamily="34" charset="-122"/>
              </a:rPr>
              <a:t>ROM</a:t>
            </a:r>
            <a:r>
              <a:rPr lang="zh-CN" altLang="en-US" sz="2400" dirty="0">
                <a:solidFill>
                  <a:srgbClr val="000000"/>
                </a:solidFill>
                <a:latin typeface="微软雅黑" panose="020B0503020204020204" pitchFamily="34" charset="-122"/>
                <a:ea typeface="微软雅黑" panose="020B0503020204020204" pitchFamily="34" charset="-122"/>
              </a:rPr>
              <a:t>程序存储器和</a:t>
            </a:r>
            <a:r>
              <a:rPr lang="en-US" altLang="zh-CN" sz="2400" u="sng" dirty="0">
                <a:solidFill>
                  <a:srgbClr val="000000"/>
                </a:solidFill>
                <a:latin typeface="微软雅黑" panose="020B0503020204020204" pitchFamily="34" charset="-122"/>
                <a:ea typeface="微软雅黑" panose="020B0503020204020204" pitchFamily="34" charset="-122"/>
              </a:rPr>
              <a:t>256B RAM</a:t>
            </a:r>
            <a:r>
              <a:rPr lang="zh-CN" altLang="en-US" sz="2400" dirty="0">
                <a:solidFill>
                  <a:srgbClr val="000000"/>
                </a:solidFill>
                <a:latin typeface="微软雅黑" panose="020B0503020204020204" pitchFamily="34" charset="-122"/>
                <a:ea typeface="微软雅黑" panose="020B0503020204020204" pitchFamily="34" charset="-122"/>
              </a:rPr>
              <a:t>数据存储器。</a:t>
            </a:r>
            <a:r>
              <a:rPr lang="zh-CN" altLang="en-US" sz="2400" dirty="0">
                <a:latin typeface="微软雅黑" panose="020B0503020204020204" pitchFamily="34" charset="-122"/>
                <a:ea typeface="微软雅黑" panose="020B0503020204020204" pitchFamily="34" charset="-122"/>
              </a:rPr>
              <a:t>增强型的存储容量为普通型的</a:t>
            </a:r>
            <a:r>
              <a:rPr lang="zh-CN" altLang="en-US" sz="2400" b="1" dirty="0">
                <a:solidFill>
                  <a:srgbClr val="0000FF"/>
                </a:solidFill>
                <a:latin typeface="微软雅黑" panose="020B0503020204020204" pitchFamily="34" charset="-122"/>
                <a:ea typeface="微软雅黑" panose="020B0503020204020204" pitchFamily="34" charset="-122"/>
              </a:rPr>
              <a:t>一倍</a:t>
            </a:r>
            <a:r>
              <a:rPr lang="zh-CN" altLang="en-US" sz="2400" dirty="0">
                <a:solidFill>
                  <a:srgbClr val="000000"/>
                </a:solidFill>
                <a:latin typeface="微软雅黑" panose="020B0503020204020204" pitchFamily="34" charset="-122"/>
                <a:ea typeface="微软雅黑" panose="020B0503020204020204" pitchFamily="34" charset="-122"/>
              </a:rPr>
              <a:t>。</a:t>
            </a:r>
          </a:p>
        </p:txBody>
      </p:sp>
      <p:sp>
        <p:nvSpPr>
          <p:cNvPr id="16386"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16387"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6388"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grpSp>
        <p:nvGrpSpPr>
          <p:cNvPr id="4" name="Group 150"/>
          <p:cNvGrpSpPr/>
          <p:nvPr/>
        </p:nvGrpSpPr>
        <p:grpSpPr bwMode="auto">
          <a:xfrm>
            <a:off x="327385" y="1297858"/>
            <a:ext cx="8482315" cy="5271217"/>
            <a:chOff x="288" y="436"/>
            <a:chExt cx="5280" cy="3326"/>
          </a:xfrm>
          <a:solidFill>
            <a:schemeClr val="bg1"/>
          </a:solidFill>
        </p:grpSpPr>
        <p:sp>
          <p:nvSpPr>
            <p:cNvPr id="5" name="Rectangle 23"/>
            <p:cNvSpPr>
              <a:spLocks noChangeArrowheads="1"/>
            </p:cNvSpPr>
            <p:nvPr/>
          </p:nvSpPr>
          <p:spPr bwMode="auto">
            <a:xfrm>
              <a:off x="2400" y="938"/>
              <a:ext cx="720" cy="230"/>
            </a:xfrm>
            <a:prstGeom prst="rect">
              <a:avLst/>
            </a:prstGeom>
            <a:solidFill>
              <a:schemeClr val="accent6">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有</a:t>
              </a:r>
              <a:r>
                <a:rPr lang="en-US" altLang="zh-CN" dirty="0">
                  <a:latin typeface="宋体" panose="02010600030101010101" pitchFamily="2" charset="-122"/>
                </a:rPr>
                <a:t>EPROM</a:t>
              </a:r>
            </a:p>
          </p:txBody>
        </p:sp>
        <p:sp>
          <p:nvSpPr>
            <p:cNvPr id="7" name="Rectangle 24"/>
            <p:cNvSpPr>
              <a:spLocks noChangeArrowheads="1"/>
            </p:cNvSpPr>
            <p:nvPr/>
          </p:nvSpPr>
          <p:spPr bwMode="auto">
            <a:xfrm>
              <a:off x="1632" y="938"/>
              <a:ext cx="768" cy="230"/>
            </a:xfrm>
            <a:prstGeom prst="rect">
              <a:avLst/>
            </a:prstGeom>
            <a:solidFill>
              <a:schemeClr val="accent6">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有</a:t>
              </a:r>
              <a:r>
                <a:rPr lang="en-US" altLang="zh-CN" dirty="0">
                  <a:latin typeface="宋体" panose="02010600030101010101" pitchFamily="2" charset="-122"/>
                </a:rPr>
                <a:t>ROM</a:t>
              </a:r>
            </a:p>
          </p:txBody>
        </p:sp>
        <p:sp>
          <p:nvSpPr>
            <p:cNvPr id="8" name="Rectangle 25"/>
            <p:cNvSpPr>
              <a:spLocks noChangeArrowheads="1"/>
            </p:cNvSpPr>
            <p:nvPr/>
          </p:nvSpPr>
          <p:spPr bwMode="auto">
            <a:xfrm>
              <a:off x="1008" y="938"/>
              <a:ext cx="624" cy="230"/>
            </a:xfrm>
            <a:prstGeom prst="rect">
              <a:avLst/>
            </a:prstGeom>
            <a:solidFill>
              <a:schemeClr val="accent2"/>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无</a:t>
              </a:r>
            </a:p>
          </p:txBody>
        </p:sp>
        <p:sp>
          <p:nvSpPr>
            <p:cNvPr id="9" name="Rectangle 26"/>
            <p:cNvSpPr>
              <a:spLocks noChangeArrowheads="1"/>
            </p:cNvSpPr>
            <p:nvPr/>
          </p:nvSpPr>
          <p:spPr bwMode="auto">
            <a:xfrm>
              <a:off x="5136" y="1168"/>
              <a:ext cx="432" cy="771"/>
            </a:xfrm>
            <a:prstGeom prst="rect">
              <a:avLst/>
            </a:prstGeom>
            <a:solidFill>
              <a:schemeClr val="accent2">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5</a:t>
              </a:r>
            </a:p>
          </p:txBody>
        </p:sp>
        <p:sp>
          <p:nvSpPr>
            <p:cNvPr id="10" name="Rectangle 27"/>
            <p:cNvSpPr>
              <a:spLocks noChangeArrowheads="1"/>
            </p:cNvSpPr>
            <p:nvPr/>
          </p:nvSpPr>
          <p:spPr bwMode="auto">
            <a:xfrm>
              <a:off x="4176" y="1168"/>
              <a:ext cx="528" cy="771"/>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4</a:t>
              </a:r>
              <a:r>
                <a:rPr lang="en-US" altLang="zh-CN" dirty="0">
                  <a:latin typeface="Times New Roman" panose="02020603050405020304" pitchFamily="18" charset="0"/>
                  <a:cs typeface="Times New Roman" panose="02020603050405020304" pitchFamily="18" charset="0"/>
                </a:rPr>
                <a:t>×</a:t>
              </a:r>
              <a:r>
                <a:rPr lang="en-US" altLang="zh-CN" dirty="0">
                  <a:latin typeface="宋体" panose="02010600030101010101" pitchFamily="2" charset="-122"/>
                </a:rPr>
                <a:t>8</a:t>
              </a:r>
              <a:r>
                <a:rPr lang="zh-CN" altLang="en-US" dirty="0">
                  <a:latin typeface="宋体" panose="02010600030101010101" pitchFamily="2" charset="-122"/>
                </a:rPr>
                <a:t>位</a:t>
              </a:r>
            </a:p>
          </p:txBody>
        </p:sp>
        <p:sp>
          <p:nvSpPr>
            <p:cNvPr id="11" name="Rectangle 28"/>
            <p:cNvSpPr>
              <a:spLocks noChangeArrowheads="1"/>
            </p:cNvSpPr>
            <p:nvPr/>
          </p:nvSpPr>
          <p:spPr bwMode="auto">
            <a:xfrm>
              <a:off x="4704" y="1168"/>
              <a:ext cx="432" cy="771"/>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1</a:t>
              </a:r>
            </a:p>
          </p:txBody>
        </p:sp>
        <p:sp>
          <p:nvSpPr>
            <p:cNvPr id="12" name="Rectangle 29"/>
            <p:cNvSpPr>
              <a:spLocks noChangeArrowheads="1"/>
            </p:cNvSpPr>
            <p:nvPr/>
          </p:nvSpPr>
          <p:spPr bwMode="auto">
            <a:xfrm>
              <a:off x="3120" y="1168"/>
              <a:ext cx="432" cy="771"/>
            </a:xfrm>
            <a:prstGeom prst="rect">
              <a:avLst/>
            </a:prstGeom>
            <a:solidFill>
              <a:schemeClr val="accent2">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128</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字节</a:t>
              </a:r>
            </a:p>
          </p:txBody>
        </p:sp>
        <p:sp>
          <p:nvSpPr>
            <p:cNvPr id="13" name="Rectangle 30"/>
            <p:cNvSpPr>
              <a:spLocks noChangeArrowheads="1"/>
            </p:cNvSpPr>
            <p:nvPr/>
          </p:nvSpPr>
          <p:spPr bwMode="auto">
            <a:xfrm>
              <a:off x="1632" y="1168"/>
              <a:ext cx="768" cy="771"/>
            </a:xfrm>
            <a:prstGeom prst="rect">
              <a:avLst/>
            </a:prstGeom>
            <a:solidFill>
              <a:schemeClr val="accent2">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8051</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80C51</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(4K</a:t>
              </a:r>
              <a:r>
                <a:rPr lang="zh-CN" altLang="en-US" dirty="0">
                  <a:latin typeface="宋体" panose="02010600030101010101" pitchFamily="2" charset="-122"/>
                </a:rPr>
                <a:t>字节</a:t>
              </a:r>
              <a:r>
                <a:rPr lang="en-US" altLang="zh-CN" dirty="0">
                  <a:latin typeface="宋体" panose="02010600030101010101" pitchFamily="2" charset="-122"/>
                </a:rPr>
                <a:t>)</a:t>
              </a:r>
            </a:p>
          </p:txBody>
        </p:sp>
        <p:sp>
          <p:nvSpPr>
            <p:cNvPr id="14" name="Rectangle 31"/>
            <p:cNvSpPr>
              <a:spLocks noChangeArrowheads="1"/>
            </p:cNvSpPr>
            <p:nvPr/>
          </p:nvSpPr>
          <p:spPr bwMode="auto">
            <a:xfrm>
              <a:off x="2400" y="1168"/>
              <a:ext cx="720" cy="771"/>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8751</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87C51</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(4K</a:t>
              </a:r>
              <a:r>
                <a:rPr lang="zh-CN" altLang="en-US" dirty="0">
                  <a:latin typeface="宋体" panose="02010600030101010101" pitchFamily="2" charset="-122"/>
                </a:rPr>
                <a:t>字节</a:t>
              </a:r>
              <a:r>
                <a:rPr lang="en-US" altLang="zh-CN" dirty="0">
                  <a:latin typeface="宋体" panose="02010600030101010101" pitchFamily="2" charset="-122"/>
                </a:rPr>
                <a:t>)</a:t>
              </a:r>
            </a:p>
          </p:txBody>
        </p:sp>
        <p:sp>
          <p:nvSpPr>
            <p:cNvPr id="15" name="Rectangle 32"/>
            <p:cNvSpPr>
              <a:spLocks noChangeArrowheads="1"/>
            </p:cNvSpPr>
            <p:nvPr/>
          </p:nvSpPr>
          <p:spPr bwMode="auto">
            <a:xfrm>
              <a:off x="3552" y="1168"/>
              <a:ext cx="624" cy="771"/>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2</a:t>
              </a:r>
              <a:r>
                <a:rPr lang="en-US" altLang="zh-CN" dirty="0">
                  <a:latin typeface="Times New Roman" panose="02020603050405020304" pitchFamily="18" charset="0"/>
                  <a:cs typeface="Times New Roman" panose="02020603050405020304" pitchFamily="18" charset="0"/>
                </a:rPr>
                <a:t>×</a:t>
              </a:r>
              <a:r>
                <a:rPr lang="en-US" altLang="zh-CN" dirty="0">
                  <a:latin typeface="宋体" panose="02010600030101010101" pitchFamily="2" charset="-122"/>
                </a:rPr>
                <a:t>16</a:t>
              </a:r>
            </a:p>
          </p:txBody>
        </p:sp>
        <p:sp>
          <p:nvSpPr>
            <p:cNvPr id="16" name="Rectangle 33"/>
            <p:cNvSpPr>
              <a:spLocks noChangeArrowheads="1"/>
            </p:cNvSpPr>
            <p:nvPr/>
          </p:nvSpPr>
          <p:spPr bwMode="auto">
            <a:xfrm>
              <a:off x="3120" y="708"/>
              <a:ext cx="432" cy="460"/>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片内</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RAM</a:t>
              </a:r>
            </a:p>
          </p:txBody>
        </p:sp>
        <p:sp>
          <p:nvSpPr>
            <p:cNvPr id="17" name="Rectangle 34"/>
            <p:cNvSpPr>
              <a:spLocks noChangeArrowheads="1"/>
            </p:cNvSpPr>
            <p:nvPr/>
          </p:nvSpPr>
          <p:spPr bwMode="auto">
            <a:xfrm>
              <a:off x="1008" y="708"/>
              <a:ext cx="2112" cy="230"/>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片内</a:t>
              </a:r>
              <a:r>
                <a:rPr lang="en-US" altLang="zh-CN" dirty="0">
                  <a:latin typeface="宋体" panose="02010600030101010101" pitchFamily="2" charset="-122"/>
                </a:rPr>
                <a:t>ROM</a:t>
              </a:r>
            </a:p>
          </p:txBody>
        </p:sp>
        <p:sp>
          <p:nvSpPr>
            <p:cNvPr id="18" name="Rectangle 35"/>
            <p:cNvSpPr>
              <a:spLocks noChangeArrowheads="1"/>
            </p:cNvSpPr>
            <p:nvPr/>
          </p:nvSpPr>
          <p:spPr bwMode="auto">
            <a:xfrm>
              <a:off x="5136" y="1939"/>
              <a:ext cx="432" cy="816"/>
            </a:xfrm>
            <a:prstGeom prst="rect">
              <a:avLst/>
            </a:prstGeom>
            <a:solidFill>
              <a:schemeClr val="accent2">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6</a:t>
              </a:r>
            </a:p>
          </p:txBody>
        </p:sp>
        <p:sp>
          <p:nvSpPr>
            <p:cNvPr id="19" name="Rectangle 36"/>
            <p:cNvSpPr>
              <a:spLocks noChangeArrowheads="1"/>
            </p:cNvSpPr>
            <p:nvPr/>
          </p:nvSpPr>
          <p:spPr bwMode="auto">
            <a:xfrm>
              <a:off x="4704" y="1939"/>
              <a:ext cx="432" cy="816"/>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1</a:t>
              </a:r>
            </a:p>
          </p:txBody>
        </p:sp>
        <p:sp>
          <p:nvSpPr>
            <p:cNvPr id="20" name="Rectangle 37"/>
            <p:cNvSpPr>
              <a:spLocks noChangeArrowheads="1"/>
            </p:cNvSpPr>
            <p:nvPr/>
          </p:nvSpPr>
          <p:spPr bwMode="auto">
            <a:xfrm>
              <a:off x="4176" y="1939"/>
              <a:ext cx="528" cy="816"/>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4</a:t>
              </a:r>
              <a:r>
                <a:rPr lang="en-US" altLang="zh-CN" dirty="0">
                  <a:latin typeface="Times New Roman" panose="02020603050405020304" pitchFamily="18" charset="0"/>
                  <a:cs typeface="Times New Roman" panose="02020603050405020304" pitchFamily="18" charset="0"/>
                </a:rPr>
                <a:t>×</a:t>
              </a:r>
              <a:r>
                <a:rPr lang="en-US" altLang="zh-CN" dirty="0">
                  <a:latin typeface="宋体" panose="02010600030101010101" pitchFamily="2" charset="-122"/>
                </a:rPr>
                <a:t>8</a:t>
              </a:r>
              <a:r>
                <a:rPr lang="zh-CN" altLang="en-US" dirty="0">
                  <a:latin typeface="宋体" panose="02010600030101010101" pitchFamily="2" charset="-122"/>
                </a:rPr>
                <a:t>位</a:t>
              </a:r>
            </a:p>
          </p:txBody>
        </p:sp>
        <p:sp>
          <p:nvSpPr>
            <p:cNvPr id="21" name="Rectangle 38"/>
            <p:cNvSpPr>
              <a:spLocks noChangeArrowheads="1"/>
            </p:cNvSpPr>
            <p:nvPr/>
          </p:nvSpPr>
          <p:spPr bwMode="auto">
            <a:xfrm>
              <a:off x="3552" y="1939"/>
              <a:ext cx="624" cy="816"/>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3</a:t>
              </a:r>
              <a:r>
                <a:rPr lang="en-US" altLang="zh-CN" dirty="0">
                  <a:latin typeface="Times New Roman" panose="02020603050405020304" pitchFamily="18" charset="0"/>
                  <a:cs typeface="Times New Roman" panose="02020603050405020304" pitchFamily="18" charset="0"/>
                </a:rPr>
                <a:t>×</a:t>
              </a:r>
              <a:r>
                <a:rPr lang="en-US" altLang="zh-CN" dirty="0">
                  <a:latin typeface="宋体" panose="02010600030101010101" pitchFamily="2" charset="-122"/>
                </a:rPr>
                <a:t>16</a:t>
              </a:r>
            </a:p>
          </p:txBody>
        </p:sp>
        <p:sp>
          <p:nvSpPr>
            <p:cNvPr id="22" name="Rectangle 39"/>
            <p:cNvSpPr>
              <a:spLocks noChangeArrowheads="1"/>
            </p:cNvSpPr>
            <p:nvPr/>
          </p:nvSpPr>
          <p:spPr bwMode="auto">
            <a:xfrm>
              <a:off x="3120" y="1939"/>
              <a:ext cx="432" cy="816"/>
            </a:xfrm>
            <a:prstGeom prst="rect">
              <a:avLst/>
            </a:prstGeom>
            <a:solidFill>
              <a:schemeClr val="accent2">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256</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字节</a:t>
              </a:r>
            </a:p>
          </p:txBody>
        </p:sp>
        <p:sp>
          <p:nvSpPr>
            <p:cNvPr id="23" name="Rectangle 40"/>
            <p:cNvSpPr>
              <a:spLocks noChangeArrowheads="1"/>
            </p:cNvSpPr>
            <p:nvPr/>
          </p:nvSpPr>
          <p:spPr bwMode="auto">
            <a:xfrm>
              <a:off x="2400" y="1939"/>
              <a:ext cx="720" cy="816"/>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a:latin typeface="宋体" panose="02010600030101010101" pitchFamily="2" charset="-122"/>
                </a:rPr>
                <a:t>8752</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a:latin typeface="宋体" panose="02010600030101010101" pitchFamily="2" charset="-122"/>
                </a:rPr>
                <a:t>87C52</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(8K</a:t>
              </a:r>
              <a:r>
                <a:rPr lang="zh-CN" altLang="en-US">
                  <a:latin typeface="宋体" panose="02010600030101010101" pitchFamily="2" charset="-122"/>
                </a:rPr>
                <a:t>字节</a:t>
              </a:r>
              <a:r>
                <a:rPr lang="en-US" altLang="zh-CN">
                  <a:latin typeface="宋体" panose="02010600030101010101" pitchFamily="2" charset="-122"/>
                </a:rPr>
                <a:t>)</a:t>
              </a:r>
            </a:p>
          </p:txBody>
        </p:sp>
        <p:sp>
          <p:nvSpPr>
            <p:cNvPr id="24" name="Rectangle 41"/>
            <p:cNvSpPr>
              <a:spLocks noChangeArrowheads="1"/>
            </p:cNvSpPr>
            <p:nvPr/>
          </p:nvSpPr>
          <p:spPr bwMode="auto">
            <a:xfrm>
              <a:off x="1632" y="1939"/>
              <a:ext cx="768" cy="816"/>
            </a:xfrm>
            <a:prstGeom prst="rect">
              <a:avLst/>
            </a:prstGeom>
            <a:solidFill>
              <a:schemeClr val="accent2">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8052</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80C52</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(8K</a:t>
              </a:r>
              <a:r>
                <a:rPr lang="zh-CN" altLang="en-US" dirty="0">
                  <a:latin typeface="宋体" panose="02010600030101010101" pitchFamily="2" charset="-122"/>
                </a:rPr>
                <a:t>字节</a:t>
              </a:r>
              <a:r>
                <a:rPr lang="en-US" altLang="zh-CN" dirty="0">
                  <a:latin typeface="宋体" panose="02010600030101010101" pitchFamily="2" charset="-122"/>
                </a:rPr>
                <a:t>)</a:t>
              </a:r>
            </a:p>
          </p:txBody>
        </p:sp>
        <p:sp>
          <p:nvSpPr>
            <p:cNvPr id="25" name="Rectangle 42"/>
            <p:cNvSpPr>
              <a:spLocks noChangeArrowheads="1"/>
            </p:cNvSpPr>
            <p:nvPr/>
          </p:nvSpPr>
          <p:spPr bwMode="auto">
            <a:xfrm>
              <a:off x="1008" y="1939"/>
              <a:ext cx="624" cy="816"/>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a:latin typeface="宋体" panose="02010600030101010101" pitchFamily="2" charset="-122"/>
                </a:rPr>
                <a:t>8032</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a:latin typeface="宋体" panose="02010600030101010101" pitchFamily="2" charset="-122"/>
                </a:rPr>
                <a:t>80C32</a:t>
              </a:r>
            </a:p>
          </p:txBody>
        </p:sp>
        <p:sp>
          <p:nvSpPr>
            <p:cNvPr id="26" name="Rectangle 43"/>
            <p:cNvSpPr>
              <a:spLocks noChangeArrowheads="1"/>
            </p:cNvSpPr>
            <p:nvPr/>
          </p:nvSpPr>
          <p:spPr bwMode="auto">
            <a:xfrm>
              <a:off x="288" y="1939"/>
              <a:ext cx="720" cy="816"/>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Intel</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MCS-52</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子系列</a:t>
              </a:r>
            </a:p>
          </p:txBody>
        </p:sp>
        <p:sp>
          <p:nvSpPr>
            <p:cNvPr id="27" name="Rectangle 44"/>
            <p:cNvSpPr>
              <a:spLocks noChangeArrowheads="1"/>
            </p:cNvSpPr>
            <p:nvPr/>
          </p:nvSpPr>
          <p:spPr bwMode="auto">
            <a:xfrm>
              <a:off x="1008" y="1168"/>
              <a:ext cx="624" cy="771"/>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8031</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80C31</a:t>
              </a:r>
            </a:p>
          </p:txBody>
        </p:sp>
        <p:sp>
          <p:nvSpPr>
            <p:cNvPr id="28" name="Rectangle 45"/>
            <p:cNvSpPr>
              <a:spLocks noChangeArrowheads="1"/>
            </p:cNvSpPr>
            <p:nvPr/>
          </p:nvSpPr>
          <p:spPr bwMode="auto">
            <a:xfrm>
              <a:off x="288" y="1168"/>
              <a:ext cx="720" cy="771"/>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Intel</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MCS-51</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子系列</a:t>
              </a:r>
            </a:p>
          </p:txBody>
        </p:sp>
        <p:sp>
          <p:nvSpPr>
            <p:cNvPr id="29" name="Rectangle 46"/>
            <p:cNvSpPr>
              <a:spLocks noChangeArrowheads="1"/>
            </p:cNvSpPr>
            <p:nvPr/>
          </p:nvSpPr>
          <p:spPr bwMode="auto">
            <a:xfrm>
              <a:off x="5136" y="436"/>
              <a:ext cx="432" cy="732"/>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中</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断</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源</a:t>
              </a:r>
            </a:p>
          </p:txBody>
        </p:sp>
        <p:sp>
          <p:nvSpPr>
            <p:cNvPr id="30" name="Rectangle 47"/>
            <p:cNvSpPr>
              <a:spLocks noChangeArrowheads="1"/>
            </p:cNvSpPr>
            <p:nvPr/>
          </p:nvSpPr>
          <p:spPr bwMode="auto">
            <a:xfrm>
              <a:off x="4704" y="436"/>
              <a:ext cx="432" cy="732"/>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串行</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I/O</a:t>
              </a:r>
            </a:p>
          </p:txBody>
        </p:sp>
        <p:sp>
          <p:nvSpPr>
            <p:cNvPr id="31" name="Rectangle 48"/>
            <p:cNvSpPr>
              <a:spLocks noChangeArrowheads="1"/>
            </p:cNvSpPr>
            <p:nvPr/>
          </p:nvSpPr>
          <p:spPr bwMode="auto">
            <a:xfrm>
              <a:off x="4176" y="436"/>
              <a:ext cx="528" cy="732"/>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并行</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I/O</a:t>
              </a:r>
            </a:p>
          </p:txBody>
        </p:sp>
        <p:sp>
          <p:nvSpPr>
            <p:cNvPr id="32" name="Rectangle 49"/>
            <p:cNvSpPr>
              <a:spLocks noChangeArrowheads="1"/>
            </p:cNvSpPr>
            <p:nvPr/>
          </p:nvSpPr>
          <p:spPr bwMode="auto">
            <a:xfrm>
              <a:off x="3552" y="436"/>
              <a:ext cx="624" cy="732"/>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定时器</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计数器</a:t>
              </a:r>
            </a:p>
          </p:txBody>
        </p:sp>
        <p:sp>
          <p:nvSpPr>
            <p:cNvPr id="33" name="Rectangle 50"/>
            <p:cNvSpPr>
              <a:spLocks noChangeArrowheads="1"/>
            </p:cNvSpPr>
            <p:nvPr/>
          </p:nvSpPr>
          <p:spPr bwMode="auto">
            <a:xfrm>
              <a:off x="1008" y="436"/>
              <a:ext cx="2544" cy="272"/>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片内存储器（字节）</a:t>
              </a:r>
            </a:p>
          </p:txBody>
        </p:sp>
        <p:sp>
          <p:nvSpPr>
            <p:cNvPr id="34" name="Rectangle 51"/>
            <p:cNvSpPr>
              <a:spLocks noChangeArrowheads="1"/>
            </p:cNvSpPr>
            <p:nvPr/>
          </p:nvSpPr>
          <p:spPr bwMode="auto">
            <a:xfrm>
              <a:off x="288" y="436"/>
              <a:ext cx="720" cy="732"/>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系列</a:t>
              </a:r>
            </a:p>
          </p:txBody>
        </p:sp>
        <p:sp>
          <p:nvSpPr>
            <p:cNvPr id="35" name="Line 52"/>
            <p:cNvSpPr>
              <a:spLocks noChangeShapeType="1"/>
            </p:cNvSpPr>
            <p:nvPr/>
          </p:nvSpPr>
          <p:spPr bwMode="auto">
            <a:xfrm>
              <a:off x="288" y="436"/>
              <a:ext cx="5280" cy="0"/>
            </a:xfrm>
            <a:prstGeom prst="line">
              <a:avLst/>
            </a:prstGeom>
            <a:grpFill/>
            <a:ln w="19050" cap="sq">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36" name="Line 53"/>
            <p:cNvSpPr>
              <a:spLocks noChangeShapeType="1"/>
            </p:cNvSpPr>
            <p:nvPr/>
          </p:nvSpPr>
          <p:spPr bwMode="auto">
            <a:xfrm>
              <a:off x="288" y="1168"/>
              <a:ext cx="5280" cy="0"/>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37" name="Line 54"/>
            <p:cNvSpPr>
              <a:spLocks noChangeShapeType="1"/>
            </p:cNvSpPr>
            <p:nvPr/>
          </p:nvSpPr>
          <p:spPr bwMode="auto">
            <a:xfrm>
              <a:off x="288" y="1939"/>
              <a:ext cx="5280" cy="0"/>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38" name="Line 55"/>
            <p:cNvSpPr>
              <a:spLocks noChangeShapeType="1"/>
            </p:cNvSpPr>
            <p:nvPr/>
          </p:nvSpPr>
          <p:spPr bwMode="auto">
            <a:xfrm>
              <a:off x="288" y="2755"/>
              <a:ext cx="5280" cy="0"/>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39" name="Line 56"/>
            <p:cNvSpPr>
              <a:spLocks noChangeShapeType="1"/>
            </p:cNvSpPr>
            <p:nvPr/>
          </p:nvSpPr>
          <p:spPr bwMode="auto">
            <a:xfrm>
              <a:off x="1008" y="436"/>
              <a:ext cx="0" cy="2319"/>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0" name="Line 57"/>
            <p:cNvSpPr>
              <a:spLocks noChangeShapeType="1"/>
            </p:cNvSpPr>
            <p:nvPr/>
          </p:nvSpPr>
          <p:spPr bwMode="auto">
            <a:xfrm>
              <a:off x="3552" y="436"/>
              <a:ext cx="0" cy="2319"/>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1" name="Line 58"/>
            <p:cNvSpPr>
              <a:spLocks noChangeShapeType="1"/>
            </p:cNvSpPr>
            <p:nvPr/>
          </p:nvSpPr>
          <p:spPr bwMode="auto">
            <a:xfrm>
              <a:off x="4176" y="436"/>
              <a:ext cx="0" cy="2319"/>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2" name="Line 59"/>
            <p:cNvSpPr>
              <a:spLocks noChangeShapeType="1"/>
            </p:cNvSpPr>
            <p:nvPr/>
          </p:nvSpPr>
          <p:spPr bwMode="auto">
            <a:xfrm>
              <a:off x="4704" y="436"/>
              <a:ext cx="0" cy="2319"/>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3" name="Line 60"/>
            <p:cNvSpPr>
              <a:spLocks noChangeShapeType="1"/>
            </p:cNvSpPr>
            <p:nvPr/>
          </p:nvSpPr>
          <p:spPr bwMode="auto">
            <a:xfrm>
              <a:off x="5136" y="436"/>
              <a:ext cx="0" cy="2319"/>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4" name="Line 61"/>
            <p:cNvSpPr>
              <a:spLocks noChangeShapeType="1"/>
            </p:cNvSpPr>
            <p:nvPr/>
          </p:nvSpPr>
          <p:spPr bwMode="auto">
            <a:xfrm>
              <a:off x="1008" y="708"/>
              <a:ext cx="2544" cy="0"/>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5" name="Line 62"/>
            <p:cNvSpPr>
              <a:spLocks noChangeShapeType="1"/>
            </p:cNvSpPr>
            <p:nvPr/>
          </p:nvSpPr>
          <p:spPr bwMode="auto">
            <a:xfrm>
              <a:off x="3120" y="708"/>
              <a:ext cx="0" cy="2047"/>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6" name="Line 63"/>
            <p:cNvSpPr>
              <a:spLocks noChangeShapeType="1"/>
            </p:cNvSpPr>
            <p:nvPr/>
          </p:nvSpPr>
          <p:spPr bwMode="auto">
            <a:xfrm>
              <a:off x="1008" y="938"/>
              <a:ext cx="2112" cy="0"/>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7" name="Line 64"/>
            <p:cNvSpPr>
              <a:spLocks noChangeShapeType="1"/>
            </p:cNvSpPr>
            <p:nvPr/>
          </p:nvSpPr>
          <p:spPr bwMode="auto">
            <a:xfrm>
              <a:off x="1632" y="938"/>
              <a:ext cx="0" cy="1817"/>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8" name="Line 65"/>
            <p:cNvSpPr>
              <a:spLocks noChangeShapeType="1"/>
            </p:cNvSpPr>
            <p:nvPr/>
          </p:nvSpPr>
          <p:spPr bwMode="auto">
            <a:xfrm>
              <a:off x="2400" y="938"/>
              <a:ext cx="0" cy="1817"/>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9" name="Line 69"/>
            <p:cNvSpPr>
              <a:spLocks noChangeShapeType="1"/>
            </p:cNvSpPr>
            <p:nvPr/>
          </p:nvSpPr>
          <p:spPr bwMode="auto">
            <a:xfrm>
              <a:off x="288" y="436"/>
              <a:ext cx="0" cy="2319"/>
            </a:xfrm>
            <a:prstGeom prst="line">
              <a:avLst/>
            </a:prstGeom>
            <a:grpFill/>
            <a:ln w="19050" cap="sq">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50" name="Line 71"/>
            <p:cNvSpPr>
              <a:spLocks noChangeShapeType="1"/>
            </p:cNvSpPr>
            <p:nvPr/>
          </p:nvSpPr>
          <p:spPr bwMode="auto">
            <a:xfrm>
              <a:off x="5568" y="436"/>
              <a:ext cx="0" cy="2319"/>
            </a:xfrm>
            <a:prstGeom prst="line">
              <a:avLst/>
            </a:prstGeom>
            <a:grpFill/>
            <a:ln w="19050" cap="sq">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51" name="Rectangle 85"/>
            <p:cNvSpPr>
              <a:spLocks noChangeArrowheads="1"/>
            </p:cNvSpPr>
            <p:nvPr/>
          </p:nvSpPr>
          <p:spPr bwMode="auto">
            <a:xfrm>
              <a:off x="5128" y="2886"/>
              <a:ext cx="43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5</a:t>
              </a:r>
            </a:p>
          </p:txBody>
        </p:sp>
        <p:sp>
          <p:nvSpPr>
            <p:cNvPr id="52" name="Rectangle 86"/>
            <p:cNvSpPr>
              <a:spLocks noChangeArrowheads="1"/>
            </p:cNvSpPr>
            <p:nvPr/>
          </p:nvSpPr>
          <p:spPr bwMode="auto">
            <a:xfrm>
              <a:off x="4696" y="2886"/>
              <a:ext cx="43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1</a:t>
              </a:r>
            </a:p>
          </p:txBody>
        </p:sp>
        <p:sp>
          <p:nvSpPr>
            <p:cNvPr id="53" name="Rectangle 87"/>
            <p:cNvSpPr>
              <a:spLocks noChangeArrowheads="1"/>
            </p:cNvSpPr>
            <p:nvPr/>
          </p:nvSpPr>
          <p:spPr bwMode="auto">
            <a:xfrm>
              <a:off x="4168" y="2886"/>
              <a:ext cx="528"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15</a:t>
              </a:r>
            </a:p>
          </p:txBody>
        </p:sp>
        <p:sp>
          <p:nvSpPr>
            <p:cNvPr id="54" name="Rectangle 88"/>
            <p:cNvSpPr>
              <a:spLocks noChangeArrowheads="1"/>
            </p:cNvSpPr>
            <p:nvPr/>
          </p:nvSpPr>
          <p:spPr bwMode="auto">
            <a:xfrm>
              <a:off x="3544" y="2886"/>
              <a:ext cx="624"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2</a:t>
              </a:r>
            </a:p>
          </p:txBody>
        </p:sp>
        <p:sp>
          <p:nvSpPr>
            <p:cNvPr id="55" name="Rectangle 89"/>
            <p:cNvSpPr>
              <a:spLocks noChangeArrowheads="1"/>
            </p:cNvSpPr>
            <p:nvPr/>
          </p:nvSpPr>
          <p:spPr bwMode="auto">
            <a:xfrm>
              <a:off x="3112" y="2886"/>
              <a:ext cx="43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128B</a:t>
              </a:r>
            </a:p>
          </p:txBody>
        </p:sp>
        <p:sp>
          <p:nvSpPr>
            <p:cNvPr id="56" name="Rectangle 90"/>
            <p:cNvSpPr>
              <a:spLocks noChangeArrowheads="1"/>
            </p:cNvSpPr>
            <p:nvPr/>
          </p:nvSpPr>
          <p:spPr bwMode="auto">
            <a:xfrm>
              <a:off x="1000" y="2886"/>
              <a:ext cx="211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1051(1K)/2051(2K)/4051(4K)</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a:t>
              </a:r>
              <a:r>
                <a:rPr lang="en-US" altLang="zh-CN" dirty="0">
                  <a:latin typeface="宋体" panose="02010600030101010101" pitchFamily="2" charset="-122"/>
                </a:rPr>
                <a:t>20</a:t>
              </a:r>
              <a:r>
                <a:rPr lang="zh-CN" altLang="en-US" dirty="0">
                  <a:latin typeface="宋体" panose="02010600030101010101" pitchFamily="2" charset="-122"/>
                </a:rPr>
                <a:t>条引脚</a:t>
              </a:r>
              <a:r>
                <a:rPr lang="en-US" altLang="zh-CN" dirty="0">
                  <a:latin typeface="宋体" panose="02010600030101010101" pitchFamily="2" charset="-122"/>
                </a:rPr>
                <a:t>DIP</a:t>
              </a:r>
              <a:r>
                <a:rPr lang="zh-CN" altLang="en-US" dirty="0">
                  <a:latin typeface="宋体" panose="02010600030101010101" pitchFamily="2" charset="-122"/>
                </a:rPr>
                <a:t>封装）</a:t>
              </a:r>
            </a:p>
          </p:txBody>
        </p:sp>
        <p:sp>
          <p:nvSpPr>
            <p:cNvPr id="57" name="Rectangle 91"/>
            <p:cNvSpPr>
              <a:spLocks noChangeArrowheads="1"/>
            </p:cNvSpPr>
            <p:nvPr/>
          </p:nvSpPr>
          <p:spPr bwMode="auto">
            <a:xfrm>
              <a:off x="5128" y="3324"/>
              <a:ext cx="43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5/6</a:t>
              </a:r>
            </a:p>
          </p:txBody>
        </p:sp>
        <p:sp>
          <p:nvSpPr>
            <p:cNvPr id="58" name="Rectangle 92"/>
            <p:cNvSpPr>
              <a:spLocks noChangeArrowheads="1"/>
            </p:cNvSpPr>
            <p:nvPr/>
          </p:nvSpPr>
          <p:spPr bwMode="auto">
            <a:xfrm>
              <a:off x="4696" y="3324"/>
              <a:ext cx="43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1</a:t>
              </a:r>
            </a:p>
          </p:txBody>
        </p:sp>
        <p:sp>
          <p:nvSpPr>
            <p:cNvPr id="59" name="Rectangle 93"/>
            <p:cNvSpPr>
              <a:spLocks noChangeArrowheads="1"/>
            </p:cNvSpPr>
            <p:nvPr/>
          </p:nvSpPr>
          <p:spPr bwMode="auto">
            <a:xfrm>
              <a:off x="4168" y="3324"/>
              <a:ext cx="528"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32</a:t>
              </a:r>
            </a:p>
          </p:txBody>
        </p:sp>
        <p:sp>
          <p:nvSpPr>
            <p:cNvPr id="60" name="Rectangle 94"/>
            <p:cNvSpPr>
              <a:spLocks noChangeArrowheads="1"/>
            </p:cNvSpPr>
            <p:nvPr/>
          </p:nvSpPr>
          <p:spPr bwMode="auto">
            <a:xfrm>
              <a:off x="3544" y="3324"/>
              <a:ext cx="624"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2/3</a:t>
              </a:r>
            </a:p>
          </p:txBody>
        </p:sp>
        <p:sp>
          <p:nvSpPr>
            <p:cNvPr id="61" name="Rectangle 95"/>
            <p:cNvSpPr>
              <a:spLocks noChangeArrowheads="1"/>
            </p:cNvSpPr>
            <p:nvPr/>
          </p:nvSpPr>
          <p:spPr bwMode="auto">
            <a:xfrm>
              <a:off x="3112" y="3324"/>
              <a:ext cx="43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128/256B</a:t>
              </a:r>
            </a:p>
          </p:txBody>
        </p:sp>
        <p:sp>
          <p:nvSpPr>
            <p:cNvPr id="62" name="Rectangle 96"/>
            <p:cNvSpPr>
              <a:spLocks noChangeArrowheads="1"/>
            </p:cNvSpPr>
            <p:nvPr/>
          </p:nvSpPr>
          <p:spPr bwMode="auto">
            <a:xfrm>
              <a:off x="1004" y="3321"/>
              <a:ext cx="211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1400" dirty="0">
                  <a:latin typeface="宋体" panose="02010600030101010101" pitchFamily="2" charset="-122"/>
                </a:rPr>
                <a:t>89C51</a:t>
              </a:r>
              <a:r>
                <a:rPr lang="zh-CN" altLang="en-US" sz="1400" dirty="0">
                  <a:latin typeface="宋体" panose="02010600030101010101" pitchFamily="2" charset="-122"/>
                </a:rPr>
                <a:t>、</a:t>
              </a:r>
              <a:r>
                <a:rPr lang="en-US" altLang="zh-CN" sz="1400" dirty="0">
                  <a:latin typeface="宋体" panose="02010600030101010101" pitchFamily="2" charset="-122"/>
                </a:rPr>
                <a:t>89S51(4K)/89C52</a:t>
              </a:r>
              <a:r>
                <a:rPr lang="zh-CN" altLang="en-US" sz="1400" dirty="0">
                  <a:latin typeface="宋体" panose="02010600030101010101" pitchFamily="2" charset="-122"/>
                </a:rPr>
                <a:t>、</a:t>
              </a:r>
              <a:r>
                <a:rPr lang="en-US" altLang="zh-CN" sz="1400" dirty="0">
                  <a:latin typeface="宋体" panose="02010600030101010101" pitchFamily="2" charset="-122"/>
                </a:rPr>
                <a:t>89S52(8K)</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sz="1600" dirty="0">
                  <a:latin typeface="宋体" panose="02010600030101010101" pitchFamily="2" charset="-122"/>
                </a:rPr>
                <a:t>（</a:t>
              </a:r>
              <a:r>
                <a:rPr lang="en-US" altLang="zh-CN" sz="1600" dirty="0">
                  <a:solidFill>
                    <a:srgbClr val="FF0000"/>
                  </a:solidFill>
                  <a:latin typeface="宋体" panose="02010600030101010101" pitchFamily="2" charset="-122"/>
                </a:rPr>
                <a:t>EEPROM</a:t>
              </a:r>
              <a:r>
                <a:rPr lang="zh-CN" altLang="en-US" sz="1600" dirty="0">
                  <a:latin typeface="宋体" panose="02010600030101010101" pitchFamily="2" charset="-122"/>
                </a:rPr>
                <a:t>，闪存，</a:t>
              </a:r>
              <a:r>
                <a:rPr lang="en-US" altLang="zh-CN" sz="1600" dirty="0">
                  <a:latin typeface="宋体" panose="02010600030101010101" pitchFamily="2" charset="-122"/>
                </a:rPr>
                <a:t>40</a:t>
              </a:r>
              <a:r>
                <a:rPr lang="zh-CN" altLang="en-US" sz="1600" dirty="0">
                  <a:latin typeface="宋体" panose="02010600030101010101" pitchFamily="2" charset="-122"/>
                </a:rPr>
                <a:t>脚，</a:t>
              </a:r>
              <a:r>
                <a:rPr lang="en-US" altLang="zh-CN" sz="1600" dirty="0">
                  <a:latin typeface="宋体" panose="02010600030101010101" pitchFamily="2" charset="-122"/>
                </a:rPr>
                <a:t>DIP</a:t>
              </a:r>
              <a:r>
                <a:rPr lang="zh-CN" altLang="en-US" sz="1600" dirty="0">
                  <a:latin typeface="宋体" panose="02010600030101010101" pitchFamily="2" charset="-122"/>
                </a:rPr>
                <a:t>封装）</a:t>
              </a:r>
            </a:p>
          </p:txBody>
        </p:sp>
        <p:sp>
          <p:nvSpPr>
            <p:cNvPr id="63" name="Rectangle 97"/>
            <p:cNvSpPr>
              <a:spLocks noChangeArrowheads="1"/>
            </p:cNvSpPr>
            <p:nvPr/>
          </p:nvSpPr>
          <p:spPr bwMode="auto">
            <a:xfrm>
              <a:off x="295" y="2886"/>
              <a:ext cx="705" cy="876"/>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ATEML</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89C</a:t>
              </a:r>
              <a:r>
                <a:rPr lang="zh-CN" altLang="en-US" dirty="0">
                  <a:latin typeface="宋体" panose="02010600030101010101" pitchFamily="2" charset="-122"/>
                </a:rPr>
                <a:t>系列</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a:t>
              </a:r>
              <a:r>
                <a:rPr lang="zh-CN" altLang="en-US" dirty="0">
                  <a:latin typeface="宋体" panose="02010600030101010101" pitchFamily="2" charset="-122"/>
                </a:rPr>
                <a:t>常用型</a:t>
              </a:r>
              <a:r>
                <a:rPr lang="en-US" altLang="zh-CN" dirty="0">
                  <a:latin typeface="宋体" panose="02010600030101010101" pitchFamily="2" charset="-122"/>
                </a:rPr>
                <a:t>)</a:t>
              </a:r>
            </a:p>
          </p:txBody>
        </p:sp>
        <p:sp>
          <p:nvSpPr>
            <p:cNvPr id="64" name="Line 98"/>
            <p:cNvSpPr>
              <a:spLocks noChangeShapeType="1"/>
            </p:cNvSpPr>
            <p:nvPr/>
          </p:nvSpPr>
          <p:spPr bwMode="auto">
            <a:xfrm>
              <a:off x="295" y="2886"/>
              <a:ext cx="5265" cy="0"/>
            </a:xfrm>
            <a:prstGeom prst="line">
              <a:avLst/>
            </a:prstGeom>
            <a:grpFill/>
            <a:ln w="19050" cap="sq">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65" name="Line 100"/>
            <p:cNvSpPr>
              <a:spLocks noChangeShapeType="1"/>
            </p:cNvSpPr>
            <p:nvPr/>
          </p:nvSpPr>
          <p:spPr bwMode="auto">
            <a:xfrm>
              <a:off x="1000" y="3324"/>
              <a:ext cx="4560" cy="0"/>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66" name="Line 101"/>
            <p:cNvSpPr>
              <a:spLocks noChangeShapeType="1"/>
            </p:cNvSpPr>
            <p:nvPr/>
          </p:nvSpPr>
          <p:spPr bwMode="auto">
            <a:xfrm>
              <a:off x="295" y="2886"/>
              <a:ext cx="0" cy="876"/>
            </a:xfrm>
            <a:prstGeom prst="line">
              <a:avLst/>
            </a:prstGeom>
            <a:grpFill/>
            <a:ln w="19050" cap="sq">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67" name="Line 103"/>
            <p:cNvSpPr>
              <a:spLocks noChangeShapeType="1"/>
            </p:cNvSpPr>
            <p:nvPr/>
          </p:nvSpPr>
          <p:spPr bwMode="auto">
            <a:xfrm>
              <a:off x="1000" y="2886"/>
              <a:ext cx="0" cy="876"/>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68" name="Line 104"/>
            <p:cNvSpPr>
              <a:spLocks noChangeShapeType="1"/>
            </p:cNvSpPr>
            <p:nvPr/>
          </p:nvSpPr>
          <p:spPr bwMode="auto">
            <a:xfrm>
              <a:off x="3112" y="2886"/>
              <a:ext cx="0" cy="876"/>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69" name="Line 105"/>
            <p:cNvSpPr>
              <a:spLocks noChangeShapeType="1"/>
            </p:cNvSpPr>
            <p:nvPr/>
          </p:nvSpPr>
          <p:spPr bwMode="auto">
            <a:xfrm>
              <a:off x="3544" y="2886"/>
              <a:ext cx="0" cy="876"/>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70" name="Line 106"/>
            <p:cNvSpPr>
              <a:spLocks noChangeShapeType="1"/>
            </p:cNvSpPr>
            <p:nvPr/>
          </p:nvSpPr>
          <p:spPr bwMode="auto">
            <a:xfrm>
              <a:off x="4168" y="2886"/>
              <a:ext cx="0" cy="876"/>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71" name="Line 107"/>
            <p:cNvSpPr>
              <a:spLocks noChangeShapeType="1"/>
            </p:cNvSpPr>
            <p:nvPr/>
          </p:nvSpPr>
          <p:spPr bwMode="auto">
            <a:xfrm>
              <a:off x="4696" y="2886"/>
              <a:ext cx="0" cy="876"/>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72" name="Line 108"/>
            <p:cNvSpPr>
              <a:spLocks noChangeShapeType="1"/>
            </p:cNvSpPr>
            <p:nvPr/>
          </p:nvSpPr>
          <p:spPr bwMode="auto">
            <a:xfrm>
              <a:off x="5128" y="2886"/>
              <a:ext cx="0" cy="876"/>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73" name="Line 102"/>
            <p:cNvSpPr>
              <a:spLocks noChangeShapeType="1"/>
            </p:cNvSpPr>
            <p:nvPr/>
          </p:nvSpPr>
          <p:spPr bwMode="auto">
            <a:xfrm>
              <a:off x="5560" y="2886"/>
              <a:ext cx="0" cy="876"/>
            </a:xfrm>
            <a:prstGeom prst="line">
              <a:avLst/>
            </a:prstGeom>
            <a:grpFill/>
            <a:ln w="19050" cap="sq">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74" name="Line 99"/>
            <p:cNvSpPr>
              <a:spLocks noChangeShapeType="1"/>
            </p:cNvSpPr>
            <p:nvPr/>
          </p:nvSpPr>
          <p:spPr bwMode="auto">
            <a:xfrm>
              <a:off x="295" y="3762"/>
              <a:ext cx="5265" cy="0"/>
            </a:xfrm>
            <a:prstGeom prst="line">
              <a:avLst/>
            </a:prstGeom>
            <a:grpFill/>
            <a:ln w="19050" cap="sq">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grpSp>
      <p:sp>
        <p:nvSpPr>
          <p:cNvPr id="18435" name="矩形 2"/>
          <p:cNvSpPr>
            <a:spLocks noChangeArrowheads="1"/>
          </p:cNvSpPr>
          <p:nvPr/>
        </p:nvSpPr>
        <p:spPr bwMode="auto">
          <a:xfrm>
            <a:off x="2522538" y="741363"/>
            <a:ext cx="4086225" cy="430212"/>
          </a:xfrm>
          <a:prstGeom prst="rect">
            <a:avLst/>
          </a:prstGeom>
          <a:noFill/>
          <a:ln w="9525">
            <a:noFill/>
            <a:miter lim="800000"/>
          </a:ln>
        </p:spPr>
        <p:txBody>
          <a:bodyPr wrap="none">
            <a:spAutoFit/>
          </a:bodyPr>
          <a:lstStyle/>
          <a:p>
            <a:pPr algn="ctr"/>
            <a:r>
              <a:rPr lang="en-US" altLang="zh-CN" sz="2200">
                <a:latin typeface="微软雅黑" panose="020B0503020204020204" pitchFamily="34" charset="-122"/>
                <a:ea typeface="微软雅黑" panose="020B0503020204020204" pitchFamily="34" charset="-122"/>
              </a:rPr>
              <a:t>MCS-51</a:t>
            </a:r>
            <a:r>
              <a:rPr lang="zh-CN" altLang="en-US" sz="2200">
                <a:latin typeface="微软雅黑" panose="020B0503020204020204" pitchFamily="34" charset="-122"/>
                <a:ea typeface="微软雅黑" panose="020B0503020204020204" pitchFamily="34" charset="-122"/>
              </a:rPr>
              <a:t>系列单片机配置一览表</a:t>
            </a:r>
          </a:p>
        </p:txBody>
      </p:sp>
      <p:pic>
        <p:nvPicPr>
          <p:cNvPr id="18436" name="图片 74"/>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文本框 1"/>
          <p:cNvSpPr txBox="1">
            <a:spLocks noChangeArrowheads="1"/>
          </p:cNvSpPr>
          <p:nvPr/>
        </p:nvSpPr>
        <p:spPr bwMode="auto">
          <a:xfrm>
            <a:off x="257175" y="736600"/>
            <a:ext cx="8636000" cy="581025"/>
          </a:xfrm>
          <a:prstGeom prst="rect">
            <a:avLst/>
          </a:prstGeom>
          <a:noFill/>
          <a:ln w="9525">
            <a:noFill/>
            <a:miter lim="800000"/>
          </a:ln>
        </p:spPr>
        <p:txBody>
          <a:bodyPr>
            <a:spAutoFit/>
          </a:bodyPr>
          <a:lstStyle/>
          <a:p>
            <a:pPr algn="just">
              <a:lnSpc>
                <a:spcPct val="150000"/>
              </a:lnSpc>
            </a:pPr>
            <a:r>
              <a:rPr lang="en-US" altLang="zh-CN" sz="2400" b="1">
                <a:solidFill>
                  <a:srgbClr val="000000"/>
                </a:solidFill>
                <a:latin typeface="微软雅黑" panose="020B0503020204020204" pitchFamily="34" charset="-122"/>
                <a:ea typeface="微软雅黑" panose="020B0503020204020204" pitchFamily="34" charset="-122"/>
              </a:rPr>
              <a:t>2.1.1 MCS-51</a:t>
            </a:r>
            <a:r>
              <a:rPr lang="zh-CN" altLang="en-US" sz="2400" b="1">
                <a:solidFill>
                  <a:srgbClr val="000000"/>
                </a:solidFill>
                <a:latin typeface="微软雅黑" panose="020B0503020204020204" pitchFamily="34" charset="-122"/>
                <a:ea typeface="微软雅黑" panose="020B0503020204020204" pitchFamily="34" charset="-122"/>
              </a:rPr>
              <a:t>单片机</a:t>
            </a:r>
            <a:r>
              <a:rPr lang="zh-CN" altLang="en-US" sz="2400" b="1">
                <a:solidFill>
                  <a:srgbClr val="0000FF"/>
                </a:solidFill>
                <a:latin typeface="微软雅黑" panose="020B0503020204020204" pitchFamily="34" charset="-122"/>
                <a:ea typeface="微软雅黑" panose="020B0503020204020204" pitchFamily="34" charset="-122"/>
              </a:rPr>
              <a:t>总体框图</a:t>
            </a:r>
            <a:r>
              <a:rPr lang="zh-CN" altLang="en-US" sz="2400" b="1">
                <a:solidFill>
                  <a:srgbClr val="000000"/>
                </a:solidFill>
                <a:latin typeface="微软雅黑" panose="020B0503020204020204" pitchFamily="34" charset="-122"/>
                <a:ea typeface="微软雅黑" panose="020B0503020204020204" pitchFamily="34" charset="-122"/>
              </a:rPr>
              <a:t>及功能</a:t>
            </a:r>
            <a:endParaRPr lang="en-US" altLang="zh-CN" sz="2400" b="1">
              <a:solidFill>
                <a:srgbClr val="000000"/>
              </a:solidFill>
              <a:latin typeface="微软雅黑" panose="020B0503020204020204" pitchFamily="34" charset="-122"/>
              <a:ea typeface="微软雅黑" panose="020B0503020204020204" pitchFamily="34" charset="-122"/>
            </a:endParaRPr>
          </a:p>
        </p:txBody>
      </p:sp>
      <p:sp>
        <p:nvSpPr>
          <p:cNvPr id="20482"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sp>
        <p:nvSpPr>
          <p:cNvPr id="20483" name="矩形 4"/>
          <p:cNvSpPr>
            <a:spLocks noChangeArrowheads="1"/>
          </p:cNvSpPr>
          <p:nvPr/>
        </p:nvSpPr>
        <p:spPr bwMode="auto">
          <a:xfrm>
            <a:off x="2616200" y="6237288"/>
            <a:ext cx="3948113" cy="431800"/>
          </a:xfrm>
          <a:prstGeom prst="rect">
            <a:avLst/>
          </a:prstGeom>
          <a:noFill/>
          <a:ln w="9525">
            <a:noFill/>
            <a:miter lim="800000"/>
          </a:ln>
        </p:spPr>
        <p:txBody>
          <a:bodyPr wrap="none">
            <a:spAutoFit/>
          </a:bodyPr>
          <a:lstStyle/>
          <a:p>
            <a:pPr algn="ctr"/>
            <a:r>
              <a:rPr lang="en-US" altLang="zh-CN" sz="2200">
                <a:latin typeface="微软雅黑" panose="020B0503020204020204" pitchFamily="34" charset="-122"/>
                <a:ea typeface="微软雅黑" panose="020B0503020204020204" pitchFamily="34" charset="-122"/>
              </a:rPr>
              <a:t>8051</a:t>
            </a:r>
            <a:r>
              <a:rPr lang="zh-CN" altLang="en-US" sz="2200">
                <a:latin typeface="微软雅黑" panose="020B0503020204020204" pitchFamily="34" charset="-122"/>
                <a:ea typeface="微软雅黑" panose="020B0503020204020204" pitchFamily="34" charset="-122"/>
              </a:rPr>
              <a:t>单片机内部基本结构框图</a:t>
            </a:r>
          </a:p>
        </p:txBody>
      </p:sp>
      <p:pic>
        <p:nvPicPr>
          <p:cNvPr id="20484" name="图片 6"/>
          <p:cNvPicPr>
            <a:picLocks noChangeAspect="1"/>
          </p:cNvPicPr>
          <p:nvPr/>
        </p:nvPicPr>
        <p:blipFill>
          <a:blip r:embed="rId3"/>
          <a:srcRect/>
          <a:stretch>
            <a:fillRect/>
          </a:stretch>
        </p:blipFill>
        <p:spPr bwMode="auto">
          <a:xfrm>
            <a:off x="1127125" y="1374775"/>
            <a:ext cx="6886575" cy="4862513"/>
          </a:xfrm>
          <a:prstGeom prst="rect">
            <a:avLst/>
          </a:prstGeom>
          <a:noFill/>
          <a:ln w="9525">
            <a:noFill/>
            <a:miter lim="800000"/>
            <a:headEnd/>
            <a:tailEnd/>
          </a:ln>
        </p:spPr>
      </p:pic>
      <p:pic>
        <p:nvPicPr>
          <p:cNvPr id="20485" name="图片 7"/>
          <p:cNvPicPr>
            <a:picLocks noChangeAspect="1"/>
          </p:cNvPicPr>
          <p:nvPr/>
        </p:nvPicPr>
        <p:blipFill>
          <a:blip r:embed="rId4"/>
          <a:srcRect/>
          <a:stretch>
            <a:fillRect/>
          </a:stretch>
        </p:blipFill>
        <p:spPr bwMode="auto">
          <a:xfrm>
            <a:off x="7018338" y="80963"/>
            <a:ext cx="1876425" cy="539750"/>
          </a:xfrm>
          <a:prstGeom prst="rect">
            <a:avLst/>
          </a:prstGeom>
          <a:noFill/>
          <a:ln w="9525">
            <a:noFill/>
            <a:miter lim="800000"/>
            <a:headEnd/>
            <a:tailEnd/>
          </a:ln>
        </p:spPr>
      </p:pic>
      <p:pic>
        <p:nvPicPr>
          <p:cNvPr id="20486" name="图片 8"/>
          <p:cNvPicPr>
            <a:picLocks noChangeAspect="1"/>
          </p:cNvPicPr>
          <p:nvPr/>
        </p:nvPicPr>
        <p:blipFill>
          <a:blip r:embed="rId5"/>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29" name="Group 9"/>
          <p:cNvGrpSpPr/>
          <p:nvPr/>
        </p:nvGrpSpPr>
        <p:grpSpPr bwMode="auto">
          <a:xfrm>
            <a:off x="831850" y="1231900"/>
            <a:ext cx="7454607" cy="5077439"/>
            <a:chOff x="0" y="0"/>
            <a:chExt cx="4023" cy="3232"/>
          </a:xfrm>
        </p:grpSpPr>
        <p:pic>
          <p:nvPicPr>
            <p:cNvPr id="22536" name="Picture 3" descr="tu2"/>
            <p:cNvPicPr>
              <a:picLocks noChangeAspect="1" noChangeArrowheads="1"/>
            </p:cNvPicPr>
            <p:nvPr/>
          </p:nvPicPr>
          <p:blipFill>
            <a:blip r:embed="rId3">
              <a:lum bright="-30000" contrast="54000"/>
            </a:blip>
            <a:srcRect/>
            <a:stretch>
              <a:fillRect/>
            </a:stretch>
          </p:blipFill>
          <p:spPr bwMode="auto">
            <a:xfrm>
              <a:off x="0" y="0"/>
              <a:ext cx="3933" cy="3041"/>
            </a:xfrm>
            <a:prstGeom prst="rect">
              <a:avLst/>
            </a:prstGeom>
            <a:noFill/>
            <a:ln w="9525">
              <a:noFill/>
              <a:miter lim="800000"/>
              <a:headEnd/>
              <a:tailEnd/>
            </a:ln>
          </p:spPr>
        </p:pic>
        <p:sp>
          <p:nvSpPr>
            <p:cNvPr id="22537" name="Rectangle 4"/>
            <p:cNvSpPr>
              <a:spLocks noChangeArrowheads="1"/>
            </p:cNvSpPr>
            <p:nvPr/>
          </p:nvSpPr>
          <p:spPr bwMode="auto">
            <a:xfrm>
              <a:off x="511" y="1644"/>
              <a:ext cx="623" cy="1014"/>
            </a:xfrm>
            <a:prstGeom prst="rect">
              <a:avLst/>
            </a:prstGeom>
            <a:noFill/>
            <a:ln w="38100">
              <a:solidFill>
                <a:srgbClr val="0000FF"/>
              </a:solidFill>
              <a:prstDash val="dash"/>
              <a:miter lim="800000"/>
            </a:ln>
          </p:spPr>
          <p:txBody>
            <a:bodyPr wrap="none" anchor="ctr"/>
            <a:lstStyle/>
            <a:p>
              <a:endParaRPr lang="zh-CN" altLang="zh-CN" sz="2400">
                <a:latin typeface="Times New Roman" panose="02020603050405020304" pitchFamily="18" charset="0"/>
              </a:endParaRPr>
            </a:p>
          </p:txBody>
        </p:sp>
        <p:sp>
          <p:nvSpPr>
            <p:cNvPr id="22538" name="Rectangle 5"/>
            <p:cNvSpPr>
              <a:spLocks noChangeArrowheads="1"/>
            </p:cNvSpPr>
            <p:nvPr/>
          </p:nvSpPr>
          <p:spPr bwMode="auto">
            <a:xfrm>
              <a:off x="2920" y="1219"/>
              <a:ext cx="652" cy="1020"/>
            </a:xfrm>
            <a:prstGeom prst="rect">
              <a:avLst/>
            </a:prstGeom>
            <a:noFill/>
            <a:ln w="38100">
              <a:solidFill>
                <a:srgbClr val="0000FF"/>
              </a:solidFill>
              <a:prstDash val="dash"/>
              <a:miter lim="800000"/>
            </a:ln>
          </p:spPr>
          <p:txBody>
            <a:bodyPr wrap="none" anchor="ctr"/>
            <a:lstStyle/>
            <a:p>
              <a:endParaRPr lang="zh-CN" altLang="zh-CN" sz="2400">
                <a:latin typeface="Times New Roman" panose="02020603050405020304" pitchFamily="18" charset="0"/>
              </a:endParaRPr>
            </a:p>
          </p:txBody>
        </p:sp>
        <p:sp>
          <p:nvSpPr>
            <p:cNvPr id="22539" name="Line 6"/>
            <p:cNvSpPr>
              <a:spLocks noChangeShapeType="1"/>
            </p:cNvSpPr>
            <p:nvPr/>
          </p:nvSpPr>
          <p:spPr bwMode="auto">
            <a:xfrm>
              <a:off x="530" y="1162"/>
              <a:ext cx="1824" cy="0"/>
            </a:xfrm>
            <a:prstGeom prst="line">
              <a:avLst/>
            </a:prstGeom>
            <a:noFill/>
            <a:ln w="38100">
              <a:solidFill>
                <a:srgbClr val="FF0000"/>
              </a:solidFill>
              <a:prstDash val="dash"/>
              <a:round/>
            </a:ln>
          </p:spPr>
          <p:txBody>
            <a:bodyPr/>
            <a:lstStyle/>
            <a:p>
              <a:endParaRPr lang="zh-CN" altLang="en-US"/>
            </a:p>
          </p:txBody>
        </p:sp>
        <p:sp>
          <p:nvSpPr>
            <p:cNvPr id="22540" name="Line 7"/>
            <p:cNvSpPr>
              <a:spLocks noChangeShapeType="1"/>
            </p:cNvSpPr>
            <p:nvPr/>
          </p:nvSpPr>
          <p:spPr bwMode="auto">
            <a:xfrm>
              <a:off x="530" y="1190"/>
              <a:ext cx="0" cy="284"/>
            </a:xfrm>
            <a:prstGeom prst="line">
              <a:avLst/>
            </a:prstGeom>
            <a:noFill/>
            <a:ln w="38100">
              <a:solidFill>
                <a:srgbClr val="FF0000"/>
              </a:solidFill>
              <a:prstDash val="dash"/>
              <a:round/>
            </a:ln>
          </p:spPr>
          <p:txBody>
            <a:bodyPr/>
            <a:lstStyle/>
            <a:p>
              <a:endParaRPr lang="zh-CN" altLang="en-US"/>
            </a:p>
          </p:txBody>
        </p:sp>
        <p:sp>
          <p:nvSpPr>
            <p:cNvPr id="22541" name="Line 8"/>
            <p:cNvSpPr>
              <a:spLocks noChangeShapeType="1"/>
            </p:cNvSpPr>
            <p:nvPr/>
          </p:nvSpPr>
          <p:spPr bwMode="auto">
            <a:xfrm>
              <a:off x="562" y="1446"/>
              <a:ext cx="628" cy="0"/>
            </a:xfrm>
            <a:prstGeom prst="line">
              <a:avLst/>
            </a:prstGeom>
            <a:noFill/>
            <a:ln w="38100">
              <a:solidFill>
                <a:srgbClr val="FF0000"/>
              </a:solidFill>
              <a:prstDash val="dash"/>
              <a:round/>
            </a:ln>
          </p:spPr>
          <p:txBody>
            <a:bodyPr/>
            <a:lstStyle/>
            <a:p>
              <a:endParaRPr lang="zh-CN" altLang="en-US"/>
            </a:p>
          </p:txBody>
        </p:sp>
        <p:sp>
          <p:nvSpPr>
            <p:cNvPr id="22542" name="Line 9"/>
            <p:cNvSpPr>
              <a:spLocks noChangeShapeType="1"/>
            </p:cNvSpPr>
            <p:nvPr/>
          </p:nvSpPr>
          <p:spPr bwMode="auto">
            <a:xfrm>
              <a:off x="1190" y="1474"/>
              <a:ext cx="0" cy="473"/>
            </a:xfrm>
            <a:prstGeom prst="line">
              <a:avLst/>
            </a:prstGeom>
            <a:noFill/>
            <a:ln w="38100">
              <a:solidFill>
                <a:srgbClr val="FF0000"/>
              </a:solidFill>
              <a:prstDash val="dash"/>
              <a:round/>
            </a:ln>
          </p:spPr>
          <p:txBody>
            <a:bodyPr/>
            <a:lstStyle/>
            <a:p>
              <a:endParaRPr lang="zh-CN" altLang="en-US"/>
            </a:p>
          </p:txBody>
        </p:sp>
        <p:sp>
          <p:nvSpPr>
            <p:cNvPr id="22543" name="Line 10"/>
            <p:cNvSpPr>
              <a:spLocks noChangeShapeType="1"/>
            </p:cNvSpPr>
            <p:nvPr/>
          </p:nvSpPr>
          <p:spPr bwMode="auto">
            <a:xfrm>
              <a:off x="1190" y="1956"/>
              <a:ext cx="482" cy="0"/>
            </a:xfrm>
            <a:prstGeom prst="line">
              <a:avLst/>
            </a:prstGeom>
            <a:noFill/>
            <a:ln w="38100">
              <a:solidFill>
                <a:srgbClr val="FF0000"/>
              </a:solidFill>
              <a:prstDash val="dash"/>
              <a:round/>
            </a:ln>
          </p:spPr>
          <p:txBody>
            <a:bodyPr/>
            <a:lstStyle/>
            <a:p>
              <a:endParaRPr lang="zh-CN" altLang="en-US"/>
            </a:p>
          </p:txBody>
        </p:sp>
        <p:sp>
          <p:nvSpPr>
            <p:cNvPr id="22544" name="Line 11"/>
            <p:cNvSpPr>
              <a:spLocks noChangeShapeType="1"/>
            </p:cNvSpPr>
            <p:nvPr/>
          </p:nvSpPr>
          <p:spPr bwMode="auto">
            <a:xfrm flipV="1">
              <a:off x="1672" y="1474"/>
              <a:ext cx="8" cy="482"/>
            </a:xfrm>
            <a:prstGeom prst="line">
              <a:avLst/>
            </a:prstGeom>
            <a:noFill/>
            <a:ln w="38100">
              <a:solidFill>
                <a:srgbClr val="FF0000"/>
              </a:solidFill>
              <a:prstDash val="dash"/>
              <a:round/>
            </a:ln>
          </p:spPr>
          <p:txBody>
            <a:bodyPr/>
            <a:lstStyle/>
            <a:p>
              <a:endParaRPr lang="zh-CN" altLang="en-US"/>
            </a:p>
          </p:txBody>
        </p:sp>
        <p:sp>
          <p:nvSpPr>
            <p:cNvPr id="22545" name="Line 12"/>
            <p:cNvSpPr>
              <a:spLocks noChangeShapeType="1"/>
            </p:cNvSpPr>
            <p:nvPr/>
          </p:nvSpPr>
          <p:spPr bwMode="auto">
            <a:xfrm>
              <a:off x="1682" y="1488"/>
              <a:ext cx="652" cy="0"/>
            </a:xfrm>
            <a:prstGeom prst="line">
              <a:avLst/>
            </a:prstGeom>
            <a:noFill/>
            <a:ln w="38100">
              <a:solidFill>
                <a:srgbClr val="FF0000"/>
              </a:solidFill>
              <a:prstDash val="dash"/>
              <a:round/>
            </a:ln>
          </p:spPr>
          <p:txBody>
            <a:bodyPr/>
            <a:lstStyle/>
            <a:p>
              <a:endParaRPr lang="zh-CN" altLang="en-US"/>
            </a:p>
          </p:txBody>
        </p:sp>
        <p:sp>
          <p:nvSpPr>
            <p:cNvPr id="22546" name="Line 13"/>
            <p:cNvSpPr>
              <a:spLocks noChangeShapeType="1"/>
            </p:cNvSpPr>
            <p:nvPr/>
          </p:nvSpPr>
          <p:spPr bwMode="auto">
            <a:xfrm flipV="1">
              <a:off x="2325" y="1190"/>
              <a:ext cx="0" cy="303"/>
            </a:xfrm>
            <a:prstGeom prst="line">
              <a:avLst/>
            </a:prstGeom>
            <a:noFill/>
            <a:ln w="38100">
              <a:solidFill>
                <a:srgbClr val="FF0000"/>
              </a:solidFill>
              <a:prstDash val="dash"/>
              <a:round/>
            </a:ln>
          </p:spPr>
          <p:txBody>
            <a:bodyPr/>
            <a:lstStyle/>
            <a:p>
              <a:endParaRPr lang="zh-CN" altLang="en-US"/>
            </a:p>
          </p:txBody>
        </p:sp>
        <p:sp>
          <p:nvSpPr>
            <p:cNvPr id="22547" name="Line 14"/>
            <p:cNvSpPr>
              <a:spLocks noChangeShapeType="1"/>
            </p:cNvSpPr>
            <p:nvPr/>
          </p:nvSpPr>
          <p:spPr bwMode="auto">
            <a:xfrm flipV="1">
              <a:off x="2303" y="608"/>
              <a:ext cx="1190" cy="510"/>
            </a:xfrm>
            <a:prstGeom prst="line">
              <a:avLst/>
            </a:prstGeom>
            <a:noFill/>
            <a:ln w="19050">
              <a:solidFill>
                <a:srgbClr val="FF0000"/>
              </a:solidFill>
              <a:round/>
            </a:ln>
          </p:spPr>
          <p:txBody>
            <a:bodyPr/>
            <a:lstStyle/>
            <a:p>
              <a:endParaRPr lang="zh-CN" altLang="en-US"/>
            </a:p>
          </p:txBody>
        </p:sp>
        <p:sp>
          <p:nvSpPr>
            <p:cNvPr id="22548" name="Line 15"/>
            <p:cNvSpPr>
              <a:spLocks noChangeShapeType="1"/>
            </p:cNvSpPr>
            <p:nvPr/>
          </p:nvSpPr>
          <p:spPr bwMode="auto">
            <a:xfrm>
              <a:off x="1134" y="2374"/>
              <a:ext cx="1304" cy="624"/>
            </a:xfrm>
            <a:prstGeom prst="line">
              <a:avLst/>
            </a:prstGeom>
            <a:noFill/>
            <a:ln w="9525">
              <a:solidFill>
                <a:srgbClr val="0000FF"/>
              </a:solidFill>
              <a:round/>
            </a:ln>
          </p:spPr>
          <p:txBody>
            <a:bodyPr/>
            <a:lstStyle/>
            <a:p>
              <a:endParaRPr lang="zh-CN" altLang="en-US"/>
            </a:p>
          </p:txBody>
        </p:sp>
        <p:sp>
          <p:nvSpPr>
            <p:cNvPr id="22549" name="Line 16"/>
            <p:cNvSpPr>
              <a:spLocks noChangeShapeType="1"/>
            </p:cNvSpPr>
            <p:nvPr/>
          </p:nvSpPr>
          <p:spPr bwMode="auto">
            <a:xfrm flipH="1">
              <a:off x="2466" y="2238"/>
              <a:ext cx="1106" cy="760"/>
            </a:xfrm>
            <a:prstGeom prst="line">
              <a:avLst/>
            </a:prstGeom>
            <a:noFill/>
            <a:ln w="9525">
              <a:solidFill>
                <a:srgbClr val="0000FF"/>
              </a:solidFill>
              <a:round/>
            </a:ln>
          </p:spPr>
          <p:txBody>
            <a:bodyPr/>
            <a:lstStyle/>
            <a:p>
              <a:endParaRPr lang="zh-CN" altLang="en-US"/>
            </a:p>
          </p:txBody>
        </p:sp>
        <p:sp>
          <p:nvSpPr>
            <p:cNvPr id="22550" name="Text Box 17"/>
            <p:cNvSpPr txBox="1">
              <a:spLocks noChangeArrowheads="1"/>
            </p:cNvSpPr>
            <p:nvPr/>
          </p:nvSpPr>
          <p:spPr bwMode="auto">
            <a:xfrm>
              <a:off x="2204" y="2977"/>
              <a:ext cx="553" cy="255"/>
            </a:xfrm>
            <a:prstGeom prst="rect">
              <a:avLst/>
            </a:prstGeom>
            <a:noFill/>
            <a:ln w="9525">
              <a:noFill/>
              <a:miter lim="800000"/>
            </a:ln>
          </p:spPr>
          <p:txBody>
            <a:bodyPr wrap="square">
              <a:spAutoFit/>
            </a:bodyPr>
            <a:lstStyle/>
            <a:p>
              <a:pPr>
                <a:spcBef>
                  <a:spcPct val="50000"/>
                </a:spcBef>
              </a:pPr>
              <a:r>
                <a:rPr lang="zh-CN" altLang="en-US" sz="2000" b="1" dirty="0">
                  <a:solidFill>
                    <a:srgbClr val="0000CC"/>
                  </a:solidFill>
                  <a:latin typeface="微软雅黑" panose="020B0503020204020204" pitchFamily="34" charset="-122"/>
                  <a:ea typeface="微软雅黑" panose="020B0503020204020204" pitchFamily="34" charset="-122"/>
                </a:rPr>
                <a:t>控制器</a:t>
              </a:r>
            </a:p>
          </p:txBody>
        </p:sp>
        <p:sp>
          <p:nvSpPr>
            <p:cNvPr id="22551" name="Text Box 18"/>
            <p:cNvSpPr txBox="1">
              <a:spLocks noChangeArrowheads="1"/>
            </p:cNvSpPr>
            <p:nvPr/>
          </p:nvSpPr>
          <p:spPr bwMode="auto">
            <a:xfrm>
              <a:off x="3493" y="475"/>
              <a:ext cx="530" cy="255"/>
            </a:xfrm>
            <a:prstGeom prst="rect">
              <a:avLst/>
            </a:prstGeom>
            <a:noFill/>
            <a:ln w="9525">
              <a:noFill/>
              <a:miter lim="800000"/>
            </a:ln>
          </p:spPr>
          <p:txBody>
            <a:bodyPr wrap="square">
              <a:spAutoFit/>
            </a:bodyPr>
            <a:lstStyle/>
            <a:p>
              <a:pPr>
                <a:spcBef>
                  <a:spcPct val="50000"/>
                </a:spcBef>
              </a:pPr>
              <a:r>
                <a:rPr lang="zh-CN" altLang="en-US" sz="2000" b="1" dirty="0">
                  <a:solidFill>
                    <a:srgbClr val="FF3300"/>
                  </a:solidFill>
                  <a:latin typeface="微软雅黑" panose="020B0503020204020204" pitchFamily="34" charset="-122"/>
                  <a:ea typeface="微软雅黑" panose="020B0503020204020204" pitchFamily="34" charset="-122"/>
                </a:rPr>
                <a:t>运算器</a:t>
              </a:r>
            </a:p>
          </p:txBody>
        </p:sp>
      </p:grpSp>
      <p:sp>
        <p:nvSpPr>
          <p:cNvPr id="22530" name="文本框 1"/>
          <p:cNvSpPr txBox="1">
            <a:spLocks noChangeArrowheads="1"/>
          </p:cNvSpPr>
          <p:nvPr/>
        </p:nvSpPr>
        <p:spPr bwMode="auto">
          <a:xfrm>
            <a:off x="257175" y="736600"/>
            <a:ext cx="8636000" cy="581025"/>
          </a:xfrm>
          <a:prstGeom prst="rect">
            <a:avLst/>
          </a:prstGeom>
          <a:noFill/>
          <a:ln w="9525">
            <a:noFill/>
            <a:miter lim="800000"/>
          </a:ln>
        </p:spPr>
        <p:txBody>
          <a:bodyPr>
            <a:spAutoFit/>
          </a:bodyPr>
          <a:lstStyle/>
          <a:p>
            <a:pPr algn="just">
              <a:lnSpc>
                <a:spcPct val="150000"/>
              </a:lnSpc>
            </a:pPr>
            <a:r>
              <a:rPr lang="en-US" altLang="zh-CN" sz="2400" b="1">
                <a:solidFill>
                  <a:srgbClr val="000000"/>
                </a:solidFill>
                <a:latin typeface="微软雅黑" panose="020B0503020204020204" pitchFamily="34" charset="-122"/>
                <a:ea typeface="微软雅黑" panose="020B0503020204020204" pitchFamily="34" charset="-122"/>
              </a:rPr>
              <a:t>2.1.1 MCS-51</a:t>
            </a:r>
            <a:r>
              <a:rPr lang="zh-CN" altLang="en-US" sz="2400" b="1">
                <a:solidFill>
                  <a:srgbClr val="000000"/>
                </a:solidFill>
                <a:latin typeface="微软雅黑" panose="020B0503020204020204" pitchFamily="34" charset="-122"/>
                <a:ea typeface="微软雅黑" panose="020B0503020204020204" pitchFamily="34" charset="-122"/>
              </a:rPr>
              <a:t>单片机总体框图及功能</a:t>
            </a:r>
            <a:endParaRPr lang="en-US" altLang="zh-CN" sz="2400" b="1">
              <a:solidFill>
                <a:srgbClr val="000000"/>
              </a:solidFill>
              <a:latin typeface="微软雅黑" panose="020B0503020204020204" pitchFamily="34" charset="-122"/>
              <a:ea typeface="微软雅黑" panose="020B0503020204020204" pitchFamily="34" charset="-122"/>
            </a:endParaRPr>
          </a:p>
        </p:txBody>
      </p:sp>
      <p:sp>
        <p:nvSpPr>
          <p:cNvPr id="22531"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sp>
        <p:nvSpPr>
          <p:cNvPr id="22532" name="矩形 22"/>
          <p:cNvSpPr>
            <a:spLocks noChangeArrowheads="1"/>
          </p:cNvSpPr>
          <p:nvPr/>
        </p:nvSpPr>
        <p:spPr bwMode="auto">
          <a:xfrm>
            <a:off x="2616200" y="6237288"/>
            <a:ext cx="3948113" cy="431800"/>
          </a:xfrm>
          <a:prstGeom prst="rect">
            <a:avLst/>
          </a:prstGeom>
          <a:noFill/>
          <a:ln w="9525">
            <a:noFill/>
            <a:miter lim="800000"/>
          </a:ln>
        </p:spPr>
        <p:txBody>
          <a:bodyPr wrap="none">
            <a:spAutoFit/>
          </a:bodyPr>
          <a:lstStyle/>
          <a:p>
            <a:pPr algn="ctr"/>
            <a:r>
              <a:rPr lang="en-US" altLang="zh-CN" sz="2200">
                <a:latin typeface="微软雅黑" panose="020B0503020204020204" pitchFamily="34" charset="-122"/>
                <a:ea typeface="微软雅黑" panose="020B0503020204020204" pitchFamily="34" charset="-122"/>
              </a:rPr>
              <a:t>8051</a:t>
            </a:r>
            <a:r>
              <a:rPr lang="zh-CN" altLang="en-US" sz="2200">
                <a:latin typeface="微软雅黑" panose="020B0503020204020204" pitchFamily="34" charset="-122"/>
                <a:ea typeface="微软雅黑" panose="020B0503020204020204" pitchFamily="34" charset="-122"/>
              </a:rPr>
              <a:t>单片机系统结构原理框图</a:t>
            </a:r>
          </a:p>
        </p:txBody>
      </p:sp>
      <p:pic>
        <p:nvPicPr>
          <p:cNvPr id="22533" name="图片 23"/>
          <p:cNvPicPr>
            <a:picLocks noChangeAspect="1"/>
          </p:cNvPicPr>
          <p:nvPr/>
        </p:nvPicPr>
        <p:blipFill>
          <a:blip r:embed="rId4"/>
          <a:srcRect/>
          <a:stretch>
            <a:fillRect/>
          </a:stretch>
        </p:blipFill>
        <p:spPr bwMode="auto">
          <a:xfrm>
            <a:off x="7018338" y="80963"/>
            <a:ext cx="1876425" cy="539750"/>
          </a:xfrm>
          <a:prstGeom prst="rect">
            <a:avLst/>
          </a:prstGeom>
          <a:noFill/>
          <a:ln w="9525">
            <a:noFill/>
            <a:miter lim="800000"/>
            <a:headEnd/>
            <a:tailEnd/>
          </a:ln>
        </p:spPr>
      </p:pic>
      <p:pic>
        <p:nvPicPr>
          <p:cNvPr id="22534" name="图片 24"/>
          <p:cNvPicPr>
            <a:picLocks noChangeAspect="1"/>
          </p:cNvPicPr>
          <p:nvPr/>
        </p:nvPicPr>
        <p:blipFill>
          <a:blip r:embed="rId5"/>
          <a:srcRect/>
          <a:stretch>
            <a:fillRect/>
          </a:stretch>
        </p:blipFill>
        <p:spPr bwMode="auto">
          <a:xfrm>
            <a:off x="254000" y="6419850"/>
            <a:ext cx="2495550" cy="360363"/>
          </a:xfrm>
          <a:prstGeom prst="rect">
            <a:avLst/>
          </a:prstGeom>
          <a:noFill/>
          <a:ln w="9525">
            <a:noFill/>
            <a:miter lim="800000"/>
            <a:headEnd/>
            <a:tailEnd/>
          </a:ln>
        </p:spPr>
      </p:pic>
      <p:sp>
        <p:nvSpPr>
          <p:cNvPr id="25" name="Rectangle 4"/>
          <p:cNvSpPr>
            <a:spLocks noChangeArrowheads="1"/>
          </p:cNvSpPr>
          <p:nvPr/>
        </p:nvSpPr>
        <p:spPr bwMode="auto">
          <a:xfrm>
            <a:off x="5420798" y="2913712"/>
            <a:ext cx="660594" cy="633827"/>
          </a:xfrm>
          <a:prstGeom prst="rect">
            <a:avLst/>
          </a:prstGeom>
          <a:noFill/>
          <a:ln w="38100">
            <a:solidFill>
              <a:srgbClr val="0000FF"/>
            </a:solidFill>
            <a:prstDash val="dash"/>
            <a:miter lim="800000"/>
          </a:ln>
        </p:spPr>
        <p:txBody>
          <a:bodyPr wrap="none" anchor="ctr"/>
          <a:lstStyle/>
          <a:p>
            <a:endParaRPr lang="zh-CN" altLang="zh-CN" sz="2400">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770811"/>
          </a:xfrm>
          <a:prstGeom prst="rect">
            <a:avLst/>
          </a:prstGeom>
          <a:noFill/>
        </p:spPr>
        <p:txBody>
          <a:bodyPr>
            <a:spAutoFit/>
          </a:bodyPr>
          <a:lstStyle/>
          <a:p>
            <a:pPr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2.1.1 MCS-51</a:t>
            </a:r>
            <a:r>
              <a:rPr lang="zh-CN" altLang="en-US" sz="2400" b="1" dirty="0">
                <a:solidFill>
                  <a:prstClr val="black"/>
                </a:solidFill>
                <a:latin typeface="微软雅黑" panose="020B0503020204020204" pitchFamily="34" charset="-122"/>
                <a:ea typeface="微软雅黑" panose="020B0503020204020204" pitchFamily="34" charset="-122"/>
              </a:rPr>
              <a:t>单片机总体框图及功能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200" dirty="0">
                <a:solidFill>
                  <a:prstClr val="black"/>
                </a:solidFill>
                <a:latin typeface="微软雅黑" panose="020B0503020204020204" pitchFamily="34" charset="-122"/>
                <a:ea typeface="微软雅黑" panose="020B0503020204020204" pitchFamily="34" charset="-122"/>
              </a:rPr>
              <a:t>       8051</a:t>
            </a:r>
            <a:r>
              <a:rPr lang="zh-CN" altLang="en-US" sz="2200" dirty="0">
                <a:solidFill>
                  <a:prstClr val="black"/>
                </a:solidFill>
                <a:latin typeface="微软雅黑" panose="020B0503020204020204" pitchFamily="34" charset="-122"/>
                <a:ea typeface="微软雅黑" panose="020B0503020204020204" pitchFamily="34" charset="-122"/>
              </a:rPr>
              <a:t>单片机内部由</a:t>
            </a:r>
            <a:r>
              <a:rPr lang="en-US" altLang="zh-CN" sz="2200" b="1" dirty="0">
                <a:solidFill>
                  <a:srgbClr val="0000FF"/>
                </a:solidFill>
                <a:latin typeface="微软雅黑" panose="020B0503020204020204" pitchFamily="34" charset="-122"/>
                <a:ea typeface="微软雅黑" panose="020B0503020204020204" pitchFamily="34" charset="-122"/>
              </a:rPr>
              <a:t>CPU</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4KB</a:t>
            </a:r>
            <a:r>
              <a:rPr lang="zh-CN" altLang="en-US" sz="2200" dirty="0">
                <a:solidFill>
                  <a:prstClr val="black"/>
                </a:solidFill>
                <a:latin typeface="微软雅黑" panose="020B0503020204020204" pitchFamily="34" charset="-122"/>
                <a:ea typeface="微软雅黑" panose="020B0503020204020204" pitchFamily="34" charset="-122"/>
              </a:rPr>
              <a:t> </a:t>
            </a:r>
            <a:r>
              <a:rPr lang="en-US" altLang="zh-CN" sz="2200" b="1" dirty="0">
                <a:solidFill>
                  <a:srgbClr val="0000FF"/>
                </a:solidFill>
                <a:latin typeface="微软雅黑" panose="020B0503020204020204" pitchFamily="34" charset="-122"/>
                <a:ea typeface="微软雅黑" panose="020B0503020204020204" pitchFamily="34" charset="-122"/>
              </a:rPr>
              <a:t>ROM</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128B</a:t>
            </a:r>
            <a:r>
              <a:rPr lang="zh-CN" altLang="en-US" sz="2200" dirty="0">
                <a:solidFill>
                  <a:prstClr val="black"/>
                </a:solidFill>
                <a:latin typeface="微软雅黑" panose="020B0503020204020204" pitchFamily="34" charset="-122"/>
                <a:ea typeface="微软雅黑" panose="020B0503020204020204" pitchFamily="34" charset="-122"/>
              </a:rPr>
              <a:t> </a:t>
            </a:r>
            <a:r>
              <a:rPr lang="en-US" altLang="zh-CN" sz="2200" b="1" dirty="0">
                <a:solidFill>
                  <a:srgbClr val="0000FF"/>
                </a:solidFill>
                <a:latin typeface="微软雅黑" panose="020B0503020204020204" pitchFamily="34" charset="-122"/>
                <a:ea typeface="微软雅黑" panose="020B0503020204020204" pitchFamily="34" charset="-122"/>
              </a:rPr>
              <a:t>RAM</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4</a:t>
            </a:r>
            <a:r>
              <a:rPr lang="zh-CN" altLang="en-US" sz="2200" dirty="0">
                <a:solidFill>
                  <a:prstClr val="black"/>
                </a:solidFill>
                <a:latin typeface="微软雅黑" panose="020B0503020204020204" pitchFamily="34" charset="-122"/>
                <a:ea typeface="微软雅黑" panose="020B0503020204020204" pitchFamily="34" charset="-122"/>
              </a:rPr>
              <a:t>个</a:t>
            </a:r>
            <a:r>
              <a:rPr lang="en-US" altLang="zh-CN" sz="2200" dirty="0">
                <a:solidFill>
                  <a:prstClr val="black"/>
                </a:solidFill>
                <a:latin typeface="微软雅黑" panose="020B0503020204020204" pitchFamily="34" charset="-122"/>
                <a:ea typeface="微软雅黑" panose="020B0503020204020204" pitchFamily="34" charset="-122"/>
              </a:rPr>
              <a:t>8</a:t>
            </a:r>
            <a:r>
              <a:rPr lang="zh-CN" altLang="en-US" sz="2200" dirty="0">
                <a:solidFill>
                  <a:prstClr val="black"/>
                </a:solidFill>
                <a:latin typeface="微软雅黑" panose="020B0503020204020204" pitchFamily="34" charset="-122"/>
                <a:ea typeface="微软雅黑" panose="020B0503020204020204" pitchFamily="34" charset="-122"/>
              </a:rPr>
              <a:t>位的</a:t>
            </a:r>
            <a:r>
              <a:rPr lang="en-US" altLang="zh-CN" sz="2200" b="1" dirty="0">
                <a:solidFill>
                  <a:srgbClr val="0000FF"/>
                </a:solidFill>
                <a:latin typeface="微软雅黑" panose="020B0503020204020204" pitchFamily="34" charset="-122"/>
                <a:ea typeface="微软雅黑" panose="020B0503020204020204" pitchFamily="34" charset="-122"/>
              </a:rPr>
              <a:t>I/O</a:t>
            </a:r>
            <a:r>
              <a:rPr lang="zh-CN" altLang="en-US" sz="2200" dirty="0">
                <a:solidFill>
                  <a:prstClr val="black"/>
                </a:solidFill>
                <a:latin typeface="微软雅黑" panose="020B0503020204020204" pitchFamily="34" charset="-122"/>
                <a:ea typeface="微软雅黑" panose="020B0503020204020204" pitchFamily="34" charset="-122"/>
              </a:rPr>
              <a:t>并行端口、一个</a:t>
            </a:r>
            <a:r>
              <a:rPr lang="zh-CN" altLang="en-US" sz="2200" b="1" dirty="0">
                <a:solidFill>
                  <a:srgbClr val="0000FF"/>
                </a:solidFill>
                <a:latin typeface="微软雅黑" panose="020B0503020204020204" pitchFamily="34" charset="-122"/>
                <a:ea typeface="微软雅黑" panose="020B0503020204020204" pitchFamily="34" charset="-122"/>
              </a:rPr>
              <a:t>全双工串行口</a:t>
            </a:r>
            <a:r>
              <a:rPr lang="zh-CN" altLang="en-US" sz="2200" dirty="0">
                <a:solidFill>
                  <a:prstClr val="black"/>
                </a:solidFill>
                <a:latin typeface="微软雅黑" panose="020B0503020204020204" pitchFamily="34" charset="-122"/>
                <a:ea typeface="微软雅黑" panose="020B0503020204020204" pitchFamily="34" charset="-122"/>
              </a:rPr>
              <a:t>、两个</a:t>
            </a:r>
            <a:r>
              <a:rPr lang="en-US" altLang="zh-CN" sz="2200" dirty="0">
                <a:solidFill>
                  <a:prstClr val="black"/>
                </a:solidFill>
                <a:latin typeface="微软雅黑" panose="020B0503020204020204" pitchFamily="34" charset="-122"/>
                <a:ea typeface="微软雅黑" panose="020B0503020204020204" pitchFamily="34" charset="-122"/>
              </a:rPr>
              <a:t>16</a:t>
            </a:r>
            <a:r>
              <a:rPr lang="zh-CN" altLang="en-US" sz="2200" b="1" dirty="0">
                <a:solidFill>
                  <a:srgbClr val="0000FF"/>
                </a:solidFill>
                <a:latin typeface="微软雅黑" panose="020B0503020204020204" pitchFamily="34" charset="-122"/>
                <a:ea typeface="微软雅黑" panose="020B0503020204020204" pitchFamily="34" charset="-122"/>
              </a:rPr>
              <a:t>位定时</a:t>
            </a:r>
            <a:r>
              <a:rPr lang="en-US" altLang="zh-CN" sz="2200" b="1" dirty="0">
                <a:solidFill>
                  <a:srgbClr val="0000FF"/>
                </a:solidFill>
                <a:latin typeface="微软雅黑" panose="020B0503020204020204" pitchFamily="34" charset="-122"/>
                <a:ea typeface="微软雅黑" panose="020B0503020204020204" pitchFamily="34" charset="-122"/>
              </a:rPr>
              <a:t>/</a:t>
            </a:r>
            <a:r>
              <a:rPr lang="zh-CN" altLang="en-US" sz="2200" b="1" dirty="0">
                <a:solidFill>
                  <a:srgbClr val="0000FF"/>
                </a:solidFill>
                <a:latin typeface="微软雅黑" panose="020B0503020204020204" pitchFamily="34" charset="-122"/>
                <a:ea typeface="微软雅黑" panose="020B0503020204020204" pitchFamily="34" charset="-122"/>
              </a:rPr>
              <a:t>计数器</a:t>
            </a:r>
            <a:r>
              <a:rPr lang="zh-CN" altLang="en-US" sz="2200" dirty="0">
                <a:solidFill>
                  <a:prstClr val="black"/>
                </a:solidFill>
                <a:latin typeface="微软雅黑" panose="020B0503020204020204" pitchFamily="34" charset="-122"/>
                <a:ea typeface="微软雅黑" panose="020B0503020204020204" pitchFamily="34" charset="-122"/>
              </a:rPr>
              <a:t>及</a:t>
            </a:r>
            <a:r>
              <a:rPr lang="zh-CN" altLang="en-US" sz="2200" b="1" dirty="0">
                <a:solidFill>
                  <a:srgbClr val="0000FF"/>
                </a:solidFill>
                <a:latin typeface="微软雅黑" panose="020B0503020204020204" pitchFamily="34" charset="-122"/>
                <a:ea typeface="微软雅黑" panose="020B0503020204020204" pitchFamily="34" charset="-122"/>
              </a:rPr>
              <a:t>中断系统</a:t>
            </a:r>
            <a:r>
              <a:rPr lang="en-US" altLang="zh-CN" sz="2200" dirty="0">
                <a:solidFill>
                  <a:prstClr val="black"/>
                </a:solidFill>
                <a:latin typeface="微软雅黑" panose="020B0503020204020204" pitchFamily="34" charset="-122"/>
                <a:ea typeface="微软雅黑" panose="020B0503020204020204" pitchFamily="34" charset="-122"/>
              </a:rPr>
              <a:t>(5</a:t>
            </a:r>
            <a:r>
              <a:rPr lang="zh-CN" altLang="en-US" sz="2200" dirty="0">
                <a:solidFill>
                  <a:prstClr val="black"/>
                </a:solidFill>
                <a:latin typeface="微软雅黑" panose="020B0503020204020204" pitchFamily="34" charset="-122"/>
                <a:ea typeface="微软雅黑" panose="020B0503020204020204" pitchFamily="34" charset="-122"/>
              </a:rPr>
              <a:t>个中断源</a:t>
            </a:r>
            <a:r>
              <a:rPr lang="en-US" altLang="zh-CN" sz="2200" dirty="0">
                <a:solidFill>
                  <a:prstClr val="black"/>
                </a:solidFill>
                <a:latin typeface="微软雅黑" panose="020B0503020204020204" pitchFamily="34" charset="-122"/>
                <a:ea typeface="微软雅黑" panose="020B0503020204020204" pitchFamily="34" charset="-122"/>
              </a:rPr>
              <a:t>)</a:t>
            </a:r>
            <a:r>
              <a:rPr lang="zh-CN" altLang="en-US" sz="2200" dirty="0">
                <a:solidFill>
                  <a:prstClr val="black"/>
                </a:solidFill>
                <a:latin typeface="微软雅黑" panose="020B0503020204020204" pitchFamily="34" charset="-122"/>
                <a:ea typeface="微软雅黑" panose="020B0503020204020204" pitchFamily="34" charset="-122"/>
              </a:rPr>
              <a:t>等</a:t>
            </a:r>
            <a:r>
              <a:rPr lang="zh-CN" altLang="en-US" sz="2200" dirty="0">
                <a:solidFill>
                  <a:srgbClr val="FF0000"/>
                </a:solidFill>
                <a:latin typeface="微软雅黑" panose="020B0503020204020204" pitchFamily="34" charset="-122"/>
                <a:ea typeface="微软雅黑" panose="020B0503020204020204" pitchFamily="34" charset="-122"/>
              </a:rPr>
              <a:t>组成</a:t>
            </a:r>
            <a:r>
              <a:rPr lang="zh-CN" altLang="en-US" sz="2200" dirty="0">
                <a:solidFill>
                  <a:prstClr val="black"/>
                </a:solidFill>
                <a:latin typeface="微软雅黑" panose="020B0503020204020204" pitchFamily="34" charset="-122"/>
                <a:ea typeface="微软雅黑" panose="020B0503020204020204" pitchFamily="34" charset="-122"/>
              </a:rPr>
              <a:t>。</a:t>
            </a:r>
            <a:endParaRPr lang="en-US" altLang="zh-CN" sz="22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Clr>
                <a:srgbClr val="0000FF"/>
              </a:buClr>
              <a:buFont typeface="Wingdings" panose="05000000000000000000" pitchFamily="2" charset="2"/>
              <a:buChar char="p"/>
              <a:defRPr/>
            </a:pPr>
            <a:r>
              <a:rPr lang="zh-CN" altLang="en-US" sz="2200" b="1" dirty="0">
                <a:solidFill>
                  <a:prstClr val="black"/>
                </a:solidFill>
                <a:latin typeface="微软雅黑" panose="020B0503020204020204" pitchFamily="34" charset="-122"/>
                <a:ea typeface="微软雅黑" panose="020B0503020204020204" pitchFamily="34" charset="-122"/>
              </a:rPr>
              <a:t> </a:t>
            </a:r>
            <a:r>
              <a:rPr lang="en-US" altLang="zh-CN" sz="2200" b="1" dirty="0">
                <a:solidFill>
                  <a:srgbClr val="0000FF"/>
                </a:solidFill>
                <a:latin typeface="微软雅黑" panose="020B0503020204020204" pitchFamily="34" charset="-122"/>
                <a:ea typeface="微软雅黑" panose="020B0503020204020204" pitchFamily="34" charset="-122"/>
              </a:rPr>
              <a:t>CPU</a:t>
            </a:r>
            <a:r>
              <a:rPr lang="zh-CN" altLang="en-US" sz="2200" dirty="0">
                <a:solidFill>
                  <a:prstClr val="black"/>
                </a:solidFill>
                <a:latin typeface="微软雅黑" panose="020B0503020204020204" pitchFamily="34" charset="-122"/>
                <a:ea typeface="微软雅黑" panose="020B0503020204020204" pitchFamily="34" charset="-122"/>
              </a:rPr>
              <a:t>：单片机内部的核心部件，是单片机的指挥和控制中心。从功能上看，</a:t>
            </a:r>
            <a:r>
              <a:rPr lang="en-US" altLang="zh-CN" sz="2200" dirty="0">
                <a:solidFill>
                  <a:prstClr val="black"/>
                </a:solidFill>
                <a:latin typeface="微软雅黑" panose="020B0503020204020204" pitchFamily="34" charset="-122"/>
                <a:ea typeface="微软雅黑" panose="020B0503020204020204" pitchFamily="34" charset="-122"/>
              </a:rPr>
              <a:t>CPU</a:t>
            </a:r>
            <a:r>
              <a:rPr lang="zh-CN" altLang="en-US" sz="2200" dirty="0">
                <a:solidFill>
                  <a:prstClr val="black"/>
                </a:solidFill>
                <a:latin typeface="微软雅黑" panose="020B0503020204020204" pitchFamily="34" charset="-122"/>
                <a:ea typeface="微软雅黑" panose="020B0503020204020204" pitchFamily="34" charset="-122"/>
              </a:rPr>
              <a:t>可分为</a:t>
            </a:r>
            <a:r>
              <a:rPr lang="zh-CN" altLang="en-US" sz="2200" b="1" dirty="0">
                <a:solidFill>
                  <a:srgbClr val="0000FF"/>
                </a:solidFill>
                <a:latin typeface="微软雅黑" panose="020B0503020204020204" pitchFamily="34" charset="-122"/>
                <a:ea typeface="微软雅黑" panose="020B0503020204020204" pitchFamily="34" charset="-122"/>
              </a:rPr>
              <a:t>运算器</a:t>
            </a:r>
            <a:r>
              <a:rPr lang="zh-CN" altLang="en-US" sz="2200" dirty="0">
                <a:solidFill>
                  <a:prstClr val="black"/>
                </a:solidFill>
                <a:latin typeface="微软雅黑" panose="020B0503020204020204" pitchFamily="34" charset="-122"/>
                <a:ea typeface="微软雅黑" panose="020B0503020204020204" pitchFamily="34" charset="-122"/>
              </a:rPr>
              <a:t>和</a:t>
            </a:r>
            <a:r>
              <a:rPr lang="zh-CN" altLang="en-US" sz="2200" b="1" dirty="0">
                <a:solidFill>
                  <a:srgbClr val="0000FF"/>
                </a:solidFill>
                <a:latin typeface="微软雅黑" panose="020B0503020204020204" pitchFamily="34" charset="-122"/>
                <a:ea typeface="微软雅黑" panose="020B0503020204020204" pitchFamily="34" charset="-122"/>
              </a:rPr>
              <a:t>控制器</a:t>
            </a:r>
            <a:r>
              <a:rPr lang="zh-CN" altLang="en-US" sz="2200" dirty="0">
                <a:solidFill>
                  <a:prstClr val="black"/>
                </a:solidFill>
                <a:latin typeface="微软雅黑" panose="020B0503020204020204" pitchFamily="34" charset="-122"/>
                <a:ea typeface="微软雅黑" panose="020B0503020204020204" pitchFamily="34" charset="-122"/>
              </a:rPr>
              <a:t>两大部分。</a:t>
            </a:r>
            <a:endParaRPr lang="en-US" altLang="zh-CN" sz="22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Clr>
                <a:srgbClr val="0000FF"/>
              </a:buClr>
              <a:buFont typeface="Wingdings" panose="05000000000000000000" pitchFamily="2" charset="2"/>
              <a:buChar char="Ø"/>
              <a:defRPr/>
            </a:pPr>
            <a:r>
              <a:rPr lang="zh-CN" altLang="en-US" sz="2200" b="1" dirty="0">
                <a:solidFill>
                  <a:srgbClr val="0000FF"/>
                </a:solidFill>
                <a:latin typeface="微软雅黑" panose="020B0503020204020204" pitchFamily="34" charset="-122"/>
                <a:ea typeface="微软雅黑" panose="020B0503020204020204" pitchFamily="34" charset="-122"/>
              </a:rPr>
              <a:t>运算器</a:t>
            </a:r>
            <a:r>
              <a:rPr lang="zh-CN" altLang="en-US" sz="2200" dirty="0">
                <a:solidFill>
                  <a:prstClr val="black"/>
                </a:solidFill>
                <a:latin typeface="微软雅黑" panose="020B0503020204020204" pitchFamily="34" charset="-122"/>
                <a:ea typeface="微软雅黑" panose="020B0503020204020204" pitchFamily="34" charset="-122"/>
              </a:rPr>
              <a:t>：主要包括</a:t>
            </a:r>
            <a:r>
              <a:rPr lang="zh-CN" altLang="en-US" sz="2200" u="sng" dirty="0">
                <a:solidFill>
                  <a:prstClr val="black"/>
                </a:solidFill>
                <a:latin typeface="微软雅黑" panose="020B0503020204020204" pitchFamily="34" charset="-122"/>
                <a:ea typeface="微软雅黑" panose="020B0503020204020204" pitchFamily="34" charset="-122"/>
              </a:rPr>
              <a:t>算术和逻辑运算部件</a:t>
            </a:r>
            <a:r>
              <a:rPr lang="en-US" altLang="zh-CN" sz="2200" u="sng" dirty="0">
                <a:solidFill>
                  <a:prstClr val="black"/>
                </a:solidFill>
                <a:latin typeface="微软雅黑" panose="020B0503020204020204" pitchFamily="34" charset="-122"/>
                <a:ea typeface="微软雅黑" panose="020B0503020204020204" pitchFamily="34" charset="-122"/>
              </a:rPr>
              <a:t>ALU</a:t>
            </a:r>
            <a:r>
              <a:rPr lang="zh-CN" altLang="en-US" sz="2200" dirty="0">
                <a:solidFill>
                  <a:prstClr val="black"/>
                </a:solidFill>
                <a:latin typeface="微软雅黑" panose="020B0503020204020204" pitchFamily="34" charset="-122"/>
                <a:ea typeface="微软雅黑" panose="020B0503020204020204" pitchFamily="34" charset="-122"/>
              </a:rPr>
              <a:t>、</a:t>
            </a:r>
            <a:r>
              <a:rPr lang="zh-CN" altLang="en-US" sz="2200" u="sng" dirty="0">
                <a:solidFill>
                  <a:prstClr val="black"/>
                </a:solidFill>
                <a:latin typeface="微软雅黑" panose="020B0503020204020204" pitchFamily="34" charset="-122"/>
                <a:ea typeface="微软雅黑" panose="020B0503020204020204" pitchFamily="34" charset="-122"/>
              </a:rPr>
              <a:t>累加器</a:t>
            </a:r>
            <a:r>
              <a:rPr lang="en-US" altLang="zh-CN" sz="2200" u="sng" dirty="0">
                <a:solidFill>
                  <a:prstClr val="black"/>
                </a:solidFill>
                <a:latin typeface="微软雅黑" panose="020B0503020204020204" pitchFamily="34" charset="-122"/>
                <a:ea typeface="微软雅黑" panose="020B0503020204020204" pitchFamily="34" charset="-122"/>
              </a:rPr>
              <a:t>ACC</a:t>
            </a:r>
            <a:r>
              <a:rPr lang="zh-CN" altLang="en-US" sz="2200" dirty="0">
                <a:solidFill>
                  <a:prstClr val="black"/>
                </a:solidFill>
                <a:latin typeface="微软雅黑" panose="020B0503020204020204" pitchFamily="34" charset="-122"/>
                <a:ea typeface="微软雅黑" panose="020B0503020204020204" pitchFamily="34" charset="-122"/>
              </a:rPr>
              <a:t>、</a:t>
            </a:r>
            <a:r>
              <a:rPr lang="zh-CN" altLang="en-US" sz="2200" u="sng" dirty="0">
                <a:solidFill>
                  <a:prstClr val="black"/>
                </a:solidFill>
                <a:latin typeface="微软雅黑" panose="020B0503020204020204" pitchFamily="34" charset="-122"/>
                <a:ea typeface="微软雅黑" panose="020B0503020204020204" pitchFamily="34" charset="-122"/>
              </a:rPr>
              <a:t>寄存器</a:t>
            </a:r>
            <a:r>
              <a:rPr lang="en-US" altLang="zh-CN" sz="2200" u="sng" dirty="0">
                <a:solidFill>
                  <a:prstClr val="black"/>
                </a:solidFill>
                <a:latin typeface="微软雅黑" panose="020B0503020204020204" pitchFamily="34" charset="-122"/>
                <a:ea typeface="微软雅黑" panose="020B0503020204020204" pitchFamily="34" charset="-122"/>
              </a:rPr>
              <a:t>B</a:t>
            </a:r>
            <a:r>
              <a:rPr lang="zh-CN" altLang="en-US" sz="2200" dirty="0">
                <a:solidFill>
                  <a:prstClr val="black"/>
                </a:solidFill>
                <a:latin typeface="微软雅黑" panose="020B0503020204020204" pitchFamily="34" charset="-122"/>
                <a:ea typeface="微软雅黑" panose="020B0503020204020204" pitchFamily="34" charset="-122"/>
              </a:rPr>
              <a:t>、</a:t>
            </a:r>
            <a:r>
              <a:rPr lang="zh-CN" altLang="en-US" sz="2200" u="sng" dirty="0">
                <a:solidFill>
                  <a:prstClr val="black"/>
                </a:solidFill>
                <a:latin typeface="微软雅黑" panose="020B0503020204020204" pitchFamily="34" charset="-122"/>
                <a:ea typeface="微软雅黑" panose="020B0503020204020204" pitchFamily="34" charset="-122"/>
              </a:rPr>
              <a:t>暂存器</a:t>
            </a:r>
            <a:r>
              <a:rPr lang="zh-CN" altLang="en-US" sz="2200" dirty="0">
                <a:solidFill>
                  <a:prstClr val="black"/>
                </a:solidFill>
                <a:latin typeface="微软雅黑" panose="020B0503020204020204" pitchFamily="34" charset="-122"/>
                <a:ea typeface="微软雅黑" panose="020B0503020204020204" pitchFamily="34" charset="-122"/>
              </a:rPr>
              <a:t>、</a:t>
            </a:r>
            <a:r>
              <a:rPr lang="zh-CN" altLang="en-US" sz="2200" u="sng" dirty="0">
                <a:solidFill>
                  <a:prstClr val="black"/>
                </a:solidFill>
                <a:latin typeface="微软雅黑" panose="020B0503020204020204" pitchFamily="34" charset="-122"/>
                <a:ea typeface="微软雅黑" panose="020B0503020204020204" pitchFamily="34" charset="-122"/>
              </a:rPr>
              <a:t>程序状态寄存器</a:t>
            </a:r>
            <a:r>
              <a:rPr lang="en-US" altLang="zh-CN" sz="2200" u="sng" dirty="0">
                <a:solidFill>
                  <a:prstClr val="black"/>
                </a:solidFill>
                <a:latin typeface="微软雅黑" panose="020B0503020204020204" pitchFamily="34" charset="-122"/>
                <a:ea typeface="微软雅黑" panose="020B0503020204020204" pitchFamily="34" charset="-122"/>
              </a:rPr>
              <a:t>PSW</a:t>
            </a:r>
            <a:r>
              <a:rPr lang="zh-CN" altLang="en-US" sz="2200" dirty="0">
                <a:solidFill>
                  <a:prstClr val="black"/>
                </a:solidFill>
                <a:latin typeface="微软雅黑" panose="020B0503020204020204" pitchFamily="34" charset="-122"/>
                <a:ea typeface="微软雅黑" panose="020B0503020204020204" pitchFamily="34" charset="-122"/>
              </a:rPr>
              <a:t>、</a:t>
            </a:r>
            <a:r>
              <a:rPr lang="zh-CN" altLang="en-US" sz="2200" u="sng" dirty="0">
                <a:solidFill>
                  <a:prstClr val="black"/>
                </a:solidFill>
                <a:latin typeface="微软雅黑" panose="020B0503020204020204" pitchFamily="34" charset="-122"/>
                <a:ea typeface="微软雅黑" panose="020B0503020204020204" pitchFamily="34" charset="-122"/>
              </a:rPr>
              <a:t>布尔处理器</a:t>
            </a:r>
            <a:r>
              <a:rPr lang="zh-CN" altLang="en-US" sz="2200" dirty="0">
                <a:solidFill>
                  <a:prstClr val="black"/>
                </a:solidFill>
                <a:latin typeface="微软雅黑" panose="020B0503020204020204" pitchFamily="34" charset="-122"/>
                <a:ea typeface="微软雅黑" panose="020B0503020204020204" pitchFamily="34" charset="-122"/>
              </a:rPr>
              <a:t>及</a:t>
            </a:r>
            <a:r>
              <a:rPr lang="zh-CN" altLang="en-US" sz="2200" u="sng" dirty="0">
                <a:solidFill>
                  <a:prstClr val="black"/>
                </a:solidFill>
                <a:latin typeface="微软雅黑" panose="020B0503020204020204" pitchFamily="34" charset="-122"/>
                <a:ea typeface="微软雅黑" panose="020B0503020204020204" pitchFamily="34" charset="-122"/>
              </a:rPr>
              <a:t>十进制调整电路</a:t>
            </a:r>
            <a:r>
              <a:rPr lang="zh-CN" altLang="en-US" sz="2200" dirty="0">
                <a:solidFill>
                  <a:prstClr val="black"/>
                </a:solidFill>
                <a:latin typeface="微软雅黑" panose="020B0503020204020204" pitchFamily="34" charset="-122"/>
                <a:ea typeface="微软雅黑" panose="020B0503020204020204" pitchFamily="34" charset="-122"/>
              </a:rPr>
              <a:t>等。</a:t>
            </a:r>
            <a:endParaRPr lang="en-US" altLang="zh-CN" sz="22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buClr>
                <a:srgbClr val="0000FF"/>
              </a:buClr>
              <a:defRPr/>
            </a:pPr>
            <a:r>
              <a:rPr lang="zh-CN" altLang="en-US" sz="2200" b="1" dirty="0">
                <a:solidFill>
                  <a:prstClr val="black"/>
                </a:solidFill>
                <a:latin typeface="微软雅黑" panose="020B0503020204020204" pitchFamily="34" charset="-122"/>
                <a:ea typeface="微软雅黑" panose="020B0503020204020204" pitchFamily="34" charset="-122"/>
              </a:rPr>
              <a:t>    </a:t>
            </a:r>
            <a:r>
              <a:rPr lang="zh-CN" altLang="en-US" sz="2200" b="1" dirty="0">
                <a:solidFill>
                  <a:srgbClr val="FF0000"/>
                </a:solidFill>
                <a:latin typeface="微软雅黑" panose="020B0503020204020204" pitchFamily="34" charset="-122"/>
                <a:ea typeface="微软雅黑" panose="020B0503020204020204" pitchFamily="34" charset="-122"/>
              </a:rPr>
              <a:t>功能</a:t>
            </a:r>
            <a:r>
              <a:rPr lang="zh-CN" altLang="en-US" sz="2200" b="1" dirty="0">
                <a:solidFill>
                  <a:prstClr val="black"/>
                </a:solidFill>
                <a:latin typeface="微软雅黑" panose="020B0503020204020204" pitchFamily="34" charset="-122"/>
                <a:ea typeface="微软雅黑" panose="020B0503020204020204" pitchFamily="34" charset="-122"/>
              </a:rPr>
              <a:t>：</a:t>
            </a:r>
            <a:r>
              <a:rPr lang="zh-CN" altLang="en-US" sz="2200" dirty="0">
                <a:solidFill>
                  <a:prstClr val="black"/>
                </a:solidFill>
                <a:latin typeface="微软雅黑" panose="020B0503020204020204" pitchFamily="34" charset="-122"/>
                <a:ea typeface="微软雅黑" panose="020B0503020204020204" pitchFamily="34" charset="-122"/>
              </a:rPr>
              <a:t>主要用来实现数据的</a:t>
            </a:r>
            <a:r>
              <a:rPr lang="zh-CN" altLang="en-US" sz="2200" b="1" dirty="0">
                <a:solidFill>
                  <a:prstClr val="black"/>
                </a:solidFill>
                <a:latin typeface="微软雅黑" panose="020B0503020204020204" pitchFamily="34" charset="-122"/>
                <a:ea typeface="微软雅黑" panose="020B0503020204020204" pitchFamily="34" charset="-122"/>
              </a:rPr>
              <a:t>传送</a:t>
            </a:r>
            <a:r>
              <a:rPr lang="zh-CN" altLang="en-US" sz="2200" dirty="0">
                <a:solidFill>
                  <a:prstClr val="black"/>
                </a:solidFill>
                <a:latin typeface="微软雅黑" panose="020B0503020204020204" pitchFamily="34" charset="-122"/>
                <a:ea typeface="微软雅黑" panose="020B0503020204020204" pitchFamily="34" charset="-122"/>
              </a:rPr>
              <a:t>、数据的算术运算和逻辑</a:t>
            </a:r>
            <a:r>
              <a:rPr lang="zh-CN" altLang="en-US" sz="2200" b="1" dirty="0">
                <a:solidFill>
                  <a:prstClr val="black"/>
                </a:solidFill>
                <a:latin typeface="微软雅黑" panose="020B0503020204020204" pitchFamily="34" charset="-122"/>
                <a:ea typeface="微软雅黑" panose="020B0503020204020204" pitchFamily="34" charset="-122"/>
              </a:rPr>
              <a:t>运算</a:t>
            </a:r>
            <a:r>
              <a:rPr lang="zh-CN" altLang="en-US" sz="2200" dirty="0">
                <a:solidFill>
                  <a:prstClr val="black"/>
                </a:solidFill>
                <a:latin typeface="微软雅黑" panose="020B0503020204020204" pitchFamily="34" charset="-122"/>
                <a:ea typeface="微软雅黑" panose="020B0503020204020204" pitchFamily="34" charset="-122"/>
              </a:rPr>
              <a:t>，以及位变量</a:t>
            </a:r>
            <a:r>
              <a:rPr lang="zh-CN" altLang="en-US" sz="2200" b="1" dirty="0">
                <a:solidFill>
                  <a:prstClr val="black"/>
                </a:solidFill>
                <a:latin typeface="微软雅黑" panose="020B0503020204020204" pitchFamily="34" charset="-122"/>
                <a:ea typeface="微软雅黑" panose="020B0503020204020204" pitchFamily="34" charset="-122"/>
              </a:rPr>
              <a:t>处理</a:t>
            </a:r>
            <a:r>
              <a:rPr lang="zh-CN" altLang="en-US" sz="2200" dirty="0">
                <a:solidFill>
                  <a:prstClr val="black"/>
                </a:solidFill>
                <a:latin typeface="微软雅黑" panose="020B0503020204020204" pitchFamily="34" charset="-122"/>
                <a:ea typeface="微软雅黑" panose="020B0503020204020204" pitchFamily="34" charset="-122"/>
              </a:rPr>
              <a:t>等。</a:t>
            </a:r>
            <a:r>
              <a:rPr lang="zh-CN" altLang="en-US" sz="2400" dirty="0">
                <a:solidFill>
                  <a:prstClr val="black"/>
                </a:solidFill>
                <a:latin typeface="微软雅黑" panose="020B0503020204020204" pitchFamily="34" charset="-122"/>
                <a:ea typeface="微软雅黑" panose="020B0503020204020204" pitchFamily="34" charset="-122"/>
              </a:rPr>
              <a:t>  </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
        <p:nvSpPr>
          <p:cNvPr id="2457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24579"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24580"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257175" y="736600"/>
                <a:ext cx="8636000" cy="5910657"/>
              </a:xfrm>
              <a:prstGeom prst="rect">
                <a:avLst/>
              </a:prstGeom>
              <a:noFill/>
            </p:spPr>
            <p:txBody>
              <a:bodyPr>
                <a:spAutoFit/>
              </a:bodyPr>
              <a:lstStyle/>
              <a:p>
                <a:pPr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2.1.1 MCS-51</a:t>
                </a:r>
                <a:r>
                  <a:rPr lang="zh-CN" altLang="en-US" sz="2400" b="1" dirty="0">
                    <a:solidFill>
                      <a:prstClr val="black"/>
                    </a:solidFill>
                    <a:latin typeface="微软雅黑" panose="020B0503020204020204" pitchFamily="34" charset="-122"/>
                    <a:ea typeface="微软雅黑" panose="020B0503020204020204" pitchFamily="34" charset="-122"/>
                  </a:rPr>
                  <a:t>单片机总体框图及功能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Clr>
                    <a:srgbClr val="0000FF"/>
                  </a:buClr>
                  <a:buFont typeface="Wingdings" panose="05000000000000000000" pitchFamily="2" charset="2"/>
                  <a:buChar char="p"/>
                  <a:defRPr/>
                </a:pPr>
                <a:r>
                  <a:rPr lang="en-US" altLang="zh-CN" sz="2200" b="1" dirty="0">
                    <a:solidFill>
                      <a:srgbClr val="0000FF"/>
                    </a:solidFill>
                    <a:latin typeface="微软雅黑" panose="020B0503020204020204" pitchFamily="34" charset="-122"/>
                    <a:ea typeface="微软雅黑" panose="020B0503020204020204" pitchFamily="34" charset="-122"/>
                  </a:rPr>
                  <a:t>CPU</a:t>
                </a:r>
                <a:r>
                  <a:rPr lang="zh-CN" altLang="en-US" sz="2200" dirty="0">
                    <a:solidFill>
                      <a:prstClr val="black"/>
                    </a:solidFill>
                    <a:latin typeface="微软雅黑" panose="020B0503020204020204" pitchFamily="34" charset="-122"/>
                    <a:ea typeface="微软雅黑" panose="020B0503020204020204" pitchFamily="34" charset="-122"/>
                  </a:rPr>
                  <a:t>：单片机内部的核心部件，是单片机的指挥和控制中心。从功能上看，</a:t>
                </a:r>
                <a:r>
                  <a:rPr lang="en-US" altLang="zh-CN" sz="2200" dirty="0">
                    <a:solidFill>
                      <a:prstClr val="black"/>
                    </a:solidFill>
                    <a:latin typeface="微软雅黑" panose="020B0503020204020204" pitchFamily="34" charset="-122"/>
                    <a:ea typeface="微软雅黑" panose="020B0503020204020204" pitchFamily="34" charset="-122"/>
                  </a:rPr>
                  <a:t>CPU</a:t>
                </a:r>
                <a:r>
                  <a:rPr lang="zh-CN" altLang="en-US" sz="2200" dirty="0">
                    <a:solidFill>
                      <a:prstClr val="black"/>
                    </a:solidFill>
                    <a:latin typeface="微软雅黑" panose="020B0503020204020204" pitchFamily="34" charset="-122"/>
                    <a:ea typeface="微软雅黑" panose="020B0503020204020204" pitchFamily="34" charset="-122"/>
                  </a:rPr>
                  <a:t>可分为</a:t>
                </a:r>
                <a:r>
                  <a:rPr lang="zh-CN" altLang="en-US" sz="2200" dirty="0">
                    <a:solidFill>
                      <a:srgbClr val="0000FF"/>
                    </a:solidFill>
                    <a:latin typeface="微软雅黑" panose="020B0503020204020204" pitchFamily="34" charset="-122"/>
                    <a:ea typeface="微软雅黑" panose="020B0503020204020204" pitchFamily="34" charset="-122"/>
                  </a:rPr>
                  <a:t>运算器</a:t>
                </a:r>
                <a:r>
                  <a:rPr lang="zh-CN" altLang="en-US" sz="2200" dirty="0">
                    <a:solidFill>
                      <a:prstClr val="black"/>
                    </a:solidFill>
                    <a:latin typeface="微软雅黑" panose="020B0503020204020204" pitchFamily="34" charset="-122"/>
                    <a:ea typeface="微软雅黑" panose="020B0503020204020204" pitchFamily="34" charset="-122"/>
                  </a:rPr>
                  <a:t>和</a:t>
                </a:r>
                <a:r>
                  <a:rPr lang="zh-CN" altLang="en-US" sz="2200" dirty="0">
                    <a:solidFill>
                      <a:srgbClr val="0000FF"/>
                    </a:solidFill>
                    <a:latin typeface="微软雅黑" panose="020B0503020204020204" pitchFamily="34" charset="-122"/>
                    <a:ea typeface="微软雅黑" panose="020B0503020204020204" pitchFamily="34" charset="-122"/>
                  </a:rPr>
                  <a:t>控制器</a:t>
                </a:r>
                <a:r>
                  <a:rPr lang="zh-CN" altLang="en-US" sz="2200" dirty="0">
                    <a:solidFill>
                      <a:prstClr val="black"/>
                    </a:solidFill>
                    <a:latin typeface="微软雅黑" panose="020B0503020204020204" pitchFamily="34" charset="-122"/>
                    <a:ea typeface="微软雅黑" panose="020B0503020204020204" pitchFamily="34" charset="-122"/>
                  </a:rPr>
                  <a:t>两大部分。</a:t>
                </a:r>
                <a:endParaRPr lang="en-US" altLang="zh-CN" sz="22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Clr>
                    <a:srgbClr val="0000FF"/>
                  </a:buClr>
                  <a:buFont typeface="Wingdings" panose="05000000000000000000" pitchFamily="2" charset="2"/>
                  <a:buChar char="Ø"/>
                  <a:defRPr/>
                </a:pPr>
                <a:r>
                  <a:rPr lang="zh-CN" altLang="en-US" sz="2200" b="1" dirty="0">
                    <a:solidFill>
                      <a:srgbClr val="0000FF"/>
                    </a:solidFill>
                    <a:latin typeface="微软雅黑" panose="020B0503020204020204" pitchFamily="34" charset="-122"/>
                    <a:ea typeface="微软雅黑" panose="020B0503020204020204" pitchFamily="34" charset="-122"/>
                  </a:rPr>
                  <a:t>控制器</a:t>
                </a:r>
                <a:r>
                  <a:rPr lang="zh-CN" altLang="en-US" sz="2200" dirty="0">
                    <a:solidFill>
                      <a:prstClr val="black"/>
                    </a:solidFill>
                    <a:latin typeface="微软雅黑" panose="020B0503020204020204" pitchFamily="34" charset="-122"/>
                    <a:ea typeface="微软雅黑" panose="020B0503020204020204" pitchFamily="34" charset="-122"/>
                  </a:rPr>
                  <a:t>：主要包括</a:t>
                </a:r>
                <a:r>
                  <a:rPr lang="zh-CN" altLang="en-US" sz="2200" u="sng" dirty="0">
                    <a:solidFill>
                      <a:prstClr val="black"/>
                    </a:solidFill>
                    <a:latin typeface="微软雅黑" panose="020B0503020204020204" pitchFamily="34" charset="-122"/>
                    <a:ea typeface="微软雅黑" panose="020B0503020204020204" pitchFamily="34" charset="-122"/>
                  </a:rPr>
                  <a:t>时钟发生器</a:t>
                </a:r>
                <a:r>
                  <a:rPr lang="zh-CN" altLang="en-US" sz="2200" dirty="0">
                    <a:solidFill>
                      <a:prstClr val="black"/>
                    </a:solidFill>
                    <a:latin typeface="微软雅黑" panose="020B0503020204020204" pitchFamily="34" charset="-122"/>
                    <a:ea typeface="微软雅黑" panose="020B0503020204020204" pitchFamily="34" charset="-122"/>
                  </a:rPr>
                  <a:t>、</a:t>
                </a:r>
                <a:r>
                  <a:rPr lang="zh-CN" altLang="en-US" sz="2200" u="sng" dirty="0">
                    <a:solidFill>
                      <a:prstClr val="black"/>
                    </a:solidFill>
                    <a:latin typeface="微软雅黑" panose="020B0503020204020204" pitchFamily="34" charset="-122"/>
                    <a:ea typeface="微软雅黑" panose="020B0503020204020204" pitchFamily="34" charset="-122"/>
                  </a:rPr>
                  <a:t>定时控制逻辑</a:t>
                </a:r>
                <a:r>
                  <a:rPr lang="zh-CN" altLang="en-US" sz="2200" dirty="0">
                    <a:solidFill>
                      <a:prstClr val="black"/>
                    </a:solidFill>
                    <a:latin typeface="微软雅黑" panose="020B0503020204020204" pitchFamily="34" charset="-122"/>
                    <a:ea typeface="微软雅黑" panose="020B0503020204020204" pitchFamily="34" charset="-122"/>
                  </a:rPr>
                  <a:t>、</a:t>
                </a:r>
                <a:r>
                  <a:rPr lang="zh-CN" altLang="en-US" sz="2200" u="sng" dirty="0">
                    <a:solidFill>
                      <a:prstClr val="black"/>
                    </a:solidFill>
                    <a:latin typeface="微软雅黑" panose="020B0503020204020204" pitchFamily="34" charset="-122"/>
                    <a:ea typeface="微软雅黑" panose="020B0503020204020204" pitchFamily="34" charset="-122"/>
                  </a:rPr>
                  <a:t>指令寄存器</a:t>
                </a:r>
                <a:r>
                  <a:rPr lang="zh-CN" altLang="en-US" sz="2200" dirty="0">
                    <a:solidFill>
                      <a:prstClr val="black"/>
                    </a:solidFill>
                    <a:latin typeface="微软雅黑" panose="020B0503020204020204" pitchFamily="34" charset="-122"/>
                    <a:ea typeface="微软雅黑" panose="020B0503020204020204" pitchFamily="34" charset="-122"/>
                  </a:rPr>
                  <a:t>、</a:t>
                </a:r>
                <a:r>
                  <a:rPr lang="zh-CN" altLang="en-US" sz="2200" u="sng" dirty="0">
                    <a:solidFill>
                      <a:prstClr val="black"/>
                    </a:solidFill>
                    <a:latin typeface="微软雅黑" panose="020B0503020204020204" pitchFamily="34" charset="-122"/>
                    <a:ea typeface="微软雅黑" panose="020B0503020204020204" pitchFamily="34" charset="-122"/>
                  </a:rPr>
                  <a:t>指令译码器</a:t>
                </a:r>
                <a:r>
                  <a:rPr lang="zh-CN" altLang="en-US" sz="2200" dirty="0">
                    <a:solidFill>
                      <a:prstClr val="black"/>
                    </a:solidFill>
                    <a:latin typeface="微软雅黑" panose="020B0503020204020204" pitchFamily="34" charset="-122"/>
                    <a:ea typeface="微软雅黑" panose="020B0503020204020204" pitchFamily="34" charset="-122"/>
                  </a:rPr>
                  <a:t>、</a:t>
                </a:r>
                <a:r>
                  <a:rPr lang="zh-CN" altLang="en-US" sz="2200" u="sng" dirty="0">
                    <a:solidFill>
                      <a:prstClr val="black"/>
                    </a:solidFill>
                    <a:latin typeface="微软雅黑" panose="020B0503020204020204" pitchFamily="34" charset="-122"/>
                    <a:ea typeface="微软雅黑" panose="020B0503020204020204" pitchFamily="34" charset="-122"/>
                  </a:rPr>
                  <a:t>程序计数器</a:t>
                </a:r>
                <a:r>
                  <a:rPr lang="en-US" altLang="zh-CN" sz="2200" u="sng" dirty="0">
                    <a:solidFill>
                      <a:prstClr val="black"/>
                    </a:solidFill>
                    <a:latin typeface="微软雅黑" panose="020B0503020204020204" pitchFamily="34" charset="-122"/>
                    <a:ea typeface="微软雅黑" panose="020B0503020204020204" pitchFamily="34" charset="-122"/>
                  </a:rPr>
                  <a:t>PC</a:t>
                </a:r>
                <a:r>
                  <a:rPr lang="zh-CN" altLang="en-US" sz="2200" dirty="0">
                    <a:solidFill>
                      <a:prstClr val="black"/>
                    </a:solidFill>
                    <a:latin typeface="微软雅黑" panose="020B0503020204020204" pitchFamily="34" charset="-122"/>
                    <a:ea typeface="微软雅黑" panose="020B0503020204020204" pitchFamily="34" charset="-122"/>
                  </a:rPr>
                  <a:t>、</a:t>
                </a:r>
                <a:r>
                  <a:rPr lang="zh-CN" altLang="en-US" sz="2200" u="sng" dirty="0">
                    <a:solidFill>
                      <a:prstClr val="black"/>
                    </a:solidFill>
                    <a:latin typeface="微软雅黑" panose="020B0503020204020204" pitchFamily="34" charset="-122"/>
                    <a:ea typeface="微软雅黑" panose="020B0503020204020204" pitchFamily="34" charset="-122"/>
                  </a:rPr>
                  <a:t>程序地址寄存器</a:t>
                </a:r>
                <a:r>
                  <a:rPr lang="zh-CN" altLang="en-US" sz="2200" dirty="0">
                    <a:solidFill>
                      <a:prstClr val="black"/>
                    </a:solidFill>
                    <a:latin typeface="微软雅黑" panose="020B0503020204020204" pitchFamily="34" charset="-122"/>
                    <a:ea typeface="微软雅黑" panose="020B0503020204020204" pitchFamily="34" charset="-122"/>
                  </a:rPr>
                  <a:t>、</a:t>
                </a:r>
                <a:r>
                  <a:rPr lang="zh-CN" altLang="en-US" sz="2200" u="sng" dirty="0">
                    <a:solidFill>
                      <a:prstClr val="black"/>
                    </a:solidFill>
                    <a:latin typeface="微软雅黑" panose="020B0503020204020204" pitchFamily="34" charset="-122"/>
                    <a:ea typeface="微软雅黑" panose="020B0503020204020204" pitchFamily="34" charset="-122"/>
                  </a:rPr>
                  <a:t>数据指针寄存器</a:t>
                </a:r>
                <a:r>
                  <a:rPr lang="en-US" altLang="zh-CN" sz="2200" u="sng" dirty="0">
                    <a:solidFill>
                      <a:prstClr val="black"/>
                    </a:solidFill>
                    <a:latin typeface="微软雅黑" panose="020B0503020204020204" pitchFamily="34" charset="-122"/>
                    <a:ea typeface="微软雅黑" panose="020B0503020204020204" pitchFamily="34" charset="-122"/>
                  </a:rPr>
                  <a:t>DPTR</a:t>
                </a:r>
                <a:r>
                  <a:rPr lang="zh-CN" altLang="en-US" sz="2200" dirty="0">
                    <a:solidFill>
                      <a:prstClr val="black"/>
                    </a:solidFill>
                    <a:latin typeface="微软雅黑" panose="020B0503020204020204" pitchFamily="34" charset="-122"/>
                    <a:ea typeface="微软雅黑" panose="020B0503020204020204" pitchFamily="34" charset="-122"/>
                  </a:rPr>
                  <a:t>和</a:t>
                </a:r>
                <a:r>
                  <a:rPr lang="zh-CN" altLang="en-US" sz="2200" u="sng" dirty="0">
                    <a:solidFill>
                      <a:prstClr val="black"/>
                    </a:solidFill>
                    <a:latin typeface="微软雅黑" panose="020B0503020204020204" pitchFamily="34" charset="-122"/>
                    <a:ea typeface="微软雅黑" panose="020B0503020204020204" pitchFamily="34" charset="-122"/>
                  </a:rPr>
                  <a:t>堆栈指针</a:t>
                </a:r>
                <a:r>
                  <a:rPr lang="en-US" altLang="zh-CN" sz="2200" u="sng" dirty="0">
                    <a:solidFill>
                      <a:prstClr val="black"/>
                    </a:solidFill>
                    <a:latin typeface="微软雅黑" panose="020B0503020204020204" pitchFamily="34" charset="-122"/>
                    <a:ea typeface="微软雅黑" panose="020B0503020204020204" pitchFamily="34" charset="-122"/>
                  </a:rPr>
                  <a:t>SP</a:t>
                </a:r>
                <a:r>
                  <a:rPr lang="zh-CN" altLang="en-US" sz="2200" dirty="0">
                    <a:solidFill>
                      <a:prstClr val="black"/>
                    </a:solidFill>
                    <a:latin typeface="微软雅黑" panose="020B0503020204020204" pitchFamily="34" charset="-122"/>
                    <a:ea typeface="微软雅黑" panose="020B0503020204020204" pitchFamily="34" charset="-122"/>
                  </a:rPr>
                  <a:t>等。</a:t>
                </a:r>
                <a:endParaRPr lang="en-US" altLang="zh-CN" sz="22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buClr>
                    <a:srgbClr val="0000FF"/>
                  </a:buClr>
                  <a:defRPr/>
                </a:pPr>
                <a:r>
                  <a:rPr lang="zh-CN" altLang="en-US" sz="2200" b="1" dirty="0">
                    <a:solidFill>
                      <a:prstClr val="black"/>
                    </a:solidFill>
                    <a:latin typeface="微软雅黑" panose="020B0503020204020204" pitchFamily="34" charset="-122"/>
                    <a:ea typeface="微软雅黑" panose="020B0503020204020204" pitchFamily="34" charset="-122"/>
                  </a:rPr>
                  <a:t>    </a:t>
                </a:r>
                <a:r>
                  <a:rPr lang="zh-CN" altLang="en-US" sz="2200" b="1" dirty="0">
                    <a:solidFill>
                      <a:srgbClr val="FF0000"/>
                    </a:solidFill>
                    <a:latin typeface="微软雅黑" panose="020B0503020204020204" pitchFamily="34" charset="-122"/>
                    <a:ea typeface="微软雅黑" panose="020B0503020204020204" pitchFamily="34" charset="-122"/>
                  </a:rPr>
                  <a:t>功能</a:t>
                </a:r>
                <a:r>
                  <a:rPr lang="zh-CN" altLang="en-US" sz="2200" b="1" dirty="0">
                    <a:solidFill>
                      <a:prstClr val="black"/>
                    </a:solidFill>
                    <a:latin typeface="微软雅黑" panose="020B0503020204020204" pitchFamily="34" charset="-122"/>
                    <a:ea typeface="微软雅黑" panose="020B0503020204020204" pitchFamily="34" charset="-122"/>
                  </a:rPr>
                  <a:t>：</a:t>
                </a:r>
                <a:r>
                  <a:rPr lang="zh-CN" altLang="en-US" sz="2200" dirty="0">
                    <a:solidFill>
                      <a:prstClr val="black"/>
                    </a:solidFill>
                    <a:latin typeface="微软雅黑" panose="020B0503020204020204" pitchFamily="34" charset="-122"/>
                    <a:ea typeface="微软雅黑" panose="020B0503020204020204" pitchFamily="34" charset="-122"/>
                  </a:rPr>
                  <a:t>用来</a:t>
                </a:r>
                <a:r>
                  <a:rPr lang="zh-CN" altLang="en-US" sz="2200" dirty="0">
                    <a:solidFill>
                      <a:srgbClr val="C00000"/>
                    </a:solidFill>
                    <a:latin typeface="微软雅黑" panose="020B0503020204020204" pitchFamily="34" charset="-122"/>
                    <a:ea typeface="微软雅黑" panose="020B0503020204020204" pitchFamily="34" charset="-122"/>
                  </a:rPr>
                  <a:t>统一指挥和控制计算机进行工作的部件</a:t>
                </a:r>
                <a:r>
                  <a:rPr lang="zh-CN" altLang="en-US" sz="2200" dirty="0">
                    <a:solidFill>
                      <a:prstClr val="black"/>
                    </a:solidFill>
                    <a:latin typeface="微软雅黑" panose="020B0503020204020204" pitchFamily="34" charset="-122"/>
                    <a:ea typeface="微软雅黑" panose="020B0503020204020204" pitchFamily="34" charset="-122"/>
                  </a:rPr>
                  <a:t>。其功能是：从程序存储器中提</a:t>
                </a:r>
                <a:r>
                  <a:rPr lang="zh-CN" altLang="en-US" sz="2200" dirty="0">
                    <a:solidFill>
                      <a:srgbClr val="FF0000"/>
                    </a:solidFill>
                    <a:latin typeface="微软雅黑" panose="020B0503020204020204" pitchFamily="34" charset="-122"/>
                    <a:ea typeface="微软雅黑" panose="020B0503020204020204" pitchFamily="34" charset="-122"/>
                  </a:rPr>
                  <a:t>取指令</a:t>
                </a:r>
                <a:r>
                  <a:rPr lang="zh-CN" altLang="en-US" sz="2200" dirty="0">
                    <a:solidFill>
                      <a:prstClr val="black"/>
                    </a:solidFill>
                    <a:latin typeface="微软雅黑" panose="020B0503020204020204" pitchFamily="34" charset="-122"/>
                    <a:ea typeface="微软雅黑" panose="020B0503020204020204" pitchFamily="34" charset="-122"/>
                  </a:rPr>
                  <a:t>，送到</a:t>
                </a:r>
                <a:r>
                  <a:rPr lang="zh-CN" altLang="en-US" sz="2200" dirty="0">
                    <a:solidFill>
                      <a:srgbClr val="FF0000"/>
                    </a:solidFill>
                    <a:latin typeface="微软雅黑" panose="020B0503020204020204" pitchFamily="34" charset="-122"/>
                    <a:ea typeface="微软雅黑" panose="020B0503020204020204" pitchFamily="34" charset="-122"/>
                  </a:rPr>
                  <a:t>指令寄存器</a:t>
                </a:r>
                <a:r>
                  <a:rPr lang="zh-CN" altLang="en-US" sz="2200" dirty="0">
                    <a:solidFill>
                      <a:prstClr val="black"/>
                    </a:solidFill>
                    <a:latin typeface="微软雅黑" panose="020B0503020204020204" pitchFamily="34" charset="-122"/>
                    <a:ea typeface="微软雅黑" panose="020B0503020204020204" pitchFamily="34" charset="-122"/>
                  </a:rPr>
                  <a:t>，再进入指令译码器进行</a:t>
                </a:r>
                <a:r>
                  <a:rPr lang="zh-CN" altLang="en-US" sz="2200" dirty="0">
                    <a:solidFill>
                      <a:srgbClr val="FF0000"/>
                    </a:solidFill>
                    <a:latin typeface="微软雅黑" panose="020B0503020204020204" pitchFamily="34" charset="-122"/>
                    <a:ea typeface="微软雅黑" panose="020B0503020204020204" pitchFamily="34" charset="-122"/>
                  </a:rPr>
                  <a:t>译码</a:t>
                </a:r>
                <a:r>
                  <a:rPr lang="zh-CN" altLang="en-US" sz="2200" dirty="0">
                    <a:solidFill>
                      <a:prstClr val="black"/>
                    </a:solidFill>
                    <a:latin typeface="微软雅黑" panose="020B0503020204020204" pitchFamily="34" charset="-122"/>
                    <a:ea typeface="微软雅黑" panose="020B0503020204020204" pitchFamily="34" charset="-122"/>
                  </a:rPr>
                  <a:t>，并通过定时控制电路，在规定时刻发出各种操作所需的全部</a:t>
                </a:r>
                <a:r>
                  <a:rPr lang="zh-CN" altLang="en-US" sz="2200" b="1" dirty="0">
                    <a:solidFill>
                      <a:prstClr val="black"/>
                    </a:solidFill>
                    <a:latin typeface="微软雅黑" panose="020B0503020204020204" pitchFamily="34" charset="-122"/>
                    <a:ea typeface="微软雅黑" panose="020B0503020204020204" pitchFamily="34" charset="-122"/>
                  </a:rPr>
                  <a:t>内部</a:t>
                </a:r>
                <a:r>
                  <a:rPr lang="zh-CN" altLang="en-US" sz="2200" dirty="0">
                    <a:solidFill>
                      <a:srgbClr val="0000FF"/>
                    </a:solidFill>
                    <a:latin typeface="微软雅黑" panose="020B0503020204020204" pitchFamily="34" charset="-122"/>
                    <a:ea typeface="微软雅黑" panose="020B0503020204020204" pitchFamily="34" charset="-122"/>
                  </a:rPr>
                  <a:t>控制信号</a:t>
                </a:r>
                <a:r>
                  <a:rPr lang="zh-CN" altLang="en-US" sz="2200" dirty="0">
                    <a:solidFill>
                      <a:prstClr val="black"/>
                    </a:solidFill>
                    <a:latin typeface="微软雅黑" panose="020B0503020204020204" pitchFamily="34" charset="-122"/>
                    <a:ea typeface="微软雅黑" panose="020B0503020204020204" pitchFamily="34" charset="-122"/>
                  </a:rPr>
                  <a:t>及</a:t>
                </a:r>
                <a:r>
                  <a:rPr lang="en-US" altLang="zh-CN" sz="2200" dirty="0">
                    <a:solidFill>
                      <a:prstClr val="black"/>
                    </a:solidFill>
                    <a:latin typeface="微软雅黑" panose="020B0503020204020204" pitchFamily="34" charset="-122"/>
                    <a:ea typeface="微软雅黑" panose="020B0503020204020204" pitchFamily="34" charset="-122"/>
                  </a:rPr>
                  <a:t>CPU</a:t>
                </a:r>
                <a:r>
                  <a:rPr lang="zh-CN" altLang="en-US" sz="2200" b="1" dirty="0">
                    <a:solidFill>
                      <a:prstClr val="black"/>
                    </a:solidFill>
                    <a:latin typeface="微软雅黑" panose="020B0503020204020204" pitchFamily="34" charset="-122"/>
                    <a:ea typeface="微软雅黑" panose="020B0503020204020204" pitchFamily="34" charset="-122"/>
                  </a:rPr>
                  <a:t>外部</a:t>
                </a:r>
                <a:r>
                  <a:rPr lang="zh-CN" altLang="en-US" sz="2200" dirty="0">
                    <a:solidFill>
                      <a:prstClr val="black"/>
                    </a:solidFill>
                    <a:latin typeface="微软雅黑" panose="020B0503020204020204" pitchFamily="34" charset="-122"/>
                    <a:ea typeface="微软雅黑" panose="020B0503020204020204" pitchFamily="34" charset="-122"/>
                  </a:rPr>
                  <a:t>所需</a:t>
                </a:r>
                <a:r>
                  <a:rPr lang="zh-CN" altLang="en-US" sz="2200" dirty="0">
                    <a:solidFill>
                      <a:srgbClr val="0000FF"/>
                    </a:solidFill>
                    <a:latin typeface="微软雅黑" panose="020B0503020204020204" pitchFamily="34" charset="-122"/>
                    <a:ea typeface="微软雅黑" panose="020B0503020204020204" pitchFamily="34" charset="-122"/>
                  </a:rPr>
                  <a:t>控制信号</a:t>
                </a:r>
                <a:r>
                  <a:rPr lang="zh-CN" altLang="en-US" sz="2200" dirty="0">
                    <a:solidFill>
                      <a:prstClr val="black"/>
                    </a:solidFill>
                    <a:latin typeface="微软雅黑" panose="020B0503020204020204" pitchFamily="34" charset="-122"/>
                    <a:ea typeface="微软雅黑" panose="020B0503020204020204" pitchFamily="34" charset="-122"/>
                  </a:rPr>
                  <a:t>，如</a:t>
                </a:r>
                <a:r>
                  <a:rPr lang="en-US" altLang="zh-CN" sz="2200" dirty="0">
                    <a:solidFill>
                      <a:schemeClr val="tx1"/>
                    </a:solidFill>
                    <a:latin typeface="微软雅黑" panose="020B0503020204020204" pitchFamily="34" charset="-122"/>
                    <a:ea typeface="微软雅黑" panose="020B0503020204020204" pitchFamily="34" charset="-122"/>
                  </a:rPr>
                  <a:t>ALE</a:t>
                </a:r>
                <a:r>
                  <a:rPr lang="zh-CN" altLang="en-US" sz="2200" dirty="0">
                    <a:solidFill>
                      <a:schemeClr val="tx1"/>
                    </a:solidFill>
                    <a:latin typeface="微软雅黑" panose="020B0503020204020204" pitchFamily="34" charset="-122"/>
                    <a:ea typeface="微软雅黑" panose="020B0503020204020204" pitchFamily="34" charset="-122"/>
                  </a:rPr>
                  <a:t>、</a:t>
                </a:r>
                <a14:m>
                  <m:oMath xmlns:m="http://schemas.openxmlformats.org/officeDocument/2006/math">
                    <m:acc>
                      <m:accPr>
                        <m:chr m:val="̅"/>
                        <m:ctrlPr>
                          <a:rPr lang="en-US" altLang="zh-CN" sz="2200" i="1" dirty="0">
                            <a:solidFill>
                              <a:schemeClr val="tx1"/>
                            </a:solidFill>
                            <a:latin typeface="Cambria Math" panose="02040503050406030204" pitchFamily="18" charset="0"/>
                            <a:ea typeface="微软雅黑" panose="020B0503020204020204" pitchFamily="34" charset="-122"/>
                          </a:rPr>
                        </m:ctrlPr>
                      </m:accPr>
                      <m:e>
                        <m:r>
                          <m:rPr>
                            <m:sty m:val="p"/>
                          </m:rPr>
                          <a:rPr lang="en-US" altLang="zh-CN" sz="2200" dirty="0">
                            <a:solidFill>
                              <a:schemeClr val="tx1"/>
                            </a:solidFill>
                            <a:latin typeface="Cambria Math" panose="02040503050406030204" pitchFamily="18" charset="0"/>
                            <a:ea typeface="微软雅黑" panose="020B0503020204020204" pitchFamily="34" charset="-122"/>
                          </a:rPr>
                          <m:t>P</m:t>
                        </m:r>
                        <m:r>
                          <m:rPr>
                            <m:sty m:val="p"/>
                          </m:rPr>
                          <a:rPr lang="en-US" altLang="zh-CN" sz="2200" i="1" dirty="0">
                            <a:solidFill>
                              <a:schemeClr val="tx1"/>
                            </a:solidFill>
                            <a:latin typeface="Cambria Math" panose="02040503050406030204" pitchFamily="18" charset="0"/>
                            <a:ea typeface="微软雅黑" panose="020B0503020204020204" pitchFamily="34" charset="-122"/>
                          </a:rPr>
                          <m:t>SEN</m:t>
                        </m:r>
                      </m:e>
                    </m:acc>
                    <m:r>
                      <a:rPr lang="zh-CN" altLang="en-US" sz="2200" i="1" dirty="0">
                        <a:solidFill>
                          <a:schemeClr val="tx1"/>
                        </a:solidFill>
                        <a:latin typeface="Cambria Math" panose="02040503050406030204" pitchFamily="18" charset="0"/>
                        <a:ea typeface="微软雅黑" panose="020B0503020204020204" pitchFamily="34" charset="-122"/>
                      </a:rPr>
                      <m:t>、</m:t>
                    </m:r>
                    <m:acc>
                      <m:accPr>
                        <m:chr m:val="̅"/>
                        <m:ctrlPr>
                          <a:rPr lang="en-US" altLang="zh-CN" sz="2200" i="1" dirty="0">
                            <a:solidFill>
                              <a:schemeClr val="tx1"/>
                            </a:solidFill>
                            <a:latin typeface="Cambria Math" panose="02040503050406030204" pitchFamily="18" charset="0"/>
                            <a:ea typeface="微软雅黑" panose="020B0503020204020204" pitchFamily="34" charset="-122"/>
                          </a:rPr>
                        </m:ctrlPr>
                      </m:accPr>
                      <m:e>
                        <m:r>
                          <m:rPr>
                            <m:sty m:val="p"/>
                          </m:rPr>
                          <a:rPr lang="en-US" altLang="zh-CN" sz="2200" i="1" dirty="0">
                            <a:solidFill>
                              <a:schemeClr val="tx1"/>
                            </a:solidFill>
                            <a:latin typeface="Cambria Math" panose="02040503050406030204" pitchFamily="18" charset="0"/>
                            <a:ea typeface="微软雅黑" panose="020B0503020204020204" pitchFamily="34" charset="-122"/>
                          </a:rPr>
                          <m:t>WR</m:t>
                        </m:r>
                      </m:e>
                    </m:acc>
                  </m:oMath>
                </a14:m>
                <a:r>
                  <a:rPr lang="zh-CN" altLang="en-US" sz="2200" dirty="0">
                    <a:solidFill>
                      <a:schemeClr val="tx1"/>
                    </a:solidFill>
                    <a:latin typeface="微软雅黑" panose="020B0503020204020204" pitchFamily="34" charset="-122"/>
                    <a:ea typeface="微软雅黑" panose="020B0503020204020204" pitchFamily="34" charset="-122"/>
                  </a:rPr>
                  <a:t>、</a:t>
                </a:r>
                <a14:m>
                  <m:oMath xmlns:m="http://schemas.openxmlformats.org/officeDocument/2006/math">
                    <m:acc>
                      <m:accPr>
                        <m:chr m:val="̅"/>
                        <m:ctrlPr>
                          <a:rPr lang="en-US" altLang="zh-CN" sz="2200" i="1" dirty="0">
                            <a:solidFill>
                              <a:schemeClr val="tx1"/>
                            </a:solidFill>
                            <a:latin typeface="Cambria Math" panose="02040503050406030204" pitchFamily="18" charset="0"/>
                            <a:ea typeface="微软雅黑" panose="020B0503020204020204" pitchFamily="34" charset="-122"/>
                          </a:rPr>
                        </m:ctrlPr>
                      </m:accPr>
                      <m:e>
                        <m:r>
                          <m:rPr>
                            <m:sty m:val="p"/>
                          </m:rPr>
                          <a:rPr lang="en-US" altLang="zh-CN" sz="2200" i="1" dirty="0">
                            <a:solidFill>
                              <a:schemeClr val="tx1"/>
                            </a:solidFill>
                            <a:latin typeface="Cambria Math" panose="02040503050406030204" pitchFamily="18" charset="0"/>
                            <a:ea typeface="微软雅黑" panose="020B0503020204020204" pitchFamily="34" charset="-122"/>
                          </a:rPr>
                          <m:t>RD</m:t>
                        </m:r>
                      </m:e>
                    </m:acc>
                  </m:oMath>
                </a14:m>
                <a:r>
                  <a:rPr lang="zh-CN" altLang="en-US" sz="2200" dirty="0">
                    <a:solidFill>
                      <a:prstClr val="black"/>
                    </a:solidFill>
                    <a:latin typeface="微软雅黑" panose="020B0503020204020204" pitchFamily="34" charset="-122"/>
                    <a:ea typeface="微软雅黑" panose="020B0503020204020204" pitchFamily="34" charset="-122"/>
                  </a:rPr>
                  <a:t>等，使各部分协调工作，以完成指令所规定的各种操作。</a:t>
                </a:r>
                <a:r>
                  <a:rPr lang="zh-CN" altLang="en-US" sz="2400" dirty="0">
                    <a:solidFill>
                      <a:prstClr val="black"/>
                    </a:solidFill>
                    <a:latin typeface="微软雅黑" panose="020B0503020204020204" pitchFamily="34" charset="-122"/>
                    <a:ea typeface="微软雅黑" panose="020B0503020204020204" pitchFamily="34" charset="-122"/>
                  </a:rPr>
                  <a:t>  </a:t>
                </a:r>
                <a:endParaRPr lang="en-US" altLang="zh-CN" sz="2400" dirty="0">
                  <a:solidFill>
                    <a:prstClr val="black"/>
                  </a:solidFill>
                  <a:latin typeface="微软雅黑" panose="020B0503020204020204" pitchFamily="34" charset="-122"/>
                  <a:ea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257175" y="736600"/>
                <a:ext cx="8636000" cy="5910657"/>
              </a:xfrm>
              <a:prstGeom prst="rect">
                <a:avLst/>
              </a:prstGeom>
              <a:blipFill rotWithShape="1">
                <a:blip r:embed="rId3"/>
                <a:stretch>
                  <a:fillRect b="1"/>
                </a:stretch>
              </a:blipFill>
            </p:spPr>
            <p:txBody>
              <a:bodyPr/>
              <a:lstStyle/>
              <a:p>
                <a:r>
                  <a:rPr lang="zh-CN" altLang="en-US">
                    <a:noFill/>
                  </a:rPr>
                  <a:t> </a:t>
                </a:r>
              </a:p>
            </p:txBody>
          </p:sp>
        </mc:Fallback>
      </mc:AlternateContent>
      <p:sp>
        <p:nvSpPr>
          <p:cNvPr id="2457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24579" name="图片 3"/>
          <p:cNvPicPr>
            <a:picLocks noChangeAspect="1"/>
          </p:cNvPicPr>
          <p:nvPr/>
        </p:nvPicPr>
        <p:blipFill>
          <a:blip r:embed="rId4"/>
          <a:srcRect/>
          <a:stretch>
            <a:fillRect/>
          </a:stretch>
        </p:blipFill>
        <p:spPr bwMode="auto">
          <a:xfrm>
            <a:off x="7018338" y="80963"/>
            <a:ext cx="1876425" cy="539750"/>
          </a:xfrm>
          <a:prstGeom prst="rect">
            <a:avLst/>
          </a:prstGeom>
          <a:noFill/>
          <a:ln w="9525">
            <a:noFill/>
            <a:miter lim="800000"/>
            <a:headEnd/>
            <a:tailEnd/>
          </a:ln>
        </p:spPr>
      </p:pic>
      <p:pic>
        <p:nvPicPr>
          <p:cNvPr id="24580" name="图片 4"/>
          <p:cNvPicPr>
            <a:picLocks noChangeAspect="1"/>
          </p:cNvPicPr>
          <p:nvPr/>
        </p:nvPicPr>
        <p:blipFill>
          <a:blip r:embed="rId5"/>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439438"/>
          </a:xfrm>
          <a:prstGeom prst="rect">
            <a:avLst/>
          </a:prstGeom>
          <a:noFill/>
        </p:spPr>
        <p:txBody>
          <a:bodyPr>
            <a:spAutoFit/>
          </a:bodyPr>
          <a:lstStyle/>
          <a:p>
            <a:pPr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2.1.1 MCS-51</a:t>
            </a:r>
            <a:r>
              <a:rPr lang="zh-CN" altLang="en-US" sz="2400" b="1" dirty="0">
                <a:solidFill>
                  <a:prstClr val="black"/>
                </a:solidFill>
                <a:latin typeface="微软雅黑" panose="020B0503020204020204" pitchFamily="34" charset="-122"/>
                <a:ea typeface="微软雅黑" panose="020B0503020204020204" pitchFamily="34" charset="-122"/>
              </a:rPr>
              <a:t>单片机总体框图及功能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a:t>
            </a:r>
            <a:r>
              <a:rPr lang="zh-CN" altLang="en-US" sz="2400" dirty="0">
                <a:solidFill>
                  <a:srgbClr val="0000FF"/>
                </a:solidFill>
                <a:latin typeface="微软雅黑" panose="020B0503020204020204" pitchFamily="34" charset="-122"/>
                <a:ea typeface="微软雅黑" panose="020B0503020204020204" pitchFamily="34" charset="-122"/>
              </a:rPr>
              <a:t>控制器</a:t>
            </a:r>
            <a:r>
              <a:rPr lang="zh-CN" altLang="en-US" sz="2400" dirty="0">
                <a:solidFill>
                  <a:prstClr val="black"/>
                </a:solidFill>
                <a:latin typeface="微软雅黑" panose="020B0503020204020204" pitchFamily="34" charset="-122"/>
                <a:ea typeface="微软雅黑" panose="020B0503020204020204" pitchFamily="34" charset="-122"/>
              </a:rPr>
              <a:t>主要</a:t>
            </a:r>
            <a:r>
              <a:rPr lang="zh-CN" altLang="en-US" sz="2400" dirty="0">
                <a:latin typeface="微软雅黑" panose="020B0503020204020204" pitchFamily="34" charset="-122"/>
                <a:ea typeface="微软雅黑" panose="020B0503020204020204" pitchFamily="34" charset="-122"/>
              </a:rPr>
              <a:t>包括</a:t>
            </a:r>
            <a:r>
              <a:rPr lang="zh-CN" altLang="en-US" sz="2400" u="sng" dirty="0">
                <a:solidFill>
                  <a:srgbClr val="0000FF"/>
                </a:solidFill>
                <a:latin typeface="微软雅黑" panose="020B0503020204020204" pitchFamily="34" charset="-122"/>
                <a:ea typeface="微软雅黑" panose="020B0503020204020204" pitchFamily="34" charset="-122"/>
              </a:rPr>
              <a:t>程序计数器</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400" u="sng" dirty="0">
                <a:solidFill>
                  <a:srgbClr val="0000FF"/>
                </a:solidFill>
                <a:latin typeface="微软雅黑" panose="020B0503020204020204" pitchFamily="34" charset="-122"/>
                <a:ea typeface="微软雅黑" panose="020B0503020204020204" pitchFamily="34" charset="-122"/>
              </a:rPr>
              <a:t>指令寄存器</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400" u="sng" dirty="0">
                <a:solidFill>
                  <a:srgbClr val="0000FF"/>
                </a:solidFill>
                <a:latin typeface="微软雅黑" panose="020B0503020204020204" pitchFamily="34" charset="-122"/>
                <a:ea typeface="微软雅黑" panose="020B0503020204020204" pitchFamily="34" charset="-122"/>
              </a:rPr>
              <a:t>指令译码器</a:t>
            </a:r>
            <a:r>
              <a:rPr lang="zh-CN" altLang="en-US" sz="2400" dirty="0">
                <a:solidFill>
                  <a:prstClr val="black"/>
                </a:solidFill>
                <a:latin typeface="微软雅黑" panose="020B0503020204020204" pitchFamily="34" charset="-122"/>
                <a:ea typeface="微软雅黑" panose="020B0503020204020204" pitchFamily="34" charset="-122"/>
              </a:rPr>
              <a:t>及</a:t>
            </a:r>
            <a:r>
              <a:rPr lang="zh-CN" altLang="en-US" sz="2400" u="sng" dirty="0">
                <a:solidFill>
                  <a:srgbClr val="0000FF"/>
                </a:solidFill>
                <a:latin typeface="微软雅黑" panose="020B0503020204020204" pitchFamily="34" charset="-122"/>
                <a:ea typeface="微软雅黑" panose="020B0503020204020204" pitchFamily="34" charset="-122"/>
              </a:rPr>
              <a:t>定时控制电路</a:t>
            </a:r>
            <a:r>
              <a:rPr lang="zh-CN" altLang="en-US" sz="2400" dirty="0">
                <a:solidFill>
                  <a:prstClr val="black"/>
                </a:solidFill>
                <a:latin typeface="微软雅黑" panose="020B0503020204020204" pitchFamily="34" charset="-122"/>
                <a:ea typeface="微软雅黑" panose="020B0503020204020204" pitchFamily="34" charset="-122"/>
              </a:rPr>
              <a:t>等。 </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200" dirty="0">
                <a:solidFill>
                  <a:prstClr val="black"/>
                </a:solidFill>
                <a:latin typeface="微软雅黑" panose="020B0503020204020204" pitchFamily="34" charset="-122"/>
                <a:ea typeface="微软雅黑" panose="020B0503020204020204" pitchFamily="34" charset="-122"/>
              </a:rPr>
              <a:t>程序计数器</a:t>
            </a:r>
            <a:r>
              <a:rPr lang="en-US" altLang="zh-CN" sz="2200" dirty="0">
                <a:solidFill>
                  <a:prstClr val="black"/>
                </a:solidFill>
                <a:latin typeface="微软雅黑" panose="020B0503020204020204" pitchFamily="34" charset="-122"/>
                <a:ea typeface="微软雅黑" panose="020B0503020204020204" pitchFamily="34" charset="-122"/>
              </a:rPr>
              <a:t>(Program Counter, </a:t>
            </a:r>
            <a:r>
              <a:rPr lang="en-US" altLang="zh-CN" sz="2200" b="1" dirty="0">
                <a:solidFill>
                  <a:srgbClr val="FF0000"/>
                </a:solidFill>
                <a:latin typeface="微软雅黑" panose="020B0503020204020204" pitchFamily="34" charset="-122"/>
                <a:ea typeface="微软雅黑" panose="020B0503020204020204" pitchFamily="34" charset="-122"/>
              </a:rPr>
              <a:t>PC</a:t>
            </a:r>
            <a:r>
              <a:rPr lang="en-US" altLang="zh-CN" sz="2200" dirty="0">
                <a:latin typeface="微软雅黑" panose="020B0503020204020204" pitchFamily="34" charset="-122"/>
                <a:ea typeface="微软雅黑" panose="020B0503020204020204" pitchFamily="34" charset="-122"/>
              </a:rPr>
              <a:t>)</a:t>
            </a:r>
          </a:p>
          <a:p>
            <a:pPr algn="just" fontAlgn="auto">
              <a:lnSpc>
                <a:spcPct val="15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a:t>
            </a:r>
            <a:r>
              <a:rPr lang="en-US" altLang="zh-CN" sz="2000" dirty="0">
                <a:solidFill>
                  <a:srgbClr val="0000FF"/>
                </a:solidFill>
                <a:latin typeface="微软雅黑" panose="020B0503020204020204" pitchFamily="34" charset="-122"/>
                <a:ea typeface="微软雅黑" panose="020B0503020204020204" pitchFamily="34" charset="-122"/>
              </a:rPr>
              <a:t>16</a:t>
            </a:r>
            <a:r>
              <a:rPr lang="zh-CN" altLang="en-US" sz="2000" dirty="0">
                <a:solidFill>
                  <a:srgbClr val="0000FF"/>
                </a:solidFill>
                <a:latin typeface="微软雅黑" panose="020B0503020204020204" pitchFamily="34" charset="-122"/>
                <a:ea typeface="微软雅黑" panose="020B0503020204020204" pitchFamily="34" charset="-122"/>
              </a:rPr>
              <a:t>位</a:t>
            </a:r>
            <a:r>
              <a:rPr lang="zh-CN" altLang="en-US" sz="2000" dirty="0">
                <a:solidFill>
                  <a:prstClr val="black"/>
                </a:solidFill>
                <a:latin typeface="微软雅黑" panose="020B0503020204020204" pitchFamily="34" charset="-122"/>
                <a:ea typeface="微软雅黑" panose="020B0503020204020204" pitchFamily="34" charset="-122"/>
              </a:rPr>
              <a:t>的专用寄存器，用来存放</a:t>
            </a:r>
            <a:r>
              <a:rPr lang="en-US" altLang="zh-CN" sz="2000" dirty="0">
                <a:solidFill>
                  <a:prstClr val="black"/>
                </a:solidFill>
                <a:latin typeface="微软雅黑" panose="020B0503020204020204" pitchFamily="34" charset="-122"/>
                <a:ea typeface="微软雅黑" panose="020B0503020204020204" pitchFamily="34" charset="-122"/>
              </a:rPr>
              <a:t>CPU</a:t>
            </a:r>
            <a:r>
              <a:rPr lang="zh-CN" altLang="en-US" sz="2000" u="sng" dirty="0">
                <a:solidFill>
                  <a:prstClr val="black"/>
                </a:solidFill>
                <a:latin typeface="微软雅黑" panose="020B0503020204020204" pitchFamily="34" charset="-122"/>
                <a:ea typeface="微软雅黑" panose="020B0503020204020204" pitchFamily="34" charset="-122"/>
              </a:rPr>
              <a:t>将要执行</a:t>
            </a:r>
            <a:r>
              <a:rPr lang="zh-CN" altLang="en-US" sz="2000" dirty="0">
                <a:solidFill>
                  <a:prstClr val="black"/>
                </a:solidFill>
                <a:latin typeface="微软雅黑" panose="020B0503020204020204" pitchFamily="34" charset="-122"/>
                <a:ea typeface="微软雅黑" panose="020B0503020204020204" pitchFamily="34" charset="-122"/>
              </a:rPr>
              <a:t>的、存放在</a:t>
            </a:r>
            <a:r>
              <a:rPr lang="zh-CN" altLang="en-US" sz="2000" u="sng" dirty="0">
                <a:solidFill>
                  <a:prstClr val="black"/>
                </a:solidFill>
                <a:latin typeface="微软雅黑" panose="020B0503020204020204" pitchFamily="34" charset="-122"/>
                <a:ea typeface="微软雅黑" panose="020B0503020204020204" pitchFamily="34" charset="-122"/>
              </a:rPr>
              <a:t>程序存储器</a:t>
            </a:r>
            <a:r>
              <a:rPr lang="zh-CN" altLang="en-US" sz="2000" dirty="0">
                <a:solidFill>
                  <a:prstClr val="black"/>
                </a:solidFill>
                <a:latin typeface="微软雅黑" panose="020B0503020204020204" pitchFamily="34" charset="-122"/>
                <a:ea typeface="微软雅黑" panose="020B0503020204020204" pitchFamily="34" charset="-122"/>
              </a:rPr>
              <a:t>中的</a:t>
            </a:r>
            <a:r>
              <a:rPr lang="zh-CN" altLang="en-US" sz="2000" dirty="0">
                <a:solidFill>
                  <a:srgbClr val="0000FF"/>
                </a:solidFill>
                <a:latin typeface="微软雅黑" panose="020B0503020204020204" pitchFamily="34" charset="-122"/>
                <a:ea typeface="微软雅黑" panose="020B0503020204020204" pitchFamily="34" charset="-122"/>
              </a:rPr>
              <a:t>下一条指令存储单元的</a:t>
            </a:r>
            <a:r>
              <a:rPr lang="zh-CN" altLang="en-US" sz="2000" b="1" dirty="0">
                <a:solidFill>
                  <a:srgbClr val="0000FF"/>
                </a:solidFill>
                <a:latin typeface="微软雅黑" panose="020B0503020204020204" pitchFamily="34" charset="-122"/>
                <a:ea typeface="微软雅黑" panose="020B0503020204020204" pitchFamily="34" charset="-122"/>
              </a:rPr>
              <a:t>地址</a:t>
            </a:r>
            <a:r>
              <a:rPr lang="zh-CN" altLang="en-US" sz="2000" dirty="0">
                <a:solidFill>
                  <a:prstClr val="black"/>
                </a:solidFill>
                <a:latin typeface="微软雅黑" panose="020B0503020204020204" pitchFamily="34" charset="-122"/>
                <a:ea typeface="微软雅黑" panose="020B0503020204020204" pitchFamily="34" charset="-122"/>
              </a:rPr>
              <a:t>。当</a:t>
            </a:r>
            <a:r>
              <a:rPr lang="en-US" altLang="zh-CN" sz="2000" dirty="0">
                <a:solidFill>
                  <a:prstClr val="black"/>
                </a:solidFill>
                <a:latin typeface="微软雅黑" panose="020B0503020204020204" pitchFamily="34" charset="-122"/>
                <a:ea typeface="微软雅黑" panose="020B0503020204020204" pitchFamily="34" charset="-122"/>
              </a:rPr>
              <a:t>CPU</a:t>
            </a:r>
            <a:r>
              <a:rPr lang="zh-CN" altLang="en-US" sz="2000" dirty="0">
                <a:solidFill>
                  <a:prstClr val="black"/>
                </a:solidFill>
                <a:latin typeface="微软雅黑" panose="020B0503020204020204" pitchFamily="34" charset="-122"/>
                <a:ea typeface="微软雅黑" panose="020B0503020204020204" pitchFamily="34" charset="-122"/>
              </a:rPr>
              <a:t>要取指令时，</a:t>
            </a:r>
            <a:r>
              <a:rPr lang="en-US" altLang="zh-CN" sz="2000" dirty="0">
                <a:solidFill>
                  <a:prstClr val="black"/>
                </a:solidFill>
                <a:latin typeface="微软雅黑" panose="020B0503020204020204" pitchFamily="34" charset="-122"/>
                <a:ea typeface="微软雅黑" panose="020B0503020204020204" pitchFamily="34" charset="-122"/>
              </a:rPr>
              <a:t>CPU</a:t>
            </a:r>
            <a:r>
              <a:rPr lang="zh-CN" altLang="en-US" sz="2000" dirty="0">
                <a:solidFill>
                  <a:prstClr val="black"/>
                </a:solidFill>
                <a:latin typeface="微软雅黑" panose="020B0503020204020204" pitchFamily="34" charset="-122"/>
                <a:ea typeface="微软雅黑" panose="020B0503020204020204" pitchFamily="34" charset="-122"/>
              </a:rPr>
              <a:t>首先将</a:t>
            </a:r>
            <a:r>
              <a:rPr lang="en-US" altLang="zh-CN" sz="2000" dirty="0">
                <a:solidFill>
                  <a:prstClr val="black"/>
                </a:solidFill>
                <a:latin typeface="微软雅黑" panose="020B0503020204020204" pitchFamily="34" charset="-122"/>
                <a:ea typeface="微软雅黑" panose="020B0503020204020204" pitchFamily="34" charset="-122"/>
              </a:rPr>
              <a:t>PC</a:t>
            </a:r>
            <a:r>
              <a:rPr lang="zh-CN" altLang="en-US" sz="2000" dirty="0">
                <a:solidFill>
                  <a:prstClr val="black"/>
                </a:solidFill>
                <a:latin typeface="微软雅黑" panose="020B0503020204020204" pitchFamily="34" charset="-122"/>
                <a:ea typeface="微软雅黑" panose="020B0503020204020204" pitchFamily="34" charset="-122"/>
              </a:rPr>
              <a:t>的内容</a:t>
            </a:r>
            <a:r>
              <a:rPr lang="en-US" altLang="zh-CN" sz="2000" dirty="0">
                <a:solidFill>
                  <a:prstClr val="black"/>
                </a:solidFill>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即指令在程序存储器的地址</a:t>
            </a:r>
            <a:r>
              <a:rPr lang="en-US" altLang="zh-CN" sz="2000" dirty="0">
                <a:solidFill>
                  <a:prstClr val="black"/>
                </a:solidFill>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送往地址总线</a:t>
            </a:r>
            <a:r>
              <a:rPr lang="en-US" altLang="zh-CN" sz="2000" dirty="0">
                <a:solidFill>
                  <a:prstClr val="black"/>
                </a:solidFill>
                <a:latin typeface="微软雅黑" panose="020B0503020204020204" pitchFamily="34" charset="-122"/>
                <a:ea typeface="微软雅黑" panose="020B0503020204020204" pitchFamily="34" charset="-122"/>
              </a:rPr>
              <a:t>(AB)</a:t>
            </a:r>
            <a:r>
              <a:rPr lang="zh-CN" altLang="en-US" sz="2000" dirty="0">
                <a:solidFill>
                  <a:prstClr val="black"/>
                </a:solidFill>
                <a:latin typeface="微软雅黑" panose="020B0503020204020204" pitchFamily="34" charset="-122"/>
                <a:ea typeface="微软雅黑" panose="020B0503020204020204" pitchFamily="34" charset="-122"/>
              </a:rPr>
              <a:t>上，从程序存储器中取出当前要执行的指令，经</a:t>
            </a:r>
            <a:r>
              <a:rPr lang="zh-CN" altLang="en-US" sz="2000" dirty="0">
                <a:solidFill>
                  <a:srgbClr val="0000FF"/>
                </a:solidFill>
                <a:latin typeface="微软雅黑" panose="020B0503020204020204" pitchFamily="34" charset="-122"/>
                <a:ea typeface="微软雅黑" panose="020B0503020204020204" pitchFamily="34" charset="-122"/>
              </a:rPr>
              <a:t>指令译码器</a:t>
            </a:r>
            <a:r>
              <a:rPr lang="zh-CN" altLang="en-US" sz="2000" dirty="0">
                <a:solidFill>
                  <a:prstClr val="black"/>
                </a:solidFill>
                <a:latin typeface="微软雅黑" panose="020B0503020204020204" pitchFamily="34" charset="-122"/>
                <a:ea typeface="微软雅黑" panose="020B0503020204020204" pitchFamily="34" charset="-122"/>
              </a:rPr>
              <a:t>对指令进行译码，由</a:t>
            </a:r>
            <a:r>
              <a:rPr lang="zh-CN" altLang="en-US" sz="2000" dirty="0">
                <a:solidFill>
                  <a:srgbClr val="0000FF"/>
                </a:solidFill>
                <a:latin typeface="微软雅黑" panose="020B0503020204020204" pitchFamily="34" charset="-122"/>
                <a:ea typeface="微软雅黑" panose="020B0503020204020204" pitchFamily="34" charset="-122"/>
              </a:rPr>
              <a:t>定时控制电路</a:t>
            </a:r>
            <a:r>
              <a:rPr lang="zh-CN" altLang="en-US" sz="2000" dirty="0">
                <a:solidFill>
                  <a:prstClr val="black"/>
                </a:solidFill>
                <a:latin typeface="微软雅黑" panose="020B0503020204020204" pitchFamily="34" charset="-122"/>
                <a:ea typeface="微软雅黑" panose="020B0503020204020204" pitchFamily="34" charset="-122"/>
              </a:rPr>
              <a:t>发出各种控制信息，以完成指令所需的操作。同时，</a:t>
            </a:r>
            <a:r>
              <a:rPr lang="en-US" altLang="zh-CN" sz="2000" dirty="0">
                <a:solidFill>
                  <a:prstClr val="black"/>
                </a:solidFill>
                <a:latin typeface="微软雅黑" panose="020B0503020204020204" pitchFamily="34" charset="-122"/>
                <a:ea typeface="微软雅黑" panose="020B0503020204020204" pitchFamily="34" charset="-122"/>
              </a:rPr>
              <a:t>PC</a:t>
            </a:r>
            <a:r>
              <a:rPr lang="zh-CN" altLang="en-US" sz="2000" dirty="0">
                <a:solidFill>
                  <a:prstClr val="black"/>
                </a:solidFill>
                <a:latin typeface="微软雅黑" panose="020B0503020204020204" pitchFamily="34" charset="-122"/>
                <a:ea typeface="微软雅黑" panose="020B0503020204020204" pitchFamily="34" charset="-122"/>
              </a:rPr>
              <a:t>的内容</a:t>
            </a:r>
            <a:r>
              <a:rPr lang="zh-CN" altLang="en-US" sz="2000" dirty="0">
                <a:solidFill>
                  <a:srgbClr val="0000FF"/>
                </a:solidFill>
                <a:latin typeface="微软雅黑" panose="020B0503020204020204" pitchFamily="34" charset="-122"/>
                <a:ea typeface="微软雅黑" panose="020B0503020204020204" pitchFamily="34" charset="-122"/>
              </a:rPr>
              <a:t>自动</a:t>
            </a:r>
            <a:r>
              <a:rPr lang="zh-CN" altLang="en-US" sz="2000" u="sng" dirty="0">
                <a:solidFill>
                  <a:srgbClr val="FF0000"/>
                </a:solidFill>
                <a:latin typeface="微软雅黑" panose="020B0503020204020204" pitchFamily="34" charset="-122"/>
                <a:ea typeface="微软雅黑" panose="020B0503020204020204" pitchFamily="34" charset="-122"/>
              </a:rPr>
              <a:t>递增</a:t>
            </a:r>
            <a:r>
              <a:rPr lang="en-US" altLang="zh-CN" sz="1600" b="1" dirty="0">
                <a:solidFill>
                  <a:srgbClr val="FF0000"/>
                </a:solidFill>
                <a:latin typeface="微软雅黑" panose="020B0503020204020204" pitchFamily="34" charset="-122"/>
                <a:ea typeface="微软雅黑" panose="020B0503020204020204" pitchFamily="34" charset="-122"/>
              </a:rPr>
              <a:t>(</a:t>
            </a:r>
            <a:r>
              <a:rPr lang="zh-CN" altLang="en-US" sz="1600" b="1" dirty="0">
                <a:solidFill>
                  <a:srgbClr val="FF0000"/>
                </a:solidFill>
                <a:latin typeface="微软雅黑" panose="020B0503020204020204" pitchFamily="34" charset="-122"/>
                <a:ea typeface="微软雅黑" panose="020B0503020204020204" pitchFamily="34" charset="-122"/>
              </a:rPr>
              <a:t>顺序执行</a:t>
            </a:r>
            <a:r>
              <a:rPr lang="en-US" altLang="zh-CN" sz="1600" b="1" dirty="0">
                <a:solidFill>
                  <a:srgbClr val="FF0000"/>
                </a:solidFill>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或按照上一条指令的要求，</a:t>
            </a:r>
            <a:r>
              <a:rPr lang="zh-CN" altLang="en-US" sz="2000" u="sng" dirty="0">
                <a:solidFill>
                  <a:srgbClr val="FF0000"/>
                </a:solidFill>
                <a:latin typeface="微软雅黑" panose="020B0503020204020204" pitchFamily="34" charset="-122"/>
                <a:ea typeface="微软雅黑" panose="020B0503020204020204" pitchFamily="34" charset="-122"/>
              </a:rPr>
              <a:t>指向</a:t>
            </a:r>
            <a:r>
              <a:rPr lang="en-US" altLang="zh-CN" sz="2000" u="sng" dirty="0">
                <a:solidFill>
                  <a:srgbClr val="FF0000"/>
                </a:solidFill>
                <a:latin typeface="微软雅黑" panose="020B0503020204020204" pitchFamily="34" charset="-122"/>
                <a:ea typeface="微软雅黑" panose="020B0503020204020204" pitchFamily="34" charset="-122"/>
              </a:rPr>
              <a:t>CPU</a:t>
            </a:r>
            <a:r>
              <a:rPr lang="zh-CN" altLang="en-US" sz="2000" u="sng" dirty="0">
                <a:solidFill>
                  <a:srgbClr val="FF0000"/>
                </a:solidFill>
                <a:latin typeface="微软雅黑" panose="020B0503020204020204" pitchFamily="34" charset="-122"/>
                <a:ea typeface="微软雅黑" panose="020B0503020204020204" pitchFamily="34" charset="-122"/>
              </a:rPr>
              <a:t>要执行的下一条指令的地址</a:t>
            </a:r>
            <a:r>
              <a:rPr lang="zh-CN" altLang="en-US" sz="1600" b="1" dirty="0">
                <a:solidFill>
                  <a:srgbClr val="FF0000"/>
                </a:solidFill>
                <a:latin typeface="微软雅黑" panose="020B0503020204020204" pitchFamily="34" charset="-122"/>
                <a:ea typeface="微软雅黑" panose="020B0503020204020204" pitchFamily="34" charset="-122"/>
              </a:rPr>
              <a:t>（分支、跳转等）</a:t>
            </a:r>
            <a:r>
              <a:rPr lang="zh-CN" altLang="en-US" sz="2000" dirty="0">
                <a:solidFill>
                  <a:prstClr val="black"/>
                </a:solidFill>
                <a:latin typeface="微软雅黑" panose="020B0503020204020204" pitchFamily="34" charset="-122"/>
                <a:ea typeface="微软雅黑" panose="020B0503020204020204" pitchFamily="34" charset="-122"/>
              </a:rPr>
              <a:t>。</a:t>
            </a:r>
            <a:endParaRPr lang="en-US" altLang="zh-CN" sz="2000" dirty="0">
              <a:solidFill>
                <a:prstClr val="black"/>
              </a:solidFill>
              <a:latin typeface="微软雅黑" panose="020B0503020204020204" pitchFamily="34" charset="-122"/>
              <a:ea typeface="微软雅黑" panose="020B0503020204020204" pitchFamily="34" charset="-122"/>
            </a:endParaRPr>
          </a:p>
          <a:p>
            <a:pPr marL="800100" lvl="1" indent="-342900" algn="just" fontAlgn="auto">
              <a:lnSpc>
                <a:spcPct val="150000"/>
              </a:lnSpc>
              <a:spcBef>
                <a:spcPts val="0"/>
              </a:spcBef>
              <a:spcAft>
                <a:spcPts val="0"/>
              </a:spcAft>
              <a:buFont typeface="Wingdings" panose="05000000000000000000" pitchFamily="2" charset="2"/>
              <a:buChar char="u"/>
              <a:defRPr/>
            </a:pPr>
            <a:r>
              <a:rPr lang="zh-CN" altLang="en-US" sz="2000" b="1" dirty="0">
                <a:solidFill>
                  <a:prstClr val="black"/>
                </a:solidFill>
                <a:latin typeface="微软雅黑" panose="020B0503020204020204" pitchFamily="34" charset="-122"/>
                <a:ea typeface="微软雅黑" panose="020B0503020204020204" pitchFamily="34" charset="-122"/>
              </a:rPr>
              <a:t>分支</a:t>
            </a:r>
            <a:r>
              <a:rPr lang="en-US" altLang="zh-CN" sz="2000" b="1" dirty="0">
                <a:solidFill>
                  <a:prstClr val="black"/>
                </a:solidFill>
                <a:latin typeface="微软雅黑" panose="020B0503020204020204" pitchFamily="34" charset="-122"/>
                <a:ea typeface="微软雅黑" panose="020B0503020204020204" pitchFamily="34" charset="-122"/>
              </a:rPr>
              <a:t>/</a:t>
            </a:r>
            <a:r>
              <a:rPr lang="zh-CN" altLang="en-US" sz="2000" b="1" dirty="0">
                <a:solidFill>
                  <a:prstClr val="black"/>
                </a:solidFill>
                <a:latin typeface="微软雅黑" panose="020B0503020204020204" pitchFamily="34" charset="-122"/>
                <a:ea typeface="微软雅黑" panose="020B0503020204020204" pitchFamily="34" charset="-122"/>
              </a:rPr>
              <a:t>跳转</a:t>
            </a:r>
            <a:r>
              <a:rPr lang="en-US" altLang="zh-CN" sz="2000" b="1" dirty="0">
                <a:solidFill>
                  <a:prstClr val="black"/>
                </a:solidFill>
                <a:latin typeface="微软雅黑" panose="020B0503020204020204" pitchFamily="34" charset="-122"/>
                <a:ea typeface="微软雅黑" panose="020B0503020204020204" pitchFamily="34" charset="-122"/>
              </a:rPr>
              <a:t>/</a:t>
            </a:r>
            <a:r>
              <a:rPr lang="zh-CN" altLang="en-US" sz="2000" b="1" dirty="0">
                <a:solidFill>
                  <a:prstClr val="black"/>
                </a:solidFill>
                <a:latin typeface="微软雅黑" panose="020B0503020204020204" pitchFamily="34" charset="-122"/>
                <a:ea typeface="微软雅黑" panose="020B0503020204020204" pitchFamily="34" charset="-122"/>
              </a:rPr>
              <a:t>调用</a:t>
            </a:r>
            <a:r>
              <a:rPr lang="en-US" altLang="zh-CN" sz="2000" b="1" dirty="0">
                <a:solidFill>
                  <a:prstClr val="black"/>
                </a:solidFill>
                <a:latin typeface="微软雅黑" panose="020B0503020204020204" pitchFamily="34" charset="-122"/>
                <a:ea typeface="微软雅黑" panose="020B0503020204020204" pitchFamily="34" charset="-122"/>
              </a:rPr>
              <a:t>/</a:t>
            </a:r>
            <a:r>
              <a:rPr lang="zh-CN" altLang="en-US" sz="2000" b="1" dirty="0">
                <a:solidFill>
                  <a:prstClr val="black"/>
                </a:solidFill>
                <a:latin typeface="微软雅黑" panose="020B0503020204020204" pitchFamily="34" charset="-122"/>
                <a:ea typeface="微软雅黑" panose="020B0503020204020204" pitchFamily="34" charset="-122"/>
              </a:rPr>
              <a:t>中断</a:t>
            </a:r>
            <a:r>
              <a:rPr lang="en-US" altLang="zh-CN" sz="2000" b="1" dirty="0">
                <a:solidFill>
                  <a:prstClr val="black"/>
                </a:solidFill>
                <a:latin typeface="微软雅黑" panose="020B0503020204020204" pitchFamily="34" charset="-122"/>
                <a:ea typeface="微软雅黑" panose="020B0503020204020204" pitchFamily="34" charset="-122"/>
              </a:rPr>
              <a:t>/</a:t>
            </a:r>
            <a:r>
              <a:rPr lang="zh-CN" altLang="en-US" sz="2000" b="1" dirty="0">
                <a:solidFill>
                  <a:prstClr val="black"/>
                </a:solidFill>
                <a:latin typeface="微软雅黑" panose="020B0503020204020204" pitchFamily="34" charset="-122"/>
                <a:ea typeface="微软雅黑" panose="020B0503020204020204" pitchFamily="34" charset="-122"/>
              </a:rPr>
              <a:t>复位等操作的</a:t>
            </a:r>
            <a:r>
              <a:rPr lang="zh-CN" altLang="en-US" sz="2000" b="1" dirty="0">
                <a:solidFill>
                  <a:srgbClr val="0000FF"/>
                </a:solidFill>
                <a:latin typeface="微软雅黑" panose="020B0503020204020204" pitchFamily="34" charset="-122"/>
                <a:ea typeface="微软雅黑" panose="020B0503020204020204" pitchFamily="34" charset="-122"/>
              </a:rPr>
              <a:t>本质</a:t>
            </a:r>
            <a:r>
              <a:rPr lang="zh-CN" altLang="en-US" sz="2000" b="1" dirty="0">
                <a:solidFill>
                  <a:prstClr val="black"/>
                </a:solidFill>
                <a:latin typeface="微软雅黑" panose="020B0503020204020204" pitchFamily="34" charset="-122"/>
                <a:ea typeface="微软雅黑" panose="020B0503020204020204" pitchFamily="34" charset="-122"/>
              </a:rPr>
              <a:t>就是</a:t>
            </a:r>
            <a:r>
              <a:rPr lang="zh-CN" altLang="en-US" sz="2000" b="1" dirty="0">
                <a:solidFill>
                  <a:srgbClr val="FF0000"/>
                </a:solidFill>
                <a:latin typeface="微软雅黑" panose="020B0503020204020204" pitchFamily="34" charset="-122"/>
                <a:ea typeface="微软雅黑" panose="020B0503020204020204" pitchFamily="34" charset="-122"/>
              </a:rPr>
              <a:t>改变</a:t>
            </a:r>
            <a:r>
              <a:rPr lang="en-US" altLang="zh-CN" sz="2000" b="1" dirty="0">
                <a:solidFill>
                  <a:srgbClr val="FF0000"/>
                </a:solidFill>
                <a:latin typeface="微软雅黑" panose="020B0503020204020204" pitchFamily="34" charset="-122"/>
                <a:ea typeface="微软雅黑" panose="020B0503020204020204" pitchFamily="34" charset="-122"/>
              </a:rPr>
              <a:t>PC</a:t>
            </a:r>
            <a:r>
              <a:rPr lang="zh-CN" altLang="en-US" sz="2000" b="1" dirty="0">
                <a:solidFill>
                  <a:srgbClr val="FF0000"/>
                </a:solidFill>
                <a:latin typeface="微软雅黑" panose="020B0503020204020204" pitchFamily="34" charset="-122"/>
                <a:ea typeface="微软雅黑" panose="020B0503020204020204" pitchFamily="34" charset="-122"/>
              </a:rPr>
              <a:t>值</a:t>
            </a:r>
            <a:r>
              <a:rPr lang="zh-CN" altLang="en-US" sz="2000" dirty="0">
                <a:solidFill>
                  <a:prstClr val="black"/>
                </a:solidFill>
                <a:latin typeface="微软雅黑" panose="020B0503020204020204" pitchFamily="34" charset="-122"/>
                <a:ea typeface="微软雅黑" panose="020B0503020204020204" pitchFamily="34" charset="-122"/>
              </a:rPr>
              <a:t>。</a:t>
            </a:r>
          </a:p>
        </p:txBody>
      </p:sp>
      <p:sp>
        <p:nvSpPr>
          <p:cNvPr id="26626"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26627"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26628"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631180"/>
          </a:xfrm>
          <a:prstGeom prst="rect">
            <a:avLst/>
          </a:prstGeom>
          <a:noFill/>
        </p:spPr>
        <p:txBody>
          <a:bodyPr>
            <a:spAutoFit/>
          </a:bodyPr>
          <a:lstStyle/>
          <a:p>
            <a:pPr>
              <a:lnSpc>
                <a:spcPct val="150000"/>
              </a:lnSpc>
            </a:pPr>
            <a:r>
              <a:rPr lang="en-US" altLang="zh-CN" sz="2400" b="1" dirty="0">
                <a:solidFill>
                  <a:srgbClr val="000000"/>
                </a:solidFill>
                <a:latin typeface="微软雅黑" panose="020B0503020204020204" pitchFamily="34" charset="-122"/>
                <a:ea typeface="微软雅黑" panose="020B0503020204020204" pitchFamily="34" charset="-122"/>
              </a:rPr>
              <a:t>2.1.1 MCS-51</a:t>
            </a:r>
            <a:r>
              <a:rPr lang="zh-CN" altLang="en-US" sz="2400" b="1" dirty="0">
                <a:solidFill>
                  <a:srgbClr val="000000"/>
                </a:solidFill>
                <a:latin typeface="微软雅黑" panose="020B0503020204020204" pitchFamily="34" charset="-122"/>
                <a:ea typeface="微软雅黑" panose="020B0503020204020204" pitchFamily="34" charset="-122"/>
              </a:rPr>
              <a:t>单片机总体框图及功能</a:t>
            </a:r>
            <a:endParaRPr lang="en-US" altLang="zh-CN" sz="2400" b="1" dirty="0">
              <a:solidFill>
                <a:srgbClr val="000000"/>
              </a:solidFill>
              <a:latin typeface="微软雅黑" panose="020B0503020204020204" pitchFamily="34" charset="-122"/>
              <a:ea typeface="微软雅黑" panose="020B0503020204020204" pitchFamily="34" charset="-122"/>
            </a:endParaRPr>
          </a:p>
          <a:p>
            <a:pPr algn="just">
              <a:lnSpc>
                <a:spcPct val="150000"/>
              </a:lnSpc>
              <a:buFont typeface="Wingdings" panose="05000000000000000000" pitchFamily="2" charset="2"/>
              <a:buChar char="Ø"/>
            </a:pPr>
            <a:r>
              <a:rPr lang="zh-CN" altLang="en-US" sz="2400" dirty="0">
                <a:solidFill>
                  <a:srgbClr val="000000"/>
                </a:solidFill>
                <a:latin typeface="微软雅黑" panose="020B0503020204020204" pitchFamily="34" charset="-122"/>
                <a:ea typeface="微软雅黑" panose="020B0503020204020204" pitchFamily="34" charset="-122"/>
              </a:rPr>
              <a:t>数据指针寄存器 </a:t>
            </a:r>
            <a:r>
              <a:rPr lang="en-US" altLang="zh-CN" sz="2400" dirty="0">
                <a:solidFill>
                  <a:srgbClr val="000000"/>
                </a:solidFill>
                <a:latin typeface="微软雅黑" panose="020B0503020204020204" pitchFamily="34" charset="-122"/>
                <a:ea typeface="微软雅黑" panose="020B0503020204020204" pitchFamily="34" charset="-122"/>
              </a:rPr>
              <a:t>(</a:t>
            </a:r>
            <a:r>
              <a:rPr lang="en-US" altLang="zh-CN" sz="2400" dirty="0">
                <a:solidFill>
                  <a:srgbClr val="0000FF"/>
                </a:solidFill>
                <a:latin typeface="微软雅黑" panose="020B0503020204020204" pitchFamily="34" charset="-122"/>
                <a:ea typeface="微软雅黑" panose="020B0503020204020204" pitchFamily="34" charset="-122"/>
              </a:rPr>
              <a:t>D</a:t>
            </a:r>
            <a:r>
              <a:rPr lang="en-US" altLang="zh-CN" sz="2400" dirty="0">
                <a:solidFill>
                  <a:srgbClr val="000000"/>
                </a:solidFill>
                <a:latin typeface="微软雅黑" panose="020B0503020204020204" pitchFamily="34" charset="-122"/>
                <a:ea typeface="微软雅黑" panose="020B0503020204020204" pitchFamily="34" charset="-122"/>
              </a:rPr>
              <a:t>ata </a:t>
            </a:r>
            <a:r>
              <a:rPr lang="en-US" altLang="zh-CN" sz="2400" dirty="0">
                <a:solidFill>
                  <a:srgbClr val="0000FF"/>
                </a:solidFill>
                <a:latin typeface="微软雅黑" panose="020B0503020204020204" pitchFamily="34" charset="-122"/>
                <a:ea typeface="微软雅黑" panose="020B0503020204020204" pitchFamily="34" charset="-122"/>
              </a:rPr>
              <a:t>P</a:t>
            </a:r>
            <a:r>
              <a:rPr lang="en-US" altLang="zh-CN" sz="2400" dirty="0">
                <a:solidFill>
                  <a:srgbClr val="000000"/>
                </a:solidFill>
                <a:latin typeface="微软雅黑" panose="020B0503020204020204" pitchFamily="34" charset="-122"/>
                <a:ea typeface="微软雅黑" panose="020B0503020204020204" pitchFamily="34" charset="-122"/>
              </a:rPr>
              <a:t>oin</a:t>
            </a:r>
            <a:r>
              <a:rPr lang="en-US" altLang="zh-CN" sz="2400" dirty="0">
                <a:solidFill>
                  <a:srgbClr val="0000FF"/>
                </a:solidFill>
                <a:latin typeface="微软雅黑" panose="020B0503020204020204" pitchFamily="34" charset="-122"/>
                <a:ea typeface="微软雅黑" panose="020B0503020204020204" pitchFamily="34" charset="-122"/>
              </a:rPr>
              <a:t>t</a:t>
            </a:r>
            <a:r>
              <a:rPr lang="en-US" altLang="zh-CN" sz="2400" dirty="0">
                <a:solidFill>
                  <a:srgbClr val="000000"/>
                </a:solidFill>
                <a:latin typeface="微软雅黑" panose="020B0503020204020204" pitchFamily="34" charset="-122"/>
                <a:ea typeface="微软雅黑" panose="020B0503020204020204" pitchFamily="34" charset="-122"/>
              </a:rPr>
              <a:t>e</a:t>
            </a:r>
            <a:r>
              <a:rPr lang="en-US" altLang="zh-CN" sz="2400" dirty="0">
                <a:solidFill>
                  <a:srgbClr val="0000FF"/>
                </a:solidFill>
                <a:latin typeface="微软雅黑" panose="020B0503020204020204" pitchFamily="34" charset="-122"/>
                <a:ea typeface="微软雅黑" panose="020B0503020204020204" pitchFamily="34" charset="-122"/>
              </a:rPr>
              <a:t>r</a:t>
            </a:r>
            <a:r>
              <a:rPr lang="en-US" altLang="zh-CN" sz="2400" dirty="0">
                <a:solidFill>
                  <a:srgbClr val="000000"/>
                </a:solidFill>
                <a:latin typeface="微软雅黑" panose="020B0503020204020204" pitchFamily="34" charset="-122"/>
                <a:ea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rPr>
              <a:t>DPTR</a:t>
            </a:r>
            <a:r>
              <a:rPr lang="en-US" altLang="zh-CN" sz="2400" dirty="0">
                <a:solidFill>
                  <a:srgbClr val="000000"/>
                </a:solidFill>
                <a:latin typeface="微软雅黑" panose="020B0503020204020204" pitchFamily="34" charset="-122"/>
                <a:ea typeface="微软雅黑" panose="020B0503020204020204" pitchFamily="34" charset="-122"/>
              </a:rPr>
              <a:t>)</a:t>
            </a:r>
            <a:endParaRPr lang="zh-CN" altLang="en-US" sz="2400" dirty="0">
              <a:solidFill>
                <a:srgbClr val="000000"/>
              </a:solidFill>
              <a:latin typeface="微软雅黑" panose="020B0503020204020204" pitchFamily="34" charset="-122"/>
              <a:ea typeface="微软雅黑" panose="020B0503020204020204" pitchFamily="34" charset="-122"/>
            </a:endParaRPr>
          </a:p>
          <a:p>
            <a:pPr marL="800100" lvl="1" indent="-342900" algn="just">
              <a:lnSpc>
                <a:spcPct val="120000"/>
              </a:lnSpc>
              <a:buFont typeface="Wingdings" panose="05000000000000000000" pitchFamily="2" charset="2"/>
              <a:buChar char="ü"/>
            </a:pPr>
            <a:r>
              <a:rPr lang="en-US" altLang="zh-CN" sz="2000" dirty="0">
                <a:solidFill>
                  <a:srgbClr val="0000FF"/>
                </a:solidFill>
                <a:latin typeface="微软雅黑" panose="020B0503020204020204" pitchFamily="34" charset="-122"/>
                <a:ea typeface="微软雅黑" panose="020B0503020204020204" pitchFamily="34" charset="-122"/>
              </a:rPr>
              <a:t>16</a:t>
            </a:r>
            <a:r>
              <a:rPr lang="zh-CN" altLang="en-US" sz="2000" dirty="0">
                <a:solidFill>
                  <a:srgbClr val="0000FF"/>
                </a:solidFill>
                <a:latin typeface="微软雅黑" panose="020B0503020204020204" pitchFamily="34" charset="-122"/>
                <a:ea typeface="微软雅黑" panose="020B0503020204020204" pitchFamily="34" charset="-122"/>
              </a:rPr>
              <a:t>位</a:t>
            </a:r>
            <a:r>
              <a:rPr lang="zh-CN" altLang="en-US" sz="2000" dirty="0">
                <a:solidFill>
                  <a:srgbClr val="000000"/>
                </a:solidFill>
                <a:latin typeface="微软雅黑" panose="020B0503020204020204" pitchFamily="34" charset="-122"/>
                <a:ea typeface="微软雅黑" panose="020B0503020204020204" pitchFamily="34" charset="-122"/>
              </a:rPr>
              <a:t>字长，可寻址范围</a:t>
            </a:r>
            <a:r>
              <a:rPr lang="en-US" altLang="zh-CN" sz="2000" dirty="0">
                <a:solidFill>
                  <a:srgbClr val="000000"/>
                </a:solidFill>
                <a:latin typeface="微软雅黑" panose="020B0503020204020204" pitchFamily="34" charset="-122"/>
                <a:ea typeface="微软雅黑" panose="020B0503020204020204" pitchFamily="34" charset="-122"/>
              </a:rPr>
              <a:t>2</a:t>
            </a:r>
            <a:r>
              <a:rPr lang="en-US" altLang="zh-CN" sz="2000" baseline="30000" dirty="0">
                <a:solidFill>
                  <a:srgbClr val="000000"/>
                </a:solidFill>
                <a:latin typeface="微软雅黑" panose="020B0503020204020204" pitchFamily="34" charset="-122"/>
                <a:ea typeface="微软雅黑" panose="020B0503020204020204" pitchFamily="34" charset="-122"/>
              </a:rPr>
              <a:t>16</a:t>
            </a:r>
            <a:r>
              <a:rPr lang="en-US" altLang="zh-CN" sz="2000" dirty="0">
                <a:solidFill>
                  <a:srgbClr val="000000"/>
                </a:solidFill>
                <a:latin typeface="微软雅黑" panose="020B0503020204020204" pitchFamily="34" charset="-122"/>
                <a:ea typeface="微软雅黑" panose="020B0503020204020204" pitchFamily="34" charset="-122"/>
              </a:rPr>
              <a:t> (64KB)</a:t>
            </a:r>
            <a:r>
              <a:rPr lang="zh-CN" altLang="en-US" sz="2000" dirty="0">
                <a:solidFill>
                  <a:srgbClr val="000000"/>
                </a:solidFill>
                <a:latin typeface="微软雅黑" panose="020B0503020204020204" pitchFamily="34" charset="-122"/>
                <a:ea typeface="微软雅黑" panose="020B0503020204020204" pitchFamily="34" charset="-122"/>
              </a:rPr>
              <a:t>；</a:t>
            </a:r>
            <a:endParaRPr lang="en-US" altLang="zh-CN" sz="2000" dirty="0">
              <a:solidFill>
                <a:srgbClr val="000000"/>
              </a:solidFill>
              <a:latin typeface="微软雅黑" panose="020B0503020204020204" pitchFamily="34" charset="-122"/>
              <a:ea typeface="微软雅黑" panose="020B0503020204020204" pitchFamily="34" charset="-122"/>
            </a:endParaRPr>
          </a:p>
          <a:p>
            <a:pPr marL="800100" lvl="1" indent="-342900" algn="just">
              <a:lnSpc>
                <a:spcPct val="120000"/>
              </a:lnSpc>
              <a:buFont typeface="Wingdings" panose="05000000000000000000" pitchFamily="2" charset="2"/>
              <a:buChar char="ü"/>
            </a:pPr>
            <a:r>
              <a:rPr lang="zh-CN" altLang="en-US" sz="2000" dirty="0">
                <a:solidFill>
                  <a:srgbClr val="000000"/>
                </a:solidFill>
                <a:latin typeface="微软雅黑" panose="020B0503020204020204" pitchFamily="34" charset="-122"/>
                <a:ea typeface="微软雅黑" panose="020B0503020204020204" pitchFamily="34" charset="-122"/>
              </a:rPr>
              <a:t>可拆分为</a:t>
            </a:r>
            <a:r>
              <a:rPr lang="en-US" altLang="zh-CN" sz="2000" dirty="0">
                <a:solidFill>
                  <a:srgbClr val="000000"/>
                </a:solidFill>
                <a:latin typeface="微软雅黑" panose="020B0503020204020204" pitchFamily="34" charset="-122"/>
                <a:ea typeface="微软雅黑" panose="020B0503020204020204" pitchFamily="34" charset="-122"/>
              </a:rPr>
              <a:t>2</a:t>
            </a:r>
            <a:r>
              <a:rPr lang="zh-CN" altLang="en-US" sz="2000" dirty="0">
                <a:solidFill>
                  <a:srgbClr val="000000"/>
                </a:solidFill>
                <a:latin typeface="微软雅黑" panose="020B0503020204020204" pitchFamily="34" charset="-122"/>
                <a:ea typeface="微软雅黑" panose="020B0503020204020204" pitchFamily="34" charset="-122"/>
              </a:rPr>
              <a:t>个</a:t>
            </a:r>
            <a:r>
              <a:rPr lang="en-US" altLang="zh-CN" sz="2000" dirty="0">
                <a:solidFill>
                  <a:srgbClr val="000000"/>
                </a:solidFill>
                <a:latin typeface="微软雅黑" panose="020B0503020204020204" pitchFamily="34" charset="-122"/>
                <a:ea typeface="微软雅黑" panose="020B0503020204020204" pitchFamily="34" charset="-122"/>
              </a:rPr>
              <a:t>8</a:t>
            </a:r>
            <a:r>
              <a:rPr lang="zh-CN" altLang="en-US" sz="2000" dirty="0">
                <a:solidFill>
                  <a:srgbClr val="000000"/>
                </a:solidFill>
                <a:latin typeface="微软雅黑" panose="020B0503020204020204" pitchFamily="34" charset="-122"/>
                <a:ea typeface="微软雅黑" panose="020B0503020204020204" pitchFamily="34" charset="-122"/>
              </a:rPr>
              <a:t>位的独立</a:t>
            </a:r>
            <a:r>
              <a:rPr lang="zh-CN" altLang="en-US" sz="2000" dirty="0">
                <a:solidFill>
                  <a:srgbClr val="FF0000"/>
                </a:solidFill>
                <a:latin typeface="微软雅黑" panose="020B0503020204020204" pitchFamily="34" charset="-122"/>
                <a:ea typeface="微软雅黑" panose="020B0503020204020204" pitchFamily="34" charset="-122"/>
              </a:rPr>
              <a:t>特殊功能寄存器</a:t>
            </a:r>
            <a:r>
              <a:rPr lang="en-US" altLang="zh-CN" sz="2000" dirty="0">
                <a:solidFill>
                  <a:srgbClr val="0000FF"/>
                </a:solidFill>
                <a:latin typeface="微软雅黑" panose="020B0503020204020204" pitchFamily="34" charset="-122"/>
                <a:ea typeface="微软雅黑" panose="020B0503020204020204" pitchFamily="34" charset="-122"/>
              </a:rPr>
              <a:t>DPL</a:t>
            </a:r>
            <a:r>
              <a:rPr lang="zh-CN" altLang="en-US" sz="2000" dirty="0">
                <a:solidFill>
                  <a:srgbClr val="000000"/>
                </a:solidFill>
                <a:latin typeface="微软雅黑" panose="020B0503020204020204" pitchFamily="34" charset="-122"/>
                <a:ea typeface="微软雅黑" panose="020B0503020204020204" pitchFamily="34" charset="-122"/>
              </a:rPr>
              <a:t>和</a:t>
            </a:r>
            <a:r>
              <a:rPr lang="en-US" altLang="zh-CN" sz="2000" dirty="0">
                <a:solidFill>
                  <a:srgbClr val="0000FF"/>
                </a:solidFill>
                <a:latin typeface="微软雅黑" panose="020B0503020204020204" pitchFamily="34" charset="-122"/>
                <a:ea typeface="微软雅黑" panose="020B0503020204020204" pitchFamily="34" charset="-122"/>
              </a:rPr>
              <a:t>DPH</a:t>
            </a:r>
            <a:r>
              <a:rPr lang="zh-CN" altLang="en-US" sz="2000" dirty="0">
                <a:solidFill>
                  <a:srgbClr val="000000"/>
                </a:solidFill>
                <a:latin typeface="微软雅黑" panose="020B0503020204020204" pitchFamily="34" charset="-122"/>
                <a:ea typeface="微软雅黑" panose="020B0503020204020204" pitchFamily="34" charset="-122"/>
              </a:rPr>
              <a:t>；</a:t>
            </a:r>
            <a:endParaRPr lang="en-US" altLang="zh-CN" sz="2000" dirty="0">
              <a:solidFill>
                <a:srgbClr val="000000"/>
              </a:solidFill>
              <a:latin typeface="微软雅黑" panose="020B0503020204020204" pitchFamily="34" charset="-122"/>
              <a:ea typeface="微软雅黑" panose="020B0503020204020204" pitchFamily="34" charset="-122"/>
            </a:endParaRPr>
          </a:p>
          <a:p>
            <a:pPr marL="800100" lvl="1" indent="-342900" algn="just">
              <a:lnSpc>
                <a:spcPct val="120000"/>
              </a:lnSpc>
              <a:buFont typeface="Wingdings" panose="05000000000000000000" pitchFamily="2" charset="2"/>
              <a:buChar char="ü"/>
            </a:pPr>
            <a:r>
              <a:rPr lang="zh-CN" altLang="en-US" sz="2000" dirty="0">
                <a:solidFill>
                  <a:srgbClr val="000000"/>
                </a:solidFill>
                <a:latin typeface="微软雅黑" panose="020B0503020204020204" pitchFamily="34" charset="-122"/>
                <a:ea typeface="微软雅黑" panose="020B0503020204020204" pitchFamily="34" charset="-122"/>
              </a:rPr>
              <a:t>表示</a:t>
            </a:r>
            <a:r>
              <a:rPr lang="zh-CN" altLang="en-US" sz="2000" b="1" dirty="0">
                <a:solidFill>
                  <a:srgbClr val="000000"/>
                </a:solidFill>
                <a:latin typeface="微软雅黑" panose="020B0503020204020204" pitchFamily="34" charset="-122"/>
                <a:ea typeface="微软雅黑" panose="020B0503020204020204" pitchFamily="34" charset="-122"/>
              </a:rPr>
              <a:t>存储器数据地址</a:t>
            </a:r>
            <a:r>
              <a:rPr lang="zh-CN" altLang="en-US" sz="2000" dirty="0">
                <a:solidFill>
                  <a:srgbClr val="000000"/>
                </a:solidFill>
                <a:latin typeface="微软雅黑" panose="020B0503020204020204" pitchFamily="34" charset="-122"/>
                <a:ea typeface="微软雅黑" panose="020B0503020204020204" pitchFamily="34" charset="-122"/>
              </a:rPr>
              <a:t>的指针，以便对</a:t>
            </a:r>
            <a:r>
              <a:rPr lang="zh-CN" altLang="en-US" sz="2000" b="1" dirty="0">
                <a:solidFill>
                  <a:srgbClr val="000000"/>
                </a:solidFill>
                <a:latin typeface="微软雅黑" panose="020B0503020204020204" pitchFamily="34" charset="-122"/>
                <a:ea typeface="微软雅黑" panose="020B0503020204020204" pitchFamily="34" charset="-122"/>
              </a:rPr>
              <a:t>片外</a:t>
            </a:r>
            <a:r>
              <a:rPr lang="en-US" altLang="zh-CN" sz="2000" dirty="0">
                <a:solidFill>
                  <a:srgbClr val="000000"/>
                </a:solidFill>
                <a:latin typeface="微软雅黑" panose="020B0503020204020204" pitchFamily="34" charset="-122"/>
                <a:ea typeface="微软雅黑" panose="020B0503020204020204" pitchFamily="34" charset="-122"/>
              </a:rPr>
              <a:t>64KB</a:t>
            </a:r>
            <a:r>
              <a:rPr lang="zh-CN" altLang="en-US" sz="2000" dirty="0">
                <a:solidFill>
                  <a:srgbClr val="000000"/>
                </a:solidFill>
                <a:latin typeface="微软雅黑" panose="020B0503020204020204" pitchFamily="34" charset="-122"/>
                <a:ea typeface="微软雅黑" panose="020B0503020204020204" pitchFamily="34" charset="-122"/>
              </a:rPr>
              <a:t>数据</a:t>
            </a:r>
            <a:r>
              <a:rPr lang="en-US" altLang="zh-CN" sz="2000" dirty="0">
                <a:solidFill>
                  <a:srgbClr val="000000"/>
                </a:solidFill>
                <a:latin typeface="微软雅黑" panose="020B0503020204020204" pitchFamily="34" charset="-122"/>
                <a:ea typeface="微软雅黑" panose="020B0503020204020204" pitchFamily="34" charset="-122"/>
              </a:rPr>
              <a:t>RAM</a:t>
            </a:r>
            <a:r>
              <a:rPr lang="zh-CN" altLang="en-US" sz="2000" dirty="0">
                <a:solidFill>
                  <a:srgbClr val="000000"/>
                </a:solidFill>
                <a:latin typeface="微软雅黑" panose="020B0503020204020204" pitchFamily="34" charset="-122"/>
                <a:ea typeface="微软雅黑" panose="020B0503020204020204" pitchFamily="34" charset="-122"/>
              </a:rPr>
              <a:t>区进行读</a:t>
            </a:r>
            <a:r>
              <a:rPr lang="en-US" altLang="zh-CN"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写操作。</a:t>
            </a:r>
            <a:endParaRPr lang="en-US" altLang="zh-CN" sz="2000" dirty="0">
              <a:solidFill>
                <a:srgbClr val="000000"/>
              </a:solidFill>
              <a:latin typeface="微软雅黑" panose="020B0503020204020204" pitchFamily="34" charset="-122"/>
              <a:ea typeface="微软雅黑" panose="020B0503020204020204" pitchFamily="34" charset="-122"/>
            </a:endParaRPr>
          </a:p>
          <a:p>
            <a:pPr marL="0" lvl="1" indent="0" algn="just" eaLnBrk="1" latinLnBrk="0" hangingPunct="1">
              <a:lnSpc>
                <a:spcPct val="120000"/>
              </a:lnSpc>
            </a:pPr>
            <a:r>
              <a:rPr lang="zh-CN" altLang="en-US" sz="2000" dirty="0">
                <a:solidFill>
                  <a:srgbClr val="000000"/>
                </a:solidFill>
                <a:latin typeface="微软雅黑" panose="020B0503020204020204" pitchFamily="34" charset="-122"/>
                <a:ea typeface="微软雅黑" panose="020B0503020204020204" pitchFamily="34" charset="-122"/>
              </a:rPr>
              <a:t>       </a:t>
            </a:r>
            <a:r>
              <a:rPr lang="en-US" altLang="zh-CN" sz="2000" dirty="0">
                <a:solidFill>
                  <a:srgbClr val="000000"/>
                </a:solidFill>
                <a:latin typeface="微软雅黑" panose="020B0503020204020204" pitchFamily="34" charset="-122"/>
                <a:ea typeface="微软雅黑" panose="020B0503020204020204" pitchFamily="34" charset="-122"/>
              </a:rPr>
              <a:t>DPTR</a:t>
            </a:r>
            <a:r>
              <a:rPr lang="zh-CN" altLang="en-US" sz="2000" dirty="0">
                <a:solidFill>
                  <a:srgbClr val="000000"/>
                </a:solidFill>
                <a:latin typeface="微软雅黑" panose="020B0503020204020204" pitchFamily="34" charset="-122"/>
                <a:ea typeface="微软雅黑" panose="020B0503020204020204" pitchFamily="34" charset="-122"/>
              </a:rPr>
              <a:t>寄存器可作为片外数据存储器</a:t>
            </a:r>
            <a:r>
              <a:rPr lang="zh-CN" altLang="en-US" sz="2000" dirty="0">
                <a:solidFill>
                  <a:srgbClr val="0000FF"/>
                </a:solidFill>
                <a:latin typeface="微软雅黑" panose="020B0503020204020204" pitchFamily="34" charset="-122"/>
                <a:ea typeface="微软雅黑" panose="020B0503020204020204" pitchFamily="34" charset="-122"/>
              </a:rPr>
              <a:t>间址寄存器</a:t>
            </a:r>
            <a:r>
              <a:rPr lang="en-US" altLang="zh-CN"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间接寻址</a:t>
            </a:r>
            <a:r>
              <a:rPr lang="en-US" altLang="zh-CN"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，称为</a:t>
            </a:r>
            <a:r>
              <a:rPr lang="zh-CN" altLang="en-US" sz="2000" b="1" dirty="0">
                <a:solidFill>
                  <a:srgbClr val="000000"/>
                </a:solidFill>
                <a:latin typeface="微软雅黑" panose="020B0503020204020204" pitchFamily="34" charset="-122"/>
                <a:ea typeface="微软雅黑" panose="020B0503020204020204" pitchFamily="34" charset="-122"/>
              </a:rPr>
              <a:t>数据存储器地址指针</a:t>
            </a:r>
            <a:r>
              <a:rPr lang="zh-CN" altLang="en-US" sz="2000" dirty="0">
                <a:solidFill>
                  <a:srgbClr val="000000"/>
                </a:solidFill>
                <a:latin typeface="微软雅黑" panose="020B0503020204020204" pitchFamily="34" charset="-122"/>
                <a:ea typeface="微软雅黑" panose="020B0503020204020204" pitchFamily="34" charset="-122"/>
              </a:rPr>
              <a:t>。访问片外数据存储器或</a:t>
            </a:r>
            <a:r>
              <a:rPr lang="en-US" altLang="zh-CN" sz="2000" dirty="0">
                <a:solidFill>
                  <a:srgbClr val="000000"/>
                </a:solidFill>
                <a:latin typeface="微软雅黑" panose="020B0503020204020204" pitchFamily="34" charset="-122"/>
                <a:ea typeface="微软雅黑" panose="020B0503020204020204" pitchFamily="34" charset="-122"/>
              </a:rPr>
              <a:t>I/O</a:t>
            </a:r>
            <a:r>
              <a:rPr lang="zh-CN" altLang="en-US" sz="2000" dirty="0">
                <a:solidFill>
                  <a:srgbClr val="000000"/>
                </a:solidFill>
                <a:latin typeface="微软雅黑" panose="020B0503020204020204" pitchFamily="34" charset="-122"/>
                <a:ea typeface="微软雅黑" panose="020B0503020204020204" pitchFamily="34" charset="-122"/>
              </a:rPr>
              <a:t>的指令为：</a:t>
            </a:r>
          </a:p>
          <a:p>
            <a:pPr marL="457200" lvl="2" algn="just">
              <a:lnSpc>
                <a:spcPct val="120000"/>
              </a:lnSpc>
            </a:pPr>
            <a:r>
              <a:rPr lang="en-US" altLang="zh-CN" sz="2000" dirty="0">
                <a:solidFill>
                  <a:srgbClr val="000000"/>
                </a:solidFill>
                <a:latin typeface="微软雅黑" panose="020B0503020204020204" pitchFamily="34" charset="-122"/>
                <a:ea typeface="微软雅黑" panose="020B0503020204020204" pitchFamily="34" charset="-122"/>
              </a:rPr>
              <a:t> MOVX   A,   </a:t>
            </a:r>
            <a:r>
              <a:rPr lang="zh-CN" altLang="en-US" sz="2000" dirty="0">
                <a:solidFill>
                  <a:srgbClr val="000000"/>
                </a:solidFill>
                <a:latin typeface="微软雅黑" panose="020B0503020204020204" pitchFamily="34" charset="-122"/>
                <a:ea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rPr>
              <a:t>DPTR    ; </a:t>
            </a:r>
            <a:r>
              <a:rPr lang="zh-CN" altLang="en-US" sz="2000" dirty="0">
                <a:solidFill>
                  <a:srgbClr val="000000"/>
                </a:solidFill>
                <a:latin typeface="微软雅黑" panose="020B0503020204020204" pitchFamily="34" charset="-122"/>
                <a:ea typeface="微软雅黑" panose="020B0503020204020204" pitchFamily="34" charset="-122"/>
              </a:rPr>
              <a:t>读操作</a:t>
            </a:r>
          </a:p>
          <a:p>
            <a:pPr marL="457200" lvl="2" algn="just">
              <a:lnSpc>
                <a:spcPct val="120000"/>
              </a:lnSpc>
            </a:pPr>
            <a:r>
              <a:rPr lang="en-US" altLang="zh-CN" sz="2000" dirty="0">
                <a:solidFill>
                  <a:srgbClr val="000000"/>
                </a:solidFill>
                <a:latin typeface="微软雅黑" panose="020B0503020204020204" pitchFamily="34" charset="-122"/>
                <a:ea typeface="微软雅黑" panose="020B0503020204020204" pitchFamily="34" charset="-122"/>
              </a:rPr>
              <a:t> MOVX   </a:t>
            </a:r>
            <a:r>
              <a:rPr lang="zh-CN" altLang="en-US" sz="2000" dirty="0">
                <a:solidFill>
                  <a:srgbClr val="000000"/>
                </a:solidFill>
                <a:latin typeface="微软雅黑" panose="020B0503020204020204" pitchFamily="34" charset="-122"/>
                <a:ea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rPr>
              <a:t>DPTR,   A    ; </a:t>
            </a:r>
            <a:r>
              <a:rPr lang="zh-CN" altLang="en-US" sz="2000" dirty="0">
                <a:solidFill>
                  <a:srgbClr val="000000"/>
                </a:solidFill>
                <a:latin typeface="微软雅黑" panose="020B0503020204020204" pitchFamily="34" charset="-122"/>
                <a:ea typeface="微软雅黑" panose="020B0503020204020204" pitchFamily="34" charset="-122"/>
              </a:rPr>
              <a:t>写操作</a:t>
            </a:r>
          </a:p>
          <a:p>
            <a:pPr marL="0" lvl="2" algn="just" eaLnBrk="1" latinLnBrk="0" hangingPunct="1">
              <a:lnSpc>
                <a:spcPct val="120000"/>
              </a:lnSpc>
            </a:pPr>
            <a:r>
              <a:rPr lang="en-US" altLang="zh-CN" sz="2000" dirty="0">
                <a:solidFill>
                  <a:srgbClr val="000000"/>
                </a:solidFill>
                <a:latin typeface="微软雅黑" panose="020B0503020204020204" pitchFamily="34" charset="-122"/>
                <a:ea typeface="微软雅黑" panose="020B0503020204020204" pitchFamily="34" charset="-122"/>
              </a:rPr>
              <a:t>       DPTR</a:t>
            </a:r>
            <a:r>
              <a:rPr lang="zh-CN" altLang="en-US" sz="2000" dirty="0">
                <a:solidFill>
                  <a:srgbClr val="000000"/>
                </a:solidFill>
                <a:latin typeface="微软雅黑" panose="020B0503020204020204" pitchFamily="34" charset="-122"/>
                <a:ea typeface="微软雅黑" panose="020B0503020204020204" pitchFamily="34" charset="-122"/>
              </a:rPr>
              <a:t>寄存器也可作为</a:t>
            </a:r>
            <a:r>
              <a:rPr lang="zh-CN" altLang="en-US" sz="2000" u="sng" dirty="0">
                <a:solidFill>
                  <a:srgbClr val="C00000"/>
                </a:solidFill>
                <a:latin typeface="微软雅黑" panose="020B0503020204020204" pitchFamily="34" charset="-122"/>
                <a:ea typeface="微软雅黑" panose="020B0503020204020204" pitchFamily="34" charset="-122"/>
              </a:rPr>
              <a:t>访问程序存储器</a:t>
            </a:r>
            <a:r>
              <a:rPr lang="zh-CN" altLang="en-US" sz="2000" dirty="0">
                <a:solidFill>
                  <a:srgbClr val="000000"/>
                </a:solidFill>
                <a:latin typeface="微软雅黑" panose="020B0503020204020204" pitchFamily="34" charset="-122"/>
                <a:ea typeface="微软雅黑" panose="020B0503020204020204" pitchFamily="34" charset="-122"/>
              </a:rPr>
              <a:t>时</a:t>
            </a:r>
            <a:r>
              <a:rPr lang="zh-CN" altLang="en-US" sz="2000" dirty="0">
                <a:solidFill>
                  <a:srgbClr val="0000FF"/>
                </a:solidFill>
                <a:latin typeface="微软雅黑" panose="020B0503020204020204" pitchFamily="34" charset="-122"/>
                <a:ea typeface="微软雅黑" panose="020B0503020204020204" pitchFamily="34" charset="-122"/>
              </a:rPr>
              <a:t>基址寄存器</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变址寻址</a:t>
            </a:r>
            <a:r>
              <a:rPr lang="en-US" altLang="zh-CN" sz="2000" dirty="0">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。这时寻址</a:t>
            </a:r>
            <a:r>
              <a:rPr lang="zh-CN" altLang="en-US" sz="2000" b="1" dirty="0">
                <a:solidFill>
                  <a:srgbClr val="000000"/>
                </a:solidFill>
                <a:latin typeface="微软雅黑" panose="020B0503020204020204" pitchFamily="34" charset="-122"/>
                <a:ea typeface="微软雅黑" panose="020B0503020204020204" pitchFamily="34" charset="-122"/>
              </a:rPr>
              <a:t>程序存储器</a:t>
            </a:r>
            <a:r>
              <a:rPr lang="zh-CN" altLang="en-US" sz="2000" dirty="0">
                <a:solidFill>
                  <a:srgbClr val="000000"/>
                </a:solidFill>
                <a:latin typeface="微软雅黑" panose="020B0503020204020204" pitchFamily="34" charset="-122"/>
                <a:ea typeface="微软雅黑" panose="020B0503020204020204" pitchFamily="34" charset="-122"/>
              </a:rPr>
              <a:t>中的表格、常数等单元，或实现多分支转移。</a:t>
            </a:r>
          </a:p>
          <a:p>
            <a:pPr marL="457200" lvl="2" algn="just">
              <a:lnSpc>
                <a:spcPct val="120000"/>
              </a:lnSpc>
            </a:pPr>
            <a:r>
              <a:rPr lang="en-US" altLang="zh-CN" sz="2000" dirty="0">
                <a:solidFill>
                  <a:srgbClr val="000000"/>
                </a:solidFill>
                <a:latin typeface="微软雅黑" panose="020B0503020204020204" pitchFamily="34" charset="-122"/>
                <a:ea typeface="微软雅黑" panose="020B0503020204020204" pitchFamily="34" charset="-122"/>
              </a:rPr>
              <a:t> MOVC	A,  </a:t>
            </a:r>
            <a:r>
              <a:rPr lang="zh-CN" altLang="en-US" sz="2000" dirty="0">
                <a:solidFill>
                  <a:srgbClr val="000000"/>
                </a:solidFill>
                <a:latin typeface="微软雅黑" panose="020B0503020204020204" pitchFamily="34" charset="-122"/>
                <a:ea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rPr>
              <a:t>A</a:t>
            </a:r>
            <a:r>
              <a:rPr lang="zh-CN" altLang="en-US" sz="2000" dirty="0">
                <a:solidFill>
                  <a:srgbClr val="000000"/>
                </a:solidFill>
                <a:latin typeface="微软雅黑" panose="020B0503020204020204" pitchFamily="34" charset="-122"/>
                <a:ea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rPr>
              <a:t>DPTR</a:t>
            </a:r>
          </a:p>
          <a:p>
            <a:pPr marL="457200" lvl="2" algn="just">
              <a:lnSpc>
                <a:spcPct val="120000"/>
              </a:lnSpc>
            </a:pPr>
            <a:r>
              <a:rPr lang="en-US" altLang="zh-CN" sz="2000" dirty="0">
                <a:solidFill>
                  <a:srgbClr val="000000"/>
                </a:solidFill>
                <a:latin typeface="微软雅黑" panose="020B0503020204020204" pitchFamily="34" charset="-122"/>
                <a:ea typeface="微软雅黑" panose="020B0503020204020204" pitchFamily="34" charset="-122"/>
              </a:rPr>
              <a:t> JMP	</a:t>
            </a:r>
            <a:r>
              <a:rPr lang="zh-CN" altLang="en-US" sz="2000" dirty="0">
                <a:solidFill>
                  <a:srgbClr val="000000"/>
                </a:solidFill>
                <a:latin typeface="微软雅黑" panose="020B0503020204020204" pitchFamily="34" charset="-122"/>
                <a:ea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rPr>
              <a:t>A</a:t>
            </a:r>
            <a:r>
              <a:rPr lang="zh-CN" altLang="en-US" sz="2000" dirty="0">
                <a:solidFill>
                  <a:srgbClr val="000000"/>
                </a:solidFill>
                <a:latin typeface="微软雅黑" panose="020B0503020204020204" pitchFamily="34" charset="-122"/>
                <a:ea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rPr>
              <a:t>DPTR</a:t>
            </a:r>
            <a:endParaRPr lang="zh-CN" altLang="en-US" sz="2000" dirty="0">
              <a:solidFill>
                <a:srgbClr val="000000"/>
              </a:solidFill>
              <a:latin typeface="微软雅黑" panose="020B0503020204020204" pitchFamily="34" charset="-122"/>
              <a:ea typeface="微软雅黑" panose="020B0503020204020204" pitchFamily="34" charset="-122"/>
            </a:endParaRPr>
          </a:p>
        </p:txBody>
      </p:sp>
      <p:sp>
        <p:nvSpPr>
          <p:cNvPr id="28674"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28675"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28676"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30723"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30724"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7" name="文本框 6"/>
              <p:cNvSpPr txBox="1"/>
              <p:nvPr/>
            </p:nvSpPr>
            <p:spPr>
              <a:xfrm>
                <a:off x="250825" y="736608"/>
                <a:ext cx="8642349" cy="4802405"/>
              </a:xfrm>
              <a:prstGeom prst="rect">
                <a:avLst/>
              </a:prstGeom>
              <a:noFill/>
            </p:spPr>
            <p:txBody>
              <a:bodyPr wrap="square" rtlCol="0">
                <a:spAutoFit/>
              </a:bodyPr>
              <a:lstStyle/>
              <a:p>
                <a:pPr>
                  <a:lnSpc>
                    <a:spcPct val="150000"/>
                  </a:lnSpc>
                </a:pPr>
                <a:r>
                  <a:rPr lang="en-US" altLang="zh-CN" sz="2400" b="1" dirty="0">
                    <a:solidFill>
                      <a:prstClr val="black"/>
                    </a:solidFill>
                    <a:latin typeface="微软雅黑" panose="020B0503020204020204" pitchFamily="34" charset="-122"/>
                    <a:ea typeface="微软雅黑" panose="020B0503020204020204" pitchFamily="34" charset="-122"/>
                  </a:rPr>
                  <a:t>2.1.1 MCS-51</a:t>
                </a:r>
                <a:r>
                  <a:rPr lang="zh-CN" altLang="en-US" sz="2400" b="1" dirty="0">
                    <a:solidFill>
                      <a:prstClr val="black"/>
                    </a:solidFill>
                    <a:latin typeface="微软雅黑" panose="020B0503020204020204" pitchFamily="34" charset="-122"/>
                    <a:ea typeface="微软雅黑" panose="020B0503020204020204" pitchFamily="34" charset="-122"/>
                  </a:rPr>
                  <a:t>单片机总体框图及功能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algn="just">
                  <a:lnSpc>
                    <a:spcPct val="150000"/>
                  </a:lnSpc>
                </a:pPr>
                <a:r>
                  <a:rPr lang="zh-CN" altLang="en-US" sz="2000" dirty="0">
                    <a:solidFill>
                      <a:prstClr val="black"/>
                    </a:solidFill>
                    <a:latin typeface="微软雅黑" panose="020B0503020204020204" pitchFamily="34" charset="-122"/>
                    <a:ea typeface="微软雅黑" panose="020B0503020204020204" pitchFamily="34" charset="-122"/>
                  </a:rPr>
                  <a:t>       在</a:t>
                </a:r>
                <a:r>
                  <a:rPr lang="en-US" altLang="zh-CN" sz="2000" dirty="0">
                    <a:solidFill>
                      <a:prstClr val="black"/>
                    </a:solidFill>
                    <a:latin typeface="微软雅黑" panose="020B0503020204020204" pitchFamily="34" charset="-122"/>
                    <a:ea typeface="微软雅黑" panose="020B0503020204020204" pitchFamily="34" charset="-122"/>
                  </a:rPr>
                  <a:t>8051</a:t>
                </a:r>
                <a:r>
                  <a:rPr lang="zh-CN" altLang="en-US" sz="2000" dirty="0">
                    <a:solidFill>
                      <a:prstClr val="black"/>
                    </a:solidFill>
                    <a:latin typeface="微软雅黑" panose="020B0503020204020204" pitchFamily="34" charset="-122"/>
                    <a:ea typeface="微软雅黑" panose="020B0503020204020204" pitchFamily="34" charset="-122"/>
                  </a:rPr>
                  <a:t>中，两个</a:t>
                </a:r>
                <a:r>
                  <a:rPr lang="zh-CN" altLang="en-US" sz="2000" b="1" dirty="0">
                    <a:solidFill>
                      <a:srgbClr val="FF0000"/>
                    </a:solidFill>
                    <a:latin typeface="微软雅黑" panose="020B0503020204020204" pitchFamily="34" charset="-122"/>
                    <a:ea typeface="微软雅黑" panose="020B0503020204020204" pitchFamily="34" charset="-122"/>
                  </a:rPr>
                  <a:t>地址寄存器</a:t>
                </a:r>
                <a:r>
                  <a:rPr lang="zh-CN" altLang="en-US" sz="2000" dirty="0">
                    <a:solidFill>
                      <a:prstClr val="black"/>
                    </a:solidFill>
                    <a:latin typeface="微软雅黑" panose="020B0503020204020204" pitchFamily="34" charset="-122"/>
                    <a:ea typeface="微软雅黑" panose="020B0503020204020204" pitchFamily="34" charset="-122"/>
                  </a:rPr>
                  <a:t>，即</a:t>
                </a:r>
                <a:r>
                  <a:rPr lang="zh-CN" altLang="en-US" sz="2000" dirty="0">
                    <a:solidFill>
                      <a:srgbClr val="0000FF"/>
                    </a:solidFill>
                    <a:latin typeface="微软雅黑" panose="020B0503020204020204" pitchFamily="34" charset="-122"/>
                    <a:ea typeface="微软雅黑" panose="020B0503020204020204" pitchFamily="34" charset="-122"/>
                  </a:rPr>
                  <a:t>程序计数器</a:t>
                </a:r>
                <a:r>
                  <a:rPr lang="en-US" altLang="zh-CN" sz="2000" dirty="0">
                    <a:solidFill>
                      <a:srgbClr val="0000FF"/>
                    </a:solidFill>
                    <a:latin typeface="微软雅黑" panose="020B0503020204020204" pitchFamily="34" charset="-122"/>
                    <a:ea typeface="微软雅黑" panose="020B0503020204020204" pitchFamily="34" charset="-122"/>
                  </a:rPr>
                  <a:t>PC</a:t>
                </a:r>
                <a:r>
                  <a:rPr lang="zh-CN" altLang="en-US" sz="2000" dirty="0">
                    <a:solidFill>
                      <a:prstClr val="black"/>
                    </a:solidFill>
                    <a:latin typeface="微软雅黑" panose="020B0503020204020204" pitchFamily="34" charset="-122"/>
                    <a:ea typeface="微软雅黑" panose="020B0503020204020204" pitchFamily="34" charset="-122"/>
                  </a:rPr>
                  <a:t>与</a:t>
                </a:r>
                <a:r>
                  <a:rPr lang="zh-CN" altLang="en-US" sz="2000" dirty="0">
                    <a:solidFill>
                      <a:srgbClr val="0000FF"/>
                    </a:solidFill>
                    <a:latin typeface="微软雅黑" panose="020B0503020204020204" pitchFamily="34" charset="-122"/>
                    <a:ea typeface="微软雅黑" panose="020B0503020204020204" pitchFamily="34" charset="-122"/>
                  </a:rPr>
                  <a:t>数据指针</a:t>
                </a:r>
                <a:r>
                  <a:rPr lang="en-US" altLang="zh-CN" sz="2000" dirty="0">
                    <a:solidFill>
                      <a:srgbClr val="0000FF"/>
                    </a:solidFill>
                    <a:latin typeface="微软雅黑" panose="020B0503020204020204" pitchFamily="34" charset="-122"/>
                    <a:ea typeface="微软雅黑" panose="020B0503020204020204" pitchFamily="34" charset="-122"/>
                  </a:rPr>
                  <a:t>DPTR</a:t>
                </a:r>
                <a:r>
                  <a:rPr lang="zh-CN" altLang="en-US" sz="2000" dirty="0">
                    <a:solidFill>
                      <a:prstClr val="black"/>
                    </a:solidFill>
                    <a:latin typeface="微软雅黑" panose="020B0503020204020204" pitchFamily="34" charset="-122"/>
                    <a:ea typeface="微软雅黑" panose="020B0503020204020204" pitchFamily="34" charset="-122"/>
                  </a:rPr>
                  <a:t>，有相同之处，也有差别：</a:t>
                </a:r>
              </a:p>
              <a:p>
                <a:pPr algn="just">
                  <a:lnSpc>
                    <a:spcPct val="150000"/>
                  </a:lnSpc>
                </a:pPr>
                <a:r>
                  <a:rPr lang="zh-CN" altLang="en-US" sz="2000" dirty="0">
                    <a:solidFill>
                      <a:prstClr val="black"/>
                    </a:solidFill>
                    <a:latin typeface="微软雅黑" panose="020B0503020204020204" pitchFamily="34" charset="-122"/>
                    <a:ea typeface="微软雅黑" panose="020B0503020204020204" pitchFamily="34" charset="-122"/>
                  </a:rPr>
                  <a:t>       ⑴ 两者都是与地址有关的</a:t>
                </a:r>
                <a:r>
                  <a:rPr lang="en-US" altLang="zh-CN" sz="2000" dirty="0">
                    <a:solidFill>
                      <a:srgbClr val="0000FF"/>
                    </a:solidFill>
                    <a:latin typeface="微软雅黑" panose="020B0503020204020204" pitchFamily="34" charset="-122"/>
                    <a:ea typeface="微软雅黑" panose="020B0503020204020204" pitchFamily="34" charset="-122"/>
                  </a:rPr>
                  <a:t>16</a:t>
                </a:r>
                <a:r>
                  <a:rPr lang="zh-CN" altLang="en-US" sz="2000" dirty="0">
                    <a:solidFill>
                      <a:srgbClr val="0000FF"/>
                    </a:solidFill>
                    <a:latin typeface="微软雅黑" panose="020B0503020204020204" pitchFamily="34" charset="-122"/>
                    <a:ea typeface="微软雅黑" panose="020B0503020204020204" pitchFamily="34" charset="-122"/>
                  </a:rPr>
                  <a:t>位</a:t>
                </a:r>
                <a:r>
                  <a:rPr lang="zh-CN" altLang="en-US" sz="2000" dirty="0">
                    <a:solidFill>
                      <a:prstClr val="black"/>
                    </a:solidFill>
                    <a:latin typeface="微软雅黑" panose="020B0503020204020204" pitchFamily="34" charset="-122"/>
                    <a:ea typeface="微软雅黑" panose="020B0503020204020204" pitchFamily="34" charset="-122"/>
                  </a:rPr>
                  <a:t>的寄存器。其中，</a:t>
                </a:r>
                <a:r>
                  <a:rPr lang="en-US" altLang="zh-CN" sz="2000" b="1" dirty="0">
                    <a:solidFill>
                      <a:srgbClr val="C00000"/>
                    </a:solidFill>
                    <a:latin typeface="微软雅黑" panose="020B0503020204020204" pitchFamily="34" charset="-122"/>
                    <a:ea typeface="微软雅黑" panose="020B0503020204020204" pitchFamily="34" charset="-122"/>
                  </a:rPr>
                  <a:t>PC</a:t>
                </a:r>
                <a:r>
                  <a:rPr lang="zh-CN" altLang="en-US" sz="2000" b="1" dirty="0">
                    <a:solidFill>
                      <a:srgbClr val="C00000"/>
                    </a:solidFill>
                    <a:latin typeface="微软雅黑" panose="020B0503020204020204" pitchFamily="34" charset="-122"/>
                    <a:ea typeface="微软雅黑" panose="020B0503020204020204" pitchFamily="34" charset="-122"/>
                  </a:rPr>
                  <a:t>与程序存储器的地址有关</a:t>
                </a:r>
                <a:r>
                  <a:rPr lang="zh-CN" altLang="en-US" sz="2000" dirty="0">
                    <a:solidFill>
                      <a:prstClr val="black"/>
                    </a:solidFill>
                    <a:latin typeface="微软雅黑" panose="020B0503020204020204" pitchFamily="34" charset="-122"/>
                    <a:ea typeface="微软雅黑" panose="020B0503020204020204" pitchFamily="34" charset="-122"/>
                  </a:rPr>
                  <a:t>，而</a:t>
                </a:r>
                <a:r>
                  <a:rPr lang="en-US" altLang="zh-CN" sz="2000" b="1" dirty="0">
                    <a:solidFill>
                      <a:srgbClr val="C00000"/>
                    </a:solidFill>
                    <a:latin typeface="微软雅黑" panose="020B0503020204020204" pitchFamily="34" charset="-122"/>
                    <a:ea typeface="微软雅黑" panose="020B0503020204020204" pitchFamily="34" charset="-122"/>
                  </a:rPr>
                  <a:t>DPTR</a:t>
                </a:r>
                <a:r>
                  <a:rPr lang="zh-CN" altLang="en-US" sz="2000" b="1" dirty="0">
                    <a:solidFill>
                      <a:srgbClr val="C00000"/>
                    </a:solidFill>
                    <a:latin typeface="微软雅黑" panose="020B0503020204020204" pitchFamily="34" charset="-122"/>
                    <a:ea typeface="微软雅黑" panose="020B0503020204020204" pitchFamily="34" charset="-122"/>
                  </a:rPr>
                  <a:t>与数据存储器的地址有关</a:t>
                </a:r>
                <a:r>
                  <a:rPr lang="zh-CN" altLang="en-US" sz="2000" dirty="0">
                    <a:solidFill>
                      <a:prstClr val="black"/>
                    </a:solidFill>
                    <a:latin typeface="微软雅黑" panose="020B0503020204020204" pitchFamily="34" charset="-122"/>
                    <a:ea typeface="微软雅黑" panose="020B0503020204020204" pitchFamily="34" charset="-122"/>
                  </a:rPr>
                  <a:t>。作为</a:t>
                </a:r>
                <a:r>
                  <a:rPr lang="zh-CN" altLang="en-US" sz="2000" b="1" dirty="0">
                    <a:solidFill>
                      <a:prstClr val="black"/>
                    </a:solidFill>
                    <a:latin typeface="微软雅黑" panose="020B0503020204020204" pitchFamily="34" charset="-122"/>
                    <a:ea typeface="微软雅黑" panose="020B0503020204020204" pitchFamily="34" charset="-122"/>
                  </a:rPr>
                  <a:t>地址寄存器</a:t>
                </a:r>
                <a:r>
                  <a:rPr lang="zh-CN" altLang="en-US" sz="2000" dirty="0">
                    <a:solidFill>
                      <a:prstClr val="black"/>
                    </a:solidFill>
                    <a:latin typeface="微软雅黑" panose="020B0503020204020204" pitchFamily="34" charset="-122"/>
                    <a:ea typeface="微软雅黑" panose="020B0503020204020204" pitchFamily="34" charset="-122"/>
                  </a:rPr>
                  <a:t>使用时</a:t>
                </a:r>
                <a:r>
                  <a:rPr lang="en-US" altLang="zh-CN" sz="2000" dirty="0">
                    <a:solidFill>
                      <a:prstClr val="black"/>
                    </a:solidFill>
                    <a:latin typeface="微软雅黑" panose="020B0503020204020204" pitchFamily="34" charset="-122"/>
                    <a:ea typeface="微软雅黑" panose="020B0503020204020204" pitchFamily="34" charset="-122"/>
                  </a:rPr>
                  <a:t>PC</a:t>
                </a:r>
                <a:r>
                  <a:rPr lang="zh-CN" altLang="en-US" sz="2000" dirty="0">
                    <a:solidFill>
                      <a:prstClr val="black"/>
                    </a:solidFill>
                    <a:latin typeface="微软雅黑" panose="020B0503020204020204" pitchFamily="34" charset="-122"/>
                    <a:ea typeface="微软雅黑" panose="020B0503020204020204" pitchFamily="34" charset="-122"/>
                  </a:rPr>
                  <a:t>与</a:t>
                </a:r>
                <a:r>
                  <a:rPr lang="en-US" altLang="zh-CN" sz="2000" dirty="0">
                    <a:solidFill>
                      <a:prstClr val="black"/>
                    </a:solidFill>
                    <a:latin typeface="微软雅黑" panose="020B0503020204020204" pitchFamily="34" charset="-122"/>
                    <a:ea typeface="微软雅黑" panose="020B0503020204020204" pitchFamily="34" charset="-122"/>
                  </a:rPr>
                  <a:t>DPTR</a:t>
                </a:r>
                <a:r>
                  <a:rPr lang="zh-CN" altLang="en-US" sz="2000" dirty="0">
                    <a:solidFill>
                      <a:prstClr val="black"/>
                    </a:solidFill>
                    <a:latin typeface="微软雅黑" panose="020B0503020204020204" pitchFamily="34" charset="-122"/>
                    <a:ea typeface="微软雅黑" panose="020B0503020204020204" pitchFamily="34" charset="-122"/>
                  </a:rPr>
                  <a:t>都是通过</a:t>
                </a:r>
                <a:r>
                  <a:rPr lang="en-US" altLang="zh-CN" sz="2000" b="1" dirty="0">
                    <a:solidFill>
                      <a:prstClr val="black"/>
                    </a:solidFill>
                    <a:latin typeface="微软雅黑" panose="020B0503020204020204" pitchFamily="34" charset="-122"/>
                    <a:ea typeface="微软雅黑" panose="020B0503020204020204" pitchFamily="34" charset="-122"/>
                  </a:rPr>
                  <a:t>P0</a:t>
                </a:r>
                <a:r>
                  <a:rPr lang="zh-CN" altLang="en-US" sz="2000" b="1" dirty="0">
                    <a:solidFill>
                      <a:prstClr val="black"/>
                    </a:solidFill>
                    <a:latin typeface="微软雅黑" panose="020B0503020204020204" pitchFamily="34" charset="-122"/>
                    <a:ea typeface="微软雅黑" panose="020B0503020204020204" pitchFamily="34" charset="-122"/>
                  </a:rPr>
                  <a:t>和</a:t>
                </a:r>
                <a:r>
                  <a:rPr lang="en-US" altLang="zh-CN" sz="2000" b="1" dirty="0">
                    <a:solidFill>
                      <a:prstClr val="black"/>
                    </a:solidFill>
                    <a:latin typeface="微软雅黑" panose="020B0503020204020204" pitchFamily="34" charset="-122"/>
                    <a:ea typeface="微软雅黑" panose="020B0503020204020204" pitchFamily="34" charset="-122"/>
                  </a:rPr>
                  <a:t>P2</a:t>
                </a:r>
                <a:r>
                  <a:rPr lang="zh-CN" altLang="en-US" sz="2000" b="1" dirty="0">
                    <a:solidFill>
                      <a:prstClr val="black"/>
                    </a:solidFill>
                    <a:latin typeface="微软雅黑" panose="020B0503020204020204" pitchFamily="34" charset="-122"/>
                    <a:ea typeface="微软雅黑" panose="020B0503020204020204" pitchFamily="34" charset="-122"/>
                  </a:rPr>
                  <a:t>口</a:t>
                </a:r>
                <a:r>
                  <a:rPr lang="zh-CN" altLang="en-US" sz="2000" dirty="0">
                    <a:solidFill>
                      <a:prstClr val="black"/>
                    </a:solidFill>
                    <a:latin typeface="微软雅黑" panose="020B0503020204020204" pitchFamily="34" charset="-122"/>
                    <a:ea typeface="微软雅黑" panose="020B0503020204020204" pitchFamily="34" charset="-122"/>
                  </a:rPr>
                  <a:t>输出的。</a:t>
                </a:r>
                <a:r>
                  <a:rPr lang="en-US" altLang="zh-CN" sz="2000" dirty="0">
                    <a:solidFill>
                      <a:prstClr val="black"/>
                    </a:solidFill>
                    <a:latin typeface="微软雅黑" panose="020B0503020204020204" pitchFamily="34" charset="-122"/>
                    <a:ea typeface="微软雅黑" panose="020B0503020204020204" pitchFamily="34" charset="-122"/>
                  </a:rPr>
                  <a:t>PC</a:t>
                </a:r>
                <a:r>
                  <a:rPr lang="zh-CN" altLang="en-US" sz="2000" dirty="0">
                    <a:solidFill>
                      <a:prstClr val="black"/>
                    </a:solidFill>
                    <a:latin typeface="微软雅黑" panose="020B0503020204020204" pitchFamily="34" charset="-122"/>
                    <a:ea typeface="微软雅黑" panose="020B0503020204020204" pitchFamily="34" charset="-122"/>
                  </a:rPr>
                  <a:t>的输出与</a:t>
                </a:r>
                <a:r>
                  <a:rPr lang="en-US" altLang="zh-CN" sz="2000" dirty="0">
                    <a:solidFill>
                      <a:srgbClr val="0000FF"/>
                    </a:solidFill>
                    <a:latin typeface="微软雅黑" panose="020B0503020204020204" pitchFamily="34" charset="-122"/>
                    <a:ea typeface="微软雅黑" panose="020B0503020204020204" pitchFamily="34" charset="-122"/>
                  </a:rPr>
                  <a:t>ALE</a:t>
                </a:r>
                <a:r>
                  <a:rPr lang="zh-CN" altLang="en-US" sz="2000" dirty="0">
                    <a:solidFill>
                      <a:srgbClr val="0000FF"/>
                    </a:solidFill>
                    <a:latin typeface="微软雅黑" panose="020B0503020204020204" pitchFamily="34" charset="-122"/>
                    <a:ea typeface="微软雅黑" panose="020B0503020204020204" pitchFamily="34" charset="-122"/>
                  </a:rPr>
                  <a:t>、</a:t>
                </a:r>
                <a14:m>
                  <m:oMath xmlns:m="http://schemas.openxmlformats.org/officeDocument/2006/math">
                    <m:acc>
                      <m:accPr>
                        <m:chr m:val="̅"/>
                        <m:ctrlPr>
                          <a:rPr lang="en-US" altLang="zh-CN" sz="2000" i="1" dirty="0">
                            <a:solidFill>
                              <a:srgbClr val="0000FF"/>
                            </a:solidFill>
                            <a:latin typeface="Cambria Math" panose="02040503050406030204" pitchFamily="18" charset="0"/>
                            <a:ea typeface="微软雅黑" panose="020B0503020204020204" pitchFamily="34" charset="-122"/>
                          </a:rPr>
                        </m:ctrlPr>
                      </m:accPr>
                      <m:e>
                        <m:r>
                          <m:rPr>
                            <m:sty m:val="p"/>
                          </m:rPr>
                          <a:rPr lang="en-US" altLang="zh-CN" sz="2000" dirty="0">
                            <a:solidFill>
                              <a:srgbClr val="0000FF"/>
                            </a:solidFill>
                            <a:latin typeface="Cambria Math" panose="02040503050406030204" pitchFamily="18" charset="0"/>
                            <a:ea typeface="微软雅黑" panose="020B0503020204020204" pitchFamily="34" charset="-122"/>
                          </a:rPr>
                          <m:t>P</m:t>
                        </m:r>
                        <m:r>
                          <m:rPr>
                            <m:sty m:val="p"/>
                          </m:rPr>
                          <a:rPr lang="en-US" altLang="zh-CN" sz="2000" i="1" dirty="0">
                            <a:solidFill>
                              <a:srgbClr val="0000FF"/>
                            </a:solidFill>
                            <a:latin typeface="Cambria Math" panose="02040503050406030204" pitchFamily="18" charset="0"/>
                            <a:ea typeface="微软雅黑" panose="020B0503020204020204" pitchFamily="34" charset="-122"/>
                          </a:rPr>
                          <m:t>SEN</m:t>
                        </m:r>
                      </m:e>
                    </m:acc>
                  </m:oMath>
                </a14:m>
                <a:r>
                  <a:rPr lang="zh-CN" altLang="en-US" sz="2000" dirty="0">
                    <a:solidFill>
                      <a:prstClr val="black"/>
                    </a:solidFill>
                    <a:latin typeface="微软雅黑" panose="020B0503020204020204" pitchFamily="34" charset="-122"/>
                    <a:ea typeface="微软雅黑" panose="020B0503020204020204" pitchFamily="34" charset="-122"/>
                  </a:rPr>
                  <a:t>信号有关；</a:t>
                </a:r>
                <a:r>
                  <a:rPr lang="en-US" altLang="zh-CN" sz="2000" dirty="0">
                    <a:solidFill>
                      <a:prstClr val="black"/>
                    </a:solidFill>
                    <a:latin typeface="微软雅黑" panose="020B0503020204020204" pitchFamily="34" charset="-122"/>
                    <a:ea typeface="微软雅黑" panose="020B0503020204020204" pitchFamily="34" charset="-122"/>
                  </a:rPr>
                  <a:t>DPTR</a:t>
                </a:r>
                <a:r>
                  <a:rPr lang="zh-CN" altLang="en-US" sz="2000" dirty="0">
                    <a:solidFill>
                      <a:prstClr val="black"/>
                    </a:solidFill>
                    <a:latin typeface="微软雅黑" panose="020B0503020204020204" pitchFamily="34" charset="-122"/>
                    <a:ea typeface="微软雅黑" panose="020B0503020204020204" pitchFamily="34" charset="-122"/>
                  </a:rPr>
                  <a:t>的输出，则与</a:t>
                </a:r>
                <a:r>
                  <a:rPr lang="en-US" altLang="zh-CN" sz="2000" dirty="0">
                    <a:solidFill>
                      <a:srgbClr val="0000FF"/>
                    </a:solidFill>
                    <a:latin typeface="微软雅黑" panose="020B0503020204020204" pitchFamily="34" charset="-122"/>
                    <a:ea typeface="微软雅黑" panose="020B0503020204020204" pitchFamily="34" charset="-122"/>
                  </a:rPr>
                  <a:t>ALE</a:t>
                </a:r>
                <a:r>
                  <a:rPr lang="zh-CN" altLang="en-US" sz="2000" dirty="0">
                    <a:solidFill>
                      <a:srgbClr val="0000FF"/>
                    </a:solidFill>
                    <a:latin typeface="微软雅黑" panose="020B0503020204020204" pitchFamily="34" charset="-122"/>
                    <a:ea typeface="微软雅黑" panose="020B0503020204020204" pitchFamily="34" charset="-122"/>
                  </a:rPr>
                  <a:t>、</a:t>
                </a:r>
                <a14:m>
                  <m:oMath xmlns:m="http://schemas.openxmlformats.org/officeDocument/2006/math">
                    <m:acc>
                      <m:accPr>
                        <m:chr m:val="̅"/>
                        <m:ctrlPr>
                          <a:rPr lang="en-US" altLang="zh-CN" sz="2000" i="1" dirty="0">
                            <a:solidFill>
                              <a:srgbClr val="0000FF"/>
                            </a:solidFill>
                            <a:latin typeface="Cambria Math" panose="02040503050406030204" pitchFamily="18" charset="0"/>
                            <a:ea typeface="微软雅黑" panose="020B0503020204020204" pitchFamily="34" charset="-122"/>
                          </a:rPr>
                        </m:ctrlPr>
                      </m:accPr>
                      <m:e>
                        <m:r>
                          <m:rPr>
                            <m:sty m:val="p"/>
                          </m:rPr>
                          <a:rPr lang="en-US" altLang="zh-CN" sz="2000" i="1" dirty="0" smtClean="0">
                            <a:solidFill>
                              <a:srgbClr val="0000FF"/>
                            </a:solidFill>
                            <a:latin typeface="Cambria Math" panose="02040503050406030204" pitchFamily="18" charset="0"/>
                            <a:ea typeface="微软雅黑" panose="020B0503020204020204" pitchFamily="34" charset="-122"/>
                          </a:rPr>
                          <m:t>WR</m:t>
                        </m:r>
                      </m:e>
                    </m:acc>
                  </m:oMath>
                </a14:m>
                <a:r>
                  <a:rPr lang="zh-CN" altLang="en-US" sz="2000" dirty="0">
                    <a:solidFill>
                      <a:srgbClr val="0000FF"/>
                    </a:solidFill>
                    <a:latin typeface="微软雅黑" panose="020B0503020204020204" pitchFamily="34" charset="-122"/>
                    <a:ea typeface="微软雅黑" panose="020B0503020204020204" pitchFamily="34" charset="-122"/>
                  </a:rPr>
                  <a:t>、</a:t>
                </a:r>
                <a14:m>
                  <m:oMath xmlns:m="http://schemas.openxmlformats.org/officeDocument/2006/math">
                    <m:acc>
                      <m:accPr>
                        <m:chr m:val="̅"/>
                        <m:ctrlPr>
                          <a:rPr lang="en-US" altLang="zh-CN" sz="2000" i="1" dirty="0">
                            <a:solidFill>
                              <a:srgbClr val="0000FF"/>
                            </a:solidFill>
                            <a:latin typeface="Cambria Math" panose="02040503050406030204" pitchFamily="18" charset="0"/>
                            <a:ea typeface="微软雅黑" panose="020B0503020204020204" pitchFamily="34" charset="-122"/>
                          </a:rPr>
                        </m:ctrlPr>
                      </m:accPr>
                      <m:e>
                        <m:r>
                          <m:rPr>
                            <m:sty m:val="p"/>
                          </m:rPr>
                          <a:rPr lang="en-US" altLang="zh-CN" sz="2000" i="1" dirty="0" smtClean="0">
                            <a:solidFill>
                              <a:srgbClr val="0000FF"/>
                            </a:solidFill>
                            <a:latin typeface="Cambria Math" panose="02040503050406030204" pitchFamily="18" charset="0"/>
                            <a:ea typeface="微软雅黑" panose="020B0503020204020204" pitchFamily="34" charset="-122"/>
                          </a:rPr>
                          <m:t>RD</m:t>
                        </m:r>
                      </m:e>
                    </m:acc>
                  </m:oMath>
                </a14:m>
                <a:r>
                  <a:rPr lang="zh-CN" altLang="en-US" sz="2000" dirty="0">
                    <a:solidFill>
                      <a:prstClr val="black"/>
                    </a:solidFill>
                    <a:latin typeface="微软雅黑" panose="020B0503020204020204" pitchFamily="34" charset="-122"/>
                    <a:ea typeface="微软雅黑" panose="020B0503020204020204" pitchFamily="34" charset="-122"/>
                  </a:rPr>
                  <a:t>信号有关。</a:t>
                </a:r>
              </a:p>
              <a:p>
                <a:pPr algn="just">
                  <a:lnSpc>
                    <a:spcPct val="150000"/>
                  </a:lnSpc>
                </a:pPr>
                <a:r>
                  <a:rPr lang="zh-CN" altLang="en-US" sz="2000" dirty="0">
                    <a:solidFill>
                      <a:prstClr val="black"/>
                    </a:solidFill>
                    <a:latin typeface="微软雅黑" panose="020B0503020204020204" pitchFamily="34" charset="-122"/>
                    <a:ea typeface="微软雅黑" panose="020B0503020204020204" pitchFamily="34" charset="-122"/>
                  </a:rPr>
                  <a:t>       ⑵ </a:t>
                </a:r>
                <a:r>
                  <a:rPr lang="en-US" altLang="zh-CN" sz="2000" dirty="0">
                    <a:solidFill>
                      <a:prstClr val="black"/>
                    </a:solidFill>
                    <a:latin typeface="微软雅黑" panose="020B0503020204020204" pitchFamily="34" charset="-122"/>
                    <a:ea typeface="微软雅黑" panose="020B0503020204020204" pitchFamily="34" charset="-122"/>
                  </a:rPr>
                  <a:t>PC</a:t>
                </a:r>
                <a:r>
                  <a:rPr lang="zh-CN" altLang="en-US" sz="2000" dirty="0">
                    <a:solidFill>
                      <a:prstClr val="black"/>
                    </a:solidFill>
                    <a:latin typeface="微软雅黑" panose="020B0503020204020204" pitchFamily="34" charset="-122"/>
                    <a:ea typeface="微软雅黑" panose="020B0503020204020204" pitchFamily="34" charset="-122"/>
                  </a:rPr>
                  <a:t>只能作为</a:t>
                </a:r>
                <a:r>
                  <a:rPr lang="en-US" altLang="zh-CN" sz="2000" dirty="0">
                    <a:solidFill>
                      <a:prstClr val="black"/>
                    </a:solidFill>
                    <a:latin typeface="微软雅黑" panose="020B0503020204020204" pitchFamily="34" charset="-122"/>
                    <a:ea typeface="微软雅黑" panose="020B0503020204020204" pitchFamily="34" charset="-122"/>
                  </a:rPr>
                  <a:t>16</a:t>
                </a:r>
                <a:r>
                  <a:rPr lang="zh-CN" altLang="en-US" sz="2000" dirty="0">
                    <a:solidFill>
                      <a:prstClr val="black"/>
                    </a:solidFill>
                    <a:latin typeface="微软雅黑" panose="020B0503020204020204" pitchFamily="34" charset="-122"/>
                    <a:ea typeface="微软雅黑" panose="020B0503020204020204" pitchFamily="34" charset="-122"/>
                  </a:rPr>
                  <a:t>位寄存器对待。</a:t>
                </a:r>
                <a:r>
                  <a:rPr lang="en-US" altLang="zh-CN" sz="2000" b="1" dirty="0">
                    <a:solidFill>
                      <a:srgbClr val="0000FF"/>
                    </a:solidFill>
                    <a:latin typeface="微软雅黑" panose="020B0503020204020204" pitchFamily="34" charset="-122"/>
                    <a:ea typeface="微软雅黑" panose="020B0503020204020204" pitchFamily="34" charset="-122"/>
                  </a:rPr>
                  <a:t>PC</a:t>
                </a:r>
                <a:r>
                  <a:rPr lang="zh-CN" altLang="en-US" sz="2000" b="1" dirty="0">
                    <a:solidFill>
                      <a:srgbClr val="0000FF"/>
                    </a:solidFill>
                    <a:latin typeface="微软雅黑" panose="020B0503020204020204" pitchFamily="34" charset="-122"/>
                    <a:ea typeface="微软雅黑" panose="020B0503020204020204" pitchFamily="34" charset="-122"/>
                  </a:rPr>
                  <a:t>是不可以访问</a:t>
                </a:r>
                <a:r>
                  <a:rPr lang="zh-CN" altLang="en-US" sz="2000" dirty="0">
                    <a:solidFill>
                      <a:prstClr val="black"/>
                    </a:solidFill>
                    <a:latin typeface="微软雅黑" panose="020B0503020204020204" pitchFamily="34" charset="-122"/>
                    <a:ea typeface="微软雅黑" panose="020B0503020204020204" pitchFamily="34" charset="-122"/>
                  </a:rPr>
                  <a:t>，它不属于特殊功能寄存器，有自己独特的变化方式。</a:t>
                </a:r>
                <a:r>
                  <a:rPr lang="en-US" altLang="zh-CN" sz="2000" dirty="0">
                    <a:solidFill>
                      <a:prstClr val="black"/>
                    </a:solidFill>
                    <a:latin typeface="微软雅黑" panose="020B0503020204020204" pitchFamily="34" charset="-122"/>
                    <a:ea typeface="微软雅黑" panose="020B0503020204020204" pitchFamily="34" charset="-122"/>
                  </a:rPr>
                  <a:t>DPTR</a:t>
                </a:r>
                <a:r>
                  <a:rPr lang="zh-CN" altLang="en-US" sz="2000" dirty="0">
                    <a:solidFill>
                      <a:prstClr val="black"/>
                    </a:solidFill>
                    <a:latin typeface="微软雅黑" panose="020B0503020204020204" pitchFamily="34" charset="-122"/>
                    <a:ea typeface="微软雅黑" panose="020B0503020204020204" pitchFamily="34" charset="-122"/>
                  </a:rPr>
                  <a:t>可以作为</a:t>
                </a:r>
                <a:r>
                  <a:rPr lang="en-US" altLang="zh-CN" sz="2000" dirty="0">
                    <a:solidFill>
                      <a:prstClr val="black"/>
                    </a:solidFill>
                    <a:latin typeface="微软雅黑" panose="020B0503020204020204" pitchFamily="34" charset="-122"/>
                    <a:ea typeface="微软雅黑" panose="020B0503020204020204" pitchFamily="34" charset="-122"/>
                  </a:rPr>
                  <a:t>16</a:t>
                </a:r>
                <a:r>
                  <a:rPr lang="zh-CN" altLang="en-US" sz="2000" dirty="0">
                    <a:solidFill>
                      <a:prstClr val="black"/>
                    </a:solidFill>
                    <a:latin typeface="微软雅黑" panose="020B0503020204020204" pitchFamily="34" charset="-122"/>
                    <a:ea typeface="微软雅黑" panose="020B0503020204020204" pitchFamily="34" charset="-122"/>
                  </a:rPr>
                  <a:t>位寄存器，也可作为两个</a:t>
                </a:r>
                <a:r>
                  <a:rPr lang="en-US" altLang="zh-CN" sz="2000" dirty="0">
                    <a:solidFill>
                      <a:prstClr val="black"/>
                    </a:solidFill>
                    <a:latin typeface="微软雅黑" panose="020B0503020204020204" pitchFamily="34" charset="-122"/>
                    <a:ea typeface="微软雅黑" panose="020B0503020204020204" pitchFamily="34" charset="-122"/>
                  </a:rPr>
                  <a:t>8</a:t>
                </a:r>
                <a:r>
                  <a:rPr lang="zh-CN" altLang="en-US" sz="2000" dirty="0">
                    <a:solidFill>
                      <a:prstClr val="black"/>
                    </a:solidFill>
                    <a:latin typeface="微软雅黑" panose="020B0503020204020204" pitchFamily="34" charset="-122"/>
                    <a:ea typeface="微软雅黑" panose="020B0503020204020204" pitchFamily="34" charset="-122"/>
                  </a:rPr>
                  <a:t>位寄存器，</a:t>
                </a:r>
                <a:r>
                  <a:rPr lang="en-US" altLang="zh-CN" sz="2000" b="1" dirty="0">
                    <a:solidFill>
                      <a:srgbClr val="0000FF"/>
                    </a:solidFill>
                    <a:latin typeface="微软雅黑" panose="020B0503020204020204" pitchFamily="34" charset="-122"/>
                    <a:ea typeface="微软雅黑" panose="020B0503020204020204" pitchFamily="34" charset="-122"/>
                  </a:rPr>
                  <a:t>DPTR</a:t>
                </a:r>
                <a:r>
                  <a:rPr lang="zh-CN" altLang="en-US" sz="2000" b="1" dirty="0">
                    <a:solidFill>
                      <a:srgbClr val="0000FF"/>
                    </a:solidFill>
                    <a:latin typeface="微软雅黑" panose="020B0503020204020204" pitchFamily="34" charset="-122"/>
                    <a:ea typeface="微软雅黑" panose="020B0503020204020204" pitchFamily="34" charset="-122"/>
                  </a:rPr>
                  <a:t>是可以访问</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DPL</a:t>
                </a:r>
                <a:r>
                  <a:rPr lang="zh-CN" altLang="en-US" sz="2000" dirty="0">
                    <a:solidFill>
                      <a:prstClr val="black"/>
                    </a:solidFill>
                    <a:latin typeface="微软雅黑" panose="020B0503020204020204" pitchFamily="34" charset="-122"/>
                    <a:ea typeface="微软雅黑" panose="020B0503020204020204" pitchFamily="34" charset="-122"/>
                  </a:rPr>
                  <a:t>和</a:t>
                </a:r>
                <a:r>
                  <a:rPr lang="en-US" altLang="zh-CN" sz="2000" dirty="0">
                    <a:solidFill>
                      <a:prstClr val="black"/>
                    </a:solidFill>
                    <a:latin typeface="微软雅黑" panose="020B0503020204020204" pitchFamily="34" charset="-122"/>
                    <a:ea typeface="微软雅黑" panose="020B0503020204020204" pitchFamily="34" charset="-122"/>
                  </a:rPr>
                  <a:t>DPH</a:t>
                </a:r>
                <a:r>
                  <a:rPr lang="zh-CN" altLang="en-US" sz="2000" dirty="0">
                    <a:solidFill>
                      <a:prstClr val="black"/>
                    </a:solidFill>
                    <a:latin typeface="微软雅黑" panose="020B0503020204020204" pitchFamily="34" charset="-122"/>
                    <a:ea typeface="微软雅黑" panose="020B0503020204020204" pitchFamily="34" charset="-122"/>
                  </a:rPr>
                  <a:t>都位于特殊功能寄存器区中。 </a:t>
                </a:r>
              </a:p>
            </p:txBody>
          </p:sp>
        </mc:Choice>
        <mc:Fallback xmlns="">
          <p:sp>
            <p:nvSpPr>
              <p:cNvPr id="7" name="文本框 6"/>
              <p:cNvSpPr txBox="1">
                <a:spLocks noRot="1" noChangeAspect="1" noMove="1" noResize="1" noEditPoints="1" noAdjustHandles="1" noChangeArrowheads="1" noChangeShapeType="1" noTextEdit="1"/>
              </p:cNvSpPr>
              <p:nvPr/>
            </p:nvSpPr>
            <p:spPr>
              <a:xfrm>
                <a:off x="250825" y="736608"/>
                <a:ext cx="8642349" cy="4802405"/>
              </a:xfrm>
              <a:prstGeom prst="rect">
                <a:avLst/>
              </a:prstGeom>
              <a:blipFill rotWithShape="1">
                <a:blip r:embed="rId5"/>
                <a:stretch>
                  <a:fillRect r="7" b="11"/>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图片 4"/>
          <p:cNvPicPr>
            <a:picLocks noChangeAspect="1"/>
          </p:cNvPicPr>
          <p:nvPr/>
        </p:nvPicPr>
        <p:blipFill>
          <a:blip r:embed="rId3"/>
          <a:srcRect/>
          <a:stretch>
            <a:fillRect/>
          </a:stretch>
        </p:blipFill>
        <p:spPr bwMode="auto">
          <a:xfrm>
            <a:off x="254000" y="6419850"/>
            <a:ext cx="2495550" cy="360363"/>
          </a:xfrm>
          <a:prstGeom prst="rect">
            <a:avLst/>
          </a:prstGeom>
          <a:noFill/>
          <a:ln w="9525">
            <a:noFill/>
            <a:miter lim="800000"/>
            <a:headEnd/>
            <a:tailEnd/>
          </a:ln>
        </p:spPr>
      </p:pic>
      <p:sp>
        <p:nvSpPr>
          <p:cNvPr id="2" name="文本框 1"/>
          <p:cNvSpPr txBox="1"/>
          <p:nvPr/>
        </p:nvSpPr>
        <p:spPr>
          <a:xfrm>
            <a:off x="257175" y="736600"/>
            <a:ext cx="8636000" cy="5170646"/>
          </a:xfrm>
          <a:prstGeom prst="rect">
            <a:avLst/>
          </a:prstGeom>
          <a:noFill/>
        </p:spPr>
        <p:txBody>
          <a:bodyPr>
            <a:spAutoFit/>
          </a:bodyPr>
          <a:lstStyle/>
          <a:p>
            <a:pPr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2.1.1 MCS-51</a:t>
            </a:r>
            <a:r>
              <a:rPr lang="zh-CN" altLang="en-US" sz="2400" b="1" dirty="0">
                <a:solidFill>
                  <a:prstClr val="black"/>
                </a:solidFill>
                <a:latin typeface="微软雅黑" panose="020B0503020204020204" pitchFamily="34" charset="-122"/>
                <a:ea typeface="微软雅黑" panose="020B0503020204020204" pitchFamily="34" charset="-122"/>
              </a:rPr>
              <a:t>单片机总体框图及功能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a:t>
            </a:r>
            <a:r>
              <a:rPr lang="zh-CN" altLang="en-US" sz="2400" b="1" dirty="0">
                <a:solidFill>
                  <a:srgbClr val="0000FF"/>
                </a:solidFill>
                <a:latin typeface="微软雅黑" panose="020B0503020204020204" pitchFamily="34" charset="-122"/>
                <a:ea typeface="微软雅黑" panose="020B0503020204020204" pitchFamily="34" charset="-122"/>
              </a:rPr>
              <a:t>运算器</a:t>
            </a:r>
            <a:r>
              <a:rPr lang="zh-CN" altLang="en-US" sz="2400" b="1" dirty="0">
                <a:solidFill>
                  <a:prstClr val="black"/>
                </a:solidFill>
                <a:latin typeface="微软雅黑" panose="020B0503020204020204" pitchFamily="34" charset="-122"/>
                <a:ea typeface="微软雅黑" panose="020B0503020204020204" pitchFamily="34" charset="-122"/>
              </a:rPr>
              <a:t>的功能</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对数据</a:t>
            </a:r>
            <a:r>
              <a:rPr lang="en-US" altLang="zh-CN" sz="2000" dirty="0">
                <a:solidFill>
                  <a:prstClr val="black"/>
                </a:solidFill>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可以是</a:t>
            </a:r>
            <a:r>
              <a:rPr lang="zh-CN" altLang="en-US" sz="2000" u="sng" dirty="0">
                <a:solidFill>
                  <a:prstClr val="black"/>
                </a:solidFill>
                <a:latin typeface="微软雅黑" panose="020B0503020204020204" pitchFamily="34" charset="-122"/>
                <a:ea typeface="微软雅黑" panose="020B0503020204020204" pitchFamily="34" charset="-122"/>
              </a:rPr>
              <a:t>单字节</a:t>
            </a:r>
            <a:r>
              <a:rPr lang="zh-CN" altLang="en-US" sz="2000" dirty="0">
                <a:solidFill>
                  <a:prstClr val="black"/>
                </a:solidFill>
                <a:latin typeface="微软雅黑" panose="020B0503020204020204" pitchFamily="34" charset="-122"/>
                <a:ea typeface="微软雅黑" panose="020B0503020204020204" pitchFamily="34" charset="-122"/>
              </a:rPr>
              <a:t>、</a:t>
            </a:r>
            <a:r>
              <a:rPr lang="zh-CN" altLang="en-US" sz="2000" u="sng" dirty="0">
                <a:solidFill>
                  <a:prstClr val="black"/>
                </a:solidFill>
                <a:latin typeface="微软雅黑" panose="020B0503020204020204" pitchFamily="34" charset="-122"/>
                <a:ea typeface="微软雅黑" panose="020B0503020204020204" pitchFamily="34" charset="-122"/>
              </a:rPr>
              <a:t>半字节</a:t>
            </a:r>
            <a:r>
              <a:rPr lang="zh-CN" altLang="en-US" sz="2000" dirty="0">
                <a:solidFill>
                  <a:prstClr val="black"/>
                </a:solidFill>
                <a:latin typeface="微软雅黑" panose="020B0503020204020204" pitchFamily="34" charset="-122"/>
                <a:ea typeface="微软雅黑" panose="020B0503020204020204" pitchFamily="34" charset="-122"/>
              </a:rPr>
              <a:t>二进制数</a:t>
            </a:r>
            <a:r>
              <a:rPr lang="en-US" altLang="zh-CN" sz="2000" dirty="0">
                <a:solidFill>
                  <a:prstClr val="black"/>
                </a:solidFill>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进行</a:t>
            </a:r>
            <a:r>
              <a:rPr lang="zh-CN" altLang="en-US" sz="2000" dirty="0">
                <a:solidFill>
                  <a:srgbClr val="0000FF"/>
                </a:solidFill>
                <a:latin typeface="微软雅黑" panose="020B0503020204020204" pitchFamily="34" charset="-122"/>
                <a:ea typeface="微软雅黑" panose="020B0503020204020204" pitchFamily="34" charset="-122"/>
              </a:rPr>
              <a:t>算术运算</a:t>
            </a:r>
            <a:r>
              <a:rPr lang="en-US" altLang="zh-CN" sz="2000" dirty="0">
                <a:latin typeface="微软雅黑" panose="020B0503020204020204" pitchFamily="34" charset="-122"/>
                <a:ea typeface="微软雅黑" panose="020B0503020204020204" pitchFamily="34" charset="-122"/>
              </a:rPr>
              <a:t>(</a:t>
            </a:r>
            <a:r>
              <a:rPr lang="zh-CN" altLang="en-US" sz="2000" u="sng" dirty="0">
                <a:latin typeface="微软雅黑" panose="020B0503020204020204" pitchFamily="34" charset="-122"/>
                <a:ea typeface="微软雅黑" panose="020B0503020204020204" pitchFamily="34" charset="-122"/>
              </a:rPr>
              <a:t>加、减、乘、除</a:t>
            </a:r>
            <a:r>
              <a:rPr lang="en-US" altLang="zh-CN" sz="2000" dirty="0">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和</a:t>
            </a:r>
            <a:r>
              <a:rPr lang="zh-CN" altLang="en-US" sz="2000" dirty="0">
                <a:solidFill>
                  <a:srgbClr val="0000FF"/>
                </a:solidFill>
                <a:latin typeface="微软雅黑" panose="020B0503020204020204" pitchFamily="34" charset="-122"/>
                <a:ea typeface="微软雅黑" panose="020B0503020204020204" pitchFamily="34" charset="-122"/>
              </a:rPr>
              <a:t>逻辑运算</a:t>
            </a:r>
            <a:r>
              <a:rPr lang="en-US" altLang="zh-CN" sz="2000" dirty="0">
                <a:latin typeface="微软雅黑" panose="020B0503020204020204" pitchFamily="34" charset="-122"/>
                <a:ea typeface="微软雅黑" panose="020B0503020204020204" pitchFamily="34" charset="-122"/>
              </a:rPr>
              <a:t>(</a:t>
            </a:r>
            <a:r>
              <a:rPr lang="zh-CN" altLang="en-US" sz="2000" u="sng" dirty="0">
                <a:latin typeface="微软雅黑" panose="020B0503020204020204" pitchFamily="34" charset="-122"/>
                <a:ea typeface="微软雅黑" panose="020B0503020204020204" pitchFamily="34" charset="-122"/>
              </a:rPr>
              <a:t>与、或、异或、取反、移位等</a:t>
            </a:r>
            <a:r>
              <a:rPr lang="en-US" altLang="zh-CN" sz="2000" dirty="0">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。计算机对任何数据的加工、处理必须由</a:t>
            </a:r>
            <a:r>
              <a:rPr lang="zh-CN" altLang="en-US" sz="2000" b="1" dirty="0">
                <a:solidFill>
                  <a:prstClr val="black"/>
                </a:solidFill>
                <a:latin typeface="微软雅黑" panose="020B0503020204020204" pitchFamily="34" charset="-122"/>
                <a:ea typeface="微软雅黑" panose="020B0503020204020204" pitchFamily="34" charset="-122"/>
              </a:rPr>
              <a:t>运算器</a:t>
            </a:r>
            <a:r>
              <a:rPr lang="zh-CN" altLang="en-US" sz="2000" dirty="0">
                <a:solidFill>
                  <a:prstClr val="black"/>
                </a:solidFill>
                <a:latin typeface="微软雅黑" panose="020B0503020204020204" pitchFamily="34" charset="-122"/>
                <a:ea typeface="微软雅黑" panose="020B0503020204020204" pitchFamily="34" charset="-122"/>
              </a:rPr>
              <a:t>完成。 </a:t>
            </a:r>
            <a:endParaRPr lang="en-US" altLang="zh-CN" sz="20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运算器由</a:t>
            </a:r>
            <a:r>
              <a:rPr lang="zh-CN" altLang="en-US" sz="2000" dirty="0">
                <a:solidFill>
                  <a:srgbClr val="0000FF"/>
                </a:solidFill>
                <a:latin typeface="微软雅黑" panose="020B0503020204020204" pitchFamily="34" charset="-122"/>
                <a:ea typeface="微软雅黑" panose="020B0503020204020204" pitchFamily="34" charset="-122"/>
              </a:rPr>
              <a:t>算术逻辑运算部件</a:t>
            </a:r>
            <a:r>
              <a:rPr lang="en-US" altLang="zh-CN" sz="2000" dirty="0">
                <a:solidFill>
                  <a:srgbClr val="0000FF"/>
                </a:solidFill>
                <a:latin typeface="微软雅黑" panose="020B0503020204020204" pitchFamily="34" charset="-122"/>
                <a:ea typeface="微软雅黑" panose="020B0503020204020204" pitchFamily="34" charset="-122"/>
              </a:rPr>
              <a:t>ALU</a:t>
            </a:r>
            <a:r>
              <a:rPr lang="zh-CN" altLang="en-US" sz="2000" dirty="0">
                <a:solidFill>
                  <a:prstClr val="black"/>
                </a:solidFill>
                <a:latin typeface="微软雅黑" panose="020B0503020204020204" pitchFamily="34" charset="-122"/>
                <a:ea typeface="微软雅黑" panose="020B0503020204020204" pitchFamily="34" charset="-122"/>
              </a:rPr>
              <a:t>、</a:t>
            </a:r>
            <a:r>
              <a:rPr lang="zh-CN" altLang="en-US" sz="2000" dirty="0">
                <a:solidFill>
                  <a:srgbClr val="0000FF"/>
                </a:solidFill>
                <a:latin typeface="微软雅黑" panose="020B0503020204020204" pitchFamily="34" charset="-122"/>
                <a:ea typeface="微软雅黑" panose="020B0503020204020204" pitchFamily="34" charset="-122"/>
              </a:rPr>
              <a:t>累加器</a:t>
            </a:r>
            <a:r>
              <a:rPr lang="en-US" altLang="zh-CN" sz="2000" dirty="0">
                <a:solidFill>
                  <a:srgbClr val="0000FF"/>
                </a:solidFill>
                <a:latin typeface="微软雅黑" panose="020B0503020204020204" pitchFamily="34" charset="-122"/>
                <a:ea typeface="微软雅黑" panose="020B0503020204020204" pitchFamily="34" charset="-122"/>
              </a:rPr>
              <a:t>ACC</a:t>
            </a:r>
            <a:r>
              <a:rPr lang="zh-CN" altLang="en-US" sz="2000" dirty="0">
                <a:solidFill>
                  <a:prstClr val="black"/>
                </a:solidFill>
                <a:latin typeface="微软雅黑" panose="020B0503020204020204" pitchFamily="34" charset="-122"/>
                <a:ea typeface="微软雅黑" panose="020B0503020204020204" pitchFamily="34" charset="-122"/>
              </a:rPr>
              <a:t>和</a:t>
            </a:r>
            <a:r>
              <a:rPr lang="zh-CN" altLang="en-US" sz="2000" dirty="0">
                <a:solidFill>
                  <a:srgbClr val="0000FF"/>
                </a:solidFill>
                <a:latin typeface="微软雅黑" panose="020B0503020204020204" pitchFamily="34" charset="-122"/>
                <a:ea typeface="微软雅黑" panose="020B0503020204020204" pitchFamily="34" charset="-122"/>
              </a:rPr>
              <a:t>程序状态寄存器</a:t>
            </a:r>
            <a:r>
              <a:rPr lang="en-US" altLang="zh-CN" sz="2000" dirty="0">
                <a:solidFill>
                  <a:srgbClr val="0000FF"/>
                </a:solidFill>
                <a:latin typeface="微软雅黑" panose="020B0503020204020204" pitchFamily="34" charset="-122"/>
                <a:ea typeface="微软雅黑" panose="020B0503020204020204" pitchFamily="34" charset="-122"/>
              </a:rPr>
              <a:t>PSW</a:t>
            </a:r>
            <a:r>
              <a:rPr lang="zh-CN" altLang="en-US" sz="2000" dirty="0">
                <a:solidFill>
                  <a:prstClr val="black"/>
                </a:solidFill>
                <a:latin typeface="微软雅黑" panose="020B0503020204020204" pitchFamily="34" charset="-122"/>
                <a:ea typeface="微软雅黑" panose="020B0503020204020204" pitchFamily="34" charset="-122"/>
              </a:rPr>
              <a:t>等组成。</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算术逻辑运算部件</a:t>
            </a:r>
            <a:r>
              <a:rPr lang="en-US" altLang="zh-CN" sz="2400" dirty="0">
                <a:solidFill>
                  <a:prstClr val="black"/>
                </a:solidFill>
                <a:latin typeface="微软雅黑" panose="020B0503020204020204" pitchFamily="34" charset="-122"/>
                <a:ea typeface="微软雅黑" panose="020B0503020204020204" pitchFamily="34" charset="-122"/>
              </a:rPr>
              <a:t>ALU</a:t>
            </a:r>
          </a:p>
          <a:p>
            <a:pPr algn="just" fontAlgn="auto">
              <a:lnSpc>
                <a:spcPct val="15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ALU</a:t>
            </a:r>
            <a:r>
              <a:rPr lang="zh-CN" altLang="en-US" sz="2000" dirty="0">
                <a:solidFill>
                  <a:prstClr val="black"/>
                </a:solidFill>
                <a:latin typeface="微软雅黑" panose="020B0503020204020204" pitchFamily="34" charset="-122"/>
                <a:ea typeface="微软雅黑" panose="020B0503020204020204" pitchFamily="34" charset="-122"/>
              </a:rPr>
              <a:t>由加法器和其他逻辑电路组成。</a:t>
            </a:r>
            <a:r>
              <a:rPr lang="en-US" altLang="zh-CN" sz="2000" dirty="0">
                <a:solidFill>
                  <a:prstClr val="black"/>
                </a:solidFill>
                <a:latin typeface="微软雅黑" panose="020B0503020204020204" pitchFamily="34" charset="-122"/>
                <a:ea typeface="微软雅黑" panose="020B0503020204020204" pitchFamily="34" charset="-122"/>
              </a:rPr>
              <a:t>ALU</a:t>
            </a:r>
            <a:r>
              <a:rPr lang="zh-CN" altLang="en-US" sz="2000" dirty="0">
                <a:solidFill>
                  <a:prstClr val="black"/>
                </a:solidFill>
                <a:latin typeface="微软雅黑" panose="020B0503020204020204" pitchFamily="34" charset="-122"/>
                <a:ea typeface="微软雅黑" panose="020B0503020204020204" pitchFamily="34" charset="-122"/>
              </a:rPr>
              <a:t>主要用于对数据进行算术和各种逻辑运算，运算的结果一般送回累加器</a:t>
            </a:r>
            <a:r>
              <a:rPr lang="en-US" altLang="zh-CN" sz="2000" dirty="0">
                <a:solidFill>
                  <a:prstClr val="black"/>
                </a:solidFill>
                <a:latin typeface="微软雅黑" panose="020B0503020204020204" pitchFamily="34" charset="-122"/>
                <a:ea typeface="微软雅黑" panose="020B0503020204020204" pitchFamily="34" charset="-122"/>
              </a:rPr>
              <a:t>ACC</a:t>
            </a:r>
            <a:r>
              <a:rPr lang="zh-CN" altLang="en-US" sz="2000" dirty="0">
                <a:solidFill>
                  <a:prstClr val="black"/>
                </a:solidFill>
                <a:latin typeface="微软雅黑" panose="020B0503020204020204" pitchFamily="34" charset="-122"/>
                <a:ea typeface="微软雅黑" panose="020B0503020204020204" pitchFamily="34" charset="-122"/>
              </a:rPr>
              <a:t>，而运算的状态信息送至程序状态寄存器</a:t>
            </a:r>
            <a:r>
              <a:rPr lang="en-US" altLang="zh-CN" sz="2000" dirty="0">
                <a:solidFill>
                  <a:prstClr val="black"/>
                </a:solidFill>
                <a:latin typeface="微软雅黑" panose="020B0503020204020204" pitchFamily="34" charset="-122"/>
                <a:ea typeface="微软雅黑" panose="020B0503020204020204" pitchFamily="34" charset="-122"/>
              </a:rPr>
              <a:t>PSW</a:t>
            </a:r>
            <a:r>
              <a:rPr lang="zh-CN" altLang="en-US" sz="2000" dirty="0">
                <a:solidFill>
                  <a:prstClr val="black"/>
                </a:solidFill>
                <a:latin typeface="微软雅黑" panose="020B0503020204020204" pitchFamily="34" charset="-122"/>
                <a:ea typeface="微软雅黑" panose="020B0503020204020204" pitchFamily="34" charset="-122"/>
              </a:rPr>
              <a:t>。</a:t>
            </a:r>
          </a:p>
        </p:txBody>
      </p:sp>
      <p:sp>
        <p:nvSpPr>
          <p:cNvPr id="32771"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32772" name="图片 3"/>
          <p:cNvPicPr>
            <a:picLocks noChangeAspect="1"/>
          </p:cNvPicPr>
          <p:nvPr/>
        </p:nvPicPr>
        <p:blipFill>
          <a:blip r:embed="rId4"/>
          <a:srcRect/>
          <a:stretch>
            <a:fillRect/>
          </a:stretch>
        </p:blipFill>
        <p:spPr bwMode="auto">
          <a:xfrm>
            <a:off x="7018338" y="80963"/>
            <a:ext cx="1876425" cy="53975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446395"/>
          </a:xfrm>
          <a:prstGeom prst="rect">
            <a:avLst/>
          </a:prstGeom>
          <a:noFill/>
        </p:spPr>
        <p:txBody>
          <a:bodyPr>
            <a:spAutoFit/>
          </a:bodyPr>
          <a:lstStyle/>
          <a:p>
            <a:pPr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2.1.1 MCS-51</a:t>
            </a:r>
            <a:r>
              <a:rPr lang="zh-CN" altLang="en-US" sz="2400" b="1" dirty="0">
                <a:solidFill>
                  <a:prstClr val="black"/>
                </a:solidFill>
                <a:latin typeface="微软雅黑" panose="020B0503020204020204" pitchFamily="34" charset="-122"/>
                <a:ea typeface="微软雅黑" panose="020B0503020204020204" pitchFamily="34" charset="-122"/>
              </a:rPr>
              <a:t>单片机总体框图及功能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累加器</a:t>
            </a:r>
            <a:r>
              <a:rPr lang="en-US" altLang="zh-CN" sz="2400" dirty="0">
                <a:solidFill>
                  <a:prstClr val="black"/>
                </a:solidFill>
                <a:latin typeface="微软雅黑" panose="020B0503020204020204" pitchFamily="34" charset="-122"/>
                <a:ea typeface="微软雅黑" panose="020B0503020204020204" pitchFamily="34" charset="-122"/>
              </a:rPr>
              <a:t>ACC</a:t>
            </a:r>
          </a:p>
          <a:p>
            <a:pPr algn="just" fontAlgn="auto">
              <a:lnSpc>
                <a:spcPct val="15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ACC</a:t>
            </a:r>
            <a:r>
              <a:rPr lang="zh-CN" altLang="en-US" sz="2000" dirty="0">
                <a:solidFill>
                  <a:prstClr val="black"/>
                </a:solidFill>
                <a:latin typeface="微软雅黑" panose="020B0503020204020204" pitchFamily="34" charset="-122"/>
                <a:ea typeface="微软雅黑" panose="020B0503020204020204" pitchFamily="34" charset="-122"/>
              </a:rPr>
              <a:t>是一个</a:t>
            </a:r>
            <a:r>
              <a:rPr lang="en-US" altLang="zh-CN" sz="2000" b="1" dirty="0">
                <a:solidFill>
                  <a:srgbClr val="C00000"/>
                </a:solidFill>
                <a:latin typeface="微软雅黑" panose="020B0503020204020204" pitchFamily="34" charset="-122"/>
                <a:ea typeface="微软雅黑" panose="020B0503020204020204" pitchFamily="34" charset="-122"/>
              </a:rPr>
              <a:t>8</a:t>
            </a:r>
            <a:r>
              <a:rPr lang="zh-CN" altLang="en-US" sz="2000" b="1" dirty="0">
                <a:solidFill>
                  <a:srgbClr val="C00000"/>
                </a:solidFill>
                <a:latin typeface="微软雅黑" panose="020B0503020204020204" pitchFamily="34" charset="-122"/>
                <a:ea typeface="微软雅黑" panose="020B0503020204020204" pitchFamily="34" charset="-122"/>
              </a:rPr>
              <a:t>位特殊功能寄存器</a:t>
            </a:r>
            <a:r>
              <a:rPr lang="en-US" altLang="zh-CN" sz="2000" dirty="0">
                <a:solidFill>
                  <a:prstClr val="black"/>
                </a:solidFill>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地址：</a:t>
            </a:r>
            <a:r>
              <a:rPr lang="en-US" altLang="zh-CN" sz="2000">
                <a:solidFill>
                  <a:prstClr val="black"/>
                </a:solidFill>
                <a:latin typeface="微软雅黑" panose="020B0503020204020204" pitchFamily="34" charset="-122"/>
                <a:ea typeface="微软雅黑" panose="020B0503020204020204" pitchFamily="34" charset="-122"/>
              </a:rPr>
              <a:t>E0H</a:t>
            </a:r>
            <a:r>
              <a:rPr lang="en-US" altLang="zh-CN" sz="2000" dirty="0">
                <a:solidFill>
                  <a:prstClr val="black"/>
                </a:solidFill>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，指令助记符可简写为</a:t>
            </a:r>
            <a:r>
              <a:rPr lang="zh-CN" altLang="en-US" sz="2000" dirty="0">
                <a:solidFill>
                  <a:srgbClr val="0000FF"/>
                </a:solidFill>
                <a:latin typeface="微软雅黑" panose="020B0503020204020204" pitchFamily="34" charset="-122"/>
                <a:ea typeface="微软雅黑" panose="020B0503020204020204" pitchFamily="34" charset="-122"/>
              </a:rPr>
              <a:t>“</a:t>
            </a:r>
            <a:r>
              <a:rPr lang="en-US" altLang="zh-CN" sz="2000" dirty="0">
                <a:solidFill>
                  <a:srgbClr val="0000FF"/>
                </a:solidFill>
                <a:latin typeface="微软雅黑" panose="020B0503020204020204" pitchFamily="34" charset="-122"/>
                <a:ea typeface="微软雅黑" panose="020B0503020204020204" pitchFamily="34" charset="-122"/>
              </a:rPr>
              <a:t>A</a:t>
            </a:r>
            <a:r>
              <a:rPr lang="zh-CN" altLang="en-US" sz="2000" dirty="0">
                <a:solidFill>
                  <a:srgbClr val="0000FF"/>
                </a:solidFill>
                <a:latin typeface="微软雅黑" panose="020B0503020204020204" pitchFamily="34" charset="-122"/>
                <a:ea typeface="微软雅黑" panose="020B0503020204020204" pitchFamily="34" charset="-122"/>
              </a:rPr>
              <a:t>”</a:t>
            </a:r>
            <a:r>
              <a:rPr lang="en-US" altLang="zh-CN" sz="2000" dirty="0">
                <a:solidFill>
                  <a:srgbClr val="0000FF"/>
                </a:solidFill>
                <a:latin typeface="微软雅黑" panose="020B0503020204020204" pitchFamily="34" charset="-122"/>
                <a:ea typeface="微软雅黑" panose="020B0503020204020204" pitchFamily="34" charset="-122"/>
              </a:rPr>
              <a:t>(</a:t>
            </a:r>
            <a:r>
              <a:rPr lang="zh-CN" altLang="en-US" sz="2000" dirty="0">
                <a:solidFill>
                  <a:srgbClr val="0000FF"/>
                </a:solidFill>
                <a:latin typeface="微软雅黑" panose="020B0503020204020204" pitchFamily="34" charset="-122"/>
                <a:ea typeface="微软雅黑" panose="020B0503020204020204" pitchFamily="34" charset="-122"/>
              </a:rPr>
              <a:t>不可表示地址</a:t>
            </a:r>
            <a:r>
              <a:rPr lang="en-US" altLang="zh-CN" sz="2000" dirty="0">
                <a:solidFill>
                  <a:srgbClr val="0000FF"/>
                </a:solidFill>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，它是</a:t>
            </a:r>
            <a:r>
              <a:rPr lang="en-US" altLang="zh-CN" sz="2000" dirty="0">
                <a:solidFill>
                  <a:prstClr val="black"/>
                </a:solidFill>
                <a:latin typeface="微软雅黑" panose="020B0503020204020204" pitchFamily="34" charset="-122"/>
                <a:ea typeface="微软雅黑" panose="020B0503020204020204" pitchFamily="34" charset="-122"/>
              </a:rPr>
              <a:t>CPU</a:t>
            </a:r>
            <a:r>
              <a:rPr lang="zh-CN" altLang="en-US" sz="2000" dirty="0">
                <a:solidFill>
                  <a:prstClr val="black"/>
                </a:solidFill>
                <a:latin typeface="微软雅黑" panose="020B0503020204020204" pitchFamily="34" charset="-122"/>
                <a:ea typeface="微软雅黑" panose="020B0503020204020204" pitchFamily="34" charset="-122"/>
              </a:rPr>
              <a:t>工作时最繁忙、最活跃的一个寄存器。</a:t>
            </a:r>
            <a:r>
              <a:rPr lang="en-US" altLang="zh-CN" sz="2000" dirty="0">
                <a:solidFill>
                  <a:prstClr val="black"/>
                </a:solidFill>
                <a:latin typeface="微软雅黑" panose="020B0503020204020204" pitchFamily="34" charset="-122"/>
                <a:ea typeface="微软雅黑" panose="020B0503020204020204" pitchFamily="34" charset="-122"/>
              </a:rPr>
              <a:t>CPU</a:t>
            </a:r>
            <a:r>
              <a:rPr lang="zh-CN" altLang="en-US" sz="2000" dirty="0">
                <a:solidFill>
                  <a:prstClr val="black"/>
                </a:solidFill>
                <a:latin typeface="微软雅黑" panose="020B0503020204020204" pitchFamily="34" charset="-122"/>
                <a:ea typeface="微软雅黑" panose="020B0503020204020204" pitchFamily="34" charset="-122"/>
              </a:rPr>
              <a:t>的大部分指令都是通过累加器“</a:t>
            </a:r>
            <a:r>
              <a:rPr lang="en-US" altLang="zh-CN" sz="2000" dirty="0">
                <a:solidFill>
                  <a:prstClr val="black"/>
                </a:solidFill>
                <a:latin typeface="微软雅黑" panose="020B0503020204020204" pitchFamily="34" charset="-122"/>
                <a:ea typeface="微软雅黑" panose="020B0503020204020204" pitchFamily="34" charset="-122"/>
              </a:rPr>
              <a:t>A</a:t>
            </a:r>
            <a:r>
              <a:rPr lang="zh-CN" altLang="en-US" sz="2000" dirty="0">
                <a:solidFill>
                  <a:prstClr val="black"/>
                </a:solidFill>
                <a:latin typeface="微软雅黑" panose="020B0503020204020204" pitchFamily="34" charset="-122"/>
                <a:ea typeface="微软雅黑" panose="020B0503020204020204" pitchFamily="34" charset="-122"/>
              </a:rPr>
              <a:t>”与其他部件交换信息。</a:t>
            </a:r>
            <a:r>
              <a:rPr lang="en-US" altLang="zh-CN" sz="2000" dirty="0">
                <a:solidFill>
                  <a:srgbClr val="0000FF"/>
                </a:solidFill>
                <a:latin typeface="微软雅黑" panose="020B0503020204020204" pitchFamily="34" charset="-122"/>
                <a:ea typeface="微软雅黑" panose="020B0503020204020204" pitchFamily="34" charset="-122"/>
              </a:rPr>
              <a:t>ACC</a:t>
            </a:r>
            <a:r>
              <a:rPr lang="zh-CN" altLang="en-US" sz="2000" dirty="0">
                <a:solidFill>
                  <a:srgbClr val="0000FF"/>
                </a:solidFill>
                <a:latin typeface="微软雅黑" panose="020B0503020204020204" pitchFamily="34" charset="-122"/>
                <a:ea typeface="微软雅黑" panose="020B0503020204020204" pitchFamily="34" charset="-122"/>
              </a:rPr>
              <a:t>常用于存放使用次数较高的操作数或中间结果</a:t>
            </a:r>
            <a:r>
              <a:rPr lang="zh-CN" altLang="en-US" sz="2000" dirty="0">
                <a:solidFill>
                  <a:prstClr val="black"/>
                </a:solidFill>
                <a:latin typeface="微软雅黑" panose="020B0503020204020204" pitchFamily="34" charset="-122"/>
                <a:ea typeface="微软雅黑" panose="020B0503020204020204" pitchFamily="34" charset="-122"/>
              </a:rPr>
              <a:t>。</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程序状态寄存器</a:t>
            </a:r>
            <a:r>
              <a:rPr lang="en-US" altLang="zh-CN" sz="2400" dirty="0">
                <a:solidFill>
                  <a:prstClr val="black"/>
                </a:solidFill>
                <a:latin typeface="微软雅黑" panose="020B0503020204020204" pitchFamily="34" charset="-122"/>
                <a:ea typeface="微软雅黑" panose="020B0503020204020204" pitchFamily="34" charset="-122"/>
              </a:rPr>
              <a:t>PSW</a:t>
            </a:r>
          </a:p>
          <a:p>
            <a:pPr algn="just" fontAlgn="auto">
              <a:lnSpc>
                <a:spcPct val="15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PSW</a:t>
            </a:r>
            <a:r>
              <a:rPr lang="zh-CN" altLang="en-US" sz="2000" dirty="0">
                <a:solidFill>
                  <a:prstClr val="black"/>
                </a:solidFill>
                <a:latin typeface="微软雅黑" panose="020B0503020204020204" pitchFamily="34" charset="-122"/>
                <a:ea typeface="微软雅黑" panose="020B0503020204020204" pitchFamily="34" charset="-122"/>
              </a:rPr>
              <a:t>是一个</a:t>
            </a:r>
            <a:r>
              <a:rPr lang="en-US" altLang="zh-CN" sz="2000" b="1" dirty="0">
                <a:solidFill>
                  <a:srgbClr val="C00000"/>
                </a:solidFill>
                <a:latin typeface="微软雅黑" panose="020B0503020204020204" pitchFamily="34" charset="-122"/>
                <a:ea typeface="微软雅黑" panose="020B0503020204020204" pitchFamily="34" charset="-122"/>
              </a:rPr>
              <a:t>8</a:t>
            </a:r>
            <a:r>
              <a:rPr lang="zh-CN" altLang="en-US" sz="2000" b="1" dirty="0">
                <a:solidFill>
                  <a:srgbClr val="C00000"/>
                </a:solidFill>
                <a:latin typeface="微软雅黑" panose="020B0503020204020204" pitchFamily="34" charset="-122"/>
                <a:ea typeface="微软雅黑" panose="020B0503020204020204" pitchFamily="34" charset="-122"/>
              </a:rPr>
              <a:t>位特殊功能寄存器</a:t>
            </a:r>
            <a:r>
              <a:rPr lang="en-US" altLang="zh-CN" sz="2000" dirty="0">
                <a:solidFill>
                  <a:prstClr val="black"/>
                </a:solidFill>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地址：</a:t>
            </a:r>
            <a:r>
              <a:rPr lang="en-US" altLang="zh-CN" sz="2000" dirty="0">
                <a:solidFill>
                  <a:prstClr val="black"/>
                </a:solidFill>
                <a:latin typeface="微软雅黑" panose="020B0503020204020204" pitchFamily="34" charset="-122"/>
                <a:ea typeface="微软雅黑" panose="020B0503020204020204" pitchFamily="34" charset="-122"/>
              </a:rPr>
              <a:t>D0H)</a:t>
            </a:r>
            <a:r>
              <a:rPr lang="zh-CN" altLang="en-US" sz="2000" dirty="0">
                <a:solidFill>
                  <a:prstClr val="black"/>
                </a:solidFill>
                <a:latin typeface="微软雅黑" panose="020B0503020204020204" pitchFamily="34" charset="-122"/>
                <a:ea typeface="微软雅黑" panose="020B0503020204020204" pitchFamily="34" charset="-122"/>
              </a:rPr>
              <a:t>，用于寄存当前指令执行后的某些状态，即反映指令执行结果的一些特征信息。这些信息为后续要执行的指令</a:t>
            </a:r>
            <a:r>
              <a:rPr lang="en-US" altLang="zh-CN" sz="2000" dirty="0">
                <a:solidFill>
                  <a:prstClr val="black"/>
                </a:solidFill>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如控制类指令</a:t>
            </a:r>
            <a:r>
              <a:rPr lang="en-US" altLang="zh-CN" sz="2000" dirty="0">
                <a:solidFill>
                  <a:prstClr val="black"/>
                </a:solidFill>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提供状态条件，供查询和判断，不同的特征用不同的状态标志来表示。</a:t>
            </a:r>
          </a:p>
        </p:txBody>
      </p:sp>
      <p:sp>
        <p:nvSpPr>
          <p:cNvPr id="3481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34819"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34820"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846445"/>
          </a:xfrm>
          <a:prstGeom prst="rect">
            <a:avLst/>
          </a:prstGeom>
          <a:noFill/>
        </p:spPr>
        <p:txBody>
          <a:bodyPr>
            <a:spAutoFit/>
          </a:bodyPr>
          <a:lstStyle/>
          <a:p>
            <a:pPr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2.1.1 MCS-51</a:t>
            </a:r>
            <a:r>
              <a:rPr lang="zh-CN" altLang="en-US" sz="2400" b="1" dirty="0">
                <a:solidFill>
                  <a:prstClr val="black"/>
                </a:solidFill>
                <a:latin typeface="微软雅黑" panose="020B0503020204020204" pitchFamily="34" charset="-122"/>
                <a:ea typeface="微软雅黑" panose="020B0503020204020204" pitchFamily="34" charset="-122"/>
              </a:rPr>
              <a:t>单片机总体框图及功能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程序状态寄存器</a:t>
            </a:r>
            <a:r>
              <a:rPr lang="en-US" altLang="zh-CN" sz="2400" dirty="0">
                <a:solidFill>
                  <a:prstClr val="black"/>
                </a:solidFill>
                <a:latin typeface="微软雅黑" panose="020B0503020204020204" pitchFamily="34" charset="-122"/>
                <a:ea typeface="微软雅黑" panose="020B0503020204020204" pitchFamily="34" charset="-122"/>
              </a:rPr>
              <a:t>PSW</a:t>
            </a:r>
          </a:p>
          <a:p>
            <a:pPr algn="just" fontAlgn="auto">
              <a:lnSpc>
                <a:spcPct val="150000"/>
              </a:lnSpc>
              <a:spcBef>
                <a:spcPts val="0"/>
              </a:spcBef>
              <a:spcAft>
                <a:spcPts val="0"/>
              </a:spcAft>
              <a:defRPr/>
            </a:pPr>
            <a:endParaRPr lang="en-US" altLang="zh-CN" sz="20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endParaRPr lang="zh-CN" altLang="en-US" sz="20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endParaRPr lang="zh-CN" altLang="en-US" sz="20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endParaRPr lang="zh-CN" altLang="en-US" sz="2000" dirty="0">
              <a:solidFill>
                <a:prstClr val="black"/>
              </a:solidFill>
              <a:latin typeface="微软雅黑" panose="020B0503020204020204" pitchFamily="34" charset="-122"/>
              <a:ea typeface="微软雅黑" panose="020B0503020204020204" pitchFamily="34" charset="-122"/>
            </a:endParaRPr>
          </a:p>
          <a:p>
            <a:pPr marL="342900" indent="0" eaLnBrk="1" latinLnBrk="0" hangingPunct="1">
              <a:lnSpc>
                <a:spcPct val="130000"/>
              </a:lnSpc>
              <a:spcBef>
                <a:spcPts val="0"/>
              </a:spcBef>
              <a:buClr>
                <a:srgbClr val="0000FF"/>
              </a:buClr>
              <a:buSzPct val="100000"/>
              <a:buFont typeface="Wingdings" panose="05000000000000000000" charset="0"/>
              <a:buChar char="l"/>
            </a:pP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CY</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(PSW.7)</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进位</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借位标志位</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(Carry)</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0" indent="0" algn="just" eaLnBrk="1" latinLnBrk="0" hangingPunct="1">
              <a:lnSpc>
                <a:spcPct val="130000"/>
              </a:lnSpc>
              <a:spcBef>
                <a:spcPts val="0"/>
              </a:spcBef>
              <a:buClr>
                <a:srgbClr val="0000FF"/>
              </a:buClr>
              <a:buSzPct val="100000"/>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若</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ACC</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在运算过程中发生了进位或借位，则</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CY=1</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；否则</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。它也是布尔处理器的</a:t>
            </a:r>
            <a:r>
              <a:rPr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位累加器</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，可用于布尔操作。</a:t>
            </a:r>
          </a:p>
          <a:p>
            <a:pPr marL="342900" indent="0" eaLnBrk="1" latinLnBrk="0" hangingPunct="1">
              <a:lnSpc>
                <a:spcPct val="130000"/>
              </a:lnSpc>
              <a:spcBef>
                <a:spcPts val="0"/>
              </a:spcBef>
              <a:buClr>
                <a:srgbClr val="0000FF"/>
              </a:buClr>
              <a:buSzPct val="100000"/>
              <a:buFont typeface="Wingdings" panose="05000000000000000000" charset="0"/>
              <a:buChar char="l"/>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AC</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(PSW.6)半进位/借位标志位(Attached  Carry)。</a:t>
            </a:r>
          </a:p>
          <a:p>
            <a:pPr marL="0" indent="0" eaLnBrk="1" latinLnBrk="0" hangingPunct="1">
              <a:lnSpc>
                <a:spcPct val="130000"/>
              </a:lnSpc>
              <a:spcBef>
                <a:spcPts val="0"/>
              </a:spcBef>
              <a:buClr>
                <a:srgbClr val="0000FF"/>
              </a:buClr>
              <a:buSzPct val="100000"/>
              <a:buFont typeface="Wingdings" panose="05000000000000000000" charset="0"/>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在运算过程中，</a:t>
            </a:r>
            <a:r>
              <a:rPr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D3位向D4位</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发生了进位或借位，则AC=1，否则=0。</a:t>
            </a:r>
          </a:p>
          <a:p>
            <a:pPr marL="342900" indent="0" eaLnBrk="1" latinLnBrk="0" hangingPunct="1">
              <a:lnSpc>
                <a:spcPct val="130000"/>
              </a:lnSpc>
              <a:spcBef>
                <a:spcPts val="0"/>
              </a:spcBef>
              <a:buClr>
                <a:srgbClr val="0000FF"/>
              </a:buClr>
              <a:buSzPct val="100000"/>
              <a:buFont typeface="Wingdings" panose="05000000000000000000" charset="0"/>
              <a:buChar char="l"/>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F0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(PSW.5) ——用户标志位(Flag 0: user definable flag)。</a:t>
            </a:r>
          </a:p>
          <a:p>
            <a:pPr marL="342900" indent="0" eaLnBrk="1" latinLnBrk="0" hangingPunct="1">
              <a:lnSpc>
                <a:spcPct val="130000"/>
              </a:lnSpc>
              <a:spcBef>
                <a:spcPts val="0"/>
              </a:spcBef>
              <a:buClr>
                <a:srgbClr val="0000FF"/>
              </a:buClr>
              <a:buSzPct val="100000"/>
              <a:buFont typeface="Wingdings" panose="05000000000000000000" charset="0"/>
              <a:buChar char="l"/>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RS1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(PSW.4)、</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RS0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(PSW.3)工作寄存器组选择位(Register Selection)。</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81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34819"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34820"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grpSp>
        <p:nvGrpSpPr>
          <p:cNvPr id="3" name="组合 2"/>
          <p:cNvGrpSpPr/>
          <p:nvPr/>
        </p:nvGrpSpPr>
        <p:grpSpPr>
          <a:xfrm>
            <a:off x="549910" y="2145665"/>
            <a:ext cx="8077200" cy="1228318"/>
            <a:chOff x="500" y="6210"/>
            <a:chExt cx="12298" cy="1508"/>
          </a:xfrm>
        </p:grpSpPr>
        <p:sp>
          <p:nvSpPr>
            <p:cNvPr id="259074" name="Rectangle 2"/>
            <p:cNvSpPr/>
            <p:nvPr/>
          </p:nvSpPr>
          <p:spPr>
            <a:xfrm>
              <a:off x="1813" y="6878"/>
              <a:ext cx="1320" cy="840"/>
            </a:xfrm>
            <a:prstGeom prst="rect">
              <a:avLst/>
            </a:prstGeom>
            <a:solidFill>
              <a:srgbClr val="003300"/>
            </a:solidFill>
            <a:ln w="12700" cap="sq" cmpd="sng">
              <a:solidFill>
                <a:schemeClr val="hlink"/>
              </a:solidFill>
              <a:prstDash val="solid"/>
              <a:miter/>
              <a:headEnd type="none" w="sm" len="sm"/>
              <a:tailEnd type="none" w="sm" len="sm"/>
            </a:ln>
          </p:spPr>
          <p:txBody>
            <a:bodyPr wrap="none" anchor="ctr"/>
            <a:lstStyle/>
            <a:p>
              <a:endParaRPr lang="zh-CN" altLang="en-US" b="1" dirty="0">
                <a:latin typeface="Arial" panose="020B0604020202020204" pitchFamily="34" charset="0"/>
              </a:endParaRPr>
            </a:p>
          </p:txBody>
        </p:sp>
        <p:sp>
          <p:nvSpPr>
            <p:cNvPr id="259075" name="Rectangle 3"/>
            <p:cNvSpPr/>
            <p:nvPr/>
          </p:nvSpPr>
          <p:spPr>
            <a:xfrm>
              <a:off x="3133" y="6878"/>
              <a:ext cx="1320" cy="840"/>
            </a:xfrm>
            <a:prstGeom prst="rect">
              <a:avLst/>
            </a:prstGeom>
            <a:solidFill>
              <a:srgbClr val="800000"/>
            </a:solidFill>
            <a:ln w="12700" cap="sq" cmpd="sng">
              <a:solidFill>
                <a:schemeClr val="hlink"/>
              </a:solidFill>
              <a:prstDash val="solid"/>
              <a:miter/>
              <a:headEnd type="none" w="sm" len="sm"/>
              <a:tailEnd type="none" w="sm" len="sm"/>
            </a:ln>
          </p:spPr>
          <p:txBody>
            <a:bodyPr wrap="none" anchor="ctr"/>
            <a:lstStyle/>
            <a:p>
              <a:endParaRPr lang="zh-CN" altLang="en-US" b="1" dirty="0">
                <a:latin typeface="Arial" panose="020B0604020202020204" pitchFamily="34" charset="0"/>
              </a:endParaRPr>
            </a:p>
          </p:txBody>
        </p:sp>
        <p:sp>
          <p:nvSpPr>
            <p:cNvPr id="259076" name="Rectangle 4"/>
            <p:cNvSpPr/>
            <p:nvPr/>
          </p:nvSpPr>
          <p:spPr>
            <a:xfrm>
              <a:off x="4453" y="6878"/>
              <a:ext cx="1320" cy="840"/>
            </a:xfrm>
            <a:prstGeom prst="rect">
              <a:avLst/>
            </a:prstGeom>
            <a:solidFill>
              <a:srgbClr val="008000"/>
            </a:solidFill>
            <a:ln w="12700" cap="sq" cmpd="sng">
              <a:solidFill>
                <a:schemeClr val="hlink"/>
              </a:solidFill>
              <a:prstDash val="solid"/>
              <a:miter/>
              <a:headEnd type="none" w="sm" len="sm"/>
              <a:tailEnd type="none" w="sm" len="sm"/>
            </a:ln>
          </p:spPr>
          <p:txBody>
            <a:bodyPr wrap="none" anchor="ctr"/>
            <a:lstStyle/>
            <a:p>
              <a:endParaRPr lang="zh-CN" altLang="en-US" b="1" dirty="0">
                <a:latin typeface="Arial" panose="020B0604020202020204" pitchFamily="34" charset="0"/>
              </a:endParaRPr>
            </a:p>
          </p:txBody>
        </p:sp>
        <p:sp>
          <p:nvSpPr>
            <p:cNvPr id="33798" name="Rectangle 5"/>
            <p:cNvSpPr/>
            <p:nvPr/>
          </p:nvSpPr>
          <p:spPr>
            <a:xfrm>
              <a:off x="5773" y="6878"/>
              <a:ext cx="1320" cy="840"/>
            </a:xfrm>
            <a:prstGeom prst="rect">
              <a:avLst/>
            </a:prstGeom>
            <a:solidFill>
              <a:schemeClr val="accent1"/>
            </a:solidFill>
            <a:ln w="12700" cap="sq" cmpd="sng">
              <a:solidFill>
                <a:schemeClr val="tx1"/>
              </a:solidFill>
              <a:prstDash val="solid"/>
              <a:miter/>
              <a:headEnd type="none" w="sm" len="sm"/>
              <a:tailEnd type="none" w="sm" len="sm"/>
            </a:ln>
          </p:spPr>
          <p:txBody>
            <a:bodyPr wrap="none" anchor="ctr"/>
            <a:lstStyle/>
            <a:p>
              <a:endParaRPr lang="zh-CN" altLang="en-US" b="1" dirty="0">
                <a:latin typeface="Arial" panose="020B0604020202020204" pitchFamily="34" charset="0"/>
              </a:endParaRPr>
            </a:p>
          </p:txBody>
        </p:sp>
        <p:sp>
          <p:nvSpPr>
            <p:cNvPr id="33799" name="Rectangle 6"/>
            <p:cNvSpPr/>
            <p:nvPr/>
          </p:nvSpPr>
          <p:spPr>
            <a:xfrm>
              <a:off x="7093" y="6878"/>
              <a:ext cx="1320" cy="840"/>
            </a:xfrm>
            <a:prstGeom prst="rect">
              <a:avLst/>
            </a:prstGeom>
            <a:solidFill>
              <a:schemeClr val="accent1"/>
            </a:solidFill>
            <a:ln w="12700" cap="sq" cmpd="sng">
              <a:solidFill>
                <a:schemeClr val="tx1"/>
              </a:solidFill>
              <a:prstDash val="solid"/>
              <a:miter/>
              <a:headEnd type="none" w="sm" len="sm"/>
              <a:tailEnd type="none" w="sm" len="sm"/>
            </a:ln>
          </p:spPr>
          <p:txBody>
            <a:bodyPr wrap="none" anchor="ctr"/>
            <a:lstStyle/>
            <a:p>
              <a:endParaRPr lang="zh-CN" altLang="en-US" b="1" dirty="0">
                <a:latin typeface="Arial" panose="020B0604020202020204" pitchFamily="34" charset="0"/>
              </a:endParaRPr>
            </a:p>
          </p:txBody>
        </p:sp>
        <p:sp>
          <p:nvSpPr>
            <p:cNvPr id="33800" name="Rectangle 7"/>
            <p:cNvSpPr/>
            <p:nvPr/>
          </p:nvSpPr>
          <p:spPr>
            <a:xfrm>
              <a:off x="8413" y="6878"/>
              <a:ext cx="1320" cy="840"/>
            </a:xfrm>
            <a:prstGeom prst="rect">
              <a:avLst/>
            </a:prstGeom>
            <a:solidFill>
              <a:srgbClr val="993300"/>
            </a:solidFill>
            <a:ln w="12700" cap="sq" cmpd="sng">
              <a:solidFill>
                <a:schemeClr val="tx1"/>
              </a:solidFill>
              <a:prstDash val="solid"/>
              <a:miter/>
              <a:headEnd type="none" w="sm" len="sm"/>
              <a:tailEnd type="none" w="sm" len="sm"/>
            </a:ln>
          </p:spPr>
          <p:txBody>
            <a:bodyPr wrap="none" anchor="ctr"/>
            <a:lstStyle/>
            <a:p>
              <a:endParaRPr lang="zh-CN" altLang="en-US" b="1" dirty="0">
                <a:latin typeface="Arial" panose="020B0604020202020204" pitchFamily="34" charset="0"/>
              </a:endParaRPr>
            </a:p>
          </p:txBody>
        </p:sp>
        <p:sp>
          <p:nvSpPr>
            <p:cNvPr id="33801" name="Rectangle 8"/>
            <p:cNvSpPr/>
            <p:nvPr/>
          </p:nvSpPr>
          <p:spPr>
            <a:xfrm>
              <a:off x="9733" y="6878"/>
              <a:ext cx="1320" cy="840"/>
            </a:xfrm>
            <a:prstGeom prst="rect">
              <a:avLst/>
            </a:prstGeom>
            <a:solidFill>
              <a:schemeClr val="folHlink"/>
            </a:solidFill>
            <a:ln w="12700" cap="sq" cmpd="sng">
              <a:solidFill>
                <a:schemeClr val="tx1"/>
              </a:solidFill>
              <a:prstDash val="solid"/>
              <a:miter/>
              <a:headEnd type="none" w="sm" len="sm"/>
              <a:tailEnd type="none" w="sm" len="sm"/>
            </a:ln>
          </p:spPr>
          <p:txBody>
            <a:bodyPr wrap="none" anchor="ctr"/>
            <a:lstStyle/>
            <a:p>
              <a:endParaRPr lang="zh-CN" altLang="en-US" b="1" dirty="0">
                <a:latin typeface="Arial" panose="020B0604020202020204" pitchFamily="34" charset="0"/>
              </a:endParaRPr>
            </a:p>
          </p:txBody>
        </p:sp>
        <p:sp>
          <p:nvSpPr>
            <p:cNvPr id="33802" name="Rectangle 9"/>
            <p:cNvSpPr/>
            <p:nvPr/>
          </p:nvSpPr>
          <p:spPr>
            <a:xfrm>
              <a:off x="11053" y="6878"/>
              <a:ext cx="1320" cy="840"/>
            </a:xfrm>
            <a:prstGeom prst="rect">
              <a:avLst/>
            </a:prstGeom>
            <a:solidFill>
              <a:srgbClr val="006600"/>
            </a:solidFill>
            <a:ln w="12700" cap="sq" cmpd="sng">
              <a:solidFill>
                <a:schemeClr val="hlink"/>
              </a:solidFill>
              <a:prstDash val="solid"/>
              <a:miter/>
              <a:headEnd type="none" w="sm" len="sm"/>
              <a:tailEnd type="none" w="sm" len="sm"/>
            </a:ln>
          </p:spPr>
          <p:txBody>
            <a:bodyPr wrap="none" anchor="ctr"/>
            <a:lstStyle/>
            <a:p>
              <a:endParaRPr lang="zh-CN" altLang="en-US" b="1" dirty="0">
                <a:latin typeface="Arial" panose="020B0604020202020204" pitchFamily="34" charset="0"/>
              </a:endParaRPr>
            </a:p>
          </p:txBody>
        </p:sp>
        <p:sp>
          <p:nvSpPr>
            <p:cNvPr id="33803" name="Text Box 10"/>
            <p:cNvSpPr txBox="1"/>
            <p:nvPr/>
          </p:nvSpPr>
          <p:spPr>
            <a:xfrm>
              <a:off x="2053" y="7020"/>
              <a:ext cx="840" cy="452"/>
            </a:xfrm>
            <a:prstGeom prst="rect">
              <a:avLst/>
            </a:prstGeom>
            <a:noFill/>
            <a:ln w="12700">
              <a:noFill/>
            </a:ln>
          </p:spPr>
          <p:txBody>
            <a:bodyPr>
              <a:spAutoFit/>
            </a:bodyPr>
            <a:lstStyle/>
            <a:p>
              <a:pPr eaLnBrk="1" hangingPunct="1">
                <a:spcBef>
                  <a:spcPct val="50000"/>
                </a:spcBef>
              </a:pPr>
              <a:r>
                <a:rPr lang="en-US" altLang="zh-CN" b="1">
                  <a:solidFill>
                    <a:schemeClr val="bg1"/>
                  </a:solidFill>
                  <a:latin typeface="Times New Roman" panose="02020603050405020304" pitchFamily="18" charset="0"/>
                  <a:ea typeface="宋体" panose="02010600030101010101" pitchFamily="2" charset="-122"/>
                </a:rPr>
                <a:t>CY</a:t>
              </a:r>
            </a:p>
          </p:txBody>
        </p:sp>
        <p:sp>
          <p:nvSpPr>
            <p:cNvPr id="33804" name="Text Box 11"/>
            <p:cNvSpPr txBox="1"/>
            <p:nvPr/>
          </p:nvSpPr>
          <p:spPr>
            <a:xfrm>
              <a:off x="3373" y="7028"/>
              <a:ext cx="840" cy="452"/>
            </a:xfrm>
            <a:prstGeom prst="rect">
              <a:avLst/>
            </a:prstGeom>
            <a:noFill/>
            <a:ln w="12700">
              <a:noFill/>
            </a:ln>
          </p:spPr>
          <p:txBody>
            <a:bodyPr>
              <a:spAutoFit/>
            </a:bodyPr>
            <a:lstStyle/>
            <a:p>
              <a:pPr eaLnBrk="1" hangingPunct="1">
                <a:spcBef>
                  <a:spcPct val="50000"/>
                </a:spcBef>
              </a:pPr>
              <a:r>
                <a:rPr lang="en-US" altLang="zh-CN" b="1">
                  <a:solidFill>
                    <a:schemeClr val="bg1"/>
                  </a:solidFill>
                  <a:latin typeface="Times New Roman" panose="02020603050405020304" pitchFamily="18" charset="0"/>
                  <a:ea typeface="宋体" panose="02010600030101010101" pitchFamily="2" charset="-122"/>
                </a:rPr>
                <a:t>AC</a:t>
              </a:r>
            </a:p>
          </p:txBody>
        </p:sp>
        <p:sp>
          <p:nvSpPr>
            <p:cNvPr id="33805" name="Text Box 12"/>
            <p:cNvSpPr txBox="1"/>
            <p:nvPr/>
          </p:nvSpPr>
          <p:spPr>
            <a:xfrm>
              <a:off x="4693" y="7028"/>
              <a:ext cx="840" cy="452"/>
            </a:xfrm>
            <a:prstGeom prst="rect">
              <a:avLst/>
            </a:prstGeom>
            <a:noFill/>
            <a:ln w="12700">
              <a:noFill/>
            </a:ln>
          </p:spPr>
          <p:txBody>
            <a:bodyPr>
              <a:spAutoFit/>
            </a:bodyPr>
            <a:lstStyle/>
            <a:p>
              <a:pPr algn="ctr" eaLnBrk="1" hangingPunct="1">
                <a:spcBef>
                  <a:spcPct val="50000"/>
                </a:spcBef>
              </a:pPr>
              <a:r>
                <a:rPr lang="en-US" altLang="zh-CN" b="1">
                  <a:solidFill>
                    <a:schemeClr val="bg1"/>
                  </a:solidFill>
                  <a:latin typeface="Times New Roman" panose="02020603050405020304" pitchFamily="18" charset="0"/>
                  <a:ea typeface="宋体" panose="02010600030101010101" pitchFamily="2" charset="-122"/>
                </a:rPr>
                <a:t>F0</a:t>
              </a:r>
            </a:p>
          </p:txBody>
        </p:sp>
        <p:sp>
          <p:nvSpPr>
            <p:cNvPr id="33806" name="Text Box 13"/>
            <p:cNvSpPr txBox="1"/>
            <p:nvPr/>
          </p:nvSpPr>
          <p:spPr>
            <a:xfrm>
              <a:off x="7213" y="7028"/>
              <a:ext cx="960" cy="452"/>
            </a:xfrm>
            <a:prstGeom prst="rect">
              <a:avLst/>
            </a:prstGeom>
            <a:noFill/>
            <a:ln w="12700">
              <a:noFill/>
            </a:ln>
          </p:spPr>
          <p:txBody>
            <a:bodyPr>
              <a:spAutoFit/>
            </a:bodyPr>
            <a:lstStyle/>
            <a:p>
              <a:pPr algn="ctr" eaLnBrk="1" hangingPunct="1">
                <a:spcBef>
                  <a:spcPct val="50000"/>
                </a:spcBef>
              </a:pPr>
              <a:r>
                <a:rPr lang="en-US" altLang="zh-CN" b="1">
                  <a:solidFill>
                    <a:schemeClr val="bg1"/>
                  </a:solidFill>
                  <a:latin typeface="Times New Roman" panose="02020603050405020304" pitchFamily="18" charset="0"/>
                  <a:ea typeface="宋体" panose="02010600030101010101" pitchFamily="2" charset="-122"/>
                </a:rPr>
                <a:t>RS0</a:t>
              </a:r>
            </a:p>
          </p:txBody>
        </p:sp>
        <p:sp>
          <p:nvSpPr>
            <p:cNvPr id="33807" name="Text Box 14"/>
            <p:cNvSpPr txBox="1"/>
            <p:nvPr/>
          </p:nvSpPr>
          <p:spPr>
            <a:xfrm>
              <a:off x="8653" y="7028"/>
              <a:ext cx="840" cy="452"/>
            </a:xfrm>
            <a:prstGeom prst="rect">
              <a:avLst/>
            </a:prstGeom>
            <a:noFill/>
            <a:ln w="12700">
              <a:noFill/>
            </a:ln>
          </p:spPr>
          <p:txBody>
            <a:bodyPr>
              <a:spAutoFit/>
            </a:bodyPr>
            <a:lstStyle/>
            <a:p>
              <a:pPr eaLnBrk="1" hangingPunct="1">
                <a:spcBef>
                  <a:spcPct val="50000"/>
                </a:spcBef>
              </a:pPr>
              <a:r>
                <a:rPr lang="en-US" altLang="zh-CN" b="1">
                  <a:solidFill>
                    <a:schemeClr val="bg1"/>
                  </a:solidFill>
                  <a:latin typeface="Times New Roman" panose="02020603050405020304" pitchFamily="18" charset="0"/>
                  <a:ea typeface="宋体" panose="02010600030101010101" pitchFamily="2" charset="-122"/>
                </a:rPr>
                <a:t>OV</a:t>
              </a:r>
            </a:p>
          </p:txBody>
        </p:sp>
        <p:sp>
          <p:nvSpPr>
            <p:cNvPr id="33808" name="Text Box 15"/>
            <p:cNvSpPr txBox="1"/>
            <p:nvPr/>
          </p:nvSpPr>
          <p:spPr>
            <a:xfrm>
              <a:off x="11293" y="7028"/>
              <a:ext cx="840" cy="452"/>
            </a:xfrm>
            <a:prstGeom prst="rect">
              <a:avLst/>
            </a:prstGeom>
            <a:noFill/>
            <a:ln w="12700">
              <a:noFill/>
            </a:ln>
          </p:spPr>
          <p:txBody>
            <a:bodyPr>
              <a:spAutoFit/>
            </a:bodyPr>
            <a:lstStyle/>
            <a:p>
              <a:pPr algn="ctr" eaLnBrk="1" hangingPunct="1">
                <a:spcBef>
                  <a:spcPct val="50000"/>
                </a:spcBef>
              </a:pPr>
              <a:r>
                <a:rPr lang="en-US" altLang="zh-CN" b="1">
                  <a:solidFill>
                    <a:schemeClr val="bg1"/>
                  </a:solidFill>
                  <a:latin typeface="Times New Roman" panose="02020603050405020304" pitchFamily="18" charset="0"/>
                  <a:ea typeface="宋体" panose="02010600030101010101" pitchFamily="2" charset="-122"/>
                </a:rPr>
                <a:t>P</a:t>
              </a:r>
            </a:p>
          </p:txBody>
        </p:sp>
        <p:sp>
          <p:nvSpPr>
            <p:cNvPr id="33809" name="Line 16"/>
            <p:cNvSpPr/>
            <p:nvPr/>
          </p:nvSpPr>
          <p:spPr>
            <a:xfrm>
              <a:off x="10153" y="7328"/>
              <a:ext cx="480" cy="0"/>
            </a:xfrm>
            <a:prstGeom prst="line">
              <a:avLst/>
            </a:prstGeom>
            <a:ln w="38100" cap="sq" cmpd="sng">
              <a:solidFill>
                <a:schemeClr val="bg2"/>
              </a:solidFill>
              <a:prstDash val="solid"/>
              <a:headEnd type="none" w="sm" len="sm"/>
              <a:tailEnd type="none" w="sm" len="sm"/>
            </a:ln>
          </p:spPr>
        </p:sp>
        <p:sp>
          <p:nvSpPr>
            <p:cNvPr id="33810" name="Text Box 17"/>
            <p:cNvSpPr txBox="1"/>
            <p:nvPr/>
          </p:nvSpPr>
          <p:spPr>
            <a:xfrm>
              <a:off x="5893" y="7028"/>
              <a:ext cx="960" cy="452"/>
            </a:xfrm>
            <a:prstGeom prst="rect">
              <a:avLst/>
            </a:prstGeom>
            <a:noFill/>
            <a:ln w="12700">
              <a:noFill/>
            </a:ln>
          </p:spPr>
          <p:txBody>
            <a:bodyPr>
              <a:spAutoFit/>
            </a:bodyPr>
            <a:lstStyle/>
            <a:p>
              <a:pPr algn="ctr" eaLnBrk="1" hangingPunct="1">
                <a:spcBef>
                  <a:spcPct val="50000"/>
                </a:spcBef>
              </a:pPr>
              <a:r>
                <a:rPr lang="en-US" altLang="zh-CN" b="1">
                  <a:solidFill>
                    <a:schemeClr val="bg1"/>
                  </a:solidFill>
                  <a:latin typeface="Times New Roman" panose="02020603050405020304" pitchFamily="18" charset="0"/>
                  <a:ea typeface="宋体" panose="02010600030101010101" pitchFamily="2" charset="-122"/>
                </a:rPr>
                <a:t>RS1</a:t>
              </a:r>
            </a:p>
          </p:txBody>
        </p:sp>
        <p:sp>
          <p:nvSpPr>
            <p:cNvPr id="259090" name="Text Box 18"/>
            <p:cNvSpPr txBox="1"/>
            <p:nvPr/>
          </p:nvSpPr>
          <p:spPr>
            <a:xfrm>
              <a:off x="1758" y="6210"/>
              <a:ext cx="1800" cy="489"/>
            </a:xfrm>
            <a:prstGeom prst="rect">
              <a:avLst/>
            </a:prstGeom>
            <a:noFill/>
            <a:ln w="12700">
              <a:noFill/>
            </a:ln>
          </p:spPr>
          <p:txBody>
            <a:bodyPr>
              <a:spAutoFit/>
            </a:bodyPr>
            <a:lstStyle/>
            <a:p>
              <a:pPr eaLnBrk="1" hangingPunct="1">
                <a:spcBef>
                  <a:spcPct val="50000"/>
                </a:spcBef>
              </a:pPr>
              <a:r>
                <a:rPr lang="en-US" altLang="zh-CN" sz="2000" b="1">
                  <a:solidFill>
                    <a:srgbClr val="003300"/>
                  </a:solidFill>
                  <a:latin typeface="Times New Roman" panose="02020603050405020304" pitchFamily="18" charset="0"/>
                  <a:ea typeface="宋体" panose="02010600030101010101" pitchFamily="2" charset="-122"/>
                </a:rPr>
                <a:t>PSW.7</a:t>
              </a:r>
            </a:p>
          </p:txBody>
        </p:sp>
        <p:sp>
          <p:nvSpPr>
            <p:cNvPr id="33812" name="Text Box 19"/>
            <p:cNvSpPr txBox="1"/>
            <p:nvPr/>
          </p:nvSpPr>
          <p:spPr>
            <a:xfrm>
              <a:off x="10998" y="6270"/>
              <a:ext cx="1800" cy="489"/>
            </a:xfrm>
            <a:prstGeom prst="rect">
              <a:avLst/>
            </a:prstGeom>
            <a:noFill/>
            <a:ln w="12700">
              <a:noFill/>
            </a:ln>
          </p:spPr>
          <p:txBody>
            <a:bodyPr>
              <a:spAutoFit/>
            </a:bodyPr>
            <a:lstStyle/>
            <a:p>
              <a:pPr eaLnBrk="1" hangingPunct="1">
                <a:spcBef>
                  <a:spcPct val="50000"/>
                </a:spcBef>
              </a:pPr>
              <a:r>
                <a:rPr lang="en-US" altLang="zh-CN" sz="2000" b="1">
                  <a:latin typeface="Times New Roman" panose="02020603050405020304" pitchFamily="18" charset="0"/>
                  <a:ea typeface="宋体" panose="02010600030101010101" pitchFamily="2" charset="-122"/>
                </a:rPr>
                <a:t>PSW.0</a:t>
              </a:r>
            </a:p>
          </p:txBody>
        </p:sp>
        <p:sp>
          <p:nvSpPr>
            <p:cNvPr id="33816" name="Rectangle 23"/>
            <p:cNvSpPr/>
            <p:nvPr/>
          </p:nvSpPr>
          <p:spPr>
            <a:xfrm>
              <a:off x="1813" y="6878"/>
              <a:ext cx="3960" cy="840"/>
            </a:xfrm>
            <a:prstGeom prst="rect">
              <a:avLst/>
            </a:prstGeom>
            <a:noFill/>
            <a:ln w="9525" cap="flat" cmpd="sng">
              <a:solidFill>
                <a:schemeClr val="tx1"/>
              </a:solidFill>
              <a:prstDash val="solid"/>
              <a:miter/>
              <a:headEnd type="none" w="med" len="med"/>
              <a:tailEnd type="none" w="med" len="med"/>
            </a:ln>
          </p:spPr>
          <p:txBody>
            <a:bodyPr wrap="none" anchor="ctr"/>
            <a:lstStyle/>
            <a:p>
              <a:endParaRPr lang="zh-CN" altLang="en-US" b="1" dirty="0">
                <a:latin typeface="Arial" panose="020B0604020202020204" pitchFamily="34" charset="0"/>
              </a:endParaRPr>
            </a:p>
          </p:txBody>
        </p:sp>
        <p:sp>
          <p:nvSpPr>
            <p:cNvPr id="259096" name="Text Box 24"/>
            <p:cNvSpPr txBox="1"/>
            <p:nvPr/>
          </p:nvSpPr>
          <p:spPr>
            <a:xfrm>
              <a:off x="3003" y="6220"/>
              <a:ext cx="1800" cy="489"/>
            </a:xfrm>
            <a:prstGeom prst="rect">
              <a:avLst/>
            </a:prstGeom>
            <a:noFill/>
            <a:ln w="12700">
              <a:noFill/>
            </a:ln>
          </p:spPr>
          <p:txBody>
            <a:bodyPr>
              <a:spAutoFit/>
            </a:bodyPr>
            <a:lstStyle/>
            <a:p>
              <a:pPr eaLnBrk="1" hangingPunct="1">
                <a:spcBef>
                  <a:spcPct val="50000"/>
                </a:spcBef>
              </a:pPr>
              <a:r>
                <a:rPr lang="en-US" altLang="zh-CN" sz="2000" b="1">
                  <a:solidFill>
                    <a:srgbClr val="CC0000"/>
                  </a:solidFill>
                  <a:latin typeface="Times New Roman" panose="02020603050405020304" pitchFamily="18" charset="0"/>
                  <a:ea typeface="宋体" panose="02010600030101010101" pitchFamily="2" charset="-122"/>
                </a:rPr>
                <a:t>PSW.6</a:t>
              </a:r>
            </a:p>
          </p:txBody>
        </p:sp>
        <p:sp>
          <p:nvSpPr>
            <p:cNvPr id="259097" name="Text Box 25"/>
            <p:cNvSpPr txBox="1"/>
            <p:nvPr/>
          </p:nvSpPr>
          <p:spPr>
            <a:xfrm>
              <a:off x="4378" y="6230"/>
              <a:ext cx="1800" cy="489"/>
            </a:xfrm>
            <a:prstGeom prst="rect">
              <a:avLst/>
            </a:prstGeom>
            <a:noFill/>
            <a:ln w="12700">
              <a:noFill/>
            </a:ln>
          </p:spPr>
          <p:txBody>
            <a:bodyPr>
              <a:spAutoFit/>
            </a:bodyPr>
            <a:lstStyle/>
            <a:p>
              <a:pPr eaLnBrk="1" hangingPunct="1">
                <a:spcBef>
                  <a:spcPct val="50000"/>
                </a:spcBef>
              </a:pPr>
              <a:r>
                <a:rPr lang="en-US" altLang="zh-CN" sz="2000" b="1">
                  <a:solidFill>
                    <a:srgbClr val="009900"/>
                  </a:solidFill>
                  <a:latin typeface="Times New Roman" panose="02020603050405020304" pitchFamily="18" charset="0"/>
                  <a:ea typeface="宋体" panose="02010600030101010101" pitchFamily="2" charset="-122"/>
                </a:rPr>
                <a:t>PSW.5</a:t>
              </a:r>
            </a:p>
          </p:txBody>
        </p:sp>
        <p:sp>
          <p:nvSpPr>
            <p:cNvPr id="33820" name="Rectangle 27"/>
            <p:cNvSpPr/>
            <p:nvPr/>
          </p:nvSpPr>
          <p:spPr>
            <a:xfrm>
              <a:off x="500" y="6958"/>
              <a:ext cx="1328" cy="565"/>
            </a:xfrm>
            <a:prstGeom prst="rect">
              <a:avLst/>
            </a:prstGeom>
            <a:noFill/>
            <a:ln w="9525">
              <a:noFill/>
            </a:ln>
          </p:spPr>
          <p:txBody>
            <a:bodyPr wrap="square">
              <a:spAutoFit/>
            </a:bodyPr>
            <a:lstStyle/>
            <a:p>
              <a:pPr algn="ctr" eaLnBrk="1" hangingPunct="1"/>
              <a:r>
                <a:rPr lang="en-US" altLang="zh-CN" sz="2400" b="1">
                  <a:solidFill>
                    <a:schemeClr val="tx2"/>
                  </a:solidFill>
                  <a:latin typeface="Times New Roman" panose="02020603050405020304" pitchFamily="18" charset="0"/>
                  <a:ea typeface="黑体" panose="02010609060101010101" pitchFamily="2" charset="-122"/>
                </a:rPr>
                <a:t>PSW</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262245"/>
          </a:xfrm>
          <a:prstGeom prst="rect">
            <a:avLst/>
          </a:prstGeom>
          <a:noFill/>
        </p:spPr>
        <p:txBody>
          <a:bodyPr>
            <a:spAutoFit/>
          </a:bodyPr>
          <a:lstStyle/>
          <a:p>
            <a:pPr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2.1.1 MCS-51</a:t>
            </a:r>
            <a:r>
              <a:rPr lang="zh-CN" altLang="en-US" sz="2400" b="1" dirty="0">
                <a:solidFill>
                  <a:prstClr val="black"/>
                </a:solidFill>
                <a:latin typeface="微软雅黑" panose="020B0503020204020204" pitchFamily="34" charset="-122"/>
                <a:ea typeface="微软雅黑" panose="020B0503020204020204" pitchFamily="34" charset="-122"/>
              </a:rPr>
              <a:t>单片机总体框图及功能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程序状态寄存器</a:t>
            </a:r>
            <a:r>
              <a:rPr lang="en-US" altLang="zh-CN" sz="2400" dirty="0">
                <a:solidFill>
                  <a:prstClr val="black"/>
                </a:solidFill>
                <a:latin typeface="微软雅黑" panose="020B0503020204020204" pitchFamily="34" charset="-122"/>
                <a:ea typeface="微软雅黑" panose="020B0503020204020204" pitchFamily="34" charset="-122"/>
              </a:rPr>
              <a:t>PSW</a:t>
            </a:r>
          </a:p>
          <a:p>
            <a:pPr marL="342900" indent="0" eaLnBrk="1" latinLnBrk="0" hangingPunct="1">
              <a:lnSpc>
                <a:spcPct val="150000"/>
              </a:lnSpc>
              <a:spcBef>
                <a:spcPts val="0"/>
              </a:spcBef>
              <a:buClr>
                <a:srgbClr val="0000FF"/>
              </a:buClr>
              <a:buSzPct val="100000"/>
              <a:buFont typeface="Wingdings" panose="05000000000000000000" charset="0"/>
              <a:buChar char="l"/>
            </a:pP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sym typeface="+mn-ea"/>
              </a:rPr>
              <a:t>OV</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 (PSW.2)溢出标志位(Overflow)。</a:t>
            </a:r>
          </a:p>
          <a:p>
            <a:pPr marL="0" indent="0" algn="just" eaLnBrk="1" latinLnBrk="0" hangingPunct="1">
              <a:lnSpc>
                <a:spcPct val="150000"/>
              </a:lnSpc>
              <a:spcBef>
                <a:spcPts val="0"/>
              </a:spcBef>
              <a:buClr>
                <a:srgbClr val="0000FF"/>
              </a:buClr>
              <a:buSzPct val="100000"/>
              <a:buFont typeface="Wingdings" panose="05000000000000000000" charset="0"/>
              <a:buNone/>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        OV=1时特指累加器在进行</a:t>
            </a:r>
            <a:r>
              <a:rPr lang="zh-CN" altLang="en-US" sz="22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带符号数</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(-128—+127)运算时出错</a:t>
            </a: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超出范围</a:t>
            </a: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；OV=0时未出错。</a:t>
            </a:r>
          </a:p>
          <a:p>
            <a:pPr marL="342900" indent="0" eaLnBrk="1" latinLnBrk="0" hangingPunct="1">
              <a:lnSpc>
                <a:spcPct val="150000"/>
              </a:lnSpc>
              <a:spcBef>
                <a:spcPts val="0"/>
              </a:spcBef>
              <a:buClr>
                <a:srgbClr val="0000FF"/>
              </a:buClr>
              <a:buSzPct val="100000"/>
              <a:buFont typeface="Wingdings" panose="05000000000000000000" charset="0"/>
              <a:buChar char="l"/>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PSW.1 未定义(Reserved)。</a:t>
            </a:r>
          </a:p>
          <a:p>
            <a:pPr marL="342900" indent="0" eaLnBrk="1" latinLnBrk="0" hangingPunct="1">
              <a:lnSpc>
                <a:spcPct val="150000"/>
              </a:lnSpc>
              <a:spcBef>
                <a:spcPts val="0"/>
              </a:spcBef>
              <a:buClr>
                <a:srgbClr val="0000FF"/>
              </a:buClr>
              <a:buSzPct val="100000"/>
              <a:buFont typeface="Wingdings" panose="05000000000000000000" charset="0"/>
              <a:buChar char="l"/>
            </a:pP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 (PSW.0)奇偶标志位(Parity Bit)。</a:t>
            </a:r>
          </a:p>
          <a:p>
            <a:pPr marL="0" indent="0" algn="just" eaLnBrk="1" latinLnBrk="0" hangingPunct="1">
              <a:lnSpc>
                <a:spcPct val="150000"/>
              </a:lnSpc>
              <a:spcBef>
                <a:spcPts val="0"/>
              </a:spcBef>
              <a:buClr>
                <a:srgbClr val="0000FF"/>
              </a:buClr>
              <a:buSzPct val="100000"/>
              <a:buFont typeface="Wingdings" panose="05000000000000000000" charset="0"/>
              <a:buNone/>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P=1</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表示累加器ACC中“1”的个数为</a:t>
            </a:r>
            <a:r>
              <a:rPr lang="zh-CN" altLang="en-US" sz="2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奇数</a:t>
            </a:r>
          </a:p>
          <a:p>
            <a:pPr marL="0" indent="0" algn="just" eaLnBrk="1" latinLnBrk="0" hangingPunct="1">
              <a:lnSpc>
                <a:spcPct val="150000"/>
              </a:lnSpc>
              <a:spcBef>
                <a:spcPts val="0"/>
              </a:spcBef>
              <a:buClr>
                <a:srgbClr val="0000FF"/>
              </a:buClr>
              <a:buSzPct val="100000"/>
              <a:buFont typeface="Wingdings" panose="05000000000000000000" charset="0"/>
              <a:buNone/>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P=0</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表示累加器ACC中“1”的个数为</a:t>
            </a:r>
            <a:r>
              <a:rPr lang="zh-CN" altLang="en-US" sz="2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偶数</a:t>
            </a:r>
          </a:p>
          <a:p>
            <a:pPr marL="0" indent="0" algn="just" eaLnBrk="1" latinLnBrk="0" hangingPunct="1">
              <a:lnSpc>
                <a:spcPct val="150000"/>
              </a:lnSpc>
              <a:spcBef>
                <a:spcPts val="0"/>
              </a:spcBef>
              <a:buClr>
                <a:srgbClr val="0000FF"/>
              </a:buClr>
              <a:buSzPct val="100000"/>
              <a:buFont typeface="Wingdings" panose="05000000000000000000" charset="0"/>
              <a:buNone/>
            </a:pPr>
            <a:r>
              <a:rPr lang="zh-CN" altLang="en-US" sz="2200" b="1" dirty="0">
                <a:latin typeface="微软雅黑" panose="020B0503020204020204" pitchFamily="34" charset="-122"/>
                <a:ea typeface="微软雅黑" panose="020B0503020204020204" pitchFamily="34" charset="-122"/>
                <a:cs typeface="微软雅黑" panose="020B0503020204020204" pitchFamily="34" charset="-122"/>
                <a:sym typeface="+mn-ea"/>
              </a:rPr>
              <a:t>       CPU随时监视着ACC中的“1”的个数，并反映在PSW中</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481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34819"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34820"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3416320"/>
          </a:xfrm>
          <a:prstGeom prst="rect">
            <a:avLst/>
          </a:prstGeom>
          <a:noFill/>
        </p:spPr>
        <p:txBody>
          <a:bodyPr>
            <a:spAutoFit/>
          </a:bodyPr>
          <a:lstStyle/>
          <a:p>
            <a:pPr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2.1.1 MCS-51</a:t>
            </a:r>
            <a:r>
              <a:rPr lang="zh-CN" altLang="en-US" sz="2400" b="1" dirty="0">
                <a:solidFill>
                  <a:prstClr val="black"/>
                </a:solidFill>
                <a:latin typeface="微软雅黑" panose="020B0503020204020204" pitchFamily="34" charset="-122"/>
                <a:ea typeface="微软雅黑" panose="020B0503020204020204" pitchFamily="34" charset="-122"/>
              </a:rPr>
              <a:t>单片机总体框图及功能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p"/>
              <a:defRPr/>
            </a:pPr>
            <a:r>
              <a:rPr lang="en-US" altLang="zh-CN" sz="2400" dirty="0">
                <a:solidFill>
                  <a:prstClr val="black"/>
                </a:solidFill>
                <a:latin typeface="微软雅黑" panose="020B0503020204020204" pitchFamily="34" charset="-122"/>
                <a:ea typeface="微软雅黑" panose="020B0503020204020204" pitchFamily="34" charset="-122"/>
              </a:rPr>
              <a:t>RAM</a:t>
            </a:r>
            <a:r>
              <a:rPr lang="zh-CN" altLang="en-US" sz="2400" dirty="0">
                <a:solidFill>
                  <a:prstClr val="black"/>
                </a:solidFill>
                <a:latin typeface="微软雅黑" panose="020B0503020204020204" pitchFamily="34" charset="-122"/>
                <a:ea typeface="微软雅黑" panose="020B0503020204020204" pitchFamily="34" charset="-122"/>
              </a:rPr>
              <a:t>：单片机</a:t>
            </a:r>
            <a:r>
              <a:rPr lang="zh-CN" altLang="en-US" sz="2400" b="1" dirty="0">
                <a:solidFill>
                  <a:prstClr val="black"/>
                </a:solidFill>
                <a:latin typeface="微软雅黑" panose="020B0503020204020204" pitchFamily="34" charset="-122"/>
                <a:ea typeface="微软雅黑" panose="020B0503020204020204" pitchFamily="34" charset="-122"/>
              </a:rPr>
              <a:t>内部数据存储器</a:t>
            </a:r>
            <a:r>
              <a:rPr lang="zh-CN" altLang="en-US" sz="2400" dirty="0">
                <a:solidFill>
                  <a:prstClr val="black"/>
                </a:solidFill>
                <a:latin typeface="微软雅黑" panose="020B0503020204020204" pitchFamily="34" charset="-122"/>
                <a:ea typeface="微软雅黑" panose="020B0503020204020204" pitchFamily="34" charset="-122"/>
              </a:rPr>
              <a:t>。其存储空间包括</a:t>
            </a:r>
            <a:r>
              <a:rPr lang="zh-CN" altLang="en-US" sz="2400" u="sng" dirty="0">
                <a:solidFill>
                  <a:prstClr val="black"/>
                </a:solidFill>
                <a:latin typeface="微软雅黑" panose="020B0503020204020204" pitchFamily="34" charset="-122"/>
                <a:ea typeface="微软雅黑" panose="020B0503020204020204" pitchFamily="34" charset="-122"/>
              </a:rPr>
              <a:t>随机存储器区</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400" u="sng" dirty="0">
                <a:solidFill>
                  <a:prstClr val="black"/>
                </a:solidFill>
                <a:latin typeface="微软雅黑" panose="020B0503020204020204" pitchFamily="34" charset="-122"/>
                <a:ea typeface="微软雅黑" panose="020B0503020204020204" pitchFamily="34" charset="-122"/>
              </a:rPr>
              <a:t>寄存器区</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400" u="sng" dirty="0">
                <a:solidFill>
                  <a:prstClr val="black"/>
                </a:solidFill>
                <a:latin typeface="微软雅黑" panose="020B0503020204020204" pitchFamily="34" charset="-122"/>
                <a:ea typeface="微软雅黑" panose="020B0503020204020204" pitchFamily="34" charset="-122"/>
              </a:rPr>
              <a:t>特殊功能寄存器</a:t>
            </a:r>
            <a:r>
              <a:rPr lang="zh-CN" altLang="en-US" sz="2400" dirty="0">
                <a:solidFill>
                  <a:prstClr val="black"/>
                </a:solidFill>
                <a:latin typeface="微软雅黑" panose="020B0503020204020204" pitchFamily="34" charset="-122"/>
                <a:ea typeface="微软雅黑" panose="020B0503020204020204" pitchFamily="34" charset="-122"/>
              </a:rPr>
              <a:t>及</a:t>
            </a:r>
            <a:r>
              <a:rPr lang="zh-CN" altLang="en-US" sz="2400" u="sng" dirty="0">
                <a:solidFill>
                  <a:prstClr val="black"/>
                </a:solidFill>
                <a:latin typeface="微软雅黑" panose="020B0503020204020204" pitchFamily="34" charset="-122"/>
                <a:ea typeface="微软雅黑" panose="020B0503020204020204" pitchFamily="34" charset="-122"/>
              </a:rPr>
              <a:t>位寻址区</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用以存放可以读写的数据，如运算的中间结果、最终结果及要显示的数据。</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p"/>
              <a:defRPr/>
            </a:pPr>
            <a:r>
              <a:rPr lang="en-US" altLang="zh-CN" sz="2400" dirty="0">
                <a:solidFill>
                  <a:prstClr val="black"/>
                </a:solidFill>
                <a:latin typeface="微软雅黑" panose="020B0503020204020204" pitchFamily="34" charset="-122"/>
                <a:ea typeface="微软雅黑" panose="020B0503020204020204" pitchFamily="34" charset="-122"/>
              </a:rPr>
              <a:t>ROM</a:t>
            </a:r>
            <a:r>
              <a:rPr lang="zh-CN" altLang="en-US" sz="2400" dirty="0">
                <a:solidFill>
                  <a:prstClr val="black"/>
                </a:solidFill>
                <a:latin typeface="微软雅黑" panose="020B0503020204020204" pitchFamily="34" charset="-122"/>
                <a:ea typeface="微软雅黑" panose="020B0503020204020204" pitchFamily="34" charset="-122"/>
              </a:rPr>
              <a:t>：单片机</a:t>
            </a:r>
            <a:r>
              <a:rPr lang="zh-CN" altLang="en-US" sz="2400" b="1" dirty="0">
                <a:solidFill>
                  <a:prstClr val="black"/>
                </a:solidFill>
                <a:latin typeface="微软雅黑" panose="020B0503020204020204" pitchFamily="34" charset="-122"/>
                <a:ea typeface="微软雅黑" panose="020B0503020204020204" pitchFamily="34" charset="-122"/>
              </a:rPr>
              <a:t>内部程序存储器</a:t>
            </a:r>
            <a:r>
              <a:rPr lang="zh-CN" altLang="en-US" sz="2400" dirty="0">
                <a:solidFill>
                  <a:prstClr val="black"/>
                </a:solidFill>
                <a:latin typeface="微软雅黑" panose="020B0503020204020204" pitchFamily="34" charset="-122"/>
                <a:ea typeface="微软雅黑" panose="020B0503020204020204" pitchFamily="34" charset="-122"/>
              </a:rPr>
              <a:t>。用以存放程序、一些原始数据和表格。</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
        <p:nvSpPr>
          <p:cNvPr id="36866"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36867"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36868"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632450"/>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2.1.1 MCS-51</a:t>
            </a:r>
            <a:r>
              <a:rPr lang="zh-CN" altLang="en-US" sz="2400" b="1" dirty="0">
                <a:solidFill>
                  <a:prstClr val="black"/>
                </a:solidFill>
                <a:latin typeface="微软雅黑" panose="020B0503020204020204" pitchFamily="34" charset="-122"/>
                <a:ea typeface="微软雅黑" panose="020B0503020204020204" pitchFamily="34" charset="-122"/>
              </a:rPr>
              <a:t>单片机总体框图及功能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p"/>
              <a:defRPr/>
            </a:pPr>
            <a:r>
              <a:rPr lang="zh-CN" altLang="en-US" sz="2400" dirty="0">
                <a:solidFill>
                  <a:prstClr val="black"/>
                </a:solidFill>
                <a:latin typeface="微软雅黑" panose="020B0503020204020204" pitchFamily="34" charset="-122"/>
                <a:ea typeface="微软雅黑" panose="020B0503020204020204" pitchFamily="34" charset="-122"/>
              </a:rPr>
              <a:t>并行</a:t>
            </a:r>
            <a:r>
              <a:rPr lang="en-US" altLang="zh-CN" sz="2400" dirty="0">
                <a:solidFill>
                  <a:prstClr val="black"/>
                </a:solidFill>
                <a:latin typeface="微软雅黑" panose="020B0503020204020204" pitchFamily="34" charset="-122"/>
                <a:ea typeface="微软雅黑" panose="020B0503020204020204" pitchFamily="34" charset="-122"/>
              </a:rPr>
              <a:t>I/O</a:t>
            </a:r>
            <a:r>
              <a:rPr lang="zh-CN" altLang="en-US" sz="2400" dirty="0">
                <a:solidFill>
                  <a:prstClr val="black"/>
                </a:solidFill>
                <a:latin typeface="微软雅黑" panose="020B0503020204020204" pitchFamily="34" charset="-122"/>
                <a:ea typeface="微软雅黑" panose="020B0503020204020204" pitchFamily="34" charset="-122"/>
              </a:rPr>
              <a:t>口：</a:t>
            </a:r>
            <a:r>
              <a:rPr lang="en-US" altLang="zh-CN" sz="2400" dirty="0">
                <a:solidFill>
                  <a:prstClr val="black"/>
                </a:solidFill>
                <a:latin typeface="微软雅黑" panose="020B0503020204020204" pitchFamily="34" charset="-122"/>
                <a:ea typeface="微软雅黑" panose="020B0503020204020204" pitchFamily="34" charset="-122"/>
              </a:rPr>
              <a:t>P0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P3</a:t>
            </a:r>
            <a:r>
              <a:rPr lang="zh-CN" altLang="en-US" sz="2400" dirty="0">
                <a:solidFill>
                  <a:prstClr val="black"/>
                </a:solidFill>
                <a:latin typeface="微软雅黑" panose="020B0503020204020204" pitchFamily="34" charset="-122"/>
                <a:ea typeface="微软雅黑" panose="020B0503020204020204" pitchFamily="34" charset="-122"/>
              </a:rPr>
              <a:t>是</a:t>
            </a:r>
            <a:r>
              <a:rPr lang="zh-CN" altLang="en-US" sz="2400" b="1" dirty="0">
                <a:solidFill>
                  <a:srgbClr val="0000FF"/>
                </a:solidFill>
                <a:latin typeface="微软雅黑" panose="020B0503020204020204" pitchFamily="34" charset="-122"/>
                <a:ea typeface="微软雅黑" panose="020B0503020204020204" pitchFamily="34" charset="-122"/>
              </a:rPr>
              <a:t>四个</a:t>
            </a:r>
            <a:r>
              <a:rPr lang="en-US" altLang="zh-CN" sz="2400" b="1" dirty="0">
                <a:solidFill>
                  <a:srgbClr val="0000FF"/>
                </a:solidFill>
                <a:latin typeface="微软雅黑" panose="020B0503020204020204" pitchFamily="34" charset="-122"/>
                <a:ea typeface="微软雅黑" panose="020B0503020204020204" pitchFamily="34" charset="-122"/>
              </a:rPr>
              <a:t>8</a:t>
            </a:r>
            <a:r>
              <a:rPr lang="zh-CN" altLang="en-US" sz="2400" b="1" dirty="0">
                <a:solidFill>
                  <a:srgbClr val="0000FF"/>
                </a:solidFill>
                <a:latin typeface="微软雅黑" panose="020B0503020204020204" pitchFamily="34" charset="-122"/>
                <a:ea typeface="微软雅黑" panose="020B0503020204020204" pitchFamily="34" charset="-122"/>
              </a:rPr>
              <a:t>位</a:t>
            </a:r>
            <a:r>
              <a:rPr lang="zh-CN" altLang="en-US" sz="2400" dirty="0">
                <a:solidFill>
                  <a:srgbClr val="0000FF"/>
                </a:solidFill>
                <a:latin typeface="微软雅黑" panose="020B0503020204020204" pitchFamily="34" charset="-122"/>
                <a:ea typeface="微软雅黑" panose="020B0503020204020204" pitchFamily="34" charset="-122"/>
              </a:rPr>
              <a:t>并行</a:t>
            </a:r>
            <a:r>
              <a:rPr lang="en-US" altLang="zh-CN" sz="2400" dirty="0">
                <a:solidFill>
                  <a:srgbClr val="0000FF"/>
                </a:solidFill>
                <a:latin typeface="微软雅黑" panose="020B0503020204020204" pitchFamily="34" charset="-122"/>
                <a:ea typeface="微软雅黑" panose="020B0503020204020204" pitchFamily="34" charset="-122"/>
              </a:rPr>
              <a:t>I/O</a:t>
            </a:r>
            <a:r>
              <a:rPr lang="zh-CN" altLang="en-US" sz="2400" dirty="0">
                <a:solidFill>
                  <a:srgbClr val="0000FF"/>
                </a:solidFill>
                <a:latin typeface="微软雅黑" panose="020B0503020204020204" pitchFamily="34" charset="-122"/>
                <a:ea typeface="微软雅黑" panose="020B0503020204020204" pitchFamily="34" charset="-122"/>
              </a:rPr>
              <a:t>口</a:t>
            </a:r>
            <a:r>
              <a:rPr lang="zh-CN" altLang="en-US" sz="2400" dirty="0">
                <a:solidFill>
                  <a:prstClr val="black"/>
                </a:solidFill>
                <a:latin typeface="微软雅黑" panose="020B0503020204020204" pitchFamily="34" charset="-122"/>
                <a:ea typeface="微软雅黑" panose="020B0503020204020204" pitchFamily="34" charset="-122"/>
              </a:rPr>
              <a:t>，每个口既可作为输入，也可作为输出。单片机在与外部存储器及</a:t>
            </a:r>
            <a:r>
              <a:rPr lang="en-US" altLang="zh-CN" sz="2400" dirty="0">
                <a:solidFill>
                  <a:prstClr val="black"/>
                </a:solidFill>
                <a:latin typeface="微软雅黑" panose="020B0503020204020204" pitchFamily="34" charset="-122"/>
                <a:ea typeface="微软雅黑" panose="020B0503020204020204" pitchFamily="34" charset="-122"/>
              </a:rPr>
              <a:t>I/O</a:t>
            </a:r>
            <a:r>
              <a:rPr lang="zh-CN" altLang="en-US" sz="2400" dirty="0">
                <a:solidFill>
                  <a:prstClr val="black"/>
                </a:solidFill>
                <a:latin typeface="微软雅黑" panose="020B0503020204020204" pitchFamily="34" charset="-122"/>
                <a:ea typeface="微软雅黑" panose="020B0503020204020204" pitchFamily="34" charset="-122"/>
              </a:rPr>
              <a:t>端口设备交换信息时，必须由</a:t>
            </a:r>
            <a:r>
              <a:rPr lang="en-US" altLang="zh-CN" sz="2400" dirty="0">
                <a:solidFill>
                  <a:prstClr val="black"/>
                </a:solidFill>
                <a:latin typeface="微软雅黑" panose="020B0503020204020204" pitchFamily="34" charset="-122"/>
                <a:ea typeface="微软雅黑" panose="020B0503020204020204" pitchFamily="34" charset="-122"/>
              </a:rPr>
              <a:t>P0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P3</a:t>
            </a:r>
            <a:r>
              <a:rPr lang="zh-CN" altLang="en-US" sz="2400" dirty="0">
                <a:solidFill>
                  <a:prstClr val="black"/>
                </a:solidFill>
                <a:latin typeface="微软雅黑" panose="020B0503020204020204" pitchFamily="34" charset="-122"/>
                <a:ea typeface="微软雅黑" panose="020B0503020204020204" pitchFamily="34" charset="-122"/>
              </a:rPr>
              <a:t>口完成。 </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p"/>
              <a:defRPr/>
            </a:pPr>
            <a:r>
              <a:rPr lang="zh-CN" altLang="en-US" sz="2400" dirty="0">
                <a:solidFill>
                  <a:prstClr val="black"/>
                </a:solidFill>
                <a:latin typeface="微软雅黑" panose="020B0503020204020204" pitchFamily="34" charset="-122"/>
                <a:ea typeface="微软雅黑" panose="020B0503020204020204" pitchFamily="34" charset="-122"/>
              </a:rPr>
              <a:t>定时器</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计数器：</a:t>
            </a:r>
            <a:r>
              <a:rPr lang="en-US" altLang="zh-CN" sz="2400" b="1" dirty="0">
                <a:solidFill>
                  <a:srgbClr val="0000FF"/>
                </a:solidFill>
                <a:latin typeface="微软雅黑" panose="020B0503020204020204" pitchFamily="34" charset="-122"/>
                <a:ea typeface="微软雅黑" panose="020B0503020204020204" pitchFamily="34" charset="-122"/>
              </a:rPr>
              <a:t>2</a:t>
            </a:r>
            <a:r>
              <a:rPr lang="zh-CN" altLang="en-US" sz="2400" b="1" dirty="0">
                <a:solidFill>
                  <a:srgbClr val="0000FF"/>
                </a:solidFill>
                <a:latin typeface="微软雅黑" panose="020B0503020204020204" pitchFamily="34" charset="-122"/>
                <a:ea typeface="微软雅黑" panose="020B0503020204020204" pitchFamily="34" charset="-122"/>
              </a:rPr>
              <a:t>个</a:t>
            </a:r>
            <a:r>
              <a:rPr lang="en-US" altLang="zh-CN" sz="2400" b="1" dirty="0">
                <a:solidFill>
                  <a:srgbClr val="0000FF"/>
                </a:solidFill>
                <a:latin typeface="微软雅黑" panose="020B0503020204020204" pitchFamily="34" charset="-122"/>
                <a:ea typeface="微软雅黑" panose="020B0503020204020204" pitchFamily="34" charset="-122"/>
              </a:rPr>
              <a:t>16</a:t>
            </a:r>
            <a:r>
              <a:rPr lang="zh-CN" altLang="en-US" sz="2400" b="1" dirty="0">
                <a:solidFill>
                  <a:srgbClr val="0000FF"/>
                </a:solidFill>
                <a:latin typeface="微软雅黑" panose="020B0503020204020204" pitchFamily="34" charset="-122"/>
                <a:ea typeface="微软雅黑" panose="020B0503020204020204" pitchFamily="34" charset="-122"/>
              </a:rPr>
              <a:t>位</a:t>
            </a:r>
            <a:r>
              <a:rPr lang="zh-CN" altLang="en-US" sz="2400" dirty="0">
                <a:solidFill>
                  <a:prstClr val="black"/>
                </a:solidFill>
                <a:latin typeface="微软雅黑" panose="020B0503020204020204" pitchFamily="34" charset="-122"/>
                <a:ea typeface="微软雅黑" panose="020B0503020204020204" pitchFamily="34" charset="-122"/>
              </a:rPr>
              <a:t>的定时</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计数器</a:t>
            </a:r>
            <a:r>
              <a:rPr lang="en-US" altLang="zh-CN" sz="2400" dirty="0">
                <a:solidFill>
                  <a:prstClr val="black"/>
                </a:solidFill>
                <a:latin typeface="微软雅黑" panose="020B0503020204020204" pitchFamily="34" charset="-122"/>
                <a:ea typeface="微软雅黑" panose="020B0503020204020204" pitchFamily="34" charset="-122"/>
              </a:rPr>
              <a:t>(T0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T1)</a:t>
            </a:r>
            <a:r>
              <a:rPr lang="zh-CN" altLang="en-US" sz="2400" dirty="0">
                <a:solidFill>
                  <a:prstClr val="black"/>
                </a:solidFill>
                <a:latin typeface="微软雅黑" panose="020B0503020204020204" pitchFamily="34" charset="-122"/>
                <a:ea typeface="微软雅黑" panose="020B0503020204020204" pitchFamily="34" charset="-122"/>
              </a:rPr>
              <a:t>，用于定时</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定时模式</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和对外部事件进行计数</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计数模式</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p"/>
              <a:defRPr/>
            </a:pPr>
            <a:r>
              <a:rPr lang="zh-CN" altLang="en-US" sz="2400" dirty="0">
                <a:solidFill>
                  <a:prstClr val="black"/>
                </a:solidFill>
                <a:latin typeface="微软雅黑" panose="020B0503020204020204" pitchFamily="34" charset="-122"/>
                <a:ea typeface="微软雅黑" panose="020B0503020204020204" pitchFamily="34" charset="-122"/>
              </a:rPr>
              <a:t>中断系统：</a:t>
            </a: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单片机有</a:t>
            </a:r>
            <a:r>
              <a:rPr lang="en-US" altLang="zh-CN" sz="2400" b="1" dirty="0">
                <a:solidFill>
                  <a:srgbClr val="0000FF"/>
                </a:solidFill>
                <a:latin typeface="微软雅黑" panose="020B0503020204020204" pitchFamily="34" charset="-122"/>
                <a:ea typeface="微软雅黑" panose="020B0503020204020204" pitchFamily="34" charset="-122"/>
              </a:rPr>
              <a:t>5</a:t>
            </a:r>
            <a:r>
              <a:rPr lang="zh-CN" altLang="en-US" sz="2400" b="1" dirty="0">
                <a:solidFill>
                  <a:srgbClr val="0000FF"/>
                </a:solidFill>
                <a:latin typeface="微软雅黑" panose="020B0503020204020204" pitchFamily="34" charset="-122"/>
                <a:ea typeface="微软雅黑" panose="020B0503020204020204" pitchFamily="34" charset="-122"/>
              </a:rPr>
              <a:t>个中断源</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srgbClr val="0000FF"/>
                </a:solidFill>
                <a:latin typeface="微软雅黑" panose="020B0503020204020204" pitchFamily="34" charset="-122"/>
                <a:ea typeface="微软雅黑" panose="020B0503020204020204" pitchFamily="34" charset="-122"/>
              </a:rPr>
              <a:t>2</a:t>
            </a:r>
            <a:r>
              <a:rPr lang="zh-CN" altLang="en-US" sz="2400" dirty="0">
                <a:solidFill>
                  <a:srgbClr val="0000FF"/>
                </a:solidFill>
                <a:latin typeface="微软雅黑" panose="020B0503020204020204" pitchFamily="34" charset="-122"/>
                <a:ea typeface="微软雅黑" panose="020B0503020204020204" pitchFamily="34" charset="-122"/>
              </a:rPr>
              <a:t>个中断优先级</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    </a:t>
            </a:r>
            <a:r>
              <a:rPr lang="zh-CN" altLang="en-US" sz="2400" dirty="0">
                <a:solidFill>
                  <a:prstClr val="black"/>
                </a:solidFill>
                <a:latin typeface="微软雅黑" panose="020B0503020204020204" pitchFamily="34" charset="-122"/>
                <a:ea typeface="微软雅黑" panose="020B0503020204020204" pitchFamily="34" charset="-122"/>
              </a:rPr>
              <a:t>其中，</a:t>
            </a:r>
            <a:r>
              <a:rPr lang="en-US" altLang="zh-CN" sz="2400" b="1" dirty="0">
                <a:solidFill>
                  <a:srgbClr val="0000FF"/>
                </a:solidFill>
                <a:latin typeface="微软雅黑" panose="020B0503020204020204" pitchFamily="34" charset="-122"/>
                <a:ea typeface="微软雅黑" panose="020B0503020204020204" pitchFamily="34" charset="-122"/>
              </a:rPr>
              <a:t>2</a:t>
            </a:r>
            <a:r>
              <a:rPr lang="zh-CN" altLang="en-US" sz="2400" b="1" dirty="0">
                <a:solidFill>
                  <a:srgbClr val="0000FF"/>
                </a:solidFill>
                <a:latin typeface="微软雅黑" panose="020B0503020204020204" pitchFamily="34" charset="-122"/>
                <a:ea typeface="微软雅黑" panose="020B0503020204020204" pitchFamily="34" charset="-122"/>
              </a:rPr>
              <a:t>个</a:t>
            </a:r>
            <a:r>
              <a:rPr lang="zh-CN" altLang="en-US" sz="2400" b="1" dirty="0">
                <a:solidFill>
                  <a:prstClr val="black"/>
                </a:solidFill>
                <a:latin typeface="微软雅黑" panose="020B0503020204020204" pitchFamily="34" charset="-122"/>
                <a:ea typeface="微软雅黑" panose="020B0503020204020204" pitchFamily="34" charset="-122"/>
              </a:rPr>
              <a:t>外部</a:t>
            </a:r>
            <a:r>
              <a:rPr lang="zh-CN" altLang="en-US" sz="2400" dirty="0">
                <a:solidFill>
                  <a:prstClr val="black"/>
                </a:solidFill>
                <a:latin typeface="微软雅黑" panose="020B0503020204020204" pitchFamily="34" charset="-122"/>
                <a:ea typeface="微软雅黑" panose="020B0503020204020204" pitchFamily="34" charset="-122"/>
              </a:rPr>
              <a:t>中断源</a:t>
            </a:r>
            <a:r>
              <a:rPr lang="en-US" altLang="zh-CN" sz="2400" dirty="0">
                <a:solidFill>
                  <a:prstClr val="black"/>
                </a:solidFill>
                <a:latin typeface="微软雅黑" panose="020B0503020204020204" pitchFamily="34" charset="-122"/>
                <a:ea typeface="微软雅黑" panose="020B0503020204020204" pitchFamily="34" charset="-122"/>
              </a:rPr>
              <a:t>(INT0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INT1)</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b="1" dirty="0">
                <a:solidFill>
                  <a:srgbClr val="0000FF"/>
                </a:solidFill>
                <a:latin typeface="微软雅黑" panose="020B0503020204020204" pitchFamily="34" charset="-122"/>
                <a:ea typeface="微软雅黑" panose="020B0503020204020204" pitchFamily="34" charset="-122"/>
              </a:rPr>
              <a:t>3</a:t>
            </a:r>
            <a:r>
              <a:rPr lang="zh-CN" altLang="en-US" sz="2400" b="1" dirty="0">
                <a:solidFill>
                  <a:srgbClr val="0000FF"/>
                </a:solidFill>
                <a:latin typeface="微软雅黑" panose="020B0503020204020204" pitchFamily="34" charset="-122"/>
                <a:ea typeface="微软雅黑" panose="020B0503020204020204" pitchFamily="34" charset="-122"/>
              </a:rPr>
              <a:t>个</a:t>
            </a:r>
            <a:r>
              <a:rPr lang="zh-CN" altLang="en-US" sz="2400" b="1" dirty="0">
                <a:solidFill>
                  <a:prstClr val="black"/>
                </a:solidFill>
                <a:latin typeface="微软雅黑" panose="020B0503020204020204" pitchFamily="34" charset="-122"/>
                <a:ea typeface="微软雅黑" panose="020B0503020204020204" pitchFamily="34" charset="-122"/>
              </a:rPr>
              <a:t>内部</a:t>
            </a:r>
            <a:r>
              <a:rPr lang="zh-CN" altLang="en-US" sz="2400" dirty="0">
                <a:solidFill>
                  <a:prstClr val="black"/>
                </a:solidFill>
                <a:latin typeface="微软雅黑" panose="020B0503020204020204" pitchFamily="34" charset="-122"/>
                <a:ea typeface="微软雅黑" panose="020B0503020204020204" pitchFamily="34" charset="-122"/>
              </a:rPr>
              <a:t>中断源</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定时</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计数器</a:t>
            </a:r>
            <a:r>
              <a:rPr lang="en-US" altLang="zh-CN" sz="2400" dirty="0">
                <a:solidFill>
                  <a:prstClr val="black"/>
                </a:solidFill>
                <a:latin typeface="微软雅黑" panose="020B0503020204020204" pitchFamily="34" charset="-122"/>
                <a:ea typeface="微软雅黑" panose="020B0503020204020204" pitchFamily="34" charset="-122"/>
              </a:rPr>
              <a:t>0</a:t>
            </a:r>
            <a:r>
              <a:rPr lang="zh-CN" altLang="en-US" sz="2400" dirty="0">
                <a:solidFill>
                  <a:srgbClr val="00B0F0"/>
                </a:solidFill>
                <a:latin typeface="微软雅黑" panose="020B0503020204020204" pitchFamily="34" charset="-122"/>
                <a:ea typeface="微软雅黑" panose="020B0503020204020204" pitchFamily="34" charset="-122"/>
              </a:rPr>
              <a:t>溢出</a:t>
            </a:r>
            <a:r>
              <a:rPr lang="zh-CN" altLang="en-US" sz="2400" dirty="0">
                <a:solidFill>
                  <a:prstClr val="black"/>
                </a:solidFill>
                <a:latin typeface="微软雅黑" panose="020B0503020204020204" pitchFamily="34" charset="-122"/>
                <a:ea typeface="微软雅黑" panose="020B0503020204020204" pitchFamily="34" charset="-122"/>
              </a:rPr>
              <a:t>中断、定时</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计数器</a:t>
            </a:r>
            <a:r>
              <a:rPr lang="en-US" altLang="zh-CN" sz="2400" dirty="0">
                <a:solidFill>
                  <a:prstClr val="black"/>
                </a:solidFill>
                <a:latin typeface="微软雅黑" panose="020B0503020204020204" pitchFamily="34" charset="-122"/>
                <a:ea typeface="微软雅黑" panose="020B0503020204020204" pitchFamily="34" charset="-122"/>
              </a:rPr>
              <a:t>1</a:t>
            </a:r>
            <a:r>
              <a:rPr lang="zh-CN" altLang="en-US" sz="2400" dirty="0">
                <a:solidFill>
                  <a:srgbClr val="00B0F0"/>
                </a:solidFill>
                <a:latin typeface="微软雅黑" panose="020B0503020204020204" pitchFamily="34" charset="-122"/>
                <a:ea typeface="微软雅黑" panose="020B0503020204020204" pitchFamily="34" charset="-122"/>
              </a:rPr>
              <a:t>溢出</a:t>
            </a:r>
            <a:r>
              <a:rPr lang="zh-CN" altLang="en-US" sz="2400" dirty="0">
                <a:solidFill>
                  <a:prstClr val="black"/>
                </a:solidFill>
                <a:latin typeface="微软雅黑" panose="020B0503020204020204" pitchFamily="34" charset="-122"/>
                <a:ea typeface="微软雅黑" panose="020B0503020204020204" pitchFamily="34" charset="-122"/>
              </a:rPr>
              <a:t>中断、串行口的发送和接收中断</a:t>
            </a:r>
            <a:r>
              <a:rPr lang="en-US" altLang="zh-CN" sz="2400" dirty="0">
                <a:solidFill>
                  <a:prstClr val="black"/>
                </a:solidFill>
                <a:latin typeface="微软雅黑" panose="020B0503020204020204" pitchFamily="34" charset="-122"/>
                <a:ea typeface="微软雅黑" panose="020B0503020204020204" pitchFamily="34" charset="-122"/>
              </a:rPr>
              <a:t>(TI</a:t>
            </a:r>
            <a:r>
              <a:rPr lang="zh-CN" altLang="en-US" sz="2400" dirty="0">
                <a:solidFill>
                  <a:prstClr val="black"/>
                </a:solidFill>
                <a:latin typeface="微软雅黑" panose="020B0503020204020204" pitchFamily="34" charset="-122"/>
                <a:ea typeface="微软雅黑" panose="020B0503020204020204" pitchFamily="34" charset="-122"/>
              </a:rPr>
              <a:t>和</a:t>
            </a:r>
            <a:r>
              <a:rPr lang="en-US" altLang="zh-CN" sz="2400" dirty="0">
                <a:solidFill>
                  <a:prstClr val="black"/>
                </a:solidFill>
                <a:latin typeface="微软雅黑" panose="020B0503020204020204" pitchFamily="34" charset="-122"/>
                <a:ea typeface="微软雅黑" panose="020B0503020204020204" pitchFamily="34" charset="-122"/>
              </a:rPr>
              <a:t>RI))</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000" dirty="0">
              <a:solidFill>
                <a:srgbClr val="C00000"/>
              </a:solidFill>
              <a:latin typeface="微软雅黑" panose="020B0503020204020204" pitchFamily="34" charset="-122"/>
              <a:ea typeface="微软雅黑" panose="020B0503020204020204" pitchFamily="34" charset="-122"/>
            </a:endParaRPr>
          </a:p>
        </p:txBody>
      </p:sp>
      <p:sp>
        <p:nvSpPr>
          <p:cNvPr id="38914"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38915"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38916"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4524375"/>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2.1.1 MCS-51</a:t>
            </a:r>
            <a:r>
              <a:rPr lang="zh-CN" altLang="en-US" sz="2400" b="1" dirty="0">
                <a:solidFill>
                  <a:prstClr val="black"/>
                </a:solidFill>
                <a:latin typeface="微软雅黑" panose="020B0503020204020204" pitchFamily="34" charset="-122"/>
                <a:ea typeface="微软雅黑" panose="020B0503020204020204" pitchFamily="34" charset="-122"/>
              </a:rPr>
              <a:t>单片机总体框图及功能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p"/>
              <a:defRPr/>
            </a:pPr>
            <a:r>
              <a:rPr lang="zh-CN" altLang="en-US" sz="2400" dirty="0">
                <a:solidFill>
                  <a:prstClr val="black"/>
                </a:solidFill>
                <a:latin typeface="微软雅黑" panose="020B0503020204020204" pitchFamily="34" charset="-122"/>
                <a:ea typeface="微软雅黑" panose="020B0503020204020204" pitchFamily="34" charset="-122"/>
              </a:rPr>
              <a:t>串行接口：串行接口提供对数据各位按序一位一位地传输。 </a:t>
            </a: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中串行口是一个</a:t>
            </a:r>
            <a:r>
              <a:rPr lang="zh-CN" altLang="en-US" sz="2400" b="1" dirty="0">
                <a:solidFill>
                  <a:srgbClr val="0000FF"/>
                </a:solidFill>
                <a:latin typeface="微软雅黑" panose="020B0503020204020204" pitchFamily="34" charset="-122"/>
                <a:ea typeface="微软雅黑" panose="020B0503020204020204" pitchFamily="34" charset="-122"/>
              </a:rPr>
              <a:t>全双工</a:t>
            </a:r>
            <a:r>
              <a:rPr lang="zh-CN" altLang="en-US" sz="2400" dirty="0">
                <a:solidFill>
                  <a:prstClr val="black"/>
                </a:solidFill>
                <a:latin typeface="微软雅黑" panose="020B0503020204020204" pitchFamily="34" charset="-122"/>
                <a:ea typeface="微软雅黑" panose="020B0503020204020204" pitchFamily="34" charset="-122"/>
              </a:rPr>
              <a:t>通信口，即能同时进行发送和接收数据。用于实现单片机之间或单片机与微机之间的串行通信。</a:t>
            </a:r>
            <a:endParaRPr lang="en-US" altLang="zh-CN" sz="2000" dirty="0">
              <a:solidFill>
                <a:srgbClr val="C00000"/>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p"/>
              <a:defRPr/>
            </a:pPr>
            <a:r>
              <a:rPr lang="zh-CN" altLang="en-US" sz="2400" dirty="0">
                <a:solidFill>
                  <a:prstClr val="black"/>
                </a:solidFill>
                <a:latin typeface="微软雅黑" panose="020B0503020204020204" pitchFamily="34" charset="-122"/>
                <a:ea typeface="微软雅黑" panose="020B0503020204020204" pitchFamily="34" charset="-122"/>
              </a:rPr>
              <a:t>时钟电路</a:t>
            </a:r>
            <a:r>
              <a:rPr lang="en-US" altLang="zh-CN" sz="2400" dirty="0">
                <a:solidFill>
                  <a:prstClr val="black"/>
                </a:solidFill>
                <a:latin typeface="微软雅黑" panose="020B0503020204020204" pitchFamily="34" charset="-122"/>
                <a:ea typeface="微软雅黑" panose="020B0503020204020204" pitchFamily="34" charset="-122"/>
              </a:rPr>
              <a:t>OSC</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CPU</a:t>
            </a:r>
            <a:r>
              <a:rPr lang="zh-CN" altLang="en-US" sz="2400" dirty="0">
                <a:solidFill>
                  <a:prstClr val="black"/>
                </a:solidFill>
                <a:latin typeface="微软雅黑" panose="020B0503020204020204" pitchFamily="34" charset="-122"/>
                <a:ea typeface="微软雅黑" panose="020B0503020204020204" pitchFamily="34" charset="-122"/>
              </a:rPr>
              <a:t>执行指令的一系列动作都是在</a:t>
            </a:r>
            <a:r>
              <a:rPr lang="zh-CN" altLang="en-US" sz="2400" b="1" dirty="0">
                <a:solidFill>
                  <a:prstClr val="black"/>
                </a:solidFill>
                <a:latin typeface="微软雅黑" panose="020B0503020204020204" pitchFamily="34" charset="-122"/>
                <a:ea typeface="微软雅黑" panose="020B0503020204020204" pitchFamily="34" charset="-122"/>
              </a:rPr>
              <a:t>时序电路</a:t>
            </a:r>
            <a:r>
              <a:rPr lang="zh-CN" altLang="en-US" sz="2400" dirty="0">
                <a:solidFill>
                  <a:prstClr val="black"/>
                </a:solidFill>
                <a:latin typeface="微软雅黑" panose="020B0503020204020204" pitchFamily="34" charset="-122"/>
                <a:ea typeface="微软雅黑" panose="020B0503020204020204" pitchFamily="34" charset="-122"/>
              </a:rPr>
              <a:t>控制下一拍一拍进行，时钟电路用于产生单片机中最基本的时间单位。</a:t>
            </a:r>
            <a:endParaRPr lang="en-US" altLang="zh-CN" sz="2000" dirty="0">
              <a:solidFill>
                <a:srgbClr val="C00000"/>
              </a:solidFill>
              <a:latin typeface="微软雅黑" panose="020B0503020204020204" pitchFamily="34" charset="-122"/>
              <a:ea typeface="微软雅黑" panose="020B0503020204020204" pitchFamily="34" charset="-122"/>
            </a:endParaRPr>
          </a:p>
        </p:txBody>
      </p:sp>
      <p:sp>
        <p:nvSpPr>
          <p:cNvPr id="40962"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40963"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40964"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281595CA-8ED1-A09B-431C-76A6E213AE31}"/>
              </a:ext>
            </a:extLst>
          </p:cNvPr>
          <p:cNvPicPr>
            <a:picLocks noChangeAspect="1"/>
          </p:cNvPicPr>
          <p:nvPr/>
        </p:nvPicPr>
        <p:blipFill>
          <a:blip r:embed="rId2"/>
          <a:stretch>
            <a:fillRect/>
          </a:stretch>
        </p:blipFill>
        <p:spPr>
          <a:xfrm>
            <a:off x="0" y="598993"/>
            <a:ext cx="9144000" cy="5660013"/>
          </a:xfrm>
          <a:prstGeom prst="rect">
            <a:avLst/>
          </a:prstGeom>
        </p:spPr>
      </p:pic>
    </p:spTree>
    <p:extLst>
      <p:ext uri="{BB962C8B-B14F-4D97-AF65-F5344CB8AC3E}">
        <p14:creationId xmlns:p14="http://schemas.microsoft.com/office/powerpoint/2010/main" val="964714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81BC56A-9972-610A-4650-A8376FFAAAB9}"/>
              </a:ext>
            </a:extLst>
          </p:cNvPr>
          <p:cNvSpPr txBox="1"/>
          <p:nvPr/>
        </p:nvSpPr>
        <p:spPr>
          <a:xfrm>
            <a:off x="269823" y="133574"/>
            <a:ext cx="7330190" cy="2038828"/>
          </a:xfrm>
          <a:prstGeom prst="rect">
            <a:avLst/>
          </a:prstGeom>
          <a:noFill/>
        </p:spPr>
        <p:txBody>
          <a:bodyPr wrap="square">
            <a:spAutoFit/>
          </a:bodyPr>
          <a:lstStyle/>
          <a:p>
            <a:pPr marL="0" marR="0" algn="just">
              <a:lnSpc>
                <a:spcPct val="150000"/>
              </a:lnSpc>
              <a:buNone/>
            </a:pPr>
            <a:r>
              <a:rPr lang="en-US" altLang="zh-CN" sz="1800" kern="100" dirty="0">
                <a:effectLst/>
                <a:latin typeface="Times New Roman" panose="02020603050405020304" pitchFamily="18" charset="0"/>
              </a:rPr>
              <a:t>7</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rPr>
              <a:t>MCS-51</a:t>
            </a:r>
            <a:r>
              <a:rPr lang="zh-CN" altLang="en-US" sz="1800" kern="100" dirty="0">
                <a:effectLst/>
                <a:latin typeface="宋体" panose="02010600030101010101" pitchFamily="2" charset="-122"/>
                <a:ea typeface="宋体" panose="02010600030101010101" pitchFamily="2" charset="-122"/>
              </a:rPr>
              <a:t>系列单片机的中断系统具有（</a:t>
            </a:r>
            <a:r>
              <a:rPr lang="zh-CN" altLang="en-US" sz="1800" kern="100" dirty="0">
                <a:effectLst/>
                <a:latin typeface="Times New Roman" panose="02020603050405020304" pitchFamily="18" charset="0"/>
              </a:rPr>
              <a:t>   </a:t>
            </a:r>
            <a:r>
              <a:rPr lang="zh-CN" altLang="en-US" sz="1800" kern="100" dirty="0">
                <a:effectLst/>
                <a:latin typeface="宋体" panose="02010600030101010101" pitchFamily="2" charset="-122"/>
                <a:ea typeface="宋体" panose="02010600030101010101" pitchFamily="2" charset="-122"/>
              </a:rPr>
              <a:t>）。</a:t>
            </a:r>
            <a:r>
              <a:rPr lang="zh-CN" altLang="en-US" sz="1800" kern="100" dirty="0">
                <a:effectLst/>
                <a:latin typeface="Times New Roman" panose="02020603050405020304" pitchFamily="18" charset="0"/>
              </a:rPr>
              <a:t> </a:t>
            </a:r>
            <a:endParaRPr lang="zh-CN" altLang="en-US" sz="1400" kern="100" dirty="0">
              <a:effectLst/>
              <a:latin typeface="Times New Roman" panose="02020603050405020304" pitchFamily="18" charset="0"/>
            </a:endParaRPr>
          </a:p>
          <a:p>
            <a:pPr marL="0" marR="0" indent="152400" algn="just">
              <a:lnSpc>
                <a:spcPct val="150000"/>
              </a:lnSpc>
              <a:buNone/>
            </a:pPr>
            <a:r>
              <a:rPr lang="en-US" altLang="zh-CN" sz="1800" kern="100" dirty="0">
                <a:effectLst/>
                <a:latin typeface="Times New Roman" panose="02020603050405020304" pitchFamily="18" charset="0"/>
              </a:rPr>
              <a:t>A</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rPr>
              <a:t>5</a:t>
            </a:r>
            <a:r>
              <a:rPr lang="zh-CN" altLang="en-US" sz="1800" kern="100" dirty="0">
                <a:effectLst/>
                <a:latin typeface="宋体" panose="02010600030101010101" pitchFamily="2" charset="-122"/>
                <a:ea typeface="宋体" panose="02010600030101010101" pitchFamily="2" charset="-122"/>
              </a:rPr>
              <a:t>个中断源</a:t>
            </a:r>
            <a:r>
              <a:rPr lang="zh-CN" altLang="en-US" sz="1800" kern="100" dirty="0">
                <a:effectLst/>
                <a:latin typeface="Times New Roman" panose="02020603050405020304" pitchFamily="18" charset="0"/>
              </a:rPr>
              <a:t>    </a:t>
            </a:r>
            <a:r>
              <a:rPr lang="en-US" altLang="zh-CN" sz="1800" kern="100" dirty="0">
                <a:effectLst/>
                <a:latin typeface="Times New Roman" panose="02020603050405020304" pitchFamily="18" charset="0"/>
              </a:rPr>
              <a:t>B</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rPr>
              <a:t>6</a:t>
            </a:r>
            <a:r>
              <a:rPr lang="zh-CN" altLang="en-US" sz="1800" kern="100" dirty="0">
                <a:effectLst/>
                <a:latin typeface="宋体" panose="02010600030101010101" pitchFamily="2" charset="-122"/>
                <a:ea typeface="宋体" panose="02010600030101010101" pitchFamily="2" charset="-122"/>
              </a:rPr>
              <a:t>个中断源</a:t>
            </a:r>
            <a:r>
              <a:rPr lang="zh-CN" altLang="en-US" sz="1800" kern="100" dirty="0">
                <a:effectLst/>
                <a:latin typeface="Times New Roman" panose="02020603050405020304" pitchFamily="18" charset="0"/>
              </a:rPr>
              <a:t>     </a:t>
            </a:r>
            <a:r>
              <a:rPr lang="en-US" altLang="zh-CN" sz="1800" kern="100" dirty="0">
                <a:effectLst/>
                <a:latin typeface="Times New Roman" panose="02020603050405020304" pitchFamily="18" charset="0"/>
              </a:rPr>
              <a:t>C</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rPr>
              <a:t>2</a:t>
            </a:r>
            <a:r>
              <a:rPr lang="zh-CN" altLang="en-US" sz="1800" kern="100" dirty="0">
                <a:effectLst/>
                <a:latin typeface="宋体" panose="02010600030101010101" pitchFamily="2" charset="-122"/>
                <a:ea typeface="宋体" panose="02010600030101010101" pitchFamily="2" charset="-122"/>
              </a:rPr>
              <a:t>个中断源</a:t>
            </a:r>
            <a:r>
              <a:rPr lang="zh-CN" altLang="en-US" sz="1800" kern="100" dirty="0">
                <a:effectLst/>
                <a:latin typeface="Times New Roman" panose="02020603050405020304" pitchFamily="18" charset="0"/>
              </a:rPr>
              <a:t>    </a:t>
            </a:r>
            <a:r>
              <a:rPr lang="zh-CN" altLang="en-US" sz="1800" kern="100" dirty="0">
                <a:effectLst/>
                <a:latin typeface="宋体" panose="02010600030101010101" pitchFamily="2" charset="-122"/>
                <a:ea typeface="宋体" panose="02010600030101010101" pitchFamily="2" charset="-122"/>
              </a:rPr>
              <a:t> </a:t>
            </a:r>
            <a:r>
              <a:rPr lang="en-US" altLang="zh-CN" sz="1800" kern="100" dirty="0">
                <a:effectLst/>
                <a:latin typeface="Times New Roman" panose="02020603050405020304" pitchFamily="18" charset="0"/>
              </a:rPr>
              <a:t>D</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rPr>
              <a:t>3</a:t>
            </a:r>
            <a:r>
              <a:rPr lang="zh-CN" altLang="en-US" sz="1800" kern="100" dirty="0">
                <a:effectLst/>
                <a:latin typeface="宋体" panose="02010600030101010101" pitchFamily="2" charset="-122"/>
                <a:ea typeface="宋体" panose="02010600030101010101" pitchFamily="2" charset="-122"/>
              </a:rPr>
              <a:t>个中断源</a:t>
            </a:r>
            <a:endParaRPr lang="zh-CN" altLang="en-US" sz="1400" kern="100" dirty="0">
              <a:effectLst/>
              <a:latin typeface="Times New Roman" panose="02020603050405020304" pitchFamily="18" charset="0"/>
            </a:endParaRPr>
          </a:p>
          <a:p>
            <a:pPr marL="0" marR="0" algn="just">
              <a:lnSpc>
                <a:spcPct val="150000"/>
              </a:lnSpc>
              <a:buNone/>
            </a:pPr>
            <a:r>
              <a:rPr lang="en-US" altLang="zh-CN" sz="1800" kern="100" dirty="0">
                <a:effectLst/>
                <a:latin typeface="Times New Roman" panose="02020603050405020304" pitchFamily="18" charset="0"/>
              </a:rPr>
              <a:t>8</a:t>
            </a:r>
            <a:r>
              <a:rPr lang="zh-CN" altLang="en-US" sz="1800" kern="100" dirty="0">
                <a:effectLst/>
                <a:latin typeface="宋体" panose="02010600030101010101" pitchFamily="2" charset="-122"/>
                <a:ea typeface="宋体" panose="02010600030101010101" pitchFamily="2" charset="-122"/>
              </a:rPr>
              <a:t>、单片机应用程序一般存放在（</a:t>
            </a:r>
            <a:r>
              <a:rPr lang="zh-CN" altLang="en-US" sz="1800" kern="100" dirty="0">
                <a:effectLst/>
                <a:latin typeface="Times New Roman" panose="02020603050405020304" pitchFamily="18" charset="0"/>
              </a:rPr>
              <a:t>   </a:t>
            </a:r>
            <a:r>
              <a:rPr lang="zh-CN" altLang="en-US" sz="1800" kern="100" dirty="0">
                <a:effectLst/>
                <a:latin typeface="宋体" panose="02010600030101010101" pitchFamily="2" charset="-122"/>
                <a:ea typeface="宋体" panose="02010600030101010101" pitchFamily="2" charset="-122"/>
              </a:rPr>
              <a:t>）</a:t>
            </a:r>
            <a:r>
              <a:rPr lang="zh-CN" altLang="en-US" sz="1800" kern="100" dirty="0">
                <a:effectLst/>
                <a:latin typeface="Times New Roman" panose="02020603050405020304" pitchFamily="18" charset="0"/>
              </a:rPr>
              <a:t>   </a:t>
            </a:r>
            <a:endParaRPr lang="zh-CN" altLang="en-US" sz="1400" kern="100" dirty="0">
              <a:effectLst/>
              <a:latin typeface="Times New Roman" panose="02020603050405020304" pitchFamily="18" charset="0"/>
            </a:endParaRPr>
          </a:p>
          <a:p>
            <a:pPr marL="0" marR="0" algn="just">
              <a:lnSpc>
                <a:spcPct val="150000"/>
              </a:lnSpc>
              <a:buNone/>
            </a:pPr>
            <a:r>
              <a:rPr lang="zh-CN" altLang="en-US" sz="1800" kern="100" dirty="0">
                <a:effectLst/>
                <a:latin typeface="Times New Roman" panose="02020603050405020304" pitchFamily="18" charset="0"/>
              </a:rPr>
              <a:t>  </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A</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rPr>
              <a:t>RAM      </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rPr>
              <a:t>B</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rPr>
              <a:t>ROM   </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rPr>
              <a:t>C</a:t>
            </a:r>
            <a:r>
              <a:rPr lang="zh-CN" altLang="en-US" sz="1800" kern="100" dirty="0">
                <a:effectLst/>
                <a:latin typeface="宋体" panose="02010600030101010101" pitchFamily="2" charset="-122"/>
                <a:ea typeface="宋体" panose="02010600030101010101" pitchFamily="2" charset="-122"/>
              </a:rPr>
              <a:t>）寄存器</a:t>
            </a:r>
            <a:r>
              <a:rPr lang="zh-CN" altLang="en-US" sz="1800" kern="100" dirty="0">
                <a:effectLst/>
                <a:latin typeface="Times New Roman" panose="02020603050405020304" pitchFamily="18" charset="0"/>
              </a:rPr>
              <a:t>   </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rPr>
              <a:t>D</a:t>
            </a:r>
            <a:r>
              <a:rPr lang="zh-CN" altLang="en-US" sz="1800" kern="100" dirty="0">
                <a:effectLst/>
                <a:latin typeface="宋体" panose="02010600030101010101" pitchFamily="2" charset="-122"/>
                <a:ea typeface="宋体" panose="02010600030101010101" pitchFamily="2" charset="-122"/>
              </a:rPr>
              <a:t>）</a:t>
            </a:r>
            <a:r>
              <a:rPr lang="en-US" altLang="zh-CN" sz="1800" kern="100" dirty="0">
                <a:effectLst/>
                <a:latin typeface="Times New Roman" panose="02020603050405020304" pitchFamily="18" charset="0"/>
              </a:rPr>
              <a:t>CPU </a:t>
            </a:r>
          </a:p>
          <a:p>
            <a:pPr marL="0" marR="0" algn="just">
              <a:lnSpc>
                <a:spcPct val="150000"/>
              </a:lnSpc>
              <a:buNone/>
            </a:pPr>
            <a:endParaRPr lang="zh-CN" altLang="en-US" sz="1400" kern="100" dirty="0">
              <a:effectLst/>
              <a:latin typeface="Times New Roman" panose="02020603050405020304" pitchFamily="18" charset="0"/>
            </a:endParaRPr>
          </a:p>
        </p:txBody>
      </p:sp>
      <p:sp>
        <p:nvSpPr>
          <p:cNvPr id="7" name="文本框 6">
            <a:extLst>
              <a:ext uri="{FF2B5EF4-FFF2-40B4-BE49-F238E27FC236}">
                <a16:creationId xmlns:a16="http://schemas.microsoft.com/office/drawing/2014/main" id="{49A9994B-EA14-DEFF-8E3D-64045474A91E}"/>
              </a:ext>
            </a:extLst>
          </p:cNvPr>
          <p:cNvSpPr txBox="1"/>
          <p:nvPr/>
        </p:nvSpPr>
        <p:spPr>
          <a:xfrm>
            <a:off x="157396" y="2044005"/>
            <a:ext cx="8319542" cy="738664"/>
          </a:xfrm>
          <a:prstGeom prst="rect">
            <a:avLst/>
          </a:prstGeom>
          <a:noFill/>
        </p:spPr>
        <p:txBody>
          <a:bodyPr wrap="square">
            <a:spAutoFit/>
          </a:bodyPr>
          <a:lstStyle/>
          <a:p>
            <a:pPr marL="0" marR="0" algn="just">
              <a:buNone/>
            </a:pPr>
            <a:r>
              <a:rPr lang="zh-CN" altLang="en-US" sz="2400" b="1" kern="100" dirty="0">
                <a:effectLst/>
                <a:latin typeface="宋体" panose="02010600030101010101" pitchFamily="2" charset="-122"/>
                <a:ea typeface="宋体" panose="02010600030101010101" pitchFamily="2" charset="-122"/>
              </a:rPr>
              <a:t>二、简答题（每小题</a:t>
            </a:r>
            <a:r>
              <a:rPr lang="en-US" altLang="zh-CN" sz="2400" b="1" kern="100" dirty="0">
                <a:effectLst/>
                <a:latin typeface="Times New Roman" panose="02020603050405020304" pitchFamily="18" charset="0"/>
              </a:rPr>
              <a:t>5</a:t>
            </a:r>
            <a:r>
              <a:rPr lang="zh-CN" altLang="en-US" sz="2400" b="1" kern="100" dirty="0">
                <a:effectLst/>
                <a:latin typeface="宋体" panose="02010600030101010101" pitchFamily="2" charset="-122"/>
                <a:ea typeface="宋体" panose="02010600030101010101" pitchFamily="2" charset="-122"/>
              </a:rPr>
              <a:t>分，共</a:t>
            </a:r>
            <a:r>
              <a:rPr lang="en-US" altLang="zh-CN" sz="2400" b="1" kern="100" dirty="0">
                <a:effectLst/>
                <a:latin typeface="Times New Roman" panose="02020603050405020304" pitchFamily="18" charset="0"/>
              </a:rPr>
              <a:t>30</a:t>
            </a:r>
            <a:r>
              <a:rPr lang="zh-CN" altLang="en-US" sz="2400" b="1" kern="100" dirty="0">
                <a:effectLst/>
                <a:latin typeface="宋体" panose="02010600030101010101" pitchFamily="2" charset="-122"/>
                <a:ea typeface="宋体" panose="02010600030101010101" pitchFamily="2" charset="-122"/>
              </a:rPr>
              <a:t>分）</a:t>
            </a:r>
            <a:endParaRPr lang="zh-CN" altLang="en-US" sz="1800" kern="100" dirty="0">
              <a:effectLst/>
              <a:latin typeface="Times New Roman" panose="02020603050405020304" pitchFamily="18" charset="0"/>
            </a:endParaRPr>
          </a:p>
          <a:p>
            <a:pPr marL="0" marR="0" algn="just">
              <a:buNone/>
            </a:pPr>
            <a:r>
              <a:rPr lang="en-US" altLang="zh-CN" sz="1800" kern="100" dirty="0">
                <a:effectLst/>
                <a:latin typeface="Times New Roman" panose="02020603050405020304" pitchFamily="18" charset="0"/>
              </a:rPr>
              <a:t>1</a:t>
            </a:r>
            <a:r>
              <a:rPr lang="zh-CN" altLang="en-US" sz="1800" kern="100" dirty="0">
                <a:effectLst/>
                <a:latin typeface="宋体" panose="02010600030101010101" pitchFamily="2" charset="-122"/>
                <a:ea typeface="宋体" panose="02010600030101010101" pitchFamily="2" charset="-122"/>
              </a:rPr>
              <a:t>、存储器的作用是什么？只读存储器和随机存储器有什么不同？</a:t>
            </a:r>
            <a:endParaRPr lang="zh-CN" altLang="en-US" sz="1800" kern="100" dirty="0">
              <a:effectLst/>
              <a:latin typeface="Times New Roman" panose="02020603050405020304" pitchFamily="18" charset="0"/>
            </a:endParaRPr>
          </a:p>
        </p:txBody>
      </p:sp>
    </p:spTree>
    <p:extLst>
      <p:ext uri="{BB962C8B-B14F-4D97-AF65-F5344CB8AC3E}">
        <p14:creationId xmlns:p14="http://schemas.microsoft.com/office/powerpoint/2010/main" val="783295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文本框 1"/>
          <p:cNvSpPr txBox="1">
            <a:spLocks noChangeArrowheads="1"/>
          </p:cNvSpPr>
          <p:nvPr/>
        </p:nvSpPr>
        <p:spPr bwMode="auto">
          <a:xfrm>
            <a:off x="257175" y="736600"/>
            <a:ext cx="8636000" cy="581025"/>
          </a:xfrm>
          <a:prstGeom prst="rect">
            <a:avLst/>
          </a:prstGeom>
          <a:noFill/>
          <a:ln w="9525">
            <a:noFill/>
            <a:miter lim="800000"/>
          </a:ln>
        </p:spPr>
        <p:txBody>
          <a:bodyPr>
            <a:spAutoFit/>
          </a:bodyPr>
          <a:lstStyle/>
          <a:p>
            <a:pPr algn="just">
              <a:lnSpc>
                <a:spcPct val="150000"/>
              </a:lnSpc>
            </a:pPr>
            <a:r>
              <a:rPr lang="en-US" altLang="zh-CN" sz="2400" b="1" dirty="0">
                <a:solidFill>
                  <a:srgbClr val="000000"/>
                </a:solidFill>
                <a:latin typeface="微软雅黑" panose="020B0503020204020204" pitchFamily="34" charset="-122"/>
                <a:ea typeface="微软雅黑" panose="020B0503020204020204" pitchFamily="34" charset="-122"/>
              </a:rPr>
              <a:t>2.1.1 MCS-51</a:t>
            </a:r>
            <a:r>
              <a:rPr lang="zh-CN" altLang="en-US" sz="2400" b="1" dirty="0">
                <a:solidFill>
                  <a:srgbClr val="000000"/>
                </a:solidFill>
                <a:latin typeface="微软雅黑" panose="020B0503020204020204" pitchFamily="34" charset="-122"/>
                <a:ea typeface="微软雅黑" panose="020B0503020204020204" pitchFamily="34" charset="-122"/>
              </a:rPr>
              <a:t>单片机总体框图及功能</a:t>
            </a:r>
            <a:r>
              <a:rPr lang="en-US" altLang="zh-CN" sz="2400" b="1" dirty="0">
                <a:solidFill>
                  <a:srgbClr val="000000"/>
                </a:solidFill>
                <a:latin typeface="微软雅黑" panose="020B0503020204020204" pitchFamily="34" charset="-122"/>
                <a:ea typeface="微软雅黑" panose="020B0503020204020204" pitchFamily="34" charset="-122"/>
              </a:rPr>
              <a:t>(</a:t>
            </a:r>
            <a:r>
              <a:rPr lang="zh-CN" altLang="en-US" sz="2400" b="1" dirty="0">
                <a:solidFill>
                  <a:srgbClr val="0000FF"/>
                </a:solidFill>
                <a:latin typeface="微软雅黑" panose="020B0503020204020204" pitchFamily="34" charset="-122"/>
                <a:ea typeface="微软雅黑" panose="020B0503020204020204" pitchFamily="34" charset="-122"/>
              </a:rPr>
              <a:t>小结</a:t>
            </a:r>
            <a:r>
              <a:rPr lang="en-US" altLang="zh-CN" sz="2400" b="1" dirty="0">
                <a:solidFill>
                  <a:srgbClr val="000000"/>
                </a:solidFill>
                <a:latin typeface="微软雅黑" panose="020B0503020204020204" pitchFamily="34" charset="-122"/>
                <a:ea typeface="微软雅黑" panose="020B0503020204020204" pitchFamily="34" charset="-122"/>
              </a:rPr>
              <a:t>)</a:t>
            </a:r>
          </a:p>
        </p:txBody>
      </p:sp>
      <p:sp>
        <p:nvSpPr>
          <p:cNvPr id="43010"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sp>
        <p:nvSpPr>
          <p:cNvPr id="43011" name="矩形 4"/>
          <p:cNvSpPr>
            <a:spLocks noChangeArrowheads="1"/>
          </p:cNvSpPr>
          <p:nvPr/>
        </p:nvSpPr>
        <p:spPr bwMode="auto">
          <a:xfrm>
            <a:off x="2616200" y="6237288"/>
            <a:ext cx="3948113" cy="431800"/>
          </a:xfrm>
          <a:prstGeom prst="rect">
            <a:avLst/>
          </a:prstGeom>
          <a:noFill/>
          <a:ln w="9525">
            <a:noFill/>
            <a:miter lim="800000"/>
          </a:ln>
        </p:spPr>
        <p:txBody>
          <a:bodyPr wrap="none">
            <a:spAutoFit/>
          </a:bodyPr>
          <a:lstStyle/>
          <a:p>
            <a:pPr algn="ctr"/>
            <a:r>
              <a:rPr lang="en-US" altLang="zh-CN" sz="2200">
                <a:latin typeface="微软雅黑" panose="020B0503020204020204" pitchFamily="34" charset="-122"/>
                <a:ea typeface="微软雅黑" panose="020B0503020204020204" pitchFamily="34" charset="-122"/>
              </a:rPr>
              <a:t>8051</a:t>
            </a:r>
            <a:r>
              <a:rPr lang="zh-CN" altLang="en-US" sz="2200">
                <a:latin typeface="微软雅黑" panose="020B0503020204020204" pitchFamily="34" charset="-122"/>
                <a:ea typeface="微软雅黑" panose="020B0503020204020204" pitchFamily="34" charset="-122"/>
              </a:rPr>
              <a:t>单片机内部基本结构框图</a:t>
            </a:r>
          </a:p>
        </p:txBody>
      </p:sp>
      <p:pic>
        <p:nvPicPr>
          <p:cNvPr id="43012" name="图片 6"/>
          <p:cNvPicPr>
            <a:picLocks noChangeAspect="1"/>
          </p:cNvPicPr>
          <p:nvPr/>
        </p:nvPicPr>
        <p:blipFill>
          <a:blip r:embed="rId3"/>
          <a:srcRect/>
          <a:stretch>
            <a:fillRect/>
          </a:stretch>
        </p:blipFill>
        <p:spPr bwMode="auto">
          <a:xfrm>
            <a:off x="1127125" y="1374775"/>
            <a:ext cx="6886575" cy="4862513"/>
          </a:xfrm>
          <a:prstGeom prst="rect">
            <a:avLst/>
          </a:prstGeom>
          <a:noFill/>
          <a:ln w="9525">
            <a:noFill/>
            <a:miter lim="800000"/>
            <a:headEnd/>
            <a:tailEnd/>
          </a:ln>
        </p:spPr>
      </p:pic>
      <p:pic>
        <p:nvPicPr>
          <p:cNvPr id="43013" name="图片 7"/>
          <p:cNvPicPr>
            <a:picLocks noChangeAspect="1"/>
          </p:cNvPicPr>
          <p:nvPr/>
        </p:nvPicPr>
        <p:blipFill>
          <a:blip r:embed="rId4"/>
          <a:srcRect/>
          <a:stretch>
            <a:fillRect/>
          </a:stretch>
        </p:blipFill>
        <p:spPr bwMode="auto">
          <a:xfrm>
            <a:off x="7018338" y="80963"/>
            <a:ext cx="1876425" cy="539750"/>
          </a:xfrm>
          <a:prstGeom prst="rect">
            <a:avLst/>
          </a:prstGeom>
          <a:noFill/>
          <a:ln w="9525">
            <a:noFill/>
            <a:miter lim="800000"/>
            <a:headEnd/>
            <a:tailEnd/>
          </a:ln>
        </p:spPr>
      </p:pic>
      <p:pic>
        <p:nvPicPr>
          <p:cNvPr id="43014" name="图片 8"/>
          <p:cNvPicPr>
            <a:picLocks noChangeAspect="1"/>
          </p:cNvPicPr>
          <p:nvPr/>
        </p:nvPicPr>
        <p:blipFill>
          <a:blip r:embed="rId5"/>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29" name="Group 9"/>
          <p:cNvGrpSpPr/>
          <p:nvPr/>
        </p:nvGrpSpPr>
        <p:grpSpPr bwMode="auto">
          <a:xfrm>
            <a:off x="831850" y="1231900"/>
            <a:ext cx="7454607" cy="5077439"/>
            <a:chOff x="0" y="0"/>
            <a:chExt cx="4023" cy="3232"/>
          </a:xfrm>
        </p:grpSpPr>
        <p:pic>
          <p:nvPicPr>
            <p:cNvPr id="22536" name="Picture 3" descr="tu2"/>
            <p:cNvPicPr>
              <a:picLocks noChangeAspect="1" noChangeArrowheads="1"/>
            </p:cNvPicPr>
            <p:nvPr/>
          </p:nvPicPr>
          <p:blipFill>
            <a:blip r:embed="rId3">
              <a:lum bright="-30000" contrast="54000"/>
            </a:blip>
            <a:srcRect/>
            <a:stretch>
              <a:fillRect/>
            </a:stretch>
          </p:blipFill>
          <p:spPr bwMode="auto">
            <a:xfrm>
              <a:off x="0" y="0"/>
              <a:ext cx="3933" cy="3041"/>
            </a:xfrm>
            <a:prstGeom prst="rect">
              <a:avLst/>
            </a:prstGeom>
            <a:noFill/>
            <a:ln w="9525">
              <a:noFill/>
              <a:miter lim="800000"/>
              <a:headEnd/>
              <a:tailEnd/>
            </a:ln>
          </p:spPr>
        </p:pic>
        <p:sp>
          <p:nvSpPr>
            <p:cNvPr id="22537" name="Rectangle 4"/>
            <p:cNvSpPr>
              <a:spLocks noChangeArrowheads="1"/>
            </p:cNvSpPr>
            <p:nvPr/>
          </p:nvSpPr>
          <p:spPr bwMode="auto">
            <a:xfrm>
              <a:off x="511" y="1644"/>
              <a:ext cx="623" cy="1014"/>
            </a:xfrm>
            <a:prstGeom prst="rect">
              <a:avLst/>
            </a:prstGeom>
            <a:noFill/>
            <a:ln w="38100">
              <a:solidFill>
                <a:srgbClr val="0000FF"/>
              </a:solidFill>
              <a:prstDash val="dash"/>
              <a:miter lim="800000"/>
            </a:ln>
          </p:spPr>
          <p:txBody>
            <a:bodyPr wrap="none" anchor="ctr"/>
            <a:lstStyle/>
            <a:p>
              <a:endParaRPr lang="zh-CN" altLang="zh-CN" sz="2400">
                <a:latin typeface="Times New Roman" panose="02020603050405020304" pitchFamily="18" charset="0"/>
              </a:endParaRPr>
            </a:p>
          </p:txBody>
        </p:sp>
        <p:sp>
          <p:nvSpPr>
            <p:cNvPr id="22538" name="Rectangle 5"/>
            <p:cNvSpPr>
              <a:spLocks noChangeArrowheads="1"/>
            </p:cNvSpPr>
            <p:nvPr/>
          </p:nvSpPr>
          <p:spPr bwMode="auto">
            <a:xfrm>
              <a:off x="2920" y="1219"/>
              <a:ext cx="652" cy="1020"/>
            </a:xfrm>
            <a:prstGeom prst="rect">
              <a:avLst/>
            </a:prstGeom>
            <a:noFill/>
            <a:ln w="38100">
              <a:solidFill>
                <a:srgbClr val="0000FF"/>
              </a:solidFill>
              <a:prstDash val="dash"/>
              <a:miter lim="800000"/>
            </a:ln>
          </p:spPr>
          <p:txBody>
            <a:bodyPr wrap="none" anchor="ctr"/>
            <a:lstStyle/>
            <a:p>
              <a:endParaRPr lang="zh-CN" altLang="zh-CN" sz="2400">
                <a:latin typeface="Times New Roman" panose="02020603050405020304" pitchFamily="18" charset="0"/>
              </a:endParaRPr>
            </a:p>
          </p:txBody>
        </p:sp>
        <p:sp>
          <p:nvSpPr>
            <p:cNvPr id="22539" name="Line 6"/>
            <p:cNvSpPr>
              <a:spLocks noChangeShapeType="1"/>
            </p:cNvSpPr>
            <p:nvPr/>
          </p:nvSpPr>
          <p:spPr bwMode="auto">
            <a:xfrm>
              <a:off x="530" y="1162"/>
              <a:ext cx="1824" cy="0"/>
            </a:xfrm>
            <a:prstGeom prst="line">
              <a:avLst/>
            </a:prstGeom>
            <a:noFill/>
            <a:ln w="38100">
              <a:solidFill>
                <a:srgbClr val="FF0000"/>
              </a:solidFill>
              <a:prstDash val="dash"/>
              <a:round/>
            </a:ln>
          </p:spPr>
          <p:txBody>
            <a:bodyPr/>
            <a:lstStyle/>
            <a:p>
              <a:endParaRPr lang="zh-CN" altLang="en-US"/>
            </a:p>
          </p:txBody>
        </p:sp>
        <p:sp>
          <p:nvSpPr>
            <p:cNvPr id="22540" name="Line 7"/>
            <p:cNvSpPr>
              <a:spLocks noChangeShapeType="1"/>
            </p:cNvSpPr>
            <p:nvPr/>
          </p:nvSpPr>
          <p:spPr bwMode="auto">
            <a:xfrm>
              <a:off x="530" y="1190"/>
              <a:ext cx="0" cy="284"/>
            </a:xfrm>
            <a:prstGeom prst="line">
              <a:avLst/>
            </a:prstGeom>
            <a:noFill/>
            <a:ln w="38100">
              <a:solidFill>
                <a:srgbClr val="FF0000"/>
              </a:solidFill>
              <a:prstDash val="dash"/>
              <a:round/>
            </a:ln>
          </p:spPr>
          <p:txBody>
            <a:bodyPr/>
            <a:lstStyle/>
            <a:p>
              <a:endParaRPr lang="zh-CN" altLang="en-US"/>
            </a:p>
          </p:txBody>
        </p:sp>
        <p:sp>
          <p:nvSpPr>
            <p:cNvPr id="22541" name="Line 8"/>
            <p:cNvSpPr>
              <a:spLocks noChangeShapeType="1"/>
            </p:cNvSpPr>
            <p:nvPr/>
          </p:nvSpPr>
          <p:spPr bwMode="auto">
            <a:xfrm>
              <a:off x="562" y="1446"/>
              <a:ext cx="628" cy="0"/>
            </a:xfrm>
            <a:prstGeom prst="line">
              <a:avLst/>
            </a:prstGeom>
            <a:noFill/>
            <a:ln w="38100">
              <a:solidFill>
                <a:srgbClr val="FF0000"/>
              </a:solidFill>
              <a:prstDash val="dash"/>
              <a:round/>
            </a:ln>
          </p:spPr>
          <p:txBody>
            <a:bodyPr/>
            <a:lstStyle/>
            <a:p>
              <a:endParaRPr lang="zh-CN" altLang="en-US"/>
            </a:p>
          </p:txBody>
        </p:sp>
        <p:sp>
          <p:nvSpPr>
            <p:cNvPr id="22542" name="Line 9"/>
            <p:cNvSpPr>
              <a:spLocks noChangeShapeType="1"/>
            </p:cNvSpPr>
            <p:nvPr/>
          </p:nvSpPr>
          <p:spPr bwMode="auto">
            <a:xfrm>
              <a:off x="1190" y="1474"/>
              <a:ext cx="0" cy="473"/>
            </a:xfrm>
            <a:prstGeom prst="line">
              <a:avLst/>
            </a:prstGeom>
            <a:noFill/>
            <a:ln w="38100">
              <a:solidFill>
                <a:srgbClr val="FF0000"/>
              </a:solidFill>
              <a:prstDash val="dash"/>
              <a:round/>
            </a:ln>
          </p:spPr>
          <p:txBody>
            <a:bodyPr/>
            <a:lstStyle/>
            <a:p>
              <a:endParaRPr lang="zh-CN" altLang="en-US"/>
            </a:p>
          </p:txBody>
        </p:sp>
        <p:sp>
          <p:nvSpPr>
            <p:cNvPr id="22543" name="Line 10"/>
            <p:cNvSpPr>
              <a:spLocks noChangeShapeType="1"/>
            </p:cNvSpPr>
            <p:nvPr/>
          </p:nvSpPr>
          <p:spPr bwMode="auto">
            <a:xfrm>
              <a:off x="1190" y="1956"/>
              <a:ext cx="482" cy="0"/>
            </a:xfrm>
            <a:prstGeom prst="line">
              <a:avLst/>
            </a:prstGeom>
            <a:noFill/>
            <a:ln w="38100">
              <a:solidFill>
                <a:srgbClr val="FF0000"/>
              </a:solidFill>
              <a:prstDash val="dash"/>
              <a:round/>
            </a:ln>
          </p:spPr>
          <p:txBody>
            <a:bodyPr/>
            <a:lstStyle/>
            <a:p>
              <a:endParaRPr lang="zh-CN" altLang="en-US"/>
            </a:p>
          </p:txBody>
        </p:sp>
        <p:sp>
          <p:nvSpPr>
            <p:cNvPr id="22544" name="Line 11"/>
            <p:cNvSpPr>
              <a:spLocks noChangeShapeType="1"/>
            </p:cNvSpPr>
            <p:nvPr/>
          </p:nvSpPr>
          <p:spPr bwMode="auto">
            <a:xfrm flipV="1">
              <a:off x="1672" y="1474"/>
              <a:ext cx="8" cy="482"/>
            </a:xfrm>
            <a:prstGeom prst="line">
              <a:avLst/>
            </a:prstGeom>
            <a:noFill/>
            <a:ln w="38100">
              <a:solidFill>
                <a:srgbClr val="FF0000"/>
              </a:solidFill>
              <a:prstDash val="dash"/>
              <a:round/>
            </a:ln>
          </p:spPr>
          <p:txBody>
            <a:bodyPr/>
            <a:lstStyle/>
            <a:p>
              <a:endParaRPr lang="zh-CN" altLang="en-US"/>
            </a:p>
          </p:txBody>
        </p:sp>
        <p:sp>
          <p:nvSpPr>
            <p:cNvPr id="22545" name="Line 12"/>
            <p:cNvSpPr>
              <a:spLocks noChangeShapeType="1"/>
            </p:cNvSpPr>
            <p:nvPr/>
          </p:nvSpPr>
          <p:spPr bwMode="auto">
            <a:xfrm>
              <a:off x="1682" y="1488"/>
              <a:ext cx="652" cy="0"/>
            </a:xfrm>
            <a:prstGeom prst="line">
              <a:avLst/>
            </a:prstGeom>
            <a:noFill/>
            <a:ln w="38100">
              <a:solidFill>
                <a:srgbClr val="FF0000"/>
              </a:solidFill>
              <a:prstDash val="dash"/>
              <a:round/>
            </a:ln>
          </p:spPr>
          <p:txBody>
            <a:bodyPr/>
            <a:lstStyle/>
            <a:p>
              <a:endParaRPr lang="zh-CN" altLang="en-US"/>
            </a:p>
          </p:txBody>
        </p:sp>
        <p:sp>
          <p:nvSpPr>
            <p:cNvPr id="22546" name="Line 13"/>
            <p:cNvSpPr>
              <a:spLocks noChangeShapeType="1"/>
            </p:cNvSpPr>
            <p:nvPr/>
          </p:nvSpPr>
          <p:spPr bwMode="auto">
            <a:xfrm flipV="1">
              <a:off x="2325" y="1190"/>
              <a:ext cx="0" cy="303"/>
            </a:xfrm>
            <a:prstGeom prst="line">
              <a:avLst/>
            </a:prstGeom>
            <a:noFill/>
            <a:ln w="38100">
              <a:solidFill>
                <a:srgbClr val="FF0000"/>
              </a:solidFill>
              <a:prstDash val="dash"/>
              <a:round/>
            </a:ln>
          </p:spPr>
          <p:txBody>
            <a:bodyPr/>
            <a:lstStyle/>
            <a:p>
              <a:endParaRPr lang="zh-CN" altLang="en-US"/>
            </a:p>
          </p:txBody>
        </p:sp>
        <p:sp>
          <p:nvSpPr>
            <p:cNvPr id="22547" name="Line 14"/>
            <p:cNvSpPr>
              <a:spLocks noChangeShapeType="1"/>
            </p:cNvSpPr>
            <p:nvPr/>
          </p:nvSpPr>
          <p:spPr bwMode="auto">
            <a:xfrm flipV="1">
              <a:off x="2303" y="608"/>
              <a:ext cx="1190" cy="510"/>
            </a:xfrm>
            <a:prstGeom prst="line">
              <a:avLst/>
            </a:prstGeom>
            <a:noFill/>
            <a:ln w="19050">
              <a:solidFill>
                <a:srgbClr val="FF0000"/>
              </a:solidFill>
              <a:round/>
            </a:ln>
          </p:spPr>
          <p:txBody>
            <a:bodyPr/>
            <a:lstStyle/>
            <a:p>
              <a:endParaRPr lang="zh-CN" altLang="en-US"/>
            </a:p>
          </p:txBody>
        </p:sp>
        <p:sp>
          <p:nvSpPr>
            <p:cNvPr id="22548" name="Line 15"/>
            <p:cNvSpPr>
              <a:spLocks noChangeShapeType="1"/>
            </p:cNvSpPr>
            <p:nvPr/>
          </p:nvSpPr>
          <p:spPr bwMode="auto">
            <a:xfrm>
              <a:off x="1134" y="2374"/>
              <a:ext cx="1304" cy="624"/>
            </a:xfrm>
            <a:prstGeom prst="line">
              <a:avLst/>
            </a:prstGeom>
            <a:noFill/>
            <a:ln w="9525">
              <a:solidFill>
                <a:srgbClr val="0000FF"/>
              </a:solidFill>
              <a:round/>
            </a:ln>
          </p:spPr>
          <p:txBody>
            <a:bodyPr/>
            <a:lstStyle/>
            <a:p>
              <a:endParaRPr lang="zh-CN" altLang="en-US"/>
            </a:p>
          </p:txBody>
        </p:sp>
        <p:sp>
          <p:nvSpPr>
            <p:cNvPr id="22549" name="Line 16"/>
            <p:cNvSpPr>
              <a:spLocks noChangeShapeType="1"/>
            </p:cNvSpPr>
            <p:nvPr/>
          </p:nvSpPr>
          <p:spPr bwMode="auto">
            <a:xfrm flipH="1">
              <a:off x="2466" y="2238"/>
              <a:ext cx="1106" cy="760"/>
            </a:xfrm>
            <a:prstGeom prst="line">
              <a:avLst/>
            </a:prstGeom>
            <a:noFill/>
            <a:ln w="9525">
              <a:solidFill>
                <a:srgbClr val="0000FF"/>
              </a:solidFill>
              <a:round/>
            </a:ln>
          </p:spPr>
          <p:txBody>
            <a:bodyPr/>
            <a:lstStyle/>
            <a:p>
              <a:endParaRPr lang="zh-CN" altLang="en-US"/>
            </a:p>
          </p:txBody>
        </p:sp>
        <p:sp>
          <p:nvSpPr>
            <p:cNvPr id="22550" name="Text Box 17"/>
            <p:cNvSpPr txBox="1">
              <a:spLocks noChangeArrowheads="1"/>
            </p:cNvSpPr>
            <p:nvPr/>
          </p:nvSpPr>
          <p:spPr bwMode="auto">
            <a:xfrm>
              <a:off x="2204" y="2977"/>
              <a:ext cx="553" cy="255"/>
            </a:xfrm>
            <a:prstGeom prst="rect">
              <a:avLst/>
            </a:prstGeom>
            <a:noFill/>
            <a:ln w="9525">
              <a:noFill/>
              <a:miter lim="800000"/>
            </a:ln>
          </p:spPr>
          <p:txBody>
            <a:bodyPr wrap="square">
              <a:spAutoFit/>
            </a:bodyPr>
            <a:lstStyle/>
            <a:p>
              <a:pPr>
                <a:spcBef>
                  <a:spcPct val="50000"/>
                </a:spcBef>
              </a:pPr>
              <a:r>
                <a:rPr lang="zh-CN" altLang="en-US" sz="2000" b="1" dirty="0">
                  <a:solidFill>
                    <a:srgbClr val="0000CC"/>
                  </a:solidFill>
                  <a:latin typeface="微软雅黑" panose="020B0503020204020204" pitchFamily="34" charset="-122"/>
                  <a:ea typeface="微软雅黑" panose="020B0503020204020204" pitchFamily="34" charset="-122"/>
                </a:rPr>
                <a:t>控制器</a:t>
              </a:r>
            </a:p>
          </p:txBody>
        </p:sp>
        <p:sp>
          <p:nvSpPr>
            <p:cNvPr id="22551" name="Text Box 18"/>
            <p:cNvSpPr txBox="1">
              <a:spLocks noChangeArrowheads="1"/>
            </p:cNvSpPr>
            <p:nvPr/>
          </p:nvSpPr>
          <p:spPr bwMode="auto">
            <a:xfrm>
              <a:off x="3493" y="475"/>
              <a:ext cx="530" cy="255"/>
            </a:xfrm>
            <a:prstGeom prst="rect">
              <a:avLst/>
            </a:prstGeom>
            <a:noFill/>
            <a:ln w="9525">
              <a:noFill/>
              <a:miter lim="800000"/>
            </a:ln>
          </p:spPr>
          <p:txBody>
            <a:bodyPr wrap="square">
              <a:spAutoFit/>
            </a:bodyPr>
            <a:lstStyle/>
            <a:p>
              <a:pPr>
                <a:spcBef>
                  <a:spcPct val="50000"/>
                </a:spcBef>
              </a:pPr>
              <a:r>
                <a:rPr lang="zh-CN" altLang="en-US" sz="2000" b="1" dirty="0">
                  <a:solidFill>
                    <a:srgbClr val="FF3300"/>
                  </a:solidFill>
                  <a:latin typeface="微软雅黑" panose="020B0503020204020204" pitchFamily="34" charset="-122"/>
                  <a:ea typeface="微软雅黑" panose="020B0503020204020204" pitchFamily="34" charset="-122"/>
                </a:rPr>
                <a:t>运算器</a:t>
              </a:r>
            </a:p>
          </p:txBody>
        </p:sp>
      </p:grpSp>
      <p:sp>
        <p:nvSpPr>
          <p:cNvPr id="22530" name="文本框 1"/>
          <p:cNvSpPr txBox="1">
            <a:spLocks noChangeArrowheads="1"/>
          </p:cNvSpPr>
          <p:nvPr/>
        </p:nvSpPr>
        <p:spPr bwMode="auto">
          <a:xfrm>
            <a:off x="257175" y="736600"/>
            <a:ext cx="8636000" cy="581057"/>
          </a:xfrm>
          <a:prstGeom prst="rect">
            <a:avLst/>
          </a:prstGeom>
          <a:noFill/>
          <a:ln w="9525">
            <a:noFill/>
            <a:miter lim="800000"/>
          </a:ln>
        </p:spPr>
        <p:txBody>
          <a:bodyPr>
            <a:spAutoFit/>
          </a:bodyPr>
          <a:lstStyle/>
          <a:p>
            <a:pPr algn="just">
              <a:lnSpc>
                <a:spcPct val="150000"/>
              </a:lnSpc>
            </a:pPr>
            <a:r>
              <a:rPr lang="en-US" altLang="zh-CN" sz="2400" b="1" dirty="0">
                <a:solidFill>
                  <a:srgbClr val="000000"/>
                </a:solidFill>
                <a:latin typeface="微软雅黑" panose="020B0503020204020204" pitchFamily="34" charset="-122"/>
                <a:ea typeface="微软雅黑" panose="020B0503020204020204" pitchFamily="34" charset="-122"/>
              </a:rPr>
              <a:t>2.1.1 MCS-51</a:t>
            </a:r>
            <a:r>
              <a:rPr lang="zh-CN" altLang="en-US" sz="2400" b="1" dirty="0">
                <a:solidFill>
                  <a:srgbClr val="000000"/>
                </a:solidFill>
                <a:latin typeface="微软雅黑" panose="020B0503020204020204" pitchFamily="34" charset="-122"/>
                <a:ea typeface="微软雅黑" panose="020B0503020204020204" pitchFamily="34" charset="-122"/>
              </a:rPr>
              <a:t>单片机总体框图及功能</a:t>
            </a:r>
            <a:r>
              <a:rPr lang="en-US" altLang="zh-CN" sz="2400" b="1" dirty="0">
                <a:solidFill>
                  <a:srgbClr val="000000"/>
                </a:solidFill>
                <a:latin typeface="微软雅黑" panose="020B0503020204020204" pitchFamily="34" charset="-122"/>
                <a:ea typeface="微软雅黑" panose="020B0503020204020204" pitchFamily="34" charset="-122"/>
              </a:rPr>
              <a:t>(</a:t>
            </a:r>
            <a:r>
              <a:rPr lang="zh-CN" altLang="en-US" sz="2400" b="1" dirty="0">
                <a:solidFill>
                  <a:srgbClr val="0000FF"/>
                </a:solidFill>
                <a:latin typeface="微软雅黑" panose="020B0503020204020204" pitchFamily="34" charset="-122"/>
                <a:ea typeface="微软雅黑" panose="020B0503020204020204" pitchFamily="34" charset="-122"/>
              </a:rPr>
              <a:t>小结</a:t>
            </a:r>
            <a:r>
              <a:rPr lang="en-US" altLang="zh-CN" sz="2400" b="1" dirty="0">
                <a:solidFill>
                  <a:srgbClr val="000000"/>
                </a:solidFill>
                <a:latin typeface="微软雅黑" panose="020B0503020204020204" pitchFamily="34" charset="-122"/>
                <a:ea typeface="微软雅黑" panose="020B0503020204020204" pitchFamily="34" charset="-122"/>
              </a:rPr>
              <a:t>)</a:t>
            </a:r>
          </a:p>
        </p:txBody>
      </p:sp>
      <p:sp>
        <p:nvSpPr>
          <p:cNvPr id="22531"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sp>
        <p:nvSpPr>
          <p:cNvPr id="22532" name="矩形 22"/>
          <p:cNvSpPr>
            <a:spLocks noChangeArrowheads="1"/>
          </p:cNvSpPr>
          <p:nvPr/>
        </p:nvSpPr>
        <p:spPr bwMode="auto">
          <a:xfrm>
            <a:off x="2616200" y="6237288"/>
            <a:ext cx="3948113" cy="431800"/>
          </a:xfrm>
          <a:prstGeom prst="rect">
            <a:avLst/>
          </a:prstGeom>
          <a:noFill/>
          <a:ln w="9525">
            <a:noFill/>
            <a:miter lim="800000"/>
          </a:ln>
        </p:spPr>
        <p:txBody>
          <a:bodyPr wrap="none">
            <a:spAutoFit/>
          </a:bodyPr>
          <a:lstStyle/>
          <a:p>
            <a:pPr algn="ctr"/>
            <a:r>
              <a:rPr lang="en-US" altLang="zh-CN" sz="2200">
                <a:latin typeface="微软雅黑" panose="020B0503020204020204" pitchFamily="34" charset="-122"/>
                <a:ea typeface="微软雅黑" panose="020B0503020204020204" pitchFamily="34" charset="-122"/>
              </a:rPr>
              <a:t>8051</a:t>
            </a:r>
            <a:r>
              <a:rPr lang="zh-CN" altLang="en-US" sz="2200">
                <a:latin typeface="微软雅黑" panose="020B0503020204020204" pitchFamily="34" charset="-122"/>
                <a:ea typeface="微软雅黑" panose="020B0503020204020204" pitchFamily="34" charset="-122"/>
              </a:rPr>
              <a:t>单片机系统结构原理框图</a:t>
            </a:r>
          </a:p>
        </p:txBody>
      </p:sp>
      <p:pic>
        <p:nvPicPr>
          <p:cNvPr id="22533" name="图片 23"/>
          <p:cNvPicPr>
            <a:picLocks noChangeAspect="1"/>
          </p:cNvPicPr>
          <p:nvPr/>
        </p:nvPicPr>
        <p:blipFill>
          <a:blip r:embed="rId4"/>
          <a:srcRect/>
          <a:stretch>
            <a:fillRect/>
          </a:stretch>
        </p:blipFill>
        <p:spPr bwMode="auto">
          <a:xfrm>
            <a:off x="7018338" y="80963"/>
            <a:ext cx="1876425" cy="539750"/>
          </a:xfrm>
          <a:prstGeom prst="rect">
            <a:avLst/>
          </a:prstGeom>
          <a:noFill/>
          <a:ln w="9525">
            <a:noFill/>
            <a:miter lim="800000"/>
            <a:headEnd/>
            <a:tailEnd/>
          </a:ln>
        </p:spPr>
      </p:pic>
      <p:pic>
        <p:nvPicPr>
          <p:cNvPr id="22534" name="图片 24"/>
          <p:cNvPicPr>
            <a:picLocks noChangeAspect="1"/>
          </p:cNvPicPr>
          <p:nvPr/>
        </p:nvPicPr>
        <p:blipFill>
          <a:blip r:embed="rId5"/>
          <a:srcRect/>
          <a:stretch>
            <a:fillRect/>
          </a:stretch>
        </p:blipFill>
        <p:spPr bwMode="auto">
          <a:xfrm>
            <a:off x="254000" y="6419850"/>
            <a:ext cx="2495550" cy="360363"/>
          </a:xfrm>
          <a:prstGeom prst="rect">
            <a:avLst/>
          </a:prstGeom>
          <a:noFill/>
          <a:ln w="9525">
            <a:noFill/>
            <a:miter lim="800000"/>
            <a:headEnd/>
            <a:tailEnd/>
          </a:ln>
        </p:spPr>
      </p:pic>
      <p:sp>
        <p:nvSpPr>
          <p:cNvPr id="25" name="Rectangle 4"/>
          <p:cNvSpPr>
            <a:spLocks noChangeArrowheads="1"/>
          </p:cNvSpPr>
          <p:nvPr/>
        </p:nvSpPr>
        <p:spPr bwMode="auto">
          <a:xfrm>
            <a:off x="5420798" y="2913712"/>
            <a:ext cx="660594" cy="633827"/>
          </a:xfrm>
          <a:prstGeom prst="rect">
            <a:avLst/>
          </a:prstGeom>
          <a:noFill/>
          <a:ln w="38100">
            <a:solidFill>
              <a:srgbClr val="0000FF"/>
            </a:solidFill>
            <a:prstDash val="dash"/>
            <a:miter lim="800000"/>
          </a:ln>
        </p:spPr>
        <p:txBody>
          <a:bodyPr wrap="none" anchor="ctr"/>
          <a:lstStyle/>
          <a:p>
            <a:endParaRPr lang="zh-CN" altLang="zh-CN" sz="2400">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grpSp>
        <p:nvGrpSpPr>
          <p:cNvPr id="4" name="Group 150"/>
          <p:cNvGrpSpPr/>
          <p:nvPr/>
        </p:nvGrpSpPr>
        <p:grpSpPr bwMode="auto">
          <a:xfrm>
            <a:off x="327385" y="1297858"/>
            <a:ext cx="8482315" cy="5271217"/>
            <a:chOff x="288" y="436"/>
            <a:chExt cx="5280" cy="3326"/>
          </a:xfrm>
          <a:solidFill>
            <a:schemeClr val="bg1"/>
          </a:solidFill>
        </p:grpSpPr>
        <p:sp>
          <p:nvSpPr>
            <p:cNvPr id="5" name="Rectangle 23"/>
            <p:cNvSpPr>
              <a:spLocks noChangeArrowheads="1"/>
            </p:cNvSpPr>
            <p:nvPr/>
          </p:nvSpPr>
          <p:spPr bwMode="auto">
            <a:xfrm>
              <a:off x="2400" y="938"/>
              <a:ext cx="720" cy="230"/>
            </a:xfrm>
            <a:prstGeom prst="rect">
              <a:avLst/>
            </a:prstGeom>
            <a:solidFill>
              <a:schemeClr val="accent6">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有</a:t>
              </a:r>
              <a:r>
                <a:rPr lang="en-US" altLang="zh-CN" dirty="0">
                  <a:latin typeface="宋体" panose="02010600030101010101" pitchFamily="2" charset="-122"/>
                </a:rPr>
                <a:t>EPROM</a:t>
              </a:r>
            </a:p>
          </p:txBody>
        </p:sp>
        <p:sp>
          <p:nvSpPr>
            <p:cNvPr id="7" name="Rectangle 24"/>
            <p:cNvSpPr>
              <a:spLocks noChangeArrowheads="1"/>
            </p:cNvSpPr>
            <p:nvPr/>
          </p:nvSpPr>
          <p:spPr bwMode="auto">
            <a:xfrm>
              <a:off x="1632" y="938"/>
              <a:ext cx="768" cy="230"/>
            </a:xfrm>
            <a:prstGeom prst="rect">
              <a:avLst/>
            </a:prstGeom>
            <a:solidFill>
              <a:schemeClr val="accent6">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有</a:t>
              </a:r>
              <a:r>
                <a:rPr lang="en-US" altLang="zh-CN" dirty="0">
                  <a:latin typeface="宋体" panose="02010600030101010101" pitchFamily="2" charset="-122"/>
                </a:rPr>
                <a:t>ROM</a:t>
              </a:r>
            </a:p>
          </p:txBody>
        </p:sp>
        <p:sp>
          <p:nvSpPr>
            <p:cNvPr id="8" name="Rectangle 25"/>
            <p:cNvSpPr>
              <a:spLocks noChangeArrowheads="1"/>
            </p:cNvSpPr>
            <p:nvPr/>
          </p:nvSpPr>
          <p:spPr bwMode="auto">
            <a:xfrm>
              <a:off x="1008" y="938"/>
              <a:ext cx="624" cy="230"/>
            </a:xfrm>
            <a:prstGeom prst="rect">
              <a:avLst/>
            </a:prstGeom>
            <a:solidFill>
              <a:schemeClr val="accent6">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无</a:t>
              </a:r>
            </a:p>
          </p:txBody>
        </p:sp>
        <p:sp>
          <p:nvSpPr>
            <p:cNvPr id="9" name="Rectangle 26"/>
            <p:cNvSpPr>
              <a:spLocks noChangeArrowheads="1"/>
            </p:cNvSpPr>
            <p:nvPr/>
          </p:nvSpPr>
          <p:spPr bwMode="auto">
            <a:xfrm>
              <a:off x="5136" y="1168"/>
              <a:ext cx="432" cy="771"/>
            </a:xfrm>
            <a:prstGeom prst="rect">
              <a:avLst/>
            </a:prstGeom>
            <a:solidFill>
              <a:schemeClr val="accent2">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5</a:t>
              </a:r>
            </a:p>
          </p:txBody>
        </p:sp>
        <p:sp>
          <p:nvSpPr>
            <p:cNvPr id="10" name="Rectangle 27"/>
            <p:cNvSpPr>
              <a:spLocks noChangeArrowheads="1"/>
            </p:cNvSpPr>
            <p:nvPr/>
          </p:nvSpPr>
          <p:spPr bwMode="auto">
            <a:xfrm>
              <a:off x="4176" y="1168"/>
              <a:ext cx="528" cy="771"/>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4</a:t>
              </a:r>
              <a:r>
                <a:rPr lang="zh-CN" altLang="zh-CN" dirty="0">
                  <a:latin typeface="宋体" panose="02010600030101010101" pitchFamily="2" charset="-122"/>
                  <a:sym typeface="+mn-ea"/>
                </a:rPr>
                <a:t>×</a:t>
              </a:r>
              <a:r>
                <a:rPr lang="en-US" altLang="zh-CN">
                  <a:latin typeface="宋体" panose="02010600030101010101" pitchFamily="2" charset="-122"/>
                </a:rPr>
                <a:t>8</a:t>
              </a:r>
              <a:r>
                <a:rPr lang="zh-CN" altLang="en-US">
                  <a:latin typeface="宋体" panose="02010600030101010101" pitchFamily="2" charset="-122"/>
                </a:rPr>
                <a:t>位</a:t>
              </a:r>
            </a:p>
          </p:txBody>
        </p:sp>
        <p:sp>
          <p:nvSpPr>
            <p:cNvPr id="11" name="Rectangle 28"/>
            <p:cNvSpPr>
              <a:spLocks noChangeArrowheads="1"/>
            </p:cNvSpPr>
            <p:nvPr/>
          </p:nvSpPr>
          <p:spPr bwMode="auto">
            <a:xfrm>
              <a:off x="4704" y="1168"/>
              <a:ext cx="432" cy="771"/>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1</a:t>
              </a:r>
            </a:p>
          </p:txBody>
        </p:sp>
        <p:sp>
          <p:nvSpPr>
            <p:cNvPr id="12" name="Rectangle 29"/>
            <p:cNvSpPr>
              <a:spLocks noChangeArrowheads="1"/>
            </p:cNvSpPr>
            <p:nvPr/>
          </p:nvSpPr>
          <p:spPr bwMode="auto">
            <a:xfrm>
              <a:off x="3120" y="1168"/>
              <a:ext cx="432" cy="771"/>
            </a:xfrm>
            <a:prstGeom prst="rect">
              <a:avLst/>
            </a:prstGeom>
            <a:solidFill>
              <a:schemeClr val="accent2">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128</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字节</a:t>
              </a:r>
            </a:p>
          </p:txBody>
        </p:sp>
        <p:sp>
          <p:nvSpPr>
            <p:cNvPr id="13" name="Rectangle 30"/>
            <p:cNvSpPr>
              <a:spLocks noChangeArrowheads="1"/>
            </p:cNvSpPr>
            <p:nvPr/>
          </p:nvSpPr>
          <p:spPr bwMode="auto">
            <a:xfrm>
              <a:off x="1632" y="1168"/>
              <a:ext cx="768" cy="771"/>
            </a:xfrm>
            <a:prstGeom prst="rect">
              <a:avLst/>
            </a:prstGeom>
            <a:solidFill>
              <a:schemeClr val="accent2">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8051</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80C51</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(4K</a:t>
              </a:r>
              <a:r>
                <a:rPr lang="zh-CN" altLang="en-US" dirty="0">
                  <a:latin typeface="宋体" panose="02010600030101010101" pitchFamily="2" charset="-122"/>
                </a:rPr>
                <a:t>字节</a:t>
              </a:r>
              <a:r>
                <a:rPr lang="en-US" altLang="zh-CN" dirty="0">
                  <a:latin typeface="宋体" panose="02010600030101010101" pitchFamily="2" charset="-122"/>
                </a:rPr>
                <a:t>)</a:t>
              </a:r>
            </a:p>
          </p:txBody>
        </p:sp>
        <p:sp>
          <p:nvSpPr>
            <p:cNvPr id="14" name="Rectangle 31"/>
            <p:cNvSpPr>
              <a:spLocks noChangeArrowheads="1"/>
            </p:cNvSpPr>
            <p:nvPr/>
          </p:nvSpPr>
          <p:spPr bwMode="auto">
            <a:xfrm>
              <a:off x="2400" y="1168"/>
              <a:ext cx="720" cy="771"/>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8751</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87C51</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(4K</a:t>
              </a:r>
              <a:r>
                <a:rPr lang="zh-CN" altLang="en-US" dirty="0">
                  <a:latin typeface="宋体" panose="02010600030101010101" pitchFamily="2" charset="-122"/>
                </a:rPr>
                <a:t>字节</a:t>
              </a:r>
              <a:r>
                <a:rPr lang="en-US" altLang="zh-CN" dirty="0">
                  <a:latin typeface="宋体" panose="02010600030101010101" pitchFamily="2" charset="-122"/>
                </a:rPr>
                <a:t>)</a:t>
              </a:r>
            </a:p>
          </p:txBody>
        </p:sp>
        <p:sp>
          <p:nvSpPr>
            <p:cNvPr id="15" name="Rectangle 32"/>
            <p:cNvSpPr>
              <a:spLocks noChangeArrowheads="1"/>
            </p:cNvSpPr>
            <p:nvPr/>
          </p:nvSpPr>
          <p:spPr bwMode="auto">
            <a:xfrm>
              <a:off x="3552" y="1168"/>
              <a:ext cx="624" cy="771"/>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2</a:t>
              </a:r>
              <a:r>
                <a:rPr lang="zh-CN" altLang="zh-CN" dirty="0">
                  <a:latin typeface="宋体" panose="02010600030101010101" pitchFamily="2" charset="-122"/>
                </a:rPr>
                <a:t>×</a:t>
              </a:r>
              <a:r>
                <a:rPr lang="en-US" altLang="zh-CN" dirty="0">
                  <a:latin typeface="宋体" panose="02010600030101010101" pitchFamily="2" charset="-122"/>
                </a:rPr>
                <a:t>16</a:t>
              </a:r>
            </a:p>
          </p:txBody>
        </p:sp>
        <p:sp>
          <p:nvSpPr>
            <p:cNvPr id="16" name="Rectangle 33"/>
            <p:cNvSpPr>
              <a:spLocks noChangeArrowheads="1"/>
            </p:cNvSpPr>
            <p:nvPr/>
          </p:nvSpPr>
          <p:spPr bwMode="auto">
            <a:xfrm>
              <a:off x="3120" y="708"/>
              <a:ext cx="432" cy="460"/>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片内</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RAM</a:t>
              </a:r>
            </a:p>
          </p:txBody>
        </p:sp>
        <p:sp>
          <p:nvSpPr>
            <p:cNvPr id="17" name="Rectangle 34"/>
            <p:cNvSpPr>
              <a:spLocks noChangeArrowheads="1"/>
            </p:cNvSpPr>
            <p:nvPr/>
          </p:nvSpPr>
          <p:spPr bwMode="auto">
            <a:xfrm>
              <a:off x="1008" y="708"/>
              <a:ext cx="2112" cy="230"/>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片内</a:t>
              </a:r>
              <a:r>
                <a:rPr lang="en-US" altLang="zh-CN" dirty="0">
                  <a:latin typeface="宋体" panose="02010600030101010101" pitchFamily="2" charset="-122"/>
                </a:rPr>
                <a:t>ROM</a:t>
              </a:r>
            </a:p>
          </p:txBody>
        </p:sp>
        <p:sp>
          <p:nvSpPr>
            <p:cNvPr id="18" name="Rectangle 35"/>
            <p:cNvSpPr>
              <a:spLocks noChangeArrowheads="1"/>
            </p:cNvSpPr>
            <p:nvPr/>
          </p:nvSpPr>
          <p:spPr bwMode="auto">
            <a:xfrm>
              <a:off x="5136" y="1939"/>
              <a:ext cx="432" cy="816"/>
            </a:xfrm>
            <a:prstGeom prst="rect">
              <a:avLst/>
            </a:prstGeom>
            <a:solidFill>
              <a:schemeClr val="accent2">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6</a:t>
              </a:r>
            </a:p>
          </p:txBody>
        </p:sp>
        <p:sp>
          <p:nvSpPr>
            <p:cNvPr id="19" name="Rectangle 36"/>
            <p:cNvSpPr>
              <a:spLocks noChangeArrowheads="1"/>
            </p:cNvSpPr>
            <p:nvPr/>
          </p:nvSpPr>
          <p:spPr bwMode="auto">
            <a:xfrm>
              <a:off x="4704" y="1939"/>
              <a:ext cx="432" cy="816"/>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1</a:t>
              </a:r>
            </a:p>
          </p:txBody>
        </p:sp>
        <p:sp>
          <p:nvSpPr>
            <p:cNvPr id="20" name="Rectangle 37"/>
            <p:cNvSpPr>
              <a:spLocks noChangeArrowheads="1"/>
            </p:cNvSpPr>
            <p:nvPr/>
          </p:nvSpPr>
          <p:spPr bwMode="auto">
            <a:xfrm>
              <a:off x="4176" y="1939"/>
              <a:ext cx="528" cy="816"/>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4</a:t>
              </a:r>
              <a:r>
                <a:rPr lang="zh-CN" altLang="zh-CN" dirty="0">
                  <a:latin typeface="宋体" panose="02010600030101010101" pitchFamily="2" charset="-122"/>
                  <a:sym typeface="+mn-ea"/>
                </a:rPr>
                <a:t>×</a:t>
              </a:r>
              <a:r>
                <a:rPr lang="en-US" altLang="zh-CN">
                  <a:latin typeface="宋体" panose="02010600030101010101" pitchFamily="2" charset="-122"/>
                </a:rPr>
                <a:t>8</a:t>
              </a:r>
              <a:r>
                <a:rPr lang="zh-CN" altLang="en-US">
                  <a:latin typeface="宋体" panose="02010600030101010101" pitchFamily="2" charset="-122"/>
                </a:rPr>
                <a:t>位</a:t>
              </a:r>
            </a:p>
          </p:txBody>
        </p:sp>
        <p:sp>
          <p:nvSpPr>
            <p:cNvPr id="21" name="Rectangle 38"/>
            <p:cNvSpPr>
              <a:spLocks noChangeArrowheads="1"/>
            </p:cNvSpPr>
            <p:nvPr/>
          </p:nvSpPr>
          <p:spPr bwMode="auto">
            <a:xfrm>
              <a:off x="3552" y="1939"/>
              <a:ext cx="624" cy="816"/>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3</a:t>
              </a:r>
              <a:r>
                <a:rPr lang="zh-CN" altLang="zh-CN" dirty="0">
                  <a:latin typeface="宋体" panose="02010600030101010101" pitchFamily="2" charset="-122"/>
                  <a:sym typeface="+mn-ea"/>
                </a:rPr>
                <a:t>×</a:t>
              </a:r>
              <a:r>
                <a:rPr lang="en-US" altLang="zh-CN">
                  <a:latin typeface="宋体" panose="02010600030101010101" pitchFamily="2" charset="-122"/>
                </a:rPr>
                <a:t>16</a:t>
              </a:r>
            </a:p>
          </p:txBody>
        </p:sp>
        <p:sp>
          <p:nvSpPr>
            <p:cNvPr id="22" name="Rectangle 39"/>
            <p:cNvSpPr>
              <a:spLocks noChangeArrowheads="1"/>
            </p:cNvSpPr>
            <p:nvPr/>
          </p:nvSpPr>
          <p:spPr bwMode="auto">
            <a:xfrm>
              <a:off x="3120" y="1939"/>
              <a:ext cx="432" cy="816"/>
            </a:xfrm>
            <a:prstGeom prst="rect">
              <a:avLst/>
            </a:prstGeom>
            <a:solidFill>
              <a:schemeClr val="accent2">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256</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字节</a:t>
              </a:r>
            </a:p>
          </p:txBody>
        </p:sp>
        <p:sp>
          <p:nvSpPr>
            <p:cNvPr id="23" name="Rectangle 40"/>
            <p:cNvSpPr>
              <a:spLocks noChangeArrowheads="1"/>
            </p:cNvSpPr>
            <p:nvPr/>
          </p:nvSpPr>
          <p:spPr bwMode="auto">
            <a:xfrm>
              <a:off x="2400" y="1939"/>
              <a:ext cx="720" cy="816"/>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a:latin typeface="宋体" panose="02010600030101010101" pitchFamily="2" charset="-122"/>
                </a:rPr>
                <a:t>8752</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a:latin typeface="宋体" panose="02010600030101010101" pitchFamily="2" charset="-122"/>
                </a:rPr>
                <a:t>87C52</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(8K</a:t>
              </a:r>
              <a:r>
                <a:rPr lang="zh-CN" altLang="en-US">
                  <a:latin typeface="宋体" panose="02010600030101010101" pitchFamily="2" charset="-122"/>
                </a:rPr>
                <a:t>字节</a:t>
              </a:r>
              <a:r>
                <a:rPr lang="en-US" altLang="zh-CN">
                  <a:latin typeface="宋体" panose="02010600030101010101" pitchFamily="2" charset="-122"/>
                </a:rPr>
                <a:t>)</a:t>
              </a:r>
            </a:p>
          </p:txBody>
        </p:sp>
        <p:sp>
          <p:nvSpPr>
            <p:cNvPr id="24" name="Rectangle 41"/>
            <p:cNvSpPr>
              <a:spLocks noChangeArrowheads="1"/>
            </p:cNvSpPr>
            <p:nvPr/>
          </p:nvSpPr>
          <p:spPr bwMode="auto">
            <a:xfrm>
              <a:off x="1632" y="1939"/>
              <a:ext cx="768" cy="816"/>
            </a:xfrm>
            <a:prstGeom prst="rect">
              <a:avLst/>
            </a:prstGeom>
            <a:solidFill>
              <a:schemeClr val="accent2">
                <a:lumMod val="20000"/>
                <a:lumOff val="80000"/>
              </a:schemeClr>
            </a:solid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8052</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80C52</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(8K</a:t>
              </a:r>
              <a:r>
                <a:rPr lang="zh-CN" altLang="en-US" dirty="0">
                  <a:latin typeface="宋体" panose="02010600030101010101" pitchFamily="2" charset="-122"/>
                </a:rPr>
                <a:t>字节</a:t>
              </a:r>
              <a:r>
                <a:rPr lang="en-US" altLang="zh-CN" dirty="0">
                  <a:latin typeface="宋体" panose="02010600030101010101" pitchFamily="2" charset="-122"/>
                </a:rPr>
                <a:t>)</a:t>
              </a:r>
            </a:p>
          </p:txBody>
        </p:sp>
        <p:sp>
          <p:nvSpPr>
            <p:cNvPr id="25" name="Rectangle 42"/>
            <p:cNvSpPr>
              <a:spLocks noChangeArrowheads="1"/>
            </p:cNvSpPr>
            <p:nvPr/>
          </p:nvSpPr>
          <p:spPr bwMode="auto">
            <a:xfrm>
              <a:off x="1008" y="1939"/>
              <a:ext cx="624" cy="816"/>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a:latin typeface="宋体" panose="02010600030101010101" pitchFamily="2" charset="-122"/>
                </a:rPr>
                <a:t>8032</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a:latin typeface="宋体" panose="02010600030101010101" pitchFamily="2" charset="-122"/>
                </a:rPr>
                <a:t>80C32</a:t>
              </a:r>
            </a:p>
          </p:txBody>
        </p:sp>
        <p:sp>
          <p:nvSpPr>
            <p:cNvPr id="26" name="Rectangle 43"/>
            <p:cNvSpPr>
              <a:spLocks noChangeArrowheads="1"/>
            </p:cNvSpPr>
            <p:nvPr/>
          </p:nvSpPr>
          <p:spPr bwMode="auto">
            <a:xfrm>
              <a:off x="288" y="1939"/>
              <a:ext cx="720" cy="816"/>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Intel</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MCS-52</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子系列</a:t>
              </a:r>
            </a:p>
          </p:txBody>
        </p:sp>
        <p:sp>
          <p:nvSpPr>
            <p:cNvPr id="27" name="Rectangle 44"/>
            <p:cNvSpPr>
              <a:spLocks noChangeArrowheads="1"/>
            </p:cNvSpPr>
            <p:nvPr/>
          </p:nvSpPr>
          <p:spPr bwMode="auto">
            <a:xfrm>
              <a:off x="1008" y="1168"/>
              <a:ext cx="624" cy="771"/>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8031</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2400" dirty="0">
                  <a:latin typeface="宋体" panose="02010600030101010101" pitchFamily="2" charset="-122"/>
                </a:rPr>
                <a:t>80C31</a:t>
              </a:r>
            </a:p>
          </p:txBody>
        </p:sp>
        <p:sp>
          <p:nvSpPr>
            <p:cNvPr id="28" name="Rectangle 45"/>
            <p:cNvSpPr>
              <a:spLocks noChangeArrowheads="1"/>
            </p:cNvSpPr>
            <p:nvPr/>
          </p:nvSpPr>
          <p:spPr bwMode="auto">
            <a:xfrm>
              <a:off x="288" y="1168"/>
              <a:ext cx="720" cy="771"/>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Intel</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MCS-51</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子系列</a:t>
              </a:r>
            </a:p>
          </p:txBody>
        </p:sp>
        <p:sp>
          <p:nvSpPr>
            <p:cNvPr id="29" name="Rectangle 46"/>
            <p:cNvSpPr>
              <a:spLocks noChangeArrowheads="1"/>
            </p:cNvSpPr>
            <p:nvPr/>
          </p:nvSpPr>
          <p:spPr bwMode="auto">
            <a:xfrm>
              <a:off x="5136" y="436"/>
              <a:ext cx="432" cy="732"/>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中</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断</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源</a:t>
              </a:r>
            </a:p>
          </p:txBody>
        </p:sp>
        <p:sp>
          <p:nvSpPr>
            <p:cNvPr id="30" name="Rectangle 47"/>
            <p:cNvSpPr>
              <a:spLocks noChangeArrowheads="1"/>
            </p:cNvSpPr>
            <p:nvPr/>
          </p:nvSpPr>
          <p:spPr bwMode="auto">
            <a:xfrm>
              <a:off x="4704" y="436"/>
              <a:ext cx="432" cy="732"/>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串行</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I/O</a:t>
              </a:r>
            </a:p>
          </p:txBody>
        </p:sp>
        <p:sp>
          <p:nvSpPr>
            <p:cNvPr id="31" name="Rectangle 48"/>
            <p:cNvSpPr>
              <a:spLocks noChangeArrowheads="1"/>
            </p:cNvSpPr>
            <p:nvPr/>
          </p:nvSpPr>
          <p:spPr bwMode="auto">
            <a:xfrm>
              <a:off x="4176" y="436"/>
              <a:ext cx="528" cy="732"/>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并行</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I/O</a:t>
              </a:r>
            </a:p>
          </p:txBody>
        </p:sp>
        <p:sp>
          <p:nvSpPr>
            <p:cNvPr id="32" name="Rectangle 49"/>
            <p:cNvSpPr>
              <a:spLocks noChangeArrowheads="1"/>
            </p:cNvSpPr>
            <p:nvPr/>
          </p:nvSpPr>
          <p:spPr bwMode="auto">
            <a:xfrm>
              <a:off x="3552" y="436"/>
              <a:ext cx="624" cy="732"/>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定时器</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计数器</a:t>
              </a:r>
            </a:p>
          </p:txBody>
        </p:sp>
        <p:sp>
          <p:nvSpPr>
            <p:cNvPr id="33" name="Rectangle 50"/>
            <p:cNvSpPr>
              <a:spLocks noChangeArrowheads="1"/>
            </p:cNvSpPr>
            <p:nvPr/>
          </p:nvSpPr>
          <p:spPr bwMode="auto">
            <a:xfrm>
              <a:off x="1008" y="436"/>
              <a:ext cx="2544" cy="272"/>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a:latin typeface="宋体" panose="02010600030101010101" pitchFamily="2" charset="-122"/>
                </a:rPr>
                <a:t>片内存储器（字节）</a:t>
              </a:r>
            </a:p>
          </p:txBody>
        </p:sp>
        <p:sp>
          <p:nvSpPr>
            <p:cNvPr id="34" name="Rectangle 51"/>
            <p:cNvSpPr>
              <a:spLocks noChangeArrowheads="1"/>
            </p:cNvSpPr>
            <p:nvPr/>
          </p:nvSpPr>
          <p:spPr bwMode="auto">
            <a:xfrm>
              <a:off x="288" y="436"/>
              <a:ext cx="720" cy="732"/>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系列</a:t>
              </a:r>
            </a:p>
          </p:txBody>
        </p:sp>
        <p:sp>
          <p:nvSpPr>
            <p:cNvPr id="35" name="Line 52"/>
            <p:cNvSpPr>
              <a:spLocks noChangeShapeType="1"/>
            </p:cNvSpPr>
            <p:nvPr/>
          </p:nvSpPr>
          <p:spPr bwMode="auto">
            <a:xfrm>
              <a:off x="288" y="436"/>
              <a:ext cx="5280" cy="0"/>
            </a:xfrm>
            <a:prstGeom prst="line">
              <a:avLst/>
            </a:prstGeom>
            <a:grpFill/>
            <a:ln w="19050" cap="sq">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36" name="Line 53"/>
            <p:cNvSpPr>
              <a:spLocks noChangeShapeType="1"/>
            </p:cNvSpPr>
            <p:nvPr/>
          </p:nvSpPr>
          <p:spPr bwMode="auto">
            <a:xfrm>
              <a:off x="288" y="1168"/>
              <a:ext cx="5280" cy="0"/>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37" name="Line 54"/>
            <p:cNvSpPr>
              <a:spLocks noChangeShapeType="1"/>
            </p:cNvSpPr>
            <p:nvPr/>
          </p:nvSpPr>
          <p:spPr bwMode="auto">
            <a:xfrm>
              <a:off x="288" y="1939"/>
              <a:ext cx="5280" cy="0"/>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38" name="Line 55"/>
            <p:cNvSpPr>
              <a:spLocks noChangeShapeType="1"/>
            </p:cNvSpPr>
            <p:nvPr/>
          </p:nvSpPr>
          <p:spPr bwMode="auto">
            <a:xfrm>
              <a:off x="288" y="2755"/>
              <a:ext cx="5280" cy="0"/>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39" name="Line 56"/>
            <p:cNvSpPr>
              <a:spLocks noChangeShapeType="1"/>
            </p:cNvSpPr>
            <p:nvPr/>
          </p:nvSpPr>
          <p:spPr bwMode="auto">
            <a:xfrm>
              <a:off x="1008" y="436"/>
              <a:ext cx="0" cy="2319"/>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0" name="Line 57"/>
            <p:cNvSpPr>
              <a:spLocks noChangeShapeType="1"/>
            </p:cNvSpPr>
            <p:nvPr/>
          </p:nvSpPr>
          <p:spPr bwMode="auto">
            <a:xfrm>
              <a:off x="3552" y="436"/>
              <a:ext cx="0" cy="2319"/>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1" name="Line 58"/>
            <p:cNvSpPr>
              <a:spLocks noChangeShapeType="1"/>
            </p:cNvSpPr>
            <p:nvPr/>
          </p:nvSpPr>
          <p:spPr bwMode="auto">
            <a:xfrm>
              <a:off x="4176" y="436"/>
              <a:ext cx="0" cy="2319"/>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2" name="Line 59"/>
            <p:cNvSpPr>
              <a:spLocks noChangeShapeType="1"/>
            </p:cNvSpPr>
            <p:nvPr/>
          </p:nvSpPr>
          <p:spPr bwMode="auto">
            <a:xfrm>
              <a:off x="4704" y="436"/>
              <a:ext cx="0" cy="2319"/>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3" name="Line 60"/>
            <p:cNvSpPr>
              <a:spLocks noChangeShapeType="1"/>
            </p:cNvSpPr>
            <p:nvPr/>
          </p:nvSpPr>
          <p:spPr bwMode="auto">
            <a:xfrm>
              <a:off x="5136" y="436"/>
              <a:ext cx="0" cy="2319"/>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4" name="Line 61"/>
            <p:cNvSpPr>
              <a:spLocks noChangeShapeType="1"/>
            </p:cNvSpPr>
            <p:nvPr/>
          </p:nvSpPr>
          <p:spPr bwMode="auto">
            <a:xfrm>
              <a:off x="1008" y="708"/>
              <a:ext cx="2544" cy="0"/>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5" name="Line 62"/>
            <p:cNvSpPr>
              <a:spLocks noChangeShapeType="1"/>
            </p:cNvSpPr>
            <p:nvPr/>
          </p:nvSpPr>
          <p:spPr bwMode="auto">
            <a:xfrm>
              <a:off x="3120" y="708"/>
              <a:ext cx="0" cy="2047"/>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6" name="Line 63"/>
            <p:cNvSpPr>
              <a:spLocks noChangeShapeType="1"/>
            </p:cNvSpPr>
            <p:nvPr/>
          </p:nvSpPr>
          <p:spPr bwMode="auto">
            <a:xfrm>
              <a:off x="1008" y="938"/>
              <a:ext cx="2112" cy="0"/>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7" name="Line 64"/>
            <p:cNvSpPr>
              <a:spLocks noChangeShapeType="1"/>
            </p:cNvSpPr>
            <p:nvPr/>
          </p:nvSpPr>
          <p:spPr bwMode="auto">
            <a:xfrm>
              <a:off x="1632" y="938"/>
              <a:ext cx="0" cy="1817"/>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8" name="Line 65"/>
            <p:cNvSpPr>
              <a:spLocks noChangeShapeType="1"/>
            </p:cNvSpPr>
            <p:nvPr/>
          </p:nvSpPr>
          <p:spPr bwMode="auto">
            <a:xfrm>
              <a:off x="2400" y="938"/>
              <a:ext cx="0" cy="1817"/>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49" name="Line 69"/>
            <p:cNvSpPr>
              <a:spLocks noChangeShapeType="1"/>
            </p:cNvSpPr>
            <p:nvPr/>
          </p:nvSpPr>
          <p:spPr bwMode="auto">
            <a:xfrm>
              <a:off x="288" y="436"/>
              <a:ext cx="0" cy="2319"/>
            </a:xfrm>
            <a:prstGeom prst="line">
              <a:avLst/>
            </a:prstGeom>
            <a:grpFill/>
            <a:ln w="19050" cap="sq">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50" name="Line 71"/>
            <p:cNvSpPr>
              <a:spLocks noChangeShapeType="1"/>
            </p:cNvSpPr>
            <p:nvPr/>
          </p:nvSpPr>
          <p:spPr bwMode="auto">
            <a:xfrm>
              <a:off x="5568" y="436"/>
              <a:ext cx="0" cy="2319"/>
            </a:xfrm>
            <a:prstGeom prst="line">
              <a:avLst/>
            </a:prstGeom>
            <a:grpFill/>
            <a:ln w="19050" cap="sq">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51" name="Rectangle 85"/>
            <p:cNvSpPr>
              <a:spLocks noChangeArrowheads="1"/>
            </p:cNvSpPr>
            <p:nvPr/>
          </p:nvSpPr>
          <p:spPr bwMode="auto">
            <a:xfrm>
              <a:off x="5128" y="2886"/>
              <a:ext cx="43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5</a:t>
              </a:r>
            </a:p>
          </p:txBody>
        </p:sp>
        <p:sp>
          <p:nvSpPr>
            <p:cNvPr id="52" name="Rectangle 86"/>
            <p:cNvSpPr>
              <a:spLocks noChangeArrowheads="1"/>
            </p:cNvSpPr>
            <p:nvPr/>
          </p:nvSpPr>
          <p:spPr bwMode="auto">
            <a:xfrm>
              <a:off x="4696" y="2886"/>
              <a:ext cx="43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1</a:t>
              </a:r>
            </a:p>
          </p:txBody>
        </p:sp>
        <p:sp>
          <p:nvSpPr>
            <p:cNvPr id="53" name="Rectangle 87"/>
            <p:cNvSpPr>
              <a:spLocks noChangeArrowheads="1"/>
            </p:cNvSpPr>
            <p:nvPr/>
          </p:nvSpPr>
          <p:spPr bwMode="auto">
            <a:xfrm>
              <a:off x="4168" y="2886"/>
              <a:ext cx="528"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15</a:t>
              </a:r>
            </a:p>
          </p:txBody>
        </p:sp>
        <p:sp>
          <p:nvSpPr>
            <p:cNvPr id="54" name="Rectangle 88"/>
            <p:cNvSpPr>
              <a:spLocks noChangeArrowheads="1"/>
            </p:cNvSpPr>
            <p:nvPr/>
          </p:nvSpPr>
          <p:spPr bwMode="auto">
            <a:xfrm>
              <a:off x="3544" y="2886"/>
              <a:ext cx="624"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2</a:t>
              </a:r>
            </a:p>
          </p:txBody>
        </p:sp>
        <p:sp>
          <p:nvSpPr>
            <p:cNvPr id="55" name="Rectangle 89"/>
            <p:cNvSpPr>
              <a:spLocks noChangeArrowheads="1"/>
            </p:cNvSpPr>
            <p:nvPr/>
          </p:nvSpPr>
          <p:spPr bwMode="auto">
            <a:xfrm>
              <a:off x="3112" y="2886"/>
              <a:ext cx="43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128B</a:t>
              </a:r>
            </a:p>
          </p:txBody>
        </p:sp>
        <p:sp>
          <p:nvSpPr>
            <p:cNvPr id="56" name="Rectangle 90"/>
            <p:cNvSpPr>
              <a:spLocks noChangeArrowheads="1"/>
            </p:cNvSpPr>
            <p:nvPr/>
          </p:nvSpPr>
          <p:spPr bwMode="auto">
            <a:xfrm>
              <a:off x="1000" y="2886"/>
              <a:ext cx="211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1051(1K)/2051(2K)/4051(4K)</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dirty="0">
                  <a:latin typeface="宋体" panose="02010600030101010101" pitchFamily="2" charset="-122"/>
                </a:rPr>
                <a:t>（</a:t>
              </a:r>
              <a:r>
                <a:rPr lang="en-US" altLang="zh-CN" dirty="0">
                  <a:latin typeface="宋体" panose="02010600030101010101" pitchFamily="2" charset="-122"/>
                </a:rPr>
                <a:t>20</a:t>
              </a:r>
              <a:r>
                <a:rPr lang="zh-CN" altLang="en-US" dirty="0">
                  <a:latin typeface="宋体" panose="02010600030101010101" pitchFamily="2" charset="-122"/>
                </a:rPr>
                <a:t>条引脚</a:t>
              </a:r>
              <a:r>
                <a:rPr lang="en-US" altLang="zh-CN" dirty="0">
                  <a:latin typeface="宋体" panose="02010600030101010101" pitchFamily="2" charset="-122"/>
                </a:rPr>
                <a:t>DIP</a:t>
              </a:r>
              <a:r>
                <a:rPr lang="zh-CN" altLang="en-US" dirty="0">
                  <a:latin typeface="宋体" panose="02010600030101010101" pitchFamily="2" charset="-122"/>
                </a:rPr>
                <a:t>封装）</a:t>
              </a:r>
            </a:p>
          </p:txBody>
        </p:sp>
        <p:sp>
          <p:nvSpPr>
            <p:cNvPr id="57" name="Rectangle 91"/>
            <p:cNvSpPr>
              <a:spLocks noChangeArrowheads="1"/>
            </p:cNvSpPr>
            <p:nvPr/>
          </p:nvSpPr>
          <p:spPr bwMode="auto">
            <a:xfrm>
              <a:off x="5128" y="3324"/>
              <a:ext cx="43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5/6</a:t>
              </a:r>
            </a:p>
          </p:txBody>
        </p:sp>
        <p:sp>
          <p:nvSpPr>
            <p:cNvPr id="58" name="Rectangle 92"/>
            <p:cNvSpPr>
              <a:spLocks noChangeArrowheads="1"/>
            </p:cNvSpPr>
            <p:nvPr/>
          </p:nvSpPr>
          <p:spPr bwMode="auto">
            <a:xfrm>
              <a:off x="4696" y="3324"/>
              <a:ext cx="43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1</a:t>
              </a:r>
            </a:p>
          </p:txBody>
        </p:sp>
        <p:sp>
          <p:nvSpPr>
            <p:cNvPr id="59" name="Rectangle 93"/>
            <p:cNvSpPr>
              <a:spLocks noChangeArrowheads="1"/>
            </p:cNvSpPr>
            <p:nvPr/>
          </p:nvSpPr>
          <p:spPr bwMode="auto">
            <a:xfrm>
              <a:off x="4168" y="3324"/>
              <a:ext cx="528"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32</a:t>
              </a:r>
            </a:p>
          </p:txBody>
        </p:sp>
        <p:sp>
          <p:nvSpPr>
            <p:cNvPr id="60" name="Rectangle 94"/>
            <p:cNvSpPr>
              <a:spLocks noChangeArrowheads="1"/>
            </p:cNvSpPr>
            <p:nvPr/>
          </p:nvSpPr>
          <p:spPr bwMode="auto">
            <a:xfrm>
              <a:off x="3544" y="3324"/>
              <a:ext cx="624"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a:latin typeface="宋体" panose="02010600030101010101" pitchFamily="2" charset="-122"/>
                </a:rPr>
                <a:t>2/3</a:t>
              </a:r>
            </a:p>
          </p:txBody>
        </p:sp>
        <p:sp>
          <p:nvSpPr>
            <p:cNvPr id="61" name="Rectangle 95"/>
            <p:cNvSpPr>
              <a:spLocks noChangeArrowheads="1"/>
            </p:cNvSpPr>
            <p:nvPr/>
          </p:nvSpPr>
          <p:spPr bwMode="auto">
            <a:xfrm>
              <a:off x="3112" y="3324"/>
              <a:ext cx="43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128/256B</a:t>
              </a:r>
            </a:p>
          </p:txBody>
        </p:sp>
        <p:sp>
          <p:nvSpPr>
            <p:cNvPr id="62" name="Rectangle 96"/>
            <p:cNvSpPr>
              <a:spLocks noChangeArrowheads="1"/>
            </p:cNvSpPr>
            <p:nvPr/>
          </p:nvSpPr>
          <p:spPr bwMode="auto">
            <a:xfrm>
              <a:off x="1004" y="3321"/>
              <a:ext cx="2112" cy="438"/>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sz="1400" dirty="0">
                  <a:latin typeface="宋体" panose="02010600030101010101" pitchFamily="2" charset="-122"/>
                </a:rPr>
                <a:t>89C51</a:t>
              </a:r>
              <a:r>
                <a:rPr lang="zh-CN" altLang="en-US" sz="1400" dirty="0">
                  <a:latin typeface="宋体" panose="02010600030101010101" pitchFamily="2" charset="-122"/>
                </a:rPr>
                <a:t>、</a:t>
              </a:r>
              <a:r>
                <a:rPr lang="en-US" altLang="zh-CN" sz="1400" dirty="0">
                  <a:latin typeface="宋体" panose="02010600030101010101" pitchFamily="2" charset="-122"/>
                </a:rPr>
                <a:t>89S51(4K)/89C52</a:t>
              </a:r>
              <a:r>
                <a:rPr lang="zh-CN" altLang="en-US" sz="1400" dirty="0">
                  <a:latin typeface="宋体" panose="02010600030101010101" pitchFamily="2" charset="-122"/>
                </a:rPr>
                <a:t>、</a:t>
              </a:r>
              <a:r>
                <a:rPr lang="en-US" altLang="zh-CN" sz="1400" dirty="0">
                  <a:latin typeface="宋体" panose="02010600030101010101" pitchFamily="2" charset="-122"/>
                </a:rPr>
                <a:t>89S52(8K)</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zh-CN" altLang="en-US" sz="1600" dirty="0">
                  <a:latin typeface="宋体" panose="02010600030101010101" pitchFamily="2" charset="-122"/>
                </a:rPr>
                <a:t>（</a:t>
              </a:r>
              <a:r>
                <a:rPr lang="en-US" altLang="zh-CN" sz="1600" dirty="0">
                  <a:solidFill>
                    <a:srgbClr val="FF0000"/>
                  </a:solidFill>
                  <a:latin typeface="宋体" panose="02010600030101010101" pitchFamily="2" charset="-122"/>
                </a:rPr>
                <a:t>EEPROM</a:t>
              </a:r>
              <a:r>
                <a:rPr lang="zh-CN" altLang="en-US" sz="1600" dirty="0">
                  <a:latin typeface="宋体" panose="02010600030101010101" pitchFamily="2" charset="-122"/>
                </a:rPr>
                <a:t>，闪存，</a:t>
              </a:r>
              <a:r>
                <a:rPr lang="en-US" altLang="zh-CN" sz="1600" dirty="0">
                  <a:latin typeface="宋体" panose="02010600030101010101" pitchFamily="2" charset="-122"/>
                </a:rPr>
                <a:t>40</a:t>
              </a:r>
              <a:r>
                <a:rPr lang="zh-CN" altLang="en-US" sz="1600" dirty="0">
                  <a:latin typeface="宋体" panose="02010600030101010101" pitchFamily="2" charset="-122"/>
                </a:rPr>
                <a:t>脚，</a:t>
              </a:r>
              <a:r>
                <a:rPr lang="en-US" altLang="zh-CN" sz="1600" dirty="0">
                  <a:latin typeface="宋体" panose="02010600030101010101" pitchFamily="2" charset="-122"/>
                </a:rPr>
                <a:t>DIP</a:t>
              </a:r>
              <a:r>
                <a:rPr lang="zh-CN" altLang="en-US" sz="1600" dirty="0">
                  <a:latin typeface="宋体" panose="02010600030101010101" pitchFamily="2" charset="-122"/>
                </a:rPr>
                <a:t>封装）</a:t>
              </a:r>
            </a:p>
          </p:txBody>
        </p:sp>
        <p:sp>
          <p:nvSpPr>
            <p:cNvPr id="63" name="Rectangle 97"/>
            <p:cNvSpPr>
              <a:spLocks noChangeArrowheads="1"/>
            </p:cNvSpPr>
            <p:nvPr/>
          </p:nvSpPr>
          <p:spPr bwMode="auto">
            <a:xfrm>
              <a:off x="295" y="2886"/>
              <a:ext cx="705" cy="876"/>
            </a:xfrm>
            <a:prstGeom prst="rect">
              <a:avLst/>
            </a:prstGeom>
            <a:grpFill/>
            <a:ln w="19050" cap="sq">
              <a:solidFill>
                <a:schemeClr val="tx1"/>
              </a:solidFill>
              <a:miter lim="800000"/>
              <a:headEnd type="none" w="sm" len="sm"/>
              <a:tailEnd type="none" w="sm" len="sm"/>
            </a:ln>
            <a:effectLst/>
          </p:spPr>
          <p:txBody>
            <a:bodyPr anchor="ctr" anchorCtr="1"/>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ATEML</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89C</a:t>
              </a:r>
              <a:r>
                <a:rPr lang="zh-CN" altLang="en-US" dirty="0">
                  <a:latin typeface="宋体" panose="02010600030101010101" pitchFamily="2" charset="-122"/>
                </a:rPr>
                <a:t>系列</a:t>
              </a:r>
            </a:p>
            <a:p>
              <a:pPr algn="ctr" eaLnBrk="1" fontAlgn="ctr" hangingPunct="1">
                <a:spcBef>
                  <a:spcPct val="20000"/>
                </a:spcBef>
                <a:spcAft>
                  <a:spcPts val="0"/>
                </a:spcAft>
                <a:buClr>
                  <a:schemeClr val="hlink"/>
                </a:buClr>
                <a:buSzPct val="75000"/>
                <a:buFont typeface="Wingdings" panose="05000000000000000000" pitchFamily="2" charset="2"/>
                <a:buNone/>
                <a:defRPr/>
              </a:pPr>
              <a:r>
                <a:rPr lang="en-US" altLang="zh-CN" dirty="0">
                  <a:latin typeface="宋体" panose="02010600030101010101" pitchFamily="2" charset="-122"/>
                </a:rPr>
                <a:t>(</a:t>
              </a:r>
              <a:r>
                <a:rPr lang="zh-CN" altLang="en-US" dirty="0">
                  <a:latin typeface="宋体" panose="02010600030101010101" pitchFamily="2" charset="-122"/>
                </a:rPr>
                <a:t>常用型</a:t>
              </a:r>
              <a:r>
                <a:rPr lang="en-US" altLang="zh-CN" dirty="0">
                  <a:latin typeface="宋体" panose="02010600030101010101" pitchFamily="2" charset="-122"/>
                </a:rPr>
                <a:t>)</a:t>
              </a:r>
            </a:p>
          </p:txBody>
        </p:sp>
        <p:sp>
          <p:nvSpPr>
            <p:cNvPr id="64" name="Line 98"/>
            <p:cNvSpPr>
              <a:spLocks noChangeShapeType="1"/>
            </p:cNvSpPr>
            <p:nvPr/>
          </p:nvSpPr>
          <p:spPr bwMode="auto">
            <a:xfrm>
              <a:off x="295" y="2886"/>
              <a:ext cx="5265" cy="0"/>
            </a:xfrm>
            <a:prstGeom prst="line">
              <a:avLst/>
            </a:prstGeom>
            <a:grpFill/>
            <a:ln w="19050" cap="sq">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65" name="Line 100"/>
            <p:cNvSpPr>
              <a:spLocks noChangeShapeType="1"/>
            </p:cNvSpPr>
            <p:nvPr/>
          </p:nvSpPr>
          <p:spPr bwMode="auto">
            <a:xfrm>
              <a:off x="1000" y="3324"/>
              <a:ext cx="4560" cy="0"/>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66" name="Line 101"/>
            <p:cNvSpPr>
              <a:spLocks noChangeShapeType="1"/>
            </p:cNvSpPr>
            <p:nvPr/>
          </p:nvSpPr>
          <p:spPr bwMode="auto">
            <a:xfrm>
              <a:off x="295" y="2886"/>
              <a:ext cx="0" cy="876"/>
            </a:xfrm>
            <a:prstGeom prst="line">
              <a:avLst/>
            </a:prstGeom>
            <a:grpFill/>
            <a:ln w="19050" cap="sq">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67" name="Line 103"/>
            <p:cNvSpPr>
              <a:spLocks noChangeShapeType="1"/>
            </p:cNvSpPr>
            <p:nvPr/>
          </p:nvSpPr>
          <p:spPr bwMode="auto">
            <a:xfrm>
              <a:off x="1000" y="2886"/>
              <a:ext cx="0" cy="876"/>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68" name="Line 104"/>
            <p:cNvSpPr>
              <a:spLocks noChangeShapeType="1"/>
            </p:cNvSpPr>
            <p:nvPr/>
          </p:nvSpPr>
          <p:spPr bwMode="auto">
            <a:xfrm>
              <a:off x="3112" y="2886"/>
              <a:ext cx="0" cy="876"/>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69" name="Line 105"/>
            <p:cNvSpPr>
              <a:spLocks noChangeShapeType="1"/>
            </p:cNvSpPr>
            <p:nvPr/>
          </p:nvSpPr>
          <p:spPr bwMode="auto">
            <a:xfrm>
              <a:off x="3544" y="2886"/>
              <a:ext cx="0" cy="876"/>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70" name="Line 106"/>
            <p:cNvSpPr>
              <a:spLocks noChangeShapeType="1"/>
            </p:cNvSpPr>
            <p:nvPr/>
          </p:nvSpPr>
          <p:spPr bwMode="auto">
            <a:xfrm>
              <a:off x="4168" y="2886"/>
              <a:ext cx="0" cy="876"/>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71" name="Line 107"/>
            <p:cNvSpPr>
              <a:spLocks noChangeShapeType="1"/>
            </p:cNvSpPr>
            <p:nvPr/>
          </p:nvSpPr>
          <p:spPr bwMode="auto">
            <a:xfrm>
              <a:off x="4696" y="2886"/>
              <a:ext cx="0" cy="876"/>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72" name="Line 108"/>
            <p:cNvSpPr>
              <a:spLocks noChangeShapeType="1"/>
            </p:cNvSpPr>
            <p:nvPr/>
          </p:nvSpPr>
          <p:spPr bwMode="auto">
            <a:xfrm>
              <a:off x="5128" y="2886"/>
              <a:ext cx="0" cy="876"/>
            </a:xfrm>
            <a:prstGeom prst="line">
              <a:avLst/>
            </a:prstGeom>
            <a:grpFill/>
            <a:ln w="19050">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73" name="Line 102"/>
            <p:cNvSpPr>
              <a:spLocks noChangeShapeType="1"/>
            </p:cNvSpPr>
            <p:nvPr/>
          </p:nvSpPr>
          <p:spPr bwMode="auto">
            <a:xfrm>
              <a:off x="5560" y="2886"/>
              <a:ext cx="0" cy="876"/>
            </a:xfrm>
            <a:prstGeom prst="line">
              <a:avLst/>
            </a:prstGeom>
            <a:grpFill/>
            <a:ln w="19050" cap="sq">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sp>
          <p:nvSpPr>
            <p:cNvPr id="74" name="Line 99"/>
            <p:cNvSpPr>
              <a:spLocks noChangeShapeType="1"/>
            </p:cNvSpPr>
            <p:nvPr/>
          </p:nvSpPr>
          <p:spPr bwMode="auto">
            <a:xfrm>
              <a:off x="295" y="3762"/>
              <a:ext cx="5265" cy="0"/>
            </a:xfrm>
            <a:prstGeom prst="line">
              <a:avLst/>
            </a:prstGeom>
            <a:grpFill/>
            <a:ln w="19050" cap="sq">
              <a:solidFill>
                <a:schemeClr val="tx1"/>
              </a:solidFill>
              <a:round/>
              <a:headEnd type="none" w="sm" len="sm"/>
              <a:tailEnd type="none" w="sm" len="sm"/>
            </a:ln>
            <a:effectLst/>
          </p:spPr>
          <p:txBody>
            <a:bodyPr wrap="none"/>
            <a:lstStyle/>
            <a:p>
              <a:pPr fontAlgn="auto">
                <a:spcBef>
                  <a:spcPts val="0"/>
                </a:spcBef>
                <a:spcAft>
                  <a:spcPts val="0"/>
                </a:spcAft>
                <a:defRPr/>
              </a:pPr>
              <a:endParaRPr lang="zh-CN" altLang="en-US">
                <a:latin typeface="+mn-lt"/>
                <a:ea typeface="+mn-ea"/>
              </a:endParaRPr>
            </a:p>
          </p:txBody>
        </p:sp>
      </p:grpSp>
      <p:sp>
        <p:nvSpPr>
          <p:cNvPr id="47107" name="矩形 2"/>
          <p:cNvSpPr>
            <a:spLocks noChangeArrowheads="1"/>
          </p:cNvSpPr>
          <p:nvPr/>
        </p:nvSpPr>
        <p:spPr bwMode="auto">
          <a:xfrm>
            <a:off x="2166596" y="741363"/>
            <a:ext cx="4798108" cy="430887"/>
          </a:xfrm>
          <a:prstGeom prst="rect">
            <a:avLst/>
          </a:prstGeom>
          <a:noFill/>
          <a:ln w="9525">
            <a:noFill/>
            <a:miter lim="800000"/>
          </a:ln>
        </p:spPr>
        <p:txBody>
          <a:bodyPr wrap="none">
            <a:spAutoFit/>
          </a:bodyPr>
          <a:lstStyle/>
          <a:p>
            <a:pPr algn="ctr"/>
            <a:r>
              <a:rPr lang="en-US" altLang="zh-CN" sz="2200" dirty="0">
                <a:latin typeface="微软雅黑" panose="020B0503020204020204" pitchFamily="34" charset="-122"/>
                <a:ea typeface="微软雅黑" panose="020B0503020204020204" pitchFamily="34" charset="-122"/>
              </a:rPr>
              <a:t>MCS-51</a:t>
            </a:r>
            <a:r>
              <a:rPr lang="zh-CN" altLang="en-US" sz="2200" dirty="0">
                <a:latin typeface="微软雅黑" panose="020B0503020204020204" pitchFamily="34" charset="-122"/>
                <a:ea typeface="微软雅黑" panose="020B0503020204020204" pitchFamily="34" charset="-122"/>
              </a:rPr>
              <a:t>系列单片机配置一览表</a:t>
            </a:r>
            <a:r>
              <a:rPr lang="en-US" altLang="zh-CN"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FF"/>
                </a:solidFill>
                <a:latin typeface="微软雅黑" panose="020B0503020204020204" pitchFamily="34" charset="-122"/>
                <a:ea typeface="微软雅黑" panose="020B0503020204020204" pitchFamily="34" charset="-122"/>
              </a:rPr>
              <a:t>小结</a:t>
            </a:r>
            <a:r>
              <a:rPr lang="en-US" altLang="zh-CN" sz="2000" dirty="0">
                <a:solidFill>
                  <a:srgbClr val="000000"/>
                </a:solidFill>
                <a:latin typeface="微软雅黑" panose="020B0503020204020204" pitchFamily="34" charset="-122"/>
                <a:ea typeface="微软雅黑" panose="020B0503020204020204" pitchFamily="34" charset="-122"/>
              </a:rPr>
              <a:t>)</a:t>
            </a:r>
          </a:p>
        </p:txBody>
      </p:sp>
      <p:pic>
        <p:nvPicPr>
          <p:cNvPr id="47108" name="图片 74"/>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1062038"/>
          </a:xfrm>
          <a:prstGeom prst="rect">
            <a:avLst/>
          </a:prstGeom>
          <a:noFill/>
        </p:spPr>
        <p:txBody>
          <a:bodyPr>
            <a:spAutoFit/>
          </a:bodyPr>
          <a:lstStyle/>
          <a:p>
            <a:pPr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2.1.2 MCS-51</a:t>
            </a:r>
            <a:r>
              <a:rPr lang="zh-CN" altLang="en-US" sz="2400" b="1" dirty="0">
                <a:solidFill>
                  <a:prstClr val="black"/>
                </a:solidFill>
                <a:latin typeface="微软雅黑" panose="020B0503020204020204" pitchFamily="34" charset="-122"/>
                <a:ea typeface="微软雅黑" panose="020B0503020204020204" pitchFamily="34" charset="-122"/>
              </a:rPr>
              <a:t>引脚功能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285750" indent="-285750" fontAlgn="auto">
              <a:lnSpc>
                <a:spcPct val="150000"/>
              </a:lnSpc>
              <a:spcBef>
                <a:spcPts val="0"/>
              </a:spcBef>
              <a:spcAft>
                <a:spcPts val="0"/>
              </a:spcAft>
              <a:buFont typeface="Wingdings" panose="05000000000000000000" pitchFamily="2" charset="2"/>
              <a:buChar char="n"/>
              <a:defRPr/>
            </a:pPr>
            <a:r>
              <a:rPr lang="en-US" altLang="zh-CN" dirty="0">
                <a:solidFill>
                  <a:prstClr val="black"/>
                </a:solidFill>
                <a:latin typeface="微软雅黑" panose="020B0503020204020204" pitchFamily="34" charset="-122"/>
                <a:ea typeface="微软雅黑" panose="020B0503020204020204" pitchFamily="34" charset="-122"/>
              </a:rPr>
              <a:t>8051</a:t>
            </a:r>
            <a:r>
              <a:rPr lang="zh-CN" altLang="en-US" dirty="0">
                <a:solidFill>
                  <a:prstClr val="black"/>
                </a:solidFill>
                <a:latin typeface="微软雅黑" panose="020B0503020204020204" pitchFamily="34" charset="-122"/>
                <a:ea typeface="微软雅黑" panose="020B0503020204020204" pitchFamily="34" charset="-122"/>
              </a:rPr>
              <a:t>单片机为高性能单片机，受引脚数目的限制，有不少引脚具有</a:t>
            </a:r>
            <a:r>
              <a:rPr lang="zh-CN" altLang="en-US" b="1" dirty="0">
                <a:solidFill>
                  <a:srgbClr val="0000FF"/>
                </a:solidFill>
                <a:latin typeface="微软雅黑" panose="020B0503020204020204" pitchFamily="34" charset="-122"/>
                <a:ea typeface="微软雅黑" panose="020B0503020204020204" pitchFamily="34" charset="-122"/>
              </a:rPr>
              <a:t>双重功能</a:t>
            </a:r>
            <a:r>
              <a:rPr lang="zh-CN" altLang="en-US" dirty="0">
                <a:solidFill>
                  <a:prstClr val="black"/>
                </a:solidFill>
                <a:latin typeface="微软雅黑" panose="020B0503020204020204" pitchFamily="34" charset="-122"/>
                <a:ea typeface="微软雅黑" panose="020B0503020204020204" pitchFamily="34" charset="-122"/>
              </a:rPr>
              <a:t>。</a:t>
            </a:r>
            <a:endParaRPr lang="en-US" altLang="zh-CN" dirty="0">
              <a:solidFill>
                <a:prstClr val="black"/>
              </a:solidFill>
              <a:latin typeface="微软雅黑" panose="020B0503020204020204" pitchFamily="34" charset="-122"/>
              <a:ea typeface="微软雅黑" panose="020B0503020204020204" pitchFamily="34" charset="-122"/>
            </a:endParaRPr>
          </a:p>
        </p:txBody>
      </p:sp>
      <p:sp>
        <p:nvSpPr>
          <p:cNvPr id="49155"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dirty="0">
                <a:solidFill>
                  <a:srgbClr val="000000"/>
                </a:solidFill>
                <a:latin typeface="微软雅黑" panose="020B0503020204020204" pitchFamily="34" charset="-122"/>
                <a:ea typeface="微软雅黑" panose="020B0503020204020204" pitchFamily="34" charset="-122"/>
              </a:rPr>
              <a:t>2.1 MCS-51</a:t>
            </a:r>
            <a:r>
              <a:rPr lang="zh-CN" altLang="en-US" sz="2800" dirty="0">
                <a:solidFill>
                  <a:srgbClr val="000000"/>
                </a:solidFill>
                <a:latin typeface="微软雅黑" panose="020B0503020204020204" pitchFamily="34" charset="-122"/>
                <a:ea typeface="微软雅黑" panose="020B0503020204020204" pitchFamily="34" charset="-122"/>
              </a:rPr>
              <a:t>单片机总体结构</a:t>
            </a:r>
          </a:p>
        </p:txBody>
      </p:sp>
      <p:sp>
        <p:nvSpPr>
          <p:cNvPr id="49156" name="矩形 2"/>
          <p:cNvSpPr>
            <a:spLocks noChangeArrowheads="1"/>
          </p:cNvSpPr>
          <p:nvPr/>
        </p:nvSpPr>
        <p:spPr bwMode="auto">
          <a:xfrm>
            <a:off x="3197225" y="6237288"/>
            <a:ext cx="2773363" cy="431800"/>
          </a:xfrm>
          <a:prstGeom prst="rect">
            <a:avLst/>
          </a:prstGeom>
          <a:noFill/>
          <a:ln w="9525">
            <a:noFill/>
            <a:miter lim="800000"/>
          </a:ln>
        </p:spPr>
        <p:txBody>
          <a:bodyPr wrap="none">
            <a:spAutoFit/>
          </a:bodyPr>
          <a:lstStyle/>
          <a:p>
            <a:r>
              <a:rPr lang="en-US" altLang="zh-CN" sz="2200">
                <a:latin typeface="微软雅黑" panose="020B0503020204020204" pitchFamily="34" charset="-122"/>
                <a:ea typeface="微软雅黑" panose="020B0503020204020204" pitchFamily="34" charset="-122"/>
              </a:rPr>
              <a:t>40</a:t>
            </a:r>
            <a:r>
              <a:rPr lang="zh-CN" altLang="en-US" sz="2200">
                <a:latin typeface="微软雅黑" panose="020B0503020204020204" pitchFamily="34" charset="-122"/>
                <a:ea typeface="微软雅黑" panose="020B0503020204020204" pitchFamily="34" charset="-122"/>
              </a:rPr>
              <a:t>脚双列直插式封装</a:t>
            </a:r>
          </a:p>
        </p:txBody>
      </p:sp>
      <p:pic>
        <p:nvPicPr>
          <p:cNvPr id="49157" name="图片 7"/>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49158" name="图片 8"/>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pic>
        <p:nvPicPr>
          <p:cNvPr id="4" name="图片 3"/>
          <p:cNvPicPr>
            <a:picLocks noChangeAspect="1"/>
          </p:cNvPicPr>
          <p:nvPr/>
        </p:nvPicPr>
        <p:blipFill>
          <a:blip r:embed="rId5"/>
          <a:stretch>
            <a:fillRect/>
          </a:stretch>
        </p:blipFill>
        <p:spPr>
          <a:xfrm>
            <a:off x="1501775" y="1798395"/>
            <a:ext cx="6648450" cy="462145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49157" name="图片 7"/>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49158" name="图片 8"/>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
        <p:nvSpPr>
          <p:cNvPr id="9" name="文本框 8"/>
          <p:cNvSpPr txBox="1"/>
          <p:nvPr/>
        </p:nvSpPr>
        <p:spPr>
          <a:xfrm>
            <a:off x="259094" y="742872"/>
            <a:ext cx="8635669" cy="581057"/>
          </a:xfrm>
          <a:prstGeom prst="rect">
            <a:avLst/>
          </a:prstGeom>
          <a:noFill/>
        </p:spPr>
        <p:txBody>
          <a:bodyPr wrap="square" rtlCol="0">
            <a:spAutoFit/>
          </a:bodyPr>
          <a:lstStyle/>
          <a:p>
            <a:pPr algn="just">
              <a:lnSpc>
                <a:spcPct val="150000"/>
              </a:lnSpc>
              <a:buClr>
                <a:srgbClr val="FF0000"/>
              </a:buClr>
            </a:pPr>
            <a:r>
              <a:rPr lang="zh-CN" altLang="en-US" sz="2400" b="1" dirty="0">
                <a:solidFill>
                  <a:srgbClr val="C00000"/>
                </a:solidFill>
                <a:latin typeface="微软雅黑" panose="020B0503020204020204" pitchFamily="34" charset="-122"/>
                <a:ea typeface="微软雅黑" panose="020B0503020204020204" pitchFamily="34" charset="-122"/>
              </a:rPr>
              <a:t>芯片封装形式</a:t>
            </a:r>
            <a:r>
              <a:rPr lang="en-US" altLang="zh-CN" sz="2400" b="1" dirty="0">
                <a:solidFill>
                  <a:srgbClr val="C00000"/>
                </a:solidFill>
                <a:latin typeface="微软雅黑" panose="020B0503020204020204" pitchFamily="34" charset="-122"/>
                <a:ea typeface="微软雅黑" panose="020B0503020204020204" pitchFamily="34" charset="-122"/>
              </a:rPr>
              <a:t> </a:t>
            </a:r>
          </a:p>
        </p:txBody>
      </p:sp>
      <p:pic>
        <p:nvPicPr>
          <p:cNvPr id="10" name="图片 9"/>
          <p:cNvPicPr>
            <a:picLocks noChangeAspect="1"/>
          </p:cNvPicPr>
          <p:nvPr/>
        </p:nvPicPr>
        <p:blipFill rotWithShape="1">
          <a:blip r:embed="rId5">
            <a:extLst>
              <a:ext uri="{28A0092B-C50C-407E-A947-70E740481C1C}">
                <a14:useLocalDpi xmlns:a14="http://schemas.microsoft.com/office/drawing/2010/main" val="0"/>
              </a:ext>
            </a:extLst>
          </a:blip>
          <a:srcRect t="20070" b="23274"/>
          <a:stretch>
            <a:fillRect/>
          </a:stretch>
        </p:blipFill>
        <p:spPr>
          <a:xfrm>
            <a:off x="981489" y="4148678"/>
            <a:ext cx="3076676" cy="1743114"/>
          </a:xfrm>
          <a:prstGeom prst="rect">
            <a:avLst/>
          </a:prstGeom>
        </p:spPr>
      </p:pic>
      <p:pic>
        <p:nvPicPr>
          <p:cNvPr id="11" name="图片 10"/>
          <p:cNvPicPr>
            <a:picLocks noChangeAspect="1"/>
          </p:cNvPicPr>
          <p:nvPr/>
        </p:nvPicPr>
        <p:blipFill rotWithShape="1">
          <a:blip r:embed="rId6" cstate="print">
            <a:extLst>
              <a:ext uri="{28A0092B-C50C-407E-A947-70E740481C1C}">
                <a14:useLocalDpi xmlns:a14="http://schemas.microsoft.com/office/drawing/2010/main" val="0"/>
              </a:ext>
            </a:extLst>
          </a:blip>
          <a:srcRect l="6192" t="5434" r="6293" b="7051"/>
          <a:stretch>
            <a:fillRect/>
          </a:stretch>
        </p:blipFill>
        <p:spPr>
          <a:xfrm>
            <a:off x="3629280" y="1374244"/>
            <a:ext cx="1850458" cy="1850458"/>
          </a:xfrm>
          <a:prstGeom prst="rect">
            <a:avLst/>
          </a:prstGeom>
        </p:spPr>
      </p:pic>
      <p:sp>
        <p:nvSpPr>
          <p:cNvPr id="12" name="文本框 11"/>
          <p:cNvSpPr txBox="1"/>
          <p:nvPr/>
        </p:nvSpPr>
        <p:spPr>
          <a:xfrm>
            <a:off x="3917964" y="3335544"/>
            <a:ext cx="1312924" cy="400110"/>
          </a:xfrm>
          <a:prstGeom prst="rect">
            <a:avLst/>
          </a:prstGeom>
          <a:solidFill>
            <a:schemeClr val="accent6">
              <a:lumMod val="20000"/>
              <a:lumOff val="80000"/>
            </a:schemeClr>
          </a:solidFill>
        </p:spPr>
        <p:txBody>
          <a:bodyPr wrap="none" rtlCol="0">
            <a:spAutoFit/>
          </a:bodyPr>
          <a:lstStyle/>
          <a:p>
            <a:r>
              <a:rPr lang="en-US" altLang="zh-CN" sz="2000" dirty="0">
                <a:latin typeface="微软雅黑" panose="020B0503020204020204" pitchFamily="34" charset="-122"/>
                <a:ea typeface="微软雅黑" panose="020B0503020204020204" pitchFamily="34" charset="-122"/>
              </a:rPr>
              <a:t>PLCC</a:t>
            </a:r>
            <a:r>
              <a:rPr lang="zh-CN" altLang="en-US" sz="2000" dirty="0">
                <a:latin typeface="微软雅黑" panose="020B0503020204020204" pitchFamily="34" charset="-122"/>
                <a:ea typeface="微软雅黑" panose="020B0503020204020204" pitchFamily="34" charset="-122"/>
              </a:rPr>
              <a:t>封装</a:t>
            </a:r>
          </a:p>
        </p:txBody>
      </p:sp>
      <p:sp>
        <p:nvSpPr>
          <p:cNvPr id="13" name="文本框 12"/>
          <p:cNvSpPr txBox="1"/>
          <p:nvPr/>
        </p:nvSpPr>
        <p:spPr>
          <a:xfrm>
            <a:off x="1760477" y="5970819"/>
            <a:ext cx="1199367" cy="400110"/>
          </a:xfrm>
          <a:prstGeom prst="rect">
            <a:avLst/>
          </a:prstGeom>
          <a:solidFill>
            <a:schemeClr val="accent6">
              <a:lumMod val="20000"/>
              <a:lumOff val="80000"/>
            </a:schemeClr>
          </a:solidFill>
        </p:spPr>
        <p:txBody>
          <a:bodyPr wrap="none" rtlCol="0">
            <a:spAutoFit/>
          </a:bodyPr>
          <a:lstStyle/>
          <a:p>
            <a:r>
              <a:rPr lang="en-US" altLang="zh-CN" sz="2000" dirty="0">
                <a:latin typeface="微软雅黑" panose="020B0503020204020204" pitchFamily="34" charset="-122"/>
                <a:ea typeface="微软雅黑" panose="020B0503020204020204" pitchFamily="34" charset="-122"/>
              </a:rPr>
              <a:t>QFP</a:t>
            </a:r>
            <a:r>
              <a:rPr lang="zh-CN" altLang="en-US" sz="2000" dirty="0">
                <a:latin typeface="微软雅黑" panose="020B0503020204020204" pitchFamily="34" charset="-122"/>
                <a:ea typeface="微软雅黑" panose="020B0503020204020204" pitchFamily="34" charset="-122"/>
              </a:rPr>
              <a:t>封装</a:t>
            </a:r>
          </a:p>
        </p:txBody>
      </p:sp>
      <p:pic>
        <p:nvPicPr>
          <p:cNvPr id="14" name="图片 1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65270" y="1348182"/>
            <a:ext cx="2316351" cy="1754396"/>
          </a:xfrm>
          <a:prstGeom prst="rect">
            <a:avLst/>
          </a:prstGeom>
        </p:spPr>
      </p:pic>
      <p:sp>
        <p:nvSpPr>
          <p:cNvPr id="15" name="文本框 14"/>
          <p:cNvSpPr txBox="1"/>
          <p:nvPr/>
        </p:nvSpPr>
        <p:spPr>
          <a:xfrm>
            <a:off x="6974179" y="3335544"/>
            <a:ext cx="1210588" cy="400110"/>
          </a:xfrm>
          <a:prstGeom prst="rect">
            <a:avLst/>
          </a:prstGeom>
          <a:solidFill>
            <a:schemeClr val="accent6">
              <a:lumMod val="20000"/>
              <a:lumOff val="80000"/>
            </a:schemeClr>
          </a:solidFill>
        </p:spPr>
        <p:txBody>
          <a:bodyPr wrap="none" rtlCol="0">
            <a:spAutoFit/>
          </a:bodyPr>
          <a:lstStyle/>
          <a:p>
            <a:r>
              <a:rPr lang="en-US" altLang="zh-CN" sz="2000" dirty="0">
                <a:latin typeface="微软雅黑" panose="020B0503020204020204" pitchFamily="34" charset="-122"/>
                <a:ea typeface="微软雅黑" panose="020B0503020204020204" pitchFamily="34" charset="-122"/>
              </a:rPr>
              <a:t>SOP</a:t>
            </a:r>
            <a:r>
              <a:rPr lang="zh-CN" altLang="en-US" sz="2000" dirty="0">
                <a:latin typeface="微软雅黑" panose="020B0503020204020204" pitchFamily="34" charset="-122"/>
                <a:ea typeface="微软雅黑" panose="020B0503020204020204" pitchFamily="34" charset="-122"/>
              </a:rPr>
              <a:t>封装</a:t>
            </a:r>
          </a:p>
        </p:txBody>
      </p:sp>
      <p:pic>
        <p:nvPicPr>
          <p:cNvPr id="16" name="图片 15"/>
          <p:cNvPicPr>
            <a:picLocks noChangeAspect="1"/>
          </p:cNvPicPr>
          <p:nvPr/>
        </p:nvPicPr>
        <p:blipFill rotWithShape="1">
          <a:blip r:embed="rId8">
            <a:extLst>
              <a:ext uri="{28A0092B-C50C-407E-A947-70E740481C1C}">
                <a14:useLocalDpi xmlns:a14="http://schemas.microsoft.com/office/drawing/2010/main" val="0"/>
              </a:ext>
            </a:extLst>
          </a:blip>
          <a:srcRect l="6660" t="7737" r="5110" b="6923"/>
          <a:stretch>
            <a:fillRect/>
          </a:stretch>
        </p:blipFill>
        <p:spPr>
          <a:xfrm>
            <a:off x="4799132" y="4140724"/>
            <a:ext cx="2714851" cy="1825033"/>
          </a:xfrm>
          <a:prstGeom prst="rect">
            <a:avLst/>
          </a:prstGeom>
        </p:spPr>
      </p:pic>
      <p:sp>
        <p:nvSpPr>
          <p:cNvPr id="17" name="文本框 16"/>
          <p:cNvSpPr txBox="1"/>
          <p:nvPr/>
        </p:nvSpPr>
        <p:spPr>
          <a:xfrm>
            <a:off x="5424334" y="5970819"/>
            <a:ext cx="1229824" cy="400110"/>
          </a:xfrm>
          <a:prstGeom prst="rect">
            <a:avLst/>
          </a:prstGeom>
          <a:solidFill>
            <a:schemeClr val="accent6">
              <a:lumMod val="20000"/>
              <a:lumOff val="80000"/>
            </a:schemeClr>
          </a:solidFill>
        </p:spPr>
        <p:txBody>
          <a:bodyPr wrap="none" rtlCol="0">
            <a:spAutoFit/>
          </a:bodyPr>
          <a:lstStyle/>
          <a:p>
            <a:r>
              <a:rPr lang="en-US" altLang="zh-CN" sz="2000" dirty="0">
                <a:latin typeface="微软雅黑" panose="020B0503020204020204" pitchFamily="34" charset="-122"/>
                <a:ea typeface="微软雅黑" panose="020B0503020204020204" pitchFamily="34" charset="-122"/>
              </a:rPr>
              <a:t>BGA</a:t>
            </a:r>
            <a:r>
              <a:rPr lang="zh-CN" altLang="en-US" sz="2000" dirty="0">
                <a:latin typeface="微软雅黑" panose="020B0503020204020204" pitchFamily="34" charset="-122"/>
                <a:ea typeface="微软雅黑" panose="020B0503020204020204" pitchFamily="34" charset="-122"/>
              </a:rPr>
              <a:t>封装</a:t>
            </a:r>
          </a:p>
        </p:txBody>
      </p:sp>
      <p:pic>
        <p:nvPicPr>
          <p:cNvPr id="18" name="图片 17"/>
          <p:cNvPicPr>
            <a:picLocks noChangeAspect="1"/>
          </p:cNvPicPr>
          <p:nvPr/>
        </p:nvPicPr>
        <p:blipFill rotWithShape="1">
          <a:blip r:embed="rId9">
            <a:extLst>
              <a:ext uri="{28A0092B-C50C-407E-A947-70E740481C1C}">
                <a14:useLocalDpi xmlns:a14="http://schemas.microsoft.com/office/drawing/2010/main" val="0"/>
              </a:ext>
            </a:extLst>
          </a:blip>
          <a:srcRect l="6328" t="7095" r="2550" b="6978"/>
          <a:stretch>
            <a:fillRect/>
          </a:stretch>
        </p:blipFill>
        <p:spPr>
          <a:xfrm>
            <a:off x="981449" y="1374244"/>
            <a:ext cx="1962299" cy="1850458"/>
          </a:xfrm>
          <a:prstGeom prst="rect">
            <a:avLst/>
          </a:prstGeom>
        </p:spPr>
      </p:pic>
      <p:sp>
        <p:nvSpPr>
          <p:cNvPr id="19" name="文本框 18"/>
          <p:cNvSpPr txBox="1"/>
          <p:nvPr/>
        </p:nvSpPr>
        <p:spPr>
          <a:xfrm>
            <a:off x="1141737" y="3335544"/>
            <a:ext cx="1125629" cy="400110"/>
          </a:xfrm>
          <a:prstGeom prst="rect">
            <a:avLst/>
          </a:prstGeom>
          <a:solidFill>
            <a:schemeClr val="accent6">
              <a:lumMod val="20000"/>
              <a:lumOff val="80000"/>
            </a:schemeClr>
          </a:solidFill>
        </p:spPr>
        <p:txBody>
          <a:bodyPr wrap="none" rtlCol="0">
            <a:spAutoFit/>
          </a:bodyPr>
          <a:lstStyle/>
          <a:p>
            <a:r>
              <a:rPr lang="en-US" altLang="zh-CN" sz="2000" dirty="0">
                <a:latin typeface="微软雅黑" panose="020B0503020204020204" pitchFamily="34" charset="-122"/>
                <a:ea typeface="微软雅黑" panose="020B0503020204020204" pitchFamily="34" charset="-122"/>
              </a:rPr>
              <a:t>DIP</a:t>
            </a:r>
            <a:r>
              <a:rPr lang="zh-CN" altLang="en-US" sz="2000" dirty="0">
                <a:latin typeface="微软雅黑" panose="020B0503020204020204" pitchFamily="34" charset="-122"/>
                <a:ea typeface="微软雅黑" panose="020B0503020204020204" pitchFamily="34" charset="-122"/>
              </a:rPr>
              <a:t>封装</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49157" name="图片 7"/>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49158" name="图片 8"/>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
        <p:nvSpPr>
          <p:cNvPr id="20" name="文本框 19"/>
          <p:cNvSpPr txBox="1"/>
          <p:nvPr/>
        </p:nvSpPr>
        <p:spPr>
          <a:xfrm>
            <a:off x="257506" y="736608"/>
            <a:ext cx="5258712" cy="2354491"/>
          </a:xfrm>
          <a:prstGeom prst="rect">
            <a:avLst/>
          </a:prstGeom>
          <a:noFill/>
        </p:spPr>
        <p:txBody>
          <a:bodyPr wrap="square" rtlCol="0">
            <a:spAutoFit/>
          </a:bodyPr>
          <a:lstStyle/>
          <a:p>
            <a:pPr algn="just">
              <a:lnSpc>
                <a:spcPct val="150000"/>
              </a:lnSpc>
              <a:buClr>
                <a:srgbClr val="FF0000"/>
              </a:buClr>
            </a:pPr>
            <a:r>
              <a:rPr lang="zh-CN" altLang="en-US" sz="2400" b="1" dirty="0">
                <a:solidFill>
                  <a:srgbClr val="C00000"/>
                </a:solidFill>
                <a:latin typeface="微软雅黑" panose="020B0503020204020204" pitchFamily="34" charset="-122"/>
                <a:ea typeface="微软雅黑" panose="020B0503020204020204" pitchFamily="34" charset="-122"/>
              </a:rPr>
              <a:t>补充：</a:t>
            </a:r>
            <a:endParaRPr lang="en-US" altLang="zh-CN" sz="2400" b="1" dirty="0">
              <a:solidFill>
                <a:srgbClr val="C00000"/>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p"/>
              <a:defRPr/>
            </a:pPr>
            <a:r>
              <a:rPr lang="zh-CN" altLang="en-US" sz="2000" b="1" dirty="0">
                <a:latin typeface="微软雅黑" panose="020B0503020204020204" pitchFamily="34" charset="-122"/>
                <a:ea typeface="微软雅黑" panose="020B0503020204020204" pitchFamily="34" charset="-122"/>
              </a:rPr>
              <a:t>单片机型号标识</a:t>
            </a:r>
            <a:endParaRPr lang="en-US" altLang="zh-CN" sz="2000" b="1" dirty="0">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dirty="0">
                <a:solidFill>
                  <a:prstClr val="black"/>
                </a:solidFill>
                <a:latin typeface="微软雅黑" panose="020B0503020204020204" pitchFamily="34" charset="-122"/>
                <a:ea typeface="微软雅黑" panose="020B0503020204020204" pitchFamily="34" charset="-122"/>
              </a:rPr>
              <a:t>       </a:t>
            </a:r>
            <a:r>
              <a:rPr lang="zh-CN" altLang="en-US" dirty="0">
                <a:solidFill>
                  <a:prstClr val="black"/>
                </a:solidFill>
                <a:latin typeface="微软雅黑" panose="020B0503020204020204" pitchFamily="34" charset="-122"/>
                <a:ea typeface="微软雅黑" panose="020B0503020204020204" pitchFamily="34" charset="-122"/>
              </a:rPr>
              <a:t>自从单片机诞生至今，已发展到</a:t>
            </a:r>
            <a:r>
              <a:rPr lang="en-US" altLang="zh-CN" dirty="0">
                <a:solidFill>
                  <a:prstClr val="black"/>
                </a:solidFill>
                <a:latin typeface="微软雅黑" panose="020B0503020204020204" pitchFamily="34" charset="-122"/>
                <a:ea typeface="微软雅黑" panose="020B0503020204020204" pitchFamily="34" charset="-122"/>
              </a:rPr>
              <a:t>70</a:t>
            </a:r>
            <a:r>
              <a:rPr lang="zh-CN" altLang="en-US" dirty="0">
                <a:solidFill>
                  <a:prstClr val="black"/>
                </a:solidFill>
                <a:latin typeface="微软雅黑" panose="020B0503020204020204" pitchFamily="34" charset="-122"/>
                <a:ea typeface="微软雅黑" panose="020B0503020204020204" pitchFamily="34" charset="-122"/>
              </a:rPr>
              <a:t>多系列近</a:t>
            </a:r>
            <a:r>
              <a:rPr lang="en-US" altLang="zh-CN" dirty="0">
                <a:solidFill>
                  <a:prstClr val="black"/>
                </a:solidFill>
                <a:latin typeface="微软雅黑" panose="020B0503020204020204" pitchFamily="34" charset="-122"/>
                <a:ea typeface="微软雅黑" panose="020B0503020204020204" pitchFamily="34" charset="-122"/>
              </a:rPr>
              <a:t>500</a:t>
            </a:r>
            <a:r>
              <a:rPr lang="zh-CN" altLang="en-US" dirty="0">
                <a:solidFill>
                  <a:prstClr val="black"/>
                </a:solidFill>
                <a:latin typeface="微软雅黑" panose="020B0503020204020204" pitchFamily="34" charset="-122"/>
                <a:ea typeface="微软雅黑" panose="020B0503020204020204" pitchFamily="34" charset="-122"/>
              </a:rPr>
              <a:t>个机种。据国外资料，</a:t>
            </a:r>
            <a:r>
              <a:rPr lang="en-US" altLang="zh-CN" dirty="0">
                <a:solidFill>
                  <a:prstClr val="black"/>
                </a:solidFill>
                <a:latin typeface="微软雅黑" panose="020B0503020204020204" pitchFamily="34" charset="-122"/>
                <a:ea typeface="微软雅黑" panose="020B0503020204020204" pitchFamily="34" charset="-122"/>
              </a:rPr>
              <a:t>Intel</a:t>
            </a:r>
            <a:r>
              <a:rPr lang="zh-CN" altLang="en-US" dirty="0">
                <a:solidFill>
                  <a:prstClr val="black"/>
                </a:solidFill>
                <a:latin typeface="微软雅黑" panose="020B0503020204020204" pitchFamily="34" charset="-122"/>
                <a:ea typeface="微软雅黑" panose="020B0503020204020204" pitchFamily="34" charset="-122"/>
              </a:rPr>
              <a:t>公司的单片机在市场上占有约</a:t>
            </a:r>
            <a:r>
              <a:rPr lang="en-US" altLang="zh-CN" dirty="0">
                <a:solidFill>
                  <a:prstClr val="black"/>
                </a:solidFill>
                <a:latin typeface="微软雅黑" panose="020B0503020204020204" pitchFamily="34" charset="-122"/>
                <a:ea typeface="微软雅黑" panose="020B0503020204020204" pitchFamily="34" charset="-122"/>
              </a:rPr>
              <a:t>67%</a:t>
            </a:r>
            <a:r>
              <a:rPr lang="zh-CN" altLang="en-US" dirty="0">
                <a:solidFill>
                  <a:prstClr val="black"/>
                </a:solidFill>
                <a:latin typeface="微软雅黑" panose="020B0503020204020204" pitchFamily="34" charset="-122"/>
                <a:ea typeface="微软雅黑" panose="020B0503020204020204" pitchFamily="34" charset="-122"/>
              </a:rPr>
              <a:t>，其中</a:t>
            </a:r>
            <a:r>
              <a:rPr lang="en-US" altLang="zh-CN" b="1" dirty="0">
                <a:solidFill>
                  <a:prstClr val="black"/>
                </a:solidFill>
                <a:latin typeface="微软雅黑" panose="020B0503020204020204" pitchFamily="34" charset="-122"/>
                <a:ea typeface="微软雅黑" panose="020B0503020204020204" pitchFamily="34" charset="-122"/>
              </a:rPr>
              <a:t>MCS-51</a:t>
            </a:r>
            <a:r>
              <a:rPr lang="zh-CN" altLang="en-US" b="1" dirty="0">
                <a:solidFill>
                  <a:prstClr val="black"/>
                </a:solidFill>
                <a:latin typeface="微软雅黑" panose="020B0503020204020204" pitchFamily="34" charset="-122"/>
                <a:ea typeface="微软雅黑" panose="020B0503020204020204" pitchFamily="34" charset="-122"/>
              </a:rPr>
              <a:t>系列</a:t>
            </a:r>
            <a:r>
              <a:rPr lang="zh-CN" altLang="en-US" dirty="0">
                <a:solidFill>
                  <a:prstClr val="black"/>
                </a:solidFill>
                <a:latin typeface="微软雅黑" panose="020B0503020204020204" pitchFamily="34" charset="-122"/>
                <a:ea typeface="微软雅黑" panose="020B0503020204020204" pitchFamily="34" charset="-122"/>
              </a:rPr>
              <a:t>产品又占</a:t>
            </a:r>
            <a:r>
              <a:rPr lang="en-US" altLang="zh-CN" dirty="0">
                <a:solidFill>
                  <a:prstClr val="black"/>
                </a:solidFill>
                <a:latin typeface="微软雅黑" panose="020B0503020204020204" pitchFamily="34" charset="-122"/>
                <a:ea typeface="微软雅黑" panose="020B0503020204020204" pitchFamily="34" charset="-122"/>
              </a:rPr>
              <a:t>54%</a:t>
            </a:r>
            <a:r>
              <a:rPr lang="zh-CN" altLang="en-US" dirty="0">
                <a:solidFill>
                  <a:prstClr val="black"/>
                </a:solidFill>
                <a:latin typeface="微软雅黑" panose="020B0503020204020204" pitchFamily="34" charset="-122"/>
                <a:ea typeface="微软雅黑" panose="020B0503020204020204" pitchFamily="34" charset="-122"/>
              </a:rPr>
              <a:t>。</a:t>
            </a:r>
            <a:endParaRPr lang="en-US" altLang="zh-CN" dirty="0">
              <a:solidFill>
                <a:srgbClr val="C00000"/>
              </a:solidFill>
              <a:latin typeface="微软雅黑" panose="020B0503020204020204" pitchFamily="34" charset="-122"/>
              <a:ea typeface="微软雅黑" panose="020B0503020204020204" pitchFamily="34" charset="-122"/>
            </a:endParaRPr>
          </a:p>
        </p:txBody>
      </p:sp>
      <p:pic>
        <p:nvPicPr>
          <p:cNvPr id="21" name="图片 20"/>
          <p:cNvPicPr>
            <a:picLocks noChangeAspect="1"/>
          </p:cNvPicPr>
          <p:nvPr/>
        </p:nvPicPr>
        <p:blipFill>
          <a:blip r:embed="rId5"/>
          <a:stretch>
            <a:fillRect/>
          </a:stretch>
        </p:blipFill>
        <p:spPr>
          <a:xfrm>
            <a:off x="5706346" y="1575680"/>
            <a:ext cx="3186829" cy="1749906"/>
          </a:xfrm>
          <a:prstGeom prst="rect">
            <a:avLst/>
          </a:prstGeom>
          <a:solidFill>
            <a:schemeClr val="accent6">
              <a:lumMod val="20000"/>
              <a:lumOff val="80000"/>
            </a:schemeClr>
          </a:solidFill>
        </p:spPr>
      </p:pic>
      <p:sp>
        <p:nvSpPr>
          <p:cNvPr id="22" name="文本框 21"/>
          <p:cNvSpPr txBox="1"/>
          <p:nvPr/>
        </p:nvSpPr>
        <p:spPr>
          <a:xfrm>
            <a:off x="253801" y="3510377"/>
            <a:ext cx="8639374" cy="2862322"/>
          </a:xfrm>
          <a:prstGeom prst="rect">
            <a:avLst/>
          </a:prstGeom>
          <a:noFill/>
        </p:spPr>
        <p:txBody>
          <a:bodyPr wrap="square" rtlCol="0">
            <a:spAutoFit/>
          </a:bodyPr>
          <a:lstStyle/>
          <a:p>
            <a:pPr algn="just">
              <a:lnSpc>
                <a:spcPct val="150000"/>
              </a:lnSpc>
            </a:pPr>
            <a:r>
              <a:rPr lang="en-US" altLang="zh-CN" sz="2000" dirty="0">
                <a:solidFill>
                  <a:prstClr val="black"/>
                </a:solidFill>
                <a:latin typeface="微软雅黑" panose="020B0503020204020204" pitchFamily="34" charset="-122"/>
                <a:ea typeface="微软雅黑" panose="020B0503020204020204" pitchFamily="34" charset="-122"/>
              </a:rPr>
              <a:t>       89</a:t>
            </a:r>
            <a:r>
              <a:rPr lang="zh-CN" altLang="en-US" sz="2000" dirty="0">
                <a:solidFill>
                  <a:prstClr val="black"/>
                </a:solidFill>
                <a:latin typeface="微软雅黑" panose="020B0503020204020204" pitchFamily="34" charset="-122"/>
                <a:ea typeface="微软雅黑" panose="020B0503020204020204" pitchFamily="34" charset="-122"/>
              </a:rPr>
              <a:t>系列单片机的型号编码由</a:t>
            </a:r>
            <a:r>
              <a:rPr lang="zh-CN" altLang="en-US" sz="2000" b="1" dirty="0">
                <a:solidFill>
                  <a:srgbClr val="C00000"/>
                </a:solidFill>
                <a:latin typeface="微软雅黑" panose="020B0503020204020204" pitchFamily="34" charset="-122"/>
                <a:ea typeface="微软雅黑" panose="020B0503020204020204" pitchFamily="34" charset="-122"/>
              </a:rPr>
              <a:t>前缀</a:t>
            </a:r>
            <a:r>
              <a:rPr lang="zh-CN" altLang="en-US" sz="2000" dirty="0">
                <a:solidFill>
                  <a:prstClr val="black"/>
                </a:solidFill>
                <a:latin typeface="微软雅黑" panose="020B0503020204020204" pitchFamily="34" charset="-122"/>
                <a:ea typeface="微软雅黑" panose="020B0503020204020204" pitchFamily="34" charset="-122"/>
              </a:rPr>
              <a:t>、</a:t>
            </a:r>
            <a:r>
              <a:rPr lang="zh-CN" altLang="en-US" sz="2000" b="1" dirty="0">
                <a:solidFill>
                  <a:srgbClr val="C00000"/>
                </a:solidFill>
                <a:latin typeface="微软雅黑" panose="020B0503020204020204" pitchFamily="34" charset="-122"/>
                <a:ea typeface="微软雅黑" panose="020B0503020204020204" pitchFamily="34" charset="-122"/>
              </a:rPr>
              <a:t>型号</a:t>
            </a:r>
            <a:r>
              <a:rPr lang="zh-CN" altLang="en-US" sz="2000" dirty="0">
                <a:solidFill>
                  <a:prstClr val="black"/>
                </a:solidFill>
                <a:latin typeface="微软雅黑" panose="020B0503020204020204" pitchFamily="34" charset="-122"/>
                <a:ea typeface="微软雅黑" panose="020B0503020204020204" pitchFamily="34" charset="-122"/>
              </a:rPr>
              <a:t>和</a:t>
            </a:r>
            <a:r>
              <a:rPr lang="zh-CN" altLang="en-US" sz="2000" b="1" dirty="0">
                <a:solidFill>
                  <a:srgbClr val="C00000"/>
                </a:solidFill>
                <a:latin typeface="微软雅黑" panose="020B0503020204020204" pitchFamily="34" charset="-122"/>
                <a:ea typeface="微软雅黑" panose="020B0503020204020204" pitchFamily="34" charset="-122"/>
              </a:rPr>
              <a:t>后缀</a:t>
            </a:r>
            <a:r>
              <a:rPr lang="zh-CN" altLang="en-US" sz="2000" dirty="0">
                <a:solidFill>
                  <a:prstClr val="black"/>
                </a:solidFill>
                <a:latin typeface="微软雅黑" panose="020B0503020204020204" pitchFamily="34" charset="-122"/>
                <a:ea typeface="微软雅黑" panose="020B0503020204020204" pitchFamily="34" charset="-122"/>
              </a:rPr>
              <a:t>三部分组成。格式如下：</a:t>
            </a:r>
            <a:r>
              <a:rPr lang="en-US" altLang="zh-CN" sz="2000" dirty="0">
                <a:solidFill>
                  <a:prstClr val="black"/>
                </a:solidFill>
                <a:latin typeface="微软雅黑" panose="020B0503020204020204" pitchFamily="34" charset="-122"/>
                <a:ea typeface="微软雅黑" panose="020B0503020204020204" pitchFamily="34" charset="-122"/>
              </a:rPr>
              <a:t>AT89CXXXX-XXXX</a:t>
            </a:r>
            <a:r>
              <a:rPr lang="zh-CN" altLang="en-US" sz="2000" dirty="0">
                <a:solidFill>
                  <a:prstClr val="black"/>
                </a:solidFill>
                <a:latin typeface="微软雅黑" panose="020B0503020204020204" pitchFamily="34" charset="-122"/>
                <a:ea typeface="微软雅黑" panose="020B0503020204020204" pitchFamily="34" charset="-122"/>
              </a:rPr>
              <a:t>，其中，</a:t>
            </a:r>
            <a:r>
              <a:rPr lang="en-US" altLang="zh-CN" sz="2000" dirty="0">
                <a:solidFill>
                  <a:prstClr val="black"/>
                </a:solidFill>
                <a:latin typeface="微软雅黑" panose="020B0503020204020204" pitchFamily="34" charset="-122"/>
                <a:ea typeface="微软雅黑" panose="020B0503020204020204" pitchFamily="34" charset="-122"/>
              </a:rPr>
              <a:t>AT</a:t>
            </a:r>
            <a:r>
              <a:rPr lang="zh-CN" altLang="en-US" sz="2000" dirty="0">
                <a:solidFill>
                  <a:prstClr val="black"/>
                </a:solidFill>
                <a:latin typeface="微软雅黑" panose="020B0503020204020204" pitchFamily="34" charset="-122"/>
                <a:ea typeface="微软雅黑" panose="020B0503020204020204" pitchFamily="34" charset="-122"/>
              </a:rPr>
              <a:t>是前缀，</a:t>
            </a:r>
            <a:r>
              <a:rPr lang="en-US" altLang="zh-CN" sz="2000" dirty="0">
                <a:solidFill>
                  <a:prstClr val="black"/>
                </a:solidFill>
                <a:latin typeface="微软雅黑" panose="020B0503020204020204" pitchFamily="34" charset="-122"/>
                <a:ea typeface="微软雅黑" panose="020B0503020204020204" pitchFamily="34" charset="-122"/>
              </a:rPr>
              <a:t>89CXXXX</a:t>
            </a:r>
            <a:r>
              <a:rPr lang="zh-CN" altLang="en-US" sz="2000" dirty="0">
                <a:solidFill>
                  <a:prstClr val="black"/>
                </a:solidFill>
                <a:latin typeface="微软雅黑" panose="020B0503020204020204" pitchFamily="34" charset="-122"/>
                <a:ea typeface="微软雅黑" panose="020B0503020204020204" pitchFamily="34" charset="-122"/>
              </a:rPr>
              <a:t>是型号，</a:t>
            </a:r>
            <a:r>
              <a:rPr lang="en-US" altLang="zh-CN" sz="2000" dirty="0">
                <a:solidFill>
                  <a:prstClr val="black"/>
                </a:solidFill>
                <a:latin typeface="微软雅黑" panose="020B0503020204020204" pitchFamily="34" charset="-122"/>
                <a:ea typeface="微软雅黑" panose="020B0503020204020204" pitchFamily="34" charset="-122"/>
              </a:rPr>
              <a:t>XXXX</a:t>
            </a:r>
            <a:r>
              <a:rPr lang="zh-CN" altLang="en-US" sz="2000" dirty="0">
                <a:solidFill>
                  <a:prstClr val="black"/>
                </a:solidFill>
                <a:latin typeface="微软雅黑" panose="020B0503020204020204" pitchFamily="34" charset="-122"/>
                <a:ea typeface="微软雅黑" panose="020B0503020204020204" pitchFamily="34" charset="-122"/>
              </a:rPr>
              <a:t>是后缀。</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000" b="1" dirty="0">
                <a:solidFill>
                  <a:prstClr val="black"/>
                </a:solidFill>
                <a:latin typeface="微软雅黑" panose="020B0503020204020204" pitchFamily="34" charset="-122"/>
                <a:ea typeface="微软雅黑" panose="020B0503020204020204" pitchFamily="34" charset="-122"/>
              </a:rPr>
              <a:t>前缀</a:t>
            </a:r>
            <a:r>
              <a:rPr lang="zh-CN" altLang="en-US" sz="2000" dirty="0">
                <a:solidFill>
                  <a:prstClr val="black"/>
                </a:solidFill>
                <a:latin typeface="微软雅黑" panose="020B0503020204020204" pitchFamily="34" charset="-122"/>
                <a:ea typeface="微软雅黑" panose="020B0503020204020204" pitchFamily="34" charset="-122"/>
              </a:rPr>
              <a:t>：表示产品公司，</a:t>
            </a:r>
            <a:r>
              <a:rPr lang="en-US" altLang="zh-CN" sz="2000" dirty="0">
                <a:solidFill>
                  <a:prstClr val="black"/>
                </a:solidFill>
                <a:latin typeface="微软雅黑" panose="020B0503020204020204" pitchFamily="34" charset="-122"/>
                <a:ea typeface="微软雅黑" panose="020B0503020204020204" pitchFamily="34" charset="-122"/>
              </a:rPr>
              <a:t>AT</a:t>
            </a:r>
            <a:r>
              <a:rPr lang="zh-CN" altLang="en-US" sz="2000" dirty="0">
                <a:solidFill>
                  <a:prstClr val="black"/>
                </a:solidFill>
                <a:latin typeface="微软雅黑" panose="020B0503020204020204" pitchFamily="34" charset="-122"/>
                <a:ea typeface="微软雅黑" panose="020B0503020204020204" pitchFamily="34" charset="-122"/>
              </a:rPr>
              <a:t>表示</a:t>
            </a:r>
            <a:r>
              <a:rPr lang="en-US" altLang="zh-CN" sz="2000" dirty="0">
                <a:solidFill>
                  <a:prstClr val="black"/>
                </a:solidFill>
                <a:latin typeface="微软雅黑" panose="020B0503020204020204" pitchFamily="34" charset="-122"/>
                <a:ea typeface="微软雅黑" panose="020B0503020204020204" pitchFamily="34" charset="-122"/>
              </a:rPr>
              <a:t>ATMEL</a:t>
            </a:r>
            <a:r>
              <a:rPr lang="zh-CN" altLang="en-US" sz="2000" dirty="0">
                <a:solidFill>
                  <a:prstClr val="black"/>
                </a:solidFill>
                <a:latin typeface="微软雅黑" panose="020B0503020204020204" pitchFamily="34" charset="-122"/>
                <a:ea typeface="微软雅黑" panose="020B0503020204020204" pitchFamily="34" charset="-122"/>
              </a:rPr>
              <a:t>公式；</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000" b="1" dirty="0">
                <a:solidFill>
                  <a:prstClr val="black"/>
                </a:solidFill>
                <a:latin typeface="微软雅黑" panose="020B0503020204020204" pitchFamily="34" charset="-122"/>
                <a:ea typeface="微软雅黑" panose="020B0503020204020204" pitchFamily="34" charset="-122"/>
              </a:rPr>
              <a:t>型号</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9</a:t>
            </a:r>
            <a:r>
              <a:rPr lang="zh-CN" altLang="en-US" sz="2000" dirty="0">
                <a:solidFill>
                  <a:prstClr val="black"/>
                </a:solidFill>
                <a:latin typeface="微软雅黑" panose="020B0503020204020204" pitchFamily="34" charset="-122"/>
                <a:ea typeface="微软雅黑" panose="020B0503020204020204" pitchFamily="34" charset="-122"/>
              </a:rPr>
              <a:t>表示内部含</a:t>
            </a:r>
            <a:r>
              <a:rPr lang="en-US" altLang="zh-CN" sz="2000" dirty="0">
                <a:solidFill>
                  <a:prstClr val="black"/>
                </a:solidFill>
                <a:latin typeface="微软雅黑" panose="020B0503020204020204" pitchFamily="34" charset="-122"/>
                <a:ea typeface="微软雅黑" panose="020B0503020204020204" pitchFamily="34" charset="-122"/>
              </a:rPr>
              <a:t>Flash</a:t>
            </a:r>
            <a:r>
              <a:rPr lang="zh-CN" altLang="en-US" sz="2000" dirty="0">
                <a:solidFill>
                  <a:prstClr val="black"/>
                </a:solidFill>
                <a:latin typeface="微软雅黑" panose="020B0503020204020204" pitchFamily="34" charset="-122"/>
                <a:ea typeface="微软雅黑" panose="020B0503020204020204" pitchFamily="34" charset="-122"/>
              </a:rPr>
              <a:t>存储器，</a:t>
            </a:r>
            <a:r>
              <a:rPr lang="en-US" altLang="zh-CN" sz="2000" dirty="0">
                <a:solidFill>
                  <a:prstClr val="black"/>
                </a:solidFill>
                <a:latin typeface="微软雅黑" panose="020B0503020204020204" pitchFamily="34" charset="-122"/>
                <a:ea typeface="微软雅黑" panose="020B0503020204020204" pitchFamily="34" charset="-122"/>
              </a:rPr>
              <a:t>C</a:t>
            </a:r>
            <a:r>
              <a:rPr lang="zh-CN" altLang="en-US" sz="2000" dirty="0">
                <a:solidFill>
                  <a:prstClr val="black"/>
                </a:solidFill>
                <a:latin typeface="微软雅黑" panose="020B0503020204020204" pitchFamily="34" charset="-122"/>
                <a:ea typeface="微软雅黑" panose="020B0503020204020204" pitchFamily="34" charset="-122"/>
              </a:rPr>
              <a:t>表示</a:t>
            </a:r>
            <a:r>
              <a:rPr lang="en-US" altLang="zh-CN" sz="2000" dirty="0">
                <a:solidFill>
                  <a:prstClr val="black"/>
                </a:solidFill>
                <a:latin typeface="微软雅黑" panose="020B0503020204020204" pitchFamily="34" charset="-122"/>
                <a:ea typeface="微软雅黑" panose="020B0503020204020204" pitchFamily="34" charset="-122"/>
              </a:rPr>
              <a:t>CMOS</a:t>
            </a:r>
            <a:r>
              <a:rPr lang="zh-CN" altLang="en-US" sz="2000" dirty="0">
                <a:solidFill>
                  <a:prstClr val="black"/>
                </a:solidFill>
                <a:latin typeface="微软雅黑" panose="020B0503020204020204" pitchFamily="34" charset="-122"/>
                <a:ea typeface="微软雅黑" panose="020B0503020204020204" pitchFamily="34" charset="-122"/>
              </a:rPr>
              <a:t>产品，</a:t>
            </a:r>
            <a:r>
              <a:rPr lang="en-US" altLang="zh-CN" sz="2000" dirty="0">
                <a:solidFill>
                  <a:prstClr val="black"/>
                </a:solidFill>
                <a:latin typeface="微软雅黑" panose="020B0503020204020204" pitchFamily="34" charset="-122"/>
                <a:ea typeface="微软雅黑" panose="020B0503020204020204" pitchFamily="34" charset="-122"/>
              </a:rPr>
              <a:t>LV</a:t>
            </a:r>
            <a:r>
              <a:rPr lang="zh-CN" altLang="en-US" sz="2000" dirty="0">
                <a:solidFill>
                  <a:prstClr val="black"/>
                </a:solidFill>
                <a:latin typeface="微软雅黑" panose="020B0503020204020204" pitchFamily="34" charset="-122"/>
                <a:ea typeface="微软雅黑" panose="020B0503020204020204" pitchFamily="34" charset="-122"/>
              </a:rPr>
              <a:t>表示低压产品，</a:t>
            </a:r>
            <a:r>
              <a:rPr lang="en-US" altLang="zh-CN" sz="2000" dirty="0">
                <a:solidFill>
                  <a:prstClr val="black"/>
                </a:solidFill>
                <a:latin typeface="微软雅黑" panose="020B0503020204020204" pitchFamily="34" charset="-122"/>
                <a:ea typeface="微软雅黑" panose="020B0503020204020204" pitchFamily="34" charset="-122"/>
              </a:rPr>
              <a:t>S</a:t>
            </a:r>
            <a:r>
              <a:rPr lang="zh-CN" altLang="en-US" sz="2000" dirty="0">
                <a:solidFill>
                  <a:prstClr val="black"/>
                </a:solidFill>
                <a:latin typeface="微软雅黑" panose="020B0503020204020204" pitchFamily="34" charset="-122"/>
                <a:ea typeface="微软雅黑" panose="020B0503020204020204" pitchFamily="34" charset="-122"/>
              </a:rPr>
              <a:t>表示含有串行下载</a:t>
            </a:r>
            <a:r>
              <a:rPr lang="en-US" altLang="zh-CN" sz="2000" dirty="0">
                <a:solidFill>
                  <a:prstClr val="black"/>
                </a:solidFill>
                <a:latin typeface="微软雅黑" panose="020B0503020204020204" pitchFamily="34" charset="-122"/>
                <a:ea typeface="微软雅黑" panose="020B0503020204020204" pitchFamily="34" charset="-122"/>
              </a:rPr>
              <a:t>Flash</a:t>
            </a:r>
            <a:r>
              <a:rPr lang="zh-CN" altLang="en-US" sz="2000" dirty="0">
                <a:solidFill>
                  <a:prstClr val="black"/>
                </a:solidFill>
                <a:latin typeface="微软雅黑" panose="020B0503020204020204" pitchFamily="34" charset="-122"/>
                <a:ea typeface="微软雅黑" panose="020B0503020204020204" pitchFamily="34" charset="-122"/>
              </a:rPr>
              <a:t>存储器；</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000" b="1" dirty="0">
                <a:solidFill>
                  <a:prstClr val="black"/>
                </a:solidFill>
                <a:latin typeface="微软雅黑" panose="020B0503020204020204" pitchFamily="34" charset="-122"/>
                <a:ea typeface="微软雅黑" panose="020B0503020204020204" pitchFamily="34" charset="-122"/>
              </a:rPr>
              <a:t>后缀</a:t>
            </a:r>
            <a:r>
              <a:rPr lang="zh-CN" altLang="en-US" sz="2000" dirty="0">
                <a:solidFill>
                  <a:prstClr val="black"/>
                </a:solidFill>
                <a:latin typeface="微软雅黑" panose="020B0503020204020204" pitchFamily="34" charset="-122"/>
                <a:ea typeface="微软雅黑" panose="020B0503020204020204" pitchFamily="34" charset="-122"/>
              </a:rPr>
              <a:t>：表示器件晶振大小及封装类型。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613845"/>
          </a:xfrm>
          <a:prstGeom prst="rect">
            <a:avLst/>
          </a:prstGeom>
          <a:noFill/>
        </p:spPr>
        <p:txBody>
          <a:bodyPr>
            <a:spAutoFit/>
          </a:bodyPr>
          <a:lstStyle/>
          <a:p>
            <a:pPr algn="just" fontAlgn="auto">
              <a:lnSpc>
                <a:spcPct val="120000"/>
              </a:lnSpc>
              <a:spcBef>
                <a:spcPts val="0"/>
              </a:spcBef>
              <a:spcAft>
                <a:spcPts val="0"/>
              </a:spcAft>
              <a:defRPr/>
            </a:pPr>
            <a:r>
              <a:rPr lang="zh-CN" altLang="en-US" sz="2400" b="1" dirty="0">
                <a:solidFill>
                  <a:srgbClr val="7030A0"/>
                </a:solidFill>
                <a:latin typeface="微软雅黑" panose="020B0503020204020204" pitchFamily="34" charset="-122"/>
                <a:ea typeface="微软雅黑" panose="020B0503020204020204" pitchFamily="34" charset="-122"/>
              </a:rPr>
              <a:t>补充：</a:t>
            </a:r>
            <a:endParaRPr lang="en-US" altLang="zh-CN" sz="2400" b="1" dirty="0">
              <a:solidFill>
                <a:srgbClr val="7030A0"/>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p"/>
              <a:defRPr/>
            </a:pPr>
            <a:r>
              <a:rPr lang="zh-CN" altLang="en-US" sz="2000" b="1" dirty="0">
                <a:latin typeface="微软雅黑" panose="020B0503020204020204" pitchFamily="34" charset="-122"/>
                <a:ea typeface="微软雅黑" panose="020B0503020204020204" pitchFamily="34" charset="-122"/>
              </a:rPr>
              <a:t>单片机型号标识</a:t>
            </a:r>
            <a:endParaRPr lang="en-US" altLang="zh-CN" sz="2000" b="1" dirty="0">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AT89S52 DIP</a:t>
            </a:r>
            <a:r>
              <a:rPr lang="zh-CN" altLang="en-US" sz="2000" dirty="0">
                <a:solidFill>
                  <a:prstClr val="black"/>
                </a:solidFill>
                <a:latin typeface="微软雅黑" panose="020B0503020204020204" pitchFamily="34" charset="-122"/>
                <a:ea typeface="微软雅黑" panose="020B0503020204020204" pitchFamily="34" charset="-122"/>
              </a:rPr>
              <a:t>封装现主要有：</a:t>
            </a:r>
            <a:r>
              <a:rPr lang="en-US" altLang="zh-CN" sz="2000" dirty="0">
                <a:solidFill>
                  <a:prstClr val="black"/>
                </a:solidFill>
                <a:latin typeface="微软雅黑" panose="020B0503020204020204" pitchFamily="34" charset="-122"/>
                <a:ea typeface="微软雅黑" panose="020B0503020204020204" pitchFamily="34" charset="-122"/>
              </a:rPr>
              <a:t>AT89S52-24PC</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AT89S52-24PI</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AT89S52-24PU</a:t>
            </a:r>
            <a:r>
              <a:rPr lang="zh-CN" altLang="en-US" sz="2000" dirty="0">
                <a:solidFill>
                  <a:prstClr val="black"/>
                </a:solidFill>
                <a:latin typeface="微软雅黑" panose="020B0503020204020204" pitchFamily="34" charset="-122"/>
                <a:ea typeface="微软雅黑" panose="020B0503020204020204" pitchFamily="34" charset="-122"/>
              </a:rPr>
              <a:t>等型号。</a:t>
            </a:r>
            <a:endParaRPr lang="en-US" altLang="zh-CN" sz="20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例如：</a:t>
            </a:r>
            <a:r>
              <a:rPr lang="en-US" altLang="zh-CN" sz="2000" b="1" dirty="0">
                <a:solidFill>
                  <a:prstClr val="black"/>
                </a:solidFill>
                <a:latin typeface="微软雅黑" panose="020B0503020204020204" pitchFamily="34" charset="-122"/>
                <a:ea typeface="微软雅黑" panose="020B0503020204020204" pitchFamily="34" charset="-122"/>
              </a:rPr>
              <a:t>AT</a:t>
            </a:r>
            <a:r>
              <a:rPr lang="en-US" altLang="zh-CN" sz="2000" b="1" dirty="0">
                <a:solidFill>
                  <a:srgbClr val="FF0000"/>
                </a:solidFill>
                <a:latin typeface="微软雅黑" panose="020B0503020204020204" pitchFamily="34" charset="-122"/>
                <a:ea typeface="微软雅黑" panose="020B0503020204020204" pitchFamily="34" charset="-122"/>
              </a:rPr>
              <a:t>89</a:t>
            </a:r>
            <a:r>
              <a:rPr lang="en-US" altLang="zh-CN" sz="2000" b="1" dirty="0">
                <a:solidFill>
                  <a:srgbClr val="0000FF"/>
                </a:solidFill>
                <a:latin typeface="微软雅黑" panose="020B0503020204020204" pitchFamily="34" charset="-122"/>
                <a:ea typeface="微软雅黑" panose="020B0503020204020204" pitchFamily="34" charset="-122"/>
              </a:rPr>
              <a:t>S</a:t>
            </a:r>
            <a:r>
              <a:rPr lang="en-US" altLang="zh-CN" sz="2000" b="1" dirty="0">
                <a:latin typeface="微软雅黑" panose="020B0503020204020204" pitchFamily="34" charset="-122"/>
                <a:ea typeface="微软雅黑" panose="020B0503020204020204" pitchFamily="34" charset="-122"/>
              </a:rPr>
              <a:t>5</a:t>
            </a:r>
            <a:r>
              <a:rPr lang="en-US" altLang="zh-CN" sz="2000" b="1" dirty="0">
                <a:solidFill>
                  <a:srgbClr val="00B0F0"/>
                </a:solidFill>
                <a:latin typeface="微软雅黑" panose="020B0503020204020204" pitchFamily="34" charset="-122"/>
                <a:ea typeface="微软雅黑" panose="020B0503020204020204" pitchFamily="34" charset="-122"/>
              </a:rPr>
              <a:t>2-</a:t>
            </a:r>
            <a:r>
              <a:rPr lang="en-US" altLang="zh-CN" sz="2000" b="1" dirty="0">
                <a:solidFill>
                  <a:schemeClr val="accent2">
                    <a:lumMod val="75000"/>
                  </a:schemeClr>
                </a:solidFill>
                <a:latin typeface="微软雅黑" panose="020B0503020204020204" pitchFamily="34" charset="-122"/>
                <a:ea typeface="微软雅黑" panose="020B0503020204020204" pitchFamily="34" charset="-122"/>
              </a:rPr>
              <a:t>24</a:t>
            </a:r>
            <a:r>
              <a:rPr lang="en-US" altLang="zh-CN" sz="2000" b="1" dirty="0">
                <a:solidFill>
                  <a:schemeClr val="accent1"/>
                </a:solidFill>
                <a:latin typeface="微软雅黑" panose="020B0503020204020204" pitchFamily="34" charset="-122"/>
                <a:ea typeface="微软雅黑" panose="020B0503020204020204" pitchFamily="34" charset="-122"/>
              </a:rPr>
              <a:t>P</a:t>
            </a:r>
            <a:r>
              <a:rPr lang="en-US" altLang="zh-CN" sz="2000" b="1" dirty="0">
                <a:solidFill>
                  <a:schemeClr val="accent4">
                    <a:lumMod val="75000"/>
                  </a:schemeClr>
                </a:solidFill>
                <a:latin typeface="微软雅黑" panose="020B0503020204020204" pitchFamily="34" charset="-122"/>
                <a:ea typeface="微软雅黑" panose="020B0503020204020204" pitchFamily="34" charset="-122"/>
              </a:rPr>
              <a:t>C</a:t>
            </a: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000" dirty="0">
                <a:solidFill>
                  <a:prstClr val="black"/>
                </a:solidFill>
                <a:latin typeface="微软雅黑" panose="020B0503020204020204" pitchFamily="34" charset="-122"/>
                <a:ea typeface="微软雅黑" panose="020B0503020204020204" pitchFamily="34" charset="-122"/>
              </a:rPr>
              <a:t>后缀的</a:t>
            </a:r>
            <a:r>
              <a:rPr lang="zh-CN" altLang="en-US" sz="2000" b="1" dirty="0">
                <a:solidFill>
                  <a:schemeClr val="accent2">
                    <a:lumMod val="75000"/>
                  </a:schemeClr>
                </a:solidFill>
                <a:latin typeface="微软雅黑" panose="020B0503020204020204" pitchFamily="34" charset="-122"/>
                <a:ea typeface="微软雅黑" panose="020B0503020204020204" pitchFamily="34" charset="-122"/>
              </a:rPr>
              <a:t>数字部分</a:t>
            </a:r>
            <a:r>
              <a:rPr lang="zh-CN" altLang="en-US" sz="2000" dirty="0">
                <a:solidFill>
                  <a:prstClr val="black"/>
                </a:solidFill>
                <a:latin typeface="微软雅黑" panose="020B0503020204020204" pitchFamily="34" charset="-122"/>
                <a:ea typeface="微软雅黑" panose="020B0503020204020204" pitchFamily="34" charset="-122"/>
              </a:rPr>
              <a:t>，表示支持的最高系统时钟，</a:t>
            </a:r>
            <a:r>
              <a:rPr lang="en-US" altLang="zh-CN" sz="2000" dirty="0">
                <a:solidFill>
                  <a:prstClr val="black"/>
                </a:solidFill>
                <a:latin typeface="微软雅黑" panose="020B0503020204020204" pitchFamily="34" charset="-122"/>
                <a:ea typeface="微软雅黑" panose="020B0503020204020204" pitchFamily="34" charset="-122"/>
              </a:rPr>
              <a:t>1.2~24 MHz</a:t>
            </a:r>
            <a:r>
              <a:rPr lang="zh-CN" altLang="en-US" sz="2000" dirty="0">
                <a:solidFill>
                  <a:prstClr val="black"/>
                </a:solidFill>
                <a:latin typeface="微软雅黑" panose="020B0503020204020204" pitchFamily="34" charset="-122"/>
                <a:ea typeface="微软雅黑" panose="020B0503020204020204" pitchFamily="34" charset="-122"/>
              </a:rPr>
              <a:t>。</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000" b="1" dirty="0">
                <a:solidFill>
                  <a:srgbClr val="0070C0"/>
                </a:solidFill>
                <a:latin typeface="微软雅黑" panose="020B0503020204020204" pitchFamily="34" charset="-122"/>
                <a:ea typeface="微软雅黑" panose="020B0503020204020204" pitchFamily="34" charset="-122"/>
              </a:rPr>
              <a:t>后缀第一个字母</a:t>
            </a:r>
            <a:r>
              <a:rPr lang="zh-CN" altLang="en-US" sz="2000" dirty="0">
                <a:solidFill>
                  <a:prstClr val="black"/>
                </a:solidFill>
                <a:latin typeface="微软雅黑" panose="020B0503020204020204" pitchFamily="34" charset="-122"/>
                <a:ea typeface="微软雅黑" panose="020B0503020204020204" pitchFamily="34" charset="-122"/>
              </a:rPr>
              <a:t>，表示封装，</a:t>
            </a:r>
            <a:r>
              <a:rPr lang="en-US" altLang="zh-CN" sz="2000" dirty="0">
                <a:solidFill>
                  <a:prstClr val="black"/>
                </a:solidFill>
                <a:latin typeface="微软雅黑" panose="020B0503020204020204" pitchFamily="34" charset="-122"/>
                <a:ea typeface="微软雅黑" panose="020B0503020204020204" pitchFamily="34" charset="-122"/>
              </a:rPr>
              <a:t>P</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DIP</a:t>
            </a:r>
            <a:r>
              <a:rPr lang="zh-CN" altLang="en-US" sz="2000" dirty="0">
                <a:solidFill>
                  <a:prstClr val="black"/>
                </a:solidFill>
                <a:latin typeface="微软雅黑" panose="020B0503020204020204" pitchFamily="34" charset="-122"/>
                <a:ea typeface="微软雅黑" panose="020B0503020204020204" pitchFamily="34" charset="-122"/>
              </a:rPr>
              <a:t>封装，</a:t>
            </a:r>
            <a:r>
              <a:rPr lang="en-US" altLang="zh-CN" sz="2000" dirty="0">
                <a:solidFill>
                  <a:prstClr val="black"/>
                </a:solidFill>
                <a:latin typeface="微软雅黑" panose="020B0503020204020204" pitchFamily="34" charset="-122"/>
                <a:ea typeface="微软雅黑" panose="020B0503020204020204" pitchFamily="34" charset="-122"/>
              </a:rPr>
              <a:t>D</a:t>
            </a:r>
            <a:r>
              <a:rPr lang="zh-CN" altLang="en-US" sz="2000" dirty="0">
                <a:solidFill>
                  <a:prstClr val="black"/>
                </a:solidFill>
                <a:latin typeface="微软雅黑" panose="020B0503020204020204" pitchFamily="34" charset="-122"/>
                <a:ea typeface="微软雅黑" panose="020B0503020204020204" pitchFamily="34" charset="-122"/>
              </a:rPr>
              <a:t>：陶瓷封装，</a:t>
            </a:r>
            <a:r>
              <a:rPr lang="en-US" altLang="zh-CN" sz="2000" dirty="0">
                <a:solidFill>
                  <a:prstClr val="black"/>
                </a:solidFill>
                <a:latin typeface="微软雅黑" panose="020B0503020204020204" pitchFamily="34" charset="-122"/>
                <a:ea typeface="微软雅黑" panose="020B0503020204020204" pitchFamily="34" charset="-122"/>
              </a:rPr>
              <a:t>A</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TQFP</a:t>
            </a:r>
            <a:r>
              <a:rPr lang="zh-CN" altLang="en-US" sz="2000" dirty="0">
                <a:solidFill>
                  <a:prstClr val="black"/>
                </a:solidFill>
                <a:latin typeface="微软雅黑" panose="020B0503020204020204" pitchFamily="34" charset="-122"/>
                <a:ea typeface="微软雅黑" panose="020B0503020204020204" pitchFamily="34" charset="-122"/>
              </a:rPr>
              <a:t>封装，</a:t>
            </a:r>
            <a:r>
              <a:rPr lang="en-US" altLang="zh-CN" sz="2000" dirty="0">
                <a:solidFill>
                  <a:prstClr val="black"/>
                </a:solidFill>
                <a:latin typeface="微软雅黑" panose="020B0503020204020204" pitchFamily="34" charset="-122"/>
                <a:ea typeface="微软雅黑" panose="020B0503020204020204" pitchFamily="34" charset="-122"/>
              </a:rPr>
              <a:t>J</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PLCC</a:t>
            </a:r>
            <a:r>
              <a:rPr lang="zh-CN" altLang="en-US" sz="2000" dirty="0">
                <a:solidFill>
                  <a:prstClr val="black"/>
                </a:solidFill>
                <a:latin typeface="微软雅黑" panose="020B0503020204020204" pitchFamily="34" charset="-122"/>
                <a:ea typeface="微软雅黑" panose="020B0503020204020204" pitchFamily="34" charset="-122"/>
              </a:rPr>
              <a:t>封装。</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000" b="1" dirty="0">
                <a:solidFill>
                  <a:schemeClr val="accent4">
                    <a:lumMod val="75000"/>
                  </a:schemeClr>
                </a:solidFill>
                <a:latin typeface="微软雅黑" panose="020B0503020204020204" pitchFamily="34" charset="-122"/>
                <a:ea typeface="微软雅黑" panose="020B0503020204020204" pitchFamily="34" charset="-122"/>
              </a:rPr>
              <a:t>后缀最后一个字母</a:t>
            </a:r>
            <a:r>
              <a:rPr lang="zh-CN" altLang="en-US" sz="2000" dirty="0">
                <a:solidFill>
                  <a:prstClr val="black"/>
                </a:solidFill>
                <a:latin typeface="微软雅黑" panose="020B0503020204020204" pitchFamily="34" charset="-122"/>
                <a:ea typeface="微软雅黑" panose="020B0503020204020204" pitchFamily="34" charset="-122"/>
              </a:rPr>
              <a:t>，表示应用级别，</a:t>
            </a:r>
            <a:r>
              <a:rPr lang="en-US" altLang="zh-CN" sz="2000" dirty="0">
                <a:solidFill>
                  <a:prstClr val="black"/>
                </a:solidFill>
                <a:latin typeface="微软雅黑" panose="020B0503020204020204" pitchFamily="34" charset="-122"/>
                <a:ea typeface="微软雅黑" panose="020B0503020204020204" pitchFamily="34" charset="-122"/>
              </a:rPr>
              <a:t>C</a:t>
            </a:r>
            <a:r>
              <a:rPr lang="zh-CN" altLang="en-US" sz="2000" dirty="0">
                <a:solidFill>
                  <a:prstClr val="black"/>
                </a:solidFill>
                <a:latin typeface="微软雅黑" panose="020B0503020204020204" pitchFamily="34" charset="-122"/>
                <a:ea typeface="微软雅黑" panose="020B0503020204020204" pitchFamily="34" charset="-122"/>
              </a:rPr>
              <a:t>：商业级，</a:t>
            </a:r>
            <a:r>
              <a:rPr lang="en-US" altLang="zh-CN" sz="2000" dirty="0">
                <a:solidFill>
                  <a:prstClr val="black"/>
                </a:solidFill>
                <a:latin typeface="微软雅黑" panose="020B0503020204020204" pitchFamily="34" charset="-122"/>
                <a:ea typeface="微软雅黑" panose="020B0503020204020204" pitchFamily="34" charset="-122"/>
              </a:rPr>
              <a:t>U</a:t>
            </a:r>
            <a:r>
              <a:rPr lang="zh-CN" altLang="en-US" sz="2000" dirty="0">
                <a:solidFill>
                  <a:prstClr val="black"/>
                </a:solidFill>
                <a:latin typeface="微软雅黑" panose="020B0503020204020204" pitchFamily="34" charset="-122"/>
                <a:ea typeface="微软雅黑" panose="020B0503020204020204" pitchFamily="34" charset="-122"/>
              </a:rPr>
              <a:t>：无铅环保</a:t>
            </a:r>
            <a:r>
              <a:rPr lang="en-US" altLang="zh-CN" sz="2000" dirty="0">
                <a:solidFill>
                  <a:prstClr val="black"/>
                </a:solidFill>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工业</a:t>
            </a:r>
            <a:r>
              <a:rPr lang="en-US" altLang="zh-CN" sz="2000" dirty="0">
                <a:solidFill>
                  <a:prstClr val="black"/>
                </a:solidFill>
                <a:latin typeface="微软雅黑" panose="020B0503020204020204" pitchFamily="34" charset="-122"/>
                <a:ea typeface="微软雅黑" panose="020B0503020204020204" pitchFamily="34" charset="-122"/>
              </a:rPr>
              <a:t>)</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I</a:t>
            </a:r>
            <a:r>
              <a:rPr lang="zh-CN" altLang="en-US" sz="2000" dirty="0">
                <a:solidFill>
                  <a:prstClr val="black"/>
                </a:solidFill>
                <a:latin typeface="微软雅黑" panose="020B0503020204020204" pitchFamily="34" charset="-122"/>
                <a:ea typeface="微软雅黑" panose="020B0503020204020204" pitchFamily="34" charset="-122"/>
              </a:rPr>
              <a:t>：工业级，</a:t>
            </a:r>
            <a:r>
              <a:rPr lang="en-US" altLang="zh-CN" sz="2000" dirty="0">
                <a:solidFill>
                  <a:prstClr val="black"/>
                </a:solidFill>
                <a:latin typeface="微软雅黑" panose="020B0503020204020204" pitchFamily="34" charset="-122"/>
                <a:ea typeface="微软雅黑" panose="020B0503020204020204" pitchFamily="34" charset="-122"/>
              </a:rPr>
              <a:t>A</a:t>
            </a:r>
            <a:r>
              <a:rPr lang="zh-CN" altLang="en-US" sz="2000" dirty="0">
                <a:solidFill>
                  <a:prstClr val="black"/>
                </a:solidFill>
                <a:latin typeface="微软雅黑" panose="020B0503020204020204" pitchFamily="34" charset="-122"/>
                <a:ea typeface="微软雅黑" panose="020B0503020204020204" pitchFamily="34" charset="-122"/>
              </a:rPr>
              <a:t>：汽车工业级，</a:t>
            </a:r>
            <a:r>
              <a:rPr lang="en-US" altLang="zh-CN" sz="2000" dirty="0">
                <a:solidFill>
                  <a:prstClr val="black"/>
                </a:solidFill>
                <a:latin typeface="微软雅黑" panose="020B0503020204020204" pitchFamily="34" charset="-122"/>
                <a:ea typeface="微软雅黑" panose="020B0503020204020204" pitchFamily="34" charset="-122"/>
              </a:rPr>
              <a:t>M</a:t>
            </a:r>
            <a:r>
              <a:rPr lang="zh-CN" altLang="en-US" sz="2000" dirty="0">
                <a:solidFill>
                  <a:prstClr val="black"/>
                </a:solidFill>
                <a:latin typeface="微软雅黑" panose="020B0503020204020204" pitchFamily="34" charset="-122"/>
                <a:ea typeface="微软雅黑" panose="020B0503020204020204" pitchFamily="34" charset="-122"/>
              </a:rPr>
              <a:t>：军品级。</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p"/>
              <a:defRPr/>
            </a:pPr>
            <a:r>
              <a:rPr lang="zh-CN" altLang="en-US" sz="2000" dirty="0">
                <a:solidFill>
                  <a:prstClr val="black"/>
                </a:solidFill>
                <a:latin typeface="微软雅黑" panose="020B0503020204020204" pitchFamily="34" charset="-122"/>
                <a:ea typeface="微软雅黑" panose="020B0503020204020204" pitchFamily="34" charset="-122"/>
              </a:rPr>
              <a:t>工作温度：商业级：</a:t>
            </a:r>
            <a:r>
              <a:rPr lang="en-US" altLang="zh-CN" sz="2000" dirty="0">
                <a:solidFill>
                  <a:prstClr val="black"/>
                </a:solidFill>
                <a:latin typeface="微软雅黑" panose="020B0503020204020204" pitchFamily="34" charset="-122"/>
                <a:ea typeface="微软雅黑" panose="020B0503020204020204" pitchFamily="34" charset="-122"/>
              </a:rPr>
              <a:t>0 ℃~+70 ℃</a:t>
            </a:r>
            <a:r>
              <a:rPr lang="zh-CN" altLang="en-US" sz="2000" dirty="0">
                <a:solidFill>
                  <a:prstClr val="black"/>
                </a:solidFill>
                <a:latin typeface="微软雅黑" panose="020B0503020204020204" pitchFamily="34" charset="-122"/>
                <a:ea typeface="微软雅黑" panose="020B0503020204020204" pitchFamily="34" charset="-122"/>
              </a:rPr>
              <a:t>；工业级：</a:t>
            </a:r>
            <a:r>
              <a:rPr lang="en-US" altLang="zh-CN" sz="2000" dirty="0">
                <a:solidFill>
                  <a:prstClr val="black"/>
                </a:solidFill>
                <a:latin typeface="微软雅黑" panose="020B0503020204020204" pitchFamily="34" charset="-122"/>
                <a:ea typeface="微软雅黑" panose="020B0503020204020204" pitchFamily="34" charset="-122"/>
              </a:rPr>
              <a:t>-40 ℃~+85 ℃</a:t>
            </a:r>
            <a:r>
              <a:rPr lang="zh-CN" altLang="en-US" sz="2000" dirty="0">
                <a:solidFill>
                  <a:prstClr val="black"/>
                </a:solidFill>
                <a:latin typeface="微软雅黑" panose="020B0503020204020204" pitchFamily="34" charset="-122"/>
                <a:ea typeface="微软雅黑" panose="020B0503020204020204" pitchFamily="34" charset="-122"/>
              </a:rPr>
              <a:t>；军品级：</a:t>
            </a:r>
            <a:r>
              <a:rPr lang="en-US" altLang="zh-CN" sz="2000" dirty="0">
                <a:solidFill>
                  <a:prstClr val="black"/>
                </a:solidFill>
                <a:latin typeface="微软雅黑" panose="020B0503020204020204" pitchFamily="34" charset="-122"/>
                <a:ea typeface="微软雅黑" panose="020B0503020204020204" pitchFamily="34" charset="-122"/>
              </a:rPr>
              <a:t>-55 ℃~+150 ℃</a:t>
            </a:r>
            <a:r>
              <a:rPr lang="zh-CN" altLang="en-US" sz="2000" dirty="0">
                <a:solidFill>
                  <a:prstClr val="black"/>
                </a:solidFill>
                <a:latin typeface="微软雅黑" panose="020B0503020204020204" pitchFamily="34" charset="-122"/>
                <a:ea typeface="微软雅黑" panose="020B0503020204020204" pitchFamily="34" charset="-122"/>
              </a:rPr>
              <a:t>；汽车工业级：</a:t>
            </a:r>
            <a:r>
              <a:rPr lang="en-US" altLang="zh-CN" sz="2000" dirty="0">
                <a:solidFill>
                  <a:prstClr val="black"/>
                </a:solidFill>
                <a:latin typeface="微软雅黑" panose="020B0503020204020204" pitchFamily="34" charset="-122"/>
                <a:ea typeface="微软雅黑" panose="020B0503020204020204" pitchFamily="34" charset="-122"/>
              </a:rPr>
              <a:t>-40 ℃~+125 ℃</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 </a:t>
            </a:r>
          </a:p>
        </p:txBody>
      </p:sp>
      <p:sp>
        <p:nvSpPr>
          <p:cNvPr id="51202"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51205" name="图片 8"/>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51206" name="图片 9"/>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1754188"/>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2.1.2 MCS-51</a:t>
            </a:r>
            <a:r>
              <a:rPr lang="zh-CN" altLang="en-US" sz="2400" b="1" dirty="0">
                <a:solidFill>
                  <a:prstClr val="black"/>
                </a:solidFill>
                <a:latin typeface="微软雅黑" panose="020B0503020204020204" pitchFamily="34" charset="-122"/>
                <a:ea typeface="微软雅黑" panose="020B0503020204020204" pitchFamily="34" charset="-122"/>
              </a:rPr>
              <a:t>引脚功能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p"/>
              <a:defRPr/>
            </a:pPr>
            <a:r>
              <a:rPr lang="zh-CN" altLang="en-US" sz="2400" dirty="0">
                <a:solidFill>
                  <a:prstClr val="black"/>
                </a:solidFill>
                <a:latin typeface="微软雅黑" panose="020B0503020204020204" pitchFamily="34" charset="-122"/>
                <a:ea typeface="微软雅黑" panose="020B0503020204020204" pitchFamily="34" charset="-122"/>
              </a:rPr>
              <a:t>主电源引脚</a:t>
            </a:r>
            <a:r>
              <a:rPr lang="en-US" altLang="zh-CN" sz="2400" dirty="0">
                <a:solidFill>
                  <a:prstClr val="black"/>
                </a:solidFill>
                <a:latin typeface="微软雅黑" panose="020B0503020204020204" pitchFamily="34" charset="-122"/>
                <a:ea typeface="微软雅黑" panose="020B0503020204020204" pitchFamily="34" charset="-122"/>
              </a:rPr>
              <a:t>VCC</a:t>
            </a:r>
            <a:r>
              <a:rPr lang="zh-CN" altLang="en-US" sz="2400" dirty="0">
                <a:solidFill>
                  <a:prstClr val="black"/>
                </a:solidFill>
                <a:latin typeface="微软雅黑" panose="020B0503020204020204" pitchFamily="34" charset="-122"/>
                <a:ea typeface="微软雅黑" panose="020B0503020204020204" pitchFamily="34" charset="-122"/>
              </a:rPr>
              <a:t>和</a:t>
            </a:r>
            <a:r>
              <a:rPr lang="en-US" altLang="zh-CN" sz="2400" dirty="0">
                <a:solidFill>
                  <a:prstClr val="black"/>
                </a:solidFill>
                <a:latin typeface="微软雅黑" panose="020B0503020204020204" pitchFamily="34" charset="-122"/>
                <a:ea typeface="微软雅黑" panose="020B0503020204020204" pitchFamily="34" charset="-122"/>
              </a:rPr>
              <a:t>VSS</a:t>
            </a:r>
          </a:p>
          <a:p>
            <a:pPr lvl="1"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  VCC</a:t>
            </a:r>
            <a:r>
              <a:rPr lang="zh-CN" altLang="en-US" sz="2400" dirty="0">
                <a:solidFill>
                  <a:prstClr val="black"/>
                </a:solidFill>
                <a:latin typeface="微软雅黑" panose="020B0503020204020204" pitchFamily="34" charset="-122"/>
                <a:ea typeface="微软雅黑" panose="020B0503020204020204" pitchFamily="34" charset="-122"/>
              </a:rPr>
              <a:t>：接主电源</a:t>
            </a:r>
            <a:r>
              <a:rPr lang="en-US" altLang="zh-CN" sz="2400" dirty="0">
                <a:solidFill>
                  <a:prstClr val="black"/>
                </a:solidFill>
                <a:latin typeface="微软雅黑" panose="020B0503020204020204" pitchFamily="34" charset="-122"/>
                <a:ea typeface="微软雅黑" panose="020B0503020204020204" pitchFamily="34" charset="-122"/>
              </a:rPr>
              <a:t>+5V</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VSS</a:t>
            </a:r>
            <a:r>
              <a:rPr lang="zh-CN" altLang="en-US" sz="2400" dirty="0">
                <a:solidFill>
                  <a:prstClr val="black"/>
                </a:solidFill>
                <a:latin typeface="微软雅黑" panose="020B0503020204020204" pitchFamily="34" charset="-122"/>
                <a:ea typeface="微软雅黑" panose="020B0503020204020204" pitchFamily="34" charset="-122"/>
              </a:rPr>
              <a:t>：电源接地端</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
        <p:nvSpPr>
          <p:cNvPr id="53250"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sp>
        <p:nvSpPr>
          <p:cNvPr id="4" name="矩形 3"/>
          <p:cNvSpPr/>
          <p:nvPr/>
        </p:nvSpPr>
        <p:spPr>
          <a:xfrm>
            <a:off x="257175" y="2428875"/>
            <a:ext cx="8636000" cy="4228850"/>
          </a:xfrm>
          <a:prstGeom prst="rect">
            <a:avLst/>
          </a:prstGeom>
          <a:ln w="19050">
            <a:solidFill>
              <a:schemeClr val="tx1"/>
            </a:solidFill>
            <a:prstDash val="dashDot"/>
          </a:ln>
        </p:spPr>
        <p:txBody>
          <a:bodyPr>
            <a:spAutoFit/>
          </a:bodyPr>
          <a:lstStyle/>
          <a:p>
            <a:pPr marL="0" lvl="1" algn="just">
              <a:lnSpc>
                <a:spcPct val="120000"/>
              </a:lnSpc>
            </a:pPr>
            <a:r>
              <a:rPr lang="zh-CN" altLang="en-US" sz="2400" b="1" dirty="0">
                <a:solidFill>
                  <a:srgbClr val="7030A0"/>
                </a:solidFill>
                <a:latin typeface="微软雅黑" panose="020B0503020204020204" pitchFamily="34" charset="-122"/>
                <a:ea typeface="微软雅黑" panose="020B0503020204020204" pitchFamily="34" charset="-122"/>
              </a:rPr>
              <a:t>补充：</a:t>
            </a:r>
            <a:endParaRPr lang="en-US" altLang="zh-CN" sz="2400" b="1" dirty="0">
              <a:solidFill>
                <a:srgbClr val="7030A0"/>
              </a:solidFill>
              <a:latin typeface="微软雅黑" panose="020B0503020204020204" pitchFamily="34" charset="-122"/>
              <a:ea typeface="微软雅黑" panose="020B0503020204020204" pitchFamily="34" charset="-122"/>
            </a:endParaRPr>
          </a:p>
          <a:p>
            <a:pPr marL="342900" lvl="1" indent="-342900" algn="just">
              <a:lnSpc>
                <a:spcPct val="120000"/>
              </a:lnSpc>
              <a:buFont typeface="Wingdings" panose="05000000000000000000" pitchFamily="2" charset="2"/>
              <a:buChar char="p"/>
            </a:pPr>
            <a:r>
              <a:rPr lang="en-US" altLang="zh-CN" sz="2000" b="1" dirty="0">
                <a:solidFill>
                  <a:srgbClr val="000000"/>
                </a:solidFill>
                <a:latin typeface="微软雅黑" panose="020B0503020204020204" pitchFamily="34" charset="-122"/>
                <a:ea typeface="微软雅黑" panose="020B0503020204020204" pitchFamily="34" charset="-122"/>
              </a:rPr>
              <a:t>TTL</a:t>
            </a:r>
            <a:r>
              <a:rPr lang="zh-CN" altLang="en-US" sz="2000" b="1" dirty="0">
                <a:solidFill>
                  <a:srgbClr val="000000"/>
                </a:solidFill>
                <a:latin typeface="微软雅黑" panose="020B0503020204020204" pitchFamily="34" charset="-122"/>
                <a:ea typeface="微软雅黑" panose="020B0503020204020204" pitchFamily="34" charset="-122"/>
              </a:rPr>
              <a:t>电平标准：</a:t>
            </a:r>
          </a:p>
          <a:p>
            <a:pPr marL="800100" lvl="2" indent="-342900" algn="just">
              <a:lnSpc>
                <a:spcPct val="120000"/>
              </a:lnSpc>
              <a:buFont typeface="Wingdings" panose="05000000000000000000" pitchFamily="2" charset="2"/>
              <a:buChar char="Ø"/>
            </a:pPr>
            <a:r>
              <a:rPr lang="zh-CN" altLang="en-US" sz="2000" dirty="0">
                <a:solidFill>
                  <a:srgbClr val="000000"/>
                </a:solidFill>
                <a:latin typeface="微软雅黑" panose="020B0503020204020204" pitchFamily="34" charset="-122"/>
                <a:ea typeface="微软雅黑" panose="020B0503020204020204" pitchFamily="34" charset="-122"/>
              </a:rPr>
              <a:t>输出 </a:t>
            </a:r>
            <a:r>
              <a:rPr lang="en-US" altLang="zh-CN" sz="2000" dirty="0">
                <a:solidFill>
                  <a:srgbClr val="000000"/>
                </a:solidFill>
                <a:latin typeface="微软雅黑" panose="020B0503020204020204" pitchFamily="34" charset="-122"/>
                <a:ea typeface="微软雅黑" panose="020B0503020204020204" pitchFamily="34" charset="-122"/>
              </a:rPr>
              <a:t>L:</a:t>
            </a:r>
            <a:r>
              <a:rPr lang="zh-CN" altLang="en-US" sz="2000" dirty="0">
                <a:solidFill>
                  <a:srgbClr val="000000"/>
                </a:solidFill>
                <a:latin typeface="微软雅黑" panose="020B0503020204020204" pitchFamily="34" charset="-122"/>
                <a:ea typeface="微软雅黑" panose="020B0503020204020204" pitchFamily="34" charset="-122"/>
              </a:rPr>
              <a:t> </a:t>
            </a:r>
            <a:r>
              <a:rPr lang="en-US" altLang="zh-CN" sz="2000" u="sng" dirty="0">
                <a:solidFill>
                  <a:srgbClr val="000000"/>
                </a:solidFill>
                <a:latin typeface="微软雅黑" panose="020B0503020204020204" pitchFamily="34" charset="-122"/>
                <a:ea typeface="微软雅黑" panose="020B0503020204020204" pitchFamily="34" charset="-122"/>
              </a:rPr>
              <a:t>&lt;0.8V ; H: &gt;2.4V</a:t>
            </a:r>
            <a:r>
              <a:rPr lang="zh-CN" altLang="en-US" sz="2000" dirty="0">
                <a:solidFill>
                  <a:srgbClr val="000000"/>
                </a:solidFill>
                <a:latin typeface="微软雅黑" panose="020B0503020204020204" pitchFamily="34" charset="-122"/>
                <a:ea typeface="微软雅黑" panose="020B0503020204020204" pitchFamily="34" charset="-122"/>
              </a:rPr>
              <a:t>               输入 </a:t>
            </a:r>
            <a:r>
              <a:rPr lang="en-US" altLang="zh-CN" sz="2000" dirty="0">
                <a:solidFill>
                  <a:srgbClr val="000000"/>
                </a:solidFill>
                <a:latin typeface="微软雅黑" panose="020B0503020204020204" pitchFamily="34" charset="-122"/>
                <a:ea typeface="微软雅黑" panose="020B0503020204020204" pitchFamily="34" charset="-122"/>
              </a:rPr>
              <a:t>L: </a:t>
            </a:r>
            <a:r>
              <a:rPr lang="en-US" altLang="zh-CN" sz="2000" u="sng" dirty="0">
                <a:solidFill>
                  <a:srgbClr val="000000"/>
                </a:solidFill>
                <a:latin typeface="微软雅黑" panose="020B0503020204020204" pitchFamily="34" charset="-122"/>
                <a:ea typeface="微软雅黑" panose="020B0503020204020204" pitchFamily="34" charset="-122"/>
              </a:rPr>
              <a:t>&lt;1.2V ; H: &gt;2.0V</a:t>
            </a:r>
          </a:p>
          <a:p>
            <a:pPr marL="800100" lvl="2" indent="-342900" algn="just">
              <a:lnSpc>
                <a:spcPct val="120000"/>
              </a:lnSpc>
              <a:buFont typeface="Wingdings" panose="05000000000000000000" pitchFamily="2" charset="2"/>
              <a:buChar char="Ø"/>
            </a:pPr>
            <a:r>
              <a:rPr lang="en-US" altLang="zh-CN" sz="2000" dirty="0">
                <a:solidFill>
                  <a:srgbClr val="000000"/>
                </a:solidFill>
                <a:latin typeface="微软雅黑" panose="020B0503020204020204" pitchFamily="34" charset="-122"/>
                <a:ea typeface="微软雅黑" panose="020B0503020204020204" pitchFamily="34" charset="-122"/>
              </a:rPr>
              <a:t>TTL</a:t>
            </a:r>
            <a:r>
              <a:rPr lang="zh-CN" altLang="en-US" sz="2000" dirty="0">
                <a:solidFill>
                  <a:srgbClr val="000000"/>
                </a:solidFill>
                <a:latin typeface="微软雅黑" panose="020B0503020204020204" pitchFamily="34" charset="-122"/>
                <a:ea typeface="微软雅黑" panose="020B0503020204020204" pitchFamily="34" charset="-122"/>
              </a:rPr>
              <a:t>电平输入低电平</a:t>
            </a:r>
            <a:r>
              <a:rPr lang="zh-CN" altLang="en-US" sz="2000" b="1" dirty="0">
                <a:solidFill>
                  <a:srgbClr val="0000FF"/>
                </a:solidFill>
                <a:latin typeface="微软雅黑" panose="020B0503020204020204" pitchFamily="34" charset="-122"/>
                <a:ea typeface="微软雅黑" panose="020B0503020204020204" pitchFamily="34" charset="-122"/>
              </a:rPr>
              <a:t>噪声容限</a:t>
            </a:r>
            <a:r>
              <a:rPr lang="zh-CN" altLang="en-US" sz="2000" dirty="0">
                <a:solidFill>
                  <a:srgbClr val="000000"/>
                </a:solidFill>
                <a:latin typeface="微软雅黑" panose="020B0503020204020204" pitchFamily="34" charset="-122"/>
                <a:ea typeface="微软雅黑" panose="020B0503020204020204" pitchFamily="34" charset="-122"/>
              </a:rPr>
              <a:t>为</a:t>
            </a:r>
            <a:r>
              <a:rPr lang="en-US" altLang="zh-CN" sz="2000" dirty="0">
                <a:solidFill>
                  <a:srgbClr val="000000"/>
                </a:solidFill>
                <a:latin typeface="微软雅黑" panose="020B0503020204020204" pitchFamily="34" charset="-122"/>
                <a:ea typeface="微软雅黑" panose="020B0503020204020204" pitchFamily="34" charset="-122"/>
              </a:rPr>
              <a:t>(0.8-0)/2=0.4V</a:t>
            </a:r>
            <a:r>
              <a:rPr lang="zh-CN" altLang="en-US" sz="2000" dirty="0">
                <a:solidFill>
                  <a:srgbClr val="000000"/>
                </a:solidFill>
                <a:latin typeface="微软雅黑" panose="020B0503020204020204" pitchFamily="34" charset="-122"/>
                <a:ea typeface="微软雅黑" panose="020B0503020204020204" pitchFamily="34" charset="-122"/>
              </a:rPr>
              <a:t>，高电平噪声容限为</a:t>
            </a:r>
            <a:r>
              <a:rPr lang="en-US" altLang="zh-CN" sz="2000" dirty="0">
                <a:solidFill>
                  <a:srgbClr val="000000"/>
                </a:solidFill>
                <a:latin typeface="微软雅黑" panose="020B0503020204020204" pitchFamily="34" charset="-122"/>
                <a:ea typeface="微软雅黑" panose="020B0503020204020204" pitchFamily="34" charset="-122"/>
              </a:rPr>
              <a:t>(5-2.4)/2=1.3V</a:t>
            </a:r>
            <a:r>
              <a:rPr lang="zh-CN" altLang="en-US" sz="2000" dirty="0">
                <a:solidFill>
                  <a:srgbClr val="000000"/>
                </a:solidFill>
                <a:latin typeface="微软雅黑" panose="020B0503020204020204" pitchFamily="34" charset="-122"/>
                <a:ea typeface="微软雅黑" panose="020B0503020204020204" pitchFamily="34" charset="-122"/>
              </a:rPr>
              <a:t>。</a:t>
            </a:r>
            <a:endParaRPr lang="en-US" altLang="zh-CN" sz="2000" dirty="0">
              <a:solidFill>
                <a:srgbClr val="000000"/>
              </a:solidFill>
              <a:latin typeface="微软雅黑" panose="020B0503020204020204" pitchFamily="34" charset="-122"/>
              <a:ea typeface="微软雅黑" panose="020B0503020204020204" pitchFamily="34" charset="-122"/>
            </a:endParaRPr>
          </a:p>
          <a:p>
            <a:pPr marL="342900" lvl="1" indent="-342900" algn="just">
              <a:lnSpc>
                <a:spcPct val="120000"/>
              </a:lnSpc>
              <a:buFont typeface="Wingdings" panose="05000000000000000000" pitchFamily="2" charset="2"/>
              <a:buChar char="p"/>
            </a:pPr>
            <a:r>
              <a:rPr lang="en-US" altLang="zh-CN" sz="2000" b="1" dirty="0">
                <a:solidFill>
                  <a:srgbClr val="000000"/>
                </a:solidFill>
                <a:latin typeface="微软雅黑" panose="020B0503020204020204" pitchFamily="34" charset="-122"/>
                <a:ea typeface="微软雅黑" panose="020B0503020204020204" pitchFamily="34" charset="-122"/>
              </a:rPr>
              <a:t>CMOS</a:t>
            </a:r>
            <a:r>
              <a:rPr lang="zh-CN" altLang="en-US" sz="2000" b="1" dirty="0">
                <a:solidFill>
                  <a:srgbClr val="000000"/>
                </a:solidFill>
                <a:latin typeface="微软雅黑" panose="020B0503020204020204" pitchFamily="34" charset="-122"/>
                <a:ea typeface="微软雅黑" panose="020B0503020204020204" pitchFamily="34" charset="-122"/>
              </a:rPr>
              <a:t>电平：</a:t>
            </a:r>
            <a:endParaRPr lang="en-US" altLang="zh-CN" sz="2000" b="1" dirty="0">
              <a:solidFill>
                <a:srgbClr val="000000"/>
              </a:solidFill>
              <a:latin typeface="微软雅黑" panose="020B0503020204020204" pitchFamily="34" charset="-122"/>
              <a:ea typeface="微软雅黑" panose="020B0503020204020204" pitchFamily="34" charset="-122"/>
            </a:endParaRPr>
          </a:p>
          <a:p>
            <a:pPr marL="800100" lvl="3" indent="-342900" algn="just">
              <a:lnSpc>
                <a:spcPct val="120000"/>
              </a:lnSpc>
              <a:buFont typeface="Wingdings" panose="05000000000000000000" pitchFamily="2" charset="2"/>
              <a:buChar char="Ø"/>
            </a:pPr>
            <a:r>
              <a:rPr lang="zh-CN" altLang="en-US" sz="2000" dirty="0">
                <a:solidFill>
                  <a:srgbClr val="000000"/>
                </a:solidFill>
                <a:latin typeface="微软雅黑" panose="020B0503020204020204" pitchFamily="34" charset="-122"/>
                <a:ea typeface="微软雅黑" panose="020B0503020204020204" pitchFamily="34" charset="-122"/>
              </a:rPr>
              <a:t>输出 </a:t>
            </a:r>
            <a:r>
              <a:rPr lang="en-US" altLang="zh-CN" sz="2000" dirty="0">
                <a:solidFill>
                  <a:srgbClr val="000000"/>
                </a:solidFill>
                <a:latin typeface="微软雅黑" panose="020B0503020204020204" pitchFamily="34" charset="-122"/>
                <a:ea typeface="微软雅黑" panose="020B0503020204020204" pitchFamily="34" charset="-122"/>
              </a:rPr>
              <a:t>L:</a:t>
            </a:r>
            <a:r>
              <a:rPr lang="zh-CN" altLang="en-US" sz="2000" dirty="0">
                <a:solidFill>
                  <a:srgbClr val="000000"/>
                </a:solidFill>
                <a:latin typeface="微软雅黑" panose="020B0503020204020204" pitchFamily="34" charset="-122"/>
                <a:ea typeface="微软雅黑" panose="020B0503020204020204" pitchFamily="34" charset="-122"/>
              </a:rPr>
              <a:t> </a:t>
            </a:r>
            <a:r>
              <a:rPr lang="en-US" altLang="zh-CN" sz="2000" u="sng" dirty="0">
                <a:solidFill>
                  <a:srgbClr val="000000"/>
                </a:solidFill>
                <a:latin typeface="微软雅黑" panose="020B0503020204020204" pitchFamily="34" charset="-122"/>
                <a:ea typeface="微软雅黑" panose="020B0503020204020204" pitchFamily="34" charset="-122"/>
              </a:rPr>
              <a:t>&lt;0.1*</a:t>
            </a:r>
            <a:r>
              <a:rPr lang="en-US" altLang="zh-CN" sz="2000" u="sng" dirty="0" err="1">
                <a:solidFill>
                  <a:srgbClr val="000000"/>
                </a:solidFill>
                <a:latin typeface="微软雅黑" panose="020B0503020204020204" pitchFamily="34" charset="-122"/>
                <a:ea typeface="微软雅黑" panose="020B0503020204020204" pitchFamily="34" charset="-122"/>
              </a:rPr>
              <a:t>Vcc</a:t>
            </a:r>
            <a:r>
              <a:rPr lang="en-US" altLang="zh-CN" sz="2000" u="sng" dirty="0">
                <a:solidFill>
                  <a:srgbClr val="000000"/>
                </a:solidFill>
                <a:latin typeface="微软雅黑" panose="020B0503020204020204" pitchFamily="34" charset="-122"/>
                <a:ea typeface="微软雅黑" panose="020B0503020204020204" pitchFamily="34" charset="-122"/>
              </a:rPr>
              <a:t> ; H:</a:t>
            </a:r>
            <a:r>
              <a:rPr lang="zh-CN" altLang="en-US" sz="2000" u="sng" dirty="0">
                <a:solidFill>
                  <a:srgbClr val="000000"/>
                </a:solidFill>
                <a:latin typeface="微软雅黑" panose="020B0503020204020204" pitchFamily="34" charset="-122"/>
                <a:ea typeface="微软雅黑" panose="020B0503020204020204" pitchFamily="34" charset="-122"/>
              </a:rPr>
              <a:t> </a:t>
            </a:r>
            <a:r>
              <a:rPr lang="en-US" altLang="zh-CN" sz="2000" u="sng" dirty="0">
                <a:solidFill>
                  <a:srgbClr val="000000"/>
                </a:solidFill>
                <a:latin typeface="微软雅黑" panose="020B0503020204020204" pitchFamily="34" charset="-122"/>
                <a:ea typeface="微软雅黑" panose="020B0503020204020204" pitchFamily="34" charset="-122"/>
              </a:rPr>
              <a:t>&gt;0.9*</a:t>
            </a:r>
            <a:r>
              <a:rPr lang="en-US" altLang="zh-CN" sz="2000" u="sng" dirty="0" err="1">
                <a:solidFill>
                  <a:srgbClr val="000000"/>
                </a:solidFill>
                <a:latin typeface="微软雅黑" panose="020B0503020204020204" pitchFamily="34" charset="-122"/>
                <a:ea typeface="微软雅黑" panose="020B0503020204020204" pitchFamily="34" charset="-122"/>
              </a:rPr>
              <a:t>Vcc</a:t>
            </a:r>
            <a:r>
              <a:rPr lang="zh-CN" altLang="en-US" sz="2000" dirty="0">
                <a:solidFill>
                  <a:srgbClr val="000000"/>
                </a:solidFill>
                <a:latin typeface="微软雅黑" panose="020B0503020204020204" pitchFamily="34" charset="-122"/>
                <a:ea typeface="微软雅黑" panose="020B0503020204020204" pitchFamily="34" charset="-122"/>
              </a:rPr>
              <a:t>      输入 </a:t>
            </a:r>
            <a:r>
              <a:rPr lang="en-US" altLang="zh-CN" sz="2000" dirty="0">
                <a:solidFill>
                  <a:srgbClr val="000000"/>
                </a:solidFill>
                <a:latin typeface="微软雅黑" panose="020B0503020204020204" pitchFamily="34" charset="-122"/>
                <a:ea typeface="微软雅黑" panose="020B0503020204020204" pitchFamily="34" charset="-122"/>
              </a:rPr>
              <a:t>L:</a:t>
            </a:r>
            <a:r>
              <a:rPr lang="zh-CN" altLang="en-US" sz="2000" dirty="0">
                <a:solidFill>
                  <a:srgbClr val="000000"/>
                </a:solidFill>
                <a:latin typeface="微软雅黑" panose="020B0503020204020204" pitchFamily="34" charset="-122"/>
                <a:ea typeface="微软雅黑" panose="020B0503020204020204" pitchFamily="34" charset="-122"/>
              </a:rPr>
              <a:t> </a:t>
            </a:r>
            <a:r>
              <a:rPr lang="en-US" altLang="zh-CN" sz="2000" u="sng" dirty="0">
                <a:solidFill>
                  <a:srgbClr val="000000"/>
                </a:solidFill>
                <a:latin typeface="微软雅黑" panose="020B0503020204020204" pitchFamily="34" charset="-122"/>
                <a:ea typeface="微软雅黑" panose="020B0503020204020204" pitchFamily="34" charset="-122"/>
              </a:rPr>
              <a:t>&lt;0.3*</a:t>
            </a:r>
            <a:r>
              <a:rPr lang="en-US" altLang="zh-CN" sz="2000" u="sng" dirty="0" err="1">
                <a:solidFill>
                  <a:srgbClr val="000000"/>
                </a:solidFill>
                <a:latin typeface="微软雅黑" panose="020B0503020204020204" pitchFamily="34" charset="-122"/>
                <a:ea typeface="微软雅黑" panose="020B0503020204020204" pitchFamily="34" charset="-122"/>
              </a:rPr>
              <a:t>Vcc</a:t>
            </a:r>
            <a:r>
              <a:rPr lang="en-US" altLang="zh-CN" sz="2000" u="sng" dirty="0">
                <a:solidFill>
                  <a:srgbClr val="000000"/>
                </a:solidFill>
                <a:latin typeface="微软雅黑" panose="020B0503020204020204" pitchFamily="34" charset="-122"/>
                <a:ea typeface="微软雅黑" panose="020B0503020204020204" pitchFamily="34" charset="-122"/>
              </a:rPr>
              <a:t> ; H:</a:t>
            </a:r>
            <a:r>
              <a:rPr lang="zh-CN" altLang="en-US" sz="2000" u="sng" dirty="0">
                <a:solidFill>
                  <a:srgbClr val="000000"/>
                </a:solidFill>
                <a:latin typeface="微软雅黑" panose="020B0503020204020204" pitchFamily="34" charset="-122"/>
                <a:ea typeface="微软雅黑" panose="020B0503020204020204" pitchFamily="34" charset="-122"/>
              </a:rPr>
              <a:t> </a:t>
            </a:r>
            <a:r>
              <a:rPr lang="en-US" altLang="zh-CN" sz="2000" u="sng" dirty="0">
                <a:solidFill>
                  <a:srgbClr val="000000"/>
                </a:solidFill>
                <a:latin typeface="微软雅黑" panose="020B0503020204020204" pitchFamily="34" charset="-122"/>
                <a:ea typeface="微软雅黑" panose="020B0503020204020204" pitchFamily="34" charset="-122"/>
              </a:rPr>
              <a:t>&gt;0.7*</a:t>
            </a:r>
            <a:r>
              <a:rPr lang="en-US" altLang="zh-CN" sz="2000" u="sng" dirty="0" err="1">
                <a:solidFill>
                  <a:srgbClr val="000000"/>
                </a:solidFill>
                <a:latin typeface="微软雅黑" panose="020B0503020204020204" pitchFamily="34" charset="-122"/>
                <a:ea typeface="微软雅黑" panose="020B0503020204020204" pitchFamily="34" charset="-122"/>
              </a:rPr>
              <a:t>Vcc</a:t>
            </a:r>
            <a:endParaRPr lang="en-US" altLang="zh-CN" sz="2000" u="sng" dirty="0">
              <a:solidFill>
                <a:srgbClr val="000000"/>
              </a:solidFill>
              <a:latin typeface="微软雅黑" panose="020B0503020204020204" pitchFamily="34" charset="-122"/>
              <a:ea typeface="微软雅黑" panose="020B0503020204020204" pitchFamily="34" charset="-122"/>
            </a:endParaRPr>
          </a:p>
          <a:p>
            <a:pPr marL="800100" lvl="3" indent="-342900" algn="just">
              <a:lnSpc>
                <a:spcPct val="120000"/>
              </a:lnSpc>
              <a:buFont typeface="Wingdings" panose="05000000000000000000" pitchFamily="2" charset="2"/>
              <a:buChar char="Ø"/>
            </a:pPr>
            <a:r>
              <a:rPr lang="zh-CN" altLang="en-US" sz="2000" dirty="0">
                <a:solidFill>
                  <a:srgbClr val="000000"/>
                </a:solidFill>
                <a:latin typeface="微软雅黑" panose="020B0503020204020204" pitchFamily="34" charset="-122"/>
                <a:ea typeface="微软雅黑" panose="020B0503020204020204" pitchFamily="34" charset="-122"/>
              </a:rPr>
              <a:t>输入低于</a:t>
            </a:r>
            <a:r>
              <a:rPr lang="en-US" altLang="zh-CN" sz="2000" dirty="0">
                <a:solidFill>
                  <a:srgbClr val="000000"/>
                </a:solidFill>
                <a:latin typeface="微软雅黑" panose="020B0503020204020204" pitchFamily="34" charset="-122"/>
                <a:ea typeface="微软雅黑" panose="020B0503020204020204" pitchFamily="34" charset="-122"/>
              </a:rPr>
              <a:t>3.6V</a:t>
            </a:r>
            <a:r>
              <a:rPr lang="zh-CN" altLang="en-US" sz="2000" dirty="0">
                <a:solidFill>
                  <a:srgbClr val="000000"/>
                </a:solidFill>
                <a:latin typeface="微软雅黑" panose="020B0503020204020204" pitchFamily="34" charset="-122"/>
                <a:ea typeface="微软雅黑" panose="020B0503020204020204" pitchFamily="34" charset="-122"/>
              </a:rPr>
              <a:t>为低电平，噪声容限为</a:t>
            </a:r>
            <a:r>
              <a:rPr lang="en-US" altLang="zh-CN" sz="2000" dirty="0">
                <a:solidFill>
                  <a:srgbClr val="000000"/>
                </a:solidFill>
                <a:latin typeface="微软雅黑" panose="020B0503020204020204" pitchFamily="34" charset="-122"/>
                <a:ea typeface="微软雅黑" panose="020B0503020204020204" pitchFamily="34" charset="-122"/>
              </a:rPr>
              <a:t>1.8V</a:t>
            </a:r>
            <a:r>
              <a:rPr lang="zh-CN" altLang="en-US" sz="2000" dirty="0">
                <a:solidFill>
                  <a:srgbClr val="000000"/>
                </a:solidFill>
                <a:latin typeface="微软雅黑" panose="020B0503020204020204" pitchFamily="34" charset="-122"/>
                <a:ea typeface="微软雅黑" panose="020B0503020204020204" pitchFamily="34" charset="-122"/>
              </a:rPr>
              <a:t>，高于</a:t>
            </a:r>
            <a:r>
              <a:rPr lang="en-US" altLang="zh-CN" sz="2000" dirty="0">
                <a:solidFill>
                  <a:srgbClr val="000000"/>
                </a:solidFill>
                <a:latin typeface="微软雅黑" panose="020B0503020204020204" pitchFamily="34" charset="-122"/>
                <a:ea typeface="微软雅黑" panose="020B0503020204020204" pitchFamily="34" charset="-122"/>
              </a:rPr>
              <a:t>3.5V</a:t>
            </a:r>
            <a:r>
              <a:rPr lang="zh-CN" altLang="en-US" sz="2000" dirty="0">
                <a:solidFill>
                  <a:srgbClr val="000000"/>
                </a:solidFill>
                <a:latin typeface="微软雅黑" panose="020B0503020204020204" pitchFamily="34" charset="-122"/>
                <a:ea typeface="微软雅黑" panose="020B0503020204020204" pitchFamily="34" charset="-122"/>
              </a:rPr>
              <a:t>为高电平，噪声容限高为</a:t>
            </a:r>
            <a:r>
              <a:rPr lang="en-US" altLang="zh-CN" sz="2000" dirty="0">
                <a:solidFill>
                  <a:srgbClr val="000000"/>
                </a:solidFill>
                <a:latin typeface="微软雅黑" panose="020B0503020204020204" pitchFamily="34" charset="-122"/>
                <a:ea typeface="微软雅黑" panose="020B0503020204020204" pitchFamily="34" charset="-122"/>
              </a:rPr>
              <a:t>1.8V</a:t>
            </a:r>
            <a:r>
              <a:rPr lang="zh-CN" altLang="en-US"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FF"/>
                </a:solidFill>
                <a:latin typeface="微软雅黑" panose="020B0503020204020204" pitchFamily="34" charset="-122"/>
                <a:ea typeface="微软雅黑" panose="020B0503020204020204" pitchFamily="34" charset="-122"/>
              </a:rPr>
              <a:t>比</a:t>
            </a:r>
            <a:r>
              <a:rPr lang="en-US" altLang="zh-CN" sz="2000" dirty="0">
                <a:solidFill>
                  <a:srgbClr val="0000FF"/>
                </a:solidFill>
                <a:latin typeface="微软雅黑" panose="020B0503020204020204" pitchFamily="34" charset="-122"/>
                <a:ea typeface="微软雅黑" panose="020B0503020204020204" pitchFamily="34" charset="-122"/>
              </a:rPr>
              <a:t>TTL</a:t>
            </a:r>
            <a:r>
              <a:rPr lang="zh-CN" altLang="en-US" sz="2000" dirty="0">
                <a:solidFill>
                  <a:srgbClr val="0000FF"/>
                </a:solidFill>
                <a:latin typeface="微软雅黑" panose="020B0503020204020204" pitchFamily="34" charset="-122"/>
                <a:ea typeface="微软雅黑" panose="020B0503020204020204" pitchFamily="34" charset="-122"/>
              </a:rPr>
              <a:t>有更高的噪声容限</a:t>
            </a:r>
            <a:r>
              <a:rPr lang="zh-CN" altLang="en-US" sz="2000" dirty="0">
                <a:solidFill>
                  <a:srgbClr val="000000"/>
                </a:solidFill>
                <a:latin typeface="微软雅黑" panose="020B0503020204020204" pitchFamily="34" charset="-122"/>
                <a:ea typeface="微软雅黑" panose="020B0503020204020204" pitchFamily="34" charset="-122"/>
              </a:rPr>
              <a:t>。</a:t>
            </a:r>
            <a:endParaRPr lang="en-US" altLang="zh-CN" sz="2000" dirty="0">
              <a:solidFill>
                <a:srgbClr val="000000"/>
              </a:solidFill>
              <a:latin typeface="微软雅黑" panose="020B0503020204020204" pitchFamily="34" charset="-122"/>
              <a:ea typeface="微软雅黑" panose="020B0503020204020204" pitchFamily="34" charset="-122"/>
            </a:endParaRPr>
          </a:p>
          <a:p>
            <a:pPr marL="342900" lvl="2" indent="-342900" algn="just">
              <a:lnSpc>
                <a:spcPct val="120000"/>
              </a:lnSpc>
              <a:buFont typeface="Wingdings" panose="05000000000000000000" pitchFamily="2" charset="2"/>
              <a:buChar char="p"/>
            </a:pPr>
            <a:r>
              <a:rPr lang="en-US" altLang="zh-CN" sz="2000" b="1" dirty="0">
                <a:solidFill>
                  <a:srgbClr val="000000"/>
                </a:solidFill>
                <a:latin typeface="微软雅黑" panose="020B0503020204020204" pitchFamily="34" charset="-122"/>
                <a:ea typeface="微软雅黑" panose="020B0503020204020204" pitchFamily="34" charset="-122"/>
              </a:rPr>
              <a:t>RS232</a:t>
            </a:r>
            <a:r>
              <a:rPr lang="zh-CN" altLang="en-US" sz="2000" b="1" dirty="0">
                <a:solidFill>
                  <a:srgbClr val="000000"/>
                </a:solidFill>
                <a:latin typeface="微软雅黑" panose="020B0503020204020204" pitchFamily="34" charset="-122"/>
                <a:ea typeface="微软雅黑" panose="020B0503020204020204" pitchFamily="34" charset="-122"/>
              </a:rPr>
              <a:t>标准：</a:t>
            </a:r>
          </a:p>
          <a:p>
            <a:pPr marL="800100" lvl="2" indent="-342900" algn="just">
              <a:lnSpc>
                <a:spcPct val="120000"/>
              </a:lnSpc>
              <a:buFont typeface="Wingdings" panose="05000000000000000000" pitchFamily="2" charset="2"/>
              <a:buChar char="Ø"/>
            </a:pPr>
            <a:r>
              <a:rPr lang="zh-CN" altLang="en-US" sz="2000" dirty="0">
                <a:solidFill>
                  <a:srgbClr val="0000FF"/>
                </a:solidFill>
                <a:latin typeface="微软雅黑" panose="020B0503020204020204" pitchFamily="34" charset="-122"/>
                <a:ea typeface="微软雅黑" panose="020B0503020204020204" pitchFamily="34" charset="-122"/>
              </a:rPr>
              <a:t>负逻辑电平</a:t>
            </a:r>
            <a:r>
              <a:rPr lang="zh-CN" altLang="en-US" sz="2000" dirty="0">
                <a:solidFill>
                  <a:srgbClr val="000000"/>
                </a:solidFill>
                <a:latin typeface="微软雅黑" panose="020B0503020204020204" pitchFamily="34" charset="-122"/>
                <a:ea typeface="微软雅黑" panose="020B0503020204020204" pitchFamily="34" charset="-122"/>
              </a:rPr>
              <a:t>，逻辑</a:t>
            </a:r>
            <a:r>
              <a:rPr lang="en-US" altLang="zh-CN" sz="2000" dirty="0">
                <a:solidFill>
                  <a:srgbClr val="000000"/>
                </a:solidFill>
                <a:latin typeface="微软雅黑" panose="020B0503020204020204" pitchFamily="34" charset="-122"/>
                <a:ea typeface="微软雅黑" panose="020B0503020204020204" pitchFamily="34" charset="-122"/>
              </a:rPr>
              <a:t>1</a:t>
            </a:r>
            <a:r>
              <a:rPr lang="zh-CN" altLang="en-US" sz="2000" dirty="0">
                <a:solidFill>
                  <a:srgbClr val="000000"/>
                </a:solidFill>
                <a:latin typeface="微软雅黑" panose="020B0503020204020204" pitchFamily="34" charset="-122"/>
                <a:ea typeface="微软雅黑" panose="020B0503020204020204" pitchFamily="34" charset="-122"/>
              </a:rPr>
              <a:t>的电平为</a:t>
            </a:r>
            <a:r>
              <a:rPr lang="en-US" altLang="zh-CN" sz="2000" u="sng" dirty="0">
                <a:solidFill>
                  <a:srgbClr val="000000"/>
                </a:solidFill>
                <a:latin typeface="微软雅黑" panose="020B0503020204020204" pitchFamily="34" charset="-122"/>
                <a:ea typeface="微软雅黑" panose="020B0503020204020204" pitchFamily="34" charset="-122"/>
              </a:rPr>
              <a:t>-3</a:t>
            </a:r>
            <a:r>
              <a:rPr lang="zh-CN" altLang="en-US" sz="2000" u="sng" dirty="0">
                <a:solidFill>
                  <a:srgbClr val="000000"/>
                </a:solidFill>
                <a:latin typeface="微软雅黑" panose="020B0503020204020204" pitchFamily="34" charset="-122"/>
                <a:ea typeface="微软雅黑" panose="020B0503020204020204" pitchFamily="34" charset="-122"/>
              </a:rPr>
              <a:t>～</a:t>
            </a:r>
            <a:r>
              <a:rPr lang="en-US" altLang="zh-CN" sz="2000" u="sng" dirty="0">
                <a:solidFill>
                  <a:srgbClr val="000000"/>
                </a:solidFill>
                <a:latin typeface="微软雅黑" panose="020B0503020204020204" pitchFamily="34" charset="-122"/>
                <a:ea typeface="微软雅黑" panose="020B0503020204020204" pitchFamily="34" charset="-122"/>
              </a:rPr>
              <a:t>-15V</a:t>
            </a:r>
            <a:r>
              <a:rPr lang="zh-CN" altLang="en-US" sz="2000" dirty="0">
                <a:solidFill>
                  <a:srgbClr val="000000"/>
                </a:solidFill>
                <a:latin typeface="微软雅黑" panose="020B0503020204020204" pitchFamily="34" charset="-122"/>
                <a:ea typeface="微软雅黑" panose="020B0503020204020204" pitchFamily="34" charset="-122"/>
              </a:rPr>
              <a:t>，逻辑</a:t>
            </a:r>
            <a:r>
              <a:rPr lang="en-US" altLang="zh-CN" sz="2000" dirty="0">
                <a:solidFill>
                  <a:srgbClr val="000000"/>
                </a:solidFill>
                <a:latin typeface="微软雅黑" panose="020B0503020204020204" pitchFamily="34" charset="-122"/>
                <a:ea typeface="微软雅黑" panose="020B0503020204020204" pitchFamily="34" charset="-122"/>
              </a:rPr>
              <a:t>0</a:t>
            </a:r>
            <a:r>
              <a:rPr lang="zh-CN" altLang="en-US" sz="2000" dirty="0">
                <a:solidFill>
                  <a:srgbClr val="000000"/>
                </a:solidFill>
                <a:latin typeface="微软雅黑" panose="020B0503020204020204" pitchFamily="34" charset="-122"/>
                <a:ea typeface="微软雅黑" panose="020B0503020204020204" pitchFamily="34" charset="-122"/>
              </a:rPr>
              <a:t>的电平为</a:t>
            </a:r>
            <a:r>
              <a:rPr lang="en-US" altLang="zh-CN" sz="2000" u="sng" dirty="0">
                <a:solidFill>
                  <a:srgbClr val="000000"/>
                </a:solidFill>
                <a:latin typeface="微软雅黑" panose="020B0503020204020204" pitchFamily="34" charset="-122"/>
                <a:ea typeface="微软雅黑" panose="020B0503020204020204" pitchFamily="34" charset="-122"/>
              </a:rPr>
              <a:t>+3</a:t>
            </a:r>
            <a:r>
              <a:rPr lang="zh-CN" altLang="en-US" sz="2000" u="sng" dirty="0">
                <a:solidFill>
                  <a:srgbClr val="000000"/>
                </a:solidFill>
                <a:latin typeface="微软雅黑" panose="020B0503020204020204" pitchFamily="34" charset="-122"/>
                <a:ea typeface="微软雅黑" panose="020B0503020204020204" pitchFamily="34" charset="-122"/>
              </a:rPr>
              <a:t>～</a:t>
            </a:r>
            <a:r>
              <a:rPr lang="en-US" altLang="zh-CN" sz="2000" u="sng" dirty="0">
                <a:solidFill>
                  <a:srgbClr val="000000"/>
                </a:solidFill>
                <a:latin typeface="微软雅黑" panose="020B0503020204020204" pitchFamily="34" charset="-122"/>
                <a:ea typeface="微软雅黑" panose="020B0503020204020204" pitchFamily="34" charset="-122"/>
              </a:rPr>
              <a:t>+15V</a:t>
            </a:r>
            <a:r>
              <a:rPr lang="zh-CN" altLang="en-US" sz="2000" dirty="0">
                <a:solidFill>
                  <a:srgbClr val="000000"/>
                </a:solidFill>
                <a:latin typeface="微软雅黑" panose="020B0503020204020204" pitchFamily="34" charset="-122"/>
                <a:ea typeface="微软雅黑" panose="020B0503020204020204" pitchFamily="34" charset="-122"/>
              </a:rPr>
              <a:t>。</a:t>
            </a:r>
            <a:endParaRPr lang="zh-CN" altLang="en-US" dirty="0">
              <a:latin typeface="Calibri" panose="020F0502020204030204" pitchFamily="34" charset="0"/>
            </a:endParaRPr>
          </a:p>
        </p:txBody>
      </p:sp>
      <p:pic>
        <p:nvPicPr>
          <p:cNvPr id="53252" name="图片 4"/>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55299"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55300"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7" name="文本框 6"/>
              <p:cNvSpPr txBox="1"/>
              <p:nvPr/>
            </p:nvSpPr>
            <p:spPr>
              <a:xfrm>
                <a:off x="257505" y="736608"/>
                <a:ext cx="8635669" cy="5543441"/>
              </a:xfrm>
              <a:prstGeom prst="rect">
                <a:avLst/>
              </a:prstGeom>
              <a:noFill/>
            </p:spPr>
            <p:txBody>
              <a:bodyPr wrap="square" rtlCol="0">
                <a:spAutoFit/>
              </a:bodyPr>
              <a:lstStyle/>
              <a:p>
                <a:pPr algn="just">
                  <a:lnSpc>
                    <a:spcPct val="150000"/>
                  </a:lnSpc>
                </a:pPr>
                <a:r>
                  <a:rPr lang="en-US" altLang="zh-CN" sz="2400" b="1" dirty="0">
                    <a:solidFill>
                      <a:prstClr val="black"/>
                    </a:solidFill>
                    <a:latin typeface="微软雅黑" panose="020B0503020204020204" pitchFamily="34" charset="-122"/>
                    <a:ea typeface="微软雅黑" panose="020B0503020204020204" pitchFamily="34" charset="-122"/>
                  </a:rPr>
                  <a:t>2.1.2 MCS-51</a:t>
                </a:r>
                <a:r>
                  <a:rPr lang="zh-CN" altLang="en-US" sz="2400" b="1" dirty="0">
                    <a:solidFill>
                      <a:prstClr val="black"/>
                    </a:solidFill>
                    <a:latin typeface="微软雅黑" panose="020B0503020204020204" pitchFamily="34" charset="-122"/>
                    <a:ea typeface="微软雅黑" panose="020B0503020204020204" pitchFamily="34" charset="-122"/>
                  </a:rPr>
                  <a:t>引脚功能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p"/>
                </a:pPr>
                <a:r>
                  <a:rPr lang="zh-CN" altLang="en-US" sz="2400" dirty="0">
                    <a:solidFill>
                      <a:prstClr val="black"/>
                    </a:solidFill>
                    <a:latin typeface="微软雅黑" panose="020B0503020204020204" pitchFamily="34" charset="-122"/>
                    <a:ea typeface="微软雅黑" panose="020B0503020204020204" pitchFamily="34" charset="-122"/>
                  </a:rPr>
                  <a:t>时钟电路引脚</a:t>
                </a:r>
                <a:r>
                  <a:rPr lang="en-US" altLang="zh-CN" sz="2400" dirty="0">
                    <a:solidFill>
                      <a:prstClr val="black"/>
                    </a:solidFill>
                    <a:latin typeface="微软雅黑" panose="020B0503020204020204" pitchFamily="34" charset="-122"/>
                    <a:ea typeface="微软雅黑" panose="020B0503020204020204" pitchFamily="34" charset="-122"/>
                  </a:rPr>
                  <a:t>XTAL1</a:t>
                </a:r>
                <a:r>
                  <a:rPr lang="zh-CN" altLang="en-US" sz="2400" dirty="0">
                    <a:solidFill>
                      <a:prstClr val="black"/>
                    </a:solidFill>
                    <a:latin typeface="微软雅黑" panose="020B0503020204020204" pitchFamily="34" charset="-122"/>
                    <a:ea typeface="微软雅黑" panose="020B0503020204020204" pitchFamily="34" charset="-122"/>
                  </a:rPr>
                  <a:t>和</a:t>
                </a:r>
                <a:r>
                  <a:rPr lang="en-US" altLang="zh-CN" sz="2400" dirty="0">
                    <a:solidFill>
                      <a:prstClr val="black"/>
                    </a:solidFill>
                    <a:latin typeface="微软雅黑" panose="020B0503020204020204" pitchFamily="34" charset="-122"/>
                    <a:ea typeface="微软雅黑" panose="020B0503020204020204" pitchFamily="34" charset="-122"/>
                  </a:rPr>
                  <a:t>XTAL2 </a:t>
                </a:r>
              </a:p>
              <a:p>
                <a:pPr algn="just">
                  <a:lnSpc>
                    <a:spcPct val="150000"/>
                  </a:lnSpc>
                </a:pPr>
                <a:r>
                  <a:rPr lang="en-US" altLang="zh-CN" sz="2400" dirty="0">
                    <a:solidFill>
                      <a:prstClr val="black"/>
                    </a:solidFill>
                    <a:latin typeface="微软雅黑" panose="020B0503020204020204" pitchFamily="34" charset="-122"/>
                    <a:ea typeface="微软雅黑" panose="020B0503020204020204" pitchFamily="34" charset="-122"/>
                  </a:rPr>
                  <a:t>       XTAL1</a:t>
                </a:r>
                <a:r>
                  <a:rPr lang="zh-CN" altLang="en-US" sz="2400" dirty="0">
                    <a:solidFill>
                      <a:prstClr val="black"/>
                    </a:solidFill>
                    <a:latin typeface="微软雅黑" panose="020B0503020204020204" pitchFamily="34" charset="-122"/>
                    <a:ea typeface="微软雅黑" panose="020B0503020204020204" pitchFamily="34" charset="-122"/>
                  </a:rPr>
                  <a:t>是</a:t>
                </a:r>
                <a:r>
                  <a:rPr lang="zh-CN" altLang="en-US" sz="2400" dirty="0">
                    <a:solidFill>
                      <a:srgbClr val="0000FF"/>
                    </a:solidFill>
                    <a:latin typeface="微软雅黑" panose="020B0503020204020204" pitchFamily="34" charset="-122"/>
                    <a:ea typeface="微软雅黑" panose="020B0503020204020204" pitchFamily="34" charset="-122"/>
                  </a:rPr>
                  <a:t>片内振荡器</a:t>
                </a:r>
                <a:r>
                  <a:rPr lang="zh-CN" altLang="en-US" sz="2400" dirty="0">
                    <a:solidFill>
                      <a:prstClr val="black"/>
                    </a:solidFill>
                    <a:latin typeface="微软雅黑" panose="020B0503020204020204" pitchFamily="34" charset="-122"/>
                    <a:ea typeface="微软雅黑" panose="020B0503020204020204" pitchFamily="34" charset="-122"/>
                  </a:rPr>
                  <a:t>反相放大器的</a:t>
                </a:r>
                <a:r>
                  <a:rPr lang="zh-CN" altLang="en-US" sz="2400" dirty="0">
                    <a:solidFill>
                      <a:srgbClr val="0000FF"/>
                    </a:solidFill>
                    <a:latin typeface="微软雅黑" panose="020B0503020204020204" pitchFamily="34" charset="-122"/>
                    <a:ea typeface="微软雅黑" panose="020B0503020204020204" pitchFamily="34" charset="-122"/>
                  </a:rPr>
                  <a:t>输入端</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XTAL2</a:t>
                </a:r>
                <a:r>
                  <a:rPr lang="zh-CN" altLang="en-US" sz="2400" dirty="0">
                    <a:solidFill>
                      <a:prstClr val="black"/>
                    </a:solidFill>
                    <a:latin typeface="微软雅黑" panose="020B0503020204020204" pitchFamily="34" charset="-122"/>
                    <a:ea typeface="微软雅黑" panose="020B0503020204020204" pitchFamily="34" charset="-122"/>
                  </a:rPr>
                  <a:t>是</a:t>
                </a:r>
                <a:r>
                  <a:rPr lang="zh-CN" altLang="en-US" sz="2400" dirty="0">
                    <a:solidFill>
                      <a:srgbClr val="0000FF"/>
                    </a:solidFill>
                    <a:latin typeface="微软雅黑" panose="020B0503020204020204" pitchFamily="34" charset="-122"/>
                    <a:ea typeface="微软雅黑" panose="020B0503020204020204" pitchFamily="34" charset="-122"/>
                  </a:rPr>
                  <a:t>片内振荡器</a:t>
                </a:r>
                <a:r>
                  <a:rPr lang="zh-CN" altLang="en-US" sz="2400" dirty="0">
                    <a:solidFill>
                      <a:prstClr val="black"/>
                    </a:solidFill>
                    <a:latin typeface="微软雅黑" panose="020B0503020204020204" pitchFamily="34" charset="-122"/>
                    <a:ea typeface="微软雅黑" panose="020B0503020204020204" pitchFamily="34" charset="-122"/>
                  </a:rPr>
                  <a:t>反相放大器的</a:t>
                </a:r>
                <a:r>
                  <a:rPr lang="zh-CN" altLang="en-US" sz="2400" dirty="0">
                    <a:solidFill>
                      <a:srgbClr val="0000FF"/>
                    </a:solidFill>
                    <a:latin typeface="微软雅黑" panose="020B0503020204020204" pitchFamily="34" charset="-122"/>
                    <a:ea typeface="微软雅黑" panose="020B0503020204020204" pitchFamily="34" charset="-122"/>
                  </a:rPr>
                  <a:t>输出端</a:t>
                </a:r>
                <a:r>
                  <a:rPr lang="zh-CN" altLang="en-US" sz="2400" dirty="0">
                    <a:solidFill>
                      <a:prstClr val="black"/>
                    </a:solidFill>
                    <a:latin typeface="微软雅黑" panose="020B0503020204020204" pitchFamily="34" charset="-122"/>
                    <a:ea typeface="微软雅黑" panose="020B0503020204020204" pitchFamily="34" charset="-122"/>
                  </a:rPr>
                  <a:t>，也是</a:t>
                </a:r>
                <a:r>
                  <a:rPr lang="zh-CN" altLang="en-US" sz="2400" dirty="0">
                    <a:solidFill>
                      <a:srgbClr val="0000FF"/>
                    </a:solidFill>
                    <a:latin typeface="微软雅黑" panose="020B0503020204020204" pitchFamily="34" charset="-122"/>
                    <a:ea typeface="微软雅黑" panose="020B0503020204020204" pitchFamily="34" charset="-122"/>
                  </a:rPr>
                  <a:t>内部时钟发生器</a:t>
                </a:r>
                <a:r>
                  <a:rPr lang="zh-CN" altLang="en-US" sz="2400" dirty="0">
                    <a:solidFill>
                      <a:prstClr val="black"/>
                    </a:solidFill>
                    <a:latin typeface="微软雅黑" panose="020B0503020204020204" pitchFamily="34" charset="-122"/>
                    <a:ea typeface="微软雅黑" panose="020B0503020204020204" pitchFamily="34" charset="-122"/>
                  </a:rPr>
                  <a:t>的</a:t>
                </a:r>
                <a:r>
                  <a:rPr lang="zh-CN" altLang="en-US" sz="2400" dirty="0">
                    <a:solidFill>
                      <a:srgbClr val="0000FF"/>
                    </a:solidFill>
                    <a:latin typeface="微软雅黑" panose="020B0503020204020204" pitchFamily="34" charset="-122"/>
                    <a:ea typeface="微软雅黑" panose="020B0503020204020204" pitchFamily="34" charset="-122"/>
                  </a:rPr>
                  <a:t>输入端</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a:lnSpc>
                    <a:spcPct val="150000"/>
                  </a:lnSpc>
                </a:pPr>
                <a:endParaRPr lang="en-US" altLang="zh-CN" sz="2000" dirty="0">
                  <a:solidFill>
                    <a:srgbClr val="C00000"/>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p"/>
                </a:pPr>
                <a:r>
                  <a:rPr lang="zh-CN" altLang="en-US" sz="2400" dirty="0">
                    <a:solidFill>
                      <a:prstClr val="black"/>
                    </a:solidFill>
                    <a:latin typeface="微软雅黑" panose="020B0503020204020204" pitchFamily="34" charset="-122"/>
                    <a:ea typeface="微软雅黑" panose="020B0503020204020204" pitchFamily="34" charset="-122"/>
                  </a:rPr>
                  <a:t>控制信号引脚</a:t>
                </a:r>
                <a:endParaRPr lang="en-US" altLang="zh-CN" sz="2000" dirty="0">
                  <a:solidFill>
                    <a:srgbClr val="C00000"/>
                  </a:solidFill>
                  <a:latin typeface="微软雅黑" panose="020B0503020204020204" pitchFamily="34" charset="-122"/>
                  <a:ea typeface="微软雅黑" panose="020B0503020204020204" pitchFamily="34" charset="-122"/>
                </a:endParaRPr>
              </a:p>
              <a:p>
                <a:pPr lvl="1" algn="just">
                  <a:lnSpc>
                    <a:spcPct val="150000"/>
                  </a:lnSpc>
                </a:pPr>
                <a:r>
                  <a:rPr lang="en-US" altLang="zh-CN" sz="2400" dirty="0">
                    <a:solidFill>
                      <a:prstClr val="black"/>
                    </a:solidFill>
                    <a:latin typeface="微软雅黑" panose="020B0503020204020204" pitchFamily="34" charset="-122"/>
                    <a:ea typeface="微软雅黑" panose="020B0503020204020204" pitchFamily="34" charset="-122"/>
                  </a:rPr>
                  <a:t>  RST/V</a:t>
                </a:r>
                <a:r>
                  <a:rPr lang="en-US" altLang="zh-CN" sz="2400" baseline="-25000" dirty="0">
                    <a:solidFill>
                      <a:prstClr val="black"/>
                    </a:solidFill>
                    <a:latin typeface="微软雅黑" panose="020B0503020204020204" pitchFamily="34" charset="-122"/>
                    <a:ea typeface="微软雅黑" panose="020B0503020204020204" pitchFamily="34" charset="-122"/>
                  </a:rPr>
                  <a:t>PD</a:t>
                </a:r>
                <a:r>
                  <a:rPr lang="zh-CN" altLang="en-US" sz="2400" dirty="0">
                    <a:solidFill>
                      <a:prstClr val="black"/>
                    </a:solidFill>
                    <a:latin typeface="微软雅黑" panose="020B0503020204020204" pitchFamily="34" charset="-122"/>
                    <a:ea typeface="微软雅黑" panose="020B0503020204020204" pitchFamily="34" charset="-122"/>
                  </a:rPr>
                  <a:t>：复位</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备用电源输入端。 </a:t>
                </a:r>
              </a:p>
              <a:p>
                <a:pPr lvl="1" algn="just">
                  <a:lnSpc>
                    <a:spcPct val="150000"/>
                  </a:lnSpc>
                </a:pPr>
                <a:r>
                  <a:rPr lang="en-US" altLang="zh-CN" sz="2400" dirty="0">
                    <a:solidFill>
                      <a:prstClr val="black"/>
                    </a:solidFill>
                    <a:latin typeface="微软雅黑" panose="020B0503020204020204" pitchFamily="34" charset="-122"/>
                    <a:ea typeface="微软雅黑" panose="020B0503020204020204" pitchFamily="34" charset="-122"/>
                  </a:rPr>
                  <a:t>  ALE/</a:t>
                </a:r>
                <a14:m>
                  <m:oMath xmlns:m="http://schemas.openxmlformats.org/officeDocument/2006/math">
                    <m:acc>
                      <m:accPr>
                        <m:chr m:val="̅"/>
                        <m:ctrlPr>
                          <a:rPr lang="en-US" altLang="zh-CN" sz="2400" i="1" dirty="0">
                            <a:solidFill>
                              <a:prstClr val="black"/>
                            </a:solidFill>
                            <a:latin typeface="Cambria Math" panose="02040503050406030204" pitchFamily="18" charset="0"/>
                            <a:ea typeface="微软雅黑" panose="020B0503020204020204" pitchFamily="34" charset="-122"/>
                          </a:rPr>
                        </m:ctrlPr>
                      </m:accPr>
                      <m:e>
                        <m:r>
                          <m:rPr>
                            <m:sty m:val="p"/>
                          </m:rPr>
                          <a:rPr lang="en-US" altLang="zh-CN" sz="2400" dirty="0">
                            <a:solidFill>
                              <a:prstClr val="black"/>
                            </a:solidFill>
                            <a:latin typeface="Cambria Math" panose="02040503050406030204" pitchFamily="18" charset="0"/>
                            <a:ea typeface="微软雅黑" panose="020B0503020204020204" pitchFamily="34" charset="-122"/>
                          </a:rPr>
                          <m:t>PROG</m:t>
                        </m:r>
                      </m:e>
                    </m:acc>
                  </m:oMath>
                </a14:m>
                <a:r>
                  <a:rPr lang="zh-CN" altLang="en-US" sz="2400" dirty="0">
                    <a:solidFill>
                      <a:prstClr val="black"/>
                    </a:solidFill>
                    <a:latin typeface="微软雅黑" panose="020B0503020204020204" pitchFamily="34" charset="-122"/>
                    <a:ea typeface="微软雅黑" panose="020B0503020204020204" pitchFamily="34" charset="-122"/>
                  </a:rPr>
                  <a:t>：低</a:t>
                </a:r>
                <a:r>
                  <a:rPr lang="en-US" altLang="zh-CN" sz="2400" dirty="0">
                    <a:solidFill>
                      <a:prstClr val="black"/>
                    </a:solidFill>
                    <a:latin typeface="微软雅黑" panose="020B0503020204020204" pitchFamily="34" charset="-122"/>
                    <a:ea typeface="微软雅黑" panose="020B0503020204020204" pitchFamily="34" charset="-122"/>
                  </a:rPr>
                  <a:t>8</a:t>
                </a:r>
                <a:r>
                  <a:rPr lang="zh-CN" altLang="en-US" sz="2400" dirty="0">
                    <a:solidFill>
                      <a:prstClr val="black"/>
                    </a:solidFill>
                    <a:latin typeface="微软雅黑" panose="020B0503020204020204" pitchFamily="34" charset="-122"/>
                    <a:ea typeface="微软雅黑" panose="020B0503020204020204" pitchFamily="34" charset="-122"/>
                  </a:rPr>
                  <a:t>位地址锁存使能输出</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编程脉冲输入端。 </a:t>
                </a:r>
              </a:p>
              <a:p>
                <a:pPr lvl="1" algn="just">
                  <a:lnSpc>
                    <a:spcPct val="150000"/>
                  </a:lnSpc>
                </a:pPr>
                <a:r>
                  <a:rPr lang="en-US" altLang="zh-CN" sz="2400" dirty="0">
                    <a:solidFill>
                      <a:prstClr val="black"/>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2400" i="1" dirty="0">
                            <a:solidFill>
                              <a:prstClr val="black"/>
                            </a:solidFill>
                            <a:latin typeface="Cambria Math" panose="02040503050406030204" pitchFamily="18" charset="0"/>
                            <a:ea typeface="微软雅黑" panose="020B0503020204020204" pitchFamily="34" charset="-122"/>
                          </a:rPr>
                        </m:ctrlPr>
                      </m:accPr>
                      <m:e>
                        <m:r>
                          <m:rPr>
                            <m:sty m:val="p"/>
                          </m:rPr>
                          <a:rPr lang="en-US" altLang="zh-CN" sz="2400" dirty="0" smtClean="0">
                            <a:solidFill>
                              <a:prstClr val="black"/>
                            </a:solidFill>
                            <a:latin typeface="Cambria Math" panose="02040503050406030204" pitchFamily="18" charset="0"/>
                            <a:ea typeface="微软雅黑" panose="020B0503020204020204" pitchFamily="34" charset="-122"/>
                          </a:rPr>
                          <m:t>P</m:t>
                        </m:r>
                        <m:r>
                          <m:rPr>
                            <m:sty m:val="p"/>
                          </m:rPr>
                          <a:rPr lang="en-US" altLang="zh-CN" sz="2400" i="1" dirty="0">
                            <a:solidFill>
                              <a:prstClr val="black"/>
                            </a:solidFill>
                            <a:latin typeface="Cambria Math" panose="02040503050406030204" pitchFamily="18" charset="0"/>
                            <a:ea typeface="微软雅黑" panose="020B0503020204020204" pitchFamily="34" charset="-122"/>
                          </a:rPr>
                          <m:t>SEN</m:t>
                        </m:r>
                      </m:e>
                    </m:acc>
                  </m:oMath>
                </a14:m>
                <a:r>
                  <a:rPr lang="zh-CN" altLang="en-US" sz="2400" dirty="0">
                    <a:solidFill>
                      <a:prstClr val="black"/>
                    </a:solidFill>
                    <a:latin typeface="微软雅黑" panose="020B0503020204020204" pitchFamily="34" charset="-122"/>
                    <a:ea typeface="微软雅黑" panose="020B0503020204020204" pitchFamily="34" charset="-122"/>
                  </a:rPr>
                  <a:t>：外部程序存储器控制信号，即</a:t>
                </a:r>
                <a:r>
                  <a:rPr lang="zh-CN" altLang="en-US" sz="2400" dirty="0">
                    <a:solidFill>
                      <a:srgbClr val="C00000"/>
                    </a:solidFill>
                    <a:latin typeface="微软雅黑" panose="020B0503020204020204" pitchFamily="34" charset="-122"/>
                    <a:ea typeface="微软雅黑" panose="020B0503020204020204" pitchFamily="34" charset="-122"/>
                  </a:rPr>
                  <a:t>读选通信号 </a:t>
                </a:r>
                <a:r>
                  <a:rPr lang="zh-CN" altLang="en-US" sz="2400" dirty="0">
                    <a:solidFill>
                      <a:prstClr val="black"/>
                    </a:solidFill>
                    <a:latin typeface="微软雅黑" panose="020B0503020204020204" pitchFamily="34" charset="-122"/>
                    <a:ea typeface="微软雅黑" panose="020B0503020204020204" pitchFamily="34" charset="-122"/>
                  </a:rPr>
                  <a:t>。</a:t>
                </a:r>
              </a:p>
              <a:p>
                <a:pPr lvl="1" algn="just">
                  <a:lnSpc>
                    <a:spcPct val="150000"/>
                  </a:lnSpc>
                </a:pPr>
                <a:r>
                  <a:rPr lang="en-US" altLang="zh-CN" sz="2400" dirty="0">
                    <a:solidFill>
                      <a:prstClr val="black"/>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sz="2400" i="1" dirty="0">
                            <a:solidFill>
                              <a:prstClr val="black"/>
                            </a:solidFill>
                            <a:latin typeface="Cambria Math" panose="02040503050406030204" pitchFamily="18" charset="0"/>
                            <a:ea typeface="微软雅黑" panose="020B0503020204020204" pitchFamily="34" charset="-122"/>
                          </a:rPr>
                        </m:ctrlPr>
                      </m:accPr>
                      <m:e>
                        <m:r>
                          <m:rPr>
                            <m:sty m:val="p"/>
                          </m:rPr>
                          <a:rPr lang="en-US" altLang="zh-CN" sz="2400" b="0" i="0" dirty="0" smtClean="0">
                            <a:solidFill>
                              <a:prstClr val="black"/>
                            </a:solidFill>
                            <a:latin typeface="Cambria Math" panose="02040503050406030204" pitchFamily="18" charset="0"/>
                            <a:ea typeface="微软雅黑" panose="020B0503020204020204" pitchFamily="34" charset="-122"/>
                          </a:rPr>
                          <m:t>EA</m:t>
                        </m:r>
                      </m:e>
                    </m:acc>
                  </m:oMath>
                </a14:m>
                <a:r>
                  <a:rPr lang="en-US" altLang="zh-CN" sz="2400" dirty="0">
                    <a:solidFill>
                      <a:prstClr val="black"/>
                    </a:solidFill>
                    <a:latin typeface="微软雅黑" panose="020B0503020204020204" pitchFamily="34" charset="-122"/>
                    <a:ea typeface="微软雅黑" panose="020B0503020204020204" pitchFamily="34" charset="-122"/>
                  </a:rPr>
                  <a:t>/V</a:t>
                </a:r>
                <a:r>
                  <a:rPr lang="en-US" altLang="zh-CN" sz="2400" baseline="-25000" dirty="0">
                    <a:solidFill>
                      <a:prstClr val="black"/>
                    </a:solidFill>
                    <a:latin typeface="微软雅黑" panose="020B0503020204020204" pitchFamily="34" charset="-122"/>
                    <a:ea typeface="微软雅黑" panose="020B0503020204020204" pitchFamily="34" charset="-122"/>
                  </a:rPr>
                  <a:t>PP</a:t>
                </a:r>
                <a:r>
                  <a:rPr lang="zh-CN" altLang="en-US" sz="2400" dirty="0">
                    <a:solidFill>
                      <a:prstClr val="black"/>
                    </a:solidFill>
                    <a:latin typeface="微软雅黑" panose="020B0503020204020204" pitchFamily="34" charset="-122"/>
                    <a:ea typeface="微软雅黑" panose="020B0503020204020204" pitchFamily="34" charset="-122"/>
                  </a:rPr>
                  <a:t>：外部程序存储器允许访问</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编程电源输入。</a:t>
                </a:r>
                <a:endParaRPr lang="en-US" altLang="zh-CN" sz="2400" dirty="0">
                  <a:solidFill>
                    <a:prstClr val="black"/>
                  </a:solidFill>
                  <a:latin typeface="微软雅黑" panose="020B0503020204020204" pitchFamily="34" charset="-122"/>
                  <a:ea typeface="微软雅黑" panose="020B0503020204020204" pitchFamily="34" charset="-122"/>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257505" y="736608"/>
                <a:ext cx="8635669" cy="5543441"/>
              </a:xfrm>
              <a:prstGeom prst="rect">
                <a:avLst/>
              </a:prstGeom>
              <a:blipFill rotWithShape="1">
                <a:blip r:embed="rId5"/>
                <a:stretch>
                  <a:fillRect l="-4" r="7" b="10"/>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954395"/>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2.1.2 MCS-51</a:t>
            </a:r>
            <a:r>
              <a:rPr lang="zh-CN" altLang="en-US" sz="2400" b="1" dirty="0">
                <a:solidFill>
                  <a:prstClr val="black"/>
                </a:solidFill>
                <a:latin typeface="微软雅黑" panose="020B0503020204020204" pitchFamily="34" charset="-122"/>
                <a:ea typeface="微软雅黑" panose="020B0503020204020204" pitchFamily="34" charset="-122"/>
              </a:rPr>
              <a:t>引脚功能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p"/>
              <a:defRPr/>
            </a:pPr>
            <a:r>
              <a:rPr lang="zh-CN" altLang="en-US" sz="2400" dirty="0">
                <a:solidFill>
                  <a:prstClr val="black"/>
                </a:solidFill>
                <a:latin typeface="微软雅黑" panose="020B0503020204020204" pitchFamily="34" charset="-122"/>
                <a:ea typeface="微软雅黑" panose="020B0503020204020204" pitchFamily="34" charset="-122"/>
              </a:rPr>
              <a:t>并行</a:t>
            </a:r>
            <a:r>
              <a:rPr lang="en-US" altLang="zh-CN" sz="2400" dirty="0">
                <a:solidFill>
                  <a:prstClr val="black"/>
                </a:solidFill>
                <a:latin typeface="微软雅黑" panose="020B0503020204020204" pitchFamily="34" charset="-122"/>
                <a:ea typeface="微软雅黑" panose="020B0503020204020204" pitchFamily="34" charset="-122"/>
              </a:rPr>
              <a:t>I/O</a:t>
            </a:r>
            <a:r>
              <a:rPr lang="zh-CN" altLang="en-US" sz="2400" dirty="0">
                <a:solidFill>
                  <a:prstClr val="black"/>
                </a:solidFill>
                <a:latin typeface="微软雅黑" panose="020B0503020204020204" pitchFamily="34" charset="-122"/>
                <a:ea typeface="微软雅黑" panose="020B0503020204020204" pitchFamily="34" charset="-122"/>
              </a:rPr>
              <a:t>口</a:t>
            </a:r>
            <a:r>
              <a:rPr lang="en-US" altLang="zh-CN" sz="2400" dirty="0">
                <a:solidFill>
                  <a:prstClr val="black"/>
                </a:solidFill>
                <a:latin typeface="微软雅黑" panose="020B0503020204020204" pitchFamily="34" charset="-122"/>
                <a:ea typeface="微软雅黑" panose="020B0503020204020204" pitchFamily="34" charset="-122"/>
              </a:rPr>
              <a:t>P0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P3</a:t>
            </a:r>
            <a:r>
              <a:rPr lang="zh-CN" altLang="en-US" sz="2400" dirty="0">
                <a:solidFill>
                  <a:prstClr val="black"/>
                </a:solidFill>
                <a:latin typeface="微软雅黑" panose="020B0503020204020204" pitchFamily="34" charset="-122"/>
                <a:ea typeface="微软雅黑" panose="020B0503020204020204" pitchFamily="34" charset="-122"/>
              </a:rPr>
              <a:t>端口引脚</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en-US" altLang="zh-CN" sz="2400" dirty="0">
                <a:solidFill>
                  <a:prstClr val="black"/>
                </a:solidFill>
                <a:latin typeface="微软雅黑" panose="020B0503020204020204" pitchFamily="34" charset="-122"/>
                <a:ea typeface="微软雅黑" panose="020B0503020204020204" pitchFamily="34" charset="-122"/>
              </a:rPr>
              <a:t>P0</a:t>
            </a:r>
            <a:r>
              <a:rPr lang="zh-CN" altLang="en-US" sz="2400" dirty="0">
                <a:solidFill>
                  <a:prstClr val="black"/>
                </a:solidFill>
                <a:latin typeface="微软雅黑" panose="020B0503020204020204" pitchFamily="34" charset="-122"/>
                <a:ea typeface="微软雅黑" panose="020B0503020204020204" pitchFamily="34" charset="-122"/>
              </a:rPr>
              <a:t>口</a:t>
            </a:r>
            <a:r>
              <a:rPr lang="en-US" altLang="zh-CN" sz="2400" dirty="0">
                <a:solidFill>
                  <a:prstClr val="black"/>
                </a:solidFill>
                <a:latin typeface="微软雅黑" panose="020B0503020204020204" pitchFamily="34" charset="-122"/>
                <a:ea typeface="微软雅黑" panose="020B0503020204020204" pitchFamily="34" charset="-122"/>
              </a:rPr>
              <a:t>(P0.0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P0.7)</a:t>
            </a:r>
          </a:p>
          <a:p>
            <a:pPr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      </a:t>
            </a:r>
            <a:r>
              <a:rPr lang="en-US" altLang="zh-CN" sz="2200" dirty="0">
                <a:solidFill>
                  <a:prstClr val="black"/>
                </a:solidFill>
                <a:latin typeface="微软雅黑" panose="020B0503020204020204" pitchFamily="34" charset="-122"/>
                <a:ea typeface="微软雅黑" panose="020B0503020204020204" pitchFamily="34" charset="-122"/>
              </a:rPr>
              <a:t>P0</a:t>
            </a:r>
            <a:r>
              <a:rPr lang="zh-CN" altLang="en-US" sz="2200" dirty="0">
                <a:solidFill>
                  <a:prstClr val="black"/>
                </a:solidFill>
                <a:latin typeface="微软雅黑" panose="020B0503020204020204" pitchFamily="34" charset="-122"/>
                <a:ea typeface="微软雅黑" panose="020B0503020204020204" pitchFamily="34" charset="-122"/>
              </a:rPr>
              <a:t>口内部是一个</a:t>
            </a:r>
            <a:r>
              <a:rPr lang="en-US" altLang="zh-CN" sz="2200" dirty="0">
                <a:solidFill>
                  <a:prstClr val="black"/>
                </a:solidFill>
                <a:latin typeface="微软雅黑" panose="020B0503020204020204" pitchFamily="34" charset="-122"/>
                <a:ea typeface="微软雅黑" panose="020B0503020204020204" pitchFamily="34" charset="-122"/>
              </a:rPr>
              <a:t>8</a:t>
            </a:r>
            <a:r>
              <a:rPr lang="zh-CN" altLang="en-US" sz="2200" dirty="0">
                <a:solidFill>
                  <a:prstClr val="black"/>
                </a:solidFill>
                <a:latin typeface="微软雅黑" panose="020B0503020204020204" pitchFamily="34" charset="-122"/>
                <a:ea typeface="微软雅黑" panose="020B0503020204020204" pitchFamily="34" charset="-122"/>
              </a:rPr>
              <a:t>位</a:t>
            </a:r>
            <a:r>
              <a:rPr lang="zh-CN" altLang="en-US" sz="2200" b="1" dirty="0">
                <a:solidFill>
                  <a:srgbClr val="0000FF"/>
                </a:solidFill>
                <a:latin typeface="微软雅黑" panose="020B0503020204020204" pitchFamily="34" charset="-122"/>
                <a:ea typeface="微软雅黑" panose="020B0503020204020204" pitchFamily="34" charset="-122"/>
              </a:rPr>
              <a:t>漏极开路</a:t>
            </a:r>
            <a:r>
              <a:rPr lang="zh-CN" altLang="en-US" sz="2200" dirty="0">
                <a:solidFill>
                  <a:srgbClr val="0000FF"/>
                </a:solidFill>
                <a:latin typeface="微软雅黑" panose="020B0503020204020204" pitchFamily="34" charset="-122"/>
                <a:ea typeface="微软雅黑" panose="020B0503020204020204" pitchFamily="34" charset="-122"/>
              </a:rPr>
              <a:t>型</a:t>
            </a:r>
            <a:r>
              <a:rPr lang="zh-CN" altLang="en-US" sz="2200" b="1" dirty="0">
                <a:solidFill>
                  <a:srgbClr val="0000FF"/>
                </a:solidFill>
                <a:latin typeface="微软雅黑" panose="020B0503020204020204" pitchFamily="34" charset="-122"/>
                <a:ea typeface="微软雅黑" panose="020B0503020204020204" pitchFamily="34" charset="-122"/>
              </a:rPr>
              <a:t>双向</a:t>
            </a:r>
            <a:r>
              <a:rPr lang="en-US" altLang="zh-CN" sz="2200" dirty="0">
                <a:solidFill>
                  <a:srgbClr val="0000FF"/>
                </a:solidFill>
                <a:latin typeface="微软雅黑" panose="020B0503020204020204" pitchFamily="34" charset="-122"/>
                <a:ea typeface="微软雅黑" panose="020B0503020204020204" pitchFamily="34" charset="-122"/>
              </a:rPr>
              <a:t>I/O</a:t>
            </a:r>
            <a:r>
              <a:rPr lang="zh-CN" altLang="en-US" sz="2200" dirty="0">
                <a:solidFill>
                  <a:srgbClr val="0000FF"/>
                </a:solidFill>
                <a:latin typeface="微软雅黑" panose="020B0503020204020204" pitchFamily="34" charset="-122"/>
                <a:ea typeface="微软雅黑" panose="020B0503020204020204" pitchFamily="34" charset="-122"/>
              </a:rPr>
              <a:t>端口</a:t>
            </a:r>
            <a:r>
              <a:rPr lang="zh-CN" altLang="en-US" sz="2200" dirty="0">
                <a:solidFill>
                  <a:prstClr val="black"/>
                </a:solidFill>
                <a:latin typeface="微软雅黑" panose="020B0503020204020204" pitchFamily="34" charset="-122"/>
                <a:ea typeface="微软雅黑" panose="020B0503020204020204" pitchFamily="34" charset="-122"/>
              </a:rPr>
              <a:t>。作通用</a:t>
            </a:r>
            <a:r>
              <a:rPr lang="en-US" altLang="zh-CN" sz="2200" dirty="0">
                <a:solidFill>
                  <a:prstClr val="black"/>
                </a:solidFill>
                <a:latin typeface="微软雅黑" panose="020B0503020204020204" pitchFamily="34" charset="-122"/>
                <a:ea typeface="微软雅黑" panose="020B0503020204020204" pitchFamily="34" charset="-122"/>
              </a:rPr>
              <a:t>I/O</a:t>
            </a:r>
            <a:r>
              <a:rPr lang="zh-CN" altLang="en-US" sz="2200" dirty="0">
                <a:solidFill>
                  <a:prstClr val="black"/>
                </a:solidFill>
                <a:latin typeface="微软雅黑" panose="020B0503020204020204" pitchFamily="34" charset="-122"/>
                <a:ea typeface="微软雅黑" panose="020B0503020204020204" pitchFamily="34" charset="-122"/>
              </a:rPr>
              <a:t>口使用时应外接</a:t>
            </a:r>
            <a:r>
              <a:rPr lang="en-US" altLang="zh-CN" sz="2200" dirty="0">
                <a:solidFill>
                  <a:prstClr val="black"/>
                </a:solidFill>
                <a:latin typeface="微软雅黑" panose="020B0503020204020204" pitchFamily="34" charset="-122"/>
                <a:ea typeface="微软雅黑" panose="020B0503020204020204" pitchFamily="34" charset="-122"/>
              </a:rPr>
              <a:t>10KΩ</a:t>
            </a:r>
            <a:r>
              <a:rPr lang="zh-CN" altLang="en-US" sz="2200" b="1" dirty="0">
                <a:solidFill>
                  <a:srgbClr val="FF0000"/>
                </a:solidFill>
                <a:latin typeface="微软雅黑" panose="020B0503020204020204" pitchFamily="34" charset="-122"/>
                <a:ea typeface="微软雅黑" panose="020B0503020204020204" pitchFamily="34" charset="-122"/>
              </a:rPr>
              <a:t>上拉电阻</a:t>
            </a:r>
            <a:r>
              <a:rPr lang="zh-CN" altLang="en-US" sz="2200" dirty="0">
                <a:solidFill>
                  <a:prstClr val="black"/>
                </a:solidFill>
                <a:latin typeface="微软雅黑" panose="020B0503020204020204" pitchFamily="34" charset="-122"/>
                <a:ea typeface="微软雅黑" panose="020B0503020204020204" pitchFamily="34" charset="-122"/>
              </a:rPr>
              <a:t>。在端口进行输入操作</a:t>
            </a:r>
            <a:r>
              <a:rPr lang="en-US" altLang="zh-CN" sz="2200" dirty="0">
                <a:solidFill>
                  <a:prstClr val="black"/>
                </a:solidFill>
                <a:latin typeface="微软雅黑" panose="020B0503020204020204" pitchFamily="34" charset="-122"/>
                <a:ea typeface="微软雅黑" panose="020B0503020204020204" pitchFamily="34" charset="-122"/>
              </a:rPr>
              <a:t>(</a:t>
            </a:r>
            <a:r>
              <a:rPr lang="zh-CN" altLang="en-US" sz="2200" dirty="0">
                <a:solidFill>
                  <a:prstClr val="black"/>
                </a:solidFill>
                <a:latin typeface="微软雅黑" panose="020B0503020204020204" pitchFamily="34" charset="-122"/>
                <a:ea typeface="微软雅黑" panose="020B0503020204020204" pitchFamily="34" charset="-122"/>
              </a:rPr>
              <a:t>即</a:t>
            </a:r>
            <a:r>
              <a:rPr lang="en-US" altLang="zh-CN" sz="2200" dirty="0">
                <a:solidFill>
                  <a:prstClr val="black"/>
                </a:solidFill>
                <a:latin typeface="微软雅黑" panose="020B0503020204020204" pitchFamily="34" charset="-122"/>
                <a:ea typeface="微软雅黑" panose="020B0503020204020204" pitchFamily="34" charset="-122"/>
              </a:rPr>
              <a:t>CPU</a:t>
            </a:r>
            <a:r>
              <a:rPr lang="zh-CN" altLang="en-US" sz="2200" dirty="0">
                <a:solidFill>
                  <a:prstClr val="black"/>
                </a:solidFill>
                <a:latin typeface="微软雅黑" panose="020B0503020204020204" pitchFamily="34" charset="-122"/>
                <a:ea typeface="微软雅黑" panose="020B0503020204020204" pitchFamily="34" charset="-122"/>
              </a:rPr>
              <a:t>读取端口数据</a:t>
            </a:r>
            <a:r>
              <a:rPr lang="en-US" altLang="zh-CN" sz="2200" dirty="0">
                <a:solidFill>
                  <a:prstClr val="black"/>
                </a:solidFill>
                <a:latin typeface="微软雅黑" panose="020B0503020204020204" pitchFamily="34" charset="-122"/>
                <a:ea typeface="微软雅黑" panose="020B0503020204020204" pitchFamily="34" charset="-122"/>
              </a:rPr>
              <a:t>)</a:t>
            </a:r>
            <a:r>
              <a:rPr lang="zh-CN" altLang="en-US" sz="2200" dirty="0">
                <a:solidFill>
                  <a:prstClr val="black"/>
                </a:solidFill>
                <a:latin typeface="微软雅黑" panose="020B0503020204020204" pitchFamily="34" charset="-122"/>
                <a:ea typeface="微软雅黑" panose="020B0503020204020204" pitchFamily="34" charset="-122"/>
              </a:rPr>
              <a:t>前，应先向端口的</a:t>
            </a:r>
            <a:r>
              <a:rPr lang="zh-CN" altLang="en-US" sz="2200" dirty="0">
                <a:solidFill>
                  <a:srgbClr val="0000FF"/>
                </a:solidFill>
                <a:latin typeface="微软雅黑" panose="020B0503020204020204" pitchFamily="34" charset="-122"/>
                <a:ea typeface="微软雅黑" panose="020B0503020204020204" pitchFamily="34" charset="-122"/>
              </a:rPr>
              <a:t>输出锁存器</a:t>
            </a:r>
            <a:r>
              <a:rPr lang="zh-CN" altLang="en-US" sz="2200" b="1" dirty="0">
                <a:solidFill>
                  <a:srgbClr val="0000FF"/>
                </a:solidFill>
                <a:latin typeface="微软雅黑" panose="020B0503020204020204" pitchFamily="34" charset="-122"/>
                <a:ea typeface="微软雅黑" panose="020B0503020204020204" pitchFamily="34" charset="-122"/>
              </a:rPr>
              <a:t>写“</a:t>
            </a:r>
            <a:r>
              <a:rPr lang="en-US" altLang="zh-CN" sz="2200" b="1" dirty="0">
                <a:solidFill>
                  <a:srgbClr val="0000FF"/>
                </a:solidFill>
                <a:latin typeface="微软雅黑" panose="020B0503020204020204" pitchFamily="34" charset="-122"/>
                <a:ea typeface="微软雅黑" panose="020B0503020204020204" pitchFamily="34" charset="-122"/>
              </a:rPr>
              <a:t>1”</a:t>
            </a:r>
            <a:r>
              <a:rPr lang="zh-CN" altLang="en-US" sz="2200" dirty="0">
                <a:solidFill>
                  <a:prstClr val="black"/>
                </a:solidFill>
                <a:latin typeface="微软雅黑" panose="020B0503020204020204" pitchFamily="34" charset="-122"/>
                <a:ea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en-US" altLang="zh-CN" sz="2400" dirty="0">
                <a:solidFill>
                  <a:prstClr val="black"/>
                </a:solidFill>
                <a:latin typeface="微软雅黑" panose="020B0503020204020204" pitchFamily="34" charset="-122"/>
                <a:ea typeface="微软雅黑" panose="020B0503020204020204" pitchFamily="34" charset="-122"/>
              </a:rPr>
              <a:t>P1</a:t>
            </a:r>
            <a:r>
              <a:rPr lang="zh-CN" altLang="en-US" sz="2400" dirty="0">
                <a:solidFill>
                  <a:prstClr val="black"/>
                </a:solidFill>
                <a:latin typeface="微软雅黑" panose="020B0503020204020204" pitchFamily="34" charset="-122"/>
                <a:ea typeface="微软雅黑" panose="020B0503020204020204" pitchFamily="34" charset="-122"/>
              </a:rPr>
              <a:t>口</a:t>
            </a:r>
            <a:r>
              <a:rPr lang="en-US" altLang="zh-CN" sz="2400" dirty="0">
                <a:solidFill>
                  <a:prstClr val="black"/>
                </a:solidFill>
                <a:latin typeface="微软雅黑" panose="020B0503020204020204" pitchFamily="34" charset="-122"/>
                <a:ea typeface="微软雅黑" panose="020B0503020204020204" pitchFamily="34" charset="-122"/>
              </a:rPr>
              <a:t>(P1.0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P1.7)</a:t>
            </a:r>
            <a:endParaRPr lang="zh-CN" altLang="en-US"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      </a:t>
            </a:r>
            <a:r>
              <a:rPr lang="en-US" altLang="zh-CN" sz="2200" dirty="0">
                <a:solidFill>
                  <a:prstClr val="black"/>
                </a:solidFill>
                <a:latin typeface="微软雅黑" panose="020B0503020204020204" pitchFamily="34" charset="-122"/>
                <a:ea typeface="微软雅黑" panose="020B0503020204020204" pitchFamily="34" charset="-122"/>
              </a:rPr>
              <a:t>P1</a:t>
            </a:r>
            <a:r>
              <a:rPr lang="zh-CN" altLang="en-US" sz="2200" dirty="0">
                <a:solidFill>
                  <a:prstClr val="black"/>
                </a:solidFill>
                <a:latin typeface="微软雅黑" panose="020B0503020204020204" pitchFamily="34" charset="-122"/>
                <a:ea typeface="微软雅黑" panose="020B0503020204020204" pitchFamily="34" charset="-122"/>
              </a:rPr>
              <a:t>口是一个</a:t>
            </a:r>
            <a:r>
              <a:rPr lang="zh-CN" altLang="en-US" sz="2200" u="sng" dirty="0">
                <a:solidFill>
                  <a:prstClr val="black"/>
                </a:solidFill>
                <a:latin typeface="微软雅黑" panose="020B0503020204020204" pitchFamily="34" charset="-122"/>
                <a:ea typeface="微软雅黑" panose="020B0503020204020204" pitchFamily="34" charset="-122"/>
              </a:rPr>
              <a:t>内部带上拉电阻</a:t>
            </a:r>
            <a:r>
              <a:rPr lang="zh-CN" altLang="en-US" sz="2200" dirty="0">
                <a:solidFill>
                  <a:prstClr val="black"/>
                </a:solidFill>
                <a:latin typeface="微软雅黑" panose="020B0503020204020204" pitchFamily="34" charset="-122"/>
                <a:ea typeface="微软雅黑" panose="020B0503020204020204" pitchFamily="34" charset="-122"/>
              </a:rPr>
              <a:t>的</a:t>
            </a:r>
            <a:r>
              <a:rPr lang="en-US" altLang="zh-CN" sz="2200" dirty="0">
                <a:solidFill>
                  <a:prstClr val="black"/>
                </a:solidFill>
                <a:latin typeface="微软雅黑" panose="020B0503020204020204" pitchFamily="34" charset="-122"/>
                <a:ea typeface="微软雅黑" panose="020B0503020204020204" pitchFamily="34" charset="-122"/>
              </a:rPr>
              <a:t>8</a:t>
            </a:r>
            <a:r>
              <a:rPr lang="zh-CN" altLang="en-US" sz="2200" dirty="0">
                <a:solidFill>
                  <a:prstClr val="black"/>
                </a:solidFill>
                <a:latin typeface="微软雅黑" panose="020B0503020204020204" pitchFamily="34" charset="-122"/>
                <a:ea typeface="微软雅黑" panose="020B0503020204020204" pitchFamily="34" charset="-122"/>
              </a:rPr>
              <a:t>位</a:t>
            </a:r>
            <a:r>
              <a:rPr lang="zh-CN" altLang="en-US" sz="2200" b="1" dirty="0">
                <a:solidFill>
                  <a:srgbClr val="0000FF"/>
                </a:solidFill>
                <a:latin typeface="微软雅黑" panose="020B0503020204020204" pitchFamily="34" charset="-122"/>
                <a:ea typeface="微软雅黑" panose="020B0503020204020204" pitchFamily="34" charset="-122"/>
              </a:rPr>
              <a:t>准双向</a:t>
            </a:r>
            <a:r>
              <a:rPr lang="en-US" altLang="zh-CN" sz="2200" dirty="0">
                <a:solidFill>
                  <a:prstClr val="black"/>
                </a:solidFill>
                <a:latin typeface="微软雅黑" panose="020B0503020204020204" pitchFamily="34" charset="-122"/>
                <a:ea typeface="微软雅黑" panose="020B0503020204020204" pitchFamily="34" charset="-122"/>
              </a:rPr>
              <a:t>I/O</a:t>
            </a:r>
            <a:r>
              <a:rPr lang="zh-CN" altLang="en-US" sz="2200" dirty="0">
                <a:solidFill>
                  <a:prstClr val="black"/>
                </a:solidFill>
                <a:latin typeface="微软雅黑" panose="020B0503020204020204" pitchFamily="34" charset="-122"/>
                <a:ea typeface="微软雅黑" panose="020B0503020204020204" pitchFamily="34" charset="-122"/>
              </a:rPr>
              <a:t>端口。当</a:t>
            </a:r>
            <a:r>
              <a:rPr lang="en-US" altLang="zh-CN" sz="2200" dirty="0">
                <a:solidFill>
                  <a:prstClr val="black"/>
                </a:solidFill>
                <a:latin typeface="微软雅黑" panose="020B0503020204020204" pitchFamily="34" charset="-122"/>
                <a:ea typeface="微软雅黑" panose="020B0503020204020204" pitchFamily="34" charset="-122"/>
              </a:rPr>
              <a:t>P1</a:t>
            </a:r>
            <a:r>
              <a:rPr lang="zh-CN" altLang="en-US" sz="2200" dirty="0">
                <a:solidFill>
                  <a:prstClr val="black"/>
                </a:solidFill>
                <a:latin typeface="微软雅黑" panose="020B0503020204020204" pitchFamily="34" charset="-122"/>
                <a:ea typeface="微软雅黑" panose="020B0503020204020204" pitchFamily="34" charset="-122"/>
              </a:rPr>
              <a:t>输出高电平时，能向外部提供拉电流负载，因此，不需再外接上拉电阻。</a:t>
            </a:r>
            <a:endParaRPr lang="en-US" altLang="zh-CN" sz="22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200" dirty="0">
                <a:solidFill>
                  <a:prstClr val="black"/>
                </a:solidFill>
                <a:latin typeface="微软雅黑" panose="020B0503020204020204" pitchFamily="34" charset="-122"/>
                <a:ea typeface="微软雅黑" panose="020B0503020204020204" pitchFamily="34" charset="-122"/>
              </a:rPr>
              <a:t>      </a:t>
            </a:r>
            <a:r>
              <a:rPr lang="zh-CN" altLang="en-US" dirty="0">
                <a:solidFill>
                  <a:srgbClr val="C00000"/>
                </a:solidFill>
                <a:latin typeface="微软雅黑" panose="020B0503020204020204" pitchFamily="34" charset="-122"/>
                <a:ea typeface="微软雅黑" panose="020B0503020204020204" pitchFamily="34" charset="-122"/>
              </a:rPr>
              <a:t>在</a:t>
            </a:r>
            <a:r>
              <a:rPr lang="en-US" altLang="zh-CN" dirty="0">
                <a:solidFill>
                  <a:srgbClr val="C00000"/>
                </a:solidFill>
                <a:latin typeface="微软雅黑" panose="020B0503020204020204" pitchFamily="34" charset="-122"/>
                <a:ea typeface="微软雅黑" panose="020B0503020204020204" pitchFamily="34" charset="-122"/>
              </a:rPr>
              <a:t>80C52</a:t>
            </a:r>
            <a:r>
              <a:rPr lang="zh-CN" altLang="en-US" dirty="0">
                <a:solidFill>
                  <a:srgbClr val="C00000"/>
                </a:solidFill>
                <a:latin typeface="微软雅黑" panose="020B0503020204020204" pitchFamily="34" charset="-122"/>
                <a:ea typeface="微软雅黑" panose="020B0503020204020204" pitchFamily="34" charset="-122"/>
              </a:rPr>
              <a:t>中，</a:t>
            </a:r>
            <a:r>
              <a:rPr lang="en-US" altLang="zh-CN" dirty="0">
                <a:solidFill>
                  <a:srgbClr val="C00000"/>
                </a:solidFill>
                <a:latin typeface="微软雅黑" panose="020B0503020204020204" pitchFamily="34" charset="-122"/>
                <a:ea typeface="微软雅黑" panose="020B0503020204020204" pitchFamily="34" charset="-122"/>
              </a:rPr>
              <a:t>P1.0</a:t>
            </a:r>
            <a:r>
              <a:rPr lang="zh-CN" altLang="en-US" dirty="0">
                <a:solidFill>
                  <a:srgbClr val="C00000"/>
                </a:solidFill>
                <a:latin typeface="微软雅黑" panose="020B0503020204020204" pitchFamily="34" charset="-122"/>
                <a:ea typeface="微软雅黑" panose="020B0503020204020204" pitchFamily="34" charset="-122"/>
              </a:rPr>
              <a:t>和</a:t>
            </a:r>
            <a:r>
              <a:rPr lang="en-US" altLang="zh-CN" dirty="0">
                <a:solidFill>
                  <a:srgbClr val="C00000"/>
                </a:solidFill>
                <a:latin typeface="微软雅黑" panose="020B0503020204020204" pitchFamily="34" charset="-122"/>
                <a:ea typeface="微软雅黑" panose="020B0503020204020204" pitchFamily="34" charset="-122"/>
              </a:rPr>
              <a:t>P1.1</a:t>
            </a:r>
            <a:r>
              <a:rPr lang="zh-CN" altLang="en-US" dirty="0">
                <a:solidFill>
                  <a:srgbClr val="C00000"/>
                </a:solidFill>
                <a:latin typeface="微软雅黑" panose="020B0503020204020204" pitchFamily="34" charset="-122"/>
                <a:ea typeface="微软雅黑" panose="020B0503020204020204" pitchFamily="34" charset="-122"/>
              </a:rPr>
              <a:t>口具有第二功能，</a:t>
            </a:r>
            <a:r>
              <a:rPr lang="en-US" altLang="zh-CN" dirty="0">
                <a:solidFill>
                  <a:srgbClr val="C00000"/>
                </a:solidFill>
                <a:latin typeface="微软雅黑" panose="020B0503020204020204" pitchFamily="34" charset="-122"/>
                <a:ea typeface="微软雅黑" panose="020B0503020204020204" pitchFamily="34" charset="-122"/>
              </a:rPr>
              <a:t>P1.0—</a:t>
            </a:r>
            <a:r>
              <a:rPr lang="zh-CN" altLang="en-US" dirty="0">
                <a:solidFill>
                  <a:srgbClr val="C00000"/>
                </a:solidFill>
                <a:latin typeface="微软雅黑" panose="020B0503020204020204" pitchFamily="34" charset="-122"/>
                <a:ea typeface="微软雅黑" panose="020B0503020204020204" pitchFamily="34" charset="-122"/>
              </a:rPr>
              <a:t>定时</a:t>
            </a:r>
            <a:r>
              <a:rPr lang="en-US" altLang="zh-CN" dirty="0">
                <a:solidFill>
                  <a:srgbClr val="C00000"/>
                </a:solidFill>
                <a:latin typeface="微软雅黑" panose="020B0503020204020204" pitchFamily="34" charset="-122"/>
                <a:ea typeface="微软雅黑" panose="020B0503020204020204" pitchFamily="34" charset="-122"/>
              </a:rPr>
              <a:t>/</a:t>
            </a:r>
            <a:r>
              <a:rPr lang="zh-CN" altLang="en-US" dirty="0">
                <a:solidFill>
                  <a:srgbClr val="C00000"/>
                </a:solidFill>
                <a:latin typeface="微软雅黑" panose="020B0503020204020204" pitchFamily="34" charset="-122"/>
                <a:ea typeface="微软雅黑" panose="020B0503020204020204" pitchFamily="34" charset="-122"/>
              </a:rPr>
              <a:t>计数器</a:t>
            </a:r>
            <a:r>
              <a:rPr lang="en-US" altLang="zh-CN" dirty="0">
                <a:solidFill>
                  <a:srgbClr val="C00000"/>
                </a:solidFill>
                <a:latin typeface="微软雅黑" panose="020B0503020204020204" pitchFamily="34" charset="-122"/>
                <a:ea typeface="微软雅黑" panose="020B0503020204020204" pitchFamily="34" charset="-122"/>
              </a:rPr>
              <a:t>2</a:t>
            </a:r>
            <a:r>
              <a:rPr lang="zh-CN" altLang="en-US" dirty="0">
                <a:solidFill>
                  <a:srgbClr val="C00000"/>
                </a:solidFill>
                <a:latin typeface="微软雅黑" panose="020B0503020204020204" pitchFamily="34" charset="-122"/>
                <a:ea typeface="微软雅黑" panose="020B0503020204020204" pitchFamily="34" charset="-122"/>
              </a:rPr>
              <a:t>的外部输入端</a:t>
            </a:r>
            <a:r>
              <a:rPr lang="en-US" altLang="zh-CN" dirty="0">
                <a:solidFill>
                  <a:srgbClr val="C00000"/>
                </a:solidFill>
                <a:latin typeface="微软雅黑" panose="020B0503020204020204" pitchFamily="34" charset="-122"/>
                <a:ea typeface="微软雅黑" panose="020B0503020204020204" pitchFamily="34" charset="-122"/>
              </a:rPr>
              <a:t>T2</a:t>
            </a:r>
            <a:r>
              <a:rPr lang="zh-CN" altLang="en-US" dirty="0">
                <a:solidFill>
                  <a:srgbClr val="C00000"/>
                </a:solidFill>
                <a:latin typeface="微软雅黑" panose="020B0503020204020204" pitchFamily="34" charset="-122"/>
                <a:ea typeface="微软雅黑" panose="020B0503020204020204" pitchFamily="34" charset="-122"/>
              </a:rPr>
              <a:t>，</a:t>
            </a:r>
            <a:r>
              <a:rPr lang="en-US" altLang="zh-CN" dirty="0">
                <a:solidFill>
                  <a:srgbClr val="C00000"/>
                </a:solidFill>
                <a:latin typeface="微软雅黑" panose="020B0503020204020204" pitchFamily="34" charset="-122"/>
                <a:ea typeface="微软雅黑" panose="020B0503020204020204" pitchFamily="34" charset="-122"/>
              </a:rPr>
              <a:t>P1.1—</a:t>
            </a:r>
            <a:r>
              <a:rPr lang="zh-CN" altLang="en-US" dirty="0">
                <a:solidFill>
                  <a:srgbClr val="C00000"/>
                </a:solidFill>
                <a:latin typeface="微软雅黑" panose="020B0503020204020204" pitchFamily="34" charset="-122"/>
                <a:ea typeface="微软雅黑" panose="020B0503020204020204" pitchFamily="34" charset="-122"/>
              </a:rPr>
              <a:t>定时</a:t>
            </a:r>
            <a:r>
              <a:rPr lang="en-US" altLang="zh-CN" dirty="0">
                <a:solidFill>
                  <a:srgbClr val="C00000"/>
                </a:solidFill>
                <a:latin typeface="微软雅黑" panose="020B0503020204020204" pitchFamily="34" charset="-122"/>
                <a:ea typeface="微软雅黑" panose="020B0503020204020204" pitchFamily="34" charset="-122"/>
              </a:rPr>
              <a:t>/</a:t>
            </a:r>
            <a:r>
              <a:rPr lang="zh-CN" altLang="en-US" dirty="0">
                <a:solidFill>
                  <a:srgbClr val="C00000"/>
                </a:solidFill>
                <a:latin typeface="微软雅黑" panose="020B0503020204020204" pitchFamily="34" charset="-122"/>
                <a:ea typeface="微软雅黑" panose="020B0503020204020204" pitchFamily="34" charset="-122"/>
              </a:rPr>
              <a:t>计数器</a:t>
            </a:r>
            <a:r>
              <a:rPr lang="en-US" altLang="zh-CN" dirty="0">
                <a:solidFill>
                  <a:srgbClr val="C00000"/>
                </a:solidFill>
                <a:latin typeface="微软雅黑" panose="020B0503020204020204" pitchFamily="34" charset="-122"/>
                <a:ea typeface="微软雅黑" panose="020B0503020204020204" pitchFamily="34" charset="-122"/>
              </a:rPr>
              <a:t>2</a:t>
            </a:r>
            <a:r>
              <a:rPr lang="zh-CN" altLang="en-US" dirty="0">
                <a:solidFill>
                  <a:srgbClr val="C00000"/>
                </a:solidFill>
                <a:latin typeface="微软雅黑" panose="020B0503020204020204" pitchFamily="34" charset="-122"/>
                <a:ea typeface="微软雅黑" panose="020B0503020204020204" pitchFamily="34" charset="-122"/>
              </a:rPr>
              <a:t>的外部控制端</a:t>
            </a:r>
            <a:r>
              <a:rPr lang="en-US" altLang="zh-CN" dirty="0">
                <a:solidFill>
                  <a:srgbClr val="C00000"/>
                </a:solidFill>
                <a:latin typeface="微软雅黑" panose="020B0503020204020204" pitchFamily="34" charset="-122"/>
                <a:ea typeface="微软雅黑" panose="020B0503020204020204" pitchFamily="34" charset="-122"/>
              </a:rPr>
              <a:t>T2EX</a:t>
            </a:r>
            <a:r>
              <a:rPr lang="zh-CN" altLang="en-US" dirty="0">
                <a:solidFill>
                  <a:srgbClr val="C00000"/>
                </a:solidFill>
                <a:latin typeface="微软雅黑" panose="020B0503020204020204" pitchFamily="34" charset="-122"/>
                <a:ea typeface="微软雅黑" panose="020B0503020204020204" pitchFamily="34" charset="-122"/>
              </a:rPr>
              <a:t>。</a:t>
            </a:r>
            <a:endParaRPr lang="en-US" altLang="zh-CN" dirty="0">
              <a:solidFill>
                <a:srgbClr val="C00000"/>
              </a:solidFill>
              <a:latin typeface="微软雅黑" panose="020B0503020204020204" pitchFamily="34" charset="-122"/>
              <a:ea typeface="微软雅黑" panose="020B0503020204020204" pitchFamily="34" charset="-122"/>
            </a:endParaRPr>
          </a:p>
        </p:txBody>
      </p:sp>
      <p:sp>
        <p:nvSpPr>
          <p:cNvPr id="57346"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57347"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632450"/>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2.1.2 MCS-51</a:t>
            </a:r>
            <a:r>
              <a:rPr lang="zh-CN" altLang="en-US" sz="2400" b="1" dirty="0">
                <a:solidFill>
                  <a:prstClr val="black"/>
                </a:solidFill>
                <a:latin typeface="微软雅黑" panose="020B0503020204020204" pitchFamily="34" charset="-122"/>
                <a:ea typeface="微软雅黑" panose="020B0503020204020204" pitchFamily="34" charset="-122"/>
              </a:rPr>
              <a:t>引脚功能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p"/>
              <a:defRPr/>
            </a:pPr>
            <a:r>
              <a:rPr lang="zh-CN" altLang="en-US" sz="2400" dirty="0">
                <a:solidFill>
                  <a:prstClr val="black"/>
                </a:solidFill>
                <a:latin typeface="微软雅黑" panose="020B0503020204020204" pitchFamily="34" charset="-122"/>
                <a:ea typeface="微软雅黑" panose="020B0503020204020204" pitchFamily="34" charset="-122"/>
              </a:rPr>
              <a:t>并行</a:t>
            </a:r>
            <a:r>
              <a:rPr lang="en-US" altLang="zh-CN" sz="2400" dirty="0">
                <a:solidFill>
                  <a:prstClr val="black"/>
                </a:solidFill>
                <a:latin typeface="微软雅黑" panose="020B0503020204020204" pitchFamily="34" charset="-122"/>
                <a:ea typeface="微软雅黑" panose="020B0503020204020204" pitchFamily="34" charset="-122"/>
              </a:rPr>
              <a:t>I/O</a:t>
            </a:r>
            <a:r>
              <a:rPr lang="zh-CN" altLang="en-US" sz="2400" dirty="0">
                <a:solidFill>
                  <a:prstClr val="black"/>
                </a:solidFill>
                <a:latin typeface="微软雅黑" panose="020B0503020204020204" pitchFamily="34" charset="-122"/>
                <a:ea typeface="微软雅黑" panose="020B0503020204020204" pitchFamily="34" charset="-122"/>
              </a:rPr>
              <a:t>口</a:t>
            </a:r>
            <a:r>
              <a:rPr lang="en-US" altLang="zh-CN" sz="2400" dirty="0">
                <a:solidFill>
                  <a:prstClr val="black"/>
                </a:solidFill>
                <a:latin typeface="微软雅黑" panose="020B0503020204020204" pitchFamily="34" charset="-122"/>
                <a:ea typeface="微软雅黑" panose="020B0503020204020204" pitchFamily="34" charset="-122"/>
              </a:rPr>
              <a:t>P0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P3</a:t>
            </a:r>
            <a:r>
              <a:rPr lang="zh-CN" altLang="en-US" sz="2400" dirty="0">
                <a:solidFill>
                  <a:prstClr val="black"/>
                </a:solidFill>
                <a:latin typeface="微软雅黑" panose="020B0503020204020204" pitchFamily="34" charset="-122"/>
                <a:ea typeface="微软雅黑" panose="020B0503020204020204" pitchFamily="34" charset="-122"/>
              </a:rPr>
              <a:t>端口引脚</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en-US" altLang="zh-CN" sz="2400" dirty="0">
                <a:solidFill>
                  <a:prstClr val="black"/>
                </a:solidFill>
                <a:latin typeface="微软雅黑" panose="020B0503020204020204" pitchFamily="34" charset="-122"/>
                <a:ea typeface="微软雅黑" panose="020B0503020204020204" pitchFamily="34" charset="-122"/>
              </a:rPr>
              <a:t>P1</a:t>
            </a:r>
            <a:r>
              <a:rPr lang="zh-CN" altLang="en-US" sz="2400" dirty="0">
                <a:solidFill>
                  <a:prstClr val="black"/>
                </a:solidFill>
                <a:latin typeface="微软雅黑" panose="020B0503020204020204" pitchFamily="34" charset="-122"/>
                <a:ea typeface="微软雅黑" panose="020B0503020204020204" pitchFamily="34" charset="-122"/>
              </a:rPr>
              <a:t>口</a:t>
            </a:r>
            <a:r>
              <a:rPr lang="en-US" altLang="zh-CN" sz="2400" dirty="0">
                <a:solidFill>
                  <a:prstClr val="black"/>
                </a:solidFill>
                <a:latin typeface="微软雅黑" panose="020B0503020204020204" pitchFamily="34" charset="-122"/>
                <a:ea typeface="微软雅黑" panose="020B0503020204020204" pitchFamily="34" charset="-122"/>
              </a:rPr>
              <a:t>(P1.0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P1.7)</a:t>
            </a:r>
          </a:p>
          <a:p>
            <a:pPr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       P1</a:t>
            </a:r>
            <a:r>
              <a:rPr lang="zh-CN" altLang="en-US" sz="2400" dirty="0">
                <a:solidFill>
                  <a:prstClr val="black"/>
                </a:solidFill>
                <a:latin typeface="微软雅黑" panose="020B0503020204020204" pitchFamily="34" charset="-122"/>
                <a:ea typeface="微软雅黑" panose="020B0503020204020204" pitchFamily="34" charset="-122"/>
              </a:rPr>
              <a:t>口的字节操作和位操作，</a:t>
            </a:r>
            <a:r>
              <a:rPr lang="en-US" altLang="zh-CN" sz="2400" dirty="0">
                <a:solidFill>
                  <a:prstClr val="black"/>
                </a:solidFill>
                <a:latin typeface="微软雅黑" panose="020B0503020204020204" pitchFamily="34" charset="-122"/>
                <a:ea typeface="微软雅黑" panose="020B0503020204020204" pitchFamily="34" charset="-122"/>
              </a:rPr>
              <a:t>CPU</a:t>
            </a:r>
            <a:r>
              <a:rPr lang="zh-CN" altLang="en-US" sz="2400" dirty="0">
                <a:solidFill>
                  <a:prstClr val="black"/>
                </a:solidFill>
                <a:latin typeface="微软雅黑" panose="020B0503020204020204" pitchFamily="34" charset="-122"/>
                <a:ea typeface="微软雅黑" panose="020B0503020204020204" pitchFamily="34" charset="-122"/>
              </a:rPr>
              <a:t>对于</a:t>
            </a:r>
            <a:r>
              <a:rPr lang="en-US" altLang="zh-CN" sz="2400" dirty="0">
                <a:solidFill>
                  <a:prstClr val="black"/>
                </a:solidFill>
                <a:latin typeface="微软雅黑" panose="020B0503020204020204" pitchFamily="34" charset="-122"/>
                <a:ea typeface="微软雅黑" panose="020B0503020204020204" pitchFamily="34" charset="-122"/>
              </a:rPr>
              <a:t>P1</a:t>
            </a:r>
            <a:r>
              <a:rPr lang="zh-CN" altLang="en-US" sz="2400" dirty="0">
                <a:solidFill>
                  <a:prstClr val="black"/>
                </a:solidFill>
                <a:latin typeface="微软雅黑" panose="020B0503020204020204" pitchFamily="34" charset="-122"/>
                <a:ea typeface="微软雅黑" panose="020B0503020204020204" pitchFamily="34" charset="-122"/>
              </a:rPr>
              <a:t>口不仅可以作为一个</a:t>
            </a:r>
            <a:r>
              <a:rPr lang="en-US" altLang="zh-CN" sz="2400" dirty="0">
                <a:solidFill>
                  <a:prstClr val="black"/>
                </a:solidFill>
                <a:latin typeface="微软雅黑" panose="020B0503020204020204" pitchFamily="34" charset="-122"/>
                <a:ea typeface="微软雅黑" panose="020B0503020204020204" pitchFamily="34" charset="-122"/>
              </a:rPr>
              <a:t>8</a:t>
            </a:r>
            <a:r>
              <a:rPr lang="zh-CN" altLang="en-US" sz="2400" dirty="0">
                <a:solidFill>
                  <a:prstClr val="black"/>
                </a:solidFill>
                <a:latin typeface="微软雅黑" panose="020B0503020204020204" pitchFamily="34" charset="-122"/>
                <a:ea typeface="微软雅黑" panose="020B0503020204020204" pitchFamily="34" charset="-122"/>
              </a:rPr>
              <a:t>位口</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字节</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来操作，也可以按</a:t>
            </a:r>
            <a:r>
              <a:rPr lang="zh-CN" altLang="en-US" sz="2400" dirty="0">
                <a:solidFill>
                  <a:srgbClr val="0000FF"/>
                </a:solidFill>
                <a:latin typeface="微软雅黑" panose="020B0503020204020204" pitchFamily="34" charset="-122"/>
                <a:ea typeface="微软雅黑" panose="020B0503020204020204" pitchFamily="34" charset="-122"/>
              </a:rPr>
              <a:t>位</a:t>
            </a:r>
            <a:r>
              <a:rPr lang="zh-CN" altLang="en-US" sz="2400" dirty="0">
                <a:solidFill>
                  <a:prstClr val="black"/>
                </a:solidFill>
                <a:latin typeface="微软雅黑" panose="020B0503020204020204" pitchFamily="34" charset="-122"/>
                <a:ea typeface="微软雅黑" panose="020B0503020204020204" pitchFamily="34" charset="-122"/>
              </a:rPr>
              <a:t>来操作。</a:t>
            </a:r>
          </a:p>
          <a:p>
            <a:pPr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有关</a:t>
            </a:r>
            <a:r>
              <a:rPr lang="zh-CN" altLang="en-US" sz="2000" dirty="0">
                <a:solidFill>
                  <a:srgbClr val="0000FF"/>
                </a:solidFill>
                <a:latin typeface="微软雅黑" panose="020B0503020204020204" pitchFamily="34" charset="-122"/>
                <a:ea typeface="微软雅黑" panose="020B0503020204020204" pitchFamily="34" charset="-122"/>
              </a:rPr>
              <a:t>字节操作的指令</a:t>
            </a:r>
            <a:r>
              <a:rPr lang="zh-CN" altLang="en-US" sz="2000" dirty="0">
                <a:solidFill>
                  <a:prstClr val="black"/>
                </a:solidFill>
                <a:latin typeface="微软雅黑" panose="020B0503020204020204" pitchFamily="34" charset="-122"/>
                <a:ea typeface="微软雅黑" panose="020B0503020204020204" pitchFamily="34" charset="-122"/>
              </a:rPr>
              <a:t>有：</a:t>
            </a:r>
          </a:p>
          <a:p>
            <a:pPr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输出：  </a:t>
            </a:r>
            <a:r>
              <a:rPr lang="en-US" altLang="zh-CN" sz="2000" dirty="0">
                <a:solidFill>
                  <a:prstClr val="black"/>
                </a:solidFill>
                <a:latin typeface="微软雅黑" panose="020B0503020204020204" pitchFamily="34" charset="-122"/>
                <a:ea typeface="微软雅黑" panose="020B0503020204020204" pitchFamily="34" charset="-122"/>
              </a:rPr>
              <a:t>MOV	P1</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A        	</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P1←A</a:t>
            </a:r>
          </a:p>
          <a:p>
            <a:pPr algn="just" fontAlgn="auto">
              <a:lnSpc>
                <a:spcPct val="15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MOV	P1</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data    	</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P1←</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data</a:t>
            </a:r>
          </a:p>
          <a:p>
            <a:pPr algn="just" fontAlgn="auto">
              <a:lnSpc>
                <a:spcPct val="15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MOV  	P1</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direct      	</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P1←direct</a:t>
            </a:r>
          </a:p>
          <a:p>
            <a:pPr algn="just" fontAlgn="auto">
              <a:lnSpc>
                <a:spcPct val="15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a:t>
            </a:r>
            <a:r>
              <a:rPr lang="zh-CN" altLang="en-US" sz="2000" dirty="0">
                <a:solidFill>
                  <a:prstClr val="black"/>
                </a:solidFill>
                <a:latin typeface="微软雅黑" panose="020B0503020204020204" pitchFamily="34" charset="-122"/>
                <a:ea typeface="微软雅黑" panose="020B0503020204020204" pitchFamily="34" charset="-122"/>
              </a:rPr>
              <a:t>输入：  </a:t>
            </a:r>
            <a:r>
              <a:rPr lang="en-US" altLang="zh-CN" sz="2000" dirty="0">
                <a:solidFill>
                  <a:prstClr val="black"/>
                </a:solidFill>
                <a:latin typeface="微软雅黑" panose="020B0503020204020204" pitchFamily="34" charset="-122"/>
                <a:ea typeface="微软雅黑" panose="020B0503020204020204" pitchFamily="34" charset="-122"/>
              </a:rPr>
              <a:t>MOV  	A</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P1          	</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A←P1</a:t>
            </a:r>
          </a:p>
          <a:p>
            <a:pPr algn="just" fontAlgn="auto">
              <a:lnSpc>
                <a:spcPct val="15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MOV  	direct</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P1       	</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direct←P1</a:t>
            </a:r>
          </a:p>
        </p:txBody>
      </p:sp>
      <p:sp>
        <p:nvSpPr>
          <p:cNvPr id="59394"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59395"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59396"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632450"/>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2.1.2 MCS-51</a:t>
            </a:r>
            <a:r>
              <a:rPr lang="zh-CN" altLang="en-US" sz="2400" b="1" dirty="0">
                <a:solidFill>
                  <a:prstClr val="black"/>
                </a:solidFill>
                <a:latin typeface="微软雅黑" panose="020B0503020204020204" pitchFamily="34" charset="-122"/>
                <a:ea typeface="微软雅黑" panose="020B0503020204020204" pitchFamily="34" charset="-122"/>
              </a:rPr>
              <a:t>引脚功能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p"/>
              <a:defRPr/>
            </a:pPr>
            <a:r>
              <a:rPr lang="zh-CN" altLang="en-US" sz="2400" dirty="0">
                <a:solidFill>
                  <a:prstClr val="black"/>
                </a:solidFill>
                <a:latin typeface="微软雅黑" panose="020B0503020204020204" pitchFamily="34" charset="-122"/>
                <a:ea typeface="微软雅黑" panose="020B0503020204020204" pitchFamily="34" charset="-122"/>
              </a:rPr>
              <a:t>并行</a:t>
            </a:r>
            <a:r>
              <a:rPr lang="en-US" altLang="zh-CN" sz="2400" dirty="0">
                <a:solidFill>
                  <a:prstClr val="black"/>
                </a:solidFill>
                <a:latin typeface="微软雅黑" panose="020B0503020204020204" pitchFamily="34" charset="-122"/>
                <a:ea typeface="微软雅黑" panose="020B0503020204020204" pitchFamily="34" charset="-122"/>
              </a:rPr>
              <a:t>I/O</a:t>
            </a:r>
            <a:r>
              <a:rPr lang="zh-CN" altLang="en-US" sz="2400" dirty="0">
                <a:solidFill>
                  <a:prstClr val="black"/>
                </a:solidFill>
                <a:latin typeface="微软雅黑" panose="020B0503020204020204" pitchFamily="34" charset="-122"/>
                <a:ea typeface="微软雅黑" panose="020B0503020204020204" pitchFamily="34" charset="-122"/>
              </a:rPr>
              <a:t>口</a:t>
            </a:r>
            <a:r>
              <a:rPr lang="en-US" altLang="zh-CN" sz="2400" dirty="0">
                <a:solidFill>
                  <a:prstClr val="black"/>
                </a:solidFill>
                <a:latin typeface="微软雅黑" panose="020B0503020204020204" pitchFamily="34" charset="-122"/>
                <a:ea typeface="微软雅黑" panose="020B0503020204020204" pitchFamily="34" charset="-122"/>
              </a:rPr>
              <a:t>P0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P3</a:t>
            </a:r>
            <a:r>
              <a:rPr lang="zh-CN" altLang="en-US" sz="2400" dirty="0">
                <a:solidFill>
                  <a:prstClr val="black"/>
                </a:solidFill>
                <a:latin typeface="微软雅黑" panose="020B0503020204020204" pitchFamily="34" charset="-122"/>
                <a:ea typeface="微软雅黑" panose="020B0503020204020204" pitchFamily="34" charset="-122"/>
              </a:rPr>
              <a:t>端口引脚</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en-US" altLang="zh-CN" sz="2400" dirty="0">
                <a:solidFill>
                  <a:prstClr val="black"/>
                </a:solidFill>
                <a:latin typeface="微软雅黑" panose="020B0503020204020204" pitchFamily="34" charset="-122"/>
                <a:ea typeface="微软雅黑" panose="020B0503020204020204" pitchFamily="34" charset="-122"/>
              </a:rPr>
              <a:t>P1</a:t>
            </a:r>
            <a:r>
              <a:rPr lang="zh-CN" altLang="en-US" sz="2400" dirty="0">
                <a:solidFill>
                  <a:prstClr val="black"/>
                </a:solidFill>
                <a:latin typeface="微软雅黑" panose="020B0503020204020204" pitchFamily="34" charset="-122"/>
                <a:ea typeface="微软雅黑" panose="020B0503020204020204" pitchFamily="34" charset="-122"/>
              </a:rPr>
              <a:t>口</a:t>
            </a:r>
            <a:r>
              <a:rPr lang="en-US" altLang="zh-CN" sz="2400" dirty="0">
                <a:solidFill>
                  <a:prstClr val="black"/>
                </a:solidFill>
                <a:latin typeface="微软雅黑" panose="020B0503020204020204" pitchFamily="34" charset="-122"/>
                <a:ea typeface="微软雅黑" panose="020B0503020204020204" pitchFamily="34" charset="-122"/>
              </a:rPr>
              <a:t>(P1.0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P1.7)</a:t>
            </a:r>
          </a:p>
          <a:p>
            <a:pPr algn="just" fontAlgn="auto">
              <a:lnSpc>
                <a:spcPct val="14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有关</a:t>
            </a:r>
            <a:r>
              <a:rPr lang="zh-CN" altLang="en-US" sz="2000" b="1" dirty="0">
                <a:solidFill>
                  <a:srgbClr val="0000FF"/>
                </a:solidFill>
                <a:latin typeface="微软雅黑" panose="020B0503020204020204" pitchFamily="34" charset="-122"/>
                <a:ea typeface="微软雅黑" panose="020B0503020204020204" pitchFamily="34" charset="-122"/>
              </a:rPr>
              <a:t>位操作</a:t>
            </a:r>
            <a:r>
              <a:rPr lang="zh-CN" altLang="en-US" sz="2000" dirty="0">
                <a:solidFill>
                  <a:srgbClr val="0000FF"/>
                </a:solidFill>
                <a:latin typeface="微软雅黑" panose="020B0503020204020204" pitchFamily="34" charset="-122"/>
                <a:ea typeface="微软雅黑" panose="020B0503020204020204" pitchFamily="34" charset="-122"/>
              </a:rPr>
              <a:t>的指令</a:t>
            </a:r>
            <a:r>
              <a:rPr lang="zh-CN" altLang="en-US" sz="2000" dirty="0">
                <a:solidFill>
                  <a:prstClr val="black"/>
                </a:solidFill>
                <a:latin typeface="微软雅黑" panose="020B0503020204020204" pitchFamily="34" charset="-122"/>
                <a:ea typeface="微软雅黑" panose="020B0503020204020204" pitchFamily="34" charset="-122"/>
              </a:rPr>
              <a:t>有：</a:t>
            </a:r>
          </a:p>
          <a:p>
            <a:pPr algn="just" fontAlgn="auto">
              <a:lnSpc>
                <a:spcPct val="14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置位、清除：</a:t>
            </a:r>
            <a:r>
              <a:rPr lang="en-US" altLang="zh-CN" sz="2000" dirty="0">
                <a:solidFill>
                  <a:prstClr val="black"/>
                </a:solidFill>
                <a:latin typeface="微软雅黑" panose="020B0503020204020204" pitchFamily="34" charset="-122"/>
                <a:ea typeface="微软雅黑" panose="020B0503020204020204" pitchFamily="34" charset="-122"/>
              </a:rPr>
              <a:t>SETB  </a:t>
            </a:r>
            <a:r>
              <a:rPr lang="zh-CN" altLang="en-US" sz="2000" dirty="0">
                <a:solidFill>
                  <a:prstClr val="black"/>
                </a:solidFill>
                <a:latin typeface="微软雅黑" panose="020B0503020204020204" pitchFamily="34" charset="-122"/>
                <a:ea typeface="微软雅黑" panose="020B0503020204020204" pitchFamily="34" charset="-122"/>
              </a:rPr>
              <a:t>  </a:t>
            </a:r>
            <a:r>
              <a:rPr lang="en-US" altLang="zh-CN" sz="2000" dirty="0">
                <a:solidFill>
                  <a:prstClr val="black"/>
                </a:solidFill>
                <a:latin typeface="微软雅黑" panose="020B0503020204020204" pitchFamily="34" charset="-122"/>
                <a:ea typeface="微软雅黑" panose="020B0503020204020204" pitchFamily="34" charset="-122"/>
              </a:rPr>
              <a:t>P1.i          </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P1.i←1</a:t>
            </a:r>
          </a:p>
          <a:p>
            <a:pPr algn="just" fontAlgn="auto">
              <a:lnSpc>
                <a:spcPct val="14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CLR    </a:t>
            </a:r>
            <a:r>
              <a:rPr lang="zh-CN" altLang="en-US" sz="2000" dirty="0">
                <a:solidFill>
                  <a:prstClr val="black"/>
                </a:solidFill>
                <a:latin typeface="微软雅黑" panose="020B0503020204020204" pitchFamily="34" charset="-122"/>
                <a:ea typeface="微软雅黑" panose="020B0503020204020204" pitchFamily="34" charset="-122"/>
              </a:rPr>
              <a:t>  </a:t>
            </a:r>
            <a:r>
              <a:rPr lang="en-US" altLang="zh-CN" sz="2000" dirty="0">
                <a:solidFill>
                  <a:prstClr val="black"/>
                </a:solidFill>
                <a:latin typeface="微软雅黑" panose="020B0503020204020204" pitchFamily="34" charset="-122"/>
                <a:ea typeface="微软雅黑" panose="020B0503020204020204" pitchFamily="34" charset="-122"/>
              </a:rPr>
              <a:t>P1.i          </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P1.i←0</a:t>
            </a:r>
          </a:p>
          <a:p>
            <a:pPr algn="just" fontAlgn="auto">
              <a:lnSpc>
                <a:spcPct val="14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a:t>
            </a:r>
            <a:r>
              <a:rPr lang="zh-CN" altLang="en-US" sz="2000" dirty="0">
                <a:solidFill>
                  <a:prstClr val="black"/>
                </a:solidFill>
                <a:latin typeface="微软雅黑" panose="020B0503020204020204" pitchFamily="34" charset="-122"/>
                <a:ea typeface="微软雅黑" panose="020B0503020204020204" pitchFamily="34" charset="-122"/>
              </a:rPr>
              <a:t>输入、输出：</a:t>
            </a:r>
            <a:r>
              <a:rPr lang="en-US" altLang="zh-CN" sz="2000" dirty="0">
                <a:solidFill>
                  <a:prstClr val="black"/>
                </a:solidFill>
                <a:latin typeface="微软雅黑" panose="020B0503020204020204" pitchFamily="34" charset="-122"/>
                <a:ea typeface="微软雅黑" panose="020B0503020204020204" pitchFamily="34" charset="-122"/>
              </a:rPr>
              <a:t>MOV </a:t>
            </a:r>
            <a:r>
              <a:rPr lang="zh-CN" altLang="en-US" sz="2000" dirty="0">
                <a:solidFill>
                  <a:prstClr val="black"/>
                </a:solidFill>
                <a:latin typeface="微软雅黑" panose="020B0503020204020204" pitchFamily="34" charset="-122"/>
                <a:ea typeface="微软雅黑" panose="020B0503020204020204" pitchFamily="34" charset="-122"/>
              </a:rPr>
              <a:t>  </a:t>
            </a:r>
            <a:r>
              <a:rPr lang="en-US" altLang="zh-CN" sz="2000" dirty="0">
                <a:solidFill>
                  <a:prstClr val="black"/>
                </a:solidFill>
                <a:latin typeface="微软雅黑" panose="020B0503020204020204" pitchFamily="34" charset="-122"/>
                <a:ea typeface="微软雅黑" panose="020B0503020204020204" pitchFamily="34" charset="-122"/>
              </a:rPr>
              <a:t> P1.i</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C    </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P1.i←CY</a:t>
            </a:r>
          </a:p>
          <a:p>
            <a:pPr algn="just" fontAlgn="auto">
              <a:lnSpc>
                <a:spcPct val="14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MOV   </a:t>
            </a:r>
            <a:r>
              <a:rPr lang="zh-CN" altLang="en-US" sz="2000" dirty="0">
                <a:solidFill>
                  <a:prstClr val="black"/>
                </a:solidFill>
                <a:latin typeface="微软雅黑" panose="020B0503020204020204" pitchFamily="34" charset="-122"/>
                <a:ea typeface="微软雅黑" panose="020B0503020204020204" pitchFamily="34" charset="-122"/>
              </a:rPr>
              <a:t> </a:t>
            </a:r>
            <a:r>
              <a:rPr lang="en-US" altLang="zh-CN" sz="2000" dirty="0">
                <a:solidFill>
                  <a:prstClr val="black"/>
                </a:solidFill>
                <a:latin typeface="微软雅黑" panose="020B0503020204020204" pitchFamily="34" charset="-122"/>
                <a:ea typeface="微软雅黑" panose="020B0503020204020204" pitchFamily="34" charset="-122"/>
              </a:rPr>
              <a:t>C</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P1.i   </a:t>
            </a:r>
            <a:r>
              <a:rPr lang="zh-CN" altLang="en-US" sz="2000" dirty="0">
                <a:solidFill>
                  <a:prstClr val="black"/>
                </a:solidFill>
                <a:latin typeface="微软雅黑" panose="020B0503020204020204" pitchFamily="34" charset="-122"/>
                <a:ea typeface="微软雅黑" panose="020B0503020204020204" pitchFamily="34" charset="-122"/>
              </a:rPr>
              <a:t> ；</a:t>
            </a:r>
            <a:r>
              <a:rPr lang="en-US" altLang="zh-CN" sz="2000" dirty="0">
                <a:solidFill>
                  <a:prstClr val="black"/>
                </a:solidFill>
                <a:latin typeface="微软雅黑" panose="020B0503020204020204" pitchFamily="34" charset="-122"/>
                <a:ea typeface="微软雅黑" panose="020B0503020204020204" pitchFamily="34" charset="-122"/>
              </a:rPr>
              <a:t>CY←P1.i</a:t>
            </a:r>
          </a:p>
          <a:p>
            <a:pPr algn="just" fontAlgn="auto">
              <a:lnSpc>
                <a:spcPct val="14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a:t>
            </a:r>
            <a:r>
              <a:rPr lang="zh-CN" altLang="en-US" sz="2000" dirty="0">
                <a:solidFill>
                  <a:prstClr val="black"/>
                </a:solidFill>
                <a:latin typeface="微软雅黑" panose="020B0503020204020204" pitchFamily="34" charset="-122"/>
                <a:ea typeface="微软雅黑" panose="020B0503020204020204" pitchFamily="34" charset="-122"/>
              </a:rPr>
              <a:t>判跳：          </a:t>
            </a:r>
            <a:r>
              <a:rPr lang="en-US" altLang="zh-CN" sz="2000" dirty="0">
                <a:solidFill>
                  <a:prstClr val="black"/>
                </a:solidFill>
                <a:latin typeface="微软雅黑" panose="020B0503020204020204" pitchFamily="34" charset="-122"/>
                <a:ea typeface="微软雅黑" panose="020B0503020204020204" pitchFamily="34" charset="-122"/>
              </a:rPr>
              <a:t>JB	    </a:t>
            </a:r>
            <a:r>
              <a:rPr lang="zh-CN" altLang="en-US" sz="2000" dirty="0">
                <a:solidFill>
                  <a:prstClr val="black"/>
                </a:solidFill>
                <a:latin typeface="微软雅黑" panose="020B0503020204020204" pitchFamily="34" charset="-122"/>
                <a:ea typeface="微软雅黑" panose="020B0503020204020204" pitchFamily="34" charset="-122"/>
              </a:rPr>
              <a:t> </a:t>
            </a:r>
            <a:r>
              <a:rPr lang="en-US" altLang="zh-CN" sz="2000" dirty="0">
                <a:solidFill>
                  <a:prstClr val="black"/>
                </a:solidFill>
                <a:latin typeface="微软雅黑" panose="020B0503020204020204" pitchFamily="34" charset="-122"/>
                <a:ea typeface="微软雅黑" panose="020B0503020204020204" pitchFamily="34" charset="-122"/>
              </a:rPr>
              <a:t>P1.i</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err="1">
                <a:solidFill>
                  <a:prstClr val="black"/>
                </a:solidFill>
                <a:latin typeface="微软雅黑" panose="020B0503020204020204" pitchFamily="34" charset="-122"/>
                <a:ea typeface="微软雅黑" panose="020B0503020204020204" pitchFamily="34" charset="-122"/>
              </a:rPr>
              <a:t>rel</a:t>
            </a:r>
            <a:r>
              <a:rPr lang="en-US" altLang="zh-CN" sz="2000" dirty="0">
                <a:solidFill>
                  <a:prstClr val="black"/>
                </a:solidFill>
                <a:latin typeface="微软雅黑" panose="020B0503020204020204" pitchFamily="34" charset="-122"/>
                <a:ea typeface="微软雅黑" panose="020B0503020204020204" pitchFamily="34" charset="-122"/>
              </a:rPr>
              <a:t> </a:t>
            </a:r>
            <a:r>
              <a:rPr lang="zh-CN" altLang="en-US" sz="2000" dirty="0">
                <a:solidFill>
                  <a:prstClr val="black"/>
                </a:solidFill>
                <a:latin typeface="微软雅黑" panose="020B0503020204020204" pitchFamily="34" charset="-122"/>
                <a:ea typeface="微软雅黑" panose="020B0503020204020204" pitchFamily="34" charset="-122"/>
              </a:rPr>
              <a:t> ；</a:t>
            </a:r>
            <a:r>
              <a:rPr lang="en-US" altLang="zh-CN" sz="2000" dirty="0">
                <a:solidFill>
                  <a:prstClr val="black"/>
                </a:solidFill>
                <a:latin typeface="微软雅黑" panose="020B0503020204020204" pitchFamily="34" charset="-122"/>
                <a:ea typeface="微软雅黑" panose="020B0503020204020204" pitchFamily="34" charset="-122"/>
              </a:rPr>
              <a:t>P1.i=1</a:t>
            </a:r>
            <a:r>
              <a:rPr lang="zh-CN" altLang="en-US" sz="2000" dirty="0">
                <a:solidFill>
                  <a:prstClr val="black"/>
                </a:solidFill>
                <a:latin typeface="微软雅黑" panose="020B0503020204020204" pitchFamily="34" charset="-122"/>
                <a:ea typeface="微软雅黑" panose="020B0503020204020204" pitchFamily="34" charset="-122"/>
              </a:rPr>
              <a:t>，跳转</a:t>
            </a:r>
          </a:p>
          <a:p>
            <a:pPr algn="just" fontAlgn="auto">
              <a:lnSpc>
                <a:spcPct val="14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a:t>
            </a:r>
            <a:r>
              <a:rPr lang="en-US" altLang="zh-CN" sz="2000" dirty="0">
                <a:solidFill>
                  <a:prstClr val="black"/>
                </a:solidFill>
                <a:latin typeface="微软雅黑" panose="020B0503020204020204" pitchFamily="34" charset="-122"/>
                <a:ea typeface="微软雅黑" panose="020B0503020204020204" pitchFamily="34" charset="-122"/>
              </a:rPr>
              <a:t>JBC      P1.i</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err="1">
                <a:solidFill>
                  <a:prstClr val="black"/>
                </a:solidFill>
                <a:latin typeface="微软雅黑" panose="020B0503020204020204" pitchFamily="34" charset="-122"/>
                <a:ea typeface="微软雅黑" panose="020B0503020204020204" pitchFamily="34" charset="-122"/>
              </a:rPr>
              <a:t>rel</a:t>
            </a:r>
            <a:r>
              <a:rPr lang="en-US" altLang="zh-CN" sz="2000" dirty="0">
                <a:solidFill>
                  <a:prstClr val="black"/>
                </a:solidFill>
                <a:latin typeface="微软雅黑" panose="020B0503020204020204" pitchFamily="34" charset="-122"/>
                <a:ea typeface="微软雅黑" panose="020B0503020204020204" pitchFamily="34" charset="-122"/>
              </a:rPr>
              <a:t> </a:t>
            </a:r>
            <a:r>
              <a:rPr lang="zh-CN" altLang="en-US" sz="2000" dirty="0">
                <a:solidFill>
                  <a:prstClr val="black"/>
                </a:solidFill>
                <a:latin typeface="微软雅黑" panose="020B0503020204020204" pitchFamily="34" charset="-122"/>
                <a:ea typeface="微软雅黑" panose="020B0503020204020204" pitchFamily="34" charset="-122"/>
              </a:rPr>
              <a:t> ；</a:t>
            </a:r>
            <a:r>
              <a:rPr lang="en-US" altLang="zh-CN" sz="2000" dirty="0">
                <a:solidFill>
                  <a:prstClr val="black"/>
                </a:solidFill>
                <a:latin typeface="微软雅黑" panose="020B0503020204020204" pitchFamily="34" charset="-122"/>
                <a:ea typeface="微软雅黑" panose="020B0503020204020204" pitchFamily="34" charset="-122"/>
              </a:rPr>
              <a:t>P1.i</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1</a:t>
            </a:r>
            <a:r>
              <a:rPr lang="zh-CN" altLang="en-US" sz="2000" dirty="0">
                <a:solidFill>
                  <a:prstClr val="black"/>
                </a:solidFill>
                <a:latin typeface="微软雅黑" panose="020B0503020204020204" pitchFamily="34" charset="-122"/>
                <a:ea typeface="微软雅黑" panose="020B0503020204020204" pitchFamily="34" charset="-122"/>
              </a:rPr>
              <a:t>，跳转且清</a:t>
            </a:r>
            <a:r>
              <a:rPr lang="en-US" altLang="zh-CN" sz="2000" dirty="0">
                <a:solidFill>
                  <a:prstClr val="black"/>
                </a:solidFill>
                <a:latin typeface="微软雅黑" panose="020B0503020204020204" pitchFamily="34" charset="-122"/>
                <a:ea typeface="微软雅黑" panose="020B0503020204020204" pitchFamily="34" charset="-122"/>
              </a:rPr>
              <a:t>P1.i</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0</a:t>
            </a:r>
          </a:p>
          <a:p>
            <a:pPr algn="just" fontAlgn="auto">
              <a:lnSpc>
                <a:spcPct val="14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a:t>
            </a:r>
            <a:r>
              <a:rPr lang="zh-CN" altLang="en-US" sz="2000" dirty="0">
                <a:solidFill>
                  <a:prstClr val="black"/>
                </a:solidFill>
                <a:latin typeface="微软雅黑" panose="020B0503020204020204" pitchFamily="34" charset="-122"/>
                <a:ea typeface="微软雅黑" panose="020B0503020204020204" pitchFamily="34" charset="-122"/>
              </a:rPr>
              <a:t>逻辑运算：     </a:t>
            </a:r>
            <a:r>
              <a:rPr lang="en-US" altLang="zh-CN" sz="2000" dirty="0">
                <a:solidFill>
                  <a:prstClr val="black"/>
                </a:solidFill>
                <a:latin typeface="微软雅黑" panose="020B0503020204020204" pitchFamily="34" charset="-122"/>
                <a:ea typeface="微软雅黑" panose="020B0503020204020204" pitchFamily="34" charset="-122"/>
              </a:rPr>
              <a:t>ANL    C</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P1.i   </a:t>
            </a:r>
            <a:r>
              <a:rPr lang="zh-CN" altLang="en-US" sz="2000" dirty="0">
                <a:solidFill>
                  <a:prstClr val="black"/>
                </a:solidFill>
                <a:latin typeface="微软雅黑" panose="020B0503020204020204" pitchFamily="34" charset="-122"/>
                <a:ea typeface="微软雅黑" panose="020B0503020204020204" pitchFamily="34" charset="-122"/>
              </a:rPr>
              <a:t> ；</a:t>
            </a:r>
            <a:r>
              <a:rPr lang="en-US" altLang="zh-CN" sz="2000" dirty="0">
                <a:solidFill>
                  <a:prstClr val="black"/>
                </a:solidFill>
                <a:latin typeface="微软雅黑" panose="020B0503020204020204" pitchFamily="34" charset="-122"/>
                <a:ea typeface="微软雅黑" panose="020B0503020204020204" pitchFamily="34" charset="-122"/>
              </a:rPr>
              <a:t>CY←(P1.i·CY)</a:t>
            </a:r>
            <a:endParaRPr lang="zh-CN" altLang="en-US" sz="2000" dirty="0">
              <a:solidFill>
                <a:prstClr val="black"/>
              </a:solidFill>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a:t>
            </a:r>
            <a:r>
              <a:rPr lang="en-US" altLang="zh-CN" sz="2000" dirty="0">
                <a:solidFill>
                  <a:prstClr val="black"/>
                </a:solidFill>
                <a:latin typeface="微软雅黑" panose="020B0503020204020204" pitchFamily="34" charset="-122"/>
                <a:ea typeface="微软雅黑" panose="020B0503020204020204" pitchFamily="34" charset="-122"/>
              </a:rPr>
              <a:t>ORL     C</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P1.i   </a:t>
            </a:r>
            <a:r>
              <a:rPr lang="zh-CN" altLang="en-US" sz="2000" dirty="0">
                <a:solidFill>
                  <a:prstClr val="black"/>
                </a:solidFill>
                <a:latin typeface="微软雅黑" panose="020B0503020204020204" pitchFamily="34" charset="-122"/>
                <a:ea typeface="微软雅黑" panose="020B0503020204020204" pitchFamily="34" charset="-122"/>
              </a:rPr>
              <a:t> ；</a:t>
            </a:r>
            <a:r>
              <a:rPr lang="en-US" altLang="zh-CN" sz="2000" dirty="0">
                <a:solidFill>
                  <a:prstClr val="black"/>
                </a:solidFill>
                <a:latin typeface="微软雅黑" panose="020B0503020204020204" pitchFamily="34" charset="-122"/>
                <a:ea typeface="微软雅黑" panose="020B0503020204020204" pitchFamily="34" charset="-122"/>
              </a:rPr>
              <a:t>CY←(P1.i</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CY)</a:t>
            </a:r>
          </a:p>
        </p:txBody>
      </p:sp>
      <p:sp>
        <p:nvSpPr>
          <p:cNvPr id="61442"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61443"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61444"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632311"/>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2.1.2 MCS-51</a:t>
            </a:r>
            <a:r>
              <a:rPr lang="zh-CN" altLang="en-US" sz="2400" b="1" dirty="0">
                <a:solidFill>
                  <a:prstClr val="black"/>
                </a:solidFill>
                <a:latin typeface="微软雅黑" panose="020B0503020204020204" pitchFamily="34" charset="-122"/>
                <a:ea typeface="微软雅黑" panose="020B0503020204020204" pitchFamily="34" charset="-122"/>
              </a:rPr>
              <a:t>引脚功能</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en-US" altLang="zh-CN" sz="2400" dirty="0">
                <a:solidFill>
                  <a:prstClr val="black"/>
                </a:solidFill>
                <a:latin typeface="微软雅黑" panose="020B0503020204020204" pitchFamily="34" charset="-122"/>
                <a:ea typeface="微软雅黑" panose="020B0503020204020204" pitchFamily="34" charset="-122"/>
              </a:rPr>
              <a:t>P2</a:t>
            </a:r>
            <a:r>
              <a:rPr lang="zh-CN" altLang="en-US" sz="2400" dirty="0">
                <a:solidFill>
                  <a:prstClr val="black"/>
                </a:solidFill>
                <a:latin typeface="微软雅黑" panose="020B0503020204020204" pitchFamily="34" charset="-122"/>
                <a:ea typeface="微软雅黑" panose="020B0503020204020204" pitchFamily="34" charset="-122"/>
              </a:rPr>
              <a:t>口</a:t>
            </a:r>
            <a:r>
              <a:rPr lang="en-US" altLang="zh-CN" sz="2400" dirty="0">
                <a:solidFill>
                  <a:prstClr val="black"/>
                </a:solidFill>
                <a:latin typeface="微软雅黑" panose="020B0503020204020204" pitchFamily="34" charset="-122"/>
                <a:ea typeface="微软雅黑" panose="020B0503020204020204" pitchFamily="34" charset="-122"/>
              </a:rPr>
              <a:t>(P2.0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a:solidFill>
                  <a:prstClr val="black"/>
                </a:solidFill>
                <a:latin typeface="微软雅黑" panose="020B0503020204020204" pitchFamily="34" charset="-122"/>
                <a:ea typeface="微软雅黑" panose="020B0503020204020204" pitchFamily="34" charset="-122"/>
              </a:rPr>
              <a:t>P2.7)</a:t>
            </a:r>
            <a:endParaRPr lang="zh-CN" altLang="en-US"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      P2</a:t>
            </a:r>
            <a:r>
              <a:rPr lang="zh-CN" altLang="en-US" sz="2400" dirty="0">
                <a:solidFill>
                  <a:prstClr val="black"/>
                </a:solidFill>
                <a:latin typeface="微软雅黑" panose="020B0503020204020204" pitchFamily="34" charset="-122"/>
                <a:ea typeface="微软雅黑" panose="020B0503020204020204" pitchFamily="34" charset="-122"/>
              </a:rPr>
              <a:t>口也是一个</a:t>
            </a:r>
            <a:r>
              <a:rPr lang="zh-CN" altLang="en-US" sz="2400" u="sng" dirty="0">
                <a:solidFill>
                  <a:prstClr val="black"/>
                </a:solidFill>
                <a:latin typeface="微软雅黑" panose="020B0503020204020204" pitchFamily="34" charset="-122"/>
                <a:ea typeface="微软雅黑" panose="020B0503020204020204" pitchFamily="34" charset="-122"/>
              </a:rPr>
              <a:t>内部带上拉电阻</a:t>
            </a:r>
            <a:r>
              <a:rPr lang="zh-CN" altLang="en-US" sz="2400" dirty="0">
                <a:solidFill>
                  <a:prstClr val="black"/>
                </a:solidFill>
                <a:latin typeface="微软雅黑" panose="020B0503020204020204" pitchFamily="34" charset="-122"/>
                <a:ea typeface="微软雅黑" panose="020B0503020204020204" pitchFamily="34" charset="-122"/>
              </a:rPr>
              <a:t>的</a:t>
            </a:r>
            <a:r>
              <a:rPr lang="en-US" altLang="zh-CN" sz="2400" dirty="0">
                <a:solidFill>
                  <a:prstClr val="black"/>
                </a:solidFill>
                <a:latin typeface="微软雅黑" panose="020B0503020204020204" pitchFamily="34" charset="-122"/>
                <a:ea typeface="微软雅黑" panose="020B0503020204020204" pitchFamily="34" charset="-122"/>
              </a:rPr>
              <a:t>8</a:t>
            </a:r>
            <a:r>
              <a:rPr lang="zh-CN" altLang="en-US" sz="2400" dirty="0">
                <a:solidFill>
                  <a:prstClr val="black"/>
                </a:solidFill>
                <a:latin typeface="微软雅黑" panose="020B0503020204020204" pitchFamily="34" charset="-122"/>
                <a:ea typeface="微软雅黑" panose="020B0503020204020204" pitchFamily="34" charset="-122"/>
              </a:rPr>
              <a:t>位</a:t>
            </a:r>
            <a:r>
              <a:rPr lang="zh-CN" altLang="en-US" sz="2400" b="1" dirty="0">
                <a:solidFill>
                  <a:srgbClr val="0000FF"/>
                </a:solidFill>
                <a:latin typeface="微软雅黑" panose="020B0503020204020204" pitchFamily="34" charset="-122"/>
                <a:ea typeface="微软雅黑" panose="020B0503020204020204" pitchFamily="34" charset="-122"/>
              </a:rPr>
              <a:t>准双向</a:t>
            </a:r>
            <a:r>
              <a:rPr lang="en-US" altLang="zh-CN" sz="2400" dirty="0">
                <a:solidFill>
                  <a:prstClr val="black"/>
                </a:solidFill>
                <a:latin typeface="微软雅黑" panose="020B0503020204020204" pitchFamily="34" charset="-122"/>
                <a:ea typeface="微软雅黑" panose="020B0503020204020204" pitchFamily="34" charset="-122"/>
              </a:rPr>
              <a:t>I/O</a:t>
            </a:r>
            <a:r>
              <a:rPr lang="zh-CN" altLang="en-US" sz="2400" dirty="0">
                <a:solidFill>
                  <a:prstClr val="black"/>
                </a:solidFill>
                <a:latin typeface="微软雅黑" panose="020B0503020204020204" pitchFamily="34" charset="-122"/>
                <a:ea typeface="微软雅黑" panose="020B0503020204020204" pitchFamily="34" charset="-122"/>
              </a:rPr>
              <a:t>端口。当</a:t>
            </a:r>
            <a:r>
              <a:rPr lang="en-US" altLang="zh-CN" sz="2400" dirty="0">
                <a:solidFill>
                  <a:prstClr val="black"/>
                </a:solidFill>
                <a:latin typeface="微软雅黑" panose="020B0503020204020204" pitchFamily="34" charset="-122"/>
                <a:ea typeface="微软雅黑" panose="020B0503020204020204" pitchFamily="34" charset="-122"/>
              </a:rPr>
              <a:t>CPU</a:t>
            </a:r>
            <a:r>
              <a:rPr lang="zh-CN" altLang="en-US" sz="2400" dirty="0">
                <a:solidFill>
                  <a:srgbClr val="0000FF"/>
                </a:solidFill>
                <a:latin typeface="微软雅黑" panose="020B0503020204020204" pitchFamily="34" charset="-122"/>
                <a:ea typeface="微软雅黑" panose="020B0503020204020204" pitchFamily="34" charset="-122"/>
              </a:rPr>
              <a:t>访问外部存储器</a:t>
            </a:r>
            <a:r>
              <a:rPr lang="zh-CN" altLang="en-US" sz="2400" dirty="0">
                <a:solidFill>
                  <a:prstClr val="black"/>
                </a:solidFill>
                <a:latin typeface="微软雅黑" panose="020B0503020204020204" pitchFamily="34" charset="-122"/>
                <a:ea typeface="微软雅黑" panose="020B0503020204020204" pitchFamily="34" charset="-122"/>
              </a:rPr>
              <a:t>时，</a:t>
            </a:r>
            <a:r>
              <a:rPr lang="en-US" altLang="zh-CN" sz="2400" dirty="0">
                <a:solidFill>
                  <a:prstClr val="black"/>
                </a:solidFill>
                <a:latin typeface="微软雅黑" panose="020B0503020204020204" pitchFamily="34" charset="-122"/>
                <a:ea typeface="微软雅黑" panose="020B0503020204020204" pitchFamily="34" charset="-122"/>
              </a:rPr>
              <a:t>P2</a:t>
            </a:r>
            <a:r>
              <a:rPr lang="zh-CN" altLang="en-US" sz="2400" dirty="0">
                <a:solidFill>
                  <a:prstClr val="black"/>
                </a:solidFill>
                <a:latin typeface="微软雅黑" panose="020B0503020204020204" pitchFamily="34" charset="-122"/>
                <a:ea typeface="微软雅黑" panose="020B0503020204020204" pitchFamily="34" charset="-122"/>
              </a:rPr>
              <a:t>口自动用于输出</a:t>
            </a:r>
            <a:r>
              <a:rPr lang="zh-CN" altLang="en-US" sz="2400" dirty="0">
                <a:solidFill>
                  <a:srgbClr val="0000FF"/>
                </a:solidFill>
                <a:latin typeface="微软雅黑" panose="020B0503020204020204" pitchFamily="34" charset="-122"/>
                <a:ea typeface="微软雅黑" panose="020B0503020204020204" pitchFamily="34" charset="-122"/>
              </a:rPr>
              <a:t>高</a:t>
            </a:r>
            <a:r>
              <a:rPr lang="en-US" altLang="zh-CN" sz="2400" dirty="0">
                <a:solidFill>
                  <a:srgbClr val="0000FF"/>
                </a:solidFill>
                <a:latin typeface="微软雅黑" panose="020B0503020204020204" pitchFamily="34" charset="-122"/>
                <a:ea typeface="微软雅黑" panose="020B0503020204020204" pitchFamily="34" charset="-122"/>
              </a:rPr>
              <a:t>8</a:t>
            </a:r>
            <a:r>
              <a:rPr lang="zh-CN" altLang="en-US" sz="2400" dirty="0">
                <a:solidFill>
                  <a:srgbClr val="0000FF"/>
                </a:solidFill>
                <a:latin typeface="微软雅黑" panose="020B0503020204020204" pitchFamily="34" charset="-122"/>
                <a:ea typeface="微软雅黑" panose="020B0503020204020204" pitchFamily="34" charset="-122"/>
              </a:rPr>
              <a:t>位地址</a:t>
            </a:r>
            <a:r>
              <a:rPr lang="zh-CN" altLang="en-US" sz="2400" dirty="0">
                <a:solidFill>
                  <a:prstClr val="black"/>
                </a:solidFill>
                <a:latin typeface="微软雅黑" panose="020B0503020204020204" pitchFamily="34" charset="-122"/>
                <a:ea typeface="微软雅黑" panose="020B0503020204020204" pitchFamily="34" charset="-122"/>
              </a:rPr>
              <a:t>，与</a:t>
            </a:r>
            <a:r>
              <a:rPr lang="en-US" altLang="zh-CN" sz="2400" dirty="0">
                <a:solidFill>
                  <a:prstClr val="black"/>
                </a:solidFill>
                <a:latin typeface="微软雅黑" panose="020B0503020204020204" pitchFamily="34" charset="-122"/>
                <a:ea typeface="微软雅黑" panose="020B0503020204020204" pitchFamily="34" charset="-122"/>
              </a:rPr>
              <a:t>P0</a:t>
            </a:r>
            <a:r>
              <a:rPr lang="zh-CN" altLang="en-US" sz="2400" dirty="0">
                <a:solidFill>
                  <a:prstClr val="black"/>
                </a:solidFill>
                <a:latin typeface="微软雅黑" panose="020B0503020204020204" pitchFamily="34" charset="-122"/>
                <a:ea typeface="微软雅黑" panose="020B0503020204020204" pitchFamily="34" charset="-122"/>
              </a:rPr>
              <a:t>口的低</a:t>
            </a:r>
            <a:r>
              <a:rPr lang="en-US" altLang="zh-CN" sz="2400" dirty="0">
                <a:solidFill>
                  <a:prstClr val="black"/>
                </a:solidFill>
                <a:latin typeface="微软雅黑" panose="020B0503020204020204" pitchFamily="34" charset="-122"/>
                <a:ea typeface="微软雅黑" panose="020B0503020204020204" pitchFamily="34" charset="-122"/>
              </a:rPr>
              <a:t>8</a:t>
            </a:r>
            <a:r>
              <a:rPr lang="zh-CN" altLang="en-US" sz="2400" dirty="0">
                <a:solidFill>
                  <a:prstClr val="black"/>
                </a:solidFill>
                <a:latin typeface="微软雅黑" panose="020B0503020204020204" pitchFamily="34" charset="-122"/>
                <a:ea typeface="微软雅黑" panose="020B0503020204020204" pitchFamily="34" charset="-122"/>
              </a:rPr>
              <a:t>位地址一起形成外部存储器的</a:t>
            </a:r>
            <a:r>
              <a:rPr lang="en-US" altLang="zh-CN" sz="2400" b="1" dirty="0">
                <a:solidFill>
                  <a:prstClr val="black"/>
                </a:solidFill>
                <a:latin typeface="微软雅黑" panose="020B0503020204020204" pitchFamily="34" charset="-122"/>
                <a:ea typeface="微软雅黑" panose="020B0503020204020204" pitchFamily="34" charset="-122"/>
              </a:rPr>
              <a:t>16</a:t>
            </a:r>
            <a:r>
              <a:rPr lang="zh-CN" altLang="en-US" sz="2400" b="1" dirty="0">
                <a:solidFill>
                  <a:prstClr val="black"/>
                </a:solidFill>
                <a:latin typeface="微软雅黑" panose="020B0503020204020204" pitchFamily="34" charset="-122"/>
                <a:ea typeface="微软雅黑" panose="020B0503020204020204" pitchFamily="34" charset="-122"/>
              </a:rPr>
              <a:t>位地址总线</a:t>
            </a:r>
            <a:r>
              <a:rPr lang="zh-CN" altLang="en-US" sz="2400" dirty="0">
                <a:solidFill>
                  <a:prstClr val="black"/>
                </a:solidFill>
                <a:latin typeface="微软雅黑" panose="020B0503020204020204" pitchFamily="34" charset="-122"/>
                <a:ea typeface="微软雅黑" panose="020B0503020204020204" pitchFamily="34" charset="-122"/>
              </a:rPr>
              <a:t>。 </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en-US" altLang="zh-CN" sz="2400" dirty="0">
                <a:solidFill>
                  <a:prstClr val="black"/>
                </a:solidFill>
                <a:latin typeface="微软雅黑" panose="020B0503020204020204" pitchFamily="34" charset="-122"/>
                <a:ea typeface="微软雅黑" panose="020B0503020204020204" pitchFamily="34" charset="-122"/>
              </a:rPr>
              <a:t>P3</a:t>
            </a:r>
            <a:r>
              <a:rPr lang="zh-CN" altLang="en-US" sz="2400" dirty="0">
                <a:solidFill>
                  <a:prstClr val="black"/>
                </a:solidFill>
                <a:latin typeface="微软雅黑" panose="020B0503020204020204" pitchFamily="34" charset="-122"/>
                <a:ea typeface="微软雅黑" panose="020B0503020204020204" pitchFamily="34" charset="-122"/>
              </a:rPr>
              <a:t>口</a:t>
            </a:r>
            <a:r>
              <a:rPr lang="en-US" altLang="zh-CN" sz="2400" dirty="0">
                <a:solidFill>
                  <a:prstClr val="black"/>
                </a:solidFill>
                <a:latin typeface="微软雅黑" panose="020B0503020204020204" pitchFamily="34" charset="-122"/>
                <a:ea typeface="微软雅黑" panose="020B0503020204020204" pitchFamily="34" charset="-122"/>
              </a:rPr>
              <a:t>(P3.0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P3.7)</a:t>
            </a:r>
            <a:endParaRPr lang="zh-CN" altLang="en-US"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      P3</a:t>
            </a:r>
            <a:r>
              <a:rPr lang="zh-CN" altLang="en-US" sz="2400" dirty="0">
                <a:solidFill>
                  <a:prstClr val="black"/>
                </a:solidFill>
                <a:latin typeface="微软雅黑" panose="020B0503020204020204" pitchFamily="34" charset="-122"/>
                <a:ea typeface="微软雅黑" panose="020B0503020204020204" pitchFamily="34" charset="-122"/>
              </a:rPr>
              <a:t>口是一个</a:t>
            </a:r>
            <a:r>
              <a:rPr lang="zh-CN" altLang="en-US" sz="2400" u="sng" dirty="0">
                <a:solidFill>
                  <a:prstClr val="black"/>
                </a:solidFill>
                <a:latin typeface="微软雅黑" panose="020B0503020204020204" pitchFamily="34" charset="-122"/>
                <a:ea typeface="微软雅黑" panose="020B0503020204020204" pitchFamily="34" charset="-122"/>
              </a:rPr>
              <a:t>内部带上拉电阻</a:t>
            </a:r>
            <a:r>
              <a:rPr lang="zh-CN" altLang="en-US" sz="2400" dirty="0">
                <a:solidFill>
                  <a:prstClr val="black"/>
                </a:solidFill>
                <a:latin typeface="微软雅黑" panose="020B0503020204020204" pitchFamily="34" charset="-122"/>
                <a:ea typeface="微软雅黑" panose="020B0503020204020204" pitchFamily="34" charset="-122"/>
              </a:rPr>
              <a:t>的</a:t>
            </a:r>
            <a:r>
              <a:rPr lang="en-US" altLang="zh-CN" sz="2400" dirty="0">
                <a:solidFill>
                  <a:prstClr val="black"/>
                </a:solidFill>
                <a:latin typeface="微软雅黑" panose="020B0503020204020204" pitchFamily="34" charset="-122"/>
                <a:ea typeface="微软雅黑" panose="020B0503020204020204" pitchFamily="34" charset="-122"/>
              </a:rPr>
              <a:t>8</a:t>
            </a:r>
            <a:r>
              <a:rPr lang="zh-CN" altLang="en-US" sz="2400" dirty="0">
                <a:solidFill>
                  <a:prstClr val="black"/>
                </a:solidFill>
                <a:latin typeface="微软雅黑" panose="020B0503020204020204" pitchFamily="34" charset="-122"/>
                <a:ea typeface="微软雅黑" panose="020B0503020204020204" pitchFamily="34" charset="-122"/>
              </a:rPr>
              <a:t>位多功能</a:t>
            </a:r>
            <a:r>
              <a:rPr lang="zh-CN" altLang="en-US" sz="2400" b="1" dirty="0">
                <a:solidFill>
                  <a:srgbClr val="0000FF"/>
                </a:solidFill>
                <a:latin typeface="微软雅黑" panose="020B0503020204020204" pitchFamily="34" charset="-122"/>
                <a:ea typeface="微软雅黑" panose="020B0503020204020204" pitchFamily="34" charset="-122"/>
              </a:rPr>
              <a:t>准双向</a:t>
            </a:r>
            <a:r>
              <a:rPr lang="en-US" altLang="zh-CN" sz="2400" dirty="0">
                <a:solidFill>
                  <a:prstClr val="black"/>
                </a:solidFill>
                <a:latin typeface="微软雅黑" panose="020B0503020204020204" pitchFamily="34" charset="-122"/>
                <a:ea typeface="微软雅黑" panose="020B0503020204020204" pitchFamily="34" charset="-122"/>
              </a:rPr>
              <a:t>I/O</a:t>
            </a:r>
            <a:r>
              <a:rPr lang="zh-CN" altLang="en-US" sz="2400" dirty="0">
                <a:solidFill>
                  <a:prstClr val="black"/>
                </a:solidFill>
                <a:latin typeface="微软雅黑" panose="020B0503020204020204" pitchFamily="34" charset="-122"/>
                <a:ea typeface="微软雅黑" panose="020B0503020204020204" pitchFamily="34" charset="-122"/>
              </a:rPr>
              <a:t>端口。</a:t>
            </a:r>
            <a:r>
              <a:rPr lang="en-US" altLang="zh-CN" sz="2400" dirty="0">
                <a:solidFill>
                  <a:prstClr val="black"/>
                </a:solidFill>
                <a:latin typeface="微软雅黑" panose="020B0503020204020204" pitchFamily="34" charset="-122"/>
                <a:ea typeface="微软雅黑" panose="020B0503020204020204" pitchFamily="34" charset="-122"/>
              </a:rPr>
              <a:t>P3</a:t>
            </a:r>
            <a:r>
              <a:rPr lang="zh-CN" altLang="en-US" sz="2400" dirty="0">
                <a:solidFill>
                  <a:prstClr val="black"/>
                </a:solidFill>
                <a:latin typeface="微软雅黑" panose="020B0503020204020204" pitchFamily="34" charset="-122"/>
                <a:ea typeface="微软雅黑" panose="020B0503020204020204" pitchFamily="34" charset="-122"/>
              </a:rPr>
              <a:t>口除了作通用</a:t>
            </a:r>
            <a:r>
              <a:rPr lang="en-US" altLang="zh-CN" sz="2400" dirty="0">
                <a:solidFill>
                  <a:prstClr val="black"/>
                </a:solidFill>
                <a:latin typeface="微软雅黑" panose="020B0503020204020204" pitchFamily="34" charset="-122"/>
                <a:ea typeface="微软雅黑" panose="020B0503020204020204" pitchFamily="34" charset="-122"/>
              </a:rPr>
              <a:t>I/O</a:t>
            </a:r>
            <a:r>
              <a:rPr lang="zh-CN" altLang="en-US" sz="2400" dirty="0">
                <a:solidFill>
                  <a:prstClr val="black"/>
                </a:solidFill>
                <a:latin typeface="微软雅黑" panose="020B0503020204020204" pitchFamily="34" charset="-122"/>
                <a:ea typeface="微软雅黑" panose="020B0503020204020204" pitchFamily="34" charset="-122"/>
              </a:rPr>
              <a:t>口外，其主要功能是其各位还具有</a:t>
            </a:r>
            <a:r>
              <a:rPr lang="zh-CN" altLang="en-US" sz="2400" b="1" dirty="0">
                <a:solidFill>
                  <a:srgbClr val="0000FF"/>
                </a:solidFill>
                <a:latin typeface="微软雅黑" panose="020B0503020204020204" pitchFamily="34" charset="-122"/>
                <a:ea typeface="微软雅黑" panose="020B0503020204020204" pitchFamily="34" charset="-122"/>
              </a:rPr>
              <a:t>第二功能</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      </a:t>
            </a:r>
            <a:r>
              <a:rPr lang="en-US" altLang="zh-CN" sz="2400" b="1" dirty="0">
                <a:solidFill>
                  <a:prstClr val="black"/>
                </a:solidFill>
                <a:latin typeface="微软雅黑" panose="020B0503020204020204" pitchFamily="34" charset="-122"/>
                <a:ea typeface="微软雅黑" panose="020B0503020204020204" pitchFamily="34" charset="-122"/>
              </a:rPr>
              <a:t>P1~P3</a:t>
            </a:r>
            <a:r>
              <a:rPr lang="zh-CN" altLang="en-US" sz="2400" dirty="0">
                <a:solidFill>
                  <a:prstClr val="black"/>
                </a:solidFill>
                <a:latin typeface="微软雅黑" panose="020B0503020204020204" pitchFamily="34" charset="-122"/>
                <a:ea typeface="微软雅黑" panose="020B0503020204020204" pitchFamily="34" charset="-122"/>
              </a:rPr>
              <a:t>口都是</a:t>
            </a:r>
            <a:r>
              <a:rPr lang="zh-CN" altLang="en-US" sz="2400" dirty="0">
                <a:solidFill>
                  <a:srgbClr val="FF0000"/>
                </a:solidFill>
                <a:latin typeface="微软雅黑" panose="020B0503020204020204" pitchFamily="34" charset="-122"/>
                <a:ea typeface="微软雅黑" panose="020B0503020204020204" pitchFamily="34" charset="-122"/>
              </a:rPr>
              <a:t>准双向</a:t>
            </a:r>
            <a:r>
              <a:rPr lang="en-US" altLang="zh-CN" sz="2400" dirty="0">
                <a:solidFill>
                  <a:srgbClr val="FF0000"/>
                </a:solidFill>
                <a:latin typeface="微软雅黑" panose="020B0503020204020204" pitchFamily="34" charset="-122"/>
                <a:ea typeface="微软雅黑" panose="020B0503020204020204" pitchFamily="34" charset="-122"/>
              </a:rPr>
              <a:t>I/O</a:t>
            </a:r>
            <a:r>
              <a:rPr lang="zh-CN" altLang="en-US" sz="2400" dirty="0">
                <a:solidFill>
                  <a:srgbClr val="FF0000"/>
                </a:solidFill>
                <a:latin typeface="微软雅黑" panose="020B0503020204020204" pitchFamily="34" charset="-122"/>
                <a:ea typeface="微软雅黑" panose="020B0503020204020204" pitchFamily="34" charset="-122"/>
              </a:rPr>
              <a:t>口</a:t>
            </a:r>
            <a:r>
              <a:rPr lang="zh-CN" altLang="en-US" sz="2400" dirty="0">
                <a:solidFill>
                  <a:prstClr val="black"/>
                </a:solidFill>
                <a:latin typeface="微软雅黑" panose="020B0503020204020204" pitchFamily="34" charset="-122"/>
                <a:ea typeface="微软雅黑" panose="020B0503020204020204" pitchFamily="34" charset="-122"/>
              </a:rPr>
              <a:t>，即</a:t>
            </a:r>
            <a:r>
              <a:rPr lang="en-US" altLang="zh-CN" sz="2400" dirty="0">
                <a:solidFill>
                  <a:prstClr val="black"/>
                </a:solidFill>
                <a:latin typeface="微软雅黑" panose="020B0503020204020204" pitchFamily="34" charset="-122"/>
                <a:ea typeface="微软雅黑" panose="020B0503020204020204" pitchFamily="34" charset="-122"/>
              </a:rPr>
              <a:t>CPU</a:t>
            </a:r>
            <a:r>
              <a:rPr lang="zh-CN" altLang="en-US" sz="2400" dirty="0">
                <a:solidFill>
                  <a:prstClr val="black"/>
                </a:solidFill>
                <a:latin typeface="微软雅黑" panose="020B0503020204020204" pitchFamily="34" charset="-122"/>
                <a:ea typeface="微软雅黑" panose="020B0503020204020204" pitchFamily="34" charset="-122"/>
              </a:rPr>
              <a:t>在读取数据时，必须先向相应端口的锁存器</a:t>
            </a:r>
            <a:r>
              <a:rPr lang="zh-CN" altLang="en-US" sz="2400" b="1" dirty="0">
                <a:solidFill>
                  <a:prstClr val="black"/>
                </a:solidFill>
                <a:latin typeface="微软雅黑" panose="020B0503020204020204" pitchFamily="34" charset="-122"/>
                <a:ea typeface="微软雅黑" panose="020B0503020204020204" pitchFamily="34" charset="-122"/>
              </a:rPr>
              <a:t>写</a:t>
            </a:r>
            <a:r>
              <a:rPr lang="zh-CN" altLang="en-US" sz="2400" b="1" dirty="0">
                <a:solidFill>
                  <a:srgbClr val="0000FF"/>
                </a:solidFill>
                <a:latin typeface="微软雅黑" panose="020B0503020204020204" pitchFamily="34" charset="-122"/>
                <a:ea typeface="微软雅黑" panose="020B0503020204020204" pitchFamily="34" charset="-122"/>
              </a:rPr>
              <a:t>“</a:t>
            </a:r>
            <a:r>
              <a:rPr lang="en-US" altLang="zh-CN" sz="2400" b="1" dirty="0">
                <a:solidFill>
                  <a:srgbClr val="0000FF"/>
                </a:solidFill>
                <a:latin typeface="微软雅黑" panose="020B0503020204020204" pitchFamily="34" charset="-122"/>
                <a:ea typeface="微软雅黑" panose="020B0503020204020204" pitchFamily="34" charset="-122"/>
              </a:rPr>
              <a:t>1</a:t>
            </a:r>
            <a:r>
              <a:rPr lang="zh-CN" altLang="en-US" sz="2400" b="1" dirty="0">
                <a:solidFill>
                  <a:srgbClr val="0000FF"/>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srgbClr val="00B0F0"/>
                </a:solidFill>
                <a:latin typeface="微软雅黑" panose="020B0503020204020204" pitchFamily="34" charset="-122"/>
                <a:ea typeface="微软雅黑" panose="020B0503020204020204" pitchFamily="34" charset="-122"/>
              </a:rPr>
              <a:t>例如：</a:t>
            </a:r>
            <a:r>
              <a:rPr lang="en-US" altLang="zh-CN" sz="2400" dirty="0">
                <a:solidFill>
                  <a:srgbClr val="00B0F0"/>
                </a:solidFill>
                <a:latin typeface="微软雅黑" panose="020B0503020204020204" pitchFamily="34" charset="-122"/>
                <a:ea typeface="微软雅黑" panose="020B0503020204020204" pitchFamily="34" charset="-122"/>
              </a:rPr>
              <a:t>SETB P0.X/80H.X</a:t>
            </a:r>
            <a:endParaRPr lang="zh-CN" altLang="en-US" sz="2400" dirty="0">
              <a:solidFill>
                <a:srgbClr val="00B0F0"/>
              </a:solidFill>
              <a:latin typeface="微软雅黑" panose="020B0503020204020204" pitchFamily="34" charset="-122"/>
              <a:ea typeface="微软雅黑" panose="020B0503020204020204" pitchFamily="34" charset="-122"/>
            </a:endParaRPr>
          </a:p>
        </p:txBody>
      </p:sp>
      <p:sp>
        <p:nvSpPr>
          <p:cNvPr id="63490"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pic>
        <p:nvPicPr>
          <p:cNvPr id="63491"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63492"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文本框 1"/>
          <p:cNvSpPr txBox="1">
            <a:spLocks noChangeArrowheads="1"/>
          </p:cNvSpPr>
          <p:nvPr/>
        </p:nvSpPr>
        <p:spPr bwMode="auto">
          <a:xfrm>
            <a:off x="257175" y="736600"/>
            <a:ext cx="8636000" cy="581025"/>
          </a:xfrm>
          <a:prstGeom prst="rect">
            <a:avLst/>
          </a:prstGeom>
          <a:noFill/>
          <a:ln w="9525">
            <a:noFill/>
            <a:miter lim="800000"/>
          </a:ln>
        </p:spPr>
        <p:txBody>
          <a:bodyPr>
            <a:spAutoFit/>
          </a:bodyPr>
          <a:lstStyle/>
          <a:p>
            <a:pPr algn="just">
              <a:lnSpc>
                <a:spcPct val="150000"/>
              </a:lnSpc>
            </a:pPr>
            <a:r>
              <a:rPr lang="en-US" altLang="zh-CN" sz="2400" b="1">
                <a:solidFill>
                  <a:srgbClr val="000000"/>
                </a:solidFill>
                <a:latin typeface="微软雅黑" panose="020B0503020204020204" pitchFamily="34" charset="-122"/>
                <a:ea typeface="微软雅黑" panose="020B0503020204020204" pitchFamily="34" charset="-122"/>
              </a:rPr>
              <a:t>2.1.2 MCS-51</a:t>
            </a:r>
            <a:r>
              <a:rPr lang="zh-CN" altLang="en-US" sz="2400" b="1">
                <a:solidFill>
                  <a:srgbClr val="000000"/>
                </a:solidFill>
                <a:latin typeface="微软雅黑" panose="020B0503020204020204" pitchFamily="34" charset="-122"/>
                <a:ea typeface="微软雅黑" panose="020B0503020204020204" pitchFamily="34" charset="-122"/>
              </a:rPr>
              <a:t>引脚功能</a:t>
            </a:r>
            <a:endParaRPr lang="en-US" altLang="zh-CN" sz="2400" b="1">
              <a:solidFill>
                <a:srgbClr val="000000"/>
              </a:solidFill>
              <a:latin typeface="微软雅黑" panose="020B0503020204020204" pitchFamily="34" charset="-122"/>
              <a:ea typeface="微软雅黑" panose="020B0503020204020204" pitchFamily="34" charset="-122"/>
            </a:endParaRPr>
          </a:p>
        </p:txBody>
      </p:sp>
      <p:sp>
        <p:nvSpPr>
          <p:cNvPr id="6553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2.1 MCS-51</a:t>
            </a:r>
            <a:r>
              <a:rPr lang="zh-CN" altLang="en-US" sz="2800">
                <a:solidFill>
                  <a:srgbClr val="000000"/>
                </a:solidFill>
                <a:latin typeface="微软雅黑" panose="020B0503020204020204" pitchFamily="34" charset="-122"/>
                <a:ea typeface="微软雅黑" panose="020B0503020204020204" pitchFamily="34" charset="-122"/>
              </a:rPr>
              <a:t>单片机总体结构</a:t>
            </a:r>
          </a:p>
        </p:txBody>
      </p:sp>
      <p:grpSp>
        <p:nvGrpSpPr>
          <p:cNvPr id="65539" name="组合 2"/>
          <p:cNvGrpSpPr/>
          <p:nvPr/>
        </p:nvGrpSpPr>
        <p:grpSpPr bwMode="auto">
          <a:xfrm>
            <a:off x="895350" y="2044700"/>
            <a:ext cx="7351713" cy="4324350"/>
            <a:chOff x="895501" y="1927176"/>
            <a:chExt cx="7351712" cy="4657725"/>
          </a:xfrm>
        </p:grpSpPr>
        <mc:AlternateContent xmlns:mc="http://schemas.openxmlformats.org/markup-compatibility/2006" xmlns:a14="http://schemas.microsoft.com/office/drawing/2010/main">
          <mc:Choice Requires="a14">
            <p:sp>
              <p:nvSpPr>
                <p:cNvPr id="42" name="Rectangle 5"/>
                <p:cNvSpPr>
                  <a:spLocks noChangeArrowheads="1"/>
                </p:cNvSpPr>
                <p:nvPr/>
              </p:nvSpPr>
              <p:spPr bwMode="auto">
                <a:xfrm>
                  <a:off x="2408389" y="6066807"/>
                  <a:ext cx="5838824" cy="518094"/>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14:m>
                    <m:oMath xmlns:m="http://schemas.openxmlformats.org/officeDocument/2006/math">
                      <m:acc>
                        <m:accPr>
                          <m:chr m:val="̅"/>
                          <m:ctrlPr>
                            <a:rPr lang="en-US" altLang="zh-CN" sz="2400" i="1" dirty="0">
                              <a:solidFill>
                                <a:prstClr val="black"/>
                              </a:solidFill>
                              <a:latin typeface="Cambria Math" panose="02040503050406030204" pitchFamily="18" charset="0"/>
                              <a:ea typeface="微软雅黑" panose="020B0503020204020204" pitchFamily="34" charset="-122"/>
                            </a:rPr>
                          </m:ctrlPr>
                        </m:accPr>
                        <m:e>
                          <m:r>
                            <m:rPr>
                              <m:sty m:val="p"/>
                            </m:rPr>
                            <a:rPr lang="en-US" altLang="zh-CN" sz="2400" i="1" dirty="0" smtClean="0">
                              <a:solidFill>
                                <a:prstClr val="black"/>
                              </a:solidFill>
                              <a:latin typeface="Cambria Math" panose="02040503050406030204" pitchFamily="18" charset="0"/>
                              <a:ea typeface="微软雅黑" panose="020B0503020204020204" pitchFamily="34" charset="-122"/>
                            </a:rPr>
                            <m:t>RD</m:t>
                          </m:r>
                        </m:e>
                      </m:acc>
                    </m:oMath>
                  </a14:m>
                  <a:r>
                    <a:rPr lang="en-US" altLang="zh-CN" sz="2200" b="0" kern="0" dirty="0">
                      <a:solidFill>
                        <a:srgbClr val="000000"/>
                      </a:solidFill>
                      <a:latin typeface="微软雅黑" panose="020B0503020204020204" pitchFamily="34" charset="-122"/>
                      <a:ea typeface="微软雅黑" panose="020B0503020204020204" pitchFamily="34" charset="-122"/>
                    </a:rPr>
                    <a:t>:    </a:t>
                  </a:r>
                  <a:r>
                    <a:rPr lang="zh-CN" altLang="en-US" sz="2200" b="0" kern="0" dirty="0">
                      <a:solidFill>
                        <a:srgbClr val="000000"/>
                      </a:solidFill>
                      <a:latin typeface="微软雅黑" panose="020B0503020204020204" pitchFamily="34" charset="-122"/>
                      <a:ea typeface="微软雅黑" panose="020B0503020204020204" pitchFamily="34" charset="-122"/>
                    </a:rPr>
                    <a:t>读外设控制信号输出端</a:t>
                  </a:r>
                </a:p>
              </p:txBody>
            </p:sp>
          </mc:Choice>
          <mc:Fallback xmlns="">
            <p:sp>
              <p:nvSpPr>
                <p:cNvPr id="42" name="Rectangle 5"/>
                <p:cNvSpPr>
                  <a:spLocks noRot="1" noChangeAspect="1" noMove="1" noResize="1" noEditPoints="1" noAdjustHandles="1" noChangeArrowheads="1" noChangeShapeType="1" noTextEdit="1"/>
                </p:cNvSpPr>
                <p:nvPr/>
              </p:nvSpPr>
              <p:spPr bwMode="auto">
                <a:xfrm>
                  <a:off x="2408389" y="6066807"/>
                  <a:ext cx="5838824" cy="518094"/>
                </a:xfrm>
                <a:prstGeom prst="rect">
                  <a:avLst/>
                </a:prstGeom>
                <a:blipFill rotWithShape="1">
                  <a:blip r:embed="rId3"/>
                </a:blipFill>
                <a:ln w="9525">
                  <a:solidFill>
                    <a:srgbClr val="000000"/>
                  </a:solidFill>
                  <a:miter lim="800000"/>
                </a:ln>
                <a:effectLst/>
              </p:spPr>
              <p:txBody>
                <a:bodyPr/>
                <a:lstStyle/>
                <a:p>
                  <a:r>
                    <a:rPr lang="zh-CN" altLang="en-US">
                      <a:noFill/>
                    </a:rPr>
                    <a:t> </a:t>
                  </a:r>
                </a:p>
              </p:txBody>
            </p:sp>
          </mc:Fallback>
        </mc:AlternateContent>
        <p:sp>
          <p:nvSpPr>
            <p:cNvPr id="43" name="Rectangle 6"/>
            <p:cNvSpPr>
              <a:spLocks noChangeArrowheads="1"/>
            </p:cNvSpPr>
            <p:nvPr/>
          </p:nvSpPr>
          <p:spPr bwMode="auto">
            <a:xfrm>
              <a:off x="895501" y="6066807"/>
              <a:ext cx="1512888" cy="518094"/>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200" b="0" kern="0">
                  <a:solidFill>
                    <a:srgbClr val="000000"/>
                  </a:solidFill>
                  <a:latin typeface="微软雅黑" panose="020B0503020204020204" pitchFamily="34" charset="-122"/>
                  <a:ea typeface="微软雅黑" panose="020B0503020204020204" pitchFamily="34" charset="-122"/>
                </a:rPr>
                <a:t>P3.7</a:t>
              </a:r>
            </a:p>
          </p:txBody>
        </p:sp>
        <mc:AlternateContent xmlns:mc="http://schemas.openxmlformats.org/markup-compatibility/2006" xmlns:a14="http://schemas.microsoft.com/office/drawing/2010/main">
          <mc:Choice Requires="a14">
            <p:sp>
              <p:nvSpPr>
                <p:cNvPr id="44" name="Rectangle 7"/>
                <p:cNvSpPr>
                  <a:spLocks noChangeArrowheads="1"/>
                </p:cNvSpPr>
                <p:nvPr/>
              </p:nvSpPr>
              <p:spPr bwMode="auto">
                <a:xfrm>
                  <a:off x="2408389" y="5550422"/>
                  <a:ext cx="5838824" cy="516385"/>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14:m>
                    <m:oMath xmlns:m="http://schemas.openxmlformats.org/officeDocument/2006/math">
                      <m:acc>
                        <m:accPr>
                          <m:chr m:val="̅"/>
                          <m:ctrlPr>
                            <a:rPr lang="en-US" altLang="zh-CN" sz="2400" i="1" dirty="0" smtClean="0">
                              <a:solidFill>
                                <a:prstClr val="black"/>
                              </a:solidFill>
                              <a:latin typeface="Cambria Math" panose="02040503050406030204" pitchFamily="18" charset="0"/>
                              <a:ea typeface="微软雅黑" panose="020B0503020204020204" pitchFamily="34" charset="-122"/>
                            </a:rPr>
                          </m:ctrlPr>
                        </m:accPr>
                        <m:e>
                          <m:r>
                            <m:rPr>
                              <m:sty m:val="p"/>
                            </m:rPr>
                            <a:rPr lang="en-US" altLang="zh-CN" sz="2400" i="1" dirty="0" smtClean="0">
                              <a:solidFill>
                                <a:prstClr val="black"/>
                              </a:solidFill>
                              <a:latin typeface="Cambria Math" panose="02040503050406030204" pitchFamily="18" charset="0"/>
                              <a:ea typeface="微软雅黑" panose="020B0503020204020204" pitchFamily="34" charset="-122"/>
                            </a:rPr>
                            <m:t>W</m:t>
                          </m:r>
                          <m:r>
                            <m:rPr>
                              <m:sty m:val="p"/>
                            </m:rPr>
                            <a:rPr lang="en-US" altLang="zh-CN" sz="2400" i="1" dirty="0">
                              <a:solidFill>
                                <a:prstClr val="black"/>
                              </a:solidFill>
                              <a:latin typeface="Cambria Math" panose="02040503050406030204" pitchFamily="18" charset="0"/>
                              <a:ea typeface="微软雅黑" panose="020B0503020204020204" pitchFamily="34" charset="-122"/>
                            </a:rPr>
                            <m:t>R</m:t>
                          </m:r>
                        </m:e>
                      </m:acc>
                    </m:oMath>
                  </a14:m>
                  <a:r>
                    <a:rPr lang="en-US" altLang="zh-CN" sz="2200" b="0" kern="0" dirty="0">
                      <a:solidFill>
                        <a:srgbClr val="000000"/>
                      </a:solidFill>
                      <a:latin typeface="微软雅黑" panose="020B0503020204020204" pitchFamily="34" charset="-122"/>
                      <a:ea typeface="微软雅黑" panose="020B0503020204020204" pitchFamily="34" charset="-122"/>
                    </a:rPr>
                    <a:t>:    </a:t>
                  </a:r>
                  <a:r>
                    <a:rPr lang="zh-CN" altLang="en-US" sz="2200" b="0" kern="0" dirty="0">
                      <a:solidFill>
                        <a:srgbClr val="000000"/>
                      </a:solidFill>
                      <a:latin typeface="微软雅黑" panose="020B0503020204020204" pitchFamily="34" charset="-122"/>
                      <a:ea typeface="微软雅黑" panose="020B0503020204020204" pitchFamily="34" charset="-122"/>
                    </a:rPr>
                    <a:t>写外设控制信号输出端</a:t>
                  </a:r>
                </a:p>
              </p:txBody>
            </p:sp>
          </mc:Choice>
          <mc:Fallback xmlns="">
            <p:sp>
              <p:nvSpPr>
                <p:cNvPr id="44" name="Rectangle 7"/>
                <p:cNvSpPr>
                  <a:spLocks noRot="1" noChangeAspect="1" noMove="1" noResize="1" noEditPoints="1" noAdjustHandles="1" noChangeArrowheads="1" noChangeShapeType="1" noTextEdit="1"/>
                </p:cNvSpPr>
                <p:nvPr/>
              </p:nvSpPr>
              <p:spPr bwMode="auto">
                <a:xfrm>
                  <a:off x="2408389" y="5550422"/>
                  <a:ext cx="5838824" cy="516385"/>
                </a:xfrm>
                <a:prstGeom prst="rect">
                  <a:avLst/>
                </a:prstGeom>
                <a:blipFill rotWithShape="1">
                  <a:blip r:embed="rId4"/>
                </a:blipFill>
                <a:ln w="9525">
                  <a:solidFill>
                    <a:srgbClr val="000000"/>
                  </a:solidFill>
                  <a:miter lim="800000"/>
                </a:ln>
                <a:effectLst/>
              </p:spPr>
              <p:txBody>
                <a:bodyPr/>
                <a:lstStyle/>
                <a:p>
                  <a:r>
                    <a:rPr lang="zh-CN" altLang="en-US">
                      <a:noFill/>
                    </a:rPr>
                    <a:t> </a:t>
                  </a:r>
                </a:p>
              </p:txBody>
            </p:sp>
          </mc:Fallback>
        </mc:AlternateContent>
        <p:sp>
          <p:nvSpPr>
            <p:cNvPr id="45" name="Rectangle 8"/>
            <p:cNvSpPr>
              <a:spLocks noChangeArrowheads="1"/>
            </p:cNvSpPr>
            <p:nvPr/>
          </p:nvSpPr>
          <p:spPr bwMode="auto">
            <a:xfrm>
              <a:off x="895501" y="5550422"/>
              <a:ext cx="1512888" cy="516385"/>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200" b="0" kern="0">
                  <a:solidFill>
                    <a:srgbClr val="000000"/>
                  </a:solidFill>
                  <a:latin typeface="微软雅黑" panose="020B0503020204020204" pitchFamily="34" charset="-122"/>
                  <a:ea typeface="微软雅黑" panose="020B0503020204020204" pitchFamily="34" charset="-122"/>
                </a:rPr>
                <a:t>P3.6</a:t>
              </a:r>
            </a:p>
          </p:txBody>
        </p:sp>
        <p:sp>
          <p:nvSpPr>
            <p:cNvPr id="46" name="Rectangle 9"/>
            <p:cNvSpPr>
              <a:spLocks noChangeArrowheads="1"/>
            </p:cNvSpPr>
            <p:nvPr/>
          </p:nvSpPr>
          <p:spPr bwMode="auto">
            <a:xfrm>
              <a:off x="2408389" y="5032326"/>
              <a:ext cx="5838824" cy="518096"/>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200" b="0" kern="0">
                  <a:solidFill>
                    <a:srgbClr val="000000"/>
                  </a:solidFill>
                  <a:latin typeface="微软雅黑" panose="020B0503020204020204" pitchFamily="34" charset="-122"/>
                  <a:ea typeface="微软雅黑" panose="020B0503020204020204" pitchFamily="34" charset="-122"/>
                </a:rPr>
                <a:t>T1:    </a:t>
              </a:r>
              <a:r>
                <a:rPr lang="zh-CN" altLang="en-US" sz="2200" b="0" kern="0">
                  <a:solidFill>
                    <a:srgbClr val="000000"/>
                  </a:solidFill>
                  <a:latin typeface="微软雅黑" panose="020B0503020204020204" pitchFamily="34" charset="-122"/>
                  <a:ea typeface="微软雅黑" panose="020B0503020204020204" pitchFamily="34" charset="-122"/>
                </a:rPr>
                <a:t>外部计数脉冲输入端 </a:t>
              </a:r>
              <a:r>
                <a:rPr lang="en-US" altLang="zh-CN" sz="2200" b="0" kern="0">
                  <a:solidFill>
                    <a:srgbClr val="000000"/>
                  </a:solidFill>
                  <a:latin typeface="微软雅黑" panose="020B0503020204020204" pitchFamily="34" charset="-122"/>
                  <a:ea typeface="微软雅黑" panose="020B0503020204020204" pitchFamily="34" charset="-122"/>
                </a:rPr>
                <a:t>1</a:t>
              </a:r>
            </a:p>
          </p:txBody>
        </p:sp>
        <p:sp>
          <p:nvSpPr>
            <p:cNvPr id="47" name="Rectangle 10"/>
            <p:cNvSpPr>
              <a:spLocks noChangeArrowheads="1"/>
            </p:cNvSpPr>
            <p:nvPr/>
          </p:nvSpPr>
          <p:spPr bwMode="auto">
            <a:xfrm>
              <a:off x="895501" y="5032326"/>
              <a:ext cx="1512888" cy="518096"/>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200" b="0" kern="0">
                  <a:solidFill>
                    <a:srgbClr val="000000"/>
                  </a:solidFill>
                  <a:latin typeface="微软雅黑" panose="020B0503020204020204" pitchFamily="34" charset="-122"/>
                  <a:ea typeface="微软雅黑" panose="020B0503020204020204" pitchFamily="34" charset="-122"/>
                </a:rPr>
                <a:t>P3.5</a:t>
              </a:r>
            </a:p>
          </p:txBody>
        </p:sp>
        <p:sp>
          <p:nvSpPr>
            <p:cNvPr id="48" name="Rectangle 11"/>
            <p:cNvSpPr>
              <a:spLocks noChangeArrowheads="1"/>
            </p:cNvSpPr>
            <p:nvPr/>
          </p:nvSpPr>
          <p:spPr bwMode="auto">
            <a:xfrm>
              <a:off x="2408389" y="4514232"/>
              <a:ext cx="5838824" cy="518094"/>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200" b="0" kern="0">
                  <a:solidFill>
                    <a:srgbClr val="000000"/>
                  </a:solidFill>
                  <a:latin typeface="微软雅黑" panose="020B0503020204020204" pitchFamily="34" charset="-122"/>
                  <a:ea typeface="微软雅黑" panose="020B0503020204020204" pitchFamily="34" charset="-122"/>
                </a:rPr>
                <a:t>T0:    </a:t>
              </a:r>
              <a:r>
                <a:rPr lang="zh-CN" altLang="en-US" sz="2200" b="0" kern="0">
                  <a:solidFill>
                    <a:srgbClr val="000000"/>
                  </a:solidFill>
                  <a:latin typeface="微软雅黑" panose="020B0503020204020204" pitchFamily="34" charset="-122"/>
                  <a:ea typeface="微软雅黑" panose="020B0503020204020204" pitchFamily="34" charset="-122"/>
                </a:rPr>
                <a:t>外部计数脉冲输入端 </a:t>
              </a:r>
              <a:r>
                <a:rPr lang="en-US" altLang="zh-CN" sz="2200" b="0" kern="0">
                  <a:solidFill>
                    <a:srgbClr val="000000"/>
                  </a:solidFill>
                  <a:latin typeface="微软雅黑" panose="020B0503020204020204" pitchFamily="34" charset="-122"/>
                  <a:ea typeface="微软雅黑" panose="020B0503020204020204" pitchFamily="34" charset="-122"/>
                </a:rPr>
                <a:t>0</a:t>
              </a:r>
            </a:p>
          </p:txBody>
        </p:sp>
        <p:sp>
          <p:nvSpPr>
            <p:cNvPr id="49" name="Rectangle 12"/>
            <p:cNvSpPr>
              <a:spLocks noChangeArrowheads="1"/>
            </p:cNvSpPr>
            <p:nvPr/>
          </p:nvSpPr>
          <p:spPr bwMode="auto">
            <a:xfrm>
              <a:off x="895501" y="4514232"/>
              <a:ext cx="1512888" cy="518094"/>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200" b="0" kern="0">
                  <a:solidFill>
                    <a:srgbClr val="000000"/>
                  </a:solidFill>
                  <a:latin typeface="微软雅黑" panose="020B0503020204020204" pitchFamily="34" charset="-122"/>
                  <a:ea typeface="微软雅黑" panose="020B0503020204020204" pitchFamily="34" charset="-122"/>
                </a:rPr>
                <a:t>P3.4</a:t>
              </a:r>
            </a:p>
          </p:txBody>
        </p:sp>
        <mc:AlternateContent xmlns:mc="http://schemas.openxmlformats.org/markup-compatibility/2006" xmlns:a14="http://schemas.microsoft.com/office/drawing/2010/main">
          <mc:Choice Requires="a14">
            <p:sp>
              <p:nvSpPr>
                <p:cNvPr id="50" name="Rectangle 13"/>
                <p:cNvSpPr>
                  <a:spLocks noChangeArrowheads="1"/>
                </p:cNvSpPr>
                <p:nvPr/>
              </p:nvSpPr>
              <p:spPr bwMode="auto">
                <a:xfrm>
                  <a:off x="2408389" y="3997847"/>
                  <a:ext cx="5838824" cy="516385"/>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14:m>
                    <m:oMath xmlns:m="http://schemas.openxmlformats.org/officeDocument/2006/math">
                      <m:acc>
                        <m:accPr>
                          <m:chr m:val="̅"/>
                          <m:ctrlPr>
                            <a:rPr lang="en-US" altLang="zh-CN" sz="2400" b="0" i="1" dirty="0">
                              <a:solidFill>
                                <a:prstClr val="black"/>
                              </a:solidFill>
                              <a:latin typeface="Cambria Math" panose="02040503050406030204" pitchFamily="18" charset="0"/>
                              <a:ea typeface="微软雅黑" panose="020B0503020204020204" pitchFamily="34" charset="-122"/>
                            </a:rPr>
                          </m:ctrlPr>
                        </m:accPr>
                        <m:e>
                          <m:r>
                            <m:rPr>
                              <m:sty m:val="p"/>
                            </m:rPr>
                            <a:rPr lang="en-US" altLang="zh-CN" sz="2400" b="0" i="1" dirty="0" smtClean="0">
                              <a:solidFill>
                                <a:prstClr val="black"/>
                              </a:solidFill>
                              <a:latin typeface="Cambria Math" panose="02040503050406030204" pitchFamily="18" charset="0"/>
                              <a:ea typeface="微软雅黑" panose="020B0503020204020204" pitchFamily="34" charset="-122"/>
                            </a:rPr>
                            <m:t>INT</m:t>
                          </m:r>
                          <m:r>
                            <a:rPr lang="en-US" altLang="zh-CN" sz="2400" b="0" i="1" dirty="0" smtClean="0">
                              <a:solidFill>
                                <a:prstClr val="black"/>
                              </a:solidFill>
                              <a:latin typeface="Cambria Math" panose="02040503050406030204" pitchFamily="18" charset="0"/>
                              <a:ea typeface="微软雅黑" panose="020B0503020204020204" pitchFamily="34" charset="-122"/>
                            </a:rPr>
                            <m:t>1</m:t>
                          </m:r>
                        </m:e>
                      </m:acc>
                    </m:oMath>
                  </a14:m>
                  <a:r>
                    <a:rPr lang="en-US" altLang="zh-CN" sz="2200" b="0" kern="0" dirty="0">
                      <a:solidFill>
                        <a:srgbClr val="000000"/>
                      </a:solidFill>
                      <a:latin typeface="微软雅黑" panose="020B0503020204020204" pitchFamily="34" charset="-122"/>
                      <a:ea typeface="微软雅黑" panose="020B0503020204020204" pitchFamily="34" charset="-122"/>
                    </a:rPr>
                    <a:t>:  </a:t>
                  </a:r>
                  <a:r>
                    <a:rPr lang="zh-CN" altLang="en-US" sz="2200" b="0" kern="0" dirty="0">
                      <a:solidFill>
                        <a:srgbClr val="000000"/>
                      </a:solidFill>
                      <a:latin typeface="微软雅黑" panose="020B0503020204020204" pitchFamily="34" charset="-122"/>
                      <a:ea typeface="微软雅黑" panose="020B0503020204020204" pitchFamily="34" charset="-122"/>
                    </a:rPr>
                    <a:t>外部中断申请输入端 </a:t>
                  </a:r>
                  <a:r>
                    <a:rPr lang="en-US" altLang="zh-CN" sz="2200" b="0" kern="0" dirty="0">
                      <a:solidFill>
                        <a:srgbClr val="000000"/>
                      </a:solidFill>
                      <a:latin typeface="微软雅黑" panose="020B0503020204020204" pitchFamily="34" charset="-122"/>
                      <a:ea typeface="微软雅黑" panose="020B0503020204020204" pitchFamily="34" charset="-122"/>
                    </a:rPr>
                    <a:t>1</a:t>
                  </a:r>
                </a:p>
              </p:txBody>
            </p:sp>
          </mc:Choice>
          <mc:Fallback xmlns="">
            <p:sp>
              <p:nvSpPr>
                <p:cNvPr id="50" name="Rectangle 13"/>
                <p:cNvSpPr>
                  <a:spLocks noRot="1" noChangeAspect="1" noMove="1" noResize="1" noEditPoints="1" noAdjustHandles="1" noChangeArrowheads="1" noChangeShapeType="1" noTextEdit="1"/>
                </p:cNvSpPr>
                <p:nvPr/>
              </p:nvSpPr>
              <p:spPr bwMode="auto">
                <a:xfrm>
                  <a:off x="2408389" y="3997847"/>
                  <a:ext cx="5838824" cy="516385"/>
                </a:xfrm>
                <a:prstGeom prst="rect">
                  <a:avLst/>
                </a:prstGeom>
                <a:blipFill rotWithShape="1">
                  <a:blip r:embed="rId5"/>
                </a:blipFill>
                <a:ln w="9525">
                  <a:solidFill>
                    <a:srgbClr val="000000"/>
                  </a:solidFill>
                  <a:miter lim="800000"/>
                </a:ln>
                <a:effectLst/>
              </p:spPr>
              <p:txBody>
                <a:bodyPr/>
                <a:lstStyle/>
                <a:p>
                  <a:r>
                    <a:rPr lang="zh-CN" altLang="en-US">
                      <a:noFill/>
                    </a:rPr>
                    <a:t> </a:t>
                  </a:r>
                </a:p>
              </p:txBody>
            </p:sp>
          </mc:Fallback>
        </mc:AlternateContent>
        <p:sp>
          <p:nvSpPr>
            <p:cNvPr id="51" name="Rectangle 14"/>
            <p:cNvSpPr>
              <a:spLocks noChangeArrowheads="1"/>
            </p:cNvSpPr>
            <p:nvPr/>
          </p:nvSpPr>
          <p:spPr bwMode="auto">
            <a:xfrm>
              <a:off x="895501" y="3997847"/>
              <a:ext cx="1512888" cy="516385"/>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200" b="0" kern="0">
                  <a:solidFill>
                    <a:srgbClr val="000000"/>
                  </a:solidFill>
                  <a:latin typeface="微软雅黑" panose="020B0503020204020204" pitchFamily="34" charset="-122"/>
                  <a:ea typeface="微软雅黑" panose="020B0503020204020204" pitchFamily="34" charset="-122"/>
                </a:rPr>
                <a:t>P3.3</a:t>
              </a:r>
            </a:p>
          </p:txBody>
        </p:sp>
        <mc:AlternateContent xmlns:mc="http://schemas.openxmlformats.org/markup-compatibility/2006" xmlns:a14="http://schemas.microsoft.com/office/drawing/2010/main">
          <mc:Choice Requires="a14">
            <p:sp>
              <p:nvSpPr>
                <p:cNvPr id="52" name="Rectangle 15"/>
                <p:cNvSpPr>
                  <a:spLocks noChangeArrowheads="1"/>
                </p:cNvSpPr>
                <p:nvPr/>
              </p:nvSpPr>
              <p:spPr bwMode="auto">
                <a:xfrm>
                  <a:off x="2408389" y="3479751"/>
                  <a:ext cx="5838824" cy="518096"/>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14:m>
                    <m:oMath xmlns:m="http://schemas.openxmlformats.org/officeDocument/2006/math">
                      <m:acc>
                        <m:accPr>
                          <m:chr m:val="̅"/>
                          <m:ctrlPr>
                            <a:rPr lang="en-US" altLang="zh-CN" sz="2400" b="0" i="1" dirty="0" smtClean="0">
                              <a:solidFill>
                                <a:prstClr val="black"/>
                              </a:solidFill>
                              <a:latin typeface="Cambria Math" panose="02040503050406030204" pitchFamily="18" charset="0"/>
                              <a:ea typeface="微软雅黑" panose="020B0503020204020204" pitchFamily="34" charset="-122"/>
                            </a:rPr>
                          </m:ctrlPr>
                        </m:accPr>
                        <m:e>
                          <m:r>
                            <m:rPr>
                              <m:sty m:val="p"/>
                            </m:rPr>
                            <a:rPr lang="en-US" altLang="zh-CN" sz="2400" b="0" i="1" dirty="0" smtClean="0">
                              <a:solidFill>
                                <a:prstClr val="black"/>
                              </a:solidFill>
                              <a:latin typeface="Cambria Math" panose="02040503050406030204" pitchFamily="18" charset="0"/>
                              <a:ea typeface="微软雅黑" panose="020B0503020204020204" pitchFamily="34" charset="-122"/>
                            </a:rPr>
                            <m:t>INT</m:t>
                          </m:r>
                          <m:r>
                            <a:rPr lang="en-US" altLang="zh-CN" sz="2400" b="0" i="1" dirty="0" smtClean="0">
                              <a:solidFill>
                                <a:prstClr val="black"/>
                              </a:solidFill>
                              <a:latin typeface="Cambria Math" panose="02040503050406030204" pitchFamily="18" charset="0"/>
                              <a:ea typeface="微软雅黑" panose="020B0503020204020204" pitchFamily="34" charset="-122"/>
                            </a:rPr>
                            <m:t>0</m:t>
                          </m:r>
                        </m:e>
                      </m:acc>
                    </m:oMath>
                  </a14:m>
                  <a:r>
                    <a:rPr lang="en-US" altLang="zh-CN" sz="2200" b="0" kern="0" dirty="0">
                      <a:solidFill>
                        <a:srgbClr val="000000"/>
                      </a:solidFill>
                      <a:latin typeface="微软雅黑" panose="020B0503020204020204" pitchFamily="34" charset="-122"/>
                      <a:ea typeface="微软雅黑" panose="020B0503020204020204" pitchFamily="34" charset="-122"/>
                    </a:rPr>
                    <a:t>:  </a:t>
                  </a:r>
                  <a:r>
                    <a:rPr lang="zh-CN" altLang="en-US" sz="2200" b="0" kern="0" dirty="0">
                      <a:solidFill>
                        <a:srgbClr val="000000"/>
                      </a:solidFill>
                      <a:latin typeface="微软雅黑" panose="020B0503020204020204" pitchFamily="34" charset="-122"/>
                      <a:ea typeface="微软雅黑" panose="020B0503020204020204" pitchFamily="34" charset="-122"/>
                    </a:rPr>
                    <a:t>外部中断申请输入端 </a:t>
                  </a:r>
                  <a:r>
                    <a:rPr lang="en-US" altLang="zh-CN" sz="2200" b="0" kern="0" dirty="0">
                      <a:solidFill>
                        <a:srgbClr val="000000"/>
                      </a:solidFill>
                      <a:latin typeface="微软雅黑" panose="020B0503020204020204" pitchFamily="34" charset="-122"/>
                      <a:ea typeface="微软雅黑" panose="020B0503020204020204" pitchFamily="34" charset="-122"/>
                    </a:rPr>
                    <a:t>0</a:t>
                  </a:r>
                </a:p>
              </p:txBody>
            </p:sp>
          </mc:Choice>
          <mc:Fallback xmlns="">
            <p:sp>
              <p:nvSpPr>
                <p:cNvPr id="52" name="Rectangle 15"/>
                <p:cNvSpPr>
                  <a:spLocks noRot="1" noChangeAspect="1" noMove="1" noResize="1" noEditPoints="1" noAdjustHandles="1" noChangeArrowheads="1" noChangeShapeType="1" noTextEdit="1"/>
                </p:cNvSpPr>
                <p:nvPr/>
              </p:nvSpPr>
              <p:spPr bwMode="auto">
                <a:xfrm>
                  <a:off x="2408389" y="3479751"/>
                  <a:ext cx="5838824" cy="518096"/>
                </a:xfrm>
                <a:prstGeom prst="rect">
                  <a:avLst/>
                </a:prstGeom>
                <a:blipFill rotWithShape="1">
                  <a:blip r:embed="rId6"/>
                </a:blipFill>
                <a:ln w="9525">
                  <a:solidFill>
                    <a:srgbClr val="000000"/>
                  </a:solidFill>
                  <a:miter lim="800000"/>
                </a:ln>
                <a:effectLst/>
              </p:spPr>
              <p:txBody>
                <a:bodyPr/>
                <a:lstStyle/>
                <a:p>
                  <a:r>
                    <a:rPr lang="zh-CN" altLang="en-US">
                      <a:noFill/>
                    </a:rPr>
                    <a:t> </a:t>
                  </a:r>
                </a:p>
              </p:txBody>
            </p:sp>
          </mc:Fallback>
        </mc:AlternateContent>
        <p:sp>
          <p:nvSpPr>
            <p:cNvPr id="53" name="Rectangle 16"/>
            <p:cNvSpPr>
              <a:spLocks noChangeArrowheads="1"/>
            </p:cNvSpPr>
            <p:nvPr/>
          </p:nvSpPr>
          <p:spPr bwMode="auto">
            <a:xfrm>
              <a:off x="895501" y="3479751"/>
              <a:ext cx="1512888" cy="518096"/>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200" b="0" kern="0">
                  <a:solidFill>
                    <a:srgbClr val="000000"/>
                  </a:solidFill>
                  <a:latin typeface="微软雅黑" panose="020B0503020204020204" pitchFamily="34" charset="-122"/>
                  <a:ea typeface="微软雅黑" panose="020B0503020204020204" pitchFamily="34" charset="-122"/>
                </a:rPr>
                <a:t>P3.2</a:t>
              </a:r>
            </a:p>
          </p:txBody>
        </p:sp>
        <p:sp>
          <p:nvSpPr>
            <p:cNvPr id="54" name="Rectangle 17"/>
            <p:cNvSpPr>
              <a:spLocks noChangeArrowheads="1"/>
            </p:cNvSpPr>
            <p:nvPr/>
          </p:nvSpPr>
          <p:spPr bwMode="auto">
            <a:xfrm>
              <a:off x="2408389" y="2961657"/>
              <a:ext cx="5838824" cy="518094"/>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200" b="0" kern="0" dirty="0">
                  <a:solidFill>
                    <a:srgbClr val="000000"/>
                  </a:solidFill>
                  <a:latin typeface="微软雅黑" panose="020B0503020204020204" pitchFamily="34" charset="-122"/>
                  <a:ea typeface="微软雅黑" panose="020B0503020204020204" pitchFamily="34" charset="-122"/>
                </a:rPr>
                <a:t>TXD:   </a:t>
              </a:r>
              <a:r>
                <a:rPr lang="zh-CN" altLang="zh-CN" sz="2200" b="0" kern="0" dirty="0">
                  <a:solidFill>
                    <a:srgbClr val="000000"/>
                  </a:solidFill>
                  <a:latin typeface="微软雅黑" panose="020B0503020204020204" pitchFamily="34" charset="-122"/>
                  <a:ea typeface="微软雅黑" panose="020B0503020204020204" pitchFamily="34" charset="-122"/>
                </a:rPr>
                <a:t>串行口发送数据输出端</a:t>
              </a:r>
              <a:endParaRPr lang="zh-CN" altLang="en-US" sz="2200" b="0" kern="0" dirty="0">
                <a:solidFill>
                  <a:srgbClr val="000000"/>
                </a:solidFill>
                <a:latin typeface="微软雅黑" panose="020B0503020204020204" pitchFamily="34" charset="-122"/>
                <a:ea typeface="微软雅黑" panose="020B0503020204020204" pitchFamily="34" charset="-122"/>
              </a:endParaRPr>
            </a:p>
          </p:txBody>
        </p:sp>
        <p:sp>
          <p:nvSpPr>
            <p:cNvPr id="55" name="Rectangle 18"/>
            <p:cNvSpPr>
              <a:spLocks noChangeArrowheads="1"/>
            </p:cNvSpPr>
            <p:nvPr/>
          </p:nvSpPr>
          <p:spPr bwMode="auto">
            <a:xfrm>
              <a:off x="895501" y="2961657"/>
              <a:ext cx="1512888" cy="518094"/>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200" b="0" kern="0">
                  <a:solidFill>
                    <a:srgbClr val="000000"/>
                  </a:solidFill>
                  <a:latin typeface="微软雅黑" panose="020B0503020204020204" pitchFamily="34" charset="-122"/>
                  <a:ea typeface="微软雅黑" panose="020B0503020204020204" pitchFamily="34" charset="-122"/>
                </a:rPr>
                <a:t>P3.1</a:t>
              </a:r>
            </a:p>
          </p:txBody>
        </p:sp>
        <p:sp>
          <p:nvSpPr>
            <p:cNvPr id="56" name="Rectangle 19"/>
            <p:cNvSpPr>
              <a:spLocks noChangeArrowheads="1"/>
            </p:cNvSpPr>
            <p:nvPr/>
          </p:nvSpPr>
          <p:spPr bwMode="auto">
            <a:xfrm>
              <a:off x="2408389" y="2445272"/>
              <a:ext cx="5838824" cy="516385"/>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200" b="0" kern="0" dirty="0">
                  <a:solidFill>
                    <a:srgbClr val="000000"/>
                  </a:solidFill>
                  <a:latin typeface="微软雅黑" panose="020B0503020204020204" pitchFamily="34" charset="-122"/>
                  <a:ea typeface="微软雅黑" panose="020B0503020204020204" pitchFamily="34" charset="-122"/>
                </a:rPr>
                <a:t>RXD:   </a:t>
              </a:r>
              <a:r>
                <a:rPr lang="zh-CN" altLang="en-US" sz="2200" b="0" kern="0" dirty="0">
                  <a:solidFill>
                    <a:srgbClr val="000000"/>
                  </a:solidFill>
                  <a:latin typeface="微软雅黑" panose="020B0503020204020204" pitchFamily="34" charset="-122"/>
                  <a:ea typeface="微软雅黑" panose="020B0503020204020204" pitchFamily="34" charset="-122"/>
                </a:rPr>
                <a:t>串行口接收数据输入端</a:t>
              </a:r>
            </a:p>
          </p:txBody>
        </p:sp>
        <p:sp>
          <p:nvSpPr>
            <p:cNvPr id="57" name="Rectangle 20"/>
            <p:cNvSpPr>
              <a:spLocks noChangeArrowheads="1"/>
            </p:cNvSpPr>
            <p:nvPr/>
          </p:nvSpPr>
          <p:spPr bwMode="auto">
            <a:xfrm>
              <a:off x="895501" y="2445272"/>
              <a:ext cx="1512888" cy="516385"/>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200" b="0" kern="0" dirty="0">
                  <a:solidFill>
                    <a:srgbClr val="000000"/>
                  </a:solidFill>
                  <a:latin typeface="微软雅黑" panose="020B0503020204020204" pitchFamily="34" charset="-122"/>
                  <a:ea typeface="微软雅黑" panose="020B0503020204020204" pitchFamily="34" charset="-122"/>
                </a:rPr>
                <a:t>P3.0</a:t>
              </a:r>
            </a:p>
          </p:txBody>
        </p:sp>
        <p:sp>
          <p:nvSpPr>
            <p:cNvPr id="58" name="Rectangle 21"/>
            <p:cNvSpPr>
              <a:spLocks noChangeArrowheads="1"/>
            </p:cNvSpPr>
            <p:nvPr/>
          </p:nvSpPr>
          <p:spPr bwMode="auto">
            <a:xfrm>
              <a:off x="2408389" y="1927176"/>
              <a:ext cx="5838824" cy="518096"/>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zh-CN" altLang="en-US" sz="2200" b="0" kern="0">
                  <a:solidFill>
                    <a:srgbClr val="000000"/>
                  </a:solidFill>
                  <a:latin typeface="微软雅黑" panose="020B0503020204020204" pitchFamily="34" charset="-122"/>
                  <a:ea typeface="微软雅黑" panose="020B0503020204020204" pitchFamily="34" charset="-122"/>
                </a:rPr>
                <a:t>第  二  功  能  </a:t>
              </a:r>
            </a:p>
          </p:txBody>
        </p:sp>
        <p:sp>
          <p:nvSpPr>
            <p:cNvPr id="59" name="Rectangle 22"/>
            <p:cNvSpPr>
              <a:spLocks noChangeArrowheads="1"/>
            </p:cNvSpPr>
            <p:nvPr/>
          </p:nvSpPr>
          <p:spPr bwMode="auto">
            <a:xfrm>
              <a:off x="895501" y="1927176"/>
              <a:ext cx="1512888" cy="518096"/>
            </a:xfrm>
            <a:prstGeom prst="rect">
              <a:avLst/>
            </a:prstGeom>
            <a:noFill/>
            <a:ln w="9525">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zh-CN" altLang="en-US" sz="2200" b="0" kern="0" dirty="0">
                  <a:solidFill>
                    <a:srgbClr val="000000"/>
                  </a:solidFill>
                  <a:latin typeface="微软雅黑" panose="020B0503020204020204" pitchFamily="34" charset="-122"/>
                  <a:ea typeface="微软雅黑" panose="020B0503020204020204" pitchFamily="34" charset="-122"/>
                </a:rPr>
                <a:t>引 脚</a:t>
              </a:r>
            </a:p>
          </p:txBody>
        </p:sp>
        <p:sp>
          <p:nvSpPr>
            <p:cNvPr id="60" name="Line 23"/>
            <p:cNvSpPr>
              <a:spLocks noChangeShapeType="1"/>
            </p:cNvSpPr>
            <p:nvPr/>
          </p:nvSpPr>
          <p:spPr bwMode="auto">
            <a:xfrm>
              <a:off x="895501" y="1927176"/>
              <a:ext cx="7351712" cy="0"/>
            </a:xfrm>
            <a:prstGeom prst="line">
              <a:avLst/>
            </a:prstGeom>
            <a:noFill/>
            <a:ln w="28575" cap="sq">
              <a:solidFill>
                <a:srgbClr val="000000"/>
              </a:solidFill>
              <a:miter lim="800000"/>
            </a:ln>
            <a:effectLst/>
          </p:spPr>
          <p:txBody>
            <a:bodyPr wrap="none"/>
            <a:lstStyle/>
            <a:p>
              <a:pPr>
                <a:defRPr/>
              </a:pPr>
              <a:endParaRPr lang="zh-CN" altLang="en-US" sz="2200" kern="0">
                <a:solidFill>
                  <a:srgbClr val="FFFFFF"/>
                </a:solidFill>
                <a:latin typeface="微软雅黑" panose="020B0503020204020204" pitchFamily="34" charset="-122"/>
                <a:ea typeface="微软雅黑" panose="020B0503020204020204" pitchFamily="34" charset="-122"/>
              </a:endParaRPr>
            </a:p>
          </p:txBody>
        </p:sp>
        <p:sp>
          <p:nvSpPr>
            <p:cNvPr id="61" name="Line 24"/>
            <p:cNvSpPr>
              <a:spLocks noChangeShapeType="1"/>
            </p:cNvSpPr>
            <p:nvPr/>
          </p:nvSpPr>
          <p:spPr bwMode="auto">
            <a:xfrm>
              <a:off x="895501" y="2445272"/>
              <a:ext cx="7351712" cy="0"/>
            </a:xfrm>
            <a:prstGeom prst="line">
              <a:avLst/>
            </a:prstGeom>
            <a:noFill/>
            <a:ln w="12700">
              <a:solidFill>
                <a:srgbClr val="000000"/>
              </a:solidFill>
              <a:miter lim="800000"/>
            </a:ln>
            <a:effectLst/>
          </p:spPr>
          <p:txBody>
            <a:bodyPr wrap="none"/>
            <a:lstStyle/>
            <a:p>
              <a:pPr>
                <a:defRPr/>
              </a:pPr>
              <a:endParaRPr lang="zh-CN" altLang="en-US" sz="2200" kern="0">
                <a:solidFill>
                  <a:srgbClr val="FFFFFF"/>
                </a:solidFill>
                <a:latin typeface="微软雅黑" panose="020B0503020204020204" pitchFamily="34" charset="-122"/>
                <a:ea typeface="微软雅黑" panose="020B0503020204020204" pitchFamily="34" charset="-122"/>
              </a:endParaRPr>
            </a:p>
          </p:txBody>
        </p:sp>
        <p:sp>
          <p:nvSpPr>
            <p:cNvPr id="62" name="Line 25"/>
            <p:cNvSpPr>
              <a:spLocks noChangeShapeType="1"/>
            </p:cNvSpPr>
            <p:nvPr/>
          </p:nvSpPr>
          <p:spPr bwMode="auto">
            <a:xfrm>
              <a:off x="895501" y="2961657"/>
              <a:ext cx="7351712" cy="0"/>
            </a:xfrm>
            <a:prstGeom prst="line">
              <a:avLst/>
            </a:prstGeom>
            <a:noFill/>
            <a:ln w="12700">
              <a:solidFill>
                <a:srgbClr val="000000"/>
              </a:solidFill>
              <a:miter lim="800000"/>
            </a:ln>
            <a:effectLst/>
          </p:spPr>
          <p:txBody>
            <a:bodyPr wrap="none"/>
            <a:lstStyle/>
            <a:p>
              <a:pPr>
                <a:defRPr/>
              </a:pPr>
              <a:endParaRPr lang="zh-CN" altLang="en-US" sz="2200" kern="0">
                <a:solidFill>
                  <a:srgbClr val="FFFFFF"/>
                </a:solidFill>
                <a:latin typeface="微软雅黑" panose="020B0503020204020204" pitchFamily="34" charset="-122"/>
                <a:ea typeface="微软雅黑" panose="020B0503020204020204" pitchFamily="34" charset="-122"/>
              </a:endParaRPr>
            </a:p>
          </p:txBody>
        </p:sp>
        <p:sp>
          <p:nvSpPr>
            <p:cNvPr id="63" name="Line 26"/>
            <p:cNvSpPr>
              <a:spLocks noChangeShapeType="1"/>
            </p:cNvSpPr>
            <p:nvPr/>
          </p:nvSpPr>
          <p:spPr bwMode="auto">
            <a:xfrm>
              <a:off x="895501" y="3479751"/>
              <a:ext cx="7351712" cy="0"/>
            </a:xfrm>
            <a:prstGeom prst="line">
              <a:avLst/>
            </a:prstGeom>
            <a:noFill/>
            <a:ln w="12700">
              <a:solidFill>
                <a:srgbClr val="000000"/>
              </a:solidFill>
              <a:miter lim="800000"/>
            </a:ln>
            <a:effectLst/>
          </p:spPr>
          <p:txBody>
            <a:bodyPr wrap="none"/>
            <a:lstStyle/>
            <a:p>
              <a:pPr>
                <a:defRPr/>
              </a:pPr>
              <a:endParaRPr lang="zh-CN" altLang="en-US" sz="2200" kern="0">
                <a:solidFill>
                  <a:srgbClr val="FFFFFF"/>
                </a:solidFill>
                <a:latin typeface="微软雅黑" panose="020B0503020204020204" pitchFamily="34" charset="-122"/>
                <a:ea typeface="微软雅黑" panose="020B0503020204020204" pitchFamily="34" charset="-122"/>
              </a:endParaRPr>
            </a:p>
          </p:txBody>
        </p:sp>
        <p:sp>
          <p:nvSpPr>
            <p:cNvPr id="64" name="Line 27"/>
            <p:cNvSpPr>
              <a:spLocks noChangeShapeType="1"/>
            </p:cNvSpPr>
            <p:nvPr/>
          </p:nvSpPr>
          <p:spPr bwMode="auto">
            <a:xfrm>
              <a:off x="895501" y="3997847"/>
              <a:ext cx="7351712" cy="0"/>
            </a:xfrm>
            <a:prstGeom prst="line">
              <a:avLst/>
            </a:prstGeom>
            <a:noFill/>
            <a:ln w="12700">
              <a:solidFill>
                <a:srgbClr val="000000"/>
              </a:solidFill>
              <a:miter lim="800000"/>
            </a:ln>
            <a:effectLst/>
          </p:spPr>
          <p:txBody>
            <a:bodyPr wrap="none"/>
            <a:lstStyle/>
            <a:p>
              <a:pPr>
                <a:defRPr/>
              </a:pPr>
              <a:endParaRPr lang="zh-CN" altLang="en-US" sz="2200" kern="0">
                <a:solidFill>
                  <a:srgbClr val="FFFFFF"/>
                </a:solidFill>
                <a:latin typeface="微软雅黑" panose="020B0503020204020204" pitchFamily="34" charset="-122"/>
                <a:ea typeface="微软雅黑" panose="020B0503020204020204" pitchFamily="34" charset="-122"/>
              </a:endParaRPr>
            </a:p>
          </p:txBody>
        </p:sp>
        <p:sp>
          <p:nvSpPr>
            <p:cNvPr id="65" name="Line 28"/>
            <p:cNvSpPr>
              <a:spLocks noChangeShapeType="1"/>
            </p:cNvSpPr>
            <p:nvPr/>
          </p:nvSpPr>
          <p:spPr bwMode="auto">
            <a:xfrm>
              <a:off x="895501" y="4514232"/>
              <a:ext cx="7351712" cy="0"/>
            </a:xfrm>
            <a:prstGeom prst="line">
              <a:avLst/>
            </a:prstGeom>
            <a:noFill/>
            <a:ln w="12700">
              <a:solidFill>
                <a:srgbClr val="000000"/>
              </a:solidFill>
              <a:miter lim="800000"/>
            </a:ln>
            <a:effectLst/>
          </p:spPr>
          <p:txBody>
            <a:bodyPr wrap="none"/>
            <a:lstStyle/>
            <a:p>
              <a:pPr>
                <a:defRPr/>
              </a:pPr>
              <a:endParaRPr lang="zh-CN" altLang="en-US" sz="2200" kern="0">
                <a:solidFill>
                  <a:srgbClr val="FFFFFF"/>
                </a:solidFill>
                <a:latin typeface="微软雅黑" panose="020B0503020204020204" pitchFamily="34" charset="-122"/>
                <a:ea typeface="微软雅黑" panose="020B0503020204020204" pitchFamily="34" charset="-122"/>
              </a:endParaRPr>
            </a:p>
          </p:txBody>
        </p:sp>
        <p:sp>
          <p:nvSpPr>
            <p:cNvPr id="66" name="Line 29"/>
            <p:cNvSpPr>
              <a:spLocks noChangeShapeType="1"/>
            </p:cNvSpPr>
            <p:nvPr/>
          </p:nvSpPr>
          <p:spPr bwMode="auto">
            <a:xfrm>
              <a:off x="895501" y="5032326"/>
              <a:ext cx="7351712" cy="0"/>
            </a:xfrm>
            <a:prstGeom prst="line">
              <a:avLst/>
            </a:prstGeom>
            <a:noFill/>
            <a:ln w="12700">
              <a:solidFill>
                <a:srgbClr val="000000"/>
              </a:solidFill>
              <a:miter lim="800000"/>
            </a:ln>
            <a:effectLst/>
          </p:spPr>
          <p:txBody>
            <a:bodyPr wrap="none"/>
            <a:lstStyle/>
            <a:p>
              <a:pPr>
                <a:defRPr/>
              </a:pPr>
              <a:endParaRPr lang="zh-CN" altLang="en-US" sz="2200" kern="0">
                <a:solidFill>
                  <a:srgbClr val="FFFFFF"/>
                </a:solidFill>
                <a:latin typeface="微软雅黑" panose="020B0503020204020204" pitchFamily="34" charset="-122"/>
                <a:ea typeface="微软雅黑" panose="020B0503020204020204" pitchFamily="34" charset="-122"/>
              </a:endParaRPr>
            </a:p>
          </p:txBody>
        </p:sp>
        <p:sp>
          <p:nvSpPr>
            <p:cNvPr id="67" name="Line 30"/>
            <p:cNvSpPr>
              <a:spLocks noChangeShapeType="1"/>
            </p:cNvSpPr>
            <p:nvPr/>
          </p:nvSpPr>
          <p:spPr bwMode="auto">
            <a:xfrm>
              <a:off x="895501" y="5550422"/>
              <a:ext cx="7351712" cy="0"/>
            </a:xfrm>
            <a:prstGeom prst="line">
              <a:avLst/>
            </a:prstGeom>
            <a:noFill/>
            <a:ln w="12700">
              <a:solidFill>
                <a:srgbClr val="000000"/>
              </a:solidFill>
              <a:miter lim="800000"/>
            </a:ln>
            <a:effectLst/>
          </p:spPr>
          <p:txBody>
            <a:bodyPr wrap="none"/>
            <a:lstStyle/>
            <a:p>
              <a:pPr>
                <a:defRPr/>
              </a:pPr>
              <a:endParaRPr lang="zh-CN" altLang="en-US" sz="2200" kern="0">
                <a:solidFill>
                  <a:srgbClr val="FFFFFF"/>
                </a:solidFill>
                <a:latin typeface="微软雅黑" panose="020B0503020204020204" pitchFamily="34" charset="-122"/>
                <a:ea typeface="微软雅黑" panose="020B0503020204020204" pitchFamily="34" charset="-122"/>
              </a:endParaRPr>
            </a:p>
          </p:txBody>
        </p:sp>
        <p:sp>
          <p:nvSpPr>
            <p:cNvPr id="68" name="Line 31"/>
            <p:cNvSpPr>
              <a:spLocks noChangeShapeType="1"/>
            </p:cNvSpPr>
            <p:nvPr/>
          </p:nvSpPr>
          <p:spPr bwMode="auto">
            <a:xfrm>
              <a:off x="895501" y="6066807"/>
              <a:ext cx="7351712" cy="0"/>
            </a:xfrm>
            <a:prstGeom prst="line">
              <a:avLst/>
            </a:prstGeom>
            <a:noFill/>
            <a:ln w="12700">
              <a:solidFill>
                <a:srgbClr val="000000"/>
              </a:solidFill>
              <a:miter lim="800000"/>
            </a:ln>
            <a:effectLst/>
          </p:spPr>
          <p:txBody>
            <a:bodyPr wrap="none"/>
            <a:lstStyle/>
            <a:p>
              <a:pPr>
                <a:defRPr/>
              </a:pPr>
              <a:endParaRPr lang="zh-CN" altLang="en-US" sz="2200" kern="0">
                <a:solidFill>
                  <a:srgbClr val="FFFFFF"/>
                </a:solidFill>
                <a:latin typeface="微软雅黑" panose="020B0503020204020204" pitchFamily="34" charset="-122"/>
                <a:ea typeface="微软雅黑" panose="020B0503020204020204" pitchFamily="34" charset="-122"/>
              </a:endParaRPr>
            </a:p>
          </p:txBody>
        </p:sp>
        <p:sp>
          <p:nvSpPr>
            <p:cNvPr id="69" name="Line 32"/>
            <p:cNvSpPr>
              <a:spLocks noChangeShapeType="1"/>
            </p:cNvSpPr>
            <p:nvPr/>
          </p:nvSpPr>
          <p:spPr bwMode="auto">
            <a:xfrm>
              <a:off x="895501" y="6584901"/>
              <a:ext cx="7351712" cy="0"/>
            </a:xfrm>
            <a:prstGeom prst="line">
              <a:avLst/>
            </a:prstGeom>
            <a:noFill/>
            <a:ln w="28575" cap="sq">
              <a:solidFill>
                <a:srgbClr val="000000"/>
              </a:solidFill>
              <a:miter lim="800000"/>
            </a:ln>
            <a:effectLst/>
          </p:spPr>
          <p:txBody>
            <a:bodyPr wrap="none"/>
            <a:lstStyle/>
            <a:p>
              <a:pPr>
                <a:defRPr/>
              </a:pPr>
              <a:endParaRPr lang="zh-CN" altLang="en-US" sz="2200" kern="0">
                <a:solidFill>
                  <a:srgbClr val="FFFFFF"/>
                </a:solidFill>
                <a:latin typeface="微软雅黑" panose="020B0503020204020204" pitchFamily="34" charset="-122"/>
                <a:ea typeface="微软雅黑" panose="020B0503020204020204" pitchFamily="34" charset="-122"/>
              </a:endParaRPr>
            </a:p>
          </p:txBody>
        </p:sp>
        <p:sp>
          <p:nvSpPr>
            <p:cNvPr id="70" name="Line 33"/>
            <p:cNvSpPr>
              <a:spLocks noChangeShapeType="1"/>
            </p:cNvSpPr>
            <p:nvPr/>
          </p:nvSpPr>
          <p:spPr bwMode="auto">
            <a:xfrm>
              <a:off x="895501" y="1927176"/>
              <a:ext cx="0" cy="4657725"/>
            </a:xfrm>
            <a:prstGeom prst="line">
              <a:avLst/>
            </a:prstGeom>
            <a:noFill/>
            <a:ln w="28575" cap="sq">
              <a:solidFill>
                <a:srgbClr val="000000"/>
              </a:solidFill>
              <a:miter lim="800000"/>
            </a:ln>
            <a:effectLst/>
          </p:spPr>
          <p:txBody>
            <a:bodyPr wrap="none"/>
            <a:lstStyle/>
            <a:p>
              <a:pPr>
                <a:defRPr/>
              </a:pPr>
              <a:endParaRPr lang="zh-CN" altLang="en-US" sz="2200" kern="0">
                <a:solidFill>
                  <a:srgbClr val="FFFFFF"/>
                </a:solidFill>
                <a:latin typeface="微软雅黑" panose="020B0503020204020204" pitchFamily="34" charset="-122"/>
                <a:ea typeface="微软雅黑" panose="020B0503020204020204" pitchFamily="34" charset="-122"/>
              </a:endParaRPr>
            </a:p>
          </p:txBody>
        </p:sp>
        <p:sp>
          <p:nvSpPr>
            <p:cNvPr id="71" name="Line 34"/>
            <p:cNvSpPr>
              <a:spLocks noChangeShapeType="1"/>
            </p:cNvSpPr>
            <p:nvPr/>
          </p:nvSpPr>
          <p:spPr bwMode="auto">
            <a:xfrm>
              <a:off x="2408389" y="1927176"/>
              <a:ext cx="0" cy="4657725"/>
            </a:xfrm>
            <a:prstGeom prst="line">
              <a:avLst/>
            </a:prstGeom>
            <a:noFill/>
            <a:ln w="12700">
              <a:solidFill>
                <a:srgbClr val="000000"/>
              </a:solidFill>
              <a:miter lim="800000"/>
            </a:ln>
            <a:effectLst/>
          </p:spPr>
          <p:txBody>
            <a:bodyPr wrap="none"/>
            <a:lstStyle/>
            <a:p>
              <a:pPr>
                <a:defRPr/>
              </a:pPr>
              <a:endParaRPr lang="zh-CN" altLang="en-US" sz="2200" kern="0">
                <a:solidFill>
                  <a:srgbClr val="FFFFFF"/>
                </a:solidFill>
                <a:latin typeface="微软雅黑" panose="020B0503020204020204" pitchFamily="34" charset="-122"/>
                <a:ea typeface="微软雅黑" panose="020B0503020204020204" pitchFamily="34" charset="-122"/>
              </a:endParaRPr>
            </a:p>
          </p:txBody>
        </p:sp>
        <p:sp>
          <p:nvSpPr>
            <p:cNvPr id="72" name="Line 35"/>
            <p:cNvSpPr>
              <a:spLocks noChangeShapeType="1"/>
            </p:cNvSpPr>
            <p:nvPr/>
          </p:nvSpPr>
          <p:spPr bwMode="auto">
            <a:xfrm>
              <a:off x="8247213" y="1927176"/>
              <a:ext cx="0" cy="4657725"/>
            </a:xfrm>
            <a:prstGeom prst="line">
              <a:avLst/>
            </a:prstGeom>
            <a:noFill/>
            <a:ln w="28575" cap="sq">
              <a:solidFill>
                <a:srgbClr val="000000"/>
              </a:solidFill>
              <a:miter lim="800000"/>
            </a:ln>
            <a:effectLst/>
          </p:spPr>
          <p:txBody>
            <a:bodyPr wrap="none"/>
            <a:lstStyle/>
            <a:p>
              <a:pPr>
                <a:defRPr/>
              </a:pPr>
              <a:endParaRPr lang="zh-CN" altLang="en-US" sz="2200" kern="0">
                <a:solidFill>
                  <a:srgbClr val="FFFFFF"/>
                </a:solidFill>
                <a:latin typeface="微软雅黑" panose="020B0503020204020204" pitchFamily="34" charset="-122"/>
                <a:ea typeface="微软雅黑" panose="020B0503020204020204" pitchFamily="34" charset="-122"/>
              </a:endParaRPr>
            </a:p>
          </p:txBody>
        </p:sp>
      </p:grpSp>
      <p:sp>
        <p:nvSpPr>
          <p:cNvPr id="65540" name="文本框 76"/>
          <p:cNvSpPr txBox="1">
            <a:spLocks noChangeArrowheads="1"/>
          </p:cNvSpPr>
          <p:nvPr/>
        </p:nvSpPr>
        <p:spPr bwMode="auto">
          <a:xfrm>
            <a:off x="2997200" y="1373188"/>
            <a:ext cx="3149600" cy="581057"/>
          </a:xfrm>
          <a:prstGeom prst="rect">
            <a:avLst/>
          </a:prstGeom>
          <a:noFill/>
          <a:ln w="9525">
            <a:noFill/>
            <a:miter lim="800000"/>
          </a:ln>
        </p:spPr>
        <p:txBody>
          <a:bodyPr>
            <a:spAutoFit/>
          </a:bodyPr>
          <a:lstStyle/>
          <a:p>
            <a:pPr algn="just">
              <a:lnSpc>
                <a:spcPct val="150000"/>
              </a:lnSpc>
            </a:pPr>
            <a:r>
              <a:rPr lang="en-US" altLang="zh-CN" sz="2400" b="1" dirty="0">
                <a:solidFill>
                  <a:srgbClr val="000000"/>
                </a:solidFill>
                <a:latin typeface="微软雅黑" panose="020B0503020204020204" pitchFamily="34" charset="-122"/>
                <a:ea typeface="微软雅黑" panose="020B0503020204020204" pitchFamily="34" charset="-122"/>
              </a:rPr>
              <a:t>P3</a:t>
            </a:r>
            <a:r>
              <a:rPr lang="zh-CN" altLang="en-US" sz="2400" b="1" dirty="0">
                <a:solidFill>
                  <a:srgbClr val="000000"/>
                </a:solidFill>
                <a:latin typeface="微软雅黑" panose="020B0503020204020204" pitchFamily="34" charset="-122"/>
                <a:ea typeface="微软雅黑" panose="020B0503020204020204" pitchFamily="34" charset="-122"/>
              </a:rPr>
              <a:t>口各位的第二功能</a:t>
            </a:r>
            <a:endParaRPr lang="en-US" altLang="zh-CN" sz="2400" b="1" dirty="0">
              <a:solidFill>
                <a:srgbClr val="000000"/>
              </a:solidFill>
              <a:latin typeface="微软雅黑" panose="020B0503020204020204" pitchFamily="34" charset="-122"/>
              <a:ea typeface="微软雅黑" panose="020B0503020204020204" pitchFamily="34" charset="-122"/>
            </a:endParaRPr>
          </a:p>
        </p:txBody>
      </p:sp>
      <p:pic>
        <p:nvPicPr>
          <p:cNvPr id="65541" name="图片 36"/>
          <p:cNvPicPr>
            <a:picLocks noChangeAspect="1"/>
          </p:cNvPicPr>
          <p:nvPr/>
        </p:nvPicPr>
        <p:blipFill>
          <a:blip r:embed="rId7"/>
          <a:srcRect/>
          <a:stretch>
            <a:fillRect/>
          </a:stretch>
        </p:blipFill>
        <p:spPr bwMode="auto">
          <a:xfrm>
            <a:off x="7018338" y="80963"/>
            <a:ext cx="1876425" cy="539750"/>
          </a:xfrm>
          <a:prstGeom prst="rect">
            <a:avLst/>
          </a:prstGeom>
          <a:noFill/>
          <a:ln w="9525">
            <a:noFill/>
            <a:miter lim="800000"/>
            <a:headEnd/>
            <a:tailEnd/>
          </a:ln>
        </p:spPr>
      </p:pic>
      <p:pic>
        <p:nvPicPr>
          <p:cNvPr id="65542" name="图片 37"/>
          <p:cNvPicPr>
            <a:picLocks noChangeAspect="1"/>
          </p:cNvPicPr>
          <p:nvPr/>
        </p:nvPicPr>
        <p:blipFill>
          <a:blip r:embed="rId8"/>
          <a:srcRect/>
          <a:stretch>
            <a:fillRect/>
          </a:stretch>
        </p:blipFill>
        <p:spPr bwMode="auto">
          <a:xfrm>
            <a:off x="254000" y="6419850"/>
            <a:ext cx="2495550" cy="360363"/>
          </a:xfrm>
          <a:prstGeom prst="rect">
            <a:avLst/>
          </a:prstGeom>
          <a:noFill/>
          <a:ln w="9525">
            <a:noFill/>
            <a:miter lim="800000"/>
            <a:headEnd/>
            <a:tailEnd/>
          </a:ln>
        </p:spPr>
      </p:pic>
      <p:sp>
        <p:nvSpPr>
          <p:cNvPr id="2" name="矩形标注 1"/>
          <p:cNvSpPr/>
          <p:nvPr/>
        </p:nvSpPr>
        <p:spPr>
          <a:xfrm>
            <a:off x="7285703" y="4907842"/>
            <a:ext cx="1607472" cy="658337"/>
          </a:xfrm>
          <a:prstGeom prst="wedgeRectCallout">
            <a:avLst>
              <a:gd name="adj1" fmla="val -44783"/>
              <a:gd name="adj2" fmla="val 103161"/>
            </a:avLst>
          </a:prstGeom>
        </p:spPr>
        <p:style>
          <a:lnRef idx="0">
            <a:schemeClr val="accent5"/>
          </a:lnRef>
          <a:fillRef idx="3">
            <a:schemeClr val="accent5"/>
          </a:fillRef>
          <a:effectRef idx="3">
            <a:schemeClr val="accent5"/>
          </a:effectRef>
          <a:fontRef idx="minor">
            <a:schemeClr val="lt1"/>
          </a:fontRef>
        </p:style>
        <p:txBody>
          <a:bodyPr rtlCol="0" anchor="ctr"/>
          <a:lstStyle/>
          <a:p>
            <a:pPr algn="just"/>
            <a:r>
              <a:rPr lang="zh-CN" altLang="en-US" dirty="0">
                <a:latin typeface="微软雅黑" panose="020B0503020204020204" pitchFamily="34" charset="-122"/>
                <a:ea typeface="微软雅黑" panose="020B0503020204020204" pitchFamily="34" charset="-122"/>
              </a:rPr>
              <a:t>不建议作为普通</a:t>
            </a:r>
            <a:r>
              <a:rPr lang="en-US" altLang="zh-CN" dirty="0">
                <a:latin typeface="微软雅黑" panose="020B0503020204020204" pitchFamily="34" charset="-122"/>
                <a:ea typeface="微软雅黑" panose="020B0503020204020204" pitchFamily="34" charset="-122"/>
              </a:rPr>
              <a:t>I/O</a:t>
            </a:r>
            <a:r>
              <a:rPr lang="zh-CN" altLang="en-US" dirty="0">
                <a:latin typeface="微软雅黑" panose="020B0503020204020204" pitchFamily="34" charset="-122"/>
                <a:ea typeface="微软雅黑" panose="020B0503020204020204" pitchFamily="34" charset="-122"/>
              </a:rPr>
              <a:t>口使用</a:t>
            </a:r>
          </a:p>
        </p:txBody>
      </p:sp>
      <p:sp>
        <p:nvSpPr>
          <p:cNvPr id="3" name="矩形 2"/>
          <p:cNvSpPr/>
          <p:nvPr/>
        </p:nvSpPr>
        <p:spPr>
          <a:xfrm>
            <a:off x="1337187" y="5467605"/>
            <a:ext cx="5909188" cy="864368"/>
          </a:xfrm>
          <a:prstGeom prst="rect">
            <a:avLst/>
          </a:prstGeom>
          <a:noFill/>
          <a:ln w="38100">
            <a:solidFill>
              <a:srgbClr val="376A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2" presetClass="entr" presetSubtype="4"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816600"/>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2.2.1 MCS-51</a:t>
            </a:r>
            <a:r>
              <a:rPr lang="zh-CN" altLang="en-US" sz="2400" b="1" dirty="0">
                <a:solidFill>
                  <a:prstClr val="black"/>
                </a:solidFill>
                <a:latin typeface="微软雅黑" panose="020B0503020204020204" pitchFamily="34" charset="-122"/>
                <a:ea typeface="微软雅黑" panose="020B0503020204020204" pitchFamily="34" charset="-122"/>
              </a:rPr>
              <a:t>存储器的特点</a:t>
            </a:r>
            <a:endParaRPr lang="en-US" altLang="zh-CN" sz="2400" b="1"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       MCS-51</a:t>
            </a:r>
            <a:r>
              <a:rPr lang="zh-CN" altLang="en-US" sz="2400" dirty="0">
                <a:solidFill>
                  <a:prstClr val="black"/>
                </a:solidFill>
                <a:latin typeface="微软雅黑" panose="020B0503020204020204" pitchFamily="34" charset="-122"/>
                <a:ea typeface="微软雅黑" panose="020B0503020204020204" pitchFamily="34" charset="-122"/>
              </a:rPr>
              <a:t>单片机的存储器与一般微机存储器的</a:t>
            </a:r>
            <a:r>
              <a:rPr lang="zh-CN" altLang="en-US" sz="2400" b="1" dirty="0">
                <a:solidFill>
                  <a:prstClr val="black"/>
                </a:solidFill>
                <a:latin typeface="微软雅黑" panose="020B0503020204020204" pitchFamily="34" charset="-122"/>
                <a:ea typeface="微软雅黑" panose="020B0503020204020204" pitchFamily="34" charset="-122"/>
              </a:rPr>
              <a:t>配置不同</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一般微机</a:t>
            </a:r>
            <a:r>
              <a:rPr lang="zh-CN" altLang="en-US" sz="2400" dirty="0">
                <a:solidFill>
                  <a:prstClr val="black"/>
                </a:solidFill>
                <a:latin typeface="微软雅黑" panose="020B0503020204020204" pitchFamily="34" charset="-122"/>
                <a:ea typeface="微软雅黑" panose="020B0503020204020204" pitchFamily="34" charset="-122"/>
              </a:rPr>
              <a:t>把程序和数据的</a:t>
            </a:r>
            <a:r>
              <a:rPr lang="zh-CN" altLang="en-US" sz="2400" dirty="0">
                <a:solidFill>
                  <a:srgbClr val="FF0000"/>
                </a:solidFill>
                <a:latin typeface="微软雅黑" panose="020B0503020204020204" pitchFamily="34" charset="-122"/>
                <a:ea typeface="微软雅黑" panose="020B0503020204020204" pitchFamily="34" charset="-122"/>
              </a:rPr>
              <a:t>共存同一存储空间</a:t>
            </a:r>
            <a:r>
              <a:rPr lang="en-US" altLang="zh-CN" dirty="0">
                <a:solidFill>
                  <a:srgbClr val="0000FF"/>
                </a:solidFill>
                <a:latin typeface="微软雅黑" panose="020B0503020204020204" pitchFamily="34" charset="-122"/>
                <a:ea typeface="微软雅黑" panose="020B0503020204020204" pitchFamily="34" charset="-122"/>
              </a:rPr>
              <a:t>(</a:t>
            </a:r>
            <a:r>
              <a:rPr lang="zh-CN" altLang="en-US" dirty="0">
                <a:solidFill>
                  <a:srgbClr val="0000FF"/>
                </a:solidFill>
                <a:latin typeface="微软雅黑" panose="020B0503020204020204" pitchFamily="34" charset="-122"/>
                <a:ea typeface="微软雅黑" panose="020B0503020204020204" pitchFamily="34" charset="-122"/>
              </a:rPr>
              <a:t>冯</a:t>
            </a:r>
            <a:r>
              <a:rPr lang="en-US" altLang="zh-CN" dirty="0">
                <a:solidFill>
                  <a:srgbClr val="0000FF"/>
                </a:solidFill>
                <a:latin typeface="微软雅黑" panose="020B0503020204020204" pitchFamily="34" charset="-122"/>
                <a:ea typeface="微软雅黑" panose="020B0503020204020204" pitchFamily="34" charset="-122"/>
              </a:rPr>
              <a:t>•</a:t>
            </a:r>
            <a:r>
              <a:rPr lang="zh-CN" altLang="en-US" dirty="0">
                <a:solidFill>
                  <a:srgbClr val="0000FF"/>
                </a:solidFill>
                <a:latin typeface="微软雅黑" panose="020B0503020204020204" pitchFamily="34" charset="-122"/>
                <a:ea typeface="微软雅黑" panose="020B0503020204020204" pitchFamily="34" charset="-122"/>
              </a:rPr>
              <a:t>诺依曼结构</a:t>
            </a:r>
            <a:r>
              <a:rPr lang="en-US" altLang="zh-CN" dirty="0">
                <a:solidFill>
                  <a:srgbClr val="0000FF"/>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，每个存储单元对应唯一的地址，而</a:t>
            </a: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的存储器把</a:t>
            </a:r>
            <a:r>
              <a:rPr lang="zh-CN" altLang="en-US" sz="2400" dirty="0">
                <a:solidFill>
                  <a:srgbClr val="0000FF"/>
                </a:solidFill>
                <a:latin typeface="微软雅黑" panose="020B0503020204020204" pitchFamily="34" charset="-122"/>
                <a:ea typeface="微软雅黑" panose="020B0503020204020204" pitchFamily="34" charset="-122"/>
              </a:rPr>
              <a:t>程序和数据</a:t>
            </a:r>
            <a:r>
              <a:rPr lang="zh-CN" altLang="en-US" sz="2400" dirty="0">
                <a:solidFill>
                  <a:prstClr val="black"/>
                </a:solidFill>
                <a:latin typeface="微软雅黑" panose="020B0503020204020204" pitchFamily="34" charset="-122"/>
                <a:ea typeface="微软雅黑" panose="020B0503020204020204" pitchFamily="34" charset="-122"/>
              </a:rPr>
              <a:t>的存储空间</a:t>
            </a:r>
            <a:r>
              <a:rPr lang="zh-CN" altLang="en-US" sz="2400" b="1" dirty="0">
                <a:solidFill>
                  <a:srgbClr val="FF0000"/>
                </a:solidFill>
                <a:latin typeface="微软雅黑" panose="020B0503020204020204" pitchFamily="34" charset="-122"/>
                <a:ea typeface="微软雅黑" panose="020B0503020204020204" pitchFamily="34" charset="-122"/>
              </a:rPr>
              <a:t>严格区分开</a:t>
            </a:r>
            <a:r>
              <a:rPr lang="en-US" altLang="zh-CN" dirty="0">
                <a:solidFill>
                  <a:srgbClr val="0000FF"/>
                </a:solidFill>
                <a:latin typeface="微软雅黑" panose="020B0503020204020204" pitchFamily="34" charset="-122"/>
                <a:ea typeface="微软雅黑" panose="020B0503020204020204" pitchFamily="34" charset="-122"/>
              </a:rPr>
              <a:t>(</a:t>
            </a:r>
            <a:r>
              <a:rPr lang="zh-CN" altLang="en-US" dirty="0">
                <a:solidFill>
                  <a:srgbClr val="0000FF"/>
                </a:solidFill>
                <a:latin typeface="微软雅黑" panose="020B0503020204020204" pitchFamily="34" charset="-122"/>
                <a:ea typeface="微软雅黑" panose="020B0503020204020204" pitchFamily="34" charset="-122"/>
              </a:rPr>
              <a:t>哈佛结构</a:t>
            </a:r>
            <a:r>
              <a:rPr lang="en-US" altLang="zh-CN" dirty="0">
                <a:solidFill>
                  <a:srgbClr val="0000FF"/>
                </a:solidFill>
                <a:latin typeface="微软雅黑" panose="020B0503020204020204" pitchFamily="34" charset="-122"/>
                <a:ea typeface="微软雅黑" panose="020B0503020204020204" pitchFamily="34" charset="-122"/>
              </a:rPr>
              <a:t>) </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       MCS-51</a:t>
            </a:r>
            <a:r>
              <a:rPr lang="zh-CN" altLang="en-US" sz="2400" dirty="0">
                <a:solidFill>
                  <a:prstClr val="black"/>
                </a:solidFill>
                <a:latin typeface="微软雅黑" panose="020B0503020204020204" pitchFamily="34" charset="-122"/>
                <a:ea typeface="微软雅黑" panose="020B0503020204020204" pitchFamily="34" charset="-122"/>
              </a:rPr>
              <a:t>存储器的划分方法如下：</a:t>
            </a: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从</a:t>
            </a:r>
            <a:r>
              <a:rPr lang="zh-CN" altLang="en-US" sz="2400" dirty="0">
                <a:solidFill>
                  <a:srgbClr val="0000FF"/>
                </a:solidFill>
                <a:latin typeface="微软雅黑" panose="020B0503020204020204" pitchFamily="34" charset="-122"/>
                <a:ea typeface="微软雅黑" panose="020B0503020204020204" pitchFamily="34" charset="-122"/>
              </a:rPr>
              <a:t>物理结构</a:t>
            </a:r>
            <a:r>
              <a:rPr lang="zh-CN" altLang="en-US" sz="2400" dirty="0">
                <a:solidFill>
                  <a:prstClr val="black"/>
                </a:solidFill>
                <a:latin typeface="微软雅黑" panose="020B0503020204020204" pitchFamily="34" charset="-122"/>
                <a:ea typeface="微软雅黑" panose="020B0503020204020204" pitchFamily="34" charset="-122"/>
              </a:rPr>
              <a:t>上划分，有</a:t>
            </a:r>
            <a:r>
              <a:rPr lang="en-US" altLang="zh-CN" sz="2400" dirty="0">
                <a:solidFill>
                  <a:srgbClr val="0000FF"/>
                </a:solidFill>
                <a:latin typeface="微软雅黑" panose="020B0503020204020204" pitchFamily="34" charset="-122"/>
                <a:ea typeface="微软雅黑" panose="020B0503020204020204" pitchFamily="34" charset="-122"/>
              </a:rPr>
              <a:t>4</a:t>
            </a:r>
            <a:r>
              <a:rPr lang="zh-CN" altLang="en-US" sz="2400" dirty="0">
                <a:solidFill>
                  <a:srgbClr val="0000FF"/>
                </a:solidFill>
                <a:latin typeface="微软雅黑" panose="020B0503020204020204" pitchFamily="34" charset="-122"/>
                <a:ea typeface="微软雅黑" panose="020B0503020204020204" pitchFamily="34" charset="-122"/>
              </a:rPr>
              <a:t>个</a:t>
            </a:r>
            <a:r>
              <a:rPr lang="zh-CN" altLang="en-US" sz="2400" dirty="0">
                <a:solidFill>
                  <a:prstClr val="black"/>
                </a:solidFill>
                <a:latin typeface="微软雅黑" panose="020B0503020204020204" pitchFamily="34" charset="-122"/>
                <a:ea typeface="微软雅黑" panose="020B0503020204020204" pitchFamily="34" charset="-122"/>
              </a:rPr>
              <a:t>存储空间</a:t>
            </a:r>
            <a:r>
              <a:rPr lang="en-US" altLang="zh-CN" sz="2400" dirty="0">
                <a:solidFill>
                  <a:prstClr val="black"/>
                </a:solidFill>
                <a:latin typeface="微软雅黑" panose="020B0503020204020204" pitchFamily="34" charset="-122"/>
                <a:ea typeface="微软雅黑" panose="020B0503020204020204" pitchFamily="34" charset="-122"/>
              </a:rPr>
              <a:t>:</a:t>
            </a:r>
            <a:endParaRPr lang="zh-CN" altLang="en-US" sz="2400" dirty="0">
              <a:solidFill>
                <a:prstClr val="black"/>
              </a:solidFill>
              <a:latin typeface="微软雅黑" panose="020B0503020204020204" pitchFamily="34" charset="-122"/>
              <a:ea typeface="微软雅黑" panose="020B0503020204020204" pitchFamily="34" charset="-122"/>
            </a:endParaRPr>
          </a:p>
          <a:p>
            <a:pPr lvl="1"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片内程序存储器</a:t>
            </a:r>
          </a:p>
          <a:p>
            <a:pPr lvl="1"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片外程序存储器</a:t>
            </a:r>
          </a:p>
          <a:p>
            <a:pPr lvl="1"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片内数据存储器</a:t>
            </a:r>
          </a:p>
          <a:p>
            <a:pPr lvl="1"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片外数据存储器</a:t>
            </a:r>
            <a:endParaRPr lang="en-US" altLang="zh-CN" sz="2000" dirty="0">
              <a:solidFill>
                <a:prstClr val="black"/>
              </a:solidFill>
              <a:latin typeface="微软雅黑" panose="020B0503020204020204" pitchFamily="34" charset="-122"/>
              <a:ea typeface="微软雅黑" panose="020B0503020204020204" pitchFamily="34" charset="-122"/>
            </a:endParaRPr>
          </a:p>
        </p:txBody>
      </p:sp>
      <p:sp>
        <p:nvSpPr>
          <p:cNvPr id="67586"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2.2 MCS-51</a:t>
            </a:r>
            <a:r>
              <a:rPr lang="zh-CN" altLang="en-US" sz="2800">
                <a:solidFill>
                  <a:srgbClr val="000000"/>
                </a:solidFill>
                <a:latin typeface="微软雅黑" panose="020B0503020204020204" pitchFamily="34" charset="-122"/>
                <a:ea typeface="微软雅黑" panose="020B0503020204020204" pitchFamily="34" charset="-122"/>
              </a:rPr>
              <a:t>存储结构及位处理器</a:t>
            </a:r>
          </a:p>
        </p:txBody>
      </p:sp>
      <p:pic>
        <p:nvPicPr>
          <p:cNvPr id="67587"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67588"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908675"/>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2.2.1 MCS-51</a:t>
            </a:r>
            <a:r>
              <a:rPr lang="zh-CN" altLang="en-US" sz="2400" b="1" dirty="0">
                <a:solidFill>
                  <a:prstClr val="black"/>
                </a:solidFill>
                <a:latin typeface="微软雅黑" panose="020B0503020204020204" pitchFamily="34" charset="-122"/>
                <a:ea typeface="微软雅黑" panose="020B0503020204020204" pitchFamily="34" charset="-122"/>
              </a:rPr>
              <a:t>存储器的特点</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从</a:t>
            </a:r>
            <a:r>
              <a:rPr lang="zh-CN" altLang="en-US" sz="2400" dirty="0">
                <a:solidFill>
                  <a:srgbClr val="0000FF"/>
                </a:solidFill>
                <a:latin typeface="微软雅黑" panose="020B0503020204020204" pitchFamily="34" charset="-122"/>
                <a:ea typeface="微软雅黑" panose="020B0503020204020204" pitchFamily="34" charset="-122"/>
              </a:rPr>
              <a:t>逻辑</a:t>
            </a:r>
            <a:r>
              <a:rPr lang="zh-CN" altLang="en-US" sz="2400" dirty="0">
                <a:solidFill>
                  <a:prstClr val="black"/>
                </a:solidFill>
                <a:latin typeface="微软雅黑" panose="020B0503020204020204" pitchFamily="34" charset="-122"/>
                <a:ea typeface="微软雅黑" panose="020B0503020204020204" pitchFamily="34" charset="-122"/>
              </a:rPr>
              <a:t>上划分，有</a:t>
            </a:r>
            <a:r>
              <a:rPr lang="en-US" altLang="zh-CN" sz="2400" dirty="0">
                <a:solidFill>
                  <a:srgbClr val="0000FF"/>
                </a:solidFill>
                <a:latin typeface="微软雅黑" panose="020B0503020204020204" pitchFamily="34" charset="-122"/>
                <a:ea typeface="微软雅黑" panose="020B0503020204020204" pitchFamily="34" charset="-122"/>
              </a:rPr>
              <a:t>3</a:t>
            </a:r>
            <a:r>
              <a:rPr lang="zh-CN" altLang="en-US" sz="2400" dirty="0">
                <a:solidFill>
                  <a:srgbClr val="0000FF"/>
                </a:solidFill>
                <a:latin typeface="微软雅黑" panose="020B0503020204020204" pitchFamily="34" charset="-122"/>
                <a:ea typeface="微软雅黑" panose="020B0503020204020204" pitchFamily="34" charset="-122"/>
              </a:rPr>
              <a:t>个</a:t>
            </a:r>
            <a:r>
              <a:rPr lang="zh-CN" altLang="en-US" sz="2400" dirty="0">
                <a:solidFill>
                  <a:prstClr val="black"/>
                </a:solidFill>
                <a:latin typeface="微软雅黑" panose="020B0503020204020204" pitchFamily="34" charset="-122"/>
                <a:ea typeface="微软雅黑" panose="020B0503020204020204" pitchFamily="34" charset="-122"/>
              </a:rPr>
              <a:t>存储器地址空间</a:t>
            </a:r>
            <a:r>
              <a:rPr lang="en-US" altLang="zh-CN" sz="2400" dirty="0">
                <a:solidFill>
                  <a:prstClr val="black"/>
                </a:solidFill>
                <a:latin typeface="微软雅黑" panose="020B0503020204020204" pitchFamily="34" charset="-122"/>
                <a:ea typeface="微软雅黑" panose="020B0503020204020204" pitchFamily="34" charset="-122"/>
              </a:rPr>
              <a:t>:</a:t>
            </a:r>
            <a:endParaRPr lang="zh-CN" altLang="en-US" sz="2400" dirty="0">
              <a:solidFill>
                <a:prstClr val="black"/>
              </a:solidFill>
              <a:latin typeface="微软雅黑" panose="020B0503020204020204" pitchFamily="34" charset="-122"/>
              <a:ea typeface="微软雅黑" panose="020B0503020204020204" pitchFamily="34" charset="-122"/>
            </a:endParaRPr>
          </a:p>
          <a:p>
            <a:pPr lvl="1"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片内外</a:t>
            </a:r>
            <a:r>
              <a:rPr lang="zh-CN" altLang="en-US" sz="2000" b="1" dirty="0">
                <a:solidFill>
                  <a:prstClr val="black"/>
                </a:solidFill>
                <a:latin typeface="微软雅黑" panose="020B0503020204020204" pitchFamily="34" charset="-122"/>
                <a:ea typeface="微软雅黑" panose="020B0503020204020204" pitchFamily="34" charset="-122"/>
              </a:rPr>
              <a:t>统一编址</a:t>
            </a:r>
            <a:r>
              <a:rPr lang="en-US" altLang="zh-CN" sz="2000" b="1" dirty="0">
                <a:solidFill>
                  <a:prstClr val="black"/>
                </a:solidFill>
                <a:latin typeface="微软雅黑" panose="020B0503020204020204" pitchFamily="34" charset="-122"/>
                <a:ea typeface="微软雅黑" panose="020B0503020204020204" pitchFamily="34" charset="-122"/>
              </a:rPr>
              <a:t>64KB</a:t>
            </a:r>
            <a:r>
              <a:rPr lang="zh-CN" altLang="en-US" sz="2000" dirty="0">
                <a:solidFill>
                  <a:prstClr val="black"/>
                </a:solidFill>
                <a:latin typeface="微软雅黑" panose="020B0503020204020204" pitchFamily="34" charset="-122"/>
                <a:ea typeface="微软雅黑" panose="020B0503020204020204" pitchFamily="34" charset="-122"/>
              </a:rPr>
              <a:t>的程序存储器地址空间。</a:t>
            </a:r>
          </a:p>
          <a:p>
            <a:pPr lvl="1"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片内</a:t>
            </a:r>
            <a:r>
              <a:rPr lang="en-US" altLang="zh-CN"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rPr>
              <a:t>128</a:t>
            </a:r>
            <a:r>
              <a:rPr lang="en-US" altLang="zh-CN"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srgbClr val="0000FF"/>
                </a:solidFill>
                <a:latin typeface="微软雅黑" panose="020B0503020204020204" pitchFamily="34" charset="-122"/>
                <a:ea typeface="微软雅黑" panose="020B0503020204020204" pitchFamily="34" charset="-122"/>
              </a:rPr>
              <a:t>128</a:t>
            </a:r>
            <a:r>
              <a:rPr lang="en-US" altLang="zh-CN" sz="2000" dirty="0">
                <a:solidFill>
                  <a:prstClr val="black"/>
                </a:solidFill>
                <a:latin typeface="微软雅黑" panose="020B0503020204020204" pitchFamily="34" charset="-122"/>
                <a:ea typeface="微软雅黑" panose="020B0503020204020204" pitchFamily="34" charset="-122"/>
              </a:rPr>
              <a:t>)B</a:t>
            </a:r>
            <a:r>
              <a:rPr lang="zh-CN" altLang="en-US" sz="2000" dirty="0">
                <a:solidFill>
                  <a:prstClr val="black"/>
                </a:solidFill>
                <a:latin typeface="微软雅黑" panose="020B0503020204020204" pitchFamily="34" charset="-122"/>
                <a:ea typeface="微软雅黑" panose="020B0503020204020204" pitchFamily="34" charset="-122"/>
              </a:rPr>
              <a:t>数据存储器地址空间。</a:t>
            </a:r>
          </a:p>
          <a:p>
            <a:pPr lvl="1"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片外</a:t>
            </a:r>
            <a:r>
              <a:rPr lang="en-US" altLang="zh-CN" sz="2000" dirty="0">
                <a:solidFill>
                  <a:prstClr val="black"/>
                </a:solidFill>
                <a:latin typeface="微软雅黑" panose="020B0503020204020204" pitchFamily="34" charset="-122"/>
                <a:ea typeface="微软雅黑" panose="020B0503020204020204" pitchFamily="34" charset="-122"/>
              </a:rPr>
              <a:t>64KB</a:t>
            </a:r>
            <a:r>
              <a:rPr lang="zh-CN" altLang="en-US" sz="2000" dirty="0">
                <a:solidFill>
                  <a:prstClr val="black"/>
                </a:solidFill>
                <a:latin typeface="微软雅黑" panose="020B0503020204020204" pitchFamily="34" charset="-122"/>
                <a:ea typeface="微软雅黑" panose="020B0503020204020204" pitchFamily="34" charset="-122"/>
              </a:rPr>
              <a:t>的数据存储器地址空间。</a:t>
            </a:r>
            <a:endParaRPr lang="en-US" altLang="zh-CN" sz="2000" dirty="0">
              <a:solidFill>
                <a:prstClr val="black"/>
              </a:solidFill>
              <a:latin typeface="微软雅黑" panose="020B0503020204020204" pitchFamily="34" charset="-122"/>
              <a:ea typeface="微软雅黑" panose="020B0503020204020204" pitchFamily="34" charset="-122"/>
            </a:endParaRPr>
          </a:p>
          <a:p>
            <a:pPr marL="0" lvl="1"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访问不同的逻辑存储空间时，</a:t>
            </a: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提供了</a:t>
            </a:r>
            <a:r>
              <a:rPr lang="zh-CN" altLang="en-US" sz="2400" dirty="0">
                <a:solidFill>
                  <a:srgbClr val="0000FF"/>
                </a:solidFill>
                <a:latin typeface="微软雅黑" panose="020B0503020204020204" pitchFamily="34" charset="-122"/>
                <a:ea typeface="微软雅黑" panose="020B0503020204020204" pitchFamily="34" charset="-122"/>
              </a:rPr>
              <a:t>不同形式的指令</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000" dirty="0">
              <a:solidFill>
                <a:prstClr val="black"/>
              </a:solidFill>
              <a:latin typeface="微软雅黑" panose="020B0503020204020204" pitchFamily="34" charset="-122"/>
              <a:ea typeface="微软雅黑" panose="020B0503020204020204" pitchFamily="34" charset="-122"/>
            </a:endParaRPr>
          </a:p>
          <a:p>
            <a:pPr marL="457200" lvl="2"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  MOV</a:t>
            </a:r>
            <a:r>
              <a:rPr lang="zh-CN" altLang="en-US" sz="2400" dirty="0">
                <a:solidFill>
                  <a:prstClr val="black"/>
                </a:solidFill>
                <a:latin typeface="微软雅黑" panose="020B0503020204020204" pitchFamily="34" charset="-122"/>
                <a:ea typeface="微软雅黑" panose="020B0503020204020204" pitchFamily="34" charset="-122"/>
              </a:rPr>
              <a:t>指令用于访问</a:t>
            </a:r>
            <a:r>
              <a:rPr lang="zh-CN" altLang="en-US" sz="2400" dirty="0">
                <a:solidFill>
                  <a:srgbClr val="0000FF"/>
                </a:solidFill>
                <a:latin typeface="微软雅黑" panose="020B0503020204020204" pitchFamily="34" charset="-122"/>
                <a:ea typeface="微软雅黑" panose="020B0503020204020204" pitchFamily="34" charset="-122"/>
              </a:rPr>
              <a:t>内部数据存储器</a:t>
            </a:r>
          </a:p>
          <a:p>
            <a:pPr marL="457200" lvl="2"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  MOVC</a:t>
            </a:r>
            <a:r>
              <a:rPr lang="zh-CN" altLang="en-US" sz="2400" dirty="0">
                <a:solidFill>
                  <a:prstClr val="black"/>
                </a:solidFill>
                <a:latin typeface="微软雅黑" panose="020B0503020204020204" pitchFamily="34" charset="-122"/>
                <a:ea typeface="微软雅黑" panose="020B0503020204020204" pitchFamily="34" charset="-122"/>
              </a:rPr>
              <a:t>用于访问片</a:t>
            </a:r>
            <a:r>
              <a:rPr lang="zh-CN" altLang="en-US" sz="2400" dirty="0">
                <a:solidFill>
                  <a:srgbClr val="0000FF"/>
                </a:solidFill>
                <a:latin typeface="微软雅黑" panose="020B0503020204020204" pitchFamily="34" charset="-122"/>
                <a:ea typeface="微软雅黑" panose="020B0503020204020204" pitchFamily="34" charset="-122"/>
              </a:rPr>
              <a:t>内外程序存储器</a:t>
            </a:r>
          </a:p>
          <a:p>
            <a:pPr marL="457200" lvl="2"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  MOVX</a:t>
            </a:r>
            <a:r>
              <a:rPr lang="zh-CN" altLang="en-US" sz="2400" dirty="0">
                <a:solidFill>
                  <a:prstClr val="black"/>
                </a:solidFill>
                <a:latin typeface="微软雅黑" panose="020B0503020204020204" pitchFamily="34" charset="-122"/>
                <a:ea typeface="微软雅黑" panose="020B0503020204020204" pitchFamily="34" charset="-122"/>
              </a:rPr>
              <a:t>用于访问</a:t>
            </a:r>
            <a:r>
              <a:rPr lang="zh-CN" altLang="en-US" sz="2400" dirty="0">
                <a:solidFill>
                  <a:srgbClr val="0000FF"/>
                </a:solidFill>
                <a:latin typeface="微软雅黑" panose="020B0503020204020204" pitchFamily="34" charset="-122"/>
                <a:ea typeface="微软雅黑" panose="020B0503020204020204" pitchFamily="34" charset="-122"/>
              </a:rPr>
              <a:t>外部数据存储器 </a:t>
            </a:r>
          </a:p>
          <a:p>
            <a:pPr marL="0" lvl="1" algn="just" fontAlgn="auto">
              <a:lnSpc>
                <a:spcPct val="150000"/>
              </a:lnSpc>
              <a:spcBef>
                <a:spcPts val="0"/>
              </a:spcBef>
              <a:spcAft>
                <a:spcPts val="0"/>
              </a:spcAft>
              <a:defRPr/>
            </a:pPr>
            <a:endParaRPr lang="zh-CN" altLang="en-US" sz="2400" dirty="0">
              <a:solidFill>
                <a:prstClr val="black"/>
              </a:solidFill>
              <a:latin typeface="微软雅黑" panose="020B0503020204020204" pitchFamily="34" charset="-122"/>
              <a:ea typeface="微软雅黑" panose="020B0503020204020204" pitchFamily="34" charset="-122"/>
            </a:endParaRPr>
          </a:p>
        </p:txBody>
      </p:sp>
      <p:sp>
        <p:nvSpPr>
          <p:cNvPr id="69634"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2.2 MCS-51</a:t>
            </a:r>
            <a:r>
              <a:rPr lang="zh-CN" altLang="en-US" sz="2800">
                <a:solidFill>
                  <a:srgbClr val="000000"/>
                </a:solidFill>
                <a:latin typeface="微软雅黑" panose="020B0503020204020204" pitchFamily="34" charset="-122"/>
                <a:ea typeface="微软雅黑" panose="020B0503020204020204" pitchFamily="34" charset="-122"/>
              </a:rPr>
              <a:t>存储结构及位处理器</a:t>
            </a:r>
          </a:p>
        </p:txBody>
      </p:sp>
      <p:pic>
        <p:nvPicPr>
          <p:cNvPr id="69635"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69636"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文本框 1"/>
          <p:cNvSpPr txBox="1">
            <a:spLocks noChangeArrowheads="1"/>
          </p:cNvSpPr>
          <p:nvPr/>
        </p:nvSpPr>
        <p:spPr bwMode="auto">
          <a:xfrm>
            <a:off x="257175" y="736600"/>
            <a:ext cx="8636000" cy="581025"/>
          </a:xfrm>
          <a:prstGeom prst="rect">
            <a:avLst/>
          </a:prstGeom>
          <a:noFill/>
          <a:ln w="9525">
            <a:noFill/>
            <a:miter lim="800000"/>
          </a:ln>
        </p:spPr>
        <p:txBody>
          <a:bodyPr>
            <a:spAutoFit/>
          </a:bodyPr>
          <a:lstStyle/>
          <a:p>
            <a:pPr algn="just">
              <a:lnSpc>
                <a:spcPct val="150000"/>
              </a:lnSpc>
            </a:pPr>
            <a:r>
              <a:rPr lang="en-US" altLang="zh-CN" sz="2400" b="1">
                <a:solidFill>
                  <a:srgbClr val="000000"/>
                </a:solidFill>
                <a:latin typeface="微软雅黑" panose="020B0503020204020204" pitchFamily="34" charset="-122"/>
                <a:ea typeface="微软雅黑" panose="020B0503020204020204" pitchFamily="34" charset="-122"/>
              </a:rPr>
              <a:t>2.2.1 MCS-51</a:t>
            </a:r>
            <a:r>
              <a:rPr lang="zh-CN" altLang="en-US" sz="2400" b="1">
                <a:solidFill>
                  <a:srgbClr val="000000"/>
                </a:solidFill>
                <a:latin typeface="微软雅黑" panose="020B0503020204020204" pitchFamily="34" charset="-122"/>
                <a:ea typeface="微软雅黑" panose="020B0503020204020204" pitchFamily="34" charset="-122"/>
              </a:rPr>
              <a:t>存储器的特点</a:t>
            </a:r>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71682"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2.2 MCS-51</a:t>
            </a:r>
            <a:r>
              <a:rPr lang="zh-CN" altLang="en-US" sz="2800">
                <a:solidFill>
                  <a:srgbClr val="000000"/>
                </a:solidFill>
                <a:latin typeface="微软雅黑" panose="020B0503020204020204" pitchFamily="34" charset="-122"/>
                <a:ea typeface="微软雅黑" panose="020B0503020204020204" pitchFamily="34" charset="-122"/>
              </a:rPr>
              <a:t>存储结构及位处理器</a:t>
            </a:r>
          </a:p>
        </p:txBody>
      </p:sp>
      <p:sp>
        <p:nvSpPr>
          <p:cNvPr id="71684" name="矩形 4"/>
          <p:cNvSpPr>
            <a:spLocks noChangeArrowheads="1"/>
          </p:cNvSpPr>
          <p:nvPr/>
        </p:nvSpPr>
        <p:spPr bwMode="auto">
          <a:xfrm>
            <a:off x="2968625" y="6237288"/>
            <a:ext cx="3243263" cy="431800"/>
          </a:xfrm>
          <a:prstGeom prst="rect">
            <a:avLst/>
          </a:prstGeom>
          <a:noFill/>
          <a:ln w="9525">
            <a:noFill/>
            <a:miter lim="800000"/>
          </a:ln>
        </p:spPr>
        <p:txBody>
          <a:bodyPr wrap="none">
            <a:spAutoFit/>
          </a:bodyPr>
          <a:lstStyle/>
          <a:p>
            <a:pPr algn="ctr"/>
            <a:r>
              <a:rPr lang="en-US" altLang="zh-CN" sz="2200">
                <a:latin typeface="微软雅黑" panose="020B0503020204020204" pitchFamily="34" charset="-122"/>
                <a:ea typeface="微软雅黑" panose="020B0503020204020204" pitchFamily="34" charset="-122"/>
              </a:rPr>
              <a:t>MCS-51(8051)</a:t>
            </a:r>
            <a:r>
              <a:rPr lang="zh-CN" altLang="en-US" sz="2200">
                <a:latin typeface="微软雅黑" panose="020B0503020204020204" pitchFamily="34" charset="-122"/>
                <a:ea typeface="微软雅黑" panose="020B0503020204020204" pitchFamily="34" charset="-122"/>
              </a:rPr>
              <a:t>存储结构</a:t>
            </a:r>
          </a:p>
        </p:txBody>
      </p:sp>
      <p:pic>
        <p:nvPicPr>
          <p:cNvPr id="71685" name="图片 6"/>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71686" name="图片 7"/>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pic>
        <p:nvPicPr>
          <p:cNvPr id="3" name="图片 2"/>
          <p:cNvPicPr>
            <a:picLocks noChangeAspect="1"/>
          </p:cNvPicPr>
          <p:nvPr/>
        </p:nvPicPr>
        <p:blipFill>
          <a:blip r:embed="rId5"/>
          <a:stretch>
            <a:fillRect/>
          </a:stretch>
        </p:blipFill>
        <p:spPr>
          <a:xfrm>
            <a:off x="1392238" y="1938245"/>
            <a:ext cx="6915150" cy="386098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3729" name="文本框 1"/>
              <p:cNvSpPr txBox="1">
                <a:spLocks noChangeArrowheads="1"/>
              </p:cNvSpPr>
              <p:nvPr/>
            </p:nvSpPr>
            <p:spPr bwMode="auto">
              <a:xfrm>
                <a:off x="257175" y="736600"/>
                <a:ext cx="8636000" cy="3971472"/>
              </a:xfrm>
              <a:prstGeom prst="rect">
                <a:avLst/>
              </a:prstGeom>
              <a:noFill/>
              <a:ln w="9525">
                <a:noFill/>
                <a:miter lim="800000"/>
              </a:ln>
            </p:spPr>
            <p:txBody>
              <a:bodyPr>
                <a:spAutoFit/>
              </a:bodyPr>
              <a:lstStyle/>
              <a:p>
                <a:pPr algn="just">
                  <a:lnSpc>
                    <a:spcPct val="150000"/>
                  </a:lnSpc>
                </a:pPr>
                <a:r>
                  <a:rPr lang="en-US" altLang="zh-CN" sz="2400" b="1" dirty="0">
                    <a:solidFill>
                      <a:srgbClr val="000000"/>
                    </a:solidFill>
                    <a:latin typeface="微软雅黑" panose="020B0503020204020204" pitchFamily="34" charset="-122"/>
                    <a:ea typeface="微软雅黑" panose="020B0503020204020204" pitchFamily="34" charset="-122"/>
                  </a:rPr>
                  <a:t>2.2.1 MCS-51</a:t>
                </a:r>
                <a:r>
                  <a:rPr lang="zh-CN" altLang="en-US" sz="2400" b="1" dirty="0">
                    <a:solidFill>
                      <a:srgbClr val="000000"/>
                    </a:solidFill>
                    <a:latin typeface="微软雅黑" panose="020B0503020204020204" pitchFamily="34" charset="-122"/>
                    <a:ea typeface="微软雅黑" panose="020B0503020204020204" pitchFamily="34" charset="-122"/>
                  </a:rPr>
                  <a:t>存储器的特点</a:t>
                </a:r>
                <a:endParaRPr lang="en-US" altLang="zh-CN" sz="2400" b="1" dirty="0">
                  <a:solidFill>
                    <a:srgbClr val="000000"/>
                  </a:solidFill>
                  <a:latin typeface="微软雅黑" panose="020B0503020204020204" pitchFamily="34" charset="-122"/>
                  <a:ea typeface="微软雅黑" panose="020B0503020204020204" pitchFamily="34" charset="-122"/>
                </a:endParaRPr>
              </a:p>
              <a:p>
                <a:pPr marL="0" lvl="1" algn="just">
                  <a:lnSpc>
                    <a:spcPct val="150000"/>
                  </a:lnSpc>
                </a:pPr>
                <a:r>
                  <a:rPr lang="zh-CN" altLang="en-US" sz="2400" dirty="0">
                    <a:solidFill>
                      <a:srgbClr val="000000"/>
                    </a:solidFill>
                    <a:latin typeface="微软雅黑" panose="020B0503020204020204" pitchFamily="34" charset="-122"/>
                    <a:ea typeface="微软雅黑" panose="020B0503020204020204" pitchFamily="34" charset="-122"/>
                  </a:rPr>
                  <a:t>       由</a:t>
                </a:r>
                <a:r>
                  <a:rPr lang="en-US" altLang="zh-CN" sz="2400" dirty="0">
                    <a:solidFill>
                      <a:srgbClr val="000000"/>
                    </a:solidFill>
                    <a:latin typeface="微软雅黑" panose="020B0503020204020204" pitchFamily="34" charset="-122"/>
                    <a:ea typeface="微软雅黑" panose="020B0503020204020204" pitchFamily="34" charset="-122"/>
                  </a:rPr>
                  <a:t>MCS-51(8051)</a:t>
                </a:r>
                <a:r>
                  <a:rPr lang="zh-CN" altLang="en-US" sz="2400" dirty="0">
                    <a:solidFill>
                      <a:srgbClr val="000000"/>
                    </a:solidFill>
                    <a:latin typeface="微软雅黑" panose="020B0503020204020204" pitchFamily="34" charset="-122"/>
                    <a:ea typeface="微软雅黑" panose="020B0503020204020204" pitchFamily="34" charset="-122"/>
                  </a:rPr>
                  <a:t>的存储结构可知，内部程序存储器</a:t>
                </a:r>
                <a:r>
                  <a:rPr lang="en-US" altLang="zh-CN" sz="2400" dirty="0">
                    <a:solidFill>
                      <a:srgbClr val="000000"/>
                    </a:solidFill>
                    <a:latin typeface="微软雅黑" panose="020B0503020204020204" pitchFamily="34" charset="-122"/>
                    <a:ea typeface="微软雅黑" panose="020B0503020204020204" pitchFamily="34" charset="-122"/>
                  </a:rPr>
                  <a:t>(4KB</a:t>
                </a:r>
                <a:r>
                  <a:rPr lang="zh-CN" altLang="en-US" sz="2400" dirty="0">
                    <a:solidFill>
                      <a:srgbClr val="000000"/>
                    </a:solidFill>
                    <a:latin typeface="微软雅黑" panose="020B0503020204020204" pitchFamily="34" charset="-122"/>
                    <a:ea typeface="微软雅黑" panose="020B0503020204020204" pitchFamily="34" charset="-122"/>
                  </a:rPr>
                  <a:t> </a:t>
                </a:r>
                <a:r>
                  <a:rPr lang="en-US" altLang="zh-CN" sz="2400" dirty="0">
                    <a:solidFill>
                      <a:srgbClr val="000000"/>
                    </a:solidFill>
                    <a:latin typeface="微软雅黑" panose="020B0503020204020204" pitchFamily="34" charset="-122"/>
                    <a:ea typeface="微软雅黑" panose="020B0503020204020204" pitchFamily="34" charset="-122"/>
                  </a:rPr>
                  <a:t>ROM)</a:t>
                </a:r>
                <a:r>
                  <a:rPr lang="zh-CN" altLang="en-US" sz="2400" dirty="0">
                    <a:solidFill>
                      <a:srgbClr val="000000"/>
                    </a:solidFill>
                    <a:latin typeface="微软雅黑" panose="020B0503020204020204" pitchFamily="34" charset="-122"/>
                    <a:ea typeface="微软雅黑" panose="020B0503020204020204" pitchFamily="34" charset="-122"/>
                  </a:rPr>
                  <a:t>地址空间为</a:t>
                </a:r>
                <a:r>
                  <a:rPr lang="en-US" altLang="zh-CN" sz="2400" dirty="0">
                    <a:solidFill>
                      <a:srgbClr val="000000"/>
                    </a:solidFill>
                    <a:latin typeface="微软雅黑" panose="020B0503020204020204" pitchFamily="34" charset="-122"/>
                    <a:ea typeface="微软雅黑" panose="020B0503020204020204" pitchFamily="34" charset="-122"/>
                  </a:rPr>
                  <a:t>0000H~0FFFH</a:t>
                </a:r>
                <a:r>
                  <a:rPr lang="zh-CN" altLang="en-US" sz="2400" dirty="0">
                    <a:solidFill>
                      <a:srgbClr val="000000"/>
                    </a:solidFill>
                    <a:latin typeface="微软雅黑" panose="020B0503020204020204" pitchFamily="34" charset="-122"/>
                    <a:ea typeface="微软雅黑" panose="020B0503020204020204" pitchFamily="34" charset="-122"/>
                  </a:rPr>
                  <a:t>，外部程序存储器地址空间当</a:t>
                </a:r>
                <a14:m>
                  <m:oMath xmlns:m="http://schemas.openxmlformats.org/officeDocument/2006/math">
                    <m:acc>
                      <m:accPr>
                        <m:chr m:val="̅"/>
                        <m:ctrlPr>
                          <a:rPr lang="en-US" altLang="zh-CN" sz="2400" i="1" dirty="0" smtClean="0">
                            <a:solidFill>
                              <a:srgbClr val="0000FF"/>
                            </a:solidFill>
                            <a:latin typeface="Cambria Math" panose="02040503050406030204" pitchFamily="18" charset="0"/>
                            <a:ea typeface="微软雅黑" panose="020B0503020204020204" pitchFamily="34" charset="-122"/>
                          </a:rPr>
                        </m:ctrlPr>
                      </m:accPr>
                      <m:e>
                        <m:r>
                          <m:rPr>
                            <m:sty m:val="p"/>
                          </m:rPr>
                          <a:rPr lang="en-US" altLang="zh-CN" sz="2400" i="1" dirty="0" smtClean="0">
                            <a:solidFill>
                              <a:srgbClr val="0000FF"/>
                            </a:solidFill>
                            <a:latin typeface="Cambria Math" panose="02040503050406030204" pitchFamily="18" charset="0"/>
                            <a:ea typeface="微软雅黑" panose="020B0503020204020204" pitchFamily="34" charset="-122"/>
                          </a:rPr>
                          <m:t>EA</m:t>
                        </m:r>
                      </m:e>
                    </m:acc>
                  </m:oMath>
                </a14:m>
                <a:r>
                  <a:rPr lang="en-US" altLang="zh-CN" sz="2400" dirty="0">
                    <a:solidFill>
                      <a:srgbClr val="0000FF"/>
                    </a:solidFill>
                    <a:latin typeface="微软雅黑" panose="020B0503020204020204" pitchFamily="34" charset="-122"/>
                    <a:ea typeface="微软雅黑" panose="020B0503020204020204" pitchFamily="34" charset="-122"/>
                  </a:rPr>
                  <a:t>=1</a:t>
                </a:r>
                <a:r>
                  <a:rPr lang="zh-CN" altLang="en-US" sz="2400" dirty="0">
                    <a:solidFill>
                      <a:srgbClr val="000000"/>
                    </a:solidFill>
                    <a:latin typeface="微软雅黑" panose="020B0503020204020204" pitchFamily="34" charset="-122"/>
                    <a:ea typeface="微软雅黑" panose="020B0503020204020204" pitchFamily="34" charset="-122"/>
                  </a:rPr>
                  <a:t>时，为</a:t>
                </a:r>
                <a:r>
                  <a:rPr lang="en-US" altLang="zh-CN" sz="2400" dirty="0">
                    <a:solidFill>
                      <a:srgbClr val="0000FF"/>
                    </a:solidFill>
                    <a:latin typeface="微软雅黑" panose="020B0503020204020204" pitchFamily="34" charset="-122"/>
                    <a:ea typeface="微软雅黑" panose="020B0503020204020204" pitchFamily="34" charset="-122"/>
                  </a:rPr>
                  <a:t>1000H~FFFFH</a:t>
                </a:r>
                <a:r>
                  <a:rPr lang="zh-CN" altLang="en-US" sz="2400" dirty="0">
                    <a:solidFill>
                      <a:srgbClr val="000000"/>
                    </a:solidFill>
                    <a:latin typeface="微软雅黑" panose="020B0503020204020204" pitchFamily="34" charset="-122"/>
                    <a:ea typeface="微软雅黑" panose="020B0503020204020204" pitchFamily="34" charset="-122"/>
                  </a:rPr>
                  <a:t>；当</a:t>
                </a:r>
                <a14:m>
                  <m:oMath xmlns:m="http://schemas.openxmlformats.org/officeDocument/2006/math">
                    <m:acc>
                      <m:accPr>
                        <m:chr m:val="̅"/>
                        <m:ctrlPr>
                          <a:rPr lang="en-US" altLang="zh-CN" sz="2400" i="1" dirty="0">
                            <a:solidFill>
                              <a:srgbClr val="0000FF"/>
                            </a:solidFill>
                            <a:latin typeface="Cambria Math" panose="02040503050406030204" pitchFamily="18" charset="0"/>
                            <a:ea typeface="微软雅黑" panose="020B0503020204020204" pitchFamily="34" charset="-122"/>
                          </a:rPr>
                        </m:ctrlPr>
                      </m:accPr>
                      <m:e>
                        <m:r>
                          <m:rPr>
                            <m:sty m:val="p"/>
                          </m:rPr>
                          <a:rPr lang="en-US" altLang="zh-CN" sz="2400" i="1" dirty="0">
                            <a:solidFill>
                              <a:srgbClr val="0000FF"/>
                            </a:solidFill>
                            <a:latin typeface="Cambria Math" panose="02040503050406030204" pitchFamily="18" charset="0"/>
                            <a:ea typeface="微软雅黑" panose="020B0503020204020204" pitchFamily="34" charset="-122"/>
                          </a:rPr>
                          <m:t>EA</m:t>
                        </m:r>
                      </m:e>
                    </m:acc>
                  </m:oMath>
                </a14:m>
                <a:r>
                  <a:rPr lang="en-US" altLang="zh-CN" sz="2400" dirty="0">
                    <a:solidFill>
                      <a:srgbClr val="0000FF"/>
                    </a:solidFill>
                    <a:latin typeface="微软雅黑" panose="020B0503020204020204" pitchFamily="34" charset="-122"/>
                    <a:ea typeface="微软雅黑" panose="020B0503020204020204" pitchFamily="34" charset="-122"/>
                  </a:rPr>
                  <a:t>=0</a:t>
                </a:r>
                <a:r>
                  <a:rPr lang="zh-CN" altLang="en-US" sz="2400" dirty="0">
                    <a:solidFill>
                      <a:srgbClr val="000000"/>
                    </a:solidFill>
                    <a:latin typeface="微软雅黑" panose="020B0503020204020204" pitchFamily="34" charset="-122"/>
                    <a:ea typeface="微软雅黑" panose="020B0503020204020204" pitchFamily="34" charset="-122"/>
                  </a:rPr>
                  <a:t>时，为</a:t>
                </a:r>
                <a:r>
                  <a:rPr lang="en-US" altLang="zh-CN" sz="2400" dirty="0">
                    <a:solidFill>
                      <a:srgbClr val="0000FF"/>
                    </a:solidFill>
                    <a:latin typeface="微软雅黑" panose="020B0503020204020204" pitchFamily="34" charset="-122"/>
                    <a:ea typeface="微软雅黑" panose="020B0503020204020204" pitchFamily="34" charset="-122"/>
                  </a:rPr>
                  <a:t>0000H~FFFFH</a:t>
                </a:r>
                <a:r>
                  <a:rPr lang="zh-CN" altLang="en-US" sz="2400" dirty="0">
                    <a:solidFill>
                      <a:srgbClr val="000000"/>
                    </a:solidFill>
                    <a:latin typeface="微软雅黑" panose="020B0503020204020204" pitchFamily="34" charset="-122"/>
                    <a:ea typeface="微软雅黑" panose="020B0503020204020204" pitchFamily="34" charset="-122"/>
                  </a:rPr>
                  <a:t>。</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lvl="1" algn="just">
                  <a:lnSpc>
                    <a:spcPct val="150000"/>
                  </a:lnSpc>
                </a:pPr>
                <a:r>
                  <a:rPr lang="zh-CN" altLang="en-US" sz="2400" dirty="0">
                    <a:solidFill>
                      <a:srgbClr val="000000"/>
                    </a:solidFill>
                    <a:latin typeface="微软雅黑" panose="020B0503020204020204" pitchFamily="34" charset="-122"/>
                    <a:ea typeface="微软雅黑" panose="020B0503020204020204" pitchFamily="34" charset="-122"/>
                  </a:rPr>
                  <a:t>       内部数据存储器</a:t>
                </a:r>
                <a:r>
                  <a:rPr lang="en-US" altLang="zh-CN" sz="2400" dirty="0">
                    <a:solidFill>
                      <a:srgbClr val="000000"/>
                    </a:solidFill>
                    <a:latin typeface="微软雅黑" panose="020B0503020204020204" pitchFamily="34" charset="-122"/>
                    <a:ea typeface="微软雅黑" panose="020B0503020204020204" pitchFamily="34" charset="-122"/>
                  </a:rPr>
                  <a:t>(128B</a:t>
                </a:r>
                <a:r>
                  <a:rPr lang="zh-CN" altLang="en-US" sz="2400" dirty="0">
                    <a:solidFill>
                      <a:srgbClr val="000000"/>
                    </a:solidFill>
                    <a:latin typeface="微软雅黑" panose="020B0503020204020204" pitchFamily="34" charset="-122"/>
                    <a:ea typeface="微软雅黑" panose="020B0503020204020204" pitchFamily="34" charset="-122"/>
                  </a:rPr>
                  <a:t> </a:t>
                </a:r>
                <a:r>
                  <a:rPr lang="en-US" altLang="zh-CN" sz="2400" dirty="0">
                    <a:solidFill>
                      <a:srgbClr val="000000"/>
                    </a:solidFill>
                    <a:latin typeface="微软雅黑" panose="020B0503020204020204" pitchFamily="34" charset="-122"/>
                    <a:ea typeface="微软雅黑" panose="020B0503020204020204" pitchFamily="34" charset="-122"/>
                  </a:rPr>
                  <a:t>RAM)</a:t>
                </a:r>
                <a:r>
                  <a:rPr lang="zh-CN" altLang="en-US" sz="2400" dirty="0">
                    <a:solidFill>
                      <a:srgbClr val="000000"/>
                    </a:solidFill>
                    <a:latin typeface="微软雅黑" panose="020B0503020204020204" pitchFamily="34" charset="-122"/>
                    <a:ea typeface="微软雅黑" panose="020B0503020204020204" pitchFamily="34" charset="-122"/>
                  </a:rPr>
                  <a:t>地址空间为</a:t>
                </a:r>
                <a:r>
                  <a:rPr lang="en-US" altLang="zh-CN" sz="2400" dirty="0">
                    <a:solidFill>
                      <a:srgbClr val="0000FF"/>
                    </a:solidFill>
                    <a:latin typeface="微软雅黑" panose="020B0503020204020204" pitchFamily="34" charset="-122"/>
                    <a:ea typeface="微软雅黑" panose="020B0503020204020204" pitchFamily="34" charset="-122"/>
                  </a:rPr>
                  <a:t>00H~7FH</a:t>
                </a:r>
                <a:r>
                  <a:rPr lang="zh-CN" altLang="en-US" sz="2400" dirty="0">
                    <a:solidFill>
                      <a:srgbClr val="000000"/>
                    </a:solidFill>
                    <a:latin typeface="微软雅黑" panose="020B0503020204020204" pitchFamily="34" charset="-122"/>
                    <a:ea typeface="微软雅黑" panose="020B0503020204020204" pitchFamily="34" charset="-122"/>
                  </a:rPr>
                  <a:t>，特殊功能寄存器</a:t>
                </a:r>
                <a:r>
                  <a:rPr lang="en-US" altLang="zh-CN" sz="2400" dirty="0">
                    <a:solidFill>
                      <a:srgbClr val="000000"/>
                    </a:solidFill>
                    <a:latin typeface="微软雅黑" panose="020B0503020204020204" pitchFamily="34" charset="-122"/>
                    <a:ea typeface="微软雅黑" panose="020B0503020204020204" pitchFamily="34" charset="-122"/>
                  </a:rPr>
                  <a:t>(128B</a:t>
                </a:r>
                <a:r>
                  <a:rPr lang="zh-CN" altLang="en-US" sz="2400" dirty="0">
                    <a:solidFill>
                      <a:srgbClr val="000000"/>
                    </a:solidFill>
                    <a:latin typeface="微软雅黑" panose="020B0503020204020204" pitchFamily="34" charset="-122"/>
                    <a:ea typeface="微软雅黑" panose="020B0503020204020204" pitchFamily="34" charset="-122"/>
                  </a:rPr>
                  <a:t>，共</a:t>
                </a:r>
                <a:r>
                  <a:rPr lang="en-US" altLang="zh-CN" sz="2400" dirty="0">
                    <a:solidFill>
                      <a:srgbClr val="0000FF"/>
                    </a:solidFill>
                    <a:latin typeface="微软雅黑" panose="020B0503020204020204" pitchFamily="34" charset="-122"/>
                    <a:ea typeface="微软雅黑" panose="020B0503020204020204" pitchFamily="34" charset="-122"/>
                  </a:rPr>
                  <a:t>21</a:t>
                </a:r>
                <a:r>
                  <a:rPr lang="zh-CN" altLang="en-US" sz="2400" dirty="0">
                    <a:solidFill>
                      <a:srgbClr val="000000"/>
                    </a:solidFill>
                    <a:latin typeface="微软雅黑" panose="020B0503020204020204" pitchFamily="34" charset="-122"/>
                    <a:ea typeface="微软雅黑" panose="020B0503020204020204" pitchFamily="34" charset="-122"/>
                  </a:rPr>
                  <a:t>个</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在</a:t>
                </a:r>
                <a:r>
                  <a:rPr lang="en-US" altLang="zh-CN" sz="2400" dirty="0">
                    <a:solidFill>
                      <a:srgbClr val="000000"/>
                    </a:solidFill>
                    <a:latin typeface="微软雅黑" panose="020B0503020204020204" pitchFamily="34" charset="-122"/>
                    <a:ea typeface="微软雅黑" panose="020B0503020204020204" pitchFamily="34" charset="-122"/>
                  </a:rPr>
                  <a:t>RAM</a:t>
                </a:r>
                <a:r>
                  <a:rPr lang="zh-CN" altLang="en-US" sz="2400" dirty="0">
                    <a:solidFill>
                      <a:srgbClr val="000000"/>
                    </a:solidFill>
                    <a:latin typeface="微软雅黑" panose="020B0503020204020204" pitchFamily="34" charset="-122"/>
                    <a:ea typeface="微软雅黑" panose="020B0503020204020204" pitchFamily="34" charset="-122"/>
                  </a:rPr>
                  <a:t>的</a:t>
                </a:r>
                <a:r>
                  <a:rPr lang="en-US" altLang="zh-CN" sz="2400" dirty="0">
                    <a:solidFill>
                      <a:srgbClr val="0000FF"/>
                    </a:solidFill>
                    <a:latin typeface="微软雅黑" panose="020B0503020204020204" pitchFamily="34" charset="-122"/>
                    <a:ea typeface="微软雅黑" panose="020B0503020204020204" pitchFamily="34" charset="-122"/>
                  </a:rPr>
                  <a:t>80H~FFH</a:t>
                </a:r>
                <a:r>
                  <a:rPr lang="zh-CN" altLang="en-US" sz="2400" dirty="0">
                    <a:solidFill>
                      <a:srgbClr val="000000"/>
                    </a:solidFill>
                    <a:latin typeface="微软雅黑" panose="020B0503020204020204" pitchFamily="34" charset="-122"/>
                    <a:ea typeface="微软雅黑" panose="020B0503020204020204" pitchFamily="34" charset="-122"/>
                  </a:rPr>
                  <a:t>地址空间内，而外部数据存储器地址空间为</a:t>
                </a:r>
                <a:r>
                  <a:rPr lang="en-US" altLang="zh-CN" sz="2400" dirty="0">
                    <a:solidFill>
                      <a:srgbClr val="0000FF"/>
                    </a:solidFill>
                    <a:latin typeface="微软雅黑" panose="020B0503020204020204" pitchFamily="34" charset="-122"/>
                    <a:ea typeface="微软雅黑" panose="020B0503020204020204" pitchFamily="34" charset="-122"/>
                  </a:rPr>
                  <a:t>0000H~FFFFH</a:t>
                </a:r>
                <a:r>
                  <a:rPr lang="zh-CN" altLang="en-US" sz="2400" dirty="0">
                    <a:solidFill>
                      <a:srgbClr val="000000"/>
                    </a:solidFill>
                    <a:latin typeface="微软雅黑" panose="020B0503020204020204" pitchFamily="34" charset="-122"/>
                    <a:ea typeface="微软雅黑" panose="020B0503020204020204" pitchFamily="34" charset="-122"/>
                  </a:rPr>
                  <a:t>。</a:t>
                </a:r>
              </a:p>
            </p:txBody>
          </p:sp>
        </mc:Choice>
        <mc:Fallback xmlns="">
          <p:sp>
            <p:nvSpPr>
              <p:cNvPr id="73729" name="文本框 1"/>
              <p:cNvSpPr txBox="1">
                <a:spLocks noRot="1" noChangeAspect="1" noMove="1" noResize="1" noEditPoints="1" noAdjustHandles="1" noChangeArrowheads="1" noChangeShapeType="1" noTextEdit="1"/>
              </p:cNvSpPr>
              <p:nvPr/>
            </p:nvSpPr>
            <p:spPr bwMode="auto">
              <a:xfrm>
                <a:off x="257175" y="736600"/>
                <a:ext cx="8636000" cy="3971472"/>
              </a:xfrm>
              <a:prstGeom prst="rect">
                <a:avLst/>
              </a:prstGeom>
              <a:blipFill rotWithShape="1">
                <a:blip r:embed="rId3"/>
                <a:stretch>
                  <a:fillRect b="5"/>
                </a:stretch>
              </a:blipFill>
              <a:ln w="9525">
                <a:noFill/>
                <a:miter lim="800000"/>
              </a:ln>
            </p:spPr>
            <p:txBody>
              <a:bodyPr/>
              <a:lstStyle/>
              <a:p>
                <a:r>
                  <a:rPr lang="zh-CN" altLang="en-US">
                    <a:noFill/>
                  </a:rPr>
                  <a:t> </a:t>
                </a:r>
              </a:p>
            </p:txBody>
          </p:sp>
        </mc:Fallback>
      </mc:AlternateContent>
      <p:sp>
        <p:nvSpPr>
          <p:cNvPr id="73730"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2.2 MCS-51</a:t>
            </a:r>
            <a:r>
              <a:rPr lang="zh-CN" altLang="en-US" sz="2800">
                <a:solidFill>
                  <a:srgbClr val="000000"/>
                </a:solidFill>
                <a:latin typeface="微软雅黑" panose="020B0503020204020204" pitchFamily="34" charset="-122"/>
                <a:ea typeface="微软雅黑" panose="020B0503020204020204" pitchFamily="34" charset="-122"/>
              </a:rPr>
              <a:t>存储结构及位处理器</a:t>
            </a:r>
          </a:p>
        </p:txBody>
      </p:sp>
      <p:pic>
        <p:nvPicPr>
          <p:cNvPr id="73731" name="图片 3"/>
          <p:cNvPicPr>
            <a:picLocks noChangeAspect="1"/>
          </p:cNvPicPr>
          <p:nvPr/>
        </p:nvPicPr>
        <p:blipFill>
          <a:blip r:embed="rId4"/>
          <a:srcRect/>
          <a:stretch>
            <a:fillRect/>
          </a:stretch>
        </p:blipFill>
        <p:spPr bwMode="auto">
          <a:xfrm>
            <a:off x="7018338" y="80963"/>
            <a:ext cx="1876425" cy="539750"/>
          </a:xfrm>
          <a:prstGeom prst="rect">
            <a:avLst/>
          </a:prstGeom>
          <a:noFill/>
          <a:ln w="9525">
            <a:noFill/>
            <a:miter lim="800000"/>
            <a:headEnd/>
            <a:tailEnd/>
          </a:ln>
        </p:spPr>
      </p:pic>
      <p:pic>
        <p:nvPicPr>
          <p:cNvPr id="73732" name="图片 4"/>
          <p:cNvPicPr>
            <a:picLocks noChangeAspect="1"/>
          </p:cNvPicPr>
          <p:nvPr/>
        </p:nvPicPr>
        <p:blipFill>
          <a:blip r:embed="rId5"/>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文本框 1"/>
          <p:cNvSpPr txBox="1">
            <a:spLocks noChangeArrowheads="1"/>
          </p:cNvSpPr>
          <p:nvPr/>
        </p:nvSpPr>
        <p:spPr bwMode="auto">
          <a:xfrm>
            <a:off x="257175" y="736600"/>
            <a:ext cx="8636000" cy="581025"/>
          </a:xfrm>
          <a:prstGeom prst="rect">
            <a:avLst/>
          </a:prstGeom>
          <a:noFill/>
          <a:ln w="9525">
            <a:noFill/>
            <a:miter lim="800000"/>
          </a:ln>
        </p:spPr>
        <p:txBody>
          <a:bodyPr>
            <a:spAutoFit/>
          </a:bodyPr>
          <a:lstStyle/>
          <a:p>
            <a:pPr algn="just">
              <a:lnSpc>
                <a:spcPct val="150000"/>
              </a:lnSpc>
            </a:pPr>
            <a:r>
              <a:rPr lang="en-US" altLang="zh-CN" sz="2400" b="1">
                <a:solidFill>
                  <a:srgbClr val="000000"/>
                </a:solidFill>
                <a:latin typeface="微软雅黑" panose="020B0503020204020204" pitchFamily="34" charset="-122"/>
                <a:ea typeface="微软雅黑" panose="020B0503020204020204" pitchFamily="34" charset="-122"/>
              </a:rPr>
              <a:t>2.2.2 MCS-51</a:t>
            </a:r>
            <a:r>
              <a:rPr lang="zh-CN" altLang="en-US" sz="2400" b="1">
                <a:solidFill>
                  <a:srgbClr val="000000"/>
                </a:solidFill>
                <a:latin typeface="微软雅黑" panose="020B0503020204020204" pitchFamily="34" charset="-122"/>
                <a:ea typeface="微软雅黑" panose="020B0503020204020204" pitchFamily="34" charset="-122"/>
              </a:rPr>
              <a:t>存储器的特点</a:t>
            </a:r>
            <a:endParaRPr lang="en-US" altLang="zh-CN" sz="2400" b="1">
              <a:solidFill>
                <a:srgbClr val="000000"/>
              </a:solidFill>
              <a:latin typeface="微软雅黑" panose="020B0503020204020204" pitchFamily="34" charset="-122"/>
              <a:ea typeface="微软雅黑" panose="020B0503020204020204" pitchFamily="34" charset="-122"/>
            </a:endParaRPr>
          </a:p>
        </p:txBody>
      </p:sp>
      <p:sp>
        <p:nvSpPr>
          <p:cNvPr id="7577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2.2 MCS-51</a:t>
            </a:r>
            <a:r>
              <a:rPr lang="zh-CN" altLang="en-US" sz="2800">
                <a:solidFill>
                  <a:srgbClr val="000000"/>
                </a:solidFill>
                <a:latin typeface="微软雅黑" panose="020B0503020204020204" pitchFamily="34" charset="-122"/>
                <a:ea typeface="微软雅黑" panose="020B0503020204020204" pitchFamily="34" charset="-122"/>
              </a:rPr>
              <a:t>存储结构及位处理器</a:t>
            </a:r>
          </a:p>
        </p:txBody>
      </p:sp>
      <p:grpSp>
        <p:nvGrpSpPr>
          <p:cNvPr id="75779" name="组合 2"/>
          <p:cNvGrpSpPr/>
          <p:nvPr/>
        </p:nvGrpSpPr>
        <p:grpSpPr bwMode="auto">
          <a:xfrm>
            <a:off x="950913" y="884238"/>
            <a:ext cx="7712075" cy="5635625"/>
            <a:chOff x="1027113" y="1138005"/>
            <a:chExt cx="7712075" cy="5636471"/>
          </a:xfrm>
        </p:grpSpPr>
        <p:sp>
          <p:nvSpPr>
            <p:cNvPr id="75783" name="Rectangle 3"/>
            <p:cNvSpPr>
              <a:spLocks noChangeArrowheads="1"/>
            </p:cNvSpPr>
            <p:nvPr/>
          </p:nvSpPr>
          <p:spPr bwMode="auto">
            <a:xfrm>
              <a:off x="1636713" y="4750877"/>
              <a:ext cx="1676400" cy="1524000"/>
            </a:xfrm>
            <a:prstGeom prst="rect">
              <a:avLst/>
            </a:prstGeom>
            <a:solidFill>
              <a:schemeClr val="accent1"/>
            </a:solidFill>
            <a:ln w="12700" cap="sq">
              <a:solidFill>
                <a:schemeClr val="tx1"/>
              </a:solidFill>
              <a:miter lim="800000"/>
              <a:headEnd type="none" w="sm" len="sm"/>
              <a:tailEnd type="none" w="sm" len="sm"/>
            </a:ln>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5784" name="Rectangle 4"/>
            <p:cNvSpPr>
              <a:spLocks noChangeArrowheads="1"/>
            </p:cNvSpPr>
            <p:nvPr/>
          </p:nvSpPr>
          <p:spPr bwMode="auto">
            <a:xfrm>
              <a:off x="1636713" y="3226877"/>
              <a:ext cx="1676400" cy="1524000"/>
            </a:xfrm>
            <a:prstGeom prst="rect">
              <a:avLst/>
            </a:prstGeom>
            <a:noFill/>
            <a:ln w="12700" cap="sq">
              <a:solidFill>
                <a:schemeClr val="tx1"/>
              </a:solidFill>
              <a:miter lim="800000"/>
              <a:headEnd type="none" w="sm" len="sm"/>
              <a:tailEnd type="none" w="sm" len="sm"/>
            </a:ln>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5785" name="Line 5"/>
            <p:cNvSpPr>
              <a:spLocks noChangeShapeType="1"/>
            </p:cNvSpPr>
            <p:nvPr/>
          </p:nvSpPr>
          <p:spPr bwMode="auto">
            <a:xfrm>
              <a:off x="1636713" y="5970077"/>
              <a:ext cx="1676400" cy="0"/>
            </a:xfrm>
            <a:prstGeom prst="line">
              <a:avLst/>
            </a:prstGeom>
            <a:noFill/>
            <a:ln w="12700" cap="sq">
              <a:solidFill>
                <a:schemeClr val="bg1"/>
              </a:solidFill>
              <a:round/>
              <a:headEnd type="none" w="sm" len="sm"/>
              <a:tailEnd type="none" w="sm" len="sm"/>
            </a:ln>
          </p:spPr>
          <p:txBody>
            <a:bodyPr wrap="none"/>
            <a:lstStyle/>
            <a:p>
              <a:endParaRPr lang="zh-CN" altLang="en-US"/>
            </a:p>
          </p:txBody>
        </p:sp>
        <p:sp>
          <p:nvSpPr>
            <p:cNvPr id="75786" name="Line 6"/>
            <p:cNvSpPr>
              <a:spLocks noChangeShapeType="1"/>
            </p:cNvSpPr>
            <p:nvPr/>
          </p:nvSpPr>
          <p:spPr bwMode="auto">
            <a:xfrm>
              <a:off x="1636713" y="5589077"/>
              <a:ext cx="1676400" cy="0"/>
            </a:xfrm>
            <a:prstGeom prst="line">
              <a:avLst/>
            </a:prstGeom>
            <a:noFill/>
            <a:ln w="12700" cap="sq">
              <a:solidFill>
                <a:schemeClr val="bg1"/>
              </a:solidFill>
              <a:round/>
              <a:headEnd type="none" w="sm" len="sm"/>
              <a:tailEnd type="none" w="sm" len="sm"/>
            </a:ln>
          </p:spPr>
          <p:txBody>
            <a:bodyPr wrap="none"/>
            <a:lstStyle/>
            <a:p>
              <a:endParaRPr lang="zh-CN" altLang="en-US"/>
            </a:p>
          </p:txBody>
        </p:sp>
        <p:sp>
          <p:nvSpPr>
            <p:cNvPr id="75787" name="Text Box 7"/>
            <p:cNvSpPr txBox="1">
              <a:spLocks noChangeArrowheads="1"/>
            </p:cNvSpPr>
            <p:nvPr/>
          </p:nvSpPr>
          <p:spPr bwMode="auto">
            <a:xfrm>
              <a:off x="1027113" y="6122482"/>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00H</a:t>
              </a:r>
            </a:p>
          </p:txBody>
        </p:sp>
        <p:sp>
          <p:nvSpPr>
            <p:cNvPr id="75788" name="Text Box 8"/>
            <p:cNvSpPr txBox="1">
              <a:spLocks noChangeArrowheads="1"/>
            </p:cNvSpPr>
            <p:nvPr/>
          </p:nvSpPr>
          <p:spPr bwMode="auto">
            <a:xfrm>
              <a:off x="1027113" y="5722425"/>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20H</a:t>
              </a:r>
            </a:p>
          </p:txBody>
        </p:sp>
        <p:sp>
          <p:nvSpPr>
            <p:cNvPr id="75789" name="Text Box 9"/>
            <p:cNvSpPr txBox="1">
              <a:spLocks noChangeArrowheads="1"/>
            </p:cNvSpPr>
            <p:nvPr/>
          </p:nvSpPr>
          <p:spPr bwMode="auto">
            <a:xfrm>
              <a:off x="1027113" y="5523994"/>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2FH</a:t>
              </a:r>
            </a:p>
          </p:txBody>
        </p:sp>
        <p:sp>
          <p:nvSpPr>
            <p:cNvPr id="75790" name="Text Box 10"/>
            <p:cNvSpPr txBox="1">
              <a:spLocks noChangeArrowheads="1"/>
            </p:cNvSpPr>
            <p:nvPr/>
          </p:nvSpPr>
          <p:spPr bwMode="auto">
            <a:xfrm>
              <a:off x="1027113" y="4598477"/>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7FH</a:t>
              </a:r>
            </a:p>
          </p:txBody>
        </p:sp>
        <p:sp>
          <p:nvSpPr>
            <p:cNvPr id="75791" name="Text Box 11"/>
            <p:cNvSpPr txBox="1">
              <a:spLocks noChangeArrowheads="1"/>
            </p:cNvSpPr>
            <p:nvPr/>
          </p:nvSpPr>
          <p:spPr bwMode="auto">
            <a:xfrm>
              <a:off x="1027113" y="5917692"/>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1FH</a:t>
              </a:r>
            </a:p>
          </p:txBody>
        </p:sp>
        <p:sp>
          <p:nvSpPr>
            <p:cNvPr id="75792" name="Text Box 12"/>
            <p:cNvSpPr txBox="1">
              <a:spLocks noChangeArrowheads="1"/>
            </p:cNvSpPr>
            <p:nvPr/>
          </p:nvSpPr>
          <p:spPr bwMode="auto">
            <a:xfrm>
              <a:off x="1027113" y="5327144"/>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30H</a:t>
              </a:r>
            </a:p>
          </p:txBody>
        </p:sp>
        <p:sp>
          <p:nvSpPr>
            <p:cNvPr id="75793" name="Text Box 13"/>
            <p:cNvSpPr txBox="1">
              <a:spLocks noChangeArrowheads="1"/>
            </p:cNvSpPr>
            <p:nvPr/>
          </p:nvSpPr>
          <p:spPr bwMode="auto">
            <a:xfrm>
              <a:off x="1027113" y="4407977"/>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80H</a:t>
              </a:r>
            </a:p>
          </p:txBody>
        </p:sp>
        <p:sp>
          <p:nvSpPr>
            <p:cNvPr id="75794" name="Text Box 14"/>
            <p:cNvSpPr txBox="1">
              <a:spLocks noChangeArrowheads="1"/>
            </p:cNvSpPr>
            <p:nvPr/>
          </p:nvSpPr>
          <p:spPr bwMode="auto">
            <a:xfrm>
              <a:off x="1027113" y="3131627"/>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FFH</a:t>
              </a:r>
            </a:p>
          </p:txBody>
        </p:sp>
        <p:sp>
          <p:nvSpPr>
            <p:cNvPr id="75795" name="Text Box 15"/>
            <p:cNvSpPr txBox="1">
              <a:spLocks noChangeArrowheads="1"/>
            </p:cNvSpPr>
            <p:nvPr/>
          </p:nvSpPr>
          <p:spPr bwMode="auto">
            <a:xfrm>
              <a:off x="1712913" y="3607877"/>
              <a:ext cx="1447800" cy="584775"/>
            </a:xfrm>
            <a:prstGeom prst="rect">
              <a:avLst/>
            </a:prstGeom>
            <a:noFill/>
            <a:ln w="9525">
              <a:noFill/>
              <a:miter lim="800000"/>
            </a:ln>
          </p:spPr>
          <p:txBody>
            <a:bodyPr>
              <a:spAutoFit/>
            </a:bodyPr>
            <a:lstStyle/>
            <a:p>
              <a:pPr algn="ctr"/>
              <a:r>
                <a:rPr lang="en-US" altLang="zh-CN" sz="1600">
                  <a:latin typeface="微软雅黑" panose="020B0503020204020204" pitchFamily="34" charset="-122"/>
                  <a:ea typeface="微软雅黑" panose="020B0503020204020204" pitchFamily="34" charset="-122"/>
                </a:rPr>
                <a:t>52</a:t>
              </a:r>
              <a:r>
                <a:rPr lang="zh-CN" altLang="en-US" sz="1600">
                  <a:latin typeface="微软雅黑" panose="020B0503020204020204" pitchFamily="34" charset="-122"/>
                  <a:ea typeface="微软雅黑" panose="020B0503020204020204" pitchFamily="34" charset="-122"/>
                </a:rPr>
                <a:t>子系列才有</a:t>
              </a:r>
            </a:p>
            <a:p>
              <a:pPr algn="ctr"/>
              <a:r>
                <a:rPr lang="zh-CN" altLang="en-US" sz="1600">
                  <a:latin typeface="微软雅黑" panose="020B0503020204020204" pitchFamily="34" charset="-122"/>
                  <a:ea typeface="微软雅黑" panose="020B0503020204020204" pitchFamily="34" charset="-122"/>
                </a:rPr>
                <a:t>的</a:t>
              </a:r>
              <a:r>
                <a:rPr lang="en-US" altLang="zh-CN" sz="1600">
                  <a:latin typeface="微软雅黑" panose="020B0503020204020204" pitchFamily="34" charset="-122"/>
                  <a:ea typeface="微软雅黑" panose="020B0503020204020204" pitchFamily="34" charset="-122"/>
                </a:rPr>
                <a:t>RAM</a:t>
              </a:r>
              <a:r>
                <a:rPr lang="zh-CN" altLang="en-US" sz="1600">
                  <a:latin typeface="微软雅黑" panose="020B0503020204020204" pitchFamily="34" charset="-122"/>
                  <a:ea typeface="微软雅黑" panose="020B0503020204020204" pitchFamily="34" charset="-122"/>
                </a:rPr>
                <a:t>区</a:t>
              </a:r>
            </a:p>
          </p:txBody>
        </p:sp>
        <p:sp>
          <p:nvSpPr>
            <p:cNvPr id="75796" name="Text Box 16"/>
            <p:cNvSpPr txBox="1">
              <a:spLocks noChangeArrowheads="1"/>
            </p:cNvSpPr>
            <p:nvPr/>
          </p:nvSpPr>
          <p:spPr bwMode="auto">
            <a:xfrm>
              <a:off x="1770063" y="4979477"/>
              <a:ext cx="1524000" cy="366712"/>
            </a:xfrm>
            <a:prstGeom prst="rect">
              <a:avLst/>
            </a:prstGeom>
            <a:noFill/>
            <a:ln w="9525">
              <a:noFill/>
              <a:miter lim="800000"/>
            </a:ln>
          </p:spPr>
          <p:txBody>
            <a:bodyPr>
              <a:spAutoFit/>
            </a:bodyPr>
            <a:lstStyle/>
            <a:p>
              <a:r>
                <a:rPr lang="zh-CN" altLang="en-US">
                  <a:latin typeface="微软雅黑" panose="020B0503020204020204" pitchFamily="34" charset="-122"/>
                  <a:ea typeface="微软雅黑" panose="020B0503020204020204" pitchFamily="34" charset="-122"/>
                </a:rPr>
                <a:t>普通</a:t>
              </a:r>
              <a:r>
                <a:rPr lang="en-US" altLang="zh-CN">
                  <a:latin typeface="微软雅黑" panose="020B0503020204020204" pitchFamily="34" charset="-122"/>
                  <a:ea typeface="微软雅黑" panose="020B0503020204020204" pitchFamily="34" charset="-122"/>
                </a:rPr>
                <a:t>RAM</a:t>
              </a:r>
              <a:r>
                <a:rPr lang="zh-CN" altLang="en-US">
                  <a:latin typeface="微软雅黑" panose="020B0503020204020204" pitchFamily="34" charset="-122"/>
                  <a:ea typeface="微软雅黑" panose="020B0503020204020204" pitchFamily="34" charset="-122"/>
                </a:rPr>
                <a:t>区</a:t>
              </a:r>
            </a:p>
          </p:txBody>
        </p:sp>
        <p:sp>
          <p:nvSpPr>
            <p:cNvPr id="75797" name="Text Box 17"/>
            <p:cNvSpPr txBox="1">
              <a:spLocks noChangeArrowheads="1"/>
            </p:cNvSpPr>
            <p:nvPr/>
          </p:nvSpPr>
          <p:spPr bwMode="auto">
            <a:xfrm>
              <a:off x="1941513" y="5589077"/>
              <a:ext cx="1219200" cy="366712"/>
            </a:xfrm>
            <a:prstGeom prst="rect">
              <a:avLst/>
            </a:prstGeom>
            <a:noFill/>
            <a:ln w="9525">
              <a:noFill/>
              <a:miter lim="800000"/>
            </a:ln>
          </p:spPr>
          <p:txBody>
            <a:bodyPr>
              <a:spAutoFit/>
            </a:bodyPr>
            <a:lstStyle/>
            <a:p>
              <a:r>
                <a:rPr lang="zh-CN" altLang="en-US">
                  <a:latin typeface="微软雅黑" panose="020B0503020204020204" pitchFamily="34" charset="-122"/>
                  <a:ea typeface="微软雅黑" panose="020B0503020204020204" pitchFamily="34" charset="-122"/>
                </a:rPr>
                <a:t>位寻址区</a:t>
              </a:r>
            </a:p>
          </p:txBody>
        </p:sp>
        <p:sp>
          <p:nvSpPr>
            <p:cNvPr id="75798" name="Text Box 18"/>
            <p:cNvSpPr txBox="1">
              <a:spLocks noChangeArrowheads="1"/>
            </p:cNvSpPr>
            <p:nvPr/>
          </p:nvSpPr>
          <p:spPr bwMode="auto">
            <a:xfrm>
              <a:off x="1655763" y="5931977"/>
              <a:ext cx="1600200" cy="366712"/>
            </a:xfrm>
            <a:prstGeom prst="rect">
              <a:avLst/>
            </a:prstGeom>
            <a:noFill/>
            <a:ln w="9525">
              <a:noFill/>
              <a:miter lim="800000"/>
            </a:ln>
          </p:spPr>
          <p:txBody>
            <a:bodyPr>
              <a:spAutoFit/>
            </a:bodyPr>
            <a:lstStyle/>
            <a:p>
              <a:r>
                <a:rPr lang="zh-CN" altLang="en-US">
                  <a:latin typeface="微软雅黑" panose="020B0503020204020204" pitchFamily="34" charset="-122"/>
                  <a:ea typeface="微软雅黑" panose="020B0503020204020204" pitchFamily="34" charset="-122"/>
                </a:rPr>
                <a:t>工作寄存器区</a:t>
              </a:r>
            </a:p>
          </p:txBody>
        </p:sp>
        <p:sp>
          <p:nvSpPr>
            <p:cNvPr id="75799" name="Text Box 19"/>
            <p:cNvSpPr txBox="1">
              <a:spLocks noChangeArrowheads="1"/>
            </p:cNvSpPr>
            <p:nvPr/>
          </p:nvSpPr>
          <p:spPr bwMode="auto">
            <a:xfrm>
              <a:off x="4303713" y="3303077"/>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27H</a:t>
              </a:r>
            </a:p>
          </p:txBody>
        </p:sp>
        <p:sp>
          <p:nvSpPr>
            <p:cNvPr id="75800" name="Text Box 20"/>
            <p:cNvSpPr txBox="1">
              <a:spLocks noChangeArrowheads="1"/>
            </p:cNvSpPr>
            <p:nvPr/>
          </p:nvSpPr>
          <p:spPr bwMode="auto">
            <a:xfrm>
              <a:off x="4303713" y="5217602"/>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22H</a:t>
              </a:r>
            </a:p>
          </p:txBody>
        </p:sp>
        <p:sp>
          <p:nvSpPr>
            <p:cNvPr id="75801" name="Text Box 21"/>
            <p:cNvSpPr txBox="1">
              <a:spLocks noChangeArrowheads="1"/>
            </p:cNvSpPr>
            <p:nvPr/>
          </p:nvSpPr>
          <p:spPr bwMode="auto">
            <a:xfrm>
              <a:off x="4303713" y="5589077"/>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21H</a:t>
              </a:r>
            </a:p>
          </p:txBody>
        </p:sp>
        <p:sp>
          <p:nvSpPr>
            <p:cNvPr id="75802" name="Text Box 22"/>
            <p:cNvSpPr txBox="1">
              <a:spLocks noChangeArrowheads="1"/>
            </p:cNvSpPr>
            <p:nvPr/>
          </p:nvSpPr>
          <p:spPr bwMode="auto">
            <a:xfrm>
              <a:off x="4303713" y="5976427"/>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20H</a:t>
              </a:r>
            </a:p>
          </p:txBody>
        </p:sp>
        <p:sp>
          <p:nvSpPr>
            <p:cNvPr id="75803" name="Text Box 23"/>
            <p:cNvSpPr txBox="1">
              <a:spLocks noChangeArrowheads="1"/>
            </p:cNvSpPr>
            <p:nvPr/>
          </p:nvSpPr>
          <p:spPr bwMode="auto">
            <a:xfrm>
              <a:off x="4303713" y="3684077"/>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26H</a:t>
              </a:r>
            </a:p>
          </p:txBody>
        </p:sp>
        <p:sp>
          <p:nvSpPr>
            <p:cNvPr id="75804" name="Text Box 24"/>
            <p:cNvSpPr txBox="1">
              <a:spLocks noChangeArrowheads="1"/>
            </p:cNvSpPr>
            <p:nvPr/>
          </p:nvSpPr>
          <p:spPr bwMode="auto">
            <a:xfrm>
              <a:off x="4303713" y="4446077"/>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24H</a:t>
              </a:r>
            </a:p>
          </p:txBody>
        </p:sp>
        <p:sp>
          <p:nvSpPr>
            <p:cNvPr id="75805" name="Text Box 25"/>
            <p:cNvSpPr txBox="1">
              <a:spLocks noChangeArrowheads="1"/>
            </p:cNvSpPr>
            <p:nvPr/>
          </p:nvSpPr>
          <p:spPr bwMode="auto">
            <a:xfrm>
              <a:off x="4303713" y="4065077"/>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25H</a:t>
              </a:r>
            </a:p>
          </p:txBody>
        </p:sp>
        <p:sp>
          <p:nvSpPr>
            <p:cNvPr id="75806" name="Text Box 26"/>
            <p:cNvSpPr txBox="1">
              <a:spLocks noChangeArrowheads="1"/>
            </p:cNvSpPr>
            <p:nvPr/>
          </p:nvSpPr>
          <p:spPr bwMode="auto">
            <a:xfrm>
              <a:off x="4303713" y="4827077"/>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23H</a:t>
              </a:r>
            </a:p>
          </p:txBody>
        </p:sp>
        <p:sp>
          <p:nvSpPr>
            <p:cNvPr id="75807" name="Text Box 27"/>
            <p:cNvSpPr txBox="1">
              <a:spLocks noChangeArrowheads="1"/>
            </p:cNvSpPr>
            <p:nvPr/>
          </p:nvSpPr>
          <p:spPr bwMode="auto">
            <a:xfrm>
              <a:off x="4303713" y="2909377"/>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28H</a:t>
              </a:r>
            </a:p>
          </p:txBody>
        </p:sp>
        <p:sp>
          <p:nvSpPr>
            <p:cNvPr id="75808" name="Line 28"/>
            <p:cNvSpPr>
              <a:spLocks noChangeShapeType="1"/>
            </p:cNvSpPr>
            <p:nvPr/>
          </p:nvSpPr>
          <p:spPr bwMode="auto">
            <a:xfrm flipV="1">
              <a:off x="3313113" y="1836227"/>
              <a:ext cx="990600" cy="3733800"/>
            </a:xfrm>
            <a:prstGeom prst="line">
              <a:avLst/>
            </a:prstGeom>
            <a:noFill/>
            <a:ln w="28575" cap="sq">
              <a:solidFill>
                <a:schemeClr val="tx1"/>
              </a:solidFill>
              <a:round/>
              <a:headEnd type="none" w="sm" len="sm"/>
              <a:tailEnd type="none" w="sm" len="sm"/>
            </a:ln>
          </p:spPr>
          <p:txBody>
            <a:bodyPr wrap="none"/>
            <a:lstStyle/>
            <a:p>
              <a:endParaRPr lang="zh-CN" altLang="en-US"/>
            </a:p>
          </p:txBody>
        </p:sp>
        <p:sp>
          <p:nvSpPr>
            <p:cNvPr id="75809" name="Line 29"/>
            <p:cNvSpPr>
              <a:spLocks noChangeShapeType="1"/>
            </p:cNvSpPr>
            <p:nvPr/>
          </p:nvSpPr>
          <p:spPr bwMode="auto">
            <a:xfrm>
              <a:off x="3313113" y="5970077"/>
              <a:ext cx="990600" cy="209550"/>
            </a:xfrm>
            <a:prstGeom prst="line">
              <a:avLst/>
            </a:prstGeom>
            <a:noFill/>
            <a:ln w="28575" cap="sq">
              <a:solidFill>
                <a:schemeClr val="tx1"/>
              </a:solidFill>
              <a:round/>
              <a:headEnd type="none" w="sm" len="sm"/>
              <a:tailEnd type="none" w="sm" len="sm"/>
            </a:ln>
          </p:spPr>
          <p:txBody>
            <a:bodyPr wrap="none"/>
            <a:lstStyle/>
            <a:p>
              <a:endParaRPr lang="zh-CN" altLang="en-US"/>
            </a:p>
          </p:txBody>
        </p:sp>
        <p:sp>
          <p:nvSpPr>
            <p:cNvPr id="75810" name="Rectangle 30"/>
            <p:cNvSpPr>
              <a:spLocks noChangeArrowheads="1"/>
            </p:cNvSpPr>
            <p:nvPr/>
          </p:nvSpPr>
          <p:spPr bwMode="auto">
            <a:xfrm>
              <a:off x="4837113" y="5951027"/>
              <a:ext cx="2743200" cy="381000"/>
            </a:xfrm>
            <a:prstGeom prst="rect">
              <a:avLst/>
            </a:prstGeom>
            <a:solidFill>
              <a:schemeClr val="accent1"/>
            </a:solidFill>
            <a:ln w="12700" cap="sq">
              <a:solidFill>
                <a:schemeClr val="tx1"/>
              </a:solidFill>
              <a:miter lim="800000"/>
              <a:headEnd type="none" w="sm" len="sm"/>
              <a:tailEnd type="none" w="sm" len="sm"/>
            </a:ln>
          </p:spPr>
          <p:txBody>
            <a:bodyPr wrap="none" anchor="ctr"/>
            <a:lstStyle/>
            <a:p>
              <a:r>
                <a:rPr lang="en-US" altLang="zh-CN">
                  <a:latin typeface="微软雅黑" panose="020B0503020204020204" pitchFamily="34" charset="-122"/>
                  <a:ea typeface="微软雅黑" panose="020B0503020204020204" pitchFamily="34" charset="-122"/>
                </a:rPr>
                <a:t>07 06 05 04 03 02 01 00</a:t>
              </a:r>
            </a:p>
          </p:txBody>
        </p:sp>
        <p:sp>
          <p:nvSpPr>
            <p:cNvPr id="75811" name="Line 31"/>
            <p:cNvSpPr>
              <a:spLocks noChangeShapeType="1"/>
            </p:cNvSpPr>
            <p:nvPr/>
          </p:nvSpPr>
          <p:spPr bwMode="auto">
            <a:xfrm>
              <a:off x="6227763" y="5951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12" name="Line 32"/>
            <p:cNvSpPr>
              <a:spLocks noChangeShapeType="1"/>
            </p:cNvSpPr>
            <p:nvPr/>
          </p:nvSpPr>
          <p:spPr bwMode="auto">
            <a:xfrm>
              <a:off x="5884863" y="5951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13" name="Line 33"/>
            <p:cNvSpPr>
              <a:spLocks noChangeShapeType="1"/>
            </p:cNvSpPr>
            <p:nvPr/>
          </p:nvSpPr>
          <p:spPr bwMode="auto">
            <a:xfrm>
              <a:off x="5522913" y="5951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14" name="Line 34"/>
            <p:cNvSpPr>
              <a:spLocks noChangeShapeType="1"/>
            </p:cNvSpPr>
            <p:nvPr/>
          </p:nvSpPr>
          <p:spPr bwMode="auto">
            <a:xfrm>
              <a:off x="5199063" y="5951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15" name="Line 35"/>
            <p:cNvSpPr>
              <a:spLocks noChangeShapeType="1"/>
            </p:cNvSpPr>
            <p:nvPr/>
          </p:nvSpPr>
          <p:spPr bwMode="auto">
            <a:xfrm>
              <a:off x="6589713" y="5951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16" name="Line 36"/>
            <p:cNvSpPr>
              <a:spLocks noChangeShapeType="1"/>
            </p:cNvSpPr>
            <p:nvPr/>
          </p:nvSpPr>
          <p:spPr bwMode="auto">
            <a:xfrm>
              <a:off x="6913563" y="5951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17" name="Line 37"/>
            <p:cNvSpPr>
              <a:spLocks noChangeShapeType="1"/>
            </p:cNvSpPr>
            <p:nvPr/>
          </p:nvSpPr>
          <p:spPr bwMode="auto">
            <a:xfrm>
              <a:off x="7256463" y="5951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18" name="Rectangle 38"/>
            <p:cNvSpPr>
              <a:spLocks noChangeArrowheads="1"/>
            </p:cNvSpPr>
            <p:nvPr/>
          </p:nvSpPr>
          <p:spPr bwMode="auto">
            <a:xfrm>
              <a:off x="4837113" y="5570027"/>
              <a:ext cx="2743200" cy="381000"/>
            </a:xfrm>
            <a:prstGeom prst="rect">
              <a:avLst/>
            </a:prstGeom>
            <a:solidFill>
              <a:schemeClr val="accent1"/>
            </a:solidFill>
            <a:ln w="12700" cap="sq">
              <a:solidFill>
                <a:schemeClr val="tx1"/>
              </a:solidFill>
              <a:miter lim="800000"/>
              <a:headEnd type="none" w="sm" len="sm"/>
              <a:tailEnd type="none" w="sm" len="sm"/>
            </a:ln>
          </p:spPr>
          <p:txBody>
            <a:bodyPr wrap="none" anchor="ctr"/>
            <a:lstStyle/>
            <a:p>
              <a:r>
                <a:rPr lang="en-US" altLang="zh-CN">
                  <a:latin typeface="微软雅黑" panose="020B0503020204020204" pitchFamily="34" charset="-122"/>
                  <a:ea typeface="微软雅黑" panose="020B0503020204020204" pitchFamily="34" charset="-122"/>
                </a:rPr>
                <a:t>0F 0E 0D 0C 0B0A 09 08</a:t>
              </a:r>
            </a:p>
          </p:txBody>
        </p:sp>
        <p:sp>
          <p:nvSpPr>
            <p:cNvPr id="75819" name="Line 39"/>
            <p:cNvSpPr>
              <a:spLocks noChangeShapeType="1"/>
            </p:cNvSpPr>
            <p:nvPr/>
          </p:nvSpPr>
          <p:spPr bwMode="auto">
            <a:xfrm>
              <a:off x="6227763" y="5570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20" name="Line 40"/>
            <p:cNvSpPr>
              <a:spLocks noChangeShapeType="1"/>
            </p:cNvSpPr>
            <p:nvPr/>
          </p:nvSpPr>
          <p:spPr bwMode="auto">
            <a:xfrm>
              <a:off x="5884863" y="5570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21" name="Line 41"/>
            <p:cNvSpPr>
              <a:spLocks noChangeShapeType="1"/>
            </p:cNvSpPr>
            <p:nvPr/>
          </p:nvSpPr>
          <p:spPr bwMode="auto">
            <a:xfrm>
              <a:off x="5522913" y="5570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22" name="Line 42"/>
            <p:cNvSpPr>
              <a:spLocks noChangeShapeType="1"/>
            </p:cNvSpPr>
            <p:nvPr/>
          </p:nvSpPr>
          <p:spPr bwMode="auto">
            <a:xfrm>
              <a:off x="5199063" y="5570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23" name="Line 43"/>
            <p:cNvSpPr>
              <a:spLocks noChangeShapeType="1"/>
            </p:cNvSpPr>
            <p:nvPr/>
          </p:nvSpPr>
          <p:spPr bwMode="auto">
            <a:xfrm>
              <a:off x="6589713" y="5570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24" name="Line 44"/>
            <p:cNvSpPr>
              <a:spLocks noChangeShapeType="1"/>
            </p:cNvSpPr>
            <p:nvPr/>
          </p:nvSpPr>
          <p:spPr bwMode="auto">
            <a:xfrm>
              <a:off x="6913563" y="5570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25" name="Line 45"/>
            <p:cNvSpPr>
              <a:spLocks noChangeShapeType="1"/>
            </p:cNvSpPr>
            <p:nvPr/>
          </p:nvSpPr>
          <p:spPr bwMode="auto">
            <a:xfrm>
              <a:off x="7256463" y="5570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26" name="Rectangle 46"/>
            <p:cNvSpPr>
              <a:spLocks noChangeArrowheads="1"/>
            </p:cNvSpPr>
            <p:nvPr/>
          </p:nvSpPr>
          <p:spPr bwMode="auto">
            <a:xfrm>
              <a:off x="4837113" y="5189027"/>
              <a:ext cx="2743200" cy="381000"/>
            </a:xfrm>
            <a:prstGeom prst="rect">
              <a:avLst/>
            </a:prstGeom>
            <a:solidFill>
              <a:schemeClr val="accent1"/>
            </a:solidFill>
            <a:ln w="12700" cap="sq">
              <a:solidFill>
                <a:schemeClr val="tx1"/>
              </a:solidFill>
              <a:miter lim="800000"/>
              <a:headEnd type="none" w="sm" len="sm"/>
              <a:tailEnd type="none" w="sm" len="sm"/>
            </a:ln>
          </p:spPr>
          <p:txBody>
            <a:bodyPr wrap="none" anchor="ctr"/>
            <a:lstStyle/>
            <a:p>
              <a:r>
                <a:rPr lang="en-US" altLang="zh-CN" dirty="0">
                  <a:latin typeface="微软雅黑" panose="020B0503020204020204" pitchFamily="34" charset="-122"/>
                  <a:ea typeface="微软雅黑" panose="020B0503020204020204" pitchFamily="34" charset="-122"/>
                </a:rPr>
                <a:t>17 16 15 14 13 12 11 10</a:t>
              </a:r>
            </a:p>
          </p:txBody>
        </p:sp>
        <p:sp>
          <p:nvSpPr>
            <p:cNvPr id="75827" name="Line 47"/>
            <p:cNvSpPr>
              <a:spLocks noChangeShapeType="1"/>
            </p:cNvSpPr>
            <p:nvPr/>
          </p:nvSpPr>
          <p:spPr bwMode="auto">
            <a:xfrm>
              <a:off x="6227763" y="5189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28" name="Line 48"/>
            <p:cNvSpPr>
              <a:spLocks noChangeShapeType="1"/>
            </p:cNvSpPr>
            <p:nvPr/>
          </p:nvSpPr>
          <p:spPr bwMode="auto">
            <a:xfrm>
              <a:off x="5884863" y="5189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29" name="Line 49"/>
            <p:cNvSpPr>
              <a:spLocks noChangeShapeType="1"/>
            </p:cNvSpPr>
            <p:nvPr/>
          </p:nvSpPr>
          <p:spPr bwMode="auto">
            <a:xfrm>
              <a:off x="5522913" y="5189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30" name="Line 50"/>
            <p:cNvSpPr>
              <a:spLocks noChangeShapeType="1"/>
            </p:cNvSpPr>
            <p:nvPr/>
          </p:nvSpPr>
          <p:spPr bwMode="auto">
            <a:xfrm>
              <a:off x="5199063" y="5189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31" name="Line 51"/>
            <p:cNvSpPr>
              <a:spLocks noChangeShapeType="1"/>
            </p:cNvSpPr>
            <p:nvPr/>
          </p:nvSpPr>
          <p:spPr bwMode="auto">
            <a:xfrm>
              <a:off x="6589713" y="5189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32" name="Line 52"/>
            <p:cNvSpPr>
              <a:spLocks noChangeShapeType="1"/>
            </p:cNvSpPr>
            <p:nvPr/>
          </p:nvSpPr>
          <p:spPr bwMode="auto">
            <a:xfrm>
              <a:off x="6913563" y="5189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33" name="Line 53"/>
            <p:cNvSpPr>
              <a:spLocks noChangeShapeType="1"/>
            </p:cNvSpPr>
            <p:nvPr/>
          </p:nvSpPr>
          <p:spPr bwMode="auto">
            <a:xfrm>
              <a:off x="7256463" y="5189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34" name="Rectangle 54"/>
            <p:cNvSpPr>
              <a:spLocks noChangeArrowheads="1"/>
            </p:cNvSpPr>
            <p:nvPr/>
          </p:nvSpPr>
          <p:spPr bwMode="auto">
            <a:xfrm>
              <a:off x="4837113" y="4808027"/>
              <a:ext cx="2743200" cy="381000"/>
            </a:xfrm>
            <a:prstGeom prst="rect">
              <a:avLst/>
            </a:prstGeom>
            <a:solidFill>
              <a:schemeClr val="accent1"/>
            </a:solidFill>
            <a:ln w="12700" cap="sq">
              <a:solidFill>
                <a:schemeClr val="tx1"/>
              </a:solidFill>
              <a:miter lim="800000"/>
              <a:headEnd type="none" w="sm" len="sm"/>
              <a:tailEnd type="none" w="sm" len="sm"/>
            </a:ln>
          </p:spPr>
          <p:txBody>
            <a:bodyPr wrap="none" anchor="ctr"/>
            <a:lstStyle/>
            <a:p>
              <a:r>
                <a:rPr lang="en-US" altLang="zh-CN">
                  <a:latin typeface="微软雅黑" panose="020B0503020204020204" pitchFamily="34" charset="-122"/>
                  <a:ea typeface="微软雅黑" panose="020B0503020204020204" pitchFamily="34" charset="-122"/>
                </a:rPr>
                <a:t>1F 1E 1D 1C1B 1A 19 18</a:t>
              </a:r>
            </a:p>
          </p:txBody>
        </p:sp>
        <p:sp>
          <p:nvSpPr>
            <p:cNvPr id="75835" name="Line 55"/>
            <p:cNvSpPr>
              <a:spLocks noChangeShapeType="1"/>
            </p:cNvSpPr>
            <p:nvPr/>
          </p:nvSpPr>
          <p:spPr bwMode="auto">
            <a:xfrm>
              <a:off x="6227763" y="4808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36" name="Line 56"/>
            <p:cNvSpPr>
              <a:spLocks noChangeShapeType="1"/>
            </p:cNvSpPr>
            <p:nvPr/>
          </p:nvSpPr>
          <p:spPr bwMode="auto">
            <a:xfrm>
              <a:off x="5884863" y="4808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37" name="Line 57"/>
            <p:cNvSpPr>
              <a:spLocks noChangeShapeType="1"/>
            </p:cNvSpPr>
            <p:nvPr/>
          </p:nvSpPr>
          <p:spPr bwMode="auto">
            <a:xfrm>
              <a:off x="5522913" y="4808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38" name="Line 58"/>
            <p:cNvSpPr>
              <a:spLocks noChangeShapeType="1"/>
            </p:cNvSpPr>
            <p:nvPr/>
          </p:nvSpPr>
          <p:spPr bwMode="auto">
            <a:xfrm>
              <a:off x="5199063" y="4808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39" name="Line 59"/>
            <p:cNvSpPr>
              <a:spLocks noChangeShapeType="1"/>
            </p:cNvSpPr>
            <p:nvPr/>
          </p:nvSpPr>
          <p:spPr bwMode="auto">
            <a:xfrm>
              <a:off x="6589713" y="4808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40" name="Line 60"/>
            <p:cNvSpPr>
              <a:spLocks noChangeShapeType="1"/>
            </p:cNvSpPr>
            <p:nvPr/>
          </p:nvSpPr>
          <p:spPr bwMode="auto">
            <a:xfrm>
              <a:off x="6913563" y="4808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41" name="Line 61"/>
            <p:cNvSpPr>
              <a:spLocks noChangeShapeType="1"/>
            </p:cNvSpPr>
            <p:nvPr/>
          </p:nvSpPr>
          <p:spPr bwMode="auto">
            <a:xfrm>
              <a:off x="7256463" y="4808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42" name="Rectangle 62"/>
            <p:cNvSpPr>
              <a:spLocks noChangeArrowheads="1"/>
            </p:cNvSpPr>
            <p:nvPr/>
          </p:nvSpPr>
          <p:spPr bwMode="auto">
            <a:xfrm>
              <a:off x="4837113" y="4427027"/>
              <a:ext cx="2743200" cy="381000"/>
            </a:xfrm>
            <a:prstGeom prst="rect">
              <a:avLst/>
            </a:prstGeom>
            <a:solidFill>
              <a:schemeClr val="accent1"/>
            </a:solidFill>
            <a:ln w="12700" cap="sq">
              <a:solidFill>
                <a:schemeClr val="tx1"/>
              </a:solidFill>
              <a:miter lim="800000"/>
              <a:headEnd type="none" w="sm" len="sm"/>
              <a:tailEnd type="none" w="sm" len="sm"/>
            </a:ln>
          </p:spPr>
          <p:txBody>
            <a:bodyPr wrap="none" anchor="ctr"/>
            <a:lstStyle/>
            <a:p>
              <a:r>
                <a:rPr lang="en-US" altLang="zh-CN">
                  <a:latin typeface="微软雅黑" panose="020B0503020204020204" pitchFamily="34" charset="-122"/>
                  <a:ea typeface="微软雅黑" panose="020B0503020204020204" pitchFamily="34" charset="-122"/>
                </a:rPr>
                <a:t>27 26 25 24 23 22 21 20</a:t>
              </a:r>
            </a:p>
          </p:txBody>
        </p:sp>
        <p:sp>
          <p:nvSpPr>
            <p:cNvPr id="75843" name="Line 63"/>
            <p:cNvSpPr>
              <a:spLocks noChangeShapeType="1"/>
            </p:cNvSpPr>
            <p:nvPr/>
          </p:nvSpPr>
          <p:spPr bwMode="auto">
            <a:xfrm>
              <a:off x="6227763" y="4427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44" name="Line 64"/>
            <p:cNvSpPr>
              <a:spLocks noChangeShapeType="1"/>
            </p:cNvSpPr>
            <p:nvPr/>
          </p:nvSpPr>
          <p:spPr bwMode="auto">
            <a:xfrm>
              <a:off x="5884863" y="4427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45" name="Line 65"/>
            <p:cNvSpPr>
              <a:spLocks noChangeShapeType="1"/>
            </p:cNvSpPr>
            <p:nvPr/>
          </p:nvSpPr>
          <p:spPr bwMode="auto">
            <a:xfrm>
              <a:off x="5522913" y="4427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46" name="Line 66"/>
            <p:cNvSpPr>
              <a:spLocks noChangeShapeType="1"/>
            </p:cNvSpPr>
            <p:nvPr/>
          </p:nvSpPr>
          <p:spPr bwMode="auto">
            <a:xfrm>
              <a:off x="5199063" y="4427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47" name="Line 67"/>
            <p:cNvSpPr>
              <a:spLocks noChangeShapeType="1"/>
            </p:cNvSpPr>
            <p:nvPr/>
          </p:nvSpPr>
          <p:spPr bwMode="auto">
            <a:xfrm>
              <a:off x="6589713" y="4427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48" name="Line 68"/>
            <p:cNvSpPr>
              <a:spLocks noChangeShapeType="1"/>
            </p:cNvSpPr>
            <p:nvPr/>
          </p:nvSpPr>
          <p:spPr bwMode="auto">
            <a:xfrm>
              <a:off x="6913563" y="4427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49" name="Line 69"/>
            <p:cNvSpPr>
              <a:spLocks noChangeShapeType="1"/>
            </p:cNvSpPr>
            <p:nvPr/>
          </p:nvSpPr>
          <p:spPr bwMode="auto">
            <a:xfrm>
              <a:off x="7256463" y="4427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50" name="Rectangle 70"/>
            <p:cNvSpPr>
              <a:spLocks noChangeArrowheads="1"/>
            </p:cNvSpPr>
            <p:nvPr/>
          </p:nvSpPr>
          <p:spPr bwMode="auto">
            <a:xfrm>
              <a:off x="4837113" y="4046027"/>
              <a:ext cx="2743200" cy="381000"/>
            </a:xfrm>
            <a:prstGeom prst="rect">
              <a:avLst/>
            </a:prstGeom>
            <a:solidFill>
              <a:schemeClr val="accent1"/>
            </a:solidFill>
            <a:ln w="12700" cap="sq">
              <a:solidFill>
                <a:schemeClr val="tx1"/>
              </a:solidFill>
              <a:miter lim="800000"/>
              <a:headEnd type="none" w="sm" len="sm"/>
              <a:tailEnd type="none" w="sm" len="sm"/>
            </a:ln>
          </p:spPr>
          <p:txBody>
            <a:bodyPr wrap="none" anchor="ctr"/>
            <a:lstStyle/>
            <a:p>
              <a:r>
                <a:rPr lang="en-US" altLang="zh-CN">
                  <a:latin typeface="微软雅黑" panose="020B0503020204020204" pitchFamily="34" charset="-122"/>
                  <a:ea typeface="微软雅黑" panose="020B0503020204020204" pitchFamily="34" charset="-122"/>
                </a:rPr>
                <a:t>2F 2E 2D 2C 2B2A 29 28</a:t>
              </a:r>
            </a:p>
          </p:txBody>
        </p:sp>
        <p:sp>
          <p:nvSpPr>
            <p:cNvPr id="75851" name="Line 71"/>
            <p:cNvSpPr>
              <a:spLocks noChangeShapeType="1"/>
            </p:cNvSpPr>
            <p:nvPr/>
          </p:nvSpPr>
          <p:spPr bwMode="auto">
            <a:xfrm>
              <a:off x="6227763" y="4046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52" name="Line 72"/>
            <p:cNvSpPr>
              <a:spLocks noChangeShapeType="1"/>
            </p:cNvSpPr>
            <p:nvPr/>
          </p:nvSpPr>
          <p:spPr bwMode="auto">
            <a:xfrm>
              <a:off x="5884863" y="4046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53" name="Line 73"/>
            <p:cNvSpPr>
              <a:spLocks noChangeShapeType="1"/>
            </p:cNvSpPr>
            <p:nvPr/>
          </p:nvSpPr>
          <p:spPr bwMode="auto">
            <a:xfrm>
              <a:off x="5522913" y="4046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54" name="Line 74"/>
            <p:cNvSpPr>
              <a:spLocks noChangeShapeType="1"/>
            </p:cNvSpPr>
            <p:nvPr/>
          </p:nvSpPr>
          <p:spPr bwMode="auto">
            <a:xfrm>
              <a:off x="5199063" y="4046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55" name="Line 75"/>
            <p:cNvSpPr>
              <a:spLocks noChangeShapeType="1"/>
            </p:cNvSpPr>
            <p:nvPr/>
          </p:nvSpPr>
          <p:spPr bwMode="auto">
            <a:xfrm>
              <a:off x="6589713" y="4046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56" name="Line 76"/>
            <p:cNvSpPr>
              <a:spLocks noChangeShapeType="1"/>
            </p:cNvSpPr>
            <p:nvPr/>
          </p:nvSpPr>
          <p:spPr bwMode="auto">
            <a:xfrm>
              <a:off x="6913563" y="4046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57" name="Line 77"/>
            <p:cNvSpPr>
              <a:spLocks noChangeShapeType="1"/>
            </p:cNvSpPr>
            <p:nvPr/>
          </p:nvSpPr>
          <p:spPr bwMode="auto">
            <a:xfrm>
              <a:off x="7256463" y="4046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58" name="Rectangle 78"/>
            <p:cNvSpPr>
              <a:spLocks noChangeArrowheads="1"/>
            </p:cNvSpPr>
            <p:nvPr/>
          </p:nvSpPr>
          <p:spPr bwMode="auto">
            <a:xfrm>
              <a:off x="4837113" y="3665027"/>
              <a:ext cx="2743200" cy="381000"/>
            </a:xfrm>
            <a:prstGeom prst="rect">
              <a:avLst/>
            </a:prstGeom>
            <a:solidFill>
              <a:schemeClr val="accent1"/>
            </a:solidFill>
            <a:ln w="12700" cap="sq">
              <a:solidFill>
                <a:schemeClr val="tx1"/>
              </a:solidFill>
              <a:miter lim="800000"/>
              <a:headEnd type="none" w="sm" len="sm"/>
              <a:tailEnd type="none" w="sm" len="sm"/>
            </a:ln>
          </p:spPr>
          <p:txBody>
            <a:bodyPr wrap="none" anchor="ctr"/>
            <a:lstStyle/>
            <a:p>
              <a:r>
                <a:rPr lang="en-US" altLang="zh-CN">
                  <a:latin typeface="微软雅黑" panose="020B0503020204020204" pitchFamily="34" charset="-122"/>
                  <a:ea typeface="微软雅黑" panose="020B0503020204020204" pitchFamily="34" charset="-122"/>
                </a:rPr>
                <a:t>37 36 35 34 33 32 31 30</a:t>
              </a:r>
            </a:p>
          </p:txBody>
        </p:sp>
        <p:sp>
          <p:nvSpPr>
            <p:cNvPr id="75859" name="Line 79"/>
            <p:cNvSpPr>
              <a:spLocks noChangeShapeType="1"/>
            </p:cNvSpPr>
            <p:nvPr/>
          </p:nvSpPr>
          <p:spPr bwMode="auto">
            <a:xfrm>
              <a:off x="6227763" y="3665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60" name="Line 80"/>
            <p:cNvSpPr>
              <a:spLocks noChangeShapeType="1"/>
            </p:cNvSpPr>
            <p:nvPr/>
          </p:nvSpPr>
          <p:spPr bwMode="auto">
            <a:xfrm>
              <a:off x="5884863" y="3665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61" name="Line 81"/>
            <p:cNvSpPr>
              <a:spLocks noChangeShapeType="1"/>
            </p:cNvSpPr>
            <p:nvPr/>
          </p:nvSpPr>
          <p:spPr bwMode="auto">
            <a:xfrm>
              <a:off x="5522913" y="3665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62" name="Line 82"/>
            <p:cNvSpPr>
              <a:spLocks noChangeShapeType="1"/>
            </p:cNvSpPr>
            <p:nvPr/>
          </p:nvSpPr>
          <p:spPr bwMode="auto">
            <a:xfrm>
              <a:off x="5199063" y="3665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63" name="Line 83"/>
            <p:cNvSpPr>
              <a:spLocks noChangeShapeType="1"/>
            </p:cNvSpPr>
            <p:nvPr/>
          </p:nvSpPr>
          <p:spPr bwMode="auto">
            <a:xfrm>
              <a:off x="6589713" y="3665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64" name="Line 84"/>
            <p:cNvSpPr>
              <a:spLocks noChangeShapeType="1"/>
            </p:cNvSpPr>
            <p:nvPr/>
          </p:nvSpPr>
          <p:spPr bwMode="auto">
            <a:xfrm>
              <a:off x="6913563" y="3665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65" name="Line 85"/>
            <p:cNvSpPr>
              <a:spLocks noChangeShapeType="1"/>
            </p:cNvSpPr>
            <p:nvPr/>
          </p:nvSpPr>
          <p:spPr bwMode="auto">
            <a:xfrm>
              <a:off x="7256463" y="3665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66" name="Rectangle 86"/>
            <p:cNvSpPr>
              <a:spLocks noChangeArrowheads="1"/>
            </p:cNvSpPr>
            <p:nvPr/>
          </p:nvSpPr>
          <p:spPr bwMode="auto">
            <a:xfrm>
              <a:off x="4837113" y="3284027"/>
              <a:ext cx="2743200" cy="381000"/>
            </a:xfrm>
            <a:prstGeom prst="rect">
              <a:avLst/>
            </a:prstGeom>
            <a:solidFill>
              <a:schemeClr val="accent1"/>
            </a:solidFill>
            <a:ln w="12700" cap="sq">
              <a:solidFill>
                <a:schemeClr val="tx1"/>
              </a:solidFill>
              <a:miter lim="800000"/>
              <a:headEnd type="none" w="sm" len="sm"/>
              <a:tailEnd type="none" w="sm" len="sm"/>
            </a:ln>
          </p:spPr>
          <p:txBody>
            <a:bodyPr wrap="none" anchor="ctr"/>
            <a:lstStyle/>
            <a:p>
              <a:r>
                <a:rPr lang="en-US" altLang="zh-CN">
                  <a:latin typeface="微软雅黑" panose="020B0503020204020204" pitchFamily="34" charset="-122"/>
                  <a:ea typeface="微软雅黑" panose="020B0503020204020204" pitchFamily="34" charset="-122"/>
                </a:rPr>
                <a:t>3F 3E 3D 3C3B 3A 39 38</a:t>
              </a:r>
            </a:p>
          </p:txBody>
        </p:sp>
        <p:sp>
          <p:nvSpPr>
            <p:cNvPr id="75867" name="Line 87"/>
            <p:cNvSpPr>
              <a:spLocks noChangeShapeType="1"/>
            </p:cNvSpPr>
            <p:nvPr/>
          </p:nvSpPr>
          <p:spPr bwMode="auto">
            <a:xfrm>
              <a:off x="6227763" y="3284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68" name="Line 88"/>
            <p:cNvSpPr>
              <a:spLocks noChangeShapeType="1"/>
            </p:cNvSpPr>
            <p:nvPr/>
          </p:nvSpPr>
          <p:spPr bwMode="auto">
            <a:xfrm>
              <a:off x="5884863" y="3284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69" name="Line 89"/>
            <p:cNvSpPr>
              <a:spLocks noChangeShapeType="1"/>
            </p:cNvSpPr>
            <p:nvPr/>
          </p:nvSpPr>
          <p:spPr bwMode="auto">
            <a:xfrm>
              <a:off x="5522913" y="3284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70" name="Line 90"/>
            <p:cNvSpPr>
              <a:spLocks noChangeShapeType="1"/>
            </p:cNvSpPr>
            <p:nvPr/>
          </p:nvSpPr>
          <p:spPr bwMode="auto">
            <a:xfrm>
              <a:off x="5199063" y="3284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71" name="Line 91"/>
            <p:cNvSpPr>
              <a:spLocks noChangeShapeType="1"/>
            </p:cNvSpPr>
            <p:nvPr/>
          </p:nvSpPr>
          <p:spPr bwMode="auto">
            <a:xfrm>
              <a:off x="6589713" y="3284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72" name="Line 92"/>
            <p:cNvSpPr>
              <a:spLocks noChangeShapeType="1"/>
            </p:cNvSpPr>
            <p:nvPr/>
          </p:nvSpPr>
          <p:spPr bwMode="auto">
            <a:xfrm>
              <a:off x="6913563" y="3284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73" name="Line 93"/>
            <p:cNvSpPr>
              <a:spLocks noChangeShapeType="1"/>
            </p:cNvSpPr>
            <p:nvPr/>
          </p:nvSpPr>
          <p:spPr bwMode="auto">
            <a:xfrm>
              <a:off x="7256463" y="3284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74" name="Rectangle 94"/>
            <p:cNvSpPr>
              <a:spLocks noChangeArrowheads="1"/>
            </p:cNvSpPr>
            <p:nvPr/>
          </p:nvSpPr>
          <p:spPr bwMode="auto">
            <a:xfrm>
              <a:off x="4837113" y="2903027"/>
              <a:ext cx="2743200" cy="381000"/>
            </a:xfrm>
            <a:prstGeom prst="rect">
              <a:avLst/>
            </a:prstGeom>
            <a:solidFill>
              <a:schemeClr val="accent1"/>
            </a:solidFill>
            <a:ln w="12700" cap="sq">
              <a:solidFill>
                <a:schemeClr val="tx1"/>
              </a:solidFill>
              <a:miter lim="800000"/>
              <a:headEnd type="none" w="sm" len="sm"/>
              <a:tailEnd type="none" w="sm" len="sm"/>
            </a:ln>
          </p:spPr>
          <p:txBody>
            <a:bodyPr wrap="none" anchor="ctr"/>
            <a:lstStyle/>
            <a:p>
              <a:r>
                <a:rPr lang="en-US" altLang="zh-CN">
                  <a:latin typeface="微软雅黑" panose="020B0503020204020204" pitchFamily="34" charset="-122"/>
                  <a:ea typeface="微软雅黑" panose="020B0503020204020204" pitchFamily="34" charset="-122"/>
                </a:rPr>
                <a:t>47 46 45 44 43 42 41 40</a:t>
              </a:r>
            </a:p>
          </p:txBody>
        </p:sp>
        <p:sp>
          <p:nvSpPr>
            <p:cNvPr id="75875" name="Line 95"/>
            <p:cNvSpPr>
              <a:spLocks noChangeShapeType="1"/>
            </p:cNvSpPr>
            <p:nvPr/>
          </p:nvSpPr>
          <p:spPr bwMode="auto">
            <a:xfrm>
              <a:off x="6227763" y="2903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76" name="Line 96"/>
            <p:cNvSpPr>
              <a:spLocks noChangeShapeType="1"/>
            </p:cNvSpPr>
            <p:nvPr/>
          </p:nvSpPr>
          <p:spPr bwMode="auto">
            <a:xfrm>
              <a:off x="5884863" y="2903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77" name="Line 97"/>
            <p:cNvSpPr>
              <a:spLocks noChangeShapeType="1"/>
            </p:cNvSpPr>
            <p:nvPr/>
          </p:nvSpPr>
          <p:spPr bwMode="auto">
            <a:xfrm>
              <a:off x="5522913" y="2903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78" name="Line 98"/>
            <p:cNvSpPr>
              <a:spLocks noChangeShapeType="1"/>
            </p:cNvSpPr>
            <p:nvPr/>
          </p:nvSpPr>
          <p:spPr bwMode="auto">
            <a:xfrm>
              <a:off x="5199063" y="2903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79" name="Line 99"/>
            <p:cNvSpPr>
              <a:spLocks noChangeShapeType="1"/>
            </p:cNvSpPr>
            <p:nvPr/>
          </p:nvSpPr>
          <p:spPr bwMode="auto">
            <a:xfrm>
              <a:off x="6589713" y="2903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80" name="Line 100"/>
            <p:cNvSpPr>
              <a:spLocks noChangeShapeType="1"/>
            </p:cNvSpPr>
            <p:nvPr/>
          </p:nvSpPr>
          <p:spPr bwMode="auto">
            <a:xfrm>
              <a:off x="6913563" y="2903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81" name="Line 101"/>
            <p:cNvSpPr>
              <a:spLocks noChangeShapeType="1"/>
            </p:cNvSpPr>
            <p:nvPr/>
          </p:nvSpPr>
          <p:spPr bwMode="auto">
            <a:xfrm>
              <a:off x="7256463" y="29030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82" name="Rectangle 102"/>
            <p:cNvSpPr>
              <a:spLocks noChangeArrowheads="1"/>
            </p:cNvSpPr>
            <p:nvPr/>
          </p:nvSpPr>
          <p:spPr bwMode="auto">
            <a:xfrm>
              <a:off x="4837113" y="1607627"/>
              <a:ext cx="2743200" cy="1295400"/>
            </a:xfrm>
            <a:prstGeom prst="rect">
              <a:avLst/>
            </a:prstGeom>
            <a:solidFill>
              <a:schemeClr val="accent1"/>
            </a:solidFill>
            <a:ln w="12700" cap="sq">
              <a:solidFill>
                <a:schemeClr val="tx1"/>
              </a:solidFill>
              <a:miter lim="800000"/>
              <a:headEnd type="none" w="sm" len="sm"/>
              <a:tailEnd type="none" w="sm" len="sm"/>
            </a:ln>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5883" name="Line 103"/>
            <p:cNvSpPr>
              <a:spLocks noChangeShapeType="1"/>
            </p:cNvSpPr>
            <p:nvPr/>
          </p:nvSpPr>
          <p:spPr bwMode="auto">
            <a:xfrm>
              <a:off x="4837113" y="1912427"/>
              <a:ext cx="0" cy="0"/>
            </a:xfrm>
            <a:prstGeom prst="line">
              <a:avLst/>
            </a:prstGeom>
            <a:noFill/>
            <a:ln w="12700" cap="sq">
              <a:solidFill>
                <a:schemeClr val="tx1"/>
              </a:solidFill>
              <a:round/>
              <a:headEnd type="none" w="sm" len="sm"/>
              <a:tailEnd type="none" w="sm" len="sm"/>
            </a:ln>
          </p:spPr>
          <p:txBody>
            <a:bodyPr wrap="none"/>
            <a:lstStyle/>
            <a:p>
              <a:endParaRPr lang="zh-CN" altLang="en-US"/>
            </a:p>
          </p:txBody>
        </p:sp>
        <p:sp>
          <p:nvSpPr>
            <p:cNvPr id="75884" name="Text Box 104"/>
            <p:cNvSpPr txBox="1">
              <a:spLocks noChangeArrowheads="1"/>
            </p:cNvSpPr>
            <p:nvPr/>
          </p:nvSpPr>
          <p:spPr bwMode="auto">
            <a:xfrm>
              <a:off x="4303713" y="1633027"/>
              <a:ext cx="609600" cy="336550"/>
            </a:xfrm>
            <a:prstGeom prst="rect">
              <a:avLst/>
            </a:prstGeom>
            <a:noFill/>
            <a:ln w="9525">
              <a:noFill/>
              <a:miter lim="800000"/>
            </a:ln>
          </p:spPr>
          <p:txBody>
            <a:bodyPr>
              <a:spAutoFit/>
            </a:bodyPr>
            <a:lstStyle/>
            <a:p>
              <a:r>
                <a:rPr lang="en-US" altLang="zh-CN" sz="1600">
                  <a:latin typeface="微软雅黑" panose="020B0503020204020204" pitchFamily="34" charset="-122"/>
                  <a:ea typeface="微软雅黑" panose="020B0503020204020204" pitchFamily="34" charset="-122"/>
                </a:rPr>
                <a:t>2FH</a:t>
              </a:r>
            </a:p>
          </p:txBody>
        </p:sp>
        <p:sp>
          <p:nvSpPr>
            <p:cNvPr id="75885" name="Rectangle 105"/>
            <p:cNvSpPr>
              <a:spLocks noChangeArrowheads="1"/>
            </p:cNvSpPr>
            <p:nvPr/>
          </p:nvSpPr>
          <p:spPr bwMode="auto">
            <a:xfrm>
              <a:off x="4837113" y="1607627"/>
              <a:ext cx="2743200" cy="381000"/>
            </a:xfrm>
            <a:prstGeom prst="rect">
              <a:avLst/>
            </a:prstGeom>
            <a:solidFill>
              <a:schemeClr val="accent1"/>
            </a:solidFill>
            <a:ln w="12700" cap="sq">
              <a:solidFill>
                <a:schemeClr val="tx1"/>
              </a:solidFill>
              <a:miter lim="800000"/>
              <a:headEnd type="none" w="sm" len="sm"/>
              <a:tailEnd type="none" w="sm" len="sm"/>
            </a:ln>
          </p:spPr>
          <p:txBody>
            <a:bodyPr wrap="none" anchor="ctr"/>
            <a:lstStyle/>
            <a:p>
              <a:r>
                <a:rPr lang="en-US" altLang="zh-CN">
                  <a:latin typeface="微软雅黑" panose="020B0503020204020204" pitchFamily="34" charset="-122"/>
                  <a:ea typeface="微软雅黑" panose="020B0503020204020204" pitchFamily="34" charset="-122"/>
                </a:rPr>
                <a:t>7F 7E 7D7C 7B 7A 79 78</a:t>
              </a:r>
            </a:p>
          </p:txBody>
        </p:sp>
        <p:sp>
          <p:nvSpPr>
            <p:cNvPr id="75886" name="Line 106"/>
            <p:cNvSpPr>
              <a:spLocks noChangeShapeType="1"/>
            </p:cNvSpPr>
            <p:nvPr/>
          </p:nvSpPr>
          <p:spPr bwMode="auto">
            <a:xfrm>
              <a:off x="6227763" y="16076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87" name="Line 107"/>
            <p:cNvSpPr>
              <a:spLocks noChangeShapeType="1"/>
            </p:cNvSpPr>
            <p:nvPr/>
          </p:nvSpPr>
          <p:spPr bwMode="auto">
            <a:xfrm>
              <a:off x="5884863" y="16076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88" name="Line 108"/>
            <p:cNvSpPr>
              <a:spLocks noChangeShapeType="1"/>
            </p:cNvSpPr>
            <p:nvPr/>
          </p:nvSpPr>
          <p:spPr bwMode="auto">
            <a:xfrm>
              <a:off x="5522913" y="16076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89" name="Line 109"/>
            <p:cNvSpPr>
              <a:spLocks noChangeShapeType="1"/>
            </p:cNvSpPr>
            <p:nvPr/>
          </p:nvSpPr>
          <p:spPr bwMode="auto">
            <a:xfrm>
              <a:off x="5199063" y="16076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90" name="Line 110"/>
            <p:cNvSpPr>
              <a:spLocks noChangeShapeType="1"/>
            </p:cNvSpPr>
            <p:nvPr/>
          </p:nvSpPr>
          <p:spPr bwMode="auto">
            <a:xfrm>
              <a:off x="6589713" y="16076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91" name="Line 111"/>
            <p:cNvSpPr>
              <a:spLocks noChangeShapeType="1"/>
            </p:cNvSpPr>
            <p:nvPr/>
          </p:nvSpPr>
          <p:spPr bwMode="auto">
            <a:xfrm>
              <a:off x="6913563" y="16076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92" name="Line 112"/>
            <p:cNvSpPr>
              <a:spLocks noChangeShapeType="1"/>
            </p:cNvSpPr>
            <p:nvPr/>
          </p:nvSpPr>
          <p:spPr bwMode="auto">
            <a:xfrm>
              <a:off x="7256463" y="1607627"/>
              <a:ext cx="0" cy="381000"/>
            </a:xfrm>
            <a:prstGeom prst="line">
              <a:avLst/>
            </a:prstGeom>
            <a:noFill/>
            <a:ln w="12700" cap="sq">
              <a:solidFill>
                <a:srgbClr val="FFFFFF"/>
              </a:solidFill>
              <a:round/>
              <a:headEnd type="none" w="sm" len="sm"/>
              <a:tailEnd type="none" w="sm" len="sm"/>
            </a:ln>
          </p:spPr>
          <p:txBody>
            <a:bodyPr wrap="none"/>
            <a:lstStyle/>
            <a:p>
              <a:endParaRPr lang="zh-CN" altLang="en-US"/>
            </a:p>
          </p:txBody>
        </p:sp>
        <p:sp>
          <p:nvSpPr>
            <p:cNvPr id="75893" name="Line 113"/>
            <p:cNvSpPr>
              <a:spLocks noChangeShapeType="1"/>
            </p:cNvSpPr>
            <p:nvPr/>
          </p:nvSpPr>
          <p:spPr bwMode="auto">
            <a:xfrm>
              <a:off x="4608513" y="2141027"/>
              <a:ext cx="0" cy="609600"/>
            </a:xfrm>
            <a:prstGeom prst="line">
              <a:avLst/>
            </a:prstGeom>
            <a:noFill/>
            <a:ln w="38100">
              <a:solidFill>
                <a:schemeClr val="tx1"/>
              </a:solidFill>
              <a:prstDash val="sysDot"/>
              <a:round/>
              <a:headEnd type="none" w="sm" len="sm"/>
              <a:tailEnd type="none" w="sm" len="sm"/>
            </a:ln>
          </p:spPr>
          <p:txBody>
            <a:bodyPr wrap="none"/>
            <a:lstStyle/>
            <a:p>
              <a:endParaRPr lang="zh-CN" altLang="en-US"/>
            </a:p>
          </p:txBody>
        </p:sp>
        <p:sp>
          <p:nvSpPr>
            <p:cNvPr id="75894" name="Text Box 114"/>
            <p:cNvSpPr txBox="1">
              <a:spLocks noChangeArrowheads="1"/>
            </p:cNvSpPr>
            <p:nvPr/>
          </p:nvSpPr>
          <p:spPr bwMode="auto">
            <a:xfrm>
              <a:off x="5751513" y="2231514"/>
              <a:ext cx="914400" cy="366713"/>
            </a:xfrm>
            <a:prstGeom prst="rect">
              <a:avLst/>
            </a:prstGeom>
            <a:noFill/>
            <a:ln w="9525">
              <a:noFill/>
              <a:miter lim="800000"/>
            </a:ln>
          </p:spPr>
          <p:txBody>
            <a:bodyPr>
              <a:spAutoFit/>
            </a:bodyPr>
            <a:lstStyle/>
            <a:p>
              <a:r>
                <a:rPr lang="zh-CN" altLang="en-US">
                  <a:latin typeface="微软雅黑" panose="020B0503020204020204" pitchFamily="34" charset="-122"/>
                  <a:ea typeface="微软雅黑" panose="020B0503020204020204" pitchFamily="34" charset="-122"/>
                </a:rPr>
                <a:t>位地址</a:t>
              </a:r>
            </a:p>
          </p:txBody>
        </p:sp>
        <p:sp>
          <p:nvSpPr>
            <p:cNvPr id="75895" name="AutoShape 115"/>
            <p:cNvSpPr/>
            <p:nvPr/>
          </p:nvSpPr>
          <p:spPr bwMode="auto">
            <a:xfrm>
              <a:off x="7732713" y="1607627"/>
              <a:ext cx="304800" cy="4724400"/>
            </a:xfrm>
            <a:prstGeom prst="rightBrace">
              <a:avLst>
                <a:gd name="adj1" fmla="val 129167"/>
                <a:gd name="adj2" fmla="val 50000"/>
              </a:avLst>
            </a:prstGeom>
            <a:noFill/>
            <a:ln w="28575" cap="sq">
              <a:solidFill>
                <a:schemeClr val="tx1"/>
              </a:solidFill>
              <a:round/>
              <a:headEnd type="none" w="sm" len="sm"/>
              <a:tailEnd type="none" w="sm" len="sm"/>
            </a:ln>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5896" name="Text Box 116"/>
            <p:cNvSpPr txBox="1">
              <a:spLocks noChangeArrowheads="1"/>
            </p:cNvSpPr>
            <p:nvPr/>
          </p:nvSpPr>
          <p:spPr bwMode="auto">
            <a:xfrm>
              <a:off x="8037513" y="3055427"/>
              <a:ext cx="701675" cy="1739900"/>
            </a:xfrm>
            <a:prstGeom prst="rect">
              <a:avLst/>
            </a:prstGeom>
            <a:noFill/>
            <a:ln w="9525">
              <a:noFill/>
              <a:miter lim="800000"/>
            </a:ln>
          </p:spPr>
          <p:txBody>
            <a:bodyPr>
              <a:spAutoFit/>
            </a:bodyPr>
            <a:lstStyle/>
            <a:p>
              <a:pPr algn="ctr"/>
              <a:r>
                <a:rPr lang="zh-CN" altLang="en-US">
                  <a:latin typeface="微软雅黑" panose="020B0503020204020204" pitchFamily="34" charset="-122"/>
                  <a:ea typeface="微软雅黑" panose="020B0503020204020204" pitchFamily="34" charset="-122"/>
                </a:rPr>
                <a:t>总共</a:t>
              </a:r>
              <a:r>
                <a:rPr lang="en-US" altLang="zh-CN">
                  <a:latin typeface="微软雅黑" panose="020B0503020204020204" pitchFamily="34" charset="-122"/>
                  <a:ea typeface="微软雅黑" panose="020B0503020204020204" pitchFamily="34" charset="-122"/>
                </a:rPr>
                <a:t>128</a:t>
              </a:r>
              <a:r>
                <a:rPr lang="zh-CN" altLang="en-US">
                  <a:latin typeface="微软雅黑" panose="020B0503020204020204" pitchFamily="34" charset="-122"/>
                  <a:ea typeface="微软雅黑" panose="020B0503020204020204" pitchFamily="34" charset="-122"/>
                </a:rPr>
                <a:t>个可按位寻址的位</a:t>
              </a:r>
            </a:p>
          </p:txBody>
        </p:sp>
        <p:sp>
          <p:nvSpPr>
            <p:cNvPr id="75897" name="Text Box 117"/>
            <p:cNvSpPr txBox="1">
              <a:spLocks noChangeArrowheads="1"/>
            </p:cNvSpPr>
            <p:nvPr/>
          </p:nvSpPr>
          <p:spPr bwMode="auto">
            <a:xfrm>
              <a:off x="3998913" y="6407763"/>
              <a:ext cx="1295400" cy="366713"/>
            </a:xfrm>
            <a:prstGeom prst="rect">
              <a:avLst/>
            </a:prstGeom>
            <a:noFill/>
            <a:ln w="9525">
              <a:noFill/>
              <a:miter lim="800000"/>
            </a:ln>
          </p:spPr>
          <p:txBody>
            <a:bodyPr>
              <a:spAutoFit/>
            </a:bodyPr>
            <a:lstStyle/>
            <a:p>
              <a:r>
                <a:rPr lang="zh-CN" altLang="en-US">
                  <a:latin typeface="微软雅黑" panose="020B0503020204020204" pitchFamily="34" charset="-122"/>
                  <a:ea typeface="微软雅黑" panose="020B0503020204020204" pitchFamily="34" charset="-122"/>
                </a:rPr>
                <a:t>单元地址</a:t>
              </a:r>
            </a:p>
          </p:txBody>
        </p:sp>
        <p:sp>
          <p:nvSpPr>
            <p:cNvPr id="75898" name="Rectangle 118"/>
            <p:cNvSpPr>
              <a:spLocks noChangeArrowheads="1"/>
            </p:cNvSpPr>
            <p:nvPr/>
          </p:nvSpPr>
          <p:spPr bwMode="auto">
            <a:xfrm>
              <a:off x="4845050" y="5189026"/>
              <a:ext cx="349249" cy="381000"/>
            </a:xfrm>
            <a:prstGeom prst="rect">
              <a:avLst/>
            </a:prstGeom>
            <a:solidFill>
              <a:schemeClr val="accent2"/>
            </a:solidFill>
            <a:ln w="12700" cap="sq">
              <a:solidFill>
                <a:schemeClr val="tx1"/>
              </a:solidFill>
              <a:miter lim="800000"/>
              <a:headEnd type="none" w="sm" len="sm"/>
              <a:tailEnd type="none" w="sm" len="sm"/>
            </a:ln>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5899" name="Text Box 119"/>
            <p:cNvSpPr txBox="1">
              <a:spLocks noChangeArrowheads="1"/>
            </p:cNvSpPr>
            <p:nvPr/>
          </p:nvSpPr>
          <p:spPr bwMode="auto">
            <a:xfrm>
              <a:off x="4792689" y="5204902"/>
              <a:ext cx="453970" cy="369332"/>
            </a:xfrm>
            <a:prstGeom prst="rect">
              <a:avLst/>
            </a:prstGeom>
            <a:noFill/>
            <a:ln w="9525">
              <a:noFill/>
              <a:miter lim="800000"/>
            </a:ln>
          </p:spPr>
          <p:txBody>
            <a:bodyPr wrap="none" anchor="ctr">
              <a:spAutoFit/>
            </a:bodyPr>
            <a:lstStyle/>
            <a:p>
              <a:pPr algn="ctr"/>
              <a:r>
                <a:rPr lang="en-US" altLang="zh-CN" dirty="0">
                  <a:latin typeface="微软雅黑" panose="020B0503020204020204" pitchFamily="34" charset="-122"/>
                  <a:ea typeface="微软雅黑" panose="020B0503020204020204" pitchFamily="34" charset="-122"/>
                </a:rPr>
                <a:t>17</a:t>
              </a:r>
            </a:p>
          </p:txBody>
        </p:sp>
        <p:sp>
          <p:nvSpPr>
            <p:cNvPr id="75900" name="Text Box 120"/>
            <p:cNvSpPr txBox="1">
              <a:spLocks noChangeArrowheads="1"/>
            </p:cNvSpPr>
            <p:nvPr/>
          </p:nvSpPr>
          <p:spPr bwMode="auto">
            <a:xfrm>
              <a:off x="4612148" y="1138005"/>
              <a:ext cx="3155031" cy="369332"/>
            </a:xfrm>
            <a:prstGeom prst="rect">
              <a:avLst/>
            </a:prstGeom>
            <a:noFill/>
            <a:ln w="9525">
              <a:noFill/>
              <a:miter lim="800000"/>
            </a:ln>
          </p:spPr>
          <p:txBody>
            <a:bodyPr wrap="none" anchor="ctr">
              <a:spAutoFit/>
            </a:bodyPr>
            <a:lstStyle/>
            <a:p>
              <a:pPr algn="ctr"/>
              <a:r>
                <a:rPr lang="en-US" altLang="zh-CN">
                  <a:latin typeface="微软雅黑" panose="020B0503020204020204" pitchFamily="34" charset="-122"/>
                  <a:ea typeface="微软雅黑" panose="020B0503020204020204" pitchFamily="34" charset="-122"/>
                </a:rPr>
                <a:t>D7 D6 D5 D4 D3 D2 D1 D0</a:t>
              </a:r>
            </a:p>
          </p:txBody>
        </p:sp>
      </p:grpSp>
      <p:pic>
        <p:nvPicPr>
          <p:cNvPr id="75780" name="图片 12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75782" name="图片 125"/>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632450"/>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2.2.2 </a:t>
            </a:r>
            <a:r>
              <a:rPr lang="zh-CN" altLang="en-US" sz="2400" b="1" dirty="0">
                <a:solidFill>
                  <a:prstClr val="black"/>
                </a:solidFill>
                <a:latin typeface="微软雅黑" panose="020B0503020204020204" pitchFamily="34" charset="-122"/>
                <a:ea typeface="微软雅黑" panose="020B0503020204020204" pitchFamily="34" charset="-122"/>
              </a:rPr>
              <a:t>程序存储器</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程序存储器用于存放已编制好的程序及程序中用到的常数。 </a:t>
            </a: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程序存储器由</a:t>
            </a:r>
            <a:r>
              <a:rPr lang="en-US" altLang="zh-CN" sz="2400" dirty="0">
                <a:solidFill>
                  <a:prstClr val="black"/>
                </a:solidFill>
                <a:latin typeface="微软雅黑" panose="020B0503020204020204" pitchFamily="34" charset="-122"/>
                <a:ea typeface="微软雅黑" panose="020B0503020204020204" pitchFamily="34" charset="-122"/>
              </a:rPr>
              <a:t>ROM</a:t>
            </a:r>
            <a:r>
              <a:rPr lang="zh-CN" altLang="en-US" sz="2400" dirty="0">
                <a:solidFill>
                  <a:prstClr val="black"/>
                </a:solidFill>
                <a:latin typeface="微软雅黑" panose="020B0503020204020204" pitchFamily="34" charset="-122"/>
                <a:ea typeface="微软雅黑" panose="020B0503020204020204" pitchFamily="34" charset="-122"/>
              </a:rPr>
              <a:t>构成，单片机掉电后</a:t>
            </a:r>
            <a:r>
              <a:rPr lang="en-US" altLang="zh-CN" sz="2400" dirty="0">
                <a:solidFill>
                  <a:prstClr val="black"/>
                </a:solidFill>
                <a:latin typeface="微软雅黑" panose="020B0503020204020204" pitchFamily="34" charset="-122"/>
                <a:ea typeface="微软雅黑" panose="020B0503020204020204" pitchFamily="34" charset="-122"/>
              </a:rPr>
              <a:t>ROM</a:t>
            </a:r>
            <a:r>
              <a:rPr lang="zh-CN" altLang="en-US" sz="2400" dirty="0">
                <a:solidFill>
                  <a:prstClr val="black"/>
                </a:solidFill>
                <a:latin typeface="微软雅黑" panose="020B0503020204020204" pitchFamily="34" charset="-122"/>
                <a:ea typeface="微软雅黑" panose="020B0503020204020204" pitchFamily="34" charset="-122"/>
              </a:rPr>
              <a:t>内容不会丢失。 </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en-US" altLang="zh-CN" sz="2400" dirty="0">
                <a:solidFill>
                  <a:prstClr val="black"/>
                </a:solidFill>
                <a:latin typeface="微软雅黑" panose="020B0503020204020204" pitchFamily="34" charset="-122"/>
                <a:ea typeface="微软雅黑" panose="020B0503020204020204" pitchFamily="34" charset="-122"/>
              </a:rPr>
              <a:t>8051</a:t>
            </a:r>
            <a:r>
              <a:rPr lang="zh-CN" altLang="en-US" sz="2400" dirty="0">
                <a:solidFill>
                  <a:prstClr val="black"/>
                </a:solidFill>
                <a:latin typeface="微软雅黑" panose="020B0503020204020204" pitchFamily="34" charset="-122"/>
                <a:ea typeface="微软雅黑" panose="020B0503020204020204" pitchFamily="34" charset="-122"/>
              </a:rPr>
              <a:t>片内有</a:t>
            </a:r>
            <a:r>
              <a:rPr lang="en-US" altLang="zh-CN" sz="2400" dirty="0">
                <a:solidFill>
                  <a:prstClr val="black"/>
                </a:solidFill>
                <a:latin typeface="微软雅黑" panose="020B0503020204020204" pitchFamily="34" charset="-122"/>
                <a:ea typeface="微软雅黑" panose="020B0503020204020204" pitchFamily="34" charset="-122"/>
              </a:rPr>
              <a:t>4KB</a:t>
            </a:r>
            <a:r>
              <a:rPr lang="zh-CN" altLang="en-US" sz="2400" dirty="0">
                <a:solidFill>
                  <a:prstClr val="black"/>
                </a:solidFill>
                <a:latin typeface="微软雅黑" panose="020B0503020204020204" pitchFamily="34" charset="-122"/>
                <a:ea typeface="微软雅黑" panose="020B0503020204020204" pitchFamily="34" charset="-122"/>
              </a:rPr>
              <a:t>的</a:t>
            </a:r>
            <a:r>
              <a:rPr lang="zh-CN" altLang="en-US" sz="2400" dirty="0">
                <a:solidFill>
                  <a:srgbClr val="0000FF"/>
                </a:solidFill>
                <a:latin typeface="微软雅黑" panose="020B0503020204020204" pitchFamily="34" charset="-122"/>
                <a:ea typeface="微软雅黑" panose="020B0503020204020204" pitchFamily="34" charset="-122"/>
              </a:rPr>
              <a:t>掩膜</a:t>
            </a:r>
            <a:r>
              <a:rPr lang="en-US" altLang="zh-CN" sz="2400" dirty="0">
                <a:solidFill>
                  <a:srgbClr val="0000FF"/>
                </a:solidFill>
                <a:latin typeface="微软雅黑" panose="020B0503020204020204" pitchFamily="34" charset="-122"/>
                <a:ea typeface="微软雅黑" panose="020B0503020204020204" pitchFamily="34" charset="-122"/>
              </a:rPr>
              <a:t>ROM</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8031</a:t>
            </a:r>
            <a:r>
              <a:rPr lang="zh-CN" altLang="en-US" sz="2400" dirty="0">
                <a:solidFill>
                  <a:prstClr val="black"/>
                </a:solidFill>
                <a:latin typeface="微软雅黑" panose="020B0503020204020204" pitchFamily="34" charset="-122"/>
                <a:ea typeface="微软雅黑" panose="020B0503020204020204" pitchFamily="34" charset="-122"/>
              </a:rPr>
              <a:t>片内</a:t>
            </a:r>
            <a:r>
              <a:rPr lang="zh-CN" altLang="en-US" sz="2400" dirty="0">
                <a:solidFill>
                  <a:srgbClr val="0000FF"/>
                </a:solidFill>
                <a:latin typeface="微软雅黑" panose="020B0503020204020204" pitchFamily="34" charset="-122"/>
                <a:ea typeface="微软雅黑" panose="020B0503020204020204" pitchFamily="34" charset="-122"/>
              </a:rPr>
              <a:t>无程序存储器</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8751</a:t>
            </a:r>
            <a:r>
              <a:rPr lang="zh-CN" altLang="en-US" sz="2400" dirty="0">
                <a:solidFill>
                  <a:prstClr val="black"/>
                </a:solidFill>
                <a:latin typeface="微软雅黑" panose="020B0503020204020204" pitchFamily="34" charset="-122"/>
                <a:ea typeface="微软雅黑" panose="020B0503020204020204" pitchFamily="34" charset="-122"/>
              </a:rPr>
              <a:t>片内有</a:t>
            </a:r>
            <a:r>
              <a:rPr lang="en-US" altLang="zh-CN" sz="2400" dirty="0">
                <a:solidFill>
                  <a:prstClr val="black"/>
                </a:solidFill>
                <a:latin typeface="微软雅黑" panose="020B0503020204020204" pitchFamily="34" charset="-122"/>
                <a:ea typeface="微软雅黑" panose="020B0503020204020204" pitchFamily="34" charset="-122"/>
              </a:rPr>
              <a:t>4KB</a:t>
            </a:r>
            <a:r>
              <a:rPr lang="zh-CN" altLang="en-US" sz="2400" dirty="0">
                <a:solidFill>
                  <a:prstClr val="black"/>
                </a:solidFill>
                <a:latin typeface="微软雅黑" panose="020B0503020204020204" pitchFamily="34" charset="-122"/>
                <a:ea typeface="微软雅黑" panose="020B0503020204020204" pitchFamily="34" charset="-122"/>
              </a:rPr>
              <a:t>的</a:t>
            </a:r>
            <a:r>
              <a:rPr lang="en-US" altLang="zh-CN" sz="2400" dirty="0">
                <a:solidFill>
                  <a:srgbClr val="0000FF"/>
                </a:solidFill>
                <a:latin typeface="微软雅黑" panose="020B0503020204020204" pitchFamily="34" charset="-122"/>
                <a:ea typeface="微软雅黑" panose="020B0503020204020204" pitchFamily="34" charset="-122"/>
              </a:rPr>
              <a:t>EPROM</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的程序存储器地址为</a:t>
            </a:r>
            <a:r>
              <a:rPr lang="en-US" altLang="zh-CN" sz="2400" dirty="0">
                <a:solidFill>
                  <a:prstClr val="black"/>
                </a:solidFill>
                <a:latin typeface="微软雅黑" panose="020B0503020204020204" pitchFamily="34" charset="-122"/>
                <a:ea typeface="微软雅黑" panose="020B0503020204020204" pitchFamily="34" charset="-122"/>
              </a:rPr>
              <a:t>16</a:t>
            </a:r>
            <a:r>
              <a:rPr lang="zh-CN" altLang="en-US" sz="2400" dirty="0">
                <a:solidFill>
                  <a:prstClr val="black"/>
                </a:solidFill>
                <a:latin typeface="微软雅黑" panose="020B0503020204020204" pitchFamily="34" charset="-122"/>
                <a:ea typeface="微软雅黑" panose="020B0503020204020204" pitchFamily="34" charset="-122"/>
              </a:rPr>
              <a:t>位</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二进制</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，因此程序存储器的地址范围为</a:t>
            </a:r>
            <a:r>
              <a:rPr lang="en-US" altLang="zh-CN" sz="2400" dirty="0">
                <a:solidFill>
                  <a:prstClr val="black"/>
                </a:solidFill>
                <a:latin typeface="微软雅黑" panose="020B0503020204020204" pitchFamily="34" charset="-122"/>
                <a:ea typeface="微软雅黑" panose="020B0503020204020204" pitchFamily="34" charset="-122"/>
              </a:rPr>
              <a:t>64KB</a:t>
            </a:r>
            <a:r>
              <a:rPr lang="zh-CN" altLang="en-US" sz="2400" dirty="0">
                <a:solidFill>
                  <a:prstClr val="black"/>
                </a:solidFill>
                <a:latin typeface="微软雅黑" panose="020B0503020204020204" pitchFamily="34" charset="-122"/>
                <a:ea typeface="微软雅黑" panose="020B0503020204020204" pitchFamily="34" charset="-122"/>
              </a:rPr>
              <a:t>。片内、片外程序存储器的地方空间是</a:t>
            </a:r>
            <a:r>
              <a:rPr lang="zh-CN" altLang="en-US" sz="2400" b="1" dirty="0">
                <a:solidFill>
                  <a:srgbClr val="0000FF"/>
                </a:solidFill>
                <a:latin typeface="微软雅黑" panose="020B0503020204020204" pitchFamily="34" charset="-122"/>
                <a:ea typeface="微软雅黑" panose="020B0503020204020204" pitchFamily="34" charset="-122"/>
              </a:rPr>
              <a:t>连续</a:t>
            </a:r>
            <a:r>
              <a:rPr lang="zh-CN" altLang="en-US" sz="2400" dirty="0">
                <a:solidFill>
                  <a:prstClr val="black"/>
                </a:solidFill>
                <a:latin typeface="微软雅黑" panose="020B0503020204020204" pitchFamily="34" charset="-122"/>
                <a:ea typeface="微软雅黑" panose="020B0503020204020204" pitchFamily="34" charset="-122"/>
              </a:rPr>
              <a:t>的。</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en-US" altLang="zh-CN" sz="2400" dirty="0">
                <a:solidFill>
                  <a:prstClr val="black"/>
                </a:solidFill>
                <a:latin typeface="微软雅黑" panose="020B0503020204020204" pitchFamily="34" charset="-122"/>
                <a:ea typeface="微软雅黑" panose="020B0503020204020204" pitchFamily="34" charset="-122"/>
              </a:rPr>
              <a:t>52</a:t>
            </a:r>
            <a:r>
              <a:rPr lang="zh-CN" altLang="en-US" sz="2400" dirty="0">
                <a:solidFill>
                  <a:prstClr val="black"/>
                </a:solidFill>
                <a:latin typeface="微软雅黑" panose="020B0503020204020204" pitchFamily="34" charset="-122"/>
                <a:ea typeface="微软雅黑" panose="020B0503020204020204" pitchFamily="34" charset="-122"/>
              </a:rPr>
              <a:t>子系列单片机内</a:t>
            </a:r>
            <a:r>
              <a:rPr lang="en-US" altLang="zh-CN" sz="2400" dirty="0">
                <a:solidFill>
                  <a:prstClr val="black"/>
                </a:solidFill>
                <a:latin typeface="微软雅黑" panose="020B0503020204020204" pitchFamily="34" charset="-122"/>
                <a:ea typeface="微软雅黑" panose="020B0503020204020204" pitchFamily="34" charset="-122"/>
              </a:rPr>
              <a:t>ROM</a:t>
            </a:r>
            <a:r>
              <a:rPr lang="zh-CN" altLang="en-US" sz="2400" dirty="0">
                <a:solidFill>
                  <a:prstClr val="black"/>
                </a:solidFill>
                <a:latin typeface="微软雅黑" panose="020B0503020204020204" pitchFamily="34" charset="-122"/>
                <a:ea typeface="微软雅黑" panose="020B0503020204020204" pitchFamily="34" charset="-122"/>
              </a:rPr>
              <a:t>为</a:t>
            </a:r>
            <a:r>
              <a:rPr lang="en-US" altLang="zh-CN" sz="2400" dirty="0">
                <a:solidFill>
                  <a:prstClr val="black"/>
                </a:solidFill>
                <a:latin typeface="微软雅黑" panose="020B0503020204020204" pitchFamily="34" charset="-122"/>
                <a:ea typeface="微软雅黑" panose="020B0503020204020204" pitchFamily="34" charset="-122"/>
              </a:rPr>
              <a:t>8KB</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en-US" altLang="zh-CN" sz="2400" dirty="0">
                <a:solidFill>
                  <a:prstClr val="black"/>
                </a:solidFill>
                <a:latin typeface="微软雅黑" panose="020B0503020204020204" pitchFamily="34" charset="-122"/>
                <a:ea typeface="微软雅黑" panose="020B0503020204020204" pitchFamily="34" charset="-122"/>
              </a:rPr>
              <a:t>MOVC</a:t>
            </a:r>
            <a:r>
              <a:rPr lang="zh-CN" altLang="en-US" sz="2400" dirty="0">
                <a:solidFill>
                  <a:prstClr val="black"/>
                </a:solidFill>
                <a:latin typeface="微软雅黑" panose="020B0503020204020204" pitchFamily="34" charset="-122"/>
                <a:ea typeface="微软雅黑" panose="020B0503020204020204" pitchFamily="34" charset="-122"/>
              </a:rPr>
              <a:t>指令用于访问程序存储器。</a:t>
            </a:r>
          </a:p>
        </p:txBody>
      </p:sp>
      <p:sp>
        <p:nvSpPr>
          <p:cNvPr id="77826"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2.2 MCS-51</a:t>
            </a:r>
            <a:r>
              <a:rPr lang="zh-CN" altLang="en-US" sz="2800">
                <a:solidFill>
                  <a:srgbClr val="000000"/>
                </a:solidFill>
                <a:latin typeface="微软雅黑" panose="020B0503020204020204" pitchFamily="34" charset="-122"/>
                <a:ea typeface="微软雅黑" panose="020B0503020204020204" pitchFamily="34" charset="-122"/>
              </a:rPr>
              <a:t>存储结构及位处理器</a:t>
            </a:r>
          </a:p>
        </p:txBody>
      </p:sp>
      <p:pic>
        <p:nvPicPr>
          <p:cNvPr id="77827"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77828"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文本框 1"/>
          <p:cNvSpPr txBox="1">
            <a:spLocks noChangeArrowheads="1"/>
          </p:cNvSpPr>
          <p:nvPr/>
        </p:nvSpPr>
        <p:spPr bwMode="auto">
          <a:xfrm>
            <a:off x="257175" y="736600"/>
            <a:ext cx="8636000" cy="5854700"/>
          </a:xfrm>
          <a:prstGeom prst="rect">
            <a:avLst/>
          </a:prstGeom>
          <a:noFill/>
          <a:ln w="9525">
            <a:noFill/>
            <a:miter lim="800000"/>
          </a:ln>
        </p:spPr>
        <p:txBody>
          <a:bodyPr>
            <a:spAutoFit/>
          </a:bodyPr>
          <a:lstStyle/>
          <a:p>
            <a:pPr algn="just">
              <a:lnSpc>
                <a:spcPct val="150000"/>
              </a:lnSpc>
            </a:pPr>
            <a:r>
              <a:rPr lang="en-US" altLang="zh-CN" sz="2400" b="1" dirty="0">
                <a:solidFill>
                  <a:srgbClr val="000000"/>
                </a:solidFill>
                <a:latin typeface="微软雅黑" panose="020B0503020204020204" pitchFamily="34" charset="-122"/>
                <a:ea typeface="微软雅黑" panose="020B0503020204020204" pitchFamily="34" charset="-122"/>
              </a:rPr>
              <a:t>2.2.2 </a:t>
            </a:r>
            <a:r>
              <a:rPr lang="zh-CN" altLang="en-US" sz="2400" b="1" dirty="0">
                <a:solidFill>
                  <a:srgbClr val="000000"/>
                </a:solidFill>
                <a:latin typeface="微软雅黑" panose="020B0503020204020204" pitchFamily="34" charset="-122"/>
                <a:ea typeface="微软雅黑" panose="020B0503020204020204" pitchFamily="34" charset="-122"/>
              </a:rPr>
              <a:t>程序存储器</a:t>
            </a:r>
            <a:endParaRPr lang="en-US" altLang="zh-CN" sz="2400" b="1" dirty="0">
              <a:solidFill>
                <a:srgbClr val="000000"/>
              </a:solidFill>
              <a:latin typeface="微软雅黑" panose="020B0503020204020204" pitchFamily="34" charset="-122"/>
              <a:ea typeface="微软雅黑" panose="020B0503020204020204" pitchFamily="34" charset="-122"/>
            </a:endParaRPr>
          </a:p>
          <a:p>
            <a:pPr marL="342900" lvl="1" indent="-342900" algn="just">
              <a:lnSpc>
                <a:spcPct val="150000"/>
              </a:lnSpc>
              <a:buFont typeface="Wingdings" panose="05000000000000000000" pitchFamily="2" charset="2"/>
              <a:buChar char="Ø"/>
            </a:pPr>
            <a:r>
              <a:rPr lang="zh-CN" altLang="en-US" sz="2400" dirty="0">
                <a:solidFill>
                  <a:srgbClr val="000000"/>
                </a:solidFill>
                <a:latin typeface="微软雅黑" panose="020B0503020204020204" pitchFamily="34" charset="-122"/>
                <a:ea typeface="微软雅黑" panose="020B0503020204020204" pitchFamily="34" charset="-122"/>
              </a:rPr>
              <a:t>在程序存储器中，</a:t>
            </a:r>
            <a:r>
              <a:rPr lang="en-US" altLang="zh-CN" sz="2400" dirty="0">
                <a:solidFill>
                  <a:srgbClr val="000000"/>
                </a:solidFill>
                <a:latin typeface="微软雅黑" panose="020B0503020204020204" pitchFamily="34" charset="-122"/>
                <a:ea typeface="微软雅黑" panose="020B0503020204020204" pitchFamily="34" charset="-122"/>
              </a:rPr>
              <a:t>MCS-51</a:t>
            </a:r>
            <a:r>
              <a:rPr lang="zh-CN" altLang="en-US" sz="2400" dirty="0">
                <a:solidFill>
                  <a:srgbClr val="000000"/>
                </a:solidFill>
                <a:latin typeface="微软雅黑" panose="020B0503020204020204" pitchFamily="34" charset="-122"/>
                <a:ea typeface="微软雅黑" panose="020B0503020204020204" pitchFamily="34" charset="-122"/>
              </a:rPr>
              <a:t>定义了</a:t>
            </a:r>
            <a:r>
              <a:rPr lang="en-US" altLang="zh-CN" sz="2400" b="1" dirty="0">
                <a:solidFill>
                  <a:srgbClr val="0000FF"/>
                </a:solidFill>
                <a:latin typeface="微软雅黑" panose="020B0503020204020204" pitchFamily="34" charset="-122"/>
                <a:ea typeface="微软雅黑" panose="020B0503020204020204" pitchFamily="34" charset="-122"/>
              </a:rPr>
              <a:t>7</a:t>
            </a:r>
            <a:r>
              <a:rPr lang="zh-CN" altLang="en-US" sz="2400" b="1" dirty="0">
                <a:solidFill>
                  <a:srgbClr val="0000FF"/>
                </a:solidFill>
                <a:latin typeface="微软雅黑" panose="020B0503020204020204" pitchFamily="34" charset="-122"/>
                <a:ea typeface="微软雅黑" panose="020B0503020204020204" pitchFamily="34" charset="-122"/>
              </a:rPr>
              <a:t>个单元</a:t>
            </a:r>
            <a:r>
              <a:rPr lang="zh-CN" altLang="en-US" sz="2400" dirty="0">
                <a:solidFill>
                  <a:srgbClr val="000000"/>
                </a:solidFill>
                <a:latin typeface="微软雅黑" panose="020B0503020204020204" pitchFamily="34" charset="-122"/>
                <a:ea typeface="微软雅黑" panose="020B0503020204020204" pitchFamily="34" charset="-122"/>
              </a:rPr>
              <a:t>用于特殊用途。</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lvl="2" algn="just">
              <a:lnSpc>
                <a:spcPct val="140000"/>
              </a:lnSpc>
            </a:pPr>
            <a:r>
              <a:rPr lang="en-US" altLang="zh-CN" sz="2400" dirty="0">
                <a:solidFill>
                  <a:srgbClr val="000000"/>
                </a:solidFill>
                <a:latin typeface="微软雅黑" panose="020B0503020204020204" pitchFamily="34" charset="-122"/>
                <a:ea typeface="微软雅黑" panose="020B0503020204020204" pitchFamily="34" charset="-122"/>
              </a:rPr>
              <a:t>      </a:t>
            </a:r>
            <a:r>
              <a:rPr lang="en-US" altLang="zh-CN" sz="2400" dirty="0">
                <a:solidFill>
                  <a:srgbClr val="0000FF"/>
                </a:solidFill>
                <a:latin typeface="微软雅黑" panose="020B0503020204020204" pitchFamily="34" charset="-122"/>
                <a:ea typeface="微软雅黑" panose="020B0503020204020204" pitchFamily="34" charset="-122"/>
              </a:rPr>
              <a:t> 0000H</a:t>
            </a:r>
            <a:r>
              <a:rPr lang="zh-CN" altLang="en-US" sz="2400" dirty="0">
                <a:solidFill>
                  <a:srgbClr val="000000"/>
                </a:solidFill>
                <a:latin typeface="微软雅黑" panose="020B0503020204020204" pitchFamily="34" charset="-122"/>
                <a:ea typeface="微软雅黑" panose="020B0503020204020204" pitchFamily="34" charset="-122"/>
              </a:rPr>
              <a:t>：</a:t>
            </a:r>
            <a:r>
              <a:rPr lang="en-US" altLang="zh-CN" sz="2400" dirty="0">
                <a:solidFill>
                  <a:srgbClr val="000000"/>
                </a:solidFill>
                <a:latin typeface="微软雅黑" panose="020B0503020204020204" pitchFamily="34" charset="-122"/>
                <a:ea typeface="微软雅黑" panose="020B0503020204020204" pitchFamily="34" charset="-122"/>
              </a:rPr>
              <a:t>CPU</a:t>
            </a:r>
            <a:r>
              <a:rPr lang="zh-CN" altLang="en-US" sz="2400" dirty="0">
                <a:solidFill>
                  <a:srgbClr val="000000"/>
                </a:solidFill>
                <a:latin typeface="微软雅黑" panose="020B0503020204020204" pitchFamily="34" charset="-122"/>
                <a:ea typeface="微软雅黑" panose="020B0503020204020204" pitchFamily="34" charset="-122"/>
              </a:rPr>
              <a:t>复位后，</a:t>
            </a:r>
            <a:r>
              <a:rPr lang="en-US" altLang="zh-CN" sz="2400" dirty="0">
                <a:solidFill>
                  <a:srgbClr val="000000"/>
                </a:solidFill>
                <a:latin typeface="微软雅黑" panose="020B0503020204020204" pitchFamily="34" charset="-122"/>
                <a:ea typeface="微软雅黑" panose="020B0503020204020204" pitchFamily="34" charset="-122"/>
              </a:rPr>
              <a:t>PC=0000H</a:t>
            </a:r>
            <a:r>
              <a:rPr lang="zh-CN" altLang="en-US" sz="2400" dirty="0">
                <a:solidFill>
                  <a:srgbClr val="000000"/>
                </a:solidFill>
                <a:latin typeface="微软雅黑" panose="020B0503020204020204" pitchFamily="34" charset="-122"/>
                <a:ea typeface="微软雅黑" panose="020B0503020204020204" pitchFamily="34" charset="-122"/>
              </a:rPr>
              <a:t>，程序总是从程序存储          器</a:t>
            </a:r>
            <a:r>
              <a:rPr lang="en-US" altLang="zh-CN" sz="2400" dirty="0">
                <a:solidFill>
                  <a:srgbClr val="000000"/>
                </a:solidFill>
                <a:latin typeface="微软雅黑" panose="020B0503020204020204" pitchFamily="34" charset="-122"/>
                <a:ea typeface="微软雅黑" panose="020B0503020204020204" pitchFamily="34" charset="-122"/>
              </a:rPr>
              <a:t>0000H</a:t>
            </a:r>
            <a:r>
              <a:rPr lang="zh-CN" altLang="en-US" sz="2400" dirty="0">
                <a:solidFill>
                  <a:srgbClr val="000000"/>
                </a:solidFill>
                <a:latin typeface="微软雅黑" panose="020B0503020204020204" pitchFamily="34" charset="-122"/>
                <a:ea typeface="微软雅黑" panose="020B0503020204020204" pitchFamily="34" charset="-122"/>
              </a:rPr>
              <a:t>单元开始执行。</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lvl="2" algn="just">
              <a:lnSpc>
                <a:spcPct val="140000"/>
              </a:lnSpc>
            </a:pPr>
            <a:r>
              <a:rPr lang="en-US" altLang="zh-CN" sz="2400" dirty="0">
                <a:solidFill>
                  <a:srgbClr val="000000"/>
                </a:solidFill>
                <a:latin typeface="微软雅黑" panose="020B0503020204020204" pitchFamily="34" charset="-122"/>
                <a:ea typeface="微软雅黑" panose="020B0503020204020204" pitchFamily="34" charset="-122"/>
              </a:rPr>
              <a:t>      </a:t>
            </a:r>
            <a:r>
              <a:rPr lang="en-US" altLang="zh-CN" sz="2400" dirty="0">
                <a:solidFill>
                  <a:srgbClr val="0000FF"/>
                </a:solidFill>
                <a:latin typeface="微软雅黑" panose="020B0503020204020204" pitchFamily="34" charset="-122"/>
                <a:ea typeface="微软雅黑" panose="020B0503020204020204" pitchFamily="34" charset="-122"/>
              </a:rPr>
              <a:t> 0003H</a:t>
            </a:r>
            <a:r>
              <a:rPr lang="zh-CN" altLang="en-US" sz="2400" dirty="0">
                <a:solidFill>
                  <a:srgbClr val="000000"/>
                </a:solidFill>
                <a:latin typeface="微软雅黑" panose="020B0503020204020204" pitchFamily="34" charset="-122"/>
                <a:ea typeface="微软雅黑" panose="020B0503020204020204" pitchFamily="34" charset="-122"/>
              </a:rPr>
              <a:t>：外部中断</a:t>
            </a:r>
            <a:r>
              <a:rPr lang="en-US" altLang="zh-CN" sz="2400" dirty="0">
                <a:solidFill>
                  <a:srgbClr val="000000"/>
                </a:solidFill>
                <a:latin typeface="微软雅黑" panose="020B0503020204020204" pitchFamily="34" charset="-122"/>
                <a:ea typeface="微软雅黑" panose="020B0503020204020204" pitchFamily="34" charset="-122"/>
              </a:rPr>
              <a:t>0</a:t>
            </a:r>
            <a:r>
              <a:rPr lang="zh-CN" altLang="en-US" sz="2400" dirty="0">
                <a:solidFill>
                  <a:srgbClr val="000000"/>
                </a:solidFill>
                <a:latin typeface="微软雅黑" panose="020B0503020204020204" pitchFamily="34" charset="-122"/>
                <a:ea typeface="微软雅黑" panose="020B0503020204020204" pitchFamily="34" charset="-122"/>
              </a:rPr>
              <a:t>中断服务程序入口地址。</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lvl="2" algn="just">
              <a:lnSpc>
                <a:spcPct val="140000"/>
              </a:lnSpc>
            </a:pPr>
            <a:r>
              <a:rPr lang="en-US" altLang="zh-CN" sz="2400" dirty="0">
                <a:solidFill>
                  <a:srgbClr val="000000"/>
                </a:solidFill>
                <a:latin typeface="微软雅黑" panose="020B0503020204020204" pitchFamily="34" charset="-122"/>
                <a:ea typeface="微软雅黑" panose="020B0503020204020204" pitchFamily="34" charset="-122"/>
              </a:rPr>
              <a:t>      </a:t>
            </a:r>
            <a:r>
              <a:rPr lang="en-US" altLang="zh-CN" sz="2400" dirty="0">
                <a:solidFill>
                  <a:srgbClr val="0000FF"/>
                </a:solidFill>
                <a:latin typeface="微软雅黑" panose="020B0503020204020204" pitchFamily="34" charset="-122"/>
                <a:ea typeface="微软雅黑" panose="020B0503020204020204" pitchFamily="34" charset="-122"/>
              </a:rPr>
              <a:t> 000BH</a:t>
            </a:r>
            <a:r>
              <a:rPr lang="zh-CN" altLang="en-US" sz="2400" dirty="0">
                <a:solidFill>
                  <a:srgbClr val="000000"/>
                </a:solidFill>
                <a:latin typeface="微软雅黑" panose="020B0503020204020204" pitchFamily="34" charset="-122"/>
                <a:ea typeface="微软雅黑" panose="020B0503020204020204" pitchFamily="34" charset="-122"/>
              </a:rPr>
              <a:t>：定时</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计数器</a:t>
            </a:r>
            <a:r>
              <a:rPr lang="en-US" altLang="zh-CN" sz="2400" dirty="0">
                <a:solidFill>
                  <a:srgbClr val="000000"/>
                </a:solidFill>
                <a:latin typeface="微软雅黑" panose="020B0503020204020204" pitchFamily="34" charset="-122"/>
                <a:ea typeface="微软雅黑" panose="020B0503020204020204" pitchFamily="34" charset="-122"/>
              </a:rPr>
              <a:t>0</a:t>
            </a:r>
            <a:r>
              <a:rPr lang="zh-CN" altLang="en-US" sz="2400" b="1" dirty="0">
                <a:solidFill>
                  <a:srgbClr val="00B0F0"/>
                </a:solidFill>
                <a:latin typeface="微软雅黑" panose="020B0503020204020204" pitchFamily="34" charset="-122"/>
                <a:ea typeface="微软雅黑" panose="020B0503020204020204" pitchFamily="34" charset="-122"/>
              </a:rPr>
              <a:t>溢出</a:t>
            </a:r>
            <a:r>
              <a:rPr lang="zh-CN" altLang="en-US" sz="2400" dirty="0">
                <a:solidFill>
                  <a:srgbClr val="000000"/>
                </a:solidFill>
                <a:latin typeface="微软雅黑" panose="020B0503020204020204" pitchFamily="34" charset="-122"/>
                <a:ea typeface="微软雅黑" panose="020B0503020204020204" pitchFamily="34" charset="-122"/>
              </a:rPr>
              <a:t>中断服务程序的入口地址。</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lvl="2" algn="just">
              <a:lnSpc>
                <a:spcPct val="140000"/>
              </a:lnSpc>
            </a:pPr>
            <a:r>
              <a:rPr lang="en-US" altLang="zh-CN" sz="2400" dirty="0">
                <a:solidFill>
                  <a:srgbClr val="000000"/>
                </a:solidFill>
                <a:latin typeface="微软雅黑" panose="020B0503020204020204" pitchFamily="34" charset="-122"/>
                <a:ea typeface="微软雅黑" panose="020B0503020204020204" pitchFamily="34" charset="-122"/>
              </a:rPr>
              <a:t>      </a:t>
            </a:r>
            <a:r>
              <a:rPr lang="en-US" altLang="zh-CN" sz="2400" dirty="0">
                <a:solidFill>
                  <a:srgbClr val="0000FF"/>
                </a:solidFill>
                <a:latin typeface="微软雅黑" panose="020B0503020204020204" pitchFamily="34" charset="-122"/>
                <a:ea typeface="微软雅黑" panose="020B0503020204020204" pitchFamily="34" charset="-122"/>
              </a:rPr>
              <a:t> 0013H</a:t>
            </a:r>
            <a:r>
              <a:rPr lang="zh-CN" altLang="en-US" sz="2400" dirty="0">
                <a:solidFill>
                  <a:srgbClr val="000000"/>
                </a:solidFill>
                <a:latin typeface="微软雅黑" panose="020B0503020204020204" pitchFamily="34" charset="-122"/>
                <a:ea typeface="微软雅黑" panose="020B0503020204020204" pitchFamily="34" charset="-122"/>
              </a:rPr>
              <a:t>：外部中断</a:t>
            </a:r>
            <a:r>
              <a:rPr lang="en-US" altLang="zh-CN" sz="2400" dirty="0">
                <a:solidFill>
                  <a:srgbClr val="000000"/>
                </a:solidFill>
                <a:latin typeface="微软雅黑" panose="020B0503020204020204" pitchFamily="34" charset="-122"/>
                <a:ea typeface="微软雅黑" panose="020B0503020204020204" pitchFamily="34" charset="-122"/>
              </a:rPr>
              <a:t>1</a:t>
            </a:r>
            <a:r>
              <a:rPr lang="zh-CN" altLang="en-US" sz="2400" dirty="0">
                <a:solidFill>
                  <a:srgbClr val="000000"/>
                </a:solidFill>
                <a:latin typeface="微软雅黑" panose="020B0503020204020204" pitchFamily="34" charset="-122"/>
                <a:ea typeface="微软雅黑" panose="020B0503020204020204" pitchFamily="34" charset="-122"/>
              </a:rPr>
              <a:t>中断服务程序入口地址。</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lvl="2" algn="just">
              <a:lnSpc>
                <a:spcPct val="140000"/>
              </a:lnSpc>
            </a:pPr>
            <a:r>
              <a:rPr lang="en-US" altLang="zh-CN" sz="2400" dirty="0">
                <a:solidFill>
                  <a:srgbClr val="0000FF"/>
                </a:solidFill>
                <a:latin typeface="微软雅黑" panose="020B0503020204020204" pitchFamily="34" charset="-122"/>
                <a:ea typeface="微软雅黑" panose="020B0503020204020204" pitchFamily="34" charset="-122"/>
              </a:rPr>
              <a:t>       001BH</a:t>
            </a:r>
            <a:r>
              <a:rPr lang="zh-CN" altLang="en-US" sz="2400" dirty="0">
                <a:solidFill>
                  <a:srgbClr val="000000"/>
                </a:solidFill>
                <a:latin typeface="微软雅黑" panose="020B0503020204020204" pitchFamily="34" charset="-122"/>
                <a:ea typeface="微软雅黑" panose="020B0503020204020204" pitchFamily="34" charset="-122"/>
              </a:rPr>
              <a:t>：定时</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计数器</a:t>
            </a:r>
            <a:r>
              <a:rPr lang="en-US" altLang="zh-CN" sz="2400" dirty="0">
                <a:solidFill>
                  <a:srgbClr val="000000"/>
                </a:solidFill>
                <a:latin typeface="微软雅黑" panose="020B0503020204020204" pitchFamily="34" charset="-122"/>
                <a:ea typeface="微软雅黑" panose="020B0503020204020204" pitchFamily="34" charset="-122"/>
              </a:rPr>
              <a:t>1</a:t>
            </a:r>
            <a:r>
              <a:rPr lang="zh-CN" altLang="en-US" sz="2400" b="1" dirty="0">
                <a:solidFill>
                  <a:srgbClr val="00B0F0"/>
                </a:solidFill>
                <a:latin typeface="微软雅黑" panose="020B0503020204020204" pitchFamily="34" charset="-122"/>
                <a:ea typeface="微软雅黑" panose="020B0503020204020204" pitchFamily="34" charset="-122"/>
              </a:rPr>
              <a:t>溢出</a:t>
            </a:r>
            <a:r>
              <a:rPr lang="zh-CN" altLang="en-US" sz="2400" dirty="0">
                <a:solidFill>
                  <a:srgbClr val="000000"/>
                </a:solidFill>
                <a:latin typeface="微软雅黑" panose="020B0503020204020204" pitchFamily="34" charset="-122"/>
                <a:ea typeface="微软雅黑" panose="020B0503020204020204" pitchFamily="34" charset="-122"/>
              </a:rPr>
              <a:t>中断服务程序的入口地址。</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lvl="2" algn="just">
              <a:lnSpc>
                <a:spcPct val="140000"/>
              </a:lnSpc>
            </a:pPr>
            <a:r>
              <a:rPr lang="en-US" altLang="zh-CN" sz="2400" dirty="0">
                <a:solidFill>
                  <a:srgbClr val="000000"/>
                </a:solidFill>
                <a:latin typeface="微软雅黑" panose="020B0503020204020204" pitchFamily="34" charset="-122"/>
                <a:ea typeface="微软雅黑" panose="020B0503020204020204" pitchFamily="34" charset="-122"/>
              </a:rPr>
              <a:t>       </a:t>
            </a:r>
            <a:r>
              <a:rPr lang="en-US" altLang="zh-CN" sz="2400" dirty="0">
                <a:solidFill>
                  <a:srgbClr val="0000FF"/>
                </a:solidFill>
                <a:latin typeface="微软雅黑" panose="020B0503020204020204" pitchFamily="34" charset="-122"/>
                <a:ea typeface="微软雅黑" panose="020B0503020204020204" pitchFamily="34" charset="-122"/>
              </a:rPr>
              <a:t>0023H</a:t>
            </a:r>
            <a:r>
              <a:rPr lang="zh-CN" altLang="en-US" sz="2400" dirty="0">
                <a:solidFill>
                  <a:srgbClr val="000000"/>
                </a:solidFill>
                <a:latin typeface="微软雅黑" panose="020B0503020204020204" pitchFamily="34" charset="-122"/>
                <a:ea typeface="微软雅黑" panose="020B0503020204020204" pitchFamily="34" charset="-122"/>
              </a:rPr>
              <a:t>：串行口中断服务程序的入口。</a:t>
            </a:r>
            <a:endParaRPr lang="en-US" altLang="zh-CN" sz="2400" dirty="0">
              <a:solidFill>
                <a:srgbClr val="000000"/>
              </a:solidFill>
              <a:latin typeface="微软雅黑" panose="020B0503020204020204" pitchFamily="34" charset="-122"/>
              <a:ea typeface="微软雅黑" panose="020B0503020204020204" pitchFamily="34" charset="-122"/>
            </a:endParaRPr>
          </a:p>
          <a:p>
            <a:pPr marL="0" lvl="2" algn="just">
              <a:lnSpc>
                <a:spcPct val="140000"/>
              </a:lnSpc>
            </a:pPr>
            <a:r>
              <a:rPr lang="en-US" altLang="zh-CN" sz="2400" dirty="0">
                <a:solidFill>
                  <a:srgbClr val="0000FF"/>
                </a:solidFill>
                <a:latin typeface="微软雅黑" panose="020B0503020204020204" pitchFamily="34" charset="-122"/>
                <a:ea typeface="微软雅黑" panose="020B0503020204020204" pitchFamily="34" charset="-122"/>
              </a:rPr>
              <a:t>       002BH</a:t>
            </a:r>
            <a:r>
              <a:rPr lang="zh-CN" altLang="en-US" sz="2400" dirty="0">
                <a:solidFill>
                  <a:srgbClr val="000000"/>
                </a:solidFill>
                <a:latin typeface="微软雅黑" panose="020B0503020204020204" pitchFamily="34" charset="-122"/>
                <a:ea typeface="微软雅黑" panose="020B0503020204020204" pitchFamily="34" charset="-122"/>
              </a:rPr>
              <a:t>：定时</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00"/>
                </a:solidFill>
                <a:latin typeface="微软雅黑" panose="020B0503020204020204" pitchFamily="34" charset="-122"/>
                <a:ea typeface="微软雅黑" panose="020B0503020204020204" pitchFamily="34" charset="-122"/>
              </a:rPr>
              <a:t>计数器</a:t>
            </a:r>
            <a:r>
              <a:rPr lang="en-US" altLang="zh-CN" sz="2400" dirty="0">
                <a:solidFill>
                  <a:srgbClr val="000000"/>
                </a:solidFill>
                <a:latin typeface="微软雅黑" panose="020B0503020204020204" pitchFamily="34" charset="-122"/>
                <a:ea typeface="微软雅黑" panose="020B0503020204020204" pitchFamily="34" charset="-122"/>
              </a:rPr>
              <a:t>2</a:t>
            </a:r>
            <a:r>
              <a:rPr lang="zh-CN" altLang="en-US" sz="2400" b="1" dirty="0">
                <a:solidFill>
                  <a:srgbClr val="00B0F0"/>
                </a:solidFill>
                <a:latin typeface="微软雅黑" panose="020B0503020204020204" pitchFamily="34" charset="-122"/>
                <a:ea typeface="微软雅黑" panose="020B0503020204020204" pitchFamily="34" charset="-122"/>
              </a:rPr>
              <a:t>溢出</a:t>
            </a:r>
            <a:r>
              <a:rPr lang="zh-CN" altLang="en-US" sz="2400" dirty="0">
                <a:solidFill>
                  <a:srgbClr val="000000"/>
                </a:solidFill>
                <a:latin typeface="微软雅黑" panose="020B0503020204020204" pitchFamily="34" charset="-122"/>
                <a:ea typeface="微软雅黑" panose="020B0503020204020204" pitchFamily="34" charset="-122"/>
              </a:rPr>
              <a:t>或</a:t>
            </a:r>
            <a:r>
              <a:rPr lang="en-US" altLang="zh-CN" sz="2400" dirty="0">
                <a:solidFill>
                  <a:srgbClr val="000000"/>
                </a:solidFill>
                <a:latin typeface="微软雅黑" panose="020B0503020204020204" pitchFamily="34" charset="-122"/>
                <a:ea typeface="微软雅黑" panose="020B0503020204020204" pitchFamily="34" charset="-122"/>
              </a:rPr>
              <a:t>T2EX(P1.1)</a:t>
            </a:r>
            <a:r>
              <a:rPr lang="zh-CN" altLang="en-US" sz="2400" dirty="0">
                <a:solidFill>
                  <a:srgbClr val="000000"/>
                </a:solidFill>
                <a:latin typeface="微软雅黑" panose="020B0503020204020204" pitchFamily="34" charset="-122"/>
                <a:ea typeface="微软雅黑" panose="020B0503020204020204" pitchFamily="34" charset="-122"/>
              </a:rPr>
              <a:t>端负跳变时的入口地址</a:t>
            </a:r>
            <a:r>
              <a:rPr lang="en-US" altLang="zh-CN"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仅</a:t>
            </a:r>
            <a:r>
              <a:rPr lang="en-US" altLang="zh-CN" sz="2400" dirty="0">
                <a:solidFill>
                  <a:srgbClr val="0000FF"/>
                </a:solidFill>
                <a:latin typeface="微软雅黑" panose="020B0503020204020204" pitchFamily="34" charset="-122"/>
                <a:ea typeface="微软雅黑" panose="020B0503020204020204" pitchFamily="34" charset="-122"/>
              </a:rPr>
              <a:t>8032/8352</a:t>
            </a:r>
            <a:r>
              <a:rPr lang="zh-CN" altLang="en-US" sz="2400" dirty="0">
                <a:solidFill>
                  <a:srgbClr val="0000FF"/>
                </a:solidFill>
                <a:latin typeface="微软雅黑" panose="020B0503020204020204" pitchFamily="34" charset="-122"/>
                <a:ea typeface="微软雅黑" panose="020B0503020204020204" pitchFamily="34" charset="-122"/>
              </a:rPr>
              <a:t>所特有</a:t>
            </a:r>
            <a:r>
              <a:rPr lang="en-US" altLang="zh-CN" sz="2400" dirty="0">
                <a:solidFill>
                  <a:srgbClr val="0000FF"/>
                </a:solidFill>
                <a:latin typeface="微软雅黑" panose="020B0503020204020204" pitchFamily="34" charset="-122"/>
                <a:ea typeface="微软雅黑" panose="020B0503020204020204" pitchFamily="34" charset="-122"/>
              </a:rPr>
              <a:t>)</a:t>
            </a:r>
            <a:endParaRPr lang="en-US" altLang="zh-CN" sz="2400" dirty="0">
              <a:solidFill>
                <a:srgbClr val="000000"/>
              </a:solidFill>
              <a:latin typeface="微软雅黑" panose="020B0503020204020204" pitchFamily="34" charset="-122"/>
              <a:ea typeface="微软雅黑" panose="020B0503020204020204" pitchFamily="34" charset="-122"/>
            </a:endParaRPr>
          </a:p>
        </p:txBody>
      </p:sp>
      <p:sp>
        <p:nvSpPr>
          <p:cNvPr id="79874"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2.2 MCS-51</a:t>
            </a:r>
            <a:r>
              <a:rPr lang="zh-CN" altLang="en-US" sz="2800">
                <a:solidFill>
                  <a:srgbClr val="000000"/>
                </a:solidFill>
                <a:latin typeface="微软雅黑" panose="020B0503020204020204" pitchFamily="34" charset="-122"/>
                <a:ea typeface="微软雅黑" panose="020B0503020204020204" pitchFamily="34" charset="-122"/>
              </a:rPr>
              <a:t>存储结构及位处理器</a:t>
            </a:r>
          </a:p>
        </p:txBody>
      </p:sp>
      <p:pic>
        <p:nvPicPr>
          <p:cNvPr id="79875"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79876"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文本框 1"/>
          <p:cNvSpPr txBox="1">
            <a:spLocks noChangeArrowheads="1"/>
          </p:cNvSpPr>
          <p:nvPr/>
        </p:nvSpPr>
        <p:spPr bwMode="auto">
          <a:xfrm>
            <a:off x="257175" y="736600"/>
            <a:ext cx="8636000" cy="4246563"/>
          </a:xfrm>
          <a:prstGeom prst="rect">
            <a:avLst/>
          </a:prstGeom>
          <a:noFill/>
          <a:ln w="9525">
            <a:noFill/>
            <a:miter lim="800000"/>
          </a:ln>
        </p:spPr>
        <p:txBody>
          <a:bodyPr>
            <a:spAutoFit/>
          </a:bodyPr>
          <a:lstStyle/>
          <a:p>
            <a:pPr algn="just">
              <a:lnSpc>
                <a:spcPct val="150000"/>
              </a:lnSpc>
            </a:pPr>
            <a:r>
              <a:rPr lang="en-US" altLang="zh-CN" sz="2400" b="1" dirty="0">
                <a:solidFill>
                  <a:srgbClr val="000000"/>
                </a:solidFill>
                <a:latin typeface="微软雅黑" panose="020B0503020204020204" pitchFamily="34" charset="-122"/>
                <a:ea typeface="微软雅黑" panose="020B0503020204020204" pitchFamily="34" charset="-122"/>
              </a:rPr>
              <a:t>2.2.2 </a:t>
            </a:r>
            <a:r>
              <a:rPr lang="zh-CN" altLang="en-US" sz="2400" b="1" dirty="0">
                <a:solidFill>
                  <a:srgbClr val="000000"/>
                </a:solidFill>
                <a:latin typeface="微软雅黑" panose="020B0503020204020204" pitchFamily="34" charset="-122"/>
                <a:ea typeface="微软雅黑" panose="020B0503020204020204" pitchFamily="34" charset="-122"/>
              </a:rPr>
              <a:t>程序存储器</a:t>
            </a:r>
            <a:endParaRPr lang="en-US" altLang="zh-CN" sz="2400" b="1" dirty="0">
              <a:solidFill>
                <a:srgbClr val="000000"/>
              </a:solidFill>
              <a:latin typeface="微软雅黑" panose="020B0503020204020204" pitchFamily="34" charset="-122"/>
              <a:ea typeface="微软雅黑" panose="020B0503020204020204" pitchFamily="34" charset="-122"/>
            </a:endParaRPr>
          </a:p>
          <a:p>
            <a:pPr algn="just">
              <a:lnSpc>
                <a:spcPct val="150000"/>
              </a:lnSpc>
            </a:pPr>
            <a:r>
              <a:rPr lang="zh-CN" altLang="en-US" sz="2400" dirty="0">
                <a:solidFill>
                  <a:srgbClr val="000000"/>
                </a:solidFill>
                <a:latin typeface="微软雅黑" panose="020B0503020204020204" pitchFamily="34" charset="-122"/>
                <a:ea typeface="微软雅黑" panose="020B0503020204020204" pitchFamily="34" charset="-122"/>
              </a:rPr>
              <a:t>       由于以上</a:t>
            </a:r>
            <a:r>
              <a:rPr lang="en-US" altLang="zh-CN" sz="2400" dirty="0">
                <a:solidFill>
                  <a:srgbClr val="000000"/>
                </a:solidFill>
                <a:latin typeface="微软雅黑" panose="020B0503020204020204" pitchFamily="34" charset="-122"/>
                <a:ea typeface="微软雅黑" panose="020B0503020204020204" pitchFamily="34" charset="-122"/>
              </a:rPr>
              <a:t>7</a:t>
            </a:r>
            <a:r>
              <a:rPr lang="zh-CN" altLang="en-US" sz="2400" dirty="0">
                <a:solidFill>
                  <a:srgbClr val="000000"/>
                </a:solidFill>
                <a:latin typeface="微软雅黑" panose="020B0503020204020204" pitchFamily="34" charset="-122"/>
                <a:ea typeface="微软雅黑" panose="020B0503020204020204" pitchFamily="34" charset="-122"/>
              </a:rPr>
              <a:t>个特殊用途的存储单元相距较近，在实际使用时，通常在入口处安放一条</a:t>
            </a:r>
            <a:r>
              <a:rPr lang="zh-CN" altLang="en-US" sz="2400" b="1" dirty="0">
                <a:solidFill>
                  <a:srgbClr val="0000FF"/>
                </a:solidFill>
                <a:latin typeface="微软雅黑" panose="020B0503020204020204" pitchFamily="34" charset="-122"/>
                <a:ea typeface="微软雅黑" panose="020B0503020204020204" pitchFamily="34" charset="-122"/>
              </a:rPr>
              <a:t>无条件转移指令</a:t>
            </a:r>
            <a:r>
              <a:rPr lang="zh-CN" altLang="en-US" sz="2400" dirty="0">
                <a:solidFill>
                  <a:srgbClr val="000000"/>
                </a:solidFill>
                <a:latin typeface="微软雅黑" panose="020B0503020204020204" pitchFamily="34" charset="-122"/>
                <a:ea typeface="微软雅黑" panose="020B0503020204020204" pitchFamily="34" charset="-122"/>
              </a:rPr>
              <a:t>。在</a:t>
            </a:r>
            <a:r>
              <a:rPr lang="en-US" altLang="zh-CN" sz="2400" dirty="0">
                <a:solidFill>
                  <a:srgbClr val="000000"/>
                </a:solidFill>
                <a:latin typeface="微软雅黑" panose="020B0503020204020204" pitchFamily="34" charset="-122"/>
                <a:ea typeface="微软雅黑" panose="020B0503020204020204" pitchFamily="34" charset="-122"/>
              </a:rPr>
              <a:t>0000H</a:t>
            </a:r>
            <a:r>
              <a:rPr lang="zh-CN" altLang="en-US" sz="2400" dirty="0">
                <a:solidFill>
                  <a:srgbClr val="000000"/>
                </a:solidFill>
                <a:latin typeface="微软雅黑" panose="020B0503020204020204" pitchFamily="34" charset="-122"/>
                <a:ea typeface="微软雅黑" panose="020B0503020204020204" pitchFamily="34" charset="-122"/>
              </a:rPr>
              <a:t>单元可放一条转向主控程序的转移指令，在其他入口可安排转移指令使之转向相应的由用户设计的中断服务程序实际入口地址。</a:t>
            </a:r>
            <a:endParaRPr lang="en-US" altLang="zh-CN" sz="2400" dirty="0">
              <a:solidFill>
                <a:srgbClr val="000000"/>
              </a:solidFill>
              <a:latin typeface="微软雅黑" panose="020B0503020204020204" pitchFamily="34" charset="-122"/>
              <a:ea typeface="微软雅黑" panose="020B0503020204020204" pitchFamily="34" charset="-122"/>
            </a:endParaRPr>
          </a:p>
          <a:p>
            <a:pPr lvl="2" algn="just">
              <a:lnSpc>
                <a:spcPct val="150000"/>
              </a:lnSpc>
            </a:pPr>
            <a:r>
              <a:rPr lang="zh-CN" altLang="en-US" sz="2000" dirty="0">
                <a:solidFill>
                  <a:srgbClr val="C00000"/>
                </a:solidFill>
                <a:latin typeface="微软雅黑" panose="020B0503020204020204" pitchFamily="34" charset="-122"/>
                <a:ea typeface="微软雅黑" panose="020B0503020204020204" pitchFamily="34" charset="-122"/>
              </a:rPr>
              <a:t>比如：</a:t>
            </a:r>
            <a:endParaRPr lang="en-US" altLang="zh-CN" sz="2000" dirty="0">
              <a:solidFill>
                <a:srgbClr val="C00000"/>
              </a:solidFill>
              <a:latin typeface="微软雅黑" panose="020B0503020204020204" pitchFamily="34" charset="-122"/>
              <a:ea typeface="微软雅黑" panose="020B0503020204020204" pitchFamily="34" charset="-122"/>
            </a:endParaRPr>
          </a:p>
          <a:p>
            <a:pPr lvl="2" algn="just">
              <a:lnSpc>
                <a:spcPct val="150000"/>
              </a:lnSpc>
            </a:pPr>
            <a:r>
              <a:rPr lang="en-US" altLang="zh-CN" sz="2000" dirty="0">
                <a:solidFill>
                  <a:srgbClr val="000000"/>
                </a:solidFill>
                <a:latin typeface="微软雅黑" panose="020B0503020204020204" pitchFamily="34" charset="-122"/>
                <a:ea typeface="微软雅黑" panose="020B0503020204020204" pitchFamily="34" charset="-122"/>
              </a:rPr>
              <a:t>ORG	0000H</a:t>
            </a:r>
          </a:p>
          <a:p>
            <a:pPr lvl="2" algn="just">
              <a:lnSpc>
                <a:spcPct val="150000"/>
              </a:lnSpc>
            </a:pPr>
            <a:r>
              <a:rPr lang="en-US" altLang="zh-CN" sz="2000" dirty="0">
                <a:solidFill>
                  <a:srgbClr val="000000"/>
                </a:solidFill>
                <a:latin typeface="微软雅黑" panose="020B0503020204020204" pitchFamily="34" charset="-122"/>
                <a:ea typeface="微软雅黑" panose="020B0503020204020204" pitchFamily="34" charset="-122"/>
              </a:rPr>
              <a:t>SJMP	MAIN	</a:t>
            </a:r>
            <a:r>
              <a:rPr lang="zh-CN" altLang="en-US" sz="2000" dirty="0">
                <a:solidFill>
                  <a:srgbClr val="000000"/>
                </a:solidFill>
                <a:latin typeface="微软雅黑" panose="020B0503020204020204" pitchFamily="34" charset="-122"/>
                <a:ea typeface="微软雅黑" panose="020B0503020204020204" pitchFamily="34" charset="-122"/>
              </a:rPr>
              <a:t>；转主程序</a:t>
            </a:r>
          </a:p>
        </p:txBody>
      </p:sp>
      <p:sp>
        <p:nvSpPr>
          <p:cNvPr id="81922"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2.2 MCS-51</a:t>
            </a:r>
            <a:r>
              <a:rPr lang="zh-CN" altLang="en-US" sz="2800">
                <a:solidFill>
                  <a:srgbClr val="000000"/>
                </a:solidFill>
                <a:latin typeface="微软雅黑" panose="020B0503020204020204" pitchFamily="34" charset="-122"/>
                <a:ea typeface="微软雅黑" panose="020B0503020204020204" pitchFamily="34" charset="-122"/>
              </a:rPr>
              <a:t>存储结构及位处理器</a:t>
            </a:r>
          </a:p>
        </p:txBody>
      </p:sp>
      <p:pic>
        <p:nvPicPr>
          <p:cNvPr id="81923"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81924"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813425"/>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2.2.3 </a:t>
            </a:r>
            <a:r>
              <a:rPr lang="zh-CN" altLang="en-US" sz="2400" b="1" dirty="0">
                <a:solidFill>
                  <a:prstClr val="black"/>
                </a:solidFill>
                <a:latin typeface="微软雅黑" panose="020B0503020204020204" pitchFamily="34" charset="-122"/>
                <a:ea typeface="微软雅黑" panose="020B0503020204020204" pitchFamily="34" charset="-122"/>
              </a:rPr>
              <a:t>数据存储器</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4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数据存储器用于存放程序运算的中间结果、状态标志位等。</a:t>
            </a:r>
          </a:p>
          <a:p>
            <a:pPr marL="342900" indent="-342900" algn="just" fontAlgn="auto">
              <a:lnSpc>
                <a:spcPct val="14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数据存储器由</a:t>
            </a:r>
            <a:r>
              <a:rPr lang="en-US" altLang="zh-CN" sz="2400" dirty="0">
                <a:solidFill>
                  <a:prstClr val="black"/>
                </a:solidFill>
                <a:latin typeface="微软雅黑" panose="020B0503020204020204" pitchFamily="34" charset="-122"/>
                <a:ea typeface="微软雅黑" panose="020B0503020204020204" pitchFamily="34" charset="-122"/>
              </a:rPr>
              <a:t>RAM</a:t>
            </a:r>
            <a:r>
              <a:rPr lang="zh-CN" altLang="en-US" sz="2400" dirty="0">
                <a:solidFill>
                  <a:prstClr val="black"/>
                </a:solidFill>
                <a:latin typeface="微软雅黑" panose="020B0503020204020204" pitchFamily="34" charset="-122"/>
                <a:ea typeface="微软雅黑" panose="020B0503020204020204" pitchFamily="34" charset="-122"/>
              </a:rPr>
              <a:t>构成，一旦掉电，其数据将丢失。</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4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在</a:t>
            </a:r>
            <a:r>
              <a:rPr lang="en-US" altLang="zh-CN" sz="2400" dirty="0">
                <a:solidFill>
                  <a:srgbClr val="0000FF"/>
                </a:solidFill>
                <a:latin typeface="微软雅黑" panose="020B0503020204020204" pitchFamily="34" charset="-122"/>
                <a:ea typeface="微软雅黑" panose="020B0503020204020204" pitchFamily="34" charset="-122"/>
              </a:rPr>
              <a:t>MCS-51</a:t>
            </a:r>
            <a:r>
              <a:rPr lang="zh-CN" altLang="en-US" sz="2400" dirty="0">
                <a:solidFill>
                  <a:srgbClr val="0000FF"/>
                </a:solidFill>
                <a:latin typeface="微软雅黑" panose="020B0503020204020204" pitchFamily="34" charset="-122"/>
                <a:ea typeface="微软雅黑" panose="020B0503020204020204" pitchFamily="34" charset="-122"/>
              </a:rPr>
              <a:t>单片机</a:t>
            </a:r>
            <a:r>
              <a:rPr lang="zh-CN" altLang="en-US" sz="2400" dirty="0">
                <a:solidFill>
                  <a:prstClr val="black"/>
                </a:solidFill>
                <a:latin typeface="微软雅黑" panose="020B0503020204020204" pitchFamily="34" charset="-122"/>
                <a:ea typeface="微软雅黑" panose="020B0503020204020204" pitchFamily="34" charset="-122"/>
              </a:rPr>
              <a:t>内，数据存储器分为</a:t>
            </a:r>
            <a:r>
              <a:rPr lang="zh-CN" altLang="en-US" sz="2400" b="1" dirty="0">
                <a:solidFill>
                  <a:prstClr val="black"/>
                </a:solidFill>
                <a:latin typeface="微软雅黑" panose="020B0503020204020204" pitchFamily="34" charset="-122"/>
                <a:ea typeface="微软雅黑" panose="020B0503020204020204" pitchFamily="34" charset="-122"/>
              </a:rPr>
              <a:t>内部</a:t>
            </a:r>
            <a:r>
              <a:rPr lang="zh-CN" altLang="en-US" sz="2400" dirty="0">
                <a:solidFill>
                  <a:prstClr val="black"/>
                </a:solidFill>
                <a:latin typeface="微软雅黑" panose="020B0503020204020204" pitchFamily="34" charset="-122"/>
                <a:ea typeface="微软雅黑" panose="020B0503020204020204" pitchFamily="34" charset="-122"/>
              </a:rPr>
              <a:t>数据存储器和</a:t>
            </a:r>
            <a:r>
              <a:rPr lang="zh-CN" altLang="en-US" sz="2400" b="1" dirty="0">
                <a:solidFill>
                  <a:prstClr val="black"/>
                </a:solidFill>
                <a:latin typeface="微软雅黑" panose="020B0503020204020204" pitchFamily="34" charset="-122"/>
                <a:ea typeface="微软雅黑" panose="020B0503020204020204" pitchFamily="34" charset="-122"/>
              </a:rPr>
              <a:t>外部</a:t>
            </a:r>
            <a:r>
              <a:rPr lang="zh-CN" altLang="en-US" sz="2400" dirty="0">
                <a:solidFill>
                  <a:prstClr val="black"/>
                </a:solidFill>
                <a:latin typeface="微软雅黑" panose="020B0503020204020204" pitchFamily="34" charset="-122"/>
                <a:ea typeface="微软雅黑" panose="020B0503020204020204" pitchFamily="34" charset="-122"/>
              </a:rPr>
              <a:t>数据存储器，这两个独立的地址空间，应</a:t>
            </a:r>
            <a:r>
              <a:rPr lang="zh-CN" altLang="en-US" sz="2400" dirty="0">
                <a:solidFill>
                  <a:srgbClr val="0000FF"/>
                </a:solidFill>
                <a:latin typeface="微软雅黑" panose="020B0503020204020204" pitchFamily="34" charset="-122"/>
                <a:ea typeface="微软雅黑" panose="020B0503020204020204" pitchFamily="34" charset="-122"/>
              </a:rPr>
              <a:t>分别编址</a:t>
            </a:r>
            <a:r>
              <a:rPr lang="zh-CN" altLang="en-US" sz="2400" dirty="0">
                <a:solidFill>
                  <a:prstClr val="black"/>
                </a:solidFill>
                <a:latin typeface="微软雅黑" panose="020B0503020204020204" pitchFamily="34" charset="-122"/>
                <a:ea typeface="微软雅黑" panose="020B0503020204020204" pitchFamily="34" charset="-122"/>
              </a:rPr>
              <a:t>。内部数据存储器为</a:t>
            </a:r>
            <a:r>
              <a:rPr lang="en-US" altLang="zh-CN" sz="2400" dirty="0">
                <a:solidFill>
                  <a:srgbClr val="0000FF"/>
                </a:solidFill>
                <a:latin typeface="微软雅黑" panose="020B0503020204020204" pitchFamily="34" charset="-122"/>
                <a:ea typeface="微软雅黑" panose="020B0503020204020204" pitchFamily="34" charset="-122"/>
              </a:rPr>
              <a:t>(</a:t>
            </a:r>
            <a:r>
              <a:rPr lang="en-US" altLang="zh-CN" sz="2400" b="1" dirty="0">
                <a:solidFill>
                  <a:srgbClr val="0000FF"/>
                </a:solidFill>
                <a:latin typeface="微软雅黑" panose="020B0503020204020204" pitchFamily="34" charset="-122"/>
                <a:ea typeface="微软雅黑" panose="020B0503020204020204" pitchFamily="34" charset="-122"/>
              </a:rPr>
              <a:t>128</a:t>
            </a:r>
            <a:r>
              <a:rPr lang="en-US" altLang="zh-CN" sz="2400" dirty="0">
                <a:solidFill>
                  <a:srgbClr val="0000FF"/>
                </a:solidFill>
                <a:latin typeface="微软雅黑" panose="020B0503020204020204" pitchFamily="34" charset="-122"/>
                <a:ea typeface="微软雅黑" panose="020B0503020204020204" pitchFamily="34" charset="-122"/>
              </a:rPr>
              <a:t>+</a:t>
            </a:r>
            <a:r>
              <a:rPr lang="en-US" altLang="zh-CN" sz="2400" b="1" dirty="0">
                <a:solidFill>
                  <a:srgbClr val="C00000"/>
                </a:solidFill>
                <a:latin typeface="微软雅黑" panose="020B0503020204020204" pitchFamily="34" charset="-122"/>
                <a:ea typeface="微软雅黑" panose="020B0503020204020204" pitchFamily="34" charset="-122"/>
              </a:rPr>
              <a:t>128</a:t>
            </a:r>
            <a:r>
              <a:rPr lang="en-US" altLang="zh-CN" sz="2400" dirty="0">
                <a:solidFill>
                  <a:srgbClr val="0000FF"/>
                </a:solidFill>
                <a:latin typeface="微软雅黑" panose="020B0503020204020204" pitchFamily="34" charset="-122"/>
                <a:ea typeface="微软雅黑" panose="020B0503020204020204" pitchFamily="34" charset="-122"/>
              </a:rPr>
              <a:t>)B</a:t>
            </a:r>
            <a:r>
              <a:rPr lang="zh-CN" altLang="en-US" sz="2400" dirty="0">
                <a:solidFill>
                  <a:prstClr val="black"/>
                </a:solidFill>
                <a:latin typeface="微软雅黑" panose="020B0503020204020204" pitchFamily="34" charset="-122"/>
                <a:ea typeface="微软雅黑" panose="020B0503020204020204" pitchFamily="34" charset="-122"/>
              </a:rPr>
              <a:t>，外部数据存储器最大可扩充为</a:t>
            </a:r>
            <a:r>
              <a:rPr lang="en-US" altLang="zh-CN" sz="2400" dirty="0">
                <a:solidFill>
                  <a:srgbClr val="0000FF"/>
                </a:solidFill>
                <a:latin typeface="微软雅黑" panose="020B0503020204020204" pitchFamily="34" charset="-122"/>
                <a:ea typeface="微软雅黑" panose="020B0503020204020204" pitchFamily="34" charset="-122"/>
              </a:rPr>
              <a:t>64KB</a:t>
            </a:r>
            <a:r>
              <a:rPr lang="zh-CN" altLang="en-US" sz="2400" dirty="0">
                <a:solidFill>
                  <a:prstClr val="black"/>
                </a:solidFill>
                <a:latin typeface="微软雅黑" panose="020B0503020204020204" pitchFamily="34" charset="-122"/>
                <a:ea typeface="微软雅黑" panose="020B0503020204020204" pitchFamily="34" charset="-122"/>
              </a:rPr>
              <a:t>，其地址指针为</a:t>
            </a:r>
            <a:r>
              <a:rPr lang="en-US" altLang="zh-CN" sz="2400" dirty="0">
                <a:solidFill>
                  <a:prstClr val="black"/>
                </a:solidFill>
                <a:latin typeface="微软雅黑" panose="020B0503020204020204" pitchFamily="34" charset="-122"/>
                <a:ea typeface="微软雅黑" panose="020B0503020204020204" pitchFamily="34" charset="-122"/>
              </a:rPr>
              <a:t>16</a:t>
            </a:r>
            <a:r>
              <a:rPr lang="zh-CN" altLang="en-US" sz="2400" dirty="0">
                <a:solidFill>
                  <a:prstClr val="black"/>
                </a:solidFill>
                <a:latin typeface="微软雅黑" panose="020B0503020204020204" pitchFamily="34" charset="-122"/>
                <a:ea typeface="微软雅黑" panose="020B0503020204020204" pitchFamily="34" charset="-122"/>
              </a:rPr>
              <a:t>位二进制数。</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40000"/>
              </a:lnSpc>
              <a:spcBef>
                <a:spcPts val="0"/>
              </a:spcBef>
              <a:spcAft>
                <a:spcPts val="0"/>
              </a:spcAft>
              <a:buFont typeface="Wingdings" panose="05000000000000000000" pitchFamily="2" charset="2"/>
              <a:buChar char="Ø"/>
              <a:defRPr/>
            </a:pPr>
            <a:r>
              <a:rPr lang="en-US" altLang="zh-CN" sz="2400" dirty="0">
                <a:solidFill>
                  <a:prstClr val="black"/>
                </a:solidFill>
                <a:latin typeface="微软雅黑" panose="020B0503020204020204" pitchFamily="34" charset="-122"/>
                <a:ea typeface="微软雅黑" panose="020B0503020204020204" pitchFamily="34" charset="-122"/>
              </a:rPr>
              <a:t>52</a:t>
            </a:r>
            <a:r>
              <a:rPr lang="zh-CN" altLang="en-US" sz="2400" dirty="0">
                <a:solidFill>
                  <a:prstClr val="black"/>
                </a:solidFill>
                <a:latin typeface="微软雅黑" panose="020B0503020204020204" pitchFamily="34" charset="-122"/>
                <a:ea typeface="微软雅黑" panose="020B0503020204020204" pitchFamily="34" charset="-122"/>
              </a:rPr>
              <a:t>子系列单片机内的</a:t>
            </a:r>
            <a:r>
              <a:rPr lang="en-US" altLang="zh-CN" sz="2400" dirty="0">
                <a:solidFill>
                  <a:prstClr val="black"/>
                </a:solidFill>
                <a:latin typeface="微软雅黑" panose="020B0503020204020204" pitchFamily="34" charset="-122"/>
                <a:ea typeface="微软雅黑" panose="020B0503020204020204" pitchFamily="34" charset="-122"/>
              </a:rPr>
              <a:t>RAM</a:t>
            </a:r>
            <a:r>
              <a:rPr lang="zh-CN" altLang="en-US" sz="2400" dirty="0">
                <a:solidFill>
                  <a:prstClr val="black"/>
                </a:solidFill>
                <a:latin typeface="微软雅黑" panose="020B0503020204020204" pitchFamily="34" charset="-122"/>
                <a:ea typeface="微软雅黑" panose="020B0503020204020204" pitchFamily="34" charset="-122"/>
              </a:rPr>
              <a:t>为</a:t>
            </a:r>
            <a:r>
              <a:rPr lang="en-US" altLang="zh-CN" sz="2400" dirty="0">
                <a:solidFill>
                  <a:srgbClr val="0000FF"/>
                </a:solidFill>
                <a:latin typeface="微软雅黑" panose="020B0503020204020204" pitchFamily="34" charset="-122"/>
                <a:ea typeface="微软雅黑" panose="020B0503020204020204" pitchFamily="34" charset="-122"/>
              </a:rPr>
              <a:t>256B</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40000"/>
              </a:lnSpc>
              <a:spcBef>
                <a:spcPts val="0"/>
              </a:spcBef>
              <a:spcAft>
                <a:spcPts val="0"/>
              </a:spcAft>
              <a:buFont typeface="Wingdings" panose="05000000000000000000" pitchFamily="2" charset="2"/>
              <a:buChar char="Ø"/>
              <a:defRPr/>
            </a:pPr>
            <a:r>
              <a:rPr lang="en-US" altLang="zh-CN" sz="2400" b="1" dirty="0">
                <a:solidFill>
                  <a:prstClr val="black"/>
                </a:solidFill>
                <a:latin typeface="微软雅黑" panose="020B0503020204020204" pitchFamily="34" charset="-122"/>
                <a:ea typeface="微软雅黑" panose="020B0503020204020204" pitchFamily="34" charset="-122"/>
              </a:rPr>
              <a:t>MOV</a:t>
            </a:r>
            <a:r>
              <a:rPr lang="zh-CN" altLang="en-US" sz="2400" dirty="0">
                <a:solidFill>
                  <a:prstClr val="black"/>
                </a:solidFill>
                <a:latin typeface="微软雅黑" panose="020B0503020204020204" pitchFamily="34" charset="-122"/>
                <a:ea typeface="微软雅黑" panose="020B0503020204020204" pitchFamily="34" charset="-122"/>
              </a:rPr>
              <a:t>指令用于访问</a:t>
            </a:r>
            <a:r>
              <a:rPr lang="zh-CN" altLang="en-US" sz="2400" b="1" dirty="0">
                <a:solidFill>
                  <a:prstClr val="black"/>
                </a:solidFill>
                <a:latin typeface="微软雅黑" panose="020B0503020204020204" pitchFamily="34" charset="-122"/>
                <a:ea typeface="微软雅黑" panose="020B0503020204020204" pitchFamily="34" charset="-122"/>
              </a:rPr>
              <a:t>内部</a:t>
            </a:r>
            <a:r>
              <a:rPr lang="en-US" altLang="zh-CN" sz="2400" b="1" dirty="0">
                <a:solidFill>
                  <a:prstClr val="black"/>
                </a:solidFill>
                <a:latin typeface="微软雅黑" panose="020B0503020204020204" pitchFamily="34" charset="-122"/>
                <a:ea typeface="微软雅黑" panose="020B0503020204020204" pitchFamily="34" charset="-122"/>
              </a:rPr>
              <a:t>RAM</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b="1" dirty="0">
                <a:solidFill>
                  <a:prstClr val="black"/>
                </a:solidFill>
                <a:latin typeface="微软雅黑" panose="020B0503020204020204" pitchFamily="34" charset="-122"/>
                <a:ea typeface="微软雅黑" panose="020B0503020204020204" pitchFamily="34" charset="-122"/>
              </a:rPr>
              <a:t>MOVX</a:t>
            </a:r>
            <a:r>
              <a:rPr lang="zh-CN" altLang="en-US" sz="2400" dirty="0">
                <a:solidFill>
                  <a:prstClr val="black"/>
                </a:solidFill>
                <a:latin typeface="微软雅黑" panose="020B0503020204020204" pitchFamily="34" charset="-122"/>
                <a:ea typeface="微软雅黑" panose="020B0503020204020204" pitchFamily="34" charset="-122"/>
              </a:rPr>
              <a:t>用于访问</a:t>
            </a:r>
            <a:r>
              <a:rPr lang="zh-CN" altLang="en-US" sz="2400" b="1" dirty="0">
                <a:solidFill>
                  <a:prstClr val="black"/>
                </a:solidFill>
                <a:latin typeface="微软雅黑" panose="020B0503020204020204" pitchFamily="34" charset="-122"/>
                <a:ea typeface="微软雅黑" panose="020B0503020204020204" pitchFamily="34" charset="-122"/>
              </a:rPr>
              <a:t>外部</a:t>
            </a:r>
            <a:r>
              <a:rPr lang="en-US" altLang="zh-CN" sz="2400" b="1" dirty="0">
                <a:solidFill>
                  <a:prstClr val="black"/>
                </a:solidFill>
                <a:latin typeface="微软雅黑" panose="020B0503020204020204" pitchFamily="34" charset="-122"/>
                <a:ea typeface="微软雅黑" panose="020B0503020204020204" pitchFamily="34" charset="-122"/>
              </a:rPr>
              <a:t>RAM</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4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低</a:t>
            </a:r>
            <a:r>
              <a:rPr lang="en-US" altLang="zh-CN" sz="2400" dirty="0">
                <a:solidFill>
                  <a:prstClr val="black"/>
                </a:solidFill>
                <a:latin typeface="微软雅黑" panose="020B0503020204020204" pitchFamily="34" charset="-122"/>
                <a:ea typeface="微软雅黑" panose="020B0503020204020204" pitchFamily="34" charset="-122"/>
              </a:rPr>
              <a:t>128B</a:t>
            </a:r>
            <a:r>
              <a:rPr lang="zh-CN" altLang="en-US" sz="2400" dirty="0">
                <a:solidFill>
                  <a:prstClr val="black"/>
                </a:solidFill>
                <a:latin typeface="微软雅黑" panose="020B0503020204020204" pitchFamily="34" charset="-122"/>
                <a:ea typeface="微软雅黑" panose="020B0503020204020204" pitchFamily="34" charset="-122"/>
              </a:rPr>
              <a:t>为</a:t>
            </a:r>
            <a:r>
              <a:rPr lang="zh-CN" altLang="en-US" sz="2400" dirty="0">
                <a:solidFill>
                  <a:srgbClr val="0000FF"/>
                </a:solidFill>
                <a:latin typeface="微软雅黑" panose="020B0503020204020204" pitchFamily="34" charset="-122"/>
                <a:ea typeface="微软雅黑" panose="020B0503020204020204" pitchFamily="34" charset="-122"/>
              </a:rPr>
              <a:t>用户</a:t>
            </a:r>
            <a:r>
              <a:rPr lang="en-US" altLang="zh-CN" sz="2400" dirty="0">
                <a:solidFill>
                  <a:srgbClr val="0000FF"/>
                </a:solidFill>
                <a:latin typeface="微软雅黑" panose="020B0503020204020204" pitchFamily="34" charset="-122"/>
                <a:ea typeface="微软雅黑" panose="020B0503020204020204" pitchFamily="34" charset="-122"/>
              </a:rPr>
              <a:t>RAM</a:t>
            </a:r>
            <a:r>
              <a:rPr lang="zh-CN" altLang="en-US" sz="2400" dirty="0">
                <a:solidFill>
                  <a:srgbClr val="0000FF"/>
                </a:solidFill>
                <a:latin typeface="微软雅黑" panose="020B0503020204020204" pitchFamily="34" charset="-122"/>
                <a:ea typeface="微软雅黑" panose="020B0503020204020204" pitchFamily="34" charset="-122"/>
              </a:rPr>
              <a:t>区</a:t>
            </a:r>
            <a:r>
              <a:rPr lang="zh-CN" altLang="en-US" sz="2400" dirty="0">
                <a:solidFill>
                  <a:prstClr val="black"/>
                </a:solidFill>
                <a:latin typeface="微软雅黑" panose="020B0503020204020204" pitchFamily="34" charset="-122"/>
                <a:ea typeface="微软雅黑" panose="020B0503020204020204" pitchFamily="34" charset="-122"/>
              </a:rPr>
              <a:t>，高</a:t>
            </a:r>
            <a:r>
              <a:rPr lang="en-US" altLang="zh-CN" sz="2400" dirty="0">
                <a:solidFill>
                  <a:prstClr val="black"/>
                </a:solidFill>
                <a:latin typeface="微软雅黑" panose="020B0503020204020204" pitchFamily="34" charset="-122"/>
                <a:ea typeface="微软雅黑" panose="020B0503020204020204" pitchFamily="34" charset="-122"/>
              </a:rPr>
              <a:t>128B</a:t>
            </a:r>
            <a:r>
              <a:rPr lang="zh-CN" altLang="en-US" sz="2400" dirty="0">
                <a:solidFill>
                  <a:prstClr val="black"/>
                </a:solidFill>
                <a:latin typeface="微软雅黑" panose="020B0503020204020204" pitchFamily="34" charset="-122"/>
                <a:ea typeface="微软雅黑" panose="020B0503020204020204" pitchFamily="34" charset="-122"/>
              </a:rPr>
              <a:t>为特殊功能寄存器</a:t>
            </a:r>
            <a:r>
              <a:rPr lang="en-US" altLang="zh-CN"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srgbClr val="0000FF"/>
                </a:solidFill>
                <a:latin typeface="微软雅黑" panose="020B0503020204020204" pitchFamily="34" charset="-122"/>
                <a:ea typeface="微软雅黑" panose="020B0503020204020204" pitchFamily="34" charset="-122"/>
              </a:rPr>
              <a:t>SFR</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区，其中，仅有</a:t>
            </a:r>
            <a:r>
              <a:rPr lang="en-US" altLang="zh-CN" sz="2400" dirty="0">
                <a:solidFill>
                  <a:srgbClr val="0000FF"/>
                </a:solidFill>
                <a:latin typeface="微软雅黑" panose="020B0503020204020204" pitchFamily="34" charset="-122"/>
                <a:ea typeface="微软雅黑" panose="020B0503020204020204" pitchFamily="34" charset="-122"/>
              </a:rPr>
              <a:t>21</a:t>
            </a:r>
            <a:r>
              <a:rPr lang="zh-CN" altLang="en-US" sz="2400" dirty="0">
                <a:solidFill>
                  <a:prstClr val="black"/>
                </a:solidFill>
                <a:latin typeface="微软雅黑" panose="020B0503020204020204" pitchFamily="34" charset="-122"/>
                <a:ea typeface="微软雅黑" panose="020B0503020204020204" pitchFamily="34" charset="-122"/>
              </a:rPr>
              <a:t>个字节单元是有定义的。</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
        <p:nvSpPr>
          <p:cNvPr id="83970"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2.2 MCS-51</a:t>
            </a:r>
            <a:r>
              <a:rPr lang="zh-CN" altLang="en-US" sz="2800">
                <a:solidFill>
                  <a:srgbClr val="000000"/>
                </a:solidFill>
                <a:latin typeface="微软雅黑" panose="020B0503020204020204" pitchFamily="34" charset="-122"/>
                <a:ea typeface="微软雅黑" panose="020B0503020204020204" pitchFamily="34" charset="-122"/>
              </a:rPr>
              <a:t>存储结构及位处理器</a:t>
            </a:r>
          </a:p>
        </p:txBody>
      </p:sp>
      <p:pic>
        <p:nvPicPr>
          <p:cNvPr id="83971"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83972"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539978"/>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2.2.3 </a:t>
            </a:r>
            <a:r>
              <a:rPr lang="zh-CN" altLang="en-US" sz="2400" b="1" dirty="0">
                <a:solidFill>
                  <a:prstClr val="black"/>
                </a:solidFill>
                <a:latin typeface="微软雅黑" panose="020B0503020204020204" pitchFamily="34" charset="-122"/>
                <a:ea typeface="微软雅黑" panose="020B0503020204020204" pitchFamily="34" charset="-122"/>
              </a:rPr>
              <a:t>数据存储器</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通用寄存器区</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在低</a:t>
            </a:r>
            <a:r>
              <a:rPr lang="en-US" altLang="zh-CN" sz="2400" dirty="0">
                <a:solidFill>
                  <a:prstClr val="black"/>
                </a:solidFill>
                <a:latin typeface="微软雅黑" panose="020B0503020204020204" pitchFamily="34" charset="-122"/>
                <a:ea typeface="微软雅黑" panose="020B0503020204020204" pitchFamily="34" charset="-122"/>
              </a:rPr>
              <a:t>128B</a:t>
            </a:r>
            <a:r>
              <a:rPr lang="zh-CN" altLang="en-US" sz="2400" dirty="0">
                <a:solidFill>
                  <a:prstClr val="black"/>
                </a:solidFill>
                <a:latin typeface="微软雅黑" panose="020B0503020204020204" pitchFamily="34" charset="-122"/>
                <a:ea typeface="微软雅黑" panose="020B0503020204020204" pitchFamily="34" charset="-122"/>
              </a:rPr>
              <a:t>的</a:t>
            </a:r>
            <a:r>
              <a:rPr lang="en-US" altLang="zh-CN" sz="2400" dirty="0">
                <a:solidFill>
                  <a:prstClr val="black"/>
                </a:solidFill>
                <a:latin typeface="微软雅黑" panose="020B0503020204020204" pitchFamily="34" charset="-122"/>
                <a:ea typeface="微软雅黑" panose="020B0503020204020204" pitchFamily="34" charset="-122"/>
              </a:rPr>
              <a:t>RAM</a:t>
            </a:r>
            <a:r>
              <a:rPr lang="zh-CN" altLang="en-US" sz="2400" dirty="0">
                <a:solidFill>
                  <a:prstClr val="black"/>
                </a:solidFill>
                <a:latin typeface="微软雅黑" panose="020B0503020204020204" pitchFamily="34" charset="-122"/>
                <a:ea typeface="微软雅黑" panose="020B0503020204020204" pitchFamily="34" charset="-122"/>
              </a:rPr>
              <a:t>区中，将地址</a:t>
            </a:r>
            <a:r>
              <a:rPr lang="en-US" altLang="zh-CN" sz="2400" dirty="0">
                <a:solidFill>
                  <a:prstClr val="black"/>
                </a:solidFill>
                <a:latin typeface="微软雅黑" panose="020B0503020204020204" pitchFamily="34" charset="-122"/>
                <a:ea typeface="微软雅黑" panose="020B0503020204020204" pitchFamily="34" charset="-122"/>
              </a:rPr>
              <a:t>00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1FH</a:t>
            </a:r>
            <a:r>
              <a:rPr lang="zh-CN" altLang="en-US" sz="2400" dirty="0">
                <a:solidFill>
                  <a:prstClr val="black"/>
                </a:solidFill>
                <a:latin typeface="微软雅黑" panose="020B0503020204020204" pitchFamily="34" charset="-122"/>
                <a:ea typeface="微软雅黑" panose="020B0503020204020204" pitchFamily="34" charset="-122"/>
              </a:rPr>
              <a:t>共</a:t>
            </a:r>
            <a:r>
              <a:rPr lang="en-US" altLang="zh-CN" sz="2400" dirty="0">
                <a:solidFill>
                  <a:srgbClr val="0000FF"/>
                </a:solidFill>
                <a:latin typeface="微软雅黑" panose="020B0503020204020204" pitchFamily="34" charset="-122"/>
                <a:ea typeface="微软雅黑" panose="020B0503020204020204" pitchFamily="34" charset="-122"/>
              </a:rPr>
              <a:t>32</a:t>
            </a:r>
            <a:r>
              <a:rPr lang="zh-CN" altLang="en-US" sz="2400" dirty="0">
                <a:solidFill>
                  <a:srgbClr val="0000FF"/>
                </a:solidFill>
                <a:latin typeface="微软雅黑" panose="020B0503020204020204" pitchFamily="34" charset="-122"/>
                <a:ea typeface="微软雅黑" panose="020B0503020204020204" pitchFamily="34" charset="-122"/>
              </a:rPr>
              <a:t>个单元</a:t>
            </a:r>
            <a:r>
              <a:rPr lang="zh-CN" altLang="en-US" sz="2400" dirty="0">
                <a:solidFill>
                  <a:prstClr val="black"/>
                </a:solidFill>
                <a:latin typeface="微软雅黑" panose="020B0503020204020204" pitchFamily="34" charset="-122"/>
                <a:ea typeface="微软雅黑" panose="020B0503020204020204" pitchFamily="34" charset="-122"/>
              </a:rPr>
              <a:t>设为工作寄存器区，这</a:t>
            </a:r>
            <a:r>
              <a:rPr lang="en-US" altLang="zh-CN" sz="2400" dirty="0">
                <a:solidFill>
                  <a:prstClr val="black"/>
                </a:solidFill>
                <a:latin typeface="微软雅黑" panose="020B0503020204020204" pitchFamily="34" charset="-122"/>
                <a:ea typeface="微软雅黑" panose="020B0503020204020204" pitchFamily="34" charset="-122"/>
              </a:rPr>
              <a:t>32</a:t>
            </a:r>
            <a:r>
              <a:rPr lang="zh-CN" altLang="en-US" sz="2400" dirty="0">
                <a:solidFill>
                  <a:prstClr val="black"/>
                </a:solidFill>
                <a:latin typeface="微软雅黑" panose="020B0503020204020204" pitchFamily="34" charset="-122"/>
                <a:ea typeface="微软雅黑" panose="020B0503020204020204" pitchFamily="34" charset="-122"/>
              </a:rPr>
              <a:t>个单元又分为</a:t>
            </a:r>
            <a:r>
              <a:rPr lang="en-US" altLang="zh-CN" sz="2400" dirty="0">
                <a:solidFill>
                  <a:srgbClr val="0000FF"/>
                </a:solidFill>
                <a:latin typeface="微软雅黑" panose="020B0503020204020204" pitchFamily="34" charset="-122"/>
                <a:ea typeface="微软雅黑" panose="020B0503020204020204" pitchFamily="34" charset="-122"/>
              </a:rPr>
              <a:t>4</a:t>
            </a:r>
            <a:r>
              <a:rPr lang="zh-CN" altLang="en-US" sz="2400" dirty="0">
                <a:solidFill>
                  <a:srgbClr val="0000FF"/>
                </a:solidFill>
                <a:latin typeface="微软雅黑" panose="020B0503020204020204" pitchFamily="34" charset="-122"/>
                <a:ea typeface="微软雅黑" panose="020B0503020204020204" pitchFamily="34" charset="-122"/>
              </a:rPr>
              <a:t>组</a:t>
            </a:r>
            <a:r>
              <a:rPr lang="zh-CN" altLang="en-US" sz="2400" dirty="0">
                <a:solidFill>
                  <a:prstClr val="black"/>
                </a:solidFill>
                <a:latin typeface="微软雅黑" panose="020B0503020204020204" pitchFamily="34" charset="-122"/>
                <a:ea typeface="微软雅黑" panose="020B0503020204020204" pitchFamily="34" charset="-122"/>
              </a:rPr>
              <a:t>，每组由</a:t>
            </a:r>
            <a:r>
              <a:rPr lang="en-US" altLang="zh-CN" sz="2400" dirty="0">
                <a:solidFill>
                  <a:srgbClr val="0000FF"/>
                </a:solidFill>
                <a:latin typeface="微软雅黑" panose="020B0503020204020204" pitchFamily="34" charset="-122"/>
                <a:ea typeface="微软雅黑" panose="020B0503020204020204" pitchFamily="34" charset="-122"/>
              </a:rPr>
              <a:t>8</a:t>
            </a:r>
            <a:r>
              <a:rPr lang="zh-CN" altLang="en-US" sz="2400" dirty="0">
                <a:solidFill>
                  <a:srgbClr val="0000FF"/>
                </a:solidFill>
                <a:latin typeface="微软雅黑" panose="020B0503020204020204" pitchFamily="34" charset="-122"/>
                <a:ea typeface="微软雅黑" panose="020B0503020204020204" pitchFamily="34" charset="-122"/>
              </a:rPr>
              <a:t>个单元</a:t>
            </a:r>
            <a:r>
              <a:rPr lang="zh-CN" altLang="en-US" sz="2400" dirty="0">
                <a:solidFill>
                  <a:prstClr val="black"/>
                </a:solidFill>
                <a:latin typeface="微软雅黑" panose="020B0503020204020204" pitchFamily="34" charset="-122"/>
                <a:ea typeface="微软雅黑" panose="020B0503020204020204" pitchFamily="34" charset="-122"/>
              </a:rPr>
              <a:t>按序组成通用寄存器</a:t>
            </a:r>
            <a:r>
              <a:rPr lang="en-US" altLang="zh-CN" sz="2400" dirty="0">
                <a:solidFill>
                  <a:srgbClr val="0000FF"/>
                </a:solidFill>
                <a:latin typeface="微软雅黑" panose="020B0503020204020204" pitchFamily="34" charset="-122"/>
                <a:ea typeface="微软雅黑" panose="020B0503020204020204" pitchFamily="34" charset="-122"/>
              </a:rPr>
              <a:t>R0</a:t>
            </a:r>
            <a:r>
              <a:rPr lang="zh-CN" altLang="en-US" sz="2400" dirty="0">
                <a:solidFill>
                  <a:srgbClr val="0000FF"/>
                </a:solidFill>
                <a:latin typeface="微软雅黑" panose="020B0503020204020204" pitchFamily="34" charset="-122"/>
                <a:ea typeface="微软雅黑" panose="020B0503020204020204" pitchFamily="34" charset="-122"/>
              </a:rPr>
              <a:t>～</a:t>
            </a:r>
            <a:r>
              <a:rPr lang="en-US" altLang="zh-CN" sz="2400" dirty="0">
                <a:solidFill>
                  <a:srgbClr val="0000FF"/>
                </a:solidFill>
                <a:latin typeface="微软雅黑" panose="020B0503020204020204" pitchFamily="34" charset="-122"/>
                <a:ea typeface="微软雅黑" panose="020B0503020204020204" pitchFamily="34" charset="-122"/>
              </a:rPr>
              <a:t>R7</a:t>
            </a:r>
            <a:r>
              <a:rPr lang="zh-CN" altLang="en-US" sz="2400" dirty="0">
                <a:solidFill>
                  <a:prstClr val="black"/>
                </a:solidFill>
                <a:latin typeface="微软雅黑" panose="020B0503020204020204" pitchFamily="34" charset="-122"/>
                <a:ea typeface="微软雅黑" panose="020B0503020204020204" pitchFamily="34" charset="-122"/>
              </a:rPr>
              <a:t>。</a:t>
            </a: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通用寄存器</a:t>
            </a:r>
            <a:r>
              <a:rPr lang="en-US" altLang="zh-CN" sz="2400" dirty="0">
                <a:solidFill>
                  <a:prstClr val="black"/>
                </a:solidFill>
                <a:latin typeface="微软雅黑" panose="020B0503020204020204" pitchFamily="34" charset="-122"/>
                <a:ea typeface="微软雅黑" panose="020B0503020204020204" pitchFamily="34" charset="-122"/>
              </a:rPr>
              <a:t>R0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R7</a:t>
            </a:r>
            <a:r>
              <a:rPr lang="zh-CN" altLang="en-US" sz="2400" dirty="0">
                <a:solidFill>
                  <a:prstClr val="black"/>
                </a:solidFill>
                <a:latin typeface="微软雅黑" panose="020B0503020204020204" pitchFamily="34" charset="-122"/>
                <a:ea typeface="微软雅黑" panose="020B0503020204020204" pitchFamily="34" charset="-122"/>
              </a:rPr>
              <a:t>不仅用于</a:t>
            </a:r>
            <a:r>
              <a:rPr lang="zh-CN" altLang="en-US" sz="2400" dirty="0">
                <a:solidFill>
                  <a:srgbClr val="0000FF"/>
                </a:solidFill>
                <a:latin typeface="微软雅黑" panose="020B0503020204020204" pitchFamily="34" charset="-122"/>
                <a:ea typeface="微软雅黑" panose="020B0503020204020204" pitchFamily="34" charset="-122"/>
              </a:rPr>
              <a:t>暂存</a:t>
            </a:r>
            <a:r>
              <a:rPr lang="zh-CN" altLang="en-US" sz="2400" dirty="0">
                <a:solidFill>
                  <a:prstClr val="black"/>
                </a:solidFill>
                <a:latin typeface="微软雅黑" panose="020B0503020204020204" pitchFamily="34" charset="-122"/>
                <a:ea typeface="微软雅黑" panose="020B0503020204020204" pitchFamily="34" charset="-122"/>
              </a:rPr>
              <a:t>中间结果，而且是</a:t>
            </a:r>
            <a:r>
              <a:rPr lang="en-US" altLang="zh-CN" sz="2400" dirty="0">
                <a:solidFill>
                  <a:prstClr val="black"/>
                </a:solidFill>
                <a:latin typeface="微软雅黑" panose="020B0503020204020204" pitchFamily="34" charset="-122"/>
                <a:ea typeface="微软雅黑" panose="020B0503020204020204" pitchFamily="34" charset="-122"/>
              </a:rPr>
              <a:t>CPU</a:t>
            </a:r>
            <a:r>
              <a:rPr lang="zh-CN" altLang="en-US" sz="2400" dirty="0">
                <a:solidFill>
                  <a:prstClr val="black"/>
                </a:solidFill>
                <a:latin typeface="微软雅黑" panose="020B0503020204020204" pitchFamily="34" charset="-122"/>
                <a:ea typeface="微软雅黑" panose="020B0503020204020204" pitchFamily="34" charset="-122"/>
              </a:rPr>
              <a:t>指令中</a:t>
            </a:r>
            <a:r>
              <a:rPr lang="zh-CN" altLang="en-US" sz="2400" dirty="0">
                <a:solidFill>
                  <a:srgbClr val="0000FF"/>
                </a:solidFill>
                <a:latin typeface="微软雅黑" panose="020B0503020204020204" pitchFamily="34" charset="-122"/>
                <a:ea typeface="微软雅黑" panose="020B0503020204020204" pitchFamily="34" charset="-122"/>
              </a:rPr>
              <a:t>寻址方式</a:t>
            </a:r>
            <a:r>
              <a:rPr lang="zh-CN" altLang="en-US" sz="2400" dirty="0">
                <a:solidFill>
                  <a:prstClr val="black"/>
                </a:solidFill>
                <a:latin typeface="微软雅黑" panose="020B0503020204020204" pitchFamily="34" charset="-122"/>
                <a:ea typeface="微软雅黑" panose="020B0503020204020204" pitchFamily="34" charset="-122"/>
              </a:rPr>
              <a:t>不可缺少的工作单元。</a:t>
            </a:r>
            <a:r>
              <a:rPr lang="zh-CN" altLang="en-US" sz="2200" dirty="0">
                <a:solidFill>
                  <a:prstClr val="black"/>
                </a:solidFill>
                <a:latin typeface="微软雅黑" panose="020B0503020204020204" pitchFamily="34" charset="-122"/>
                <a:ea typeface="微软雅黑" panose="020B0503020204020204" pitchFamily="34" charset="-122"/>
              </a:rPr>
              <a:t>任一时刻</a:t>
            </a:r>
            <a:r>
              <a:rPr lang="en-US" altLang="zh-CN" sz="2200" dirty="0">
                <a:solidFill>
                  <a:prstClr val="black"/>
                </a:solidFill>
                <a:latin typeface="微软雅黑" panose="020B0503020204020204" pitchFamily="34" charset="-122"/>
                <a:ea typeface="微软雅黑" panose="020B0503020204020204" pitchFamily="34" charset="-122"/>
              </a:rPr>
              <a:t>CPU</a:t>
            </a:r>
            <a:r>
              <a:rPr lang="zh-CN" altLang="en-US" sz="2200" dirty="0">
                <a:solidFill>
                  <a:prstClr val="black"/>
                </a:solidFill>
                <a:latin typeface="微软雅黑" panose="020B0503020204020204" pitchFamily="34" charset="-122"/>
                <a:ea typeface="微软雅黑" panose="020B0503020204020204" pitchFamily="34" charset="-122"/>
              </a:rPr>
              <a:t>只能选用一组工作寄存器为当前工作寄存器，未选中的其他三组工作寄存器可作为</a:t>
            </a:r>
            <a:r>
              <a:rPr lang="zh-CN" altLang="en-US" sz="2200" dirty="0">
                <a:solidFill>
                  <a:srgbClr val="0000FF"/>
                </a:solidFill>
                <a:latin typeface="微软雅黑" panose="020B0503020204020204" pitchFamily="34" charset="-122"/>
                <a:ea typeface="微软雅黑" panose="020B0503020204020204" pitchFamily="34" charset="-122"/>
              </a:rPr>
              <a:t>一般数据存储器使用</a:t>
            </a:r>
            <a:r>
              <a:rPr lang="zh-CN" altLang="en-US" sz="2200" dirty="0">
                <a:solidFill>
                  <a:prstClr val="black"/>
                </a:solidFill>
                <a:latin typeface="微软雅黑" panose="020B0503020204020204" pitchFamily="34" charset="-122"/>
                <a:ea typeface="微软雅黑" panose="020B0503020204020204" pitchFamily="34" charset="-122"/>
              </a:rPr>
              <a:t>。</a:t>
            </a:r>
          </a:p>
          <a:p>
            <a:pPr marL="342900" indent="-342900" algn="just" fontAlgn="auto">
              <a:lnSpc>
                <a:spcPct val="150000"/>
              </a:lnSpc>
              <a:spcBef>
                <a:spcPts val="0"/>
              </a:spcBef>
              <a:spcAft>
                <a:spcPts val="0"/>
              </a:spcAft>
              <a:buFont typeface="Wingdings" panose="05000000000000000000" pitchFamily="2" charset="2"/>
              <a:buChar char="Ø"/>
              <a:defRPr/>
            </a:pPr>
            <a:r>
              <a:rPr lang="en-US" altLang="zh-CN" sz="2400" dirty="0">
                <a:solidFill>
                  <a:prstClr val="black"/>
                </a:solidFill>
                <a:latin typeface="微软雅黑" panose="020B0503020204020204" pitchFamily="34" charset="-122"/>
                <a:ea typeface="微软雅黑" panose="020B0503020204020204" pitchFamily="34" charset="-122"/>
              </a:rPr>
              <a:t>CPU</a:t>
            </a:r>
            <a:r>
              <a:rPr lang="zh-CN" altLang="en-US" sz="2400" dirty="0">
                <a:solidFill>
                  <a:prstClr val="black"/>
                </a:solidFill>
                <a:latin typeface="微软雅黑" panose="020B0503020204020204" pitchFamily="34" charset="-122"/>
                <a:ea typeface="微软雅黑" panose="020B0503020204020204" pitchFamily="34" charset="-122"/>
              </a:rPr>
              <a:t>复位后，自动选中</a:t>
            </a:r>
            <a:r>
              <a:rPr lang="zh-CN" altLang="en-US" sz="2400" dirty="0">
                <a:solidFill>
                  <a:srgbClr val="0000FF"/>
                </a:solidFill>
                <a:latin typeface="微软雅黑" panose="020B0503020204020204" pitchFamily="34" charset="-122"/>
                <a:ea typeface="微软雅黑" panose="020B0503020204020204" pitchFamily="34" charset="-122"/>
              </a:rPr>
              <a:t>第</a:t>
            </a:r>
            <a:r>
              <a:rPr lang="en-US" altLang="zh-CN" sz="2400" dirty="0">
                <a:solidFill>
                  <a:srgbClr val="0000FF"/>
                </a:solidFill>
                <a:latin typeface="微软雅黑" panose="020B0503020204020204" pitchFamily="34" charset="-122"/>
                <a:ea typeface="微软雅黑" panose="020B0503020204020204" pitchFamily="34" charset="-122"/>
              </a:rPr>
              <a:t>0</a:t>
            </a:r>
            <a:r>
              <a:rPr lang="zh-CN" altLang="en-US" sz="2400" dirty="0">
                <a:solidFill>
                  <a:srgbClr val="0000FF"/>
                </a:solidFill>
                <a:latin typeface="微软雅黑" panose="020B0503020204020204" pitchFamily="34" charset="-122"/>
                <a:ea typeface="微软雅黑" panose="020B0503020204020204" pitchFamily="34" charset="-122"/>
              </a:rPr>
              <a:t>组</a:t>
            </a:r>
            <a:r>
              <a:rPr lang="zh-CN" altLang="en-US" sz="2400" dirty="0">
                <a:solidFill>
                  <a:prstClr val="black"/>
                </a:solidFill>
                <a:latin typeface="微软雅黑" panose="020B0503020204020204" pitchFamily="34" charset="-122"/>
                <a:ea typeface="微软雅黑" panose="020B0503020204020204" pitchFamily="34" charset="-122"/>
              </a:rPr>
              <a:t>工作寄存器。</a:t>
            </a:r>
          </a:p>
        </p:txBody>
      </p:sp>
      <p:sp>
        <p:nvSpPr>
          <p:cNvPr id="8601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2.2 MCS-51</a:t>
            </a:r>
            <a:r>
              <a:rPr lang="zh-CN" altLang="en-US" sz="2800">
                <a:solidFill>
                  <a:srgbClr val="000000"/>
                </a:solidFill>
                <a:latin typeface="微软雅黑" panose="020B0503020204020204" pitchFamily="34" charset="-122"/>
                <a:ea typeface="微软雅黑" panose="020B0503020204020204" pitchFamily="34" charset="-122"/>
              </a:rPr>
              <a:t>存储结构及位处理器</a:t>
            </a:r>
          </a:p>
        </p:txBody>
      </p:sp>
      <p:pic>
        <p:nvPicPr>
          <p:cNvPr id="86019"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770811"/>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2.2.3 </a:t>
            </a:r>
            <a:r>
              <a:rPr lang="zh-CN" altLang="en-US" sz="2400" b="1" dirty="0">
                <a:solidFill>
                  <a:prstClr val="black"/>
                </a:solidFill>
                <a:latin typeface="微软雅黑" panose="020B0503020204020204" pitchFamily="34" charset="-122"/>
                <a:ea typeface="微软雅黑" panose="020B0503020204020204" pitchFamily="34" charset="-122"/>
              </a:rPr>
              <a:t>数据存储器</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可位寻址区</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200" dirty="0">
                <a:solidFill>
                  <a:prstClr val="black"/>
                </a:solidFill>
                <a:latin typeface="微软雅黑" panose="020B0503020204020204" pitchFamily="34" charset="-122"/>
                <a:ea typeface="微软雅黑" panose="020B0503020204020204" pitchFamily="34" charset="-122"/>
              </a:rPr>
              <a:t>地址为</a:t>
            </a:r>
            <a:r>
              <a:rPr lang="en-US" altLang="zh-CN" sz="2200" dirty="0">
                <a:solidFill>
                  <a:srgbClr val="0000FF"/>
                </a:solidFill>
                <a:latin typeface="微软雅黑" panose="020B0503020204020204" pitchFamily="34" charset="-122"/>
                <a:ea typeface="微软雅黑" panose="020B0503020204020204" pitchFamily="34" charset="-122"/>
              </a:rPr>
              <a:t>20H</a:t>
            </a:r>
            <a:r>
              <a:rPr lang="zh-CN" altLang="en-US" sz="2200" dirty="0">
                <a:solidFill>
                  <a:srgbClr val="0000FF"/>
                </a:solidFill>
                <a:latin typeface="微软雅黑" panose="020B0503020204020204" pitchFamily="34" charset="-122"/>
                <a:ea typeface="微软雅黑" panose="020B0503020204020204" pitchFamily="34" charset="-122"/>
              </a:rPr>
              <a:t>～</a:t>
            </a:r>
            <a:r>
              <a:rPr lang="en-US" altLang="zh-CN" sz="2200" dirty="0">
                <a:solidFill>
                  <a:srgbClr val="0000FF"/>
                </a:solidFill>
                <a:latin typeface="微软雅黑" panose="020B0503020204020204" pitchFamily="34" charset="-122"/>
                <a:ea typeface="微软雅黑" panose="020B0503020204020204" pitchFamily="34" charset="-122"/>
              </a:rPr>
              <a:t>2FH</a:t>
            </a:r>
            <a:r>
              <a:rPr lang="zh-CN" altLang="en-US" sz="2200" dirty="0">
                <a:solidFill>
                  <a:prstClr val="black"/>
                </a:solidFill>
                <a:latin typeface="微软雅黑" panose="020B0503020204020204" pitchFamily="34" charset="-122"/>
                <a:ea typeface="微软雅黑" panose="020B0503020204020204" pitchFamily="34" charset="-122"/>
              </a:rPr>
              <a:t>的</a:t>
            </a:r>
            <a:r>
              <a:rPr lang="en-US" altLang="zh-CN" sz="2200" dirty="0">
                <a:solidFill>
                  <a:srgbClr val="0000FF"/>
                </a:solidFill>
                <a:latin typeface="微软雅黑" panose="020B0503020204020204" pitchFamily="34" charset="-122"/>
                <a:ea typeface="微软雅黑" panose="020B0503020204020204" pitchFamily="34" charset="-122"/>
              </a:rPr>
              <a:t>16</a:t>
            </a:r>
            <a:r>
              <a:rPr lang="zh-CN" altLang="en-US" sz="2200" dirty="0">
                <a:solidFill>
                  <a:srgbClr val="0000FF"/>
                </a:solidFill>
                <a:latin typeface="微软雅黑" panose="020B0503020204020204" pitchFamily="34" charset="-122"/>
                <a:ea typeface="微软雅黑" panose="020B0503020204020204" pitchFamily="34" charset="-122"/>
              </a:rPr>
              <a:t>个</a:t>
            </a:r>
            <a:r>
              <a:rPr lang="en-US" altLang="zh-CN" sz="2200" dirty="0">
                <a:solidFill>
                  <a:srgbClr val="0000FF"/>
                </a:solidFill>
                <a:latin typeface="微软雅黑" panose="020B0503020204020204" pitchFamily="34" charset="-122"/>
                <a:ea typeface="微软雅黑" panose="020B0503020204020204" pitchFamily="34" charset="-122"/>
              </a:rPr>
              <a:t>RAM(</a:t>
            </a:r>
            <a:r>
              <a:rPr lang="zh-CN" altLang="en-US" sz="2200" dirty="0">
                <a:solidFill>
                  <a:srgbClr val="0000FF"/>
                </a:solidFill>
                <a:latin typeface="微软雅黑" panose="020B0503020204020204" pitchFamily="34" charset="-122"/>
                <a:ea typeface="微软雅黑" panose="020B0503020204020204" pitchFamily="34" charset="-122"/>
              </a:rPr>
              <a:t>字节</a:t>
            </a:r>
            <a:r>
              <a:rPr lang="en-US" altLang="zh-CN" sz="2200" dirty="0">
                <a:solidFill>
                  <a:srgbClr val="0000FF"/>
                </a:solidFill>
                <a:latin typeface="微软雅黑" panose="020B0503020204020204" pitchFamily="34" charset="-122"/>
                <a:ea typeface="微软雅黑" panose="020B0503020204020204" pitchFamily="34" charset="-122"/>
              </a:rPr>
              <a:t>)</a:t>
            </a:r>
            <a:r>
              <a:rPr lang="zh-CN" altLang="en-US" sz="2200" dirty="0">
                <a:solidFill>
                  <a:srgbClr val="0000FF"/>
                </a:solidFill>
                <a:latin typeface="微软雅黑" panose="020B0503020204020204" pitchFamily="34" charset="-122"/>
                <a:ea typeface="微软雅黑" panose="020B0503020204020204" pitchFamily="34" charset="-122"/>
              </a:rPr>
              <a:t>单元</a:t>
            </a:r>
            <a:r>
              <a:rPr lang="zh-CN" altLang="en-US" sz="2200" dirty="0">
                <a:solidFill>
                  <a:prstClr val="black"/>
                </a:solidFill>
                <a:latin typeface="微软雅黑" panose="020B0503020204020204" pitchFamily="34" charset="-122"/>
                <a:ea typeface="微软雅黑" panose="020B0503020204020204" pitchFamily="34" charset="-122"/>
              </a:rPr>
              <a:t>，既可以像普通</a:t>
            </a:r>
            <a:r>
              <a:rPr lang="en-US" altLang="zh-CN" sz="2200" dirty="0">
                <a:solidFill>
                  <a:prstClr val="black"/>
                </a:solidFill>
                <a:latin typeface="微软雅黑" panose="020B0503020204020204" pitchFamily="34" charset="-122"/>
                <a:ea typeface="微软雅黑" panose="020B0503020204020204" pitchFamily="34" charset="-122"/>
              </a:rPr>
              <a:t>RAM</a:t>
            </a:r>
            <a:r>
              <a:rPr lang="zh-CN" altLang="en-US" sz="2200" dirty="0">
                <a:solidFill>
                  <a:prstClr val="black"/>
                </a:solidFill>
                <a:latin typeface="微软雅黑" panose="020B0503020204020204" pitchFamily="34" charset="-122"/>
                <a:ea typeface="微软雅黑" panose="020B0503020204020204" pitchFamily="34" charset="-122"/>
              </a:rPr>
              <a:t>单元</a:t>
            </a:r>
            <a:r>
              <a:rPr lang="zh-CN" altLang="en-US" sz="2200" dirty="0">
                <a:solidFill>
                  <a:srgbClr val="0000FF"/>
                </a:solidFill>
                <a:latin typeface="微软雅黑" panose="020B0503020204020204" pitchFamily="34" charset="-122"/>
                <a:ea typeface="微软雅黑" panose="020B0503020204020204" pitchFamily="34" charset="-122"/>
              </a:rPr>
              <a:t>按字节地址进行存取</a:t>
            </a:r>
            <a:r>
              <a:rPr lang="zh-CN" altLang="en-US" sz="2200" dirty="0">
                <a:solidFill>
                  <a:prstClr val="black"/>
                </a:solidFill>
                <a:latin typeface="微软雅黑" panose="020B0503020204020204" pitchFamily="34" charset="-122"/>
                <a:ea typeface="微软雅黑" panose="020B0503020204020204" pitchFamily="34" charset="-122"/>
              </a:rPr>
              <a:t>，又可以</a:t>
            </a:r>
            <a:r>
              <a:rPr lang="zh-CN" altLang="en-US" sz="2200" dirty="0">
                <a:solidFill>
                  <a:srgbClr val="0000FF"/>
                </a:solidFill>
                <a:latin typeface="微软雅黑" panose="020B0503020204020204" pitchFamily="34" charset="-122"/>
                <a:ea typeface="微软雅黑" panose="020B0503020204020204" pitchFamily="34" charset="-122"/>
              </a:rPr>
              <a:t>按位进行存取</a:t>
            </a:r>
            <a:r>
              <a:rPr lang="zh-CN" altLang="en-US" sz="2200" dirty="0">
                <a:solidFill>
                  <a:prstClr val="black"/>
                </a:solidFill>
                <a:latin typeface="微软雅黑" panose="020B0503020204020204" pitchFamily="34" charset="-122"/>
                <a:ea typeface="微软雅黑" panose="020B0503020204020204" pitchFamily="34" charset="-122"/>
              </a:rPr>
              <a:t>，这</a:t>
            </a:r>
            <a:r>
              <a:rPr lang="en-US" altLang="zh-CN" sz="2200" dirty="0">
                <a:solidFill>
                  <a:prstClr val="black"/>
                </a:solidFill>
                <a:latin typeface="微软雅黑" panose="020B0503020204020204" pitchFamily="34" charset="-122"/>
                <a:ea typeface="微软雅黑" panose="020B0503020204020204" pitchFamily="34" charset="-122"/>
              </a:rPr>
              <a:t>16</a:t>
            </a:r>
            <a:r>
              <a:rPr lang="zh-CN" altLang="en-US" sz="2200" dirty="0">
                <a:solidFill>
                  <a:prstClr val="black"/>
                </a:solidFill>
                <a:latin typeface="微软雅黑" panose="020B0503020204020204" pitchFamily="34" charset="-122"/>
                <a:ea typeface="微软雅黑" panose="020B0503020204020204" pitchFamily="34" charset="-122"/>
              </a:rPr>
              <a:t>个字节共有</a:t>
            </a:r>
            <a:r>
              <a:rPr lang="en-US" altLang="zh-CN" sz="2200" dirty="0">
                <a:solidFill>
                  <a:prstClr val="black"/>
                </a:solidFill>
                <a:latin typeface="微软雅黑" panose="020B0503020204020204" pitchFamily="34" charset="-122"/>
                <a:ea typeface="微软雅黑" panose="020B0503020204020204" pitchFamily="34" charset="-122"/>
              </a:rPr>
              <a:t>128(16×8)</a:t>
            </a:r>
            <a:r>
              <a:rPr lang="zh-CN" altLang="en-US" sz="2200" dirty="0">
                <a:solidFill>
                  <a:prstClr val="black"/>
                </a:solidFill>
                <a:latin typeface="微软雅黑" panose="020B0503020204020204" pitchFamily="34" charset="-122"/>
                <a:ea typeface="微软雅黑" panose="020B0503020204020204" pitchFamily="34" charset="-122"/>
              </a:rPr>
              <a:t>个二进制位，每一位都分配一个位地址，</a:t>
            </a:r>
            <a:r>
              <a:rPr lang="zh-CN" altLang="en-US" sz="2200" dirty="0">
                <a:solidFill>
                  <a:srgbClr val="0000FF"/>
                </a:solidFill>
                <a:latin typeface="微软雅黑" panose="020B0503020204020204" pitchFamily="34" charset="-122"/>
                <a:ea typeface="微软雅黑" panose="020B0503020204020204" pitchFamily="34" charset="-122"/>
              </a:rPr>
              <a:t>编址为</a:t>
            </a:r>
            <a:r>
              <a:rPr lang="en-US" altLang="zh-CN" sz="2200" dirty="0">
                <a:solidFill>
                  <a:srgbClr val="0000FF"/>
                </a:solidFill>
                <a:latin typeface="微软雅黑" panose="020B0503020204020204" pitchFamily="34" charset="-122"/>
                <a:ea typeface="微软雅黑" panose="020B0503020204020204" pitchFamily="34" charset="-122"/>
              </a:rPr>
              <a:t>00H</a:t>
            </a:r>
            <a:r>
              <a:rPr lang="zh-CN" altLang="en-US" sz="2200" dirty="0">
                <a:solidFill>
                  <a:srgbClr val="0000FF"/>
                </a:solidFill>
                <a:latin typeface="微软雅黑" panose="020B0503020204020204" pitchFamily="34" charset="-122"/>
                <a:ea typeface="微软雅黑" panose="020B0503020204020204" pitchFamily="34" charset="-122"/>
              </a:rPr>
              <a:t>～</a:t>
            </a:r>
            <a:r>
              <a:rPr lang="en-US" altLang="zh-CN" sz="2200" dirty="0">
                <a:solidFill>
                  <a:srgbClr val="0000FF"/>
                </a:solidFill>
                <a:latin typeface="微软雅黑" panose="020B0503020204020204" pitchFamily="34" charset="-122"/>
                <a:ea typeface="微软雅黑" panose="020B0503020204020204" pitchFamily="34" charset="-122"/>
              </a:rPr>
              <a:t>7FH </a:t>
            </a:r>
            <a:r>
              <a:rPr lang="zh-CN" altLang="en-US" sz="2200" dirty="0">
                <a:solidFill>
                  <a:prstClr val="black"/>
                </a:solidFill>
                <a:latin typeface="微软雅黑" panose="020B0503020204020204" pitchFamily="34" charset="-122"/>
                <a:ea typeface="微软雅黑" panose="020B0503020204020204" pitchFamily="34" charset="-122"/>
              </a:rPr>
              <a:t>。</a:t>
            </a:r>
            <a:endParaRPr lang="en-US" altLang="zh-CN" sz="2200" dirty="0">
              <a:solidFill>
                <a:srgbClr val="C00000"/>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200" dirty="0">
                <a:solidFill>
                  <a:srgbClr val="0000FF"/>
                </a:solidFill>
                <a:latin typeface="微软雅黑" panose="020B0503020204020204" pitchFamily="34" charset="-122"/>
                <a:ea typeface="微软雅黑" panose="020B0503020204020204" pitchFamily="34" charset="-122"/>
              </a:rPr>
              <a:t>位地址</a:t>
            </a:r>
            <a:r>
              <a:rPr lang="zh-CN" altLang="en-US" sz="2200" dirty="0">
                <a:solidFill>
                  <a:prstClr val="black"/>
                </a:solidFill>
                <a:latin typeface="微软雅黑" panose="020B0503020204020204" pitchFamily="34" charset="-122"/>
                <a:ea typeface="微软雅黑" panose="020B0503020204020204" pitchFamily="34" charset="-122"/>
              </a:rPr>
              <a:t>和</a:t>
            </a:r>
            <a:r>
              <a:rPr lang="zh-CN" altLang="en-US" sz="2200" dirty="0">
                <a:solidFill>
                  <a:srgbClr val="0000FF"/>
                </a:solidFill>
                <a:latin typeface="微软雅黑" panose="020B0503020204020204" pitchFamily="34" charset="-122"/>
                <a:ea typeface="微软雅黑" panose="020B0503020204020204" pitchFamily="34" charset="-122"/>
              </a:rPr>
              <a:t>字节地址</a:t>
            </a:r>
            <a:r>
              <a:rPr lang="zh-CN" altLang="en-US" sz="2200" dirty="0">
                <a:solidFill>
                  <a:prstClr val="black"/>
                </a:solidFill>
                <a:latin typeface="微软雅黑" panose="020B0503020204020204" pitchFamily="34" charset="-122"/>
                <a:ea typeface="微软雅黑" panose="020B0503020204020204" pitchFamily="34" charset="-122"/>
              </a:rPr>
              <a:t>都是用</a:t>
            </a:r>
            <a:r>
              <a:rPr lang="en-US" altLang="zh-CN" sz="2200" dirty="0">
                <a:solidFill>
                  <a:prstClr val="black"/>
                </a:solidFill>
                <a:latin typeface="微软雅黑" panose="020B0503020204020204" pitchFamily="34" charset="-122"/>
                <a:ea typeface="微软雅黑" panose="020B0503020204020204" pitchFamily="34" charset="-122"/>
              </a:rPr>
              <a:t>8</a:t>
            </a:r>
            <a:r>
              <a:rPr lang="zh-CN" altLang="en-US" sz="2200" dirty="0">
                <a:solidFill>
                  <a:prstClr val="black"/>
                </a:solidFill>
                <a:latin typeface="微软雅黑" panose="020B0503020204020204" pitchFamily="34" charset="-122"/>
                <a:ea typeface="微软雅黑" panose="020B0503020204020204" pitchFamily="34" charset="-122"/>
              </a:rPr>
              <a:t>位二进制</a:t>
            </a:r>
            <a:r>
              <a:rPr lang="en-US" altLang="zh-CN" sz="2200" dirty="0">
                <a:solidFill>
                  <a:prstClr val="black"/>
                </a:solidFill>
                <a:latin typeface="微软雅黑" panose="020B0503020204020204" pitchFamily="34" charset="-122"/>
                <a:ea typeface="微软雅黑" panose="020B0503020204020204" pitchFamily="34" charset="-122"/>
              </a:rPr>
              <a:t>(2</a:t>
            </a:r>
            <a:r>
              <a:rPr lang="zh-CN" altLang="en-US" sz="2200" dirty="0">
                <a:solidFill>
                  <a:prstClr val="black"/>
                </a:solidFill>
                <a:latin typeface="微软雅黑" panose="020B0503020204020204" pitchFamily="34" charset="-122"/>
                <a:ea typeface="微软雅黑" panose="020B0503020204020204" pitchFamily="34" charset="-122"/>
              </a:rPr>
              <a:t>位十六进制数</a:t>
            </a:r>
            <a:r>
              <a:rPr lang="en-US" altLang="zh-CN" sz="2200" dirty="0">
                <a:solidFill>
                  <a:prstClr val="black"/>
                </a:solidFill>
                <a:latin typeface="微软雅黑" panose="020B0503020204020204" pitchFamily="34" charset="-122"/>
                <a:ea typeface="微软雅黑" panose="020B0503020204020204" pitchFamily="34" charset="-122"/>
              </a:rPr>
              <a:t>)</a:t>
            </a:r>
            <a:r>
              <a:rPr lang="zh-CN" altLang="en-US" sz="2200" dirty="0">
                <a:solidFill>
                  <a:prstClr val="black"/>
                </a:solidFill>
                <a:latin typeface="微软雅黑" panose="020B0503020204020204" pitchFamily="34" charset="-122"/>
                <a:ea typeface="微软雅黑" panose="020B0503020204020204" pitchFamily="34" charset="-122"/>
              </a:rPr>
              <a:t>表示，但其含义不同，字节地址单元的数据是</a:t>
            </a:r>
            <a:r>
              <a:rPr lang="en-US" altLang="zh-CN" sz="2200" dirty="0">
                <a:solidFill>
                  <a:prstClr val="black"/>
                </a:solidFill>
                <a:latin typeface="微软雅黑" panose="020B0503020204020204" pitchFamily="34" charset="-122"/>
                <a:ea typeface="微软雅黑" panose="020B0503020204020204" pitchFamily="34" charset="-122"/>
              </a:rPr>
              <a:t>8</a:t>
            </a:r>
            <a:r>
              <a:rPr lang="zh-CN" altLang="en-US" sz="2200" dirty="0">
                <a:solidFill>
                  <a:prstClr val="black"/>
                </a:solidFill>
                <a:latin typeface="微软雅黑" panose="020B0503020204020204" pitchFamily="34" charset="-122"/>
                <a:ea typeface="微软雅黑" panose="020B0503020204020204" pitchFamily="34" charset="-122"/>
              </a:rPr>
              <a:t>位二进制数，位地址单元的数据是</a:t>
            </a:r>
            <a:r>
              <a:rPr lang="en-US" altLang="zh-CN" sz="2200" dirty="0">
                <a:solidFill>
                  <a:prstClr val="black"/>
                </a:solidFill>
                <a:latin typeface="微软雅黑" panose="020B0503020204020204" pitchFamily="34" charset="-122"/>
                <a:ea typeface="微软雅黑" panose="020B0503020204020204" pitchFamily="34" charset="-122"/>
              </a:rPr>
              <a:t>1</a:t>
            </a:r>
            <a:r>
              <a:rPr lang="zh-CN" altLang="en-US" sz="2200" dirty="0">
                <a:solidFill>
                  <a:prstClr val="black"/>
                </a:solidFill>
                <a:latin typeface="微软雅黑" panose="020B0503020204020204" pitchFamily="34" charset="-122"/>
                <a:ea typeface="微软雅黑" panose="020B0503020204020204" pitchFamily="34" charset="-122"/>
              </a:rPr>
              <a:t>位二进制数。</a:t>
            </a:r>
            <a:endParaRPr lang="en-US" altLang="zh-CN" sz="22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200" dirty="0">
                <a:solidFill>
                  <a:prstClr val="black"/>
                </a:solidFill>
                <a:latin typeface="微软雅黑" panose="020B0503020204020204" pitchFamily="34" charset="-122"/>
                <a:ea typeface="微软雅黑" panose="020B0503020204020204" pitchFamily="34" charset="-122"/>
              </a:rPr>
              <a:t>通过指令中</a:t>
            </a:r>
            <a:r>
              <a:rPr lang="zh-CN" altLang="en-US" sz="2200" dirty="0">
                <a:solidFill>
                  <a:srgbClr val="0000FF"/>
                </a:solidFill>
                <a:latin typeface="微软雅黑" panose="020B0503020204020204" pitchFamily="34" charset="-122"/>
                <a:ea typeface="微软雅黑" panose="020B0503020204020204" pitchFamily="34" charset="-122"/>
              </a:rPr>
              <a:t>操作数的类型</a:t>
            </a:r>
            <a:r>
              <a:rPr lang="zh-CN" altLang="en-US" sz="2200" dirty="0">
                <a:solidFill>
                  <a:prstClr val="black"/>
                </a:solidFill>
                <a:latin typeface="微软雅黑" panose="020B0503020204020204" pitchFamily="34" charset="-122"/>
                <a:ea typeface="微软雅黑" panose="020B0503020204020204" pitchFamily="34" charset="-122"/>
              </a:rPr>
              <a:t>确定地址是字节地址还是位地址。</a:t>
            </a:r>
            <a:endParaRPr lang="en-US" altLang="zh-CN" sz="22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200" dirty="0">
                <a:solidFill>
                  <a:prstClr val="black"/>
                </a:solidFill>
                <a:latin typeface="微软雅黑" panose="020B0503020204020204" pitchFamily="34" charset="-122"/>
                <a:ea typeface="微软雅黑" panose="020B0503020204020204" pitchFamily="34" charset="-122"/>
              </a:rPr>
              <a:t>         例如：</a:t>
            </a:r>
            <a:r>
              <a:rPr lang="en-US" altLang="zh-CN" sz="2200" dirty="0">
                <a:solidFill>
                  <a:prstClr val="black"/>
                </a:solidFill>
                <a:latin typeface="微软雅黑" panose="020B0503020204020204" pitchFamily="34" charset="-122"/>
                <a:ea typeface="微软雅黑" panose="020B0503020204020204" pitchFamily="34" charset="-122"/>
              </a:rPr>
              <a:t>MOV A</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20H</a:t>
            </a:r>
            <a:r>
              <a:rPr lang="zh-CN" altLang="en-US" sz="2200" dirty="0">
                <a:solidFill>
                  <a:prstClr val="black"/>
                </a:solidFill>
                <a:latin typeface="微软雅黑" panose="020B0503020204020204" pitchFamily="34" charset="-122"/>
                <a:ea typeface="微软雅黑" panose="020B0503020204020204" pitchFamily="34" charset="-122"/>
              </a:rPr>
              <a:t>；字节地址        </a:t>
            </a:r>
            <a:r>
              <a:rPr lang="en-US" altLang="zh-CN" sz="2200" dirty="0">
                <a:solidFill>
                  <a:prstClr val="black"/>
                </a:solidFill>
                <a:latin typeface="微软雅黑" panose="020B0503020204020204" pitchFamily="34" charset="-122"/>
                <a:ea typeface="微软雅黑" panose="020B0503020204020204" pitchFamily="34" charset="-122"/>
              </a:rPr>
              <a:t>MOV  C</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20H</a:t>
            </a:r>
            <a:r>
              <a:rPr lang="zh-CN" altLang="en-US" sz="2200" dirty="0">
                <a:solidFill>
                  <a:prstClr val="black"/>
                </a:solidFill>
                <a:latin typeface="微软雅黑" panose="020B0503020204020204" pitchFamily="34" charset="-122"/>
                <a:ea typeface="微软雅黑" panose="020B0503020204020204" pitchFamily="34" charset="-122"/>
              </a:rPr>
              <a:t>；位地址</a:t>
            </a:r>
            <a:endParaRPr lang="en-US" altLang="zh-CN" sz="2200" dirty="0">
              <a:solidFill>
                <a:prstClr val="black"/>
              </a:solidFill>
              <a:latin typeface="微软雅黑" panose="020B0503020204020204" pitchFamily="34" charset="-122"/>
              <a:ea typeface="微软雅黑" panose="020B0503020204020204" pitchFamily="34" charset="-122"/>
            </a:endParaRPr>
          </a:p>
        </p:txBody>
      </p:sp>
      <p:sp>
        <p:nvSpPr>
          <p:cNvPr id="88066"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2.2 MCS-51</a:t>
            </a:r>
            <a:r>
              <a:rPr lang="zh-CN" altLang="en-US" sz="2800">
                <a:solidFill>
                  <a:srgbClr val="000000"/>
                </a:solidFill>
                <a:latin typeface="微软雅黑" panose="020B0503020204020204" pitchFamily="34" charset="-122"/>
                <a:ea typeface="微软雅黑" panose="020B0503020204020204" pitchFamily="34" charset="-122"/>
              </a:rPr>
              <a:t>存储结构及位处理器</a:t>
            </a:r>
          </a:p>
        </p:txBody>
      </p:sp>
      <p:pic>
        <p:nvPicPr>
          <p:cNvPr id="88067"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5"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632450"/>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2.2.3 </a:t>
            </a:r>
            <a:r>
              <a:rPr lang="zh-CN" altLang="en-US" sz="2400" b="1" dirty="0">
                <a:solidFill>
                  <a:prstClr val="black"/>
                </a:solidFill>
                <a:latin typeface="微软雅黑" panose="020B0503020204020204" pitchFamily="34" charset="-122"/>
                <a:ea typeface="微软雅黑" panose="020B0503020204020204" pitchFamily="34" charset="-122"/>
              </a:rPr>
              <a:t>数据存储器</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只能字节寻址的</a:t>
            </a:r>
            <a:r>
              <a:rPr lang="en-US" altLang="zh-CN" sz="2400" dirty="0">
                <a:solidFill>
                  <a:prstClr val="black"/>
                </a:solidFill>
                <a:latin typeface="微软雅黑" panose="020B0503020204020204" pitchFamily="34" charset="-122"/>
                <a:ea typeface="微软雅黑" panose="020B0503020204020204" pitchFamily="34" charset="-122"/>
              </a:rPr>
              <a:t>RAM</a:t>
            </a: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在</a:t>
            </a:r>
            <a:r>
              <a:rPr lang="en-US" altLang="zh-CN" sz="2400" dirty="0">
                <a:solidFill>
                  <a:prstClr val="black"/>
                </a:solidFill>
                <a:latin typeface="微软雅黑" panose="020B0503020204020204" pitchFamily="34" charset="-122"/>
                <a:ea typeface="微软雅黑" panose="020B0503020204020204" pitchFamily="34" charset="-122"/>
              </a:rPr>
              <a:t>30H</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7FH</a:t>
            </a:r>
            <a:r>
              <a:rPr lang="zh-CN" altLang="en-US" sz="2400" dirty="0">
                <a:solidFill>
                  <a:prstClr val="black"/>
                </a:solidFill>
                <a:latin typeface="微软雅黑" panose="020B0503020204020204" pitchFamily="34" charset="-122"/>
                <a:ea typeface="微软雅黑" panose="020B0503020204020204" pitchFamily="34" charset="-122"/>
              </a:rPr>
              <a:t>区的</a:t>
            </a:r>
            <a:r>
              <a:rPr lang="en-US" altLang="zh-CN" sz="2400" dirty="0">
                <a:solidFill>
                  <a:prstClr val="black"/>
                </a:solidFill>
                <a:latin typeface="微软雅黑" panose="020B0503020204020204" pitchFamily="34" charset="-122"/>
                <a:ea typeface="微软雅黑" panose="020B0503020204020204" pitchFamily="34" charset="-122"/>
              </a:rPr>
              <a:t>80</a:t>
            </a:r>
            <a:r>
              <a:rPr lang="zh-CN" altLang="en-US" sz="2400" dirty="0">
                <a:solidFill>
                  <a:prstClr val="black"/>
                </a:solidFill>
                <a:latin typeface="微软雅黑" panose="020B0503020204020204" pitchFamily="34" charset="-122"/>
                <a:ea typeface="微软雅黑" panose="020B0503020204020204" pitchFamily="34" charset="-122"/>
              </a:rPr>
              <a:t>个</a:t>
            </a:r>
            <a:r>
              <a:rPr lang="en-US" altLang="zh-CN" sz="2400" dirty="0">
                <a:solidFill>
                  <a:prstClr val="black"/>
                </a:solidFill>
                <a:latin typeface="微软雅黑" panose="020B0503020204020204" pitchFamily="34" charset="-122"/>
                <a:ea typeface="微软雅黑" panose="020B0503020204020204" pitchFamily="34" charset="-122"/>
              </a:rPr>
              <a:t>RAM</a:t>
            </a:r>
            <a:r>
              <a:rPr lang="zh-CN" altLang="en-US" sz="2400" dirty="0">
                <a:solidFill>
                  <a:prstClr val="black"/>
                </a:solidFill>
                <a:latin typeface="微软雅黑" panose="020B0503020204020204" pitchFamily="34" charset="-122"/>
                <a:ea typeface="微软雅黑" panose="020B0503020204020204" pitchFamily="34" charset="-122"/>
              </a:rPr>
              <a:t>单元为用户</a:t>
            </a:r>
            <a:r>
              <a:rPr lang="en-US" altLang="zh-CN" sz="2400" dirty="0">
                <a:solidFill>
                  <a:prstClr val="black"/>
                </a:solidFill>
                <a:latin typeface="微软雅黑" panose="020B0503020204020204" pitchFamily="34" charset="-122"/>
                <a:ea typeface="微软雅黑" panose="020B0503020204020204" pitchFamily="34" charset="-122"/>
              </a:rPr>
              <a:t>RAM</a:t>
            </a:r>
            <a:r>
              <a:rPr lang="zh-CN" altLang="en-US" sz="2400" dirty="0">
                <a:solidFill>
                  <a:prstClr val="black"/>
                </a:solidFill>
                <a:latin typeface="微软雅黑" panose="020B0503020204020204" pitchFamily="34" charset="-122"/>
                <a:ea typeface="微软雅黑" panose="020B0503020204020204" pitchFamily="34" charset="-122"/>
              </a:rPr>
              <a:t>区，只能按字节存取。所以，</a:t>
            </a:r>
            <a:r>
              <a:rPr lang="en-US" altLang="zh-CN" sz="2400" b="1" dirty="0">
                <a:solidFill>
                  <a:prstClr val="black"/>
                </a:solidFill>
                <a:latin typeface="微软雅黑" panose="020B0503020204020204" pitchFamily="34" charset="-122"/>
                <a:ea typeface="微软雅黑" panose="020B0503020204020204" pitchFamily="34" charset="-122"/>
              </a:rPr>
              <a:t>30H</a:t>
            </a:r>
            <a:r>
              <a:rPr lang="zh-CN" altLang="en-US" sz="2400" b="1" dirty="0">
                <a:solidFill>
                  <a:prstClr val="black"/>
                </a:solidFill>
                <a:latin typeface="微软雅黑" panose="020B0503020204020204" pitchFamily="34" charset="-122"/>
                <a:ea typeface="微软雅黑" panose="020B0503020204020204" pitchFamily="34" charset="-122"/>
              </a:rPr>
              <a:t>～</a:t>
            </a:r>
            <a:r>
              <a:rPr lang="en-US" altLang="zh-CN" sz="2400" b="1" dirty="0">
                <a:solidFill>
                  <a:prstClr val="black"/>
                </a:solidFill>
                <a:latin typeface="微软雅黑" panose="020B0503020204020204" pitchFamily="34" charset="-122"/>
                <a:ea typeface="微软雅黑" panose="020B0503020204020204" pitchFamily="34" charset="-122"/>
              </a:rPr>
              <a:t>7FH</a:t>
            </a:r>
            <a:r>
              <a:rPr lang="zh-CN" altLang="en-US" sz="2400" dirty="0">
                <a:solidFill>
                  <a:prstClr val="black"/>
                </a:solidFill>
                <a:latin typeface="微软雅黑" panose="020B0503020204020204" pitchFamily="34" charset="-122"/>
                <a:ea typeface="微软雅黑" panose="020B0503020204020204" pitchFamily="34" charset="-122"/>
              </a:rPr>
              <a:t>区是真正的</a:t>
            </a:r>
            <a:r>
              <a:rPr lang="zh-CN" altLang="en-US" sz="2400" dirty="0">
                <a:solidFill>
                  <a:srgbClr val="0000FF"/>
                </a:solidFill>
                <a:latin typeface="微软雅黑" panose="020B0503020204020204" pitchFamily="34" charset="-122"/>
                <a:ea typeface="微软雅黑" panose="020B0503020204020204" pitchFamily="34" charset="-122"/>
              </a:rPr>
              <a:t>数据缓冲区</a:t>
            </a:r>
            <a:r>
              <a:rPr lang="zh-CN" altLang="en-US" sz="2400" dirty="0">
                <a:solidFill>
                  <a:prstClr val="black"/>
                </a:solidFill>
                <a:latin typeface="微软雅黑" panose="020B0503020204020204" pitchFamily="34" charset="-122"/>
                <a:ea typeface="微软雅黑" panose="020B0503020204020204" pitchFamily="34" charset="-122"/>
              </a:rPr>
              <a:t>。 </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在应用程序中，往往需要一个</a:t>
            </a:r>
            <a:r>
              <a:rPr lang="zh-CN" altLang="en-US" sz="2400" dirty="0">
                <a:solidFill>
                  <a:srgbClr val="0000FF"/>
                </a:solidFill>
                <a:latin typeface="微软雅黑" panose="020B0503020204020204" pitchFamily="34" charset="-122"/>
                <a:ea typeface="微软雅黑" panose="020B0503020204020204" pitchFamily="34" charset="-122"/>
              </a:rPr>
              <a:t>后进先出的</a:t>
            </a:r>
            <a:r>
              <a:rPr lang="en-US" altLang="zh-CN" sz="2400" dirty="0">
                <a:solidFill>
                  <a:srgbClr val="0000FF"/>
                </a:solidFill>
                <a:latin typeface="微软雅黑" panose="020B0503020204020204" pitchFamily="34" charset="-122"/>
                <a:ea typeface="微软雅黑" panose="020B0503020204020204" pitchFamily="34" charset="-122"/>
              </a:rPr>
              <a:t>RAM</a:t>
            </a:r>
            <a:r>
              <a:rPr lang="zh-CN" altLang="en-US" sz="2400" dirty="0">
                <a:solidFill>
                  <a:srgbClr val="0000FF"/>
                </a:solidFill>
                <a:latin typeface="微软雅黑" panose="020B0503020204020204" pitchFamily="34" charset="-122"/>
                <a:ea typeface="微软雅黑" panose="020B0503020204020204" pitchFamily="34" charset="-122"/>
              </a:rPr>
              <a:t>缓冲区</a:t>
            </a:r>
            <a:r>
              <a:rPr lang="zh-CN" altLang="en-US" sz="2400" dirty="0">
                <a:solidFill>
                  <a:prstClr val="black"/>
                </a:solidFill>
                <a:latin typeface="微软雅黑" panose="020B0503020204020204" pitchFamily="34" charset="-122"/>
                <a:ea typeface="微软雅黑" panose="020B0503020204020204" pitchFamily="34" charset="-122"/>
              </a:rPr>
              <a:t>，用于子程序调用和中断响应时</a:t>
            </a:r>
            <a:r>
              <a:rPr lang="zh-CN" altLang="en-US" sz="2400" dirty="0">
                <a:solidFill>
                  <a:srgbClr val="0000FF"/>
                </a:solidFill>
                <a:latin typeface="微软雅黑" panose="020B0503020204020204" pitchFamily="34" charset="-122"/>
                <a:ea typeface="微软雅黑" panose="020B0503020204020204" pitchFamily="34" charset="-122"/>
              </a:rPr>
              <a:t>保护断点</a:t>
            </a:r>
            <a:r>
              <a:rPr lang="zh-CN" altLang="en-US" sz="2400" dirty="0">
                <a:solidFill>
                  <a:prstClr val="black"/>
                </a:solidFill>
                <a:latin typeface="微软雅黑" panose="020B0503020204020204" pitchFamily="34" charset="-122"/>
                <a:ea typeface="微软雅黑" panose="020B0503020204020204" pitchFamily="34" charset="-122"/>
              </a:rPr>
              <a:t>及</a:t>
            </a:r>
            <a:r>
              <a:rPr lang="zh-CN" altLang="en-US" sz="2400" dirty="0">
                <a:solidFill>
                  <a:srgbClr val="0000FF"/>
                </a:solidFill>
                <a:latin typeface="微软雅黑" panose="020B0503020204020204" pitchFamily="34" charset="-122"/>
                <a:ea typeface="微软雅黑" panose="020B0503020204020204" pitchFamily="34" charset="-122"/>
              </a:rPr>
              <a:t>现场数据</a:t>
            </a:r>
            <a:r>
              <a:rPr lang="zh-CN" altLang="en-US" sz="2400" dirty="0">
                <a:solidFill>
                  <a:prstClr val="black"/>
                </a:solidFill>
                <a:latin typeface="微软雅黑" panose="020B0503020204020204" pitchFamily="34" charset="-122"/>
                <a:ea typeface="微软雅黑" panose="020B0503020204020204" pitchFamily="34" charset="-122"/>
              </a:rPr>
              <a:t>，这种后进先出的</a:t>
            </a:r>
            <a:r>
              <a:rPr lang="en-US" altLang="zh-CN" sz="2400" dirty="0">
                <a:solidFill>
                  <a:prstClr val="black"/>
                </a:solidFill>
                <a:latin typeface="微软雅黑" panose="020B0503020204020204" pitchFamily="34" charset="-122"/>
                <a:ea typeface="微软雅黑" panose="020B0503020204020204" pitchFamily="34" charset="-122"/>
              </a:rPr>
              <a:t>RAM</a:t>
            </a:r>
            <a:r>
              <a:rPr lang="zh-CN" altLang="en-US" sz="2400" dirty="0">
                <a:solidFill>
                  <a:prstClr val="black"/>
                </a:solidFill>
                <a:latin typeface="微软雅黑" panose="020B0503020204020204" pitchFamily="34" charset="-122"/>
                <a:ea typeface="微软雅黑" panose="020B0503020204020204" pitchFamily="34" charset="-122"/>
              </a:rPr>
              <a:t>缓冲区成为堆栈。原则上，堆栈区可设在内部</a:t>
            </a:r>
            <a:r>
              <a:rPr lang="en-US" altLang="zh-CN" sz="2400" dirty="0">
                <a:solidFill>
                  <a:prstClr val="black"/>
                </a:solidFill>
                <a:latin typeface="微软雅黑" panose="020B0503020204020204" pitchFamily="34" charset="-122"/>
                <a:ea typeface="微软雅黑" panose="020B0503020204020204" pitchFamily="34" charset="-122"/>
              </a:rPr>
              <a:t>RAM</a:t>
            </a:r>
            <a:r>
              <a:rPr lang="zh-CN" altLang="en-US" sz="2400" dirty="0">
                <a:solidFill>
                  <a:prstClr val="black"/>
                </a:solidFill>
                <a:latin typeface="微软雅黑" panose="020B0503020204020204" pitchFamily="34" charset="-122"/>
                <a:ea typeface="微软雅黑" panose="020B0503020204020204" pitchFamily="34" charset="-122"/>
              </a:rPr>
              <a:t>的</a:t>
            </a:r>
            <a:r>
              <a:rPr lang="en-US" altLang="zh-CN" sz="2400" dirty="0">
                <a:solidFill>
                  <a:prstClr val="black"/>
                </a:solidFill>
                <a:latin typeface="微软雅黑" panose="020B0503020204020204" pitchFamily="34" charset="-122"/>
                <a:ea typeface="微软雅黑" panose="020B0503020204020204" pitchFamily="34" charset="-122"/>
              </a:rPr>
              <a:t>00H~7FH</a:t>
            </a:r>
            <a:r>
              <a:rPr lang="zh-CN" altLang="en-US" sz="2400" dirty="0">
                <a:solidFill>
                  <a:prstClr val="black"/>
                </a:solidFill>
                <a:latin typeface="微软雅黑" panose="020B0503020204020204" pitchFamily="34" charset="-122"/>
                <a:ea typeface="微软雅黑" panose="020B0503020204020204" pitchFamily="34" charset="-122"/>
              </a:rPr>
              <a:t>的任意区域，但由于</a:t>
            </a:r>
            <a:r>
              <a:rPr lang="en-US" altLang="zh-CN" sz="2400" dirty="0">
                <a:solidFill>
                  <a:prstClr val="black"/>
                </a:solidFill>
                <a:latin typeface="微软雅黑" panose="020B0503020204020204" pitchFamily="34" charset="-122"/>
                <a:ea typeface="微软雅黑" panose="020B0503020204020204" pitchFamily="34" charset="-122"/>
              </a:rPr>
              <a:t>00H~1FH</a:t>
            </a:r>
            <a:r>
              <a:rPr lang="zh-CN" altLang="en-US" sz="2400" dirty="0">
                <a:solidFill>
                  <a:prstClr val="black"/>
                </a:solidFill>
                <a:latin typeface="微软雅黑" panose="020B0503020204020204" pitchFamily="34" charset="-122"/>
                <a:ea typeface="微软雅黑" panose="020B0503020204020204" pitchFamily="34" charset="-122"/>
              </a:rPr>
              <a:t>及</a:t>
            </a:r>
            <a:r>
              <a:rPr lang="en-US" altLang="zh-CN" sz="2400" dirty="0">
                <a:solidFill>
                  <a:prstClr val="black"/>
                </a:solidFill>
                <a:latin typeface="微软雅黑" panose="020B0503020204020204" pitchFamily="34" charset="-122"/>
                <a:ea typeface="微软雅黑" panose="020B0503020204020204" pitchFamily="34" charset="-122"/>
              </a:rPr>
              <a:t>20H~2FH</a:t>
            </a:r>
            <a:r>
              <a:rPr lang="zh-CN" altLang="en-US" sz="2400" dirty="0">
                <a:solidFill>
                  <a:prstClr val="black"/>
                </a:solidFill>
                <a:latin typeface="微软雅黑" panose="020B0503020204020204" pitchFamily="34" charset="-122"/>
                <a:ea typeface="微软雅黑" panose="020B0503020204020204" pitchFamily="34" charset="-122"/>
              </a:rPr>
              <a:t>区域的特殊作用，</a:t>
            </a:r>
            <a:r>
              <a:rPr lang="zh-CN" altLang="en-US" sz="2400" dirty="0">
                <a:solidFill>
                  <a:srgbClr val="0000FF"/>
                </a:solidFill>
                <a:latin typeface="微软雅黑" panose="020B0503020204020204" pitchFamily="34" charset="-122"/>
                <a:ea typeface="微软雅黑" panose="020B0503020204020204" pitchFamily="34" charset="-122"/>
              </a:rPr>
              <a:t>堆栈区一般设在</a:t>
            </a:r>
            <a:r>
              <a:rPr lang="en-US" altLang="zh-CN" sz="2400" b="1" dirty="0">
                <a:solidFill>
                  <a:srgbClr val="0000FF"/>
                </a:solidFill>
                <a:latin typeface="微软雅黑" panose="020B0503020204020204" pitchFamily="34" charset="-122"/>
                <a:ea typeface="微软雅黑" panose="020B0503020204020204" pitchFamily="34" charset="-122"/>
              </a:rPr>
              <a:t>30H~7FH</a:t>
            </a:r>
            <a:r>
              <a:rPr lang="zh-CN" altLang="en-US" sz="2400" dirty="0">
                <a:solidFill>
                  <a:srgbClr val="0000FF"/>
                </a:solidFill>
                <a:latin typeface="微软雅黑" panose="020B0503020204020204" pitchFamily="34" charset="-122"/>
                <a:ea typeface="微软雅黑" panose="020B0503020204020204" pitchFamily="34" charset="-122"/>
              </a:rPr>
              <a:t>的范围内</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
        <p:nvSpPr>
          <p:cNvPr id="90114"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2.2 MCS-51</a:t>
            </a:r>
            <a:r>
              <a:rPr lang="zh-CN" altLang="en-US" sz="2800">
                <a:solidFill>
                  <a:srgbClr val="000000"/>
                </a:solidFill>
                <a:latin typeface="微软雅黑" panose="020B0503020204020204" pitchFamily="34" charset="-122"/>
                <a:ea typeface="微软雅黑" panose="020B0503020204020204" pitchFamily="34" charset="-122"/>
              </a:rPr>
              <a:t>存储结构及位处理器</a:t>
            </a:r>
          </a:p>
        </p:txBody>
      </p:sp>
      <p:pic>
        <p:nvPicPr>
          <p:cNvPr id="90115"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90116"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770811"/>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2.2.4 </a:t>
            </a:r>
            <a:r>
              <a:rPr lang="zh-CN" altLang="en-US" sz="2400" b="1" dirty="0">
                <a:solidFill>
                  <a:prstClr val="black"/>
                </a:solidFill>
                <a:latin typeface="微软雅黑" panose="020B0503020204020204" pitchFamily="34" charset="-122"/>
                <a:ea typeface="微软雅黑" panose="020B0503020204020204" pitchFamily="34" charset="-122"/>
              </a:rPr>
              <a:t>专用寄存器</a:t>
            </a:r>
            <a:endParaRPr lang="en-US" altLang="zh-CN" sz="2400" b="1"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在片内数据存储器的</a:t>
            </a:r>
            <a:r>
              <a:rPr lang="en-US" altLang="zh-CN" sz="2400" dirty="0">
                <a:solidFill>
                  <a:srgbClr val="0000FF"/>
                </a:solidFill>
                <a:latin typeface="微软雅黑" panose="020B0503020204020204" pitchFamily="34" charset="-122"/>
                <a:ea typeface="微软雅黑" panose="020B0503020204020204" pitchFamily="34" charset="-122"/>
              </a:rPr>
              <a:t>80H</a:t>
            </a:r>
            <a:r>
              <a:rPr lang="zh-CN" altLang="en-US" sz="2400" dirty="0">
                <a:solidFill>
                  <a:srgbClr val="0000FF"/>
                </a:solidFill>
                <a:latin typeface="微软雅黑" panose="020B0503020204020204" pitchFamily="34" charset="-122"/>
                <a:ea typeface="微软雅黑" panose="020B0503020204020204" pitchFamily="34" charset="-122"/>
              </a:rPr>
              <a:t>～</a:t>
            </a:r>
            <a:r>
              <a:rPr lang="en-US" altLang="zh-CN" sz="2400" dirty="0">
                <a:solidFill>
                  <a:srgbClr val="0000FF"/>
                </a:solidFill>
                <a:latin typeface="微软雅黑" panose="020B0503020204020204" pitchFamily="34" charset="-122"/>
                <a:ea typeface="微软雅黑" panose="020B0503020204020204" pitchFamily="34" charset="-122"/>
              </a:rPr>
              <a:t>FFH</a:t>
            </a:r>
            <a:r>
              <a:rPr lang="zh-CN" altLang="en-US" sz="2400" dirty="0">
                <a:solidFill>
                  <a:prstClr val="black"/>
                </a:solidFill>
                <a:latin typeface="微软雅黑" panose="020B0503020204020204" pitchFamily="34" charset="-122"/>
                <a:ea typeface="微软雅黑" panose="020B0503020204020204" pitchFamily="34" charset="-122"/>
              </a:rPr>
              <a:t>单元</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高</a:t>
            </a:r>
            <a:r>
              <a:rPr lang="en-US" altLang="zh-CN" sz="2400" dirty="0">
                <a:solidFill>
                  <a:prstClr val="black"/>
                </a:solidFill>
                <a:latin typeface="微软雅黑" panose="020B0503020204020204" pitchFamily="34" charset="-122"/>
                <a:ea typeface="微软雅黑" panose="020B0503020204020204" pitchFamily="34" charset="-122"/>
              </a:rPr>
              <a:t>128B)</a:t>
            </a:r>
            <a:r>
              <a:rPr lang="zh-CN" altLang="en-US" sz="2400" dirty="0">
                <a:solidFill>
                  <a:prstClr val="black"/>
                </a:solidFill>
                <a:latin typeface="微软雅黑" panose="020B0503020204020204" pitchFamily="34" charset="-122"/>
                <a:ea typeface="微软雅黑" panose="020B0503020204020204" pitchFamily="34" charset="-122"/>
              </a:rPr>
              <a:t>中，有</a:t>
            </a:r>
            <a:r>
              <a:rPr lang="en-US" altLang="zh-CN" sz="2400" b="1" dirty="0">
                <a:solidFill>
                  <a:srgbClr val="0000FF"/>
                </a:solidFill>
                <a:latin typeface="微软雅黑" panose="020B0503020204020204" pitchFamily="34" charset="-122"/>
                <a:ea typeface="微软雅黑" panose="020B0503020204020204" pitchFamily="34" charset="-122"/>
              </a:rPr>
              <a:t>21</a:t>
            </a:r>
            <a:r>
              <a:rPr lang="zh-CN" altLang="en-US" sz="2400" b="1" dirty="0">
                <a:solidFill>
                  <a:srgbClr val="0000FF"/>
                </a:solidFill>
                <a:latin typeface="微软雅黑" panose="020B0503020204020204" pitchFamily="34" charset="-122"/>
                <a:ea typeface="微软雅黑" panose="020B0503020204020204" pitchFamily="34" charset="-122"/>
              </a:rPr>
              <a:t>个</a:t>
            </a:r>
            <a:r>
              <a:rPr lang="zh-CN" altLang="en-US" sz="2400" dirty="0">
                <a:solidFill>
                  <a:prstClr val="black"/>
                </a:solidFill>
                <a:latin typeface="微软雅黑" panose="020B0503020204020204" pitchFamily="34" charset="-122"/>
                <a:ea typeface="微软雅黑" panose="020B0503020204020204" pitchFamily="34" charset="-122"/>
              </a:rPr>
              <a:t>单元作为专用寄存器</a:t>
            </a:r>
            <a:r>
              <a:rPr lang="en-US" altLang="zh-CN" sz="2400" dirty="0">
                <a:solidFill>
                  <a:prstClr val="black"/>
                </a:solidFill>
                <a:latin typeface="微软雅黑" panose="020B0503020204020204" pitchFamily="34" charset="-122"/>
                <a:ea typeface="微软雅黑" panose="020B0503020204020204" pitchFamily="34" charset="-122"/>
              </a:rPr>
              <a:t>(</a:t>
            </a:r>
            <a:r>
              <a:rPr lang="en-US" altLang="zh-CN" sz="2400" b="1" dirty="0">
                <a:solidFill>
                  <a:srgbClr val="0000FF"/>
                </a:solidFill>
                <a:latin typeface="微软雅黑" panose="020B0503020204020204" pitchFamily="34" charset="-122"/>
                <a:ea typeface="微软雅黑" panose="020B0503020204020204" pitchFamily="34" charset="-122"/>
              </a:rPr>
              <a:t>SFR</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，又称</a:t>
            </a:r>
            <a:r>
              <a:rPr lang="zh-CN" altLang="en-US" sz="2400" dirty="0">
                <a:solidFill>
                  <a:srgbClr val="0000FF"/>
                </a:solidFill>
                <a:latin typeface="微软雅黑" panose="020B0503020204020204" pitchFamily="34" charset="-122"/>
                <a:ea typeface="微软雅黑" panose="020B0503020204020204" pitchFamily="34" charset="-122"/>
              </a:rPr>
              <a:t>特殊功能寄存器</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000" dirty="0">
                <a:solidFill>
                  <a:srgbClr val="00B050"/>
                </a:solidFill>
                <a:latin typeface="微软雅黑" panose="020B0503020204020204" pitchFamily="34" charset="-122"/>
                <a:ea typeface="微软雅黑" panose="020B0503020204020204" pitchFamily="34" charset="-122"/>
              </a:rPr>
              <a:t>部分特殊功能寄存器</a:t>
            </a:r>
            <a:r>
              <a:rPr lang="en-US" altLang="zh-CN" sz="2000" dirty="0">
                <a:solidFill>
                  <a:srgbClr val="00B050"/>
                </a:solidFill>
                <a:latin typeface="微软雅黑" panose="020B0503020204020204" pitchFamily="34" charset="-122"/>
                <a:ea typeface="微软雅黑" panose="020B0503020204020204" pitchFamily="34" charset="-122"/>
              </a:rPr>
              <a:t>(SFR)</a:t>
            </a:r>
            <a:r>
              <a:rPr lang="zh-CN" altLang="en-US" sz="2000" dirty="0">
                <a:solidFill>
                  <a:srgbClr val="00B050"/>
                </a:solidFill>
                <a:latin typeface="微软雅黑" panose="020B0503020204020204" pitchFamily="34" charset="-122"/>
                <a:ea typeface="微软雅黑" panose="020B0503020204020204" pitchFamily="34" charset="-122"/>
              </a:rPr>
              <a:t>简介：</a:t>
            </a: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200" dirty="0">
                <a:solidFill>
                  <a:prstClr val="black"/>
                </a:solidFill>
                <a:latin typeface="微软雅黑" panose="020B0503020204020204" pitchFamily="34" charset="-122"/>
                <a:ea typeface="微软雅黑" panose="020B0503020204020204" pitchFamily="34" charset="-122"/>
              </a:rPr>
              <a:t>累加器</a:t>
            </a:r>
            <a:r>
              <a:rPr lang="en-US" altLang="zh-CN" sz="2200" dirty="0">
                <a:solidFill>
                  <a:prstClr val="black"/>
                </a:solidFill>
                <a:latin typeface="微软雅黑" panose="020B0503020204020204" pitchFamily="34" charset="-122"/>
                <a:ea typeface="微软雅黑" panose="020B0503020204020204" pitchFamily="34" charset="-122"/>
              </a:rPr>
              <a:t>ACC</a:t>
            </a:r>
            <a:r>
              <a:rPr lang="zh-CN" altLang="en-US" sz="2200" dirty="0">
                <a:solidFill>
                  <a:prstClr val="black"/>
                </a:solidFill>
                <a:latin typeface="微软雅黑" panose="020B0503020204020204" pitchFamily="34" charset="-122"/>
                <a:ea typeface="微软雅黑" panose="020B0503020204020204" pitchFamily="34" charset="-122"/>
              </a:rPr>
              <a:t>：字节地址为</a:t>
            </a:r>
            <a:r>
              <a:rPr lang="en-US" altLang="zh-CN" sz="2200" dirty="0">
                <a:solidFill>
                  <a:srgbClr val="0000FF"/>
                </a:solidFill>
                <a:latin typeface="微软雅黑" panose="020B0503020204020204" pitchFamily="34" charset="-122"/>
                <a:ea typeface="微软雅黑" panose="020B0503020204020204" pitchFamily="34" charset="-122"/>
              </a:rPr>
              <a:t>E0H</a:t>
            </a:r>
            <a:r>
              <a:rPr lang="zh-CN" altLang="en-US" sz="2200" dirty="0">
                <a:solidFill>
                  <a:prstClr val="black"/>
                </a:solidFill>
                <a:latin typeface="微软雅黑" panose="020B0503020204020204" pitchFamily="34" charset="-122"/>
                <a:ea typeface="微软雅黑" panose="020B0503020204020204" pitchFamily="34" charset="-122"/>
              </a:rPr>
              <a:t>，并可对其</a:t>
            </a:r>
            <a:r>
              <a:rPr lang="en-US" altLang="zh-CN" sz="2200" dirty="0">
                <a:solidFill>
                  <a:prstClr val="black"/>
                </a:solidFill>
                <a:latin typeface="微软雅黑" panose="020B0503020204020204" pitchFamily="34" charset="-122"/>
                <a:ea typeface="微软雅黑" panose="020B0503020204020204" pitchFamily="34" charset="-122"/>
              </a:rPr>
              <a:t>D0</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D7</a:t>
            </a:r>
            <a:r>
              <a:rPr lang="zh-CN" altLang="en-US" sz="2200" dirty="0">
                <a:solidFill>
                  <a:prstClr val="black"/>
                </a:solidFill>
                <a:latin typeface="微软雅黑" panose="020B0503020204020204" pitchFamily="34" charset="-122"/>
                <a:ea typeface="微软雅黑" panose="020B0503020204020204" pitchFamily="34" charset="-122"/>
              </a:rPr>
              <a:t>各位进行</a:t>
            </a:r>
            <a:r>
              <a:rPr lang="zh-CN" altLang="en-US" sz="2200" dirty="0">
                <a:solidFill>
                  <a:srgbClr val="0000FF"/>
                </a:solidFill>
                <a:latin typeface="微软雅黑" panose="020B0503020204020204" pitchFamily="34" charset="-122"/>
                <a:ea typeface="微软雅黑" panose="020B0503020204020204" pitchFamily="34" charset="-122"/>
              </a:rPr>
              <a:t>位寻址</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D0</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D7</a:t>
            </a:r>
            <a:r>
              <a:rPr lang="zh-CN" altLang="en-US" sz="2200" dirty="0">
                <a:solidFill>
                  <a:prstClr val="black"/>
                </a:solidFill>
                <a:latin typeface="微软雅黑" panose="020B0503020204020204" pitchFamily="34" charset="-122"/>
                <a:ea typeface="微软雅黑" panose="020B0503020204020204" pitchFamily="34" charset="-122"/>
              </a:rPr>
              <a:t>位地址相应为</a:t>
            </a:r>
            <a:r>
              <a:rPr lang="en-US" altLang="zh-CN" sz="2200" dirty="0">
                <a:solidFill>
                  <a:prstClr val="black"/>
                </a:solidFill>
                <a:latin typeface="微软雅黑" panose="020B0503020204020204" pitchFamily="34" charset="-122"/>
                <a:ea typeface="微软雅黑" panose="020B0503020204020204" pitchFamily="34" charset="-122"/>
              </a:rPr>
              <a:t>E0H</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E7H</a:t>
            </a:r>
            <a:r>
              <a:rPr lang="zh-CN" altLang="en-US" sz="2200" dirty="0">
                <a:solidFill>
                  <a:prstClr val="black"/>
                </a:solidFill>
                <a:latin typeface="微软雅黑" panose="020B0503020204020204" pitchFamily="34" charset="-122"/>
                <a:ea typeface="微软雅黑" panose="020B0503020204020204" pitchFamily="34" charset="-122"/>
              </a:rPr>
              <a:t>。</a:t>
            </a:r>
            <a:endParaRPr lang="en-US" altLang="zh-CN" sz="22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200" dirty="0">
                <a:solidFill>
                  <a:prstClr val="black"/>
                </a:solidFill>
                <a:latin typeface="微软雅黑" panose="020B0503020204020204" pitchFamily="34" charset="-122"/>
                <a:ea typeface="微软雅黑" panose="020B0503020204020204" pitchFamily="34" charset="-122"/>
              </a:rPr>
              <a:t>寄存器</a:t>
            </a:r>
            <a:r>
              <a:rPr lang="en-US" altLang="zh-CN" sz="2200" dirty="0">
                <a:solidFill>
                  <a:prstClr val="black"/>
                </a:solidFill>
                <a:latin typeface="微软雅黑" panose="020B0503020204020204" pitchFamily="34" charset="-122"/>
                <a:ea typeface="微软雅黑" panose="020B0503020204020204" pitchFamily="34" charset="-122"/>
              </a:rPr>
              <a:t>B</a:t>
            </a:r>
            <a:r>
              <a:rPr lang="zh-CN" altLang="en-US" sz="2200" dirty="0">
                <a:solidFill>
                  <a:prstClr val="black"/>
                </a:solidFill>
                <a:latin typeface="微软雅黑" panose="020B0503020204020204" pitchFamily="34" charset="-122"/>
                <a:ea typeface="微软雅黑" panose="020B0503020204020204" pitchFamily="34" charset="-122"/>
              </a:rPr>
              <a:t>：字节地址为</a:t>
            </a:r>
            <a:r>
              <a:rPr lang="en-US" altLang="zh-CN" sz="2200" dirty="0">
                <a:solidFill>
                  <a:srgbClr val="0000FF"/>
                </a:solidFill>
                <a:latin typeface="微软雅黑" panose="020B0503020204020204" pitchFamily="34" charset="-122"/>
                <a:ea typeface="微软雅黑" panose="020B0503020204020204" pitchFamily="34" charset="-122"/>
              </a:rPr>
              <a:t>F0H</a:t>
            </a:r>
            <a:r>
              <a:rPr lang="zh-CN" altLang="en-US" sz="2200" dirty="0">
                <a:solidFill>
                  <a:prstClr val="black"/>
                </a:solidFill>
                <a:latin typeface="微软雅黑" panose="020B0503020204020204" pitchFamily="34" charset="-122"/>
                <a:ea typeface="微软雅黑" panose="020B0503020204020204" pitchFamily="34" charset="-122"/>
              </a:rPr>
              <a:t>，并可对其</a:t>
            </a:r>
            <a:r>
              <a:rPr lang="en-US" altLang="zh-CN" sz="2200" dirty="0">
                <a:solidFill>
                  <a:prstClr val="black"/>
                </a:solidFill>
                <a:latin typeface="微软雅黑" panose="020B0503020204020204" pitchFamily="34" charset="-122"/>
                <a:ea typeface="微软雅黑" panose="020B0503020204020204" pitchFamily="34" charset="-122"/>
              </a:rPr>
              <a:t>D0</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D7</a:t>
            </a:r>
            <a:r>
              <a:rPr lang="zh-CN" altLang="en-US" sz="2200" dirty="0">
                <a:solidFill>
                  <a:prstClr val="black"/>
                </a:solidFill>
                <a:latin typeface="微软雅黑" panose="020B0503020204020204" pitchFamily="34" charset="-122"/>
                <a:ea typeface="微软雅黑" panose="020B0503020204020204" pitchFamily="34" charset="-122"/>
              </a:rPr>
              <a:t>各位进行位寻址。</a:t>
            </a:r>
            <a:r>
              <a:rPr lang="en-US" altLang="zh-CN" sz="2200" dirty="0">
                <a:solidFill>
                  <a:prstClr val="black"/>
                </a:solidFill>
                <a:latin typeface="微软雅黑" panose="020B0503020204020204" pitchFamily="34" charset="-122"/>
                <a:ea typeface="微软雅黑" panose="020B0503020204020204" pitchFamily="34" charset="-122"/>
              </a:rPr>
              <a:t>D0</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D7</a:t>
            </a:r>
            <a:r>
              <a:rPr lang="zh-CN" altLang="en-US" sz="2200" dirty="0">
                <a:solidFill>
                  <a:prstClr val="black"/>
                </a:solidFill>
                <a:latin typeface="微软雅黑" panose="020B0503020204020204" pitchFamily="34" charset="-122"/>
                <a:ea typeface="微软雅黑" panose="020B0503020204020204" pitchFamily="34" charset="-122"/>
              </a:rPr>
              <a:t>位地址相应为</a:t>
            </a:r>
            <a:r>
              <a:rPr lang="en-US" altLang="zh-CN" sz="2200" dirty="0">
                <a:solidFill>
                  <a:prstClr val="black"/>
                </a:solidFill>
                <a:latin typeface="微软雅黑" panose="020B0503020204020204" pitchFamily="34" charset="-122"/>
                <a:ea typeface="微软雅黑" panose="020B0503020204020204" pitchFamily="34" charset="-122"/>
              </a:rPr>
              <a:t>F0H</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F7H</a:t>
            </a:r>
            <a:r>
              <a:rPr lang="zh-CN" altLang="en-US" sz="2200" dirty="0">
                <a:solidFill>
                  <a:prstClr val="black"/>
                </a:solidFill>
                <a:latin typeface="微软雅黑" panose="020B0503020204020204" pitchFamily="34" charset="-122"/>
                <a:ea typeface="微软雅黑" panose="020B0503020204020204" pitchFamily="34" charset="-122"/>
              </a:rPr>
              <a:t>。主要用于</a:t>
            </a:r>
            <a:r>
              <a:rPr lang="zh-CN" altLang="en-US" sz="2200" dirty="0">
                <a:solidFill>
                  <a:srgbClr val="0000FF"/>
                </a:solidFill>
                <a:latin typeface="微软雅黑" panose="020B0503020204020204" pitchFamily="34" charset="-122"/>
                <a:ea typeface="微软雅黑" panose="020B0503020204020204" pitchFamily="34" charset="-122"/>
              </a:rPr>
              <a:t>暂存数据</a:t>
            </a:r>
            <a:r>
              <a:rPr lang="zh-CN" altLang="en-US" sz="2200" dirty="0">
                <a:solidFill>
                  <a:prstClr val="black"/>
                </a:solidFill>
                <a:latin typeface="微软雅黑" panose="020B0503020204020204" pitchFamily="34" charset="-122"/>
                <a:ea typeface="微软雅黑" panose="020B0503020204020204" pitchFamily="34" charset="-122"/>
              </a:rPr>
              <a:t>。</a:t>
            </a: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200" dirty="0">
                <a:solidFill>
                  <a:prstClr val="black"/>
                </a:solidFill>
                <a:latin typeface="微软雅黑" panose="020B0503020204020204" pitchFamily="34" charset="-122"/>
                <a:ea typeface="微软雅黑" panose="020B0503020204020204" pitchFamily="34" charset="-122"/>
              </a:rPr>
              <a:t>程序状态字</a:t>
            </a:r>
            <a:r>
              <a:rPr lang="en-US" altLang="zh-CN" sz="2200" dirty="0">
                <a:solidFill>
                  <a:prstClr val="black"/>
                </a:solidFill>
                <a:latin typeface="微软雅黑" panose="020B0503020204020204" pitchFamily="34" charset="-122"/>
                <a:ea typeface="微软雅黑" panose="020B0503020204020204" pitchFamily="34" charset="-122"/>
              </a:rPr>
              <a:t>PSW</a:t>
            </a:r>
            <a:r>
              <a:rPr lang="zh-CN" altLang="en-US" sz="2200" dirty="0">
                <a:solidFill>
                  <a:prstClr val="black"/>
                </a:solidFill>
                <a:latin typeface="微软雅黑" panose="020B0503020204020204" pitchFamily="34" charset="-122"/>
                <a:ea typeface="微软雅黑" panose="020B0503020204020204" pitchFamily="34" charset="-122"/>
              </a:rPr>
              <a:t>：字节地址为</a:t>
            </a:r>
            <a:r>
              <a:rPr lang="en-US" altLang="zh-CN" sz="2200" dirty="0">
                <a:solidFill>
                  <a:srgbClr val="0000FF"/>
                </a:solidFill>
                <a:latin typeface="微软雅黑" panose="020B0503020204020204" pitchFamily="34" charset="-122"/>
                <a:ea typeface="微软雅黑" panose="020B0503020204020204" pitchFamily="34" charset="-122"/>
              </a:rPr>
              <a:t>D0H</a:t>
            </a:r>
            <a:r>
              <a:rPr lang="zh-CN" altLang="en-US" sz="2200" dirty="0">
                <a:solidFill>
                  <a:prstClr val="black"/>
                </a:solidFill>
                <a:latin typeface="微软雅黑" panose="020B0503020204020204" pitchFamily="34" charset="-122"/>
                <a:ea typeface="微软雅黑" panose="020B0503020204020204" pitchFamily="34" charset="-122"/>
              </a:rPr>
              <a:t>，并可对其</a:t>
            </a:r>
            <a:r>
              <a:rPr lang="en-US" altLang="zh-CN" sz="2200" dirty="0">
                <a:solidFill>
                  <a:prstClr val="black"/>
                </a:solidFill>
                <a:latin typeface="微软雅黑" panose="020B0503020204020204" pitchFamily="34" charset="-122"/>
                <a:ea typeface="微软雅黑" panose="020B0503020204020204" pitchFamily="34" charset="-122"/>
              </a:rPr>
              <a:t>D0</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D7</a:t>
            </a:r>
            <a:r>
              <a:rPr lang="zh-CN" altLang="en-US" sz="2200" dirty="0">
                <a:solidFill>
                  <a:prstClr val="black"/>
                </a:solidFill>
                <a:latin typeface="微软雅黑" panose="020B0503020204020204" pitchFamily="34" charset="-122"/>
                <a:ea typeface="微软雅黑" panose="020B0503020204020204" pitchFamily="34" charset="-122"/>
              </a:rPr>
              <a:t>各位进行位寻址。</a:t>
            </a:r>
            <a:r>
              <a:rPr lang="en-US" altLang="zh-CN" sz="2200" dirty="0">
                <a:solidFill>
                  <a:prstClr val="black"/>
                </a:solidFill>
                <a:latin typeface="微软雅黑" panose="020B0503020204020204" pitchFamily="34" charset="-122"/>
                <a:ea typeface="微软雅黑" panose="020B0503020204020204" pitchFamily="34" charset="-122"/>
              </a:rPr>
              <a:t>D0</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D7</a:t>
            </a:r>
            <a:r>
              <a:rPr lang="zh-CN" altLang="en-US" sz="2200" dirty="0">
                <a:solidFill>
                  <a:prstClr val="black"/>
                </a:solidFill>
                <a:latin typeface="微软雅黑" panose="020B0503020204020204" pitchFamily="34" charset="-122"/>
                <a:ea typeface="微软雅黑" panose="020B0503020204020204" pitchFamily="34" charset="-122"/>
              </a:rPr>
              <a:t>数据位的位地址相应为</a:t>
            </a:r>
            <a:r>
              <a:rPr lang="en-US" altLang="zh-CN" sz="2200" dirty="0">
                <a:solidFill>
                  <a:prstClr val="black"/>
                </a:solidFill>
                <a:latin typeface="微软雅黑" panose="020B0503020204020204" pitchFamily="34" charset="-122"/>
                <a:ea typeface="微软雅黑" panose="020B0503020204020204" pitchFamily="34" charset="-122"/>
              </a:rPr>
              <a:t>D0H</a:t>
            </a:r>
            <a:r>
              <a:rPr lang="zh-CN" altLang="en-US" sz="2200" dirty="0">
                <a:solidFill>
                  <a:prstClr val="black"/>
                </a:solidFill>
                <a:latin typeface="微软雅黑" panose="020B0503020204020204" pitchFamily="34" charset="-122"/>
                <a:ea typeface="微软雅黑" panose="020B0503020204020204" pitchFamily="34" charset="-122"/>
              </a:rPr>
              <a:t>～</a:t>
            </a:r>
            <a:r>
              <a:rPr lang="en-US" altLang="zh-CN" sz="2200" dirty="0">
                <a:solidFill>
                  <a:prstClr val="black"/>
                </a:solidFill>
                <a:latin typeface="微软雅黑" panose="020B0503020204020204" pitchFamily="34" charset="-122"/>
                <a:ea typeface="微软雅黑" panose="020B0503020204020204" pitchFamily="34" charset="-122"/>
              </a:rPr>
              <a:t>D7H</a:t>
            </a:r>
            <a:r>
              <a:rPr lang="zh-CN" altLang="en-US" sz="2200" dirty="0">
                <a:solidFill>
                  <a:prstClr val="black"/>
                </a:solidFill>
                <a:latin typeface="微软雅黑" panose="020B0503020204020204" pitchFamily="34" charset="-122"/>
                <a:ea typeface="微软雅黑" panose="020B0503020204020204" pitchFamily="34" charset="-122"/>
              </a:rPr>
              <a:t>。主要用于寄存当前指令执行后的</a:t>
            </a:r>
            <a:r>
              <a:rPr lang="zh-CN" altLang="en-US" sz="2200" dirty="0">
                <a:solidFill>
                  <a:srgbClr val="0000FF"/>
                </a:solidFill>
                <a:latin typeface="微软雅黑" panose="020B0503020204020204" pitchFamily="34" charset="-122"/>
                <a:ea typeface="微软雅黑" panose="020B0503020204020204" pitchFamily="34" charset="-122"/>
              </a:rPr>
              <a:t>某些状态信息</a:t>
            </a:r>
            <a:r>
              <a:rPr lang="zh-CN" altLang="en-US" sz="2200" dirty="0">
                <a:solidFill>
                  <a:prstClr val="black"/>
                </a:solidFill>
                <a:latin typeface="微软雅黑" panose="020B0503020204020204" pitchFamily="34" charset="-122"/>
                <a:ea typeface="微软雅黑" panose="020B0503020204020204" pitchFamily="34" charset="-122"/>
              </a:rPr>
              <a:t>。 </a:t>
            </a:r>
            <a:endParaRPr lang="en-US" altLang="zh-CN" sz="2200" dirty="0">
              <a:solidFill>
                <a:prstClr val="black"/>
              </a:solidFill>
              <a:latin typeface="微软雅黑" panose="020B0503020204020204" pitchFamily="34" charset="-122"/>
              <a:ea typeface="微软雅黑" panose="020B0503020204020204" pitchFamily="34" charset="-122"/>
            </a:endParaRPr>
          </a:p>
        </p:txBody>
      </p:sp>
      <p:sp>
        <p:nvSpPr>
          <p:cNvPr id="92162"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2.2 MCS-51</a:t>
            </a:r>
            <a:r>
              <a:rPr lang="zh-CN" altLang="en-US" sz="2800">
                <a:solidFill>
                  <a:srgbClr val="000000"/>
                </a:solidFill>
                <a:latin typeface="微软雅黑" panose="020B0503020204020204" pitchFamily="34" charset="-122"/>
                <a:ea typeface="微软雅黑" panose="020B0503020204020204" pitchFamily="34" charset="-122"/>
              </a:rPr>
              <a:t>存储结构及位处理器</a:t>
            </a:r>
          </a:p>
        </p:txBody>
      </p:sp>
      <p:pic>
        <p:nvPicPr>
          <p:cNvPr id="92163"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6"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4339650"/>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2.2.4 </a:t>
            </a:r>
            <a:r>
              <a:rPr lang="zh-CN" altLang="en-US" sz="2400" b="1" dirty="0">
                <a:solidFill>
                  <a:prstClr val="black"/>
                </a:solidFill>
                <a:latin typeface="微软雅黑" panose="020B0503020204020204" pitchFamily="34" charset="-122"/>
                <a:ea typeface="微软雅黑" panose="020B0503020204020204" pitchFamily="34" charset="-122"/>
              </a:rPr>
              <a:t>专用寄存器</a:t>
            </a:r>
            <a:endParaRPr lang="en-US" altLang="zh-CN" sz="2400" b="1"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000" dirty="0">
                <a:solidFill>
                  <a:srgbClr val="00B050"/>
                </a:solidFill>
                <a:latin typeface="微软雅黑" panose="020B0503020204020204" pitchFamily="34" charset="-122"/>
                <a:ea typeface="微软雅黑" panose="020B0503020204020204" pitchFamily="34" charset="-122"/>
              </a:rPr>
              <a:t>部分特殊功能寄存器</a:t>
            </a:r>
            <a:r>
              <a:rPr lang="en-US" altLang="zh-CN" sz="2000" dirty="0">
                <a:solidFill>
                  <a:srgbClr val="00B050"/>
                </a:solidFill>
                <a:latin typeface="微软雅黑" panose="020B0503020204020204" pitchFamily="34" charset="-122"/>
                <a:ea typeface="微软雅黑" panose="020B0503020204020204" pitchFamily="34" charset="-122"/>
              </a:rPr>
              <a:t>(SFR)</a:t>
            </a:r>
            <a:r>
              <a:rPr lang="zh-CN" altLang="en-US" sz="2000" dirty="0">
                <a:solidFill>
                  <a:srgbClr val="00B050"/>
                </a:solidFill>
                <a:latin typeface="微软雅黑" panose="020B0503020204020204" pitchFamily="34" charset="-122"/>
                <a:ea typeface="微软雅黑" panose="020B0503020204020204" pitchFamily="34" charset="-122"/>
              </a:rPr>
              <a:t>简介：</a:t>
            </a: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堆栈指针</a:t>
            </a:r>
            <a:r>
              <a:rPr lang="en-US" altLang="zh-CN" sz="2400" dirty="0">
                <a:solidFill>
                  <a:prstClr val="black"/>
                </a:solidFill>
                <a:latin typeface="微软雅黑" panose="020B0503020204020204" pitchFamily="34" charset="-122"/>
                <a:ea typeface="微软雅黑" panose="020B0503020204020204" pitchFamily="34" charset="-122"/>
              </a:rPr>
              <a:t>SP</a:t>
            </a:r>
            <a:r>
              <a:rPr lang="zh-CN" altLang="en-US" sz="2400" dirty="0">
                <a:solidFill>
                  <a:prstClr val="black"/>
                </a:solidFill>
                <a:latin typeface="微软雅黑" panose="020B0503020204020204" pitchFamily="34" charset="-122"/>
                <a:ea typeface="微软雅黑" panose="020B0503020204020204" pitchFamily="34" charset="-122"/>
              </a:rPr>
              <a:t>：字节地址为</a:t>
            </a:r>
            <a:r>
              <a:rPr lang="en-US" altLang="zh-CN" sz="2400" dirty="0">
                <a:solidFill>
                  <a:prstClr val="black"/>
                </a:solidFill>
                <a:latin typeface="微软雅黑" panose="020B0503020204020204" pitchFamily="34" charset="-122"/>
                <a:ea typeface="微软雅黑" panose="020B0503020204020204" pitchFamily="34" charset="-122"/>
              </a:rPr>
              <a:t>81H</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不能进行位寻址</a:t>
            </a:r>
            <a:r>
              <a:rPr lang="zh-CN" altLang="en-US" sz="2400" dirty="0">
                <a:solidFill>
                  <a:prstClr val="black"/>
                </a:solidFill>
                <a:latin typeface="微软雅黑" panose="020B0503020204020204" pitchFamily="34" charset="-122"/>
                <a:ea typeface="微软雅黑" panose="020B0503020204020204" pitchFamily="34" charset="-122"/>
              </a:rPr>
              <a:t>。</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由于</a:t>
            </a:r>
            <a:r>
              <a:rPr lang="en-US" altLang="zh-CN" sz="2400" dirty="0">
                <a:solidFill>
                  <a:prstClr val="black"/>
                </a:solidFill>
                <a:latin typeface="微软雅黑" panose="020B0503020204020204" pitchFamily="34" charset="-122"/>
                <a:ea typeface="微软雅黑" panose="020B0503020204020204" pitchFamily="34" charset="-122"/>
              </a:rPr>
              <a:t>SFR</a:t>
            </a:r>
            <a:r>
              <a:rPr lang="zh-CN" altLang="en-US" sz="2400" dirty="0">
                <a:solidFill>
                  <a:prstClr val="black"/>
                </a:solidFill>
                <a:latin typeface="微软雅黑" panose="020B0503020204020204" pitchFamily="34" charset="-122"/>
                <a:ea typeface="微软雅黑" panose="020B0503020204020204" pitchFamily="34" charset="-122"/>
              </a:rPr>
              <a:t>并未占满</a:t>
            </a:r>
            <a:r>
              <a:rPr lang="en-US" altLang="zh-CN" sz="2400" dirty="0">
                <a:solidFill>
                  <a:prstClr val="black"/>
                </a:solidFill>
                <a:latin typeface="微软雅黑" panose="020B0503020204020204" pitchFamily="34" charset="-122"/>
                <a:ea typeface="微软雅黑" panose="020B0503020204020204" pitchFamily="34" charset="-122"/>
              </a:rPr>
              <a:t>128B</a:t>
            </a:r>
            <a:r>
              <a:rPr lang="zh-CN" altLang="en-US" sz="2400" dirty="0">
                <a:solidFill>
                  <a:prstClr val="black"/>
                </a:solidFill>
                <a:latin typeface="微软雅黑" panose="020B0503020204020204" pitchFamily="34" charset="-122"/>
                <a:ea typeface="微软雅黑" panose="020B0503020204020204" pitchFamily="34" charset="-122"/>
              </a:rPr>
              <a:t>，故对</a:t>
            </a:r>
            <a:r>
              <a:rPr lang="zh-CN" altLang="en-US" sz="2400" b="1" dirty="0">
                <a:solidFill>
                  <a:srgbClr val="0000FF"/>
                </a:solidFill>
                <a:latin typeface="微软雅黑" panose="020B0503020204020204" pitchFamily="34" charset="-122"/>
                <a:ea typeface="微软雅黑" panose="020B0503020204020204" pitchFamily="34" charset="-122"/>
              </a:rPr>
              <a:t>空闲地址的操作是没有意义</a:t>
            </a:r>
            <a:r>
              <a:rPr lang="zh-CN" altLang="en-US" sz="2400" dirty="0">
                <a:solidFill>
                  <a:prstClr val="black"/>
                </a:solidFill>
                <a:latin typeface="微软雅黑" panose="020B0503020204020204" pitchFamily="34" charset="-122"/>
                <a:ea typeface="微软雅黑" panose="020B0503020204020204" pitchFamily="34" charset="-122"/>
              </a:rPr>
              <a:t>的。</a:t>
            </a: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端口</a:t>
            </a:r>
            <a:r>
              <a:rPr lang="en-US" altLang="zh-CN" sz="2400" dirty="0">
                <a:solidFill>
                  <a:prstClr val="black"/>
                </a:solidFill>
                <a:latin typeface="微软雅黑" panose="020B0503020204020204" pitchFamily="34" charset="-122"/>
                <a:ea typeface="微软雅黑" panose="020B0503020204020204" pitchFamily="34" charset="-122"/>
              </a:rPr>
              <a:t>P1</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400" b="1" dirty="0">
                <a:solidFill>
                  <a:prstClr val="black"/>
                </a:solidFill>
                <a:latin typeface="微软雅黑" panose="020B0503020204020204" pitchFamily="34" charset="-122"/>
                <a:ea typeface="微软雅黑" panose="020B0503020204020204" pitchFamily="34" charset="-122"/>
              </a:rPr>
              <a:t>字节地址</a:t>
            </a:r>
            <a:r>
              <a:rPr lang="zh-CN" altLang="en-US" sz="2400" dirty="0">
                <a:solidFill>
                  <a:prstClr val="black"/>
                </a:solidFill>
                <a:latin typeface="微软雅黑" panose="020B0503020204020204" pitchFamily="34" charset="-122"/>
                <a:ea typeface="微软雅黑" panose="020B0503020204020204" pitchFamily="34" charset="-122"/>
              </a:rPr>
              <a:t>为</a:t>
            </a:r>
            <a:r>
              <a:rPr lang="en-US" altLang="zh-CN" sz="2400" dirty="0">
                <a:solidFill>
                  <a:prstClr val="black"/>
                </a:solidFill>
                <a:latin typeface="微软雅黑" panose="020B0503020204020204" pitchFamily="34" charset="-122"/>
                <a:ea typeface="微软雅黑" panose="020B0503020204020204" pitchFamily="34" charset="-122"/>
              </a:rPr>
              <a:t>90H</a:t>
            </a:r>
            <a:r>
              <a:rPr lang="zh-CN" altLang="en-US" sz="2400" dirty="0">
                <a:solidFill>
                  <a:prstClr val="black"/>
                </a:solidFill>
                <a:latin typeface="微软雅黑" panose="020B0503020204020204" pitchFamily="34" charset="-122"/>
                <a:ea typeface="微软雅黑" panose="020B0503020204020204" pitchFamily="34" charset="-122"/>
              </a:rPr>
              <a:t>，并可对其</a:t>
            </a:r>
            <a:r>
              <a:rPr lang="en-US" altLang="zh-CN" sz="2400" dirty="0">
                <a:solidFill>
                  <a:prstClr val="black"/>
                </a:solidFill>
                <a:latin typeface="微软雅黑" panose="020B0503020204020204" pitchFamily="34" charset="-122"/>
                <a:ea typeface="微软雅黑" panose="020B0503020204020204" pitchFamily="34" charset="-122"/>
              </a:rPr>
              <a:t>D0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D7</a:t>
            </a:r>
            <a:r>
              <a:rPr lang="zh-CN" altLang="en-US" sz="2400" dirty="0">
                <a:solidFill>
                  <a:prstClr val="black"/>
                </a:solidFill>
                <a:latin typeface="微软雅黑" panose="020B0503020204020204" pitchFamily="34" charset="-122"/>
                <a:ea typeface="微软雅黑" panose="020B0503020204020204" pitchFamily="34" charset="-122"/>
              </a:rPr>
              <a:t>各位进行位寻址。</a:t>
            </a:r>
            <a:r>
              <a:rPr lang="en-US" altLang="zh-CN" sz="2400" dirty="0">
                <a:solidFill>
                  <a:prstClr val="black"/>
                </a:solidFill>
                <a:latin typeface="微软雅黑" panose="020B0503020204020204" pitchFamily="34" charset="-122"/>
                <a:ea typeface="微软雅黑" panose="020B0503020204020204" pitchFamily="34" charset="-122"/>
              </a:rPr>
              <a:t>D0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D7</a:t>
            </a:r>
            <a:r>
              <a:rPr lang="zh-CN" altLang="en-US" sz="2400" dirty="0">
                <a:solidFill>
                  <a:prstClr val="black"/>
                </a:solidFill>
                <a:latin typeface="微软雅黑" panose="020B0503020204020204" pitchFamily="34" charset="-122"/>
                <a:ea typeface="微软雅黑" panose="020B0503020204020204" pitchFamily="34" charset="-122"/>
              </a:rPr>
              <a:t>数据位的</a:t>
            </a:r>
            <a:r>
              <a:rPr lang="zh-CN" altLang="en-US" sz="2400" b="1" dirty="0">
                <a:solidFill>
                  <a:prstClr val="black"/>
                </a:solidFill>
                <a:latin typeface="微软雅黑" panose="020B0503020204020204" pitchFamily="34" charset="-122"/>
                <a:ea typeface="微软雅黑" panose="020B0503020204020204" pitchFamily="34" charset="-122"/>
              </a:rPr>
              <a:t>位地址</a:t>
            </a:r>
            <a:r>
              <a:rPr lang="zh-CN" altLang="en-US" sz="2400" dirty="0">
                <a:solidFill>
                  <a:prstClr val="black"/>
                </a:solidFill>
                <a:latin typeface="微软雅黑" panose="020B0503020204020204" pitchFamily="34" charset="-122"/>
                <a:ea typeface="微软雅黑" panose="020B0503020204020204" pitchFamily="34" charset="-122"/>
              </a:rPr>
              <a:t>相应为</a:t>
            </a:r>
            <a:r>
              <a:rPr lang="en-US" altLang="zh-CN" sz="2400" dirty="0">
                <a:solidFill>
                  <a:prstClr val="black"/>
                </a:solidFill>
                <a:latin typeface="微软雅黑" panose="020B0503020204020204" pitchFamily="34" charset="-122"/>
                <a:ea typeface="微软雅黑" panose="020B0503020204020204" pitchFamily="34" charset="-122"/>
              </a:rPr>
              <a:t>90H</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97H(</a:t>
            </a:r>
            <a:r>
              <a:rPr lang="zh-CN" altLang="en-US" sz="2400" dirty="0">
                <a:solidFill>
                  <a:prstClr val="black"/>
                </a:solidFill>
                <a:latin typeface="微软雅黑" panose="020B0503020204020204" pitchFamily="34" charset="-122"/>
                <a:ea typeface="微软雅黑" panose="020B0503020204020204" pitchFamily="34" charset="-122"/>
              </a:rPr>
              <a:t>也可表示为</a:t>
            </a:r>
            <a:r>
              <a:rPr lang="en-US" altLang="zh-CN" sz="2400" dirty="0">
                <a:solidFill>
                  <a:prstClr val="black"/>
                </a:solidFill>
                <a:latin typeface="微软雅黑" panose="020B0503020204020204" pitchFamily="34" charset="-122"/>
                <a:ea typeface="微软雅黑" panose="020B0503020204020204" pitchFamily="34" charset="-122"/>
              </a:rPr>
              <a:t>P1.0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P1.7)</a:t>
            </a:r>
            <a:r>
              <a:rPr lang="zh-CN" altLang="en-US" sz="2400" dirty="0">
                <a:solidFill>
                  <a:prstClr val="black"/>
                </a:solidFill>
                <a:latin typeface="微软雅黑" panose="020B0503020204020204" pitchFamily="34" charset="-122"/>
                <a:ea typeface="微软雅黑" panose="020B0503020204020204" pitchFamily="34" charset="-122"/>
              </a:rPr>
              <a:t>。 </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a:t>
            </a:r>
            <a:r>
              <a:rPr lang="zh-CN" altLang="en-US" sz="2000" dirty="0">
                <a:solidFill>
                  <a:srgbClr val="7030A0"/>
                </a:solidFill>
                <a:latin typeface="微软雅黑" panose="020B0503020204020204" pitchFamily="34" charset="-122"/>
                <a:ea typeface="微软雅黑" panose="020B0503020204020204" pitchFamily="34" charset="-122"/>
              </a:rPr>
              <a:t>直接使用</a:t>
            </a:r>
            <a:r>
              <a:rPr lang="en-US" altLang="zh-CN" sz="2000" dirty="0">
                <a:solidFill>
                  <a:srgbClr val="7030A0"/>
                </a:solidFill>
                <a:latin typeface="微软雅黑" panose="020B0503020204020204" pitchFamily="34" charset="-122"/>
                <a:ea typeface="微软雅黑" panose="020B0503020204020204" pitchFamily="34" charset="-122"/>
              </a:rPr>
              <a:t>MOV</a:t>
            </a:r>
            <a:r>
              <a:rPr lang="zh-CN" altLang="en-US" sz="2000" dirty="0">
                <a:solidFill>
                  <a:srgbClr val="7030A0"/>
                </a:solidFill>
                <a:latin typeface="微软雅黑" panose="020B0503020204020204" pitchFamily="34" charset="-122"/>
                <a:ea typeface="微软雅黑" panose="020B0503020204020204" pitchFamily="34" charset="-122"/>
              </a:rPr>
              <a:t>指令访问</a:t>
            </a:r>
            <a:r>
              <a:rPr lang="en-US" altLang="zh-CN" sz="2000" dirty="0">
                <a:solidFill>
                  <a:srgbClr val="7030A0"/>
                </a:solidFill>
                <a:latin typeface="微软雅黑" panose="020B0503020204020204" pitchFamily="34" charset="-122"/>
                <a:ea typeface="微软雅黑" panose="020B0503020204020204" pitchFamily="34" charset="-122"/>
              </a:rPr>
              <a:t>I/O</a:t>
            </a:r>
            <a:r>
              <a:rPr lang="zh-CN" altLang="en-US" sz="2000" dirty="0">
                <a:solidFill>
                  <a:srgbClr val="7030A0"/>
                </a:solidFill>
                <a:latin typeface="微软雅黑" panose="020B0503020204020204" pitchFamily="34" charset="-122"/>
                <a:ea typeface="微软雅黑" panose="020B0503020204020204" pitchFamily="34" charset="-122"/>
              </a:rPr>
              <a:t>口，</a:t>
            </a:r>
            <a:r>
              <a:rPr lang="en-US" altLang="zh-CN" sz="2000" dirty="0">
                <a:solidFill>
                  <a:srgbClr val="7030A0"/>
                </a:solidFill>
                <a:latin typeface="微软雅黑" panose="020B0503020204020204" pitchFamily="34" charset="-122"/>
                <a:ea typeface="微软雅黑" panose="020B0503020204020204" pitchFamily="34" charset="-122"/>
              </a:rPr>
              <a:t>8086</a:t>
            </a:r>
            <a:r>
              <a:rPr lang="zh-CN" altLang="en-US" sz="2000" dirty="0">
                <a:solidFill>
                  <a:srgbClr val="7030A0"/>
                </a:solidFill>
                <a:latin typeface="微软雅黑" panose="020B0503020204020204" pitchFamily="34" charset="-122"/>
                <a:ea typeface="微软雅黑" panose="020B0503020204020204" pitchFamily="34" charset="-122"/>
              </a:rPr>
              <a:t>微机使用输入输出指令</a:t>
            </a:r>
            <a:r>
              <a:rPr lang="en-US" altLang="zh-CN" sz="2000" dirty="0">
                <a:solidFill>
                  <a:srgbClr val="7030A0"/>
                </a:solidFill>
                <a:latin typeface="微软雅黑" panose="020B0503020204020204" pitchFamily="34" charset="-122"/>
                <a:ea typeface="微软雅黑" panose="020B0503020204020204" pitchFamily="34" charset="-122"/>
              </a:rPr>
              <a:t>IN/OUT</a:t>
            </a:r>
            <a:r>
              <a:rPr lang="zh-CN" altLang="en-US" sz="2000" dirty="0">
                <a:solidFill>
                  <a:srgbClr val="7030A0"/>
                </a:solidFill>
                <a:latin typeface="微软雅黑" panose="020B0503020204020204" pitchFamily="34" charset="-122"/>
                <a:ea typeface="微软雅黑" panose="020B0503020204020204" pitchFamily="34" charset="-122"/>
              </a:rPr>
              <a:t>。</a:t>
            </a:r>
            <a:endParaRPr lang="en-US" altLang="zh-CN" sz="2000" dirty="0">
              <a:solidFill>
                <a:srgbClr val="7030A0"/>
              </a:solidFill>
              <a:latin typeface="微软雅黑" panose="020B0503020204020204" pitchFamily="34" charset="-122"/>
              <a:ea typeface="微软雅黑" panose="020B0503020204020204" pitchFamily="34" charset="-122"/>
            </a:endParaRPr>
          </a:p>
        </p:txBody>
      </p:sp>
      <p:sp>
        <p:nvSpPr>
          <p:cNvPr id="94210"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2.2 MCS-51</a:t>
            </a:r>
            <a:r>
              <a:rPr lang="zh-CN" altLang="en-US" sz="2800">
                <a:solidFill>
                  <a:srgbClr val="000000"/>
                </a:solidFill>
                <a:latin typeface="微软雅黑" panose="020B0503020204020204" pitchFamily="34" charset="-122"/>
                <a:ea typeface="微软雅黑" panose="020B0503020204020204" pitchFamily="34" charset="-122"/>
              </a:rPr>
              <a:t>存储结构及位处理器</a:t>
            </a:r>
          </a:p>
        </p:txBody>
      </p:sp>
      <p:pic>
        <p:nvPicPr>
          <p:cNvPr id="94211"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94212"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632450"/>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2.2.5 </a:t>
            </a:r>
            <a:r>
              <a:rPr lang="zh-CN" altLang="en-US" sz="2400" b="1" dirty="0">
                <a:solidFill>
                  <a:prstClr val="black"/>
                </a:solidFill>
                <a:latin typeface="微软雅黑" panose="020B0503020204020204" pitchFamily="34" charset="-122"/>
                <a:ea typeface="微软雅黑" panose="020B0503020204020204" pitchFamily="34" charset="-122"/>
              </a:rPr>
              <a:t>位处理器</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片内</a:t>
            </a:r>
            <a:r>
              <a:rPr lang="en-US" altLang="zh-CN" sz="2400" dirty="0">
                <a:solidFill>
                  <a:prstClr val="black"/>
                </a:solidFill>
                <a:latin typeface="微软雅黑" panose="020B0503020204020204" pitchFamily="34" charset="-122"/>
                <a:ea typeface="微软雅黑" panose="020B0503020204020204" pitchFamily="34" charset="-122"/>
              </a:rPr>
              <a:t>CPU</a:t>
            </a:r>
            <a:r>
              <a:rPr lang="zh-CN" altLang="en-US" sz="2400" dirty="0">
                <a:solidFill>
                  <a:prstClr val="black"/>
                </a:solidFill>
                <a:latin typeface="微软雅黑" panose="020B0503020204020204" pitchFamily="34" charset="-122"/>
                <a:ea typeface="微软雅黑" panose="020B0503020204020204" pitchFamily="34" charset="-122"/>
              </a:rPr>
              <a:t>还是一个性能优异的</a:t>
            </a:r>
            <a:r>
              <a:rPr lang="zh-CN" altLang="en-US" sz="2400" b="1" dirty="0">
                <a:solidFill>
                  <a:prstClr val="black"/>
                </a:solidFill>
                <a:latin typeface="微软雅黑" panose="020B0503020204020204" pitchFamily="34" charset="-122"/>
                <a:ea typeface="微软雅黑" panose="020B0503020204020204" pitchFamily="34" charset="-122"/>
              </a:rPr>
              <a:t>位处理器</a:t>
            </a:r>
            <a:r>
              <a:rPr lang="zh-CN" altLang="en-US" sz="2400" dirty="0">
                <a:solidFill>
                  <a:prstClr val="black"/>
                </a:solidFill>
                <a:latin typeface="微软雅黑" panose="020B0503020204020204" pitchFamily="34" charset="-122"/>
                <a:ea typeface="微软雅黑" panose="020B0503020204020204" pitchFamily="34" charset="-122"/>
              </a:rPr>
              <a:t>，也就是说</a:t>
            </a: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实际上又是一个完整而独立的</a:t>
            </a:r>
            <a:r>
              <a:rPr lang="en-US" altLang="zh-CN" sz="2400" dirty="0">
                <a:solidFill>
                  <a:srgbClr val="0000FF"/>
                </a:solidFill>
                <a:latin typeface="微软雅黑" panose="020B0503020204020204" pitchFamily="34" charset="-122"/>
                <a:ea typeface="微软雅黑" panose="020B0503020204020204" pitchFamily="34" charset="-122"/>
              </a:rPr>
              <a:t>1</a:t>
            </a:r>
            <a:r>
              <a:rPr lang="zh-CN" altLang="en-US" sz="2400" dirty="0">
                <a:solidFill>
                  <a:srgbClr val="0000FF"/>
                </a:solidFill>
                <a:latin typeface="微软雅黑" panose="020B0503020204020204" pitchFamily="34" charset="-122"/>
                <a:ea typeface="微软雅黑" panose="020B0503020204020204" pitchFamily="34" charset="-122"/>
              </a:rPr>
              <a:t>位单片机</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也称</a:t>
            </a:r>
            <a:r>
              <a:rPr lang="zh-CN" altLang="en-US" sz="2400" b="1" dirty="0">
                <a:solidFill>
                  <a:srgbClr val="0000FF"/>
                </a:solidFill>
                <a:latin typeface="微软雅黑" panose="020B0503020204020204" pitchFamily="34" charset="-122"/>
                <a:ea typeface="微软雅黑" panose="020B0503020204020204" pitchFamily="34" charset="-122"/>
              </a:rPr>
              <a:t>布尔处理机</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。该布尔处理机除了有自己的</a:t>
            </a:r>
            <a:r>
              <a:rPr lang="en-US" altLang="zh-CN" sz="2400" u="sng" dirty="0">
                <a:solidFill>
                  <a:srgbClr val="FF0000"/>
                </a:solidFill>
                <a:latin typeface="微软雅黑" panose="020B0503020204020204" pitchFamily="34" charset="-122"/>
                <a:ea typeface="微软雅黑" panose="020B0503020204020204" pitchFamily="34" charset="-122"/>
              </a:rPr>
              <a:t>CPU</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400" u="sng" dirty="0">
                <a:solidFill>
                  <a:srgbClr val="FF0000"/>
                </a:solidFill>
                <a:latin typeface="微软雅黑" panose="020B0503020204020204" pitchFamily="34" charset="-122"/>
                <a:ea typeface="微软雅黑" panose="020B0503020204020204" pitchFamily="34" charset="-122"/>
              </a:rPr>
              <a:t>位寄存器</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400" u="sng" dirty="0">
                <a:solidFill>
                  <a:srgbClr val="FF0000"/>
                </a:solidFill>
                <a:latin typeface="微软雅黑" panose="020B0503020204020204" pitchFamily="34" charset="-122"/>
                <a:ea typeface="微软雅黑" panose="020B0503020204020204" pitchFamily="34" charset="-122"/>
              </a:rPr>
              <a:t>位累加器</a:t>
            </a:r>
            <a:r>
              <a:rPr lang="en-US" altLang="zh-CN" sz="2400" u="sng" dirty="0">
                <a:solidFill>
                  <a:srgbClr val="FF0000"/>
                </a:solidFill>
                <a:latin typeface="微软雅黑" panose="020B0503020204020204" pitchFamily="34" charset="-122"/>
                <a:ea typeface="微软雅黑" panose="020B0503020204020204" pitchFamily="34" charset="-122"/>
              </a:rPr>
              <a:t>(Cy)</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u="sng" dirty="0">
                <a:solidFill>
                  <a:srgbClr val="FF0000"/>
                </a:solidFill>
                <a:latin typeface="微软雅黑" panose="020B0503020204020204" pitchFamily="34" charset="-122"/>
                <a:ea typeface="微软雅黑" panose="020B0503020204020204" pitchFamily="34" charset="-122"/>
              </a:rPr>
              <a:t>I/O</a:t>
            </a:r>
            <a:r>
              <a:rPr lang="zh-CN" altLang="en-US" sz="2400" u="sng" dirty="0">
                <a:solidFill>
                  <a:srgbClr val="FF0000"/>
                </a:solidFill>
                <a:latin typeface="微软雅黑" panose="020B0503020204020204" pitchFamily="34" charset="-122"/>
                <a:ea typeface="微软雅黑" panose="020B0503020204020204" pitchFamily="34" charset="-122"/>
              </a:rPr>
              <a:t>口</a:t>
            </a:r>
            <a:r>
              <a:rPr lang="zh-CN" altLang="en-US" sz="2400" dirty="0">
                <a:solidFill>
                  <a:prstClr val="black"/>
                </a:solidFill>
                <a:latin typeface="微软雅黑" panose="020B0503020204020204" pitchFamily="34" charset="-122"/>
                <a:ea typeface="微软雅黑" panose="020B0503020204020204" pitchFamily="34" charset="-122"/>
              </a:rPr>
              <a:t>和</a:t>
            </a:r>
            <a:r>
              <a:rPr lang="zh-CN" altLang="en-US" sz="2400" u="sng" dirty="0">
                <a:solidFill>
                  <a:srgbClr val="FF0000"/>
                </a:solidFill>
                <a:latin typeface="微软雅黑" panose="020B0503020204020204" pitchFamily="34" charset="-122"/>
                <a:ea typeface="微软雅黑" panose="020B0503020204020204" pitchFamily="34" charset="-122"/>
              </a:rPr>
              <a:t>位寻址空间</a:t>
            </a:r>
            <a:r>
              <a:rPr lang="zh-CN" altLang="en-US" sz="2400" dirty="0">
                <a:solidFill>
                  <a:prstClr val="black"/>
                </a:solidFill>
                <a:latin typeface="微软雅黑" panose="020B0503020204020204" pitchFamily="34" charset="-122"/>
                <a:ea typeface="微软雅黑" panose="020B0503020204020204" pitchFamily="34" charset="-122"/>
              </a:rPr>
              <a:t>外，还有专供</a:t>
            </a:r>
            <a:r>
              <a:rPr lang="zh-CN" altLang="en-US" sz="2400" b="1" dirty="0">
                <a:solidFill>
                  <a:prstClr val="black"/>
                </a:solidFill>
                <a:latin typeface="微软雅黑" panose="020B0503020204020204" pitchFamily="34" charset="-122"/>
                <a:ea typeface="微软雅黑" panose="020B0503020204020204" pitchFamily="34" charset="-122"/>
              </a:rPr>
              <a:t>位操作</a:t>
            </a:r>
            <a:r>
              <a:rPr lang="zh-CN" altLang="en-US" sz="2400" dirty="0">
                <a:solidFill>
                  <a:prstClr val="black"/>
                </a:solidFill>
                <a:latin typeface="微软雅黑" panose="020B0503020204020204" pitchFamily="34" charset="-122"/>
                <a:ea typeface="微软雅黑" panose="020B0503020204020204" pitchFamily="34" charset="-122"/>
              </a:rPr>
              <a:t>的</a:t>
            </a:r>
            <a:r>
              <a:rPr lang="zh-CN" altLang="en-US" sz="2400" u="sng" dirty="0">
                <a:solidFill>
                  <a:srgbClr val="FF0000"/>
                </a:solidFill>
                <a:latin typeface="微软雅黑" panose="020B0503020204020204" pitchFamily="34" charset="-122"/>
                <a:ea typeface="微软雅黑" panose="020B0503020204020204" pitchFamily="34" charset="-122"/>
              </a:rPr>
              <a:t>指令系统</a:t>
            </a:r>
            <a:r>
              <a:rPr lang="zh-CN" altLang="en-US" sz="2400" dirty="0">
                <a:solidFill>
                  <a:prstClr val="black"/>
                </a:solidFill>
                <a:latin typeface="微软雅黑" panose="020B0503020204020204" pitchFamily="34" charset="-122"/>
                <a:ea typeface="微软雅黑" panose="020B0503020204020204" pitchFamily="34" charset="-122"/>
              </a:rPr>
              <a:t>，可以</a:t>
            </a:r>
            <a:r>
              <a:rPr lang="zh-CN" altLang="en-US" sz="2400" dirty="0">
                <a:solidFill>
                  <a:srgbClr val="0000FF"/>
                </a:solidFill>
                <a:latin typeface="微软雅黑" panose="020B0503020204020204" pitchFamily="34" charset="-122"/>
                <a:ea typeface="微软雅黑" panose="020B0503020204020204" pitchFamily="34" charset="-122"/>
              </a:rPr>
              <a:t>直接寻址</a:t>
            </a:r>
            <a:r>
              <a:rPr lang="zh-CN" altLang="en-US" sz="2400" dirty="0">
                <a:solidFill>
                  <a:prstClr val="black"/>
                </a:solidFill>
                <a:latin typeface="微软雅黑" panose="020B0503020204020204" pitchFamily="34" charset="-122"/>
                <a:ea typeface="微软雅黑" panose="020B0503020204020204" pitchFamily="34" charset="-122"/>
              </a:rPr>
              <a:t>对</a:t>
            </a:r>
            <a:r>
              <a:rPr lang="zh-CN" altLang="en-US" sz="2400" dirty="0">
                <a:solidFill>
                  <a:srgbClr val="0000FF"/>
                </a:solidFill>
                <a:latin typeface="微软雅黑" panose="020B0503020204020204" pitchFamily="34" charset="-122"/>
                <a:ea typeface="微软雅黑" panose="020B0503020204020204" pitchFamily="34" charset="-122"/>
              </a:rPr>
              <a:t>位存储单元</a:t>
            </a:r>
            <a:r>
              <a:rPr lang="zh-CN" altLang="en-US" sz="2400" dirty="0">
                <a:solidFill>
                  <a:prstClr val="black"/>
                </a:solidFill>
                <a:latin typeface="微软雅黑" panose="020B0503020204020204" pitchFamily="34" charset="-122"/>
                <a:ea typeface="微软雅黑" panose="020B0503020204020204" pitchFamily="34" charset="-122"/>
              </a:rPr>
              <a:t>和</a:t>
            </a:r>
            <a:r>
              <a:rPr lang="en-US" altLang="zh-CN" sz="2400" dirty="0">
                <a:solidFill>
                  <a:srgbClr val="0000FF"/>
                </a:solidFill>
                <a:latin typeface="微软雅黑" panose="020B0503020204020204" pitchFamily="34" charset="-122"/>
                <a:ea typeface="微软雅黑" panose="020B0503020204020204" pitchFamily="34" charset="-122"/>
              </a:rPr>
              <a:t>SFR</a:t>
            </a:r>
            <a:r>
              <a:rPr lang="zh-CN" altLang="en-US" sz="2400" dirty="0">
                <a:solidFill>
                  <a:prstClr val="black"/>
                </a:solidFill>
                <a:latin typeface="微软雅黑" panose="020B0503020204020204" pitchFamily="34" charset="-122"/>
                <a:ea typeface="微软雅黑" panose="020B0503020204020204" pitchFamily="34" charset="-122"/>
              </a:rPr>
              <a:t>的某一位进行操作。</a:t>
            </a: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单片机对于</a:t>
            </a:r>
            <a:r>
              <a:rPr lang="zh-CN" altLang="en-US" sz="2400" dirty="0">
                <a:solidFill>
                  <a:srgbClr val="0000FF"/>
                </a:solidFill>
                <a:latin typeface="微软雅黑" panose="020B0503020204020204" pitchFamily="34" charset="-122"/>
                <a:ea typeface="微软雅黑" panose="020B0503020204020204" pitchFamily="34" charset="-122"/>
              </a:rPr>
              <a:t>位操作</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布尔处理</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有置位、复位、取反、测试转移、传送、逻辑与和逻辑或运算等功能。</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单片机中，</a:t>
            </a:r>
            <a:r>
              <a:rPr lang="en-US" altLang="zh-CN" sz="2400" dirty="0">
                <a:solidFill>
                  <a:prstClr val="black"/>
                </a:solidFill>
                <a:latin typeface="微软雅黑" panose="020B0503020204020204" pitchFamily="34" charset="-122"/>
                <a:ea typeface="微软雅黑" panose="020B0503020204020204" pitchFamily="34" charset="-122"/>
              </a:rPr>
              <a:t>8</a:t>
            </a:r>
            <a:r>
              <a:rPr lang="zh-CN" altLang="en-US" sz="2400" dirty="0">
                <a:solidFill>
                  <a:prstClr val="black"/>
                </a:solidFill>
                <a:latin typeface="微软雅黑" panose="020B0503020204020204" pitchFamily="34" charset="-122"/>
                <a:ea typeface="微软雅黑" panose="020B0503020204020204" pitchFamily="34" charset="-122"/>
              </a:rPr>
              <a:t>位微型机和布尔处理机的硬件资源是复合在一起，二者相辅相成。</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
        <p:nvSpPr>
          <p:cNvPr id="9625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2.2 MCS-51</a:t>
            </a:r>
            <a:r>
              <a:rPr lang="zh-CN" altLang="en-US" sz="2800">
                <a:solidFill>
                  <a:srgbClr val="000000"/>
                </a:solidFill>
                <a:latin typeface="微软雅黑" panose="020B0503020204020204" pitchFamily="34" charset="-122"/>
                <a:ea typeface="微软雅黑" panose="020B0503020204020204" pitchFamily="34" charset="-122"/>
              </a:rPr>
              <a:t>存储结构及位处理器</a:t>
            </a:r>
          </a:p>
        </p:txBody>
      </p:sp>
      <p:pic>
        <p:nvPicPr>
          <p:cNvPr id="96259"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96260"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632450"/>
          </a:xfrm>
          <a:prstGeom prst="rect">
            <a:avLst/>
          </a:prstGeom>
          <a:noFill/>
        </p:spPr>
        <p:txBody>
          <a:bodyPr>
            <a:spAutoFit/>
          </a:bodyPr>
          <a:lstStyle/>
          <a:p>
            <a:pPr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       MCS-51</a:t>
            </a:r>
            <a:r>
              <a:rPr lang="zh-CN" altLang="en-US" sz="2400" dirty="0">
                <a:solidFill>
                  <a:prstClr val="black"/>
                </a:solidFill>
                <a:latin typeface="微软雅黑" panose="020B0503020204020204" pitchFamily="34" charset="-122"/>
                <a:ea typeface="微软雅黑" panose="020B0503020204020204" pitchFamily="34" charset="-122"/>
              </a:rPr>
              <a:t>单片机的工作方式包括：</a:t>
            </a:r>
            <a:r>
              <a:rPr lang="zh-CN" altLang="en-US" sz="2400" dirty="0">
                <a:solidFill>
                  <a:srgbClr val="0000FF"/>
                </a:solidFill>
                <a:latin typeface="微软雅黑" panose="020B0503020204020204" pitchFamily="34" charset="-122"/>
                <a:ea typeface="微软雅黑" panose="020B0503020204020204" pitchFamily="34" charset="-122"/>
              </a:rPr>
              <a:t>复位方式</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程序执行方式</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节电方式</a:t>
            </a:r>
            <a:r>
              <a:rPr lang="zh-CN" altLang="en-US" sz="2400" dirty="0">
                <a:solidFill>
                  <a:prstClr val="black"/>
                </a:solidFill>
                <a:latin typeface="微软雅黑" panose="020B0503020204020204" pitchFamily="34" charset="-122"/>
                <a:ea typeface="微软雅黑" panose="020B0503020204020204" pitchFamily="34" charset="-122"/>
              </a:rPr>
              <a:t>和</a:t>
            </a:r>
            <a:r>
              <a:rPr lang="en-US" altLang="zh-CN" sz="2400" dirty="0">
                <a:solidFill>
                  <a:srgbClr val="0000FF"/>
                </a:solidFill>
                <a:latin typeface="微软雅黑" panose="020B0503020204020204" pitchFamily="34" charset="-122"/>
                <a:ea typeface="微软雅黑" panose="020B0503020204020204" pitchFamily="34" charset="-122"/>
              </a:rPr>
              <a:t>EPROM</a:t>
            </a:r>
            <a:r>
              <a:rPr lang="zh-CN" altLang="en-US" sz="2400" dirty="0">
                <a:solidFill>
                  <a:srgbClr val="0000FF"/>
                </a:solidFill>
                <a:latin typeface="微软雅黑" panose="020B0503020204020204" pitchFamily="34" charset="-122"/>
                <a:ea typeface="微软雅黑" panose="020B0503020204020204" pitchFamily="34" charset="-122"/>
              </a:rPr>
              <a:t>的编程</a:t>
            </a:r>
            <a:r>
              <a:rPr lang="zh-CN" altLang="en-US" sz="2400" dirty="0">
                <a:solidFill>
                  <a:prstClr val="black"/>
                </a:solidFill>
                <a:latin typeface="微软雅黑" panose="020B0503020204020204" pitchFamily="34" charset="-122"/>
                <a:ea typeface="微软雅黑" panose="020B0503020204020204" pitchFamily="34" charset="-122"/>
              </a:rPr>
              <a:t>和</a:t>
            </a:r>
            <a:r>
              <a:rPr lang="zh-CN" altLang="en-US" sz="2400" dirty="0">
                <a:solidFill>
                  <a:srgbClr val="0000FF"/>
                </a:solidFill>
                <a:latin typeface="微软雅黑" panose="020B0503020204020204" pitchFamily="34" charset="-122"/>
                <a:ea typeface="微软雅黑" panose="020B0503020204020204" pitchFamily="34" charset="-122"/>
              </a:rPr>
              <a:t>校验方式</a:t>
            </a:r>
            <a:r>
              <a:rPr lang="zh-CN" altLang="en-US" sz="2400" dirty="0">
                <a:solidFill>
                  <a:prstClr val="black"/>
                </a:solidFill>
                <a:latin typeface="微软雅黑" panose="020B0503020204020204" pitchFamily="34" charset="-122"/>
                <a:ea typeface="微软雅黑" panose="020B0503020204020204" pitchFamily="34" charset="-122"/>
              </a:rPr>
              <a:t>，在不同的情况下，其工作方式也不相同。</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2.3.1 </a:t>
            </a:r>
            <a:r>
              <a:rPr lang="zh-CN" altLang="en-US" sz="2400" b="1" dirty="0">
                <a:solidFill>
                  <a:prstClr val="black"/>
                </a:solidFill>
                <a:latin typeface="微软雅黑" panose="020B0503020204020204" pitchFamily="34" charset="-122"/>
                <a:ea typeface="微软雅黑" panose="020B0503020204020204" pitchFamily="34" charset="-122"/>
              </a:rPr>
              <a:t>复位方式</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单片机在启动运行时需要复位，使</a:t>
            </a:r>
            <a:r>
              <a:rPr lang="en-US" altLang="zh-CN" sz="2400" dirty="0">
                <a:solidFill>
                  <a:prstClr val="black"/>
                </a:solidFill>
                <a:latin typeface="微软雅黑" panose="020B0503020204020204" pitchFamily="34" charset="-122"/>
                <a:ea typeface="微软雅黑" panose="020B0503020204020204" pitchFamily="34" charset="-122"/>
              </a:rPr>
              <a:t>CPU</a:t>
            </a:r>
            <a:r>
              <a:rPr lang="zh-CN" altLang="en-US" sz="2400" dirty="0">
                <a:solidFill>
                  <a:prstClr val="black"/>
                </a:solidFill>
                <a:latin typeface="微软雅黑" panose="020B0503020204020204" pitchFamily="34" charset="-122"/>
                <a:ea typeface="微软雅黑" panose="020B0503020204020204" pitchFamily="34" charset="-122"/>
              </a:rPr>
              <a:t>以及其他功能部件处于一个确定的</a:t>
            </a:r>
            <a:r>
              <a:rPr lang="zh-CN" altLang="en-US" sz="2400" dirty="0">
                <a:solidFill>
                  <a:srgbClr val="0000FF"/>
                </a:solidFill>
                <a:latin typeface="微软雅黑" panose="020B0503020204020204" pitchFamily="34" charset="-122"/>
                <a:ea typeface="微软雅黑" panose="020B0503020204020204" pitchFamily="34" charset="-122"/>
              </a:rPr>
              <a:t>初始状态</a:t>
            </a:r>
            <a:r>
              <a:rPr lang="zh-CN" altLang="en-US" sz="2400" dirty="0">
                <a:solidFill>
                  <a:prstClr val="black"/>
                </a:solidFill>
                <a:latin typeface="微软雅黑" panose="020B0503020204020204" pitchFamily="34" charset="-122"/>
                <a:ea typeface="微软雅黑" panose="020B0503020204020204" pitchFamily="34" charset="-122"/>
              </a:rPr>
              <a:t>，并从这个状态开始工作，单片机应用程序必须以此作为设计前提。</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单片机在工作过程中，如何出现</a:t>
            </a:r>
            <a:r>
              <a:rPr lang="zh-CN" altLang="en-US" sz="2400" dirty="0">
                <a:solidFill>
                  <a:srgbClr val="0000FF"/>
                </a:solidFill>
                <a:latin typeface="微软雅黑" panose="020B0503020204020204" pitchFamily="34" charset="-122"/>
                <a:ea typeface="微软雅黑" panose="020B0503020204020204" pitchFamily="34" charset="-122"/>
              </a:rPr>
              <a:t>死机</a:t>
            </a:r>
            <a:r>
              <a:rPr lang="zh-CN" altLang="en-US" sz="2400" dirty="0">
                <a:solidFill>
                  <a:prstClr val="black"/>
                </a:solidFill>
                <a:latin typeface="微软雅黑" panose="020B0503020204020204" pitchFamily="34" charset="-122"/>
                <a:ea typeface="微软雅黑" panose="020B0503020204020204" pitchFamily="34" charset="-122"/>
              </a:rPr>
              <a:t>时，也必须对单片机进行复位，使其重新开始工作。</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复位信号要持续</a:t>
            </a:r>
            <a:r>
              <a:rPr lang="zh-CN" altLang="en-US" sz="2400" dirty="0">
                <a:solidFill>
                  <a:srgbClr val="0000FF"/>
                </a:solidFill>
                <a:latin typeface="微软雅黑" panose="020B0503020204020204" pitchFamily="34" charset="-122"/>
                <a:ea typeface="微软雅黑" panose="020B0503020204020204" pitchFamily="34" charset="-122"/>
              </a:rPr>
              <a:t>两个机器周期</a:t>
            </a:r>
            <a:r>
              <a:rPr lang="zh-CN" altLang="en-US" sz="2400" dirty="0">
                <a:solidFill>
                  <a:prstClr val="black"/>
                </a:solidFill>
                <a:latin typeface="微软雅黑" panose="020B0503020204020204" pitchFamily="34" charset="-122"/>
                <a:ea typeface="微软雅黑" panose="020B0503020204020204" pitchFamily="34" charset="-122"/>
              </a:rPr>
              <a:t>以上的</a:t>
            </a:r>
            <a:r>
              <a:rPr lang="zh-CN" altLang="en-US" sz="2400" dirty="0">
                <a:solidFill>
                  <a:srgbClr val="0000FF"/>
                </a:solidFill>
                <a:latin typeface="微软雅黑" panose="020B0503020204020204" pitchFamily="34" charset="-122"/>
                <a:ea typeface="微软雅黑" panose="020B0503020204020204" pitchFamily="34" charset="-122"/>
              </a:rPr>
              <a:t>高电平</a:t>
            </a:r>
            <a:r>
              <a:rPr lang="zh-CN" altLang="en-US" sz="2400" dirty="0">
                <a:solidFill>
                  <a:prstClr val="black"/>
                </a:solidFill>
                <a:latin typeface="微软雅黑" panose="020B0503020204020204" pitchFamily="34" charset="-122"/>
                <a:ea typeface="微软雅黑" panose="020B0503020204020204" pitchFamily="34" charset="-122"/>
              </a:rPr>
              <a:t>才能可靠复位。</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
        <p:nvSpPr>
          <p:cNvPr id="98306"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2.3 MCS-51</a:t>
            </a:r>
            <a:r>
              <a:rPr lang="zh-CN" altLang="en-US" sz="2800">
                <a:solidFill>
                  <a:srgbClr val="000000"/>
                </a:solidFill>
                <a:latin typeface="微软雅黑" panose="020B0503020204020204" pitchFamily="34" charset="-122"/>
                <a:ea typeface="微软雅黑" panose="020B0503020204020204" pitchFamily="34" charset="-122"/>
              </a:rPr>
              <a:t>的工作方式</a:t>
            </a:r>
          </a:p>
        </p:txBody>
      </p:sp>
      <p:pic>
        <p:nvPicPr>
          <p:cNvPr id="98307"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98308"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文本框 1"/>
          <p:cNvSpPr txBox="1">
            <a:spLocks noChangeArrowheads="1"/>
          </p:cNvSpPr>
          <p:nvPr/>
        </p:nvSpPr>
        <p:spPr bwMode="auto">
          <a:xfrm>
            <a:off x="257175" y="736600"/>
            <a:ext cx="8636000" cy="581025"/>
          </a:xfrm>
          <a:prstGeom prst="rect">
            <a:avLst/>
          </a:prstGeom>
          <a:noFill/>
          <a:ln w="9525">
            <a:noFill/>
            <a:miter lim="800000"/>
          </a:ln>
        </p:spPr>
        <p:txBody>
          <a:bodyPr>
            <a:spAutoFit/>
          </a:bodyPr>
          <a:lstStyle/>
          <a:p>
            <a:pPr algn="just">
              <a:lnSpc>
                <a:spcPct val="150000"/>
              </a:lnSpc>
            </a:pPr>
            <a:r>
              <a:rPr lang="en-US" altLang="zh-CN" sz="2400" b="1">
                <a:solidFill>
                  <a:srgbClr val="000000"/>
                </a:solidFill>
                <a:latin typeface="微软雅黑" panose="020B0503020204020204" pitchFamily="34" charset="-122"/>
                <a:ea typeface="微软雅黑" panose="020B0503020204020204" pitchFamily="34" charset="-122"/>
              </a:rPr>
              <a:t>2.3.1 </a:t>
            </a:r>
            <a:r>
              <a:rPr lang="zh-CN" altLang="en-US" sz="2400" b="1">
                <a:solidFill>
                  <a:srgbClr val="000000"/>
                </a:solidFill>
                <a:latin typeface="微软雅黑" panose="020B0503020204020204" pitchFamily="34" charset="-122"/>
                <a:ea typeface="微软雅黑" panose="020B0503020204020204" pitchFamily="34" charset="-122"/>
              </a:rPr>
              <a:t>复位方式</a:t>
            </a:r>
            <a:endParaRPr lang="en-US" altLang="zh-CN" sz="2400">
              <a:solidFill>
                <a:srgbClr val="000000"/>
              </a:solidFill>
              <a:latin typeface="微软雅黑" panose="020B0503020204020204" pitchFamily="34" charset="-122"/>
              <a:ea typeface="微软雅黑" panose="020B0503020204020204" pitchFamily="34" charset="-122"/>
            </a:endParaRPr>
          </a:p>
        </p:txBody>
      </p:sp>
      <p:sp>
        <p:nvSpPr>
          <p:cNvPr id="100354"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2.3 MCS-51</a:t>
            </a:r>
            <a:r>
              <a:rPr lang="zh-CN" altLang="en-US" sz="2800">
                <a:solidFill>
                  <a:srgbClr val="000000"/>
                </a:solidFill>
                <a:latin typeface="微软雅黑" panose="020B0503020204020204" pitchFamily="34" charset="-122"/>
                <a:ea typeface="微软雅黑" panose="020B0503020204020204" pitchFamily="34" charset="-122"/>
              </a:rPr>
              <a:t>的工作方式</a:t>
            </a:r>
          </a:p>
        </p:txBody>
      </p:sp>
      <p:grpSp>
        <p:nvGrpSpPr>
          <p:cNvPr id="100355" name="组合 3"/>
          <p:cNvGrpSpPr/>
          <p:nvPr/>
        </p:nvGrpSpPr>
        <p:grpSpPr bwMode="auto">
          <a:xfrm>
            <a:off x="362392" y="1954340"/>
            <a:ext cx="5183003" cy="3334002"/>
            <a:chOff x="960438" y="2354269"/>
            <a:chExt cx="6570662" cy="4069808"/>
          </a:xfrm>
        </p:grpSpPr>
        <p:sp>
          <p:nvSpPr>
            <p:cNvPr id="5" name="Rectangle 4"/>
            <p:cNvSpPr>
              <a:spLocks noChangeArrowheads="1"/>
            </p:cNvSpPr>
            <p:nvPr/>
          </p:nvSpPr>
          <p:spPr bwMode="auto">
            <a:xfrm>
              <a:off x="2743200" y="2852738"/>
              <a:ext cx="1036638" cy="2667000"/>
            </a:xfrm>
            <a:prstGeom prst="rect">
              <a:avLst/>
            </a:prstGeom>
            <a:solidFill>
              <a:srgbClr val="FFFFFF"/>
            </a:solidFill>
            <a:ln w="12700" cap="sq">
              <a:solidFill>
                <a:srgbClr val="000000"/>
              </a:solidFill>
              <a:miter lim="800000"/>
              <a:headEnd type="none" w="sm" len="sm"/>
              <a:tailEnd type="none" w="sm" len="sm"/>
            </a:ln>
            <a:effec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kern="0">
                <a:solidFill>
                  <a:srgbClr val="FFFFFF"/>
                </a:solidFill>
              </a:endParaRPr>
            </a:p>
          </p:txBody>
        </p:sp>
        <p:sp>
          <p:nvSpPr>
            <p:cNvPr id="7" name="Rectangle 5"/>
            <p:cNvSpPr>
              <a:spLocks noChangeArrowheads="1"/>
            </p:cNvSpPr>
            <p:nvPr/>
          </p:nvSpPr>
          <p:spPr bwMode="auto">
            <a:xfrm>
              <a:off x="2057400" y="4538663"/>
              <a:ext cx="152400" cy="533400"/>
            </a:xfrm>
            <a:prstGeom prst="rect">
              <a:avLst/>
            </a:prstGeom>
            <a:solidFill>
              <a:srgbClr val="666699"/>
            </a:solidFill>
            <a:ln w="12700" cap="sq">
              <a:solidFill>
                <a:srgbClr val="000000"/>
              </a:solidFill>
              <a:miter lim="800000"/>
              <a:headEnd type="none" w="sm" len="sm"/>
              <a:tailEnd type="none" w="sm" len="sm"/>
            </a:ln>
            <a:effec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kern="0">
                <a:solidFill>
                  <a:srgbClr val="FFFFFF"/>
                </a:solidFill>
              </a:endParaRPr>
            </a:p>
          </p:txBody>
        </p:sp>
        <p:sp>
          <p:nvSpPr>
            <p:cNvPr id="8" name="Line 6"/>
            <p:cNvSpPr>
              <a:spLocks noChangeShapeType="1"/>
            </p:cNvSpPr>
            <p:nvPr/>
          </p:nvSpPr>
          <p:spPr bwMode="auto">
            <a:xfrm>
              <a:off x="1905000" y="3776663"/>
              <a:ext cx="4572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9" name="Rectangle 7"/>
            <p:cNvSpPr>
              <a:spLocks noChangeArrowheads="1"/>
            </p:cNvSpPr>
            <p:nvPr/>
          </p:nvSpPr>
          <p:spPr bwMode="auto">
            <a:xfrm>
              <a:off x="1905000" y="3548063"/>
              <a:ext cx="457200" cy="76200"/>
            </a:xfrm>
            <a:prstGeom prst="rect">
              <a:avLst/>
            </a:prstGeom>
            <a:solidFill>
              <a:srgbClr val="666699"/>
            </a:solidFill>
            <a:ln w="12700" cap="sq">
              <a:solidFill>
                <a:srgbClr val="000000"/>
              </a:solidFill>
              <a:miter lim="800000"/>
              <a:headEnd type="none" w="sm" len="sm"/>
              <a:tailEnd type="none" w="sm" len="sm"/>
            </a:ln>
            <a:effec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kern="0">
                <a:solidFill>
                  <a:srgbClr val="FFFFFF"/>
                </a:solidFill>
              </a:endParaRPr>
            </a:p>
          </p:txBody>
        </p:sp>
        <p:sp>
          <p:nvSpPr>
            <p:cNvPr id="10" name="Line 8"/>
            <p:cNvSpPr>
              <a:spLocks noChangeShapeType="1"/>
            </p:cNvSpPr>
            <p:nvPr/>
          </p:nvSpPr>
          <p:spPr bwMode="auto">
            <a:xfrm>
              <a:off x="2133600" y="3776663"/>
              <a:ext cx="0" cy="76200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11" name="Line 9"/>
            <p:cNvSpPr>
              <a:spLocks noChangeShapeType="1"/>
            </p:cNvSpPr>
            <p:nvPr/>
          </p:nvSpPr>
          <p:spPr bwMode="auto">
            <a:xfrm>
              <a:off x="2133600" y="5072063"/>
              <a:ext cx="0" cy="60960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12" name="Line 10"/>
            <p:cNvSpPr>
              <a:spLocks noChangeShapeType="1"/>
            </p:cNvSpPr>
            <p:nvPr/>
          </p:nvSpPr>
          <p:spPr bwMode="auto">
            <a:xfrm>
              <a:off x="2133600" y="3167063"/>
              <a:ext cx="0" cy="38100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13" name="Line 11"/>
            <p:cNvSpPr>
              <a:spLocks noChangeShapeType="1"/>
            </p:cNvSpPr>
            <p:nvPr/>
          </p:nvSpPr>
          <p:spPr bwMode="auto">
            <a:xfrm>
              <a:off x="2133600" y="3167063"/>
              <a:ext cx="6096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14" name="Line 12"/>
            <p:cNvSpPr>
              <a:spLocks noChangeShapeType="1"/>
            </p:cNvSpPr>
            <p:nvPr/>
          </p:nvSpPr>
          <p:spPr bwMode="auto">
            <a:xfrm>
              <a:off x="2133600" y="4157663"/>
              <a:ext cx="6096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15" name="Line 13"/>
            <p:cNvSpPr>
              <a:spLocks noChangeShapeType="1"/>
            </p:cNvSpPr>
            <p:nvPr/>
          </p:nvSpPr>
          <p:spPr bwMode="auto">
            <a:xfrm>
              <a:off x="2133600" y="5376863"/>
              <a:ext cx="6096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16" name="Line 14"/>
            <p:cNvSpPr>
              <a:spLocks noChangeShapeType="1"/>
            </p:cNvSpPr>
            <p:nvPr/>
          </p:nvSpPr>
          <p:spPr bwMode="auto">
            <a:xfrm>
              <a:off x="1924050" y="5662613"/>
              <a:ext cx="3810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17" name="Line 15"/>
            <p:cNvSpPr>
              <a:spLocks noChangeShapeType="1"/>
            </p:cNvSpPr>
            <p:nvPr/>
          </p:nvSpPr>
          <p:spPr bwMode="auto">
            <a:xfrm>
              <a:off x="1981200" y="5757863"/>
              <a:ext cx="2286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18" name="Line 16"/>
            <p:cNvSpPr>
              <a:spLocks noChangeShapeType="1"/>
            </p:cNvSpPr>
            <p:nvPr/>
          </p:nvSpPr>
          <p:spPr bwMode="auto">
            <a:xfrm>
              <a:off x="2076450" y="5853113"/>
              <a:ext cx="762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100373" name="Text Box 17"/>
            <p:cNvSpPr txBox="1">
              <a:spLocks noChangeArrowheads="1"/>
            </p:cNvSpPr>
            <p:nvPr/>
          </p:nvSpPr>
          <p:spPr bwMode="auto">
            <a:xfrm>
              <a:off x="1828799" y="2419350"/>
              <a:ext cx="778128" cy="450843"/>
            </a:xfrm>
            <a:prstGeom prst="rect">
              <a:avLst/>
            </a:prstGeom>
            <a:noFill/>
            <a:ln w="9525">
              <a:noFill/>
              <a:miter lim="800000"/>
            </a:ln>
          </p:spPr>
          <p:txBody>
            <a:bodyPr wrap="square">
              <a:spAutoFit/>
            </a:bodyPr>
            <a:lstStyle/>
            <a:p>
              <a:pPr>
                <a:spcBef>
                  <a:spcPct val="50000"/>
                </a:spcBef>
              </a:pPr>
              <a:r>
                <a:rPr kumimoji="1" lang="en-US" altLang="zh-CN" b="1" dirty="0">
                  <a:solidFill>
                    <a:srgbClr val="000000"/>
                  </a:solidFill>
                  <a:latin typeface="Times New Roman" panose="02020603050405020304" pitchFamily="18" charset="0"/>
                </a:rPr>
                <a:t>+5V</a:t>
              </a:r>
            </a:p>
          </p:txBody>
        </p:sp>
        <p:sp>
          <p:nvSpPr>
            <p:cNvPr id="20" name="Text Box 18"/>
            <p:cNvSpPr txBox="1">
              <a:spLocks noChangeArrowheads="1"/>
            </p:cNvSpPr>
            <p:nvPr/>
          </p:nvSpPr>
          <p:spPr bwMode="auto">
            <a:xfrm>
              <a:off x="960438" y="3573463"/>
              <a:ext cx="874711" cy="450843"/>
            </a:xfrm>
            <a:prstGeom prst="rect">
              <a:avLst/>
            </a:prstGeom>
            <a:noFill/>
            <a:ln w="12700" cap="sq">
              <a:solidFill>
                <a:srgbClr val="FFFFFF"/>
              </a:solidFill>
              <a:miter lim="800000"/>
              <a:headEnd type="none" w="sm" len="sm"/>
              <a:tailEnd type="none" w="sm" len="sm"/>
            </a:ln>
            <a:effec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r>
                <a:rPr kumimoji="1" lang="en-US" altLang="zh-CN" kern="0" dirty="0">
                  <a:solidFill>
                    <a:srgbClr val="000000"/>
                  </a:solidFill>
                  <a:latin typeface="Times New Roman" panose="02020603050405020304" pitchFamily="18" charset="0"/>
                </a:rPr>
                <a:t>10uF</a:t>
              </a:r>
            </a:p>
          </p:txBody>
        </p:sp>
        <p:sp>
          <p:nvSpPr>
            <p:cNvPr id="21" name="Text Box 19"/>
            <p:cNvSpPr txBox="1">
              <a:spLocks noChangeArrowheads="1"/>
            </p:cNvSpPr>
            <p:nvPr/>
          </p:nvSpPr>
          <p:spPr bwMode="auto">
            <a:xfrm>
              <a:off x="1258888" y="4652963"/>
              <a:ext cx="763588" cy="450843"/>
            </a:xfrm>
            <a:prstGeom prst="rect">
              <a:avLst/>
            </a:prstGeom>
            <a:noFill/>
            <a:ln w="12700" cap="sq">
              <a:solidFill>
                <a:srgbClr val="FFFFFF"/>
              </a:solidFill>
              <a:miter lim="800000"/>
              <a:headEnd type="none" w="sm" len="sm"/>
              <a:tailEnd type="none" w="sm" len="sm"/>
            </a:ln>
            <a:effec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r>
                <a:rPr kumimoji="1" lang="en-US" altLang="zh-CN" kern="0" dirty="0">
                  <a:solidFill>
                    <a:srgbClr val="000000"/>
                  </a:solidFill>
                  <a:latin typeface="Times New Roman" panose="02020603050405020304" pitchFamily="18" charset="0"/>
                </a:rPr>
                <a:t>10K</a:t>
              </a:r>
            </a:p>
          </p:txBody>
        </p:sp>
        <p:sp>
          <p:nvSpPr>
            <p:cNvPr id="100376" name="Text Box 20"/>
            <p:cNvSpPr txBox="1">
              <a:spLocks noChangeArrowheads="1"/>
            </p:cNvSpPr>
            <p:nvPr/>
          </p:nvSpPr>
          <p:spPr bwMode="auto">
            <a:xfrm>
              <a:off x="2781300" y="3028951"/>
              <a:ext cx="735942" cy="450843"/>
            </a:xfrm>
            <a:prstGeom prst="rect">
              <a:avLst/>
            </a:prstGeom>
            <a:noFill/>
            <a:ln w="9525">
              <a:noFill/>
              <a:miter lim="800000"/>
            </a:ln>
          </p:spPr>
          <p:txBody>
            <a:bodyPr wrap="square">
              <a:spAutoFit/>
            </a:bodyPr>
            <a:lstStyle/>
            <a:p>
              <a:pPr>
                <a:spcBef>
                  <a:spcPct val="50000"/>
                </a:spcBef>
              </a:pPr>
              <a:r>
                <a:rPr kumimoji="1" lang="en-US" altLang="zh-CN" b="1" dirty="0" err="1">
                  <a:solidFill>
                    <a:srgbClr val="000000"/>
                  </a:solidFill>
                  <a:latin typeface="Times New Roman" panose="02020603050405020304" pitchFamily="18" charset="0"/>
                </a:rPr>
                <a:t>Vcc</a:t>
              </a:r>
              <a:endParaRPr kumimoji="1" lang="en-US" altLang="zh-CN" b="1" dirty="0">
                <a:solidFill>
                  <a:srgbClr val="000000"/>
                </a:solidFill>
                <a:latin typeface="Times New Roman" panose="02020603050405020304" pitchFamily="18" charset="0"/>
              </a:endParaRPr>
            </a:p>
          </p:txBody>
        </p:sp>
        <p:sp>
          <p:nvSpPr>
            <p:cNvPr id="100377" name="Text Box 21"/>
            <p:cNvSpPr txBox="1">
              <a:spLocks noChangeArrowheads="1"/>
            </p:cNvSpPr>
            <p:nvPr/>
          </p:nvSpPr>
          <p:spPr bwMode="auto">
            <a:xfrm>
              <a:off x="2781300" y="3929062"/>
              <a:ext cx="800099" cy="450843"/>
            </a:xfrm>
            <a:prstGeom prst="rect">
              <a:avLst/>
            </a:prstGeom>
            <a:noFill/>
            <a:ln w="9525">
              <a:noFill/>
              <a:miter lim="800000"/>
            </a:ln>
          </p:spPr>
          <p:txBody>
            <a:bodyPr wrap="square">
              <a:spAutoFit/>
            </a:bodyPr>
            <a:lstStyle/>
            <a:p>
              <a:pPr>
                <a:spcBef>
                  <a:spcPct val="50000"/>
                </a:spcBef>
              </a:pPr>
              <a:r>
                <a:rPr kumimoji="1" lang="en-US" altLang="zh-CN" b="1" dirty="0">
                  <a:solidFill>
                    <a:srgbClr val="000000"/>
                  </a:solidFill>
                  <a:latin typeface="Times New Roman" panose="02020603050405020304" pitchFamily="18" charset="0"/>
                </a:rPr>
                <a:t>RST</a:t>
              </a:r>
            </a:p>
          </p:txBody>
        </p:sp>
        <p:sp>
          <p:nvSpPr>
            <p:cNvPr id="100378" name="Text Box 22"/>
            <p:cNvSpPr txBox="1">
              <a:spLocks noChangeArrowheads="1"/>
            </p:cNvSpPr>
            <p:nvPr/>
          </p:nvSpPr>
          <p:spPr bwMode="auto">
            <a:xfrm>
              <a:off x="2743200" y="5148264"/>
              <a:ext cx="918594" cy="450843"/>
            </a:xfrm>
            <a:prstGeom prst="rect">
              <a:avLst/>
            </a:prstGeom>
            <a:noFill/>
            <a:ln w="9525">
              <a:noFill/>
              <a:miter lim="800000"/>
            </a:ln>
          </p:spPr>
          <p:txBody>
            <a:bodyPr wrap="square">
              <a:spAutoFit/>
            </a:bodyPr>
            <a:lstStyle/>
            <a:p>
              <a:pPr>
                <a:spcBef>
                  <a:spcPct val="50000"/>
                </a:spcBef>
              </a:pPr>
              <a:r>
                <a:rPr kumimoji="1" lang="en-US" altLang="zh-CN" b="1" dirty="0">
                  <a:solidFill>
                    <a:srgbClr val="000000"/>
                  </a:solidFill>
                  <a:latin typeface="Times New Roman" panose="02020603050405020304" pitchFamily="18" charset="0"/>
                </a:rPr>
                <a:t>GND</a:t>
              </a:r>
            </a:p>
          </p:txBody>
        </p:sp>
        <p:sp>
          <p:nvSpPr>
            <p:cNvPr id="100379" name="Text Box 23"/>
            <p:cNvSpPr txBox="1">
              <a:spLocks noChangeArrowheads="1"/>
            </p:cNvSpPr>
            <p:nvPr/>
          </p:nvSpPr>
          <p:spPr bwMode="auto">
            <a:xfrm>
              <a:off x="2152651" y="5935662"/>
              <a:ext cx="1600201" cy="396874"/>
            </a:xfrm>
            <a:prstGeom prst="rect">
              <a:avLst/>
            </a:prstGeom>
            <a:noFill/>
            <a:ln w="9525">
              <a:noFill/>
              <a:miter lim="800000"/>
            </a:ln>
          </p:spPr>
          <p:txBody>
            <a:bodyPr>
              <a:spAutoFit/>
            </a:bodyPr>
            <a:lstStyle/>
            <a:p>
              <a:pPr>
                <a:spcBef>
                  <a:spcPct val="50000"/>
                </a:spcBef>
              </a:pPr>
              <a:r>
                <a:rPr kumimoji="1" lang="zh-CN" altLang="en-US" sz="2000" b="1" dirty="0">
                  <a:solidFill>
                    <a:srgbClr val="000000"/>
                  </a:solidFill>
                  <a:latin typeface="Times New Roman" panose="02020603050405020304" pitchFamily="18" charset="0"/>
                </a:rPr>
                <a:t>上电复位</a:t>
              </a:r>
            </a:p>
          </p:txBody>
        </p:sp>
        <p:sp>
          <p:nvSpPr>
            <p:cNvPr id="26" name="Rectangle 24"/>
            <p:cNvSpPr>
              <a:spLocks noChangeArrowheads="1"/>
            </p:cNvSpPr>
            <p:nvPr/>
          </p:nvSpPr>
          <p:spPr bwMode="auto">
            <a:xfrm>
              <a:off x="6324600" y="2781301"/>
              <a:ext cx="1055688" cy="2667000"/>
            </a:xfrm>
            <a:prstGeom prst="rect">
              <a:avLst/>
            </a:prstGeom>
            <a:noFill/>
            <a:ln w="12700" cap="sq">
              <a:solidFill>
                <a:srgbClr val="000000"/>
              </a:solidFill>
              <a:miter lim="800000"/>
              <a:headEnd type="none" w="sm" len="sm"/>
              <a:tailEnd type="none" w="sm" len="sm"/>
            </a:ln>
            <a:effec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kern="0">
                <a:solidFill>
                  <a:srgbClr val="FFFFFF"/>
                </a:solidFill>
              </a:endParaRPr>
            </a:p>
          </p:txBody>
        </p:sp>
        <p:sp>
          <p:nvSpPr>
            <p:cNvPr id="27" name="Rectangle 25"/>
            <p:cNvSpPr>
              <a:spLocks noChangeArrowheads="1"/>
            </p:cNvSpPr>
            <p:nvPr/>
          </p:nvSpPr>
          <p:spPr bwMode="auto">
            <a:xfrm>
              <a:off x="5638800" y="4462463"/>
              <a:ext cx="152400" cy="533400"/>
            </a:xfrm>
            <a:prstGeom prst="rect">
              <a:avLst/>
            </a:prstGeom>
            <a:solidFill>
              <a:srgbClr val="666699"/>
            </a:solidFill>
            <a:ln w="12700" cap="sq">
              <a:solidFill>
                <a:srgbClr val="000000"/>
              </a:solidFill>
              <a:miter lim="800000"/>
              <a:headEnd type="none" w="sm" len="sm"/>
              <a:tailEnd type="none" w="sm" len="sm"/>
            </a:ln>
            <a:effec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kern="0">
                <a:solidFill>
                  <a:srgbClr val="FFFFFF"/>
                </a:solidFill>
              </a:endParaRPr>
            </a:p>
          </p:txBody>
        </p:sp>
        <p:sp>
          <p:nvSpPr>
            <p:cNvPr id="28" name="Line 26"/>
            <p:cNvSpPr>
              <a:spLocks noChangeShapeType="1"/>
            </p:cNvSpPr>
            <p:nvPr/>
          </p:nvSpPr>
          <p:spPr bwMode="auto">
            <a:xfrm>
              <a:off x="5486400" y="3700463"/>
              <a:ext cx="4572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29" name="Rectangle 27"/>
            <p:cNvSpPr>
              <a:spLocks noChangeArrowheads="1"/>
            </p:cNvSpPr>
            <p:nvPr/>
          </p:nvSpPr>
          <p:spPr bwMode="auto">
            <a:xfrm>
              <a:off x="5486400" y="3471863"/>
              <a:ext cx="457200" cy="76200"/>
            </a:xfrm>
            <a:prstGeom prst="rect">
              <a:avLst/>
            </a:prstGeom>
            <a:solidFill>
              <a:srgbClr val="666699"/>
            </a:solidFill>
            <a:ln w="12700" cap="sq">
              <a:solidFill>
                <a:srgbClr val="000000"/>
              </a:solidFill>
              <a:miter lim="800000"/>
              <a:headEnd type="none" w="sm" len="sm"/>
              <a:tailEnd type="none" w="sm" len="sm"/>
            </a:ln>
            <a:effec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kern="0">
                <a:solidFill>
                  <a:srgbClr val="FFFFFF"/>
                </a:solidFill>
              </a:endParaRPr>
            </a:p>
          </p:txBody>
        </p:sp>
        <p:sp>
          <p:nvSpPr>
            <p:cNvPr id="30" name="Line 28"/>
            <p:cNvSpPr>
              <a:spLocks noChangeShapeType="1"/>
            </p:cNvSpPr>
            <p:nvPr/>
          </p:nvSpPr>
          <p:spPr bwMode="auto">
            <a:xfrm>
              <a:off x="5715000" y="3700463"/>
              <a:ext cx="0" cy="76200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31" name="Line 29"/>
            <p:cNvSpPr>
              <a:spLocks noChangeShapeType="1"/>
            </p:cNvSpPr>
            <p:nvPr/>
          </p:nvSpPr>
          <p:spPr bwMode="auto">
            <a:xfrm>
              <a:off x="5715000" y="4995863"/>
              <a:ext cx="0" cy="60960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32" name="Line 30"/>
            <p:cNvSpPr>
              <a:spLocks noChangeShapeType="1"/>
            </p:cNvSpPr>
            <p:nvPr/>
          </p:nvSpPr>
          <p:spPr bwMode="auto">
            <a:xfrm>
              <a:off x="5715000" y="3090863"/>
              <a:ext cx="0" cy="38100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33" name="Line 31"/>
            <p:cNvSpPr>
              <a:spLocks noChangeShapeType="1"/>
            </p:cNvSpPr>
            <p:nvPr/>
          </p:nvSpPr>
          <p:spPr bwMode="auto">
            <a:xfrm>
              <a:off x="5486400" y="3090863"/>
              <a:ext cx="8382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34" name="Line 32"/>
            <p:cNvSpPr>
              <a:spLocks noChangeShapeType="1"/>
            </p:cNvSpPr>
            <p:nvPr/>
          </p:nvSpPr>
          <p:spPr bwMode="auto">
            <a:xfrm>
              <a:off x="5715000" y="4081463"/>
              <a:ext cx="6096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35" name="Line 33"/>
            <p:cNvSpPr>
              <a:spLocks noChangeShapeType="1"/>
            </p:cNvSpPr>
            <p:nvPr/>
          </p:nvSpPr>
          <p:spPr bwMode="auto">
            <a:xfrm>
              <a:off x="5715000" y="5300663"/>
              <a:ext cx="6096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36" name="Line 34"/>
            <p:cNvSpPr>
              <a:spLocks noChangeShapeType="1"/>
            </p:cNvSpPr>
            <p:nvPr/>
          </p:nvSpPr>
          <p:spPr bwMode="auto">
            <a:xfrm>
              <a:off x="5505450" y="5586413"/>
              <a:ext cx="3810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37" name="Line 35"/>
            <p:cNvSpPr>
              <a:spLocks noChangeShapeType="1"/>
            </p:cNvSpPr>
            <p:nvPr/>
          </p:nvSpPr>
          <p:spPr bwMode="auto">
            <a:xfrm>
              <a:off x="5562600" y="5681663"/>
              <a:ext cx="2286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38" name="Line 36"/>
            <p:cNvSpPr>
              <a:spLocks noChangeShapeType="1"/>
            </p:cNvSpPr>
            <p:nvPr/>
          </p:nvSpPr>
          <p:spPr bwMode="auto">
            <a:xfrm>
              <a:off x="5657850" y="5776913"/>
              <a:ext cx="762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100393" name="Text Box 37"/>
            <p:cNvSpPr txBox="1">
              <a:spLocks noChangeArrowheads="1"/>
            </p:cNvSpPr>
            <p:nvPr/>
          </p:nvSpPr>
          <p:spPr bwMode="auto">
            <a:xfrm>
              <a:off x="5597523" y="3074995"/>
              <a:ext cx="879476" cy="450843"/>
            </a:xfrm>
            <a:prstGeom prst="rect">
              <a:avLst/>
            </a:prstGeom>
            <a:noFill/>
            <a:ln w="9525">
              <a:noFill/>
              <a:miter lim="800000"/>
            </a:ln>
          </p:spPr>
          <p:txBody>
            <a:bodyPr wrap="square">
              <a:spAutoFit/>
            </a:bodyPr>
            <a:lstStyle/>
            <a:p>
              <a:pPr>
                <a:spcBef>
                  <a:spcPct val="50000"/>
                </a:spcBef>
              </a:pPr>
              <a:r>
                <a:rPr kumimoji="1" lang="en-US" altLang="zh-CN" b="1" dirty="0">
                  <a:solidFill>
                    <a:srgbClr val="000000"/>
                  </a:solidFill>
                  <a:latin typeface="Times New Roman" panose="02020603050405020304" pitchFamily="18" charset="0"/>
                </a:rPr>
                <a:t>10uF</a:t>
              </a:r>
            </a:p>
          </p:txBody>
        </p:sp>
        <p:sp>
          <p:nvSpPr>
            <p:cNvPr id="100394" name="Text Box 38"/>
            <p:cNvSpPr txBox="1">
              <a:spLocks noChangeArrowheads="1"/>
            </p:cNvSpPr>
            <p:nvPr/>
          </p:nvSpPr>
          <p:spPr bwMode="auto">
            <a:xfrm>
              <a:off x="4953000" y="4581526"/>
              <a:ext cx="771526" cy="450843"/>
            </a:xfrm>
            <a:prstGeom prst="rect">
              <a:avLst/>
            </a:prstGeom>
            <a:noFill/>
            <a:ln w="9525">
              <a:noFill/>
              <a:miter lim="800000"/>
            </a:ln>
          </p:spPr>
          <p:txBody>
            <a:bodyPr wrap="square">
              <a:spAutoFit/>
            </a:bodyPr>
            <a:lstStyle/>
            <a:p>
              <a:pPr>
                <a:spcBef>
                  <a:spcPct val="50000"/>
                </a:spcBef>
              </a:pPr>
              <a:r>
                <a:rPr kumimoji="1" lang="en-US" altLang="zh-CN" b="1" dirty="0">
                  <a:solidFill>
                    <a:srgbClr val="000000"/>
                  </a:solidFill>
                  <a:latin typeface="Times New Roman" panose="02020603050405020304" pitchFamily="18" charset="0"/>
                </a:rPr>
                <a:t>10K</a:t>
              </a:r>
            </a:p>
          </p:txBody>
        </p:sp>
        <p:sp>
          <p:nvSpPr>
            <p:cNvPr id="100395" name="Text Box 39"/>
            <p:cNvSpPr txBox="1">
              <a:spLocks noChangeArrowheads="1"/>
            </p:cNvSpPr>
            <p:nvPr/>
          </p:nvSpPr>
          <p:spPr bwMode="auto">
            <a:xfrm>
              <a:off x="6362701" y="2952750"/>
              <a:ext cx="712788" cy="450843"/>
            </a:xfrm>
            <a:prstGeom prst="rect">
              <a:avLst/>
            </a:prstGeom>
            <a:noFill/>
            <a:ln w="9525">
              <a:noFill/>
              <a:miter lim="800000"/>
            </a:ln>
          </p:spPr>
          <p:txBody>
            <a:bodyPr wrap="square">
              <a:spAutoFit/>
            </a:bodyPr>
            <a:lstStyle/>
            <a:p>
              <a:pPr>
                <a:spcBef>
                  <a:spcPct val="50000"/>
                </a:spcBef>
              </a:pPr>
              <a:r>
                <a:rPr kumimoji="1" lang="en-US" altLang="zh-CN" b="1" dirty="0" err="1">
                  <a:solidFill>
                    <a:srgbClr val="000000"/>
                  </a:solidFill>
                  <a:latin typeface="Times New Roman" panose="02020603050405020304" pitchFamily="18" charset="0"/>
                </a:rPr>
                <a:t>Vcc</a:t>
              </a:r>
              <a:endParaRPr kumimoji="1" lang="en-US" altLang="zh-CN" b="1" dirty="0">
                <a:solidFill>
                  <a:srgbClr val="000000"/>
                </a:solidFill>
                <a:latin typeface="Times New Roman" panose="02020603050405020304" pitchFamily="18" charset="0"/>
              </a:endParaRPr>
            </a:p>
          </p:txBody>
        </p:sp>
        <p:sp>
          <p:nvSpPr>
            <p:cNvPr id="100396" name="Text Box 40"/>
            <p:cNvSpPr txBox="1">
              <a:spLocks noChangeArrowheads="1"/>
            </p:cNvSpPr>
            <p:nvPr/>
          </p:nvSpPr>
          <p:spPr bwMode="auto">
            <a:xfrm>
              <a:off x="6362701" y="3852863"/>
              <a:ext cx="880491" cy="450843"/>
            </a:xfrm>
            <a:prstGeom prst="rect">
              <a:avLst/>
            </a:prstGeom>
            <a:noFill/>
            <a:ln w="9525">
              <a:noFill/>
              <a:miter lim="800000"/>
            </a:ln>
          </p:spPr>
          <p:txBody>
            <a:bodyPr wrap="square">
              <a:spAutoFit/>
            </a:bodyPr>
            <a:lstStyle/>
            <a:p>
              <a:pPr>
                <a:spcBef>
                  <a:spcPct val="50000"/>
                </a:spcBef>
              </a:pPr>
              <a:r>
                <a:rPr kumimoji="1" lang="en-US" altLang="zh-CN" b="1" dirty="0">
                  <a:solidFill>
                    <a:srgbClr val="000000"/>
                  </a:solidFill>
                  <a:latin typeface="Times New Roman" panose="02020603050405020304" pitchFamily="18" charset="0"/>
                </a:rPr>
                <a:t>RST</a:t>
              </a:r>
            </a:p>
          </p:txBody>
        </p:sp>
        <p:sp>
          <p:nvSpPr>
            <p:cNvPr id="100397" name="Text Box 41"/>
            <p:cNvSpPr txBox="1">
              <a:spLocks noChangeArrowheads="1"/>
            </p:cNvSpPr>
            <p:nvPr/>
          </p:nvSpPr>
          <p:spPr bwMode="auto">
            <a:xfrm>
              <a:off x="6324600" y="5072063"/>
              <a:ext cx="918591" cy="450843"/>
            </a:xfrm>
            <a:prstGeom prst="rect">
              <a:avLst/>
            </a:prstGeom>
            <a:noFill/>
            <a:ln w="9525">
              <a:noFill/>
              <a:miter lim="800000"/>
            </a:ln>
          </p:spPr>
          <p:txBody>
            <a:bodyPr wrap="square">
              <a:spAutoFit/>
            </a:bodyPr>
            <a:lstStyle/>
            <a:p>
              <a:pPr>
                <a:spcBef>
                  <a:spcPct val="50000"/>
                </a:spcBef>
              </a:pPr>
              <a:r>
                <a:rPr kumimoji="1" lang="en-US" altLang="zh-CN" b="1" dirty="0">
                  <a:solidFill>
                    <a:srgbClr val="000000"/>
                  </a:solidFill>
                  <a:latin typeface="Times New Roman" panose="02020603050405020304" pitchFamily="18" charset="0"/>
                </a:rPr>
                <a:t>GND</a:t>
              </a:r>
            </a:p>
          </p:txBody>
        </p:sp>
        <p:sp>
          <p:nvSpPr>
            <p:cNvPr id="100398" name="Text Box 42"/>
            <p:cNvSpPr txBox="1">
              <a:spLocks noChangeArrowheads="1"/>
            </p:cNvSpPr>
            <p:nvPr/>
          </p:nvSpPr>
          <p:spPr bwMode="auto">
            <a:xfrm>
              <a:off x="4940301" y="5935664"/>
              <a:ext cx="2590799" cy="488413"/>
            </a:xfrm>
            <a:prstGeom prst="rect">
              <a:avLst/>
            </a:prstGeom>
            <a:noFill/>
            <a:ln w="9525">
              <a:noFill/>
              <a:miter lim="800000"/>
            </a:ln>
          </p:spPr>
          <p:txBody>
            <a:bodyPr wrap="square">
              <a:spAutoFit/>
            </a:bodyPr>
            <a:lstStyle/>
            <a:p>
              <a:pPr>
                <a:spcBef>
                  <a:spcPct val="50000"/>
                </a:spcBef>
              </a:pPr>
              <a:r>
                <a:rPr kumimoji="1" lang="zh-CN" altLang="en-US" sz="2000" b="1" dirty="0">
                  <a:solidFill>
                    <a:srgbClr val="000000"/>
                  </a:solidFill>
                  <a:latin typeface="Times New Roman" panose="02020603050405020304" pitchFamily="18" charset="0"/>
                </a:rPr>
                <a:t>手动</a:t>
              </a:r>
              <a:r>
                <a:rPr kumimoji="1" lang="en-US" altLang="zh-CN" sz="2000" b="1" dirty="0">
                  <a:solidFill>
                    <a:srgbClr val="000000"/>
                  </a:solidFill>
                  <a:latin typeface="Times New Roman" panose="02020603050405020304" pitchFamily="18" charset="0"/>
                </a:rPr>
                <a:t>&amp;</a:t>
              </a:r>
              <a:r>
                <a:rPr kumimoji="1" lang="zh-CN" altLang="en-US" sz="2000" b="1" dirty="0">
                  <a:solidFill>
                    <a:srgbClr val="000000"/>
                  </a:solidFill>
                  <a:latin typeface="Times New Roman" panose="02020603050405020304" pitchFamily="18" charset="0"/>
                </a:rPr>
                <a:t>上电复位</a:t>
              </a:r>
            </a:p>
          </p:txBody>
        </p:sp>
        <p:sp>
          <p:nvSpPr>
            <p:cNvPr id="45" name="Line 43"/>
            <p:cNvSpPr>
              <a:spLocks noChangeShapeType="1"/>
            </p:cNvSpPr>
            <p:nvPr/>
          </p:nvSpPr>
          <p:spPr bwMode="auto">
            <a:xfrm>
              <a:off x="5029200" y="3090863"/>
              <a:ext cx="0" cy="22860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46" name="Line 44"/>
            <p:cNvSpPr>
              <a:spLocks noChangeShapeType="1"/>
            </p:cNvSpPr>
            <p:nvPr/>
          </p:nvSpPr>
          <p:spPr bwMode="auto">
            <a:xfrm>
              <a:off x="5029200" y="3852863"/>
              <a:ext cx="0" cy="22860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47" name="Line 45"/>
            <p:cNvSpPr>
              <a:spLocks noChangeShapeType="1"/>
            </p:cNvSpPr>
            <p:nvPr/>
          </p:nvSpPr>
          <p:spPr bwMode="auto">
            <a:xfrm>
              <a:off x="5029200" y="4081463"/>
              <a:ext cx="6858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48" name="AutoShape 46"/>
            <p:cNvSpPr>
              <a:spLocks noChangeArrowheads="1"/>
            </p:cNvSpPr>
            <p:nvPr/>
          </p:nvSpPr>
          <p:spPr bwMode="auto">
            <a:xfrm>
              <a:off x="5661025" y="4046538"/>
              <a:ext cx="76200" cy="76200"/>
            </a:xfrm>
            <a:prstGeom prst="flowChartConnector">
              <a:avLst/>
            </a:prstGeom>
            <a:solidFill>
              <a:srgbClr val="3399FF"/>
            </a:solidFill>
            <a:ln w="12700" cap="sq">
              <a:solidFill>
                <a:srgbClr val="000000"/>
              </a:solidFill>
              <a:round/>
              <a:headEnd type="none" w="sm" len="sm"/>
              <a:tailEnd type="none" w="sm" len="sm"/>
            </a:ln>
            <a:effec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kern="0">
                <a:solidFill>
                  <a:srgbClr val="FFFFFF"/>
                </a:solidFill>
              </a:endParaRPr>
            </a:p>
          </p:txBody>
        </p:sp>
        <p:sp>
          <p:nvSpPr>
            <p:cNvPr id="49" name="AutoShape 47"/>
            <p:cNvSpPr>
              <a:spLocks noChangeArrowheads="1"/>
            </p:cNvSpPr>
            <p:nvPr/>
          </p:nvSpPr>
          <p:spPr bwMode="auto">
            <a:xfrm>
              <a:off x="2092325" y="5335588"/>
              <a:ext cx="76200" cy="76200"/>
            </a:xfrm>
            <a:prstGeom prst="flowChartConnector">
              <a:avLst/>
            </a:prstGeom>
            <a:solidFill>
              <a:srgbClr val="3399FF"/>
            </a:solidFill>
            <a:ln w="12700" cap="sq">
              <a:solidFill>
                <a:srgbClr val="000000"/>
              </a:solidFill>
              <a:round/>
              <a:headEnd type="none" w="sm" len="sm"/>
              <a:tailEnd type="none" w="sm" len="sm"/>
            </a:ln>
            <a:effec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kern="0">
                <a:solidFill>
                  <a:srgbClr val="FFFFFF"/>
                </a:solidFill>
              </a:endParaRPr>
            </a:p>
          </p:txBody>
        </p:sp>
        <p:sp>
          <p:nvSpPr>
            <p:cNvPr id="50" name="AutoShape 48"/>
            <p:cNvSpPr>
              <a:spLocks noChangeArrowheads="1"/>
            </p:cNvSpPr>
            <p:nvPr/>
          </p:nvSpPr>
          <p:spPr bwMode="auto">
            <a:xfrm>
              <a:off x="2092325" y="4140201"/>
              <a:ext cx="76200" cy="76200"/>
            </a:xfrm>
            <a:prstGeom prst="flowChartConnector">
              <a:avLst/>
            </a:prstGeom>
            <a:solidFill>
              <a:srgbClr val="3399FF"/>
            </a:solidFill>
            <a:ln w="12700" cap="sq">
              <a:solidFill>
                <a:srgbClr val="000000"/>
              </a:solidFill>
              <a:round/>
              <a:headEnd type="none" w="sm" len="sm"/>
              <a:tailEnd type="none" w="sm" len="sm"/>
            </a:ln>
            <a:effec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kern="0">
                <a:solidFill>
                  <a:srgbClr val="FFFFFF"/>
                </a:solidFill>
              </a:endParaRPr>
            </a:p>
          </p:txBody>
        </p:sp>
        <p:sp>
          <p:nvSpPr>
            <p:cNvPr id="51" name="AutoShape 49"/>
            <p:cNvSpPr>
              <a:spLocks noChangeArrowheads="1"/>
            </p:cNvSpPr>
            <p:nvPr/>
          </p:nvSpPr>
          <p:spPr bwMode="auto">
            <a:xfrm>
              <a:off x="2098675" y="3143251"/>
              <a:ext cx="76200" cy="76200"/>
            </a:xfrm>
            <a:prstGeom prst="flowChartConnector">
              <a:avLst/>
            </a:prstGeom>
            <a:solidFill>
              <a:srgbClr val="3399FF"/>
            </a:solidFill>
            <a:ln w="12700" cap="sq">
              <a:solidFill>
                <a:srgbClr val="000000"/>
              </a:solidFill>
              <a:round/>
              <a:headEnd type="none" w="sm" len="sm"/>
              <a:tailEnd type="none" w="sm" len="sm"/>
            </a:ln>
            <a:effec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kern="0">
                <a:solidFill>
                  <a:srgbClr val="FFFFFF"/>
                </a:solidFill>
              </a:endParaRPr>
            </a:p>
          </p:txBody>
        </p:sp>
        <p:sp>
          <p:nvSpPr>
            <p:cNvPr id="52" name="AutoShape 50"/>
            <p:cNvSpPr>
              <a:spLocks noChangeArrowheads="1"/>
            </p:cNvSpPr>
            <p:nvPr/>
          </p:nvSpPr>
          <p:spPr bwMode="auto">
            <a:xfrm>
              <a:off x="5673725" y="5259388"/>
              <a:ext cx="76200" cy="76200"/>
            </a:xfrm>
            <a:prstGeom prst="flowChartConnector">
              <a:avLst/>
            </a:prstGeom>
            <a:solidFill>
              <a:srgbClr val="3399FF"/>
            </a:solidFill>
            <a:ln w="12700" cap="sq">
              <a:solidFill>
                <a:srgbClr val="000000"/>
              </a:solidFill>
              <a:round/>
              <a:headEnd type="none" w="sm" len="sm"/>
              <a:tailEnd type="none" w="sm" len="sm"/>
            </a:ln>
            <a:effec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kern="0">
                <a:solidFill>
                  <a:srgbClr val="FFFFFF"/>
                </a:solidFill>
              </a:endParaRPr>
            </a:p>
          </p:txBody>
        </p:sp>
        <p:sp>
          <p:nvSpPr>
            <p:cNvPr id="53" name="AutoShape 51"/>
            <p:cNvSpPr>
              <a:spLocks noChangeArrowheads="1"/>
            </p:cNvSpPr>
            <p:nvPr/>
          </p:nvSpPr>
          <p:spPr bwMode="auto">
            <a:xfrm>
              <a:off x="5673725" y="3049588"/>
              <a:ext cx="76200" cy="76200"/>
            </a:xfrm>
            <a:prstGeom prst="flowChartConnector">
              <a:avLst/>
            </a:prstGeom>
            <a:solidFill>
              <a:srgbClr val="3399FF"/>
            </a:solidFill>
            <a:ln w="12700" cap="sq">
              <a:solidFill>
                <a:srgbClr val="000000"/>
              </a:solidFill>
              <a:round/>
              <a:headEnd type="none" w="sm" len="sm"/>
              <a:tailEnd type="none" w="sm" len="sm"/>
            </a:ln>
            <a:effec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kern="0">
                <a:solidFill>
                  <a:srgbClr val="FFFFFF"/>
                </a:solidFill>
              </a:endParaRPr>
            </a:p>
          </p:txBody>
        </p:sp>
        <p:sp>
          <p:nvSpPr>
            <p:cNvPr id="54" name="Line 52"/>
            <p:cNvSpPr>
              <a:spLocks noChangeShapeType="1"/>
            </p:cNvSpPr>
            <p:nvPr/>
          </p:nvSpPr>
          <p:spPr bwMode="auto">
            <a:xfrm>
              <a:off x="5029200" y="3090863"/>
              <a:ext cx="152400" cy="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55" name="Line 53"/>
            <p:cNvSpPr>
              <a:spLocks noChangeShapeType="1"/>
            </p:cNvSpPr>
            <p:nvPr/>
          </p:nvSpPr>
          <p:spPr bwMode="auto">
            <a:xfrm>
              <a:off x="5124450" y="3014663"/>
              <a:ext cx="381000" cy="0"/>
            </a:xfrm>
            <a:prstGeom prst="line">
              <a:avLst/>
            </a:prstGeom>
            <a:noFill/>
            <a:ln w="381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56" name="Line 54"/>
            <p:cNvSpPr>
              <a:spLocks noChangeShapeType="1"/>
            </p:cNvSpPr>
            <p:nvPr/>
          </p:nvSpPr>
          <p:spPr bwMode="auto">
            <a:xfrm flipV="1">
              <a:off x="5314950" y="2843213"/>
              <a:ext cx="0" cy="152400"/>
            </a:xfrm>
            <a:prstGeom prst="line">
              <a:avLst/>
            </a:prstGeom>
            <a:noFill/>
            <a:ln w="762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100411" name="Text Box 55"/>
            <p:cNvSpPr txBox="1">
              <a:spLocks noChangeArrowheads="1"/>
            </p:cNvSpPr>
            <p:nvPr/>
          </p:nvSpPr>
          <p:spPr bwMode="auto">
            <a:xfrm>
              <a:off x="4313237" y="3429000"/>
              <a:ext cx="627064" cy="450843"/>
            </a:xfrm>
            <a:prstGeom prst="rect">
              <a:avLst/>
            </a:prstGeom>
            <a:noFill/>
            <a:ln w="9525">
              <a:noFill/>
              <a:miter lim="800000"/>
            </a:ln>
          </p:spPr>
          <p:txBody>
            <a:bodyPr wrap="square">
              <a:spAutoFit/>
            </a:bodyPr>
            <a:lstStyle/>
            <a:p>
              <a:pPr>
                <a:spcBef>
                  <a:spcPct val="50000"/>
                </a:spcBef>
              </a:pPr>
              <a:r>
                <a:rPr kumimoji="1" lang="en-US" altLang="zh-CN" b="1" dirty="0">
                  <a:solidFill>
                    <a:srgbClr val="000000"/>
                  </a:solidFill>
                  <a:latin typeface="Times New Roman" panose="02020603050405020304" pitchFamily="18" charset="0"/>
                </a:rPr>
                <a:t>1K</a:t>
              </a:r>
            </a:p>
          </p:txBody>
        </p:sp>
        <p:sp>
          <p:nvSpPr>
            <p:cNvPr id="58" name="Line 56"/>
            <p:cNvSpPr>
              <a:spLocks noChangeShapeType="1"/>
            </p:cNvSpPr>
            <p:nvPr/>
          </p:nvSpPr>
          <p:spPr bwMode="auto">
            <a:xfrm flipV="1">
              <a:off x="2133600" y="2786063"/>
              <a:ext cx="0" cy="38100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59" name="Line 57"/>
            <p:cNvSpPr>
              <a:spLocks noChangeShapeType="1"/>
            </p:cNvSpPr>
            <p:nvPr/>
          </p:nvSpPr>
          <p:spPr bwMode="auto">
            <a:xfrm flipV="1">
              <a:off x="5715000" y="2709863"/>
              <a:ext cx="0" cy="381000"/>
            </a:xfrm>
            <a:prstGeom prst="line">
              <a:avLst/>
            </a:prstGeom>
            <a:noFill/>
            <a:ln w="12700" cap="sq">
              <a:solidFill>
                <a:srgbClr val="000000"/>
              </a:solidFill>
              <a:round/>
              <a:headEnd type="none" w="sm" len="sm"/>
              <a:tailEnd type="none" w="sm" len="sm"/>
            </a:ln>
            <a:effectLst/>
          </p:spPr>
          <p:txBody>
            <a:bodyPr wrap="none"/>
            <a:lstStyle/>
            <a:p>
              <a:pPr>
                <a:defRPr/>
              </a:pPr>
              <a:endParaRPr lang="zh-CN" altLang="en-US" b="1" kern="0">
                <a:solidFill>
                  <a:srgbClr val="FFFFFF"/>
                </a:solidFill>
                <a:latin typeface="Arial" panose="020B0604020202020204" pitchFamily="34" charset="0"/>
                <a:ea typeface="+mn-ea"/>
              </a:endParaRPr>
            </a:p>
          </p:txBody>
        </p:sp>
        <p:sp>
          <p:nvSpPr>
            <p:cNvPr id="60" name="Rectangle 58"/>
            <p:cNvSpPr>
              <a:spLocks noChangeArrowheads="1"/>
            </p:cNvSpPr>
            <p:nvPr/>
          </p:nvSpPr>
          <p:spPr bwMode="auto">
            <a:xfrm>
              <a:off x="4953000" y="3319463"/>
              <a:ext cx="152400" cy="533400"/>
            </a:xfrm>
            <a:prstGeom prst="rect">
              <a:avLst/>
            </a:prstGeom>
            <a:solidFill>
              <a:srgbClr val="666699"/>
            </a:solidFill>
            <a:ln w="12700" cap="sq">
              <a:solidFill>
                <a:srgbClr val="000000"/>
              </a:solidFill>
              <a:miter lim="800000"/>
              <a:headEnd type="none" w="sm" len="sm"/>
              <a:tailEnd type="none" w="sm" len="sm"/>
            </a:ln>
            <a:effec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kern="0">
                <a:solidFill>
                  <a:srgbClr val="FFFFFF"/>
                </a:solidFill>
              </a:endParaRPr>
            </a:p>
          </p:txBody>
        </p:sp>
        <p:sp>
          <p:nvSpPr>
            <p:cNvPr id="100415" name="Text Box 60"/>
            <p:cNvSpPr txBox="1">
              <a:spLocks noChangeArrowheads="1"/>
            </p:cNvSpPr>
            <p:nvPr/>
          </p:nvSpPr>
          <p:spPr bwMode="auto">
            <a:xfrm>
              <a:off x="5372101" y="2354269"/>
              <a:ext cx="757087" cy="450843"/>
            </a:xfrm>
            <a:prstGeom prst="rect">
              <a:avLst/>
            </a:prstGeom>
            <a:noFill/>
            <a:ln w="9525">
              <a:noFill/>
              <a:miter lim="800000"/>
            </a:ln>
          </p:spPr>
          <p:txBody>
            <a:bodyPr wrap="square">
              <a:spAutoFit/>
            </a:bodyPr>
            <a:lstStyle/>
            <a:p>
              <a:pPr>
                <a:spcBef>
                  <a:spcPct val="50000"/>
                </a:spcBef>
              </a:pPr>
              <a:r>
                <a:rPr kumimoji="1" lang="en-US" altLang="zh-CN" b="1" dirty="0">
                  <a:solidFill>
                    <a:srgbClr val="000000"/>
                  </a:solidFill>
                  <a:latin typeface="Times New Roman" panose="02020603050405020304" pitchFamily="18" charset="0"/>
                </a:rPr>
                <a:t>+5V</a:t>
              </a:r>
            </a:p>
          </p:txBody>
        </p:sp>
      </p:grpSp>
      <p:sp>
        <p:nvSpPr>
          <p:cNvPr id="100356" name="矩形 61"/>
          <p:cNvSpPr>
            <a:spLocks noChangeArrowheads="1"/>
          </p:cNvSpPr>
          <p:nvPr/>
        </p:nvSpPr>
        <p:spPr bwMode="auto">
          <a:xfrm>
            <a:off x="4203905" y="5512713"/>
            <a:ext cx="1312863" cy="430213"/>
          </a:xfrm>
          <a:prstGeom prst="rect">
            <a:avLst/>
          </a:prstGeom>
          <a:noFill/>
          <a:ln w="9525">
            <a:noFill/>
            <a:miter lim="800000"/>
          </a:ln>
        </p:spPr>
        <p:txBody>
          <a:bodyPr wrap="none">
            <a:spAutoFit/>
          </a:bodyPr>
          <a:lstStyle/>
          <a:p>
            <a:pPr algn="ctr"/>
            <a:r>
              <a:rPr lang="zh-CN" altLang="en-US" sz="2200" dirty="0">
                <a:latin typeface="微软雅黑" panose="020B0503020204020204" pitchFamily="34" charset="-122"/>
                <a:ea typeface="微软雅黑" panose="020B0503020204020204" pitchFamily="34" charset="-122"/>
              </a:rPr>
              <a:t>复位电路</a:t>
            </a:r>
          </a:p>
        </p:txBody>
      </p:sp>
      <p:pic>
        <p:nvPicPr>
          <p:cNvPr id="100357" name="图片 62"/>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00358" name="图片 63"/>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pic>
        <p:nvPicPr>
          <p:cNvPr id="2" name="图片 1"/>
          <p:cNvPicPr>
            <a:picLocks noChangeAspect="1"/>
          </p:cNvPicPr>
          <p:nvPr/>
        </p:nvPicPr>
        <p:blipFill>
          <a:blip r:embed="rId5"/>
          <a:stretch>
            <a:fillRect/>
          </a:stretch>
        </p:blipFill>
        <p:spPr>
          <a:xfrm>
            <a:off x="5954202" y="2295721"/>
            <a:ext cx="3005693" cy="2193262"/>
          </a:xfrm>
          <a:prstGeom prst="rect">
            <a:avLst/>
          </a:prstGeom>
        </p:spPr>
      </p:pic>
      <p:sp>
        <p:nvSpPr>
          <p:cNvPr id="3" name="矩形标注 2"/>
          <p:cNvSpPr/>
          <p:nvPr/>
        </p:nvSpPr>
        <p:spPr>
          <a:xfrm>
            <a:off x="7131050" y="1838632"/>
            <a:ext cx="1609827" cy="605986"/>
          </a:xfrm>
          <a:prstGeom prst="wedgeRectCallout">
            <a:avLst>
              <a:gd name="adj1" fmla="val 5430"/>
              <a:gd name="adj2" fmla="val 89713"/>
            </a:avLst>
          </a:prstGeom>
        </p:spPr>
        <p:style>
          <a:lnRef idx="0">
            <a:schemeClr val="accent5"/>
          </a:lnRef>
          <a:fillRef idx="3">
            <a:schemeClr val="accent5"/>
          </a:fillRef>
          <a:effectRef idx="3">
            <a:schemeClr val="accent5"/>
          </a:effectRef>
          <a:fontRef idx="minor">
            <a:schemeClr val="lt1"/>
          </a:fontRef>
        </p:style>
        <p:txBody>
          <a:bodyPr rtlCol="0" anchor="ctr"/>
          <a:lstStyle/>
          <a:p>
            <a:pPr algn="just"/>
            <a:r>
              <a:rPr lang="zh-CN" altLang="en-US" dirty="0">
                <a:latin typeface="微软雅黑" panose="020B0503020204020204" pitchFamily="34" charset="-122"/>
                <a:ea typeface="微软雅黑" panose="020B0503020204020204" pitchFamily="34" charset="-122"/>
              </a:rPr>
              <a:t>上电复位：电容两端电压</a:t>
            </a:r>
          </a:p>
        </p:txBody>
      </p:sp>
      <p:sp>
        <p:nvSpPr>
          <p:cNvPr id="67" name="矩形标注 66"/>
          <p:cNvSpPr/>
          <p:nvPr/>
        </p:nvSpPr>
        <p:spPr>
          <a:xfrm>
            <a:off x="6937880" y="4360498"/>
            <a:ext cx="1609827" cy="585574"/>
          </a:xfrm>
          <a:prstGeom prst="wedgeRectCallout">
            <a:avLst>
              <a:gd name="adj1" fmla="val 28028"/>
              <a:gd name="adj2" fmla="val -111841"/>
            </a:avLst>
          </a:prstGeom>
        </p:spPr>
        <p:style>
          <a:lnRef idx="0">
            <a:schemeClr val="accent5"/>
          </a:lnRef>
          <a:fillRef idx="3">
            <a:schemeClr val="accent5"/>
          </a:fillRef>
          <a:effectRef idx="3">
            <a:schemeClr val="accent5"/>
          </a:effectRef>
          <a:fontRef idx="minor">
            <a:schemeClr val="lt1"/>
          </a:fontRef>
        </p:style>
        <p:txBody>
          <a:bodyPr rtlCol="0" anchor="ctr"/>
          <a:lstStyle/>
          <a:p>
            <a:pPr algn="just"/>
            <a:r>
              <a:rPr lang="zh-CN" altLang="en-US" dirty="0">
                <a:latin typeface="微软雅黑" panose="020B0503020204020204" pitchFamily="34" charset="-122"/>
                <a:ea typeface="微软雅黑" panose="020B0503020204020204" pitchFamily="34" charset="-122"/>
              </a:rPr>
              <a:t>上电复位：电阻两端电压</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文本框 1"/>
          <p:cNvSpPr txBox="1">
            <a:spLocks noChangeArrowheads="1"/>
          </p:cNvSpPr>
          <p:nvPr/>
        </p:nvSpPr>
        <p:spPr bwMode="auto">
          <a:xfrm>
            <a:off x="257175" y="736600"/>
            <a:ext cx="8636000" cy="581025"/>
          </a:xfrm>
          <a:prstGeom prst="rect">
            <a:avLst/>
          </a:prstGeom>
          <a:noFill/>
          <a:ln w="9525">
            <a:noFill/>
            <a:miter lim="800000"/>
          </a:ln>
        </p:spPr>
        <p:txBody>
          <a:bodyPr>
            <a:spAutoFit/>
          </a:bodyPr>
          <a:lstStyle/>
          <a:p>
            <a:pPr algn="just">
              <a:lnSpc>
                <a:spcPct val="150000"/>
              </a:lnSpc>
            </a:pPr>
            <a:r>
              <a:rPr lang="en-US" altLang="zh-CN" sz="2400" b="1">
                <a:solidFill>
                  <a:srgbClr val="000000"/>
                </a:solidFill>
                <a:latin typeface="微软雅黑" panose="020B0503020204020204" pitchFamily="34" charset="-122"/>
                <a:ea typeface="微软雅黑" panose="020B0503020204020204" pitchFamily="34" charset="-122"/>
              </a:rPr>
              <a:t>2.3.1 </a:t>
            </a:r>
            <a:r>
              <a:rPr lang="zh-CN" altLang="en-US" sz="2400" b="1">
                <a:solidFill>
                  <a:srgbClr val="000000"/>
                </a:solidFill>
                <a:latin typeface="微软雅黑" panose="020B0503020204020204" pitchFamily="34" charset="-122"/>
                <a:ea typeface="微软雅黑" panose="020B0503020204020204" pitchFamily="34" charset="-122"/>
              </a:rPr>
              <a:t>复位方式</a:t>
            </a:r>
            <a:endParaRPr lang="en-US" altLang="zh-CN" sz="2400">
              <a:solidFill>
                <a:srgbClr val="000000"/>
              </a:solidFill>
              <a:latin typeface="微软雅黑" panose="020B0503020204020204" pitchFamily="34" charset="-122"/>
              <a:ea typeface="微软雅黑" panose="020B0503020204020204" pitchFamily="34" charset="-122"/>
            </a:endParaRPr>
          </a:p>
        </p:txBody>
      </p:sp>
      <p:sp>
        <p:nvSpPr>
          <p:cNvPr id="102402"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2.3 MCS-51</a:t>
            </a:r>
            <a:r>
              <a:rPr lang="zh-CN" altLang="en-US" sz="2800">
                <a:solidFill>
                  <a:srgbClr val="000000"/>
                </a:solidFill>
                <a:latin typeface="微软雅黑" panose="020B0503020204020204" pitchFamily="34" charset="-122"/>
                <a:ea typeface="微软雅黑" panose="020B0503020204020204" pitchFamily="34" charset="-122"/>
              </a:rPr>
              <a:t>的工作方式</a:t>
            </a:r>
          </a:p>
        </p:txBody>
      </p:sp>
      <p:grpSp>
        <p:nvGrpSpPr>
          <p:cNvPr id="2" name="组合 1"/>
          <p:cNvGrpSpPr/>
          <p:nvPr/>
        </p:nvGrpSpPr>
        <p:grpSpPr>
          <a:xfrm>
            <a:off x="777875" y="1949450"/>
            <a:ext cx="7643813" cy="4586728"/>
            <a:chOff x="777875" y="1949450"/>
            <a:chExt cx="7643813" cy="4586728"/>
          </a:xfrm>
        </p:grpSpPr>
        <p:sp>
          <p:nvSpPr>
            <p:cNvPr id="69" name="Rectangle 5"/>
            <p:cNvSpPr>
              <a:spLocks noChangeArrowheads="1"/>
            </p:cNvSpPr>
            <p:nvPr/>
          </p:nvSpPr>
          <p:spPr bwMode="auto">
            <a:xfrm>
              <a:off x="6176963" y="6123888"/>
              <a:ext cx="2244725"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endParaRPr lang="zh-CN" altLang="zh-CN" sz="2400" b="0" kern="0">
                <a:solidFill>
                  <a:srgbClr val="000000"/>
                </a:solidFill>
                <a:latin typeface="微软雅黑" panose="020B0503020204020204" pitchFamily="34" charset="-122"/>
                <a:ea typeface="微软雅黑" panose="020B0503020204020204" pitchFamily="34" charset="-122"/>
              </a:endParaRPr>
            </a:p>
          </p:txBody>
        </p:sp>
        <p:sp>
          <p:nvSpPr>
            <p:cNvPr id="70" name="Rectangle 6"/>
            <p:cNvSpPr>
              <a:spLocks noChangeArrowheads="1"/>
            </p:cNvSpPr>
            <p:nvPr/>
          </p:nvSpPr>
          <p:spPr bwMode="auto">
            <a:xfrm>
              <a:off x="4600575" y="6123888"/>
              <a:ext cx="1576388"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endParaRPr lang="zh-CN" altLang="zh-CN" sz="2400" b="0" kern="0">
                <a:solidFill>
                  <a:srgbClr val="000000"/>
                </a:solidFill>
                <a:latin typeface="微软雅黑" panose="020B0503020204020204" pitchFamily="34" charset="-122"/>
                <a:ea typeface="微软雅黑" panose="020B0503020204020204" pitchFamily="34" charset="-122"/>
              </a:endParaRPr>
            </a:p>
          </p:txBody>
        </p:sp>
        <p:sp>
          <p:nvSpPr>
            <p:cNvPr id="71" name="Rectangle 7"/>
            <p:cNvSpPr>
              <a:spLocks noChangeArrowheads="1"/>
            </p:cNvSpPr>
            <p:nvPr/>
          </p:nvSpPr>
          <p:spPr bwMode="auto">
            <a:xfrm>
              <a:off x="2251075" y="6123888"/>
              <a:ext cx="23495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72" name="Rectangle 8"/>
            <p:cNvSpPr>
              <a:spLocks noChangeArrowheads="1"/>
            </p:cNvSpPr>
            <p:nvPr/>
          </p:nvSpPr>
          <p:spPr bwMode="auto">
            <a:xfrm>
              <a:off x="777875" y="6123888"/>
              <a:ext cx="14732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TMOD</a:t>
              </a:r>
            </a:p>
          </p:txBody>
        </p:sp>
        <p:sp>
          <p:nvSpPr>
            <p:cNvPr id="73" name="Rectangle 9"/>
            <p:cNvSpPr>
              <a:spLocks noChangeArrowheads="1"/>
            </p:cNvSpPr>
            <p:nvPr/>
          </p:nvSpPr>
          <p:spPr bwMode="auto">
            <a:xfrm>
              <a:off x="6176963" y="5714461"/>
              <a:ext cx="2244725"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0XXX0000B</a:t>
              </a:r>
            </a:p>
          </p:txBody>
        </p:sp>
        <p:sp>
          <p:nvSpPr>
            <p:cNvPr id="74" name="Rectangle 10"/>
            <p:cNvSpPr>
              <a:spLocks noChangeArrowheads="1"/>
            </p:cNvSpPr>
            <p:nvPr/>
          </p:nvSpPr>
          <p:spPr bwMode="auto">
            <a:xfrm>
              <a:off x="4600575" y="5714461"/>
              <a:ext cx="1576388"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PCON</a:t>
              </a:r>
            </a:p>
          </p:txBody>
        </p:sp>
        <p:sp>
          <p:nvSpPr>
            <p:cNvPr id="75" name="Rectangle 11"/>
            <p:cNvSpPr>
              <a:spLocks noChangeArrowheads="1"/>
            </p:cNvSpPr>
            <p:nvPr/>
          </p:nvSpPr>
          <p:spPr bwMode="auto">
            <a:xfrm>
              <a:off x="2251075" y="5714461"/>
              <a:ext cx="2349500"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0X000000B</a:t>
              </a:r>
            </a:p>
          </p:txBody>
        </p:sp>
        <p:sp>
          <p:nvSpPr>
            <p:cNvPr id="76" name="Rectangle 12"/>
            <p:cNvSpPr>
              <a:spLocks noChangeArrowheads="1"/>
            </p:cNvSpPr>
            <p:nvPr/>
          </p:nvSpPr>
          <p:spPr bwMode="auto">
            <a:xfrm>
              <a:off x="777875" y="5714461"/>
              <a:ext cx="1473200"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IE</a:t>
              </a:r>
            </a:p>
          </p:txBody>
        </p:sp>
        <p:sp>
          <p:nvSpPr>
            <p:cNvPr id="77" name="Rectangle 13"/>
            <p:cNvSpPr>
              <a:spLocks noChangeArrowheads="1"/>
            </p:cNvSpPr>
            <p:nvPr/>
          </p:nvSpPr>
          <p:spPr bwMode="auto">
            <a:xfrm>
              <a:off x="6176963" y="5303602"/>
              <a:ext cx="2244725"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XXH</a:t>
              </a:r>
            </a:p>
          </p:txBody>
        </p:sp>
        <p:sp>
          <p:nvSpPr>
            <p:cNvPr id="78" name="Rectangle 14"/>
            <p:cNvSpPr>
              <a:spLocks noChangeArrowheads="1"/>
            </p:cNvSpPr>
            <p:nvPr/>
          </p:nvSpPr>
          <p:spPr bwMode="auto">
            <a:xfrm>
              <a:off x="4600575" y="5303602"/>
              <a:ext cx="1576388"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SBUF</a:t>
              </a:r>
            </a:p>
          </p:txBody>
        </p:sp>
        <p:sp>
          <p:nvSpPr>
            <p:cNvPr id="79" name="Rectangle 15"/>
            <p:cNvSpPr>
              <a:spLocks noChangeArrowheads="1"/>
            </p:cNvSpPr>
            <p:nvPr/>
          </p:nvSpPr>
          <p:spPr bwMode="auto">
            <a:xfrm>
              <a:off x="2251075" y="5303602"/>
              <a:ext cx="23495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XX000000B</a:t>
              </a:r>
            </a:p>
          </p:txBody>
        </p:sp>
        <p:sp>
          <p:nvSpPr>
            <p:cNvPr id="80" name="Rectangle 16"/>
            <p:cNvSpPr>
              <a:spLocks noChangeArrowheads="1"/>
            </p:cNvSpPr>
            <p:nvPr/>
          </p:nvSpPr>
          <p:spPr bwMode="auto">
            <a:xfrm>
              <a:off x="777875" y="5303602"/>
              <a:ext cx="14732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IP</a:t>
              </a:r>
            </a:p>
          </p:txBody>
        </p:sp>
        <p:sp>
          <p:nvSpPr>
            <p:cNvPr id="81" name="Rectangle 17"/>
            <p:cNvSpPr>
              <a:spLocks noChangeArrowheads="1"/>
            </p:cNvSpPr>
            <p:nvPr/>
          </p:nvSpPr>
          <p:spPr bwMode="auto">
            <a:xfrm>
              <a:off x="6176963" y="4892743"/>
              <a:ext cx="2244725"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82" name="Rectangle 18"/>
            <p:cNvSpPr>
              <a:spLocks noChangeArrowheads="1"/>
            </p:cNvSpPr>
            <p:nvPr/>
          </p:nvSpPr>
          <p:spPr bwMode="auto">
            <a:xfrm>
              <a:off x="4600575" y="4892743"/>
              <a:ext cx="1576388"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SCON</a:t>
              </a:r>
            </a:p>
          </p:txBody>
        </p:sp>
        <p:sp>
          <p:nvSpPr>
            <p:cNvPr id="83" name="Rectangle 19"/>
            <p:cNvSpPr>
              <a:spLocks noChangeArrowheads="1"/>
            </p:cNvSpPr>
            <p:nvPr/>
          </p:nvSpPr>
          <p:spPr bwMode="auto">
            <a:xfrm>
              <a:off x="2251075" y="4892743"/>
              <a:ext cx="23495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FF0000"/>
                  </a:solidFill>
                  <a:latin typeface="微软雅黑" panose="020B0503020204020204" pitchFamily="34" charset="-122"/>
                  <a:ea typeface="微软雅黑" panose="020B0503020204020204" pitchFamily="34" charset="-122"/>
                </a:rPr>
                <a:t>FFH</a:t>
              </a:r>
            </a:p>
          </p:txBody>
        </p:sp>
        <p:sp>
          <p:nvSpPr>
            <p:cNvPr id="84" name="Rectangle 20"/>
            <p:cNvSpPr>
              <a:spLocks noChangeArrowheads="1"/>
            </p:cNvSpPr>
            <p:nvPr/>
          </p:nvSpPr>
          <p:spPr bwMode="auto">
            <a:xfrm>
              <a:off x="777875" y="4892743"/>
              <a:ext cx="14732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P0~P3</a:t>
              </a:r>
            </a:p>
          </p:txBody>
        </p:sp>
        <p:sp>
          <p:nvSpPr>
            <p:cNvPr id="85" name="Rectangle 21"/>
            <p:cNvSpPr>
              <a:spLocks noChangeArrowheads="1"/>
            </p:cNvSpPr>
            <p:nvPr/>
          </p:nvSpPr>
          <p:spPr bwMode="auto">
            <a:xfrm>
              <a:off x="6176963" y="4481885"/>
              <a:ext cx="2244725"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86" name="Rectangle 22"/>
            <p:cNvSpPr>
              <a:spLocks noChangeArrowheads="1"/>
            </p:cNvSpPr>
            <p:nvPr/>
          </p:nvSpPr>
          <p:spPr bwMode="auto">
            <a:xfrm>
              <a:off x="4600575" y="4481885"/>
              <a:ext cx="1576388"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TL1</a:t>
              </a:r>
            </a:p>
          </p:txBody>
        </p:sp>
        <p:sp>
          <p:nvSpPr>
            <p:cNvPr id="87" name="Rectangle 23"/>
            <p:cNvSpPr>
              <a:spLocks noChangeArrowheads="1"/>
            </p:cNvSpPr>
            <p:nvPr/>
          </p:nvSpPr>
          <p:spPr bwMode="auto">
            <a:xfrm>
              <a:off x="2251075" y="4481885"/>
              <a:ext cx="23495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0000H</a:t>
              </a:r>
            </a:p>
          </p:txBody>
        </p:sp>
        <p:sp>
          <p:nvSpPr>
            <p:cNvPr id="88" name="Rectangle 24"/>
            <p:cNvSpPr>
              <a:spLocks noChangeArrowheads="1"/>
            </p:cNvSpPr>
            <p:nvPr/>
          </p:nvSpPr>
          <p:spPr bwMode="auto">
            <a:xfrm>
              <a:off x="777875" y="4481885"/>
              <a:ext cx="14732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DPTR</a:t>
              </a:r>
            </a:p>
          </p:txBody>
        </p:sp>
        <p:sp>
          <p:nvSpPr>
            <p:cNvPr id="89" name="Rectangle 25"/>
            <p:cNvSpPr>
              <a:spLocks noChangeArrowheads="1"/>
            </p:cNvSpPr>
            <p:nvPr/>
          </p:nvSpPr>
          <p:spPr bwMode="auto">
            <a:xfrm>
              <a:off x="6176963" y="4071026"/>
              <a:ext cx="2244725"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90" name="Rectangle 26"/>
            <p:cNvSpPr>
              <a:spLocks noChangeArrowheads="1"/>
            </p:cNvSpPr>
            <p:nvPr/>
          </p:nvSpPr>
          <p:spPr bwMode="auto">
            <a:xfrm>
              <a:off x="4600575" y="4071026"/>
              <a:ext cx="1576388"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TH1</a:t>
              </a:r>
            </a:p>
          </p:txBody>
        </p:sp>
        <p:sp>
          <p:nvSpPr>
            <p:cNvPr id="91" name="Rectangle 27"/>
            <p:cNvSpPr>
              <a:spLocks noChangeArrowheads="1"/>
            </p:cNvSpPr>
            <p:nvPr/>
          </p:nvSpPr>
          <p:spPr bwMode="auto">
            <a:xfrm>
              <a:off x="2251075" y="4071026"/>
              <a:ext cx="23495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FF0000"/>
                  </a:solidFill>
                  <a:latin typeface="微软雅黑" panose="020B0503020204020204" pitchFamily="34" charset="-122"/>
                  <a:ea typeface="微软雅黑" panose="020B0503020204020204" pitchFamily="34" charset="-122"/>
                </a:rPr>
                <a:t>07H</a:t>
              </a:r>
            </a:p>
          </p:txBody>
        </p:sp>
        <p:sp>
          <p:nvSpPr>
            <p:cNvPr id="92" name="Rectangle 28"/>
            <p:cNvSpPr>
              <a:spLocks noChangeArrowheads="1"/>
            </p:cNvSpPr>
            <p:nvPr/>
          </p:nvSpPr>
          <p:spPr bwMode="auto">
            <a:xfrm>
              <a:off x="777875" y="4071026"/>
              <a:ext cx="14732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SP</a:t>
              </a:r>
            </a:p>
          </p:txBody>
        </p:sp>
        <p:sp>
          <p:nvSpPr>
            <p:cNvPr id="93" name="Rectangle 29"/>
            <p:cNvSpPr>
              <a:spLocks noChangeArrowheads="1"/>
            </p:cNvSpPr>
            <p:nvPr/>
          </p:nvSpPr>
          <p:spPr bwMode="auto">
            <a:xfrm>
              <a:off x="6176963" y="3660168"/>
              <a:ext cx="2244725"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94" name="Rectangle 30"/>
            <p:cNvSpPr>
              <a:spLocks noChangeArrowheads="1"/>
            </p:cNvSpPr>
            <p:nvPr/>
          </p:nvSpPr>
          <p:spPr bwMode="auto">
            <a:xfrm>
              <a:off x="4600575" y="3660168"/>
              <a:ext cx="1576388"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TL0</a:t>
              </a:r>
            </a:p>
          </p:txBody>
        </p:sp>
        <p:sp>
          <p:nvSpPr>
            <p:cNvPr id="95" name="Rectangle 31"/>
            <p:cNvSpPr>
              <a:spLocks noChangeArrowheads="1"/>
            </p:cNvSpPr>
            <p:nvPr/>
          </p:nvSpPr>
          <p:spPr bwMode="auto">
            <a:xfrm>
              <a:off x="2251075" y="3660168"/>
              <a:ext cx="2349500"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96" name="Rectangle 32"/>
            <p:cNvSpPr>
              <a:spLocks noChangeArrowheads="1"/>
            </p:cNvSpPr>
            <p:nvPr/>
          </p:nvSpPr>
          <p:spPr bwMode="auto">
            <a:xfrm>
              <a:off x="777875" y="3660168"/>
              <a:ext cx="1473200"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PSW</a:t>
              </a:r>
            </a:p>
          </p:txBody>
        </p:sp>
        <p:sp>
          <p:nvSpPr>
            <p:cNvPr id="97" name="Rectangle 33"/>
            <p:cNvSpPr>
              <a:spLocks noChangeArrowheads="1"/>
            </p:cNvSpPr>
            <p:nvPr/>
          </p:nvSpPr>
          <p:spPr bwMode="auto">
            <a:xfrm>
              <a:off x="6176963" y="3182026"/>
              <a:ext cx="2244725" cy="479574"/>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98" name="Rectangle 34"/>
            <p:cNvSpPr>
              <a:spLocks noChangeArrowheads="1"/>
            </p:cNvSpPr>
            <p:nvPr/>
          </p:nvSpPr>
          <p:spPr bwMode="auto">
            <a:xfrm>
              <a:off x="4600575" y="3182026"/>
              <a:ext cx="1576388" cy="479574"/>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dirty="0">
                  <a:solidFill>
                    <a:srgbClr val="000000"/>
                  </a:solidFill>
                  <a:latin typeface="微软雅黑" panose="020B0503020204020204" pitchFamily="34" charset="-122"/>
                  <a:ea typeface="微软雅黑" panose="020B0503020204020204" pitchFamily="34" charset="-122"/>
                </a:rPr>
                <a:t>TH0</a:t>
              </a:r>
            </a:p>
          </p:txBody>
        </p:sp>
        <p:sp>
          <p:nvSpPr>
            <p:cNvPr id="99" name="Rectangle 35"/>
            <p:cNvSpPr>
              <a:spLocks noChangeArrowheads="1"/>
            </p:cNvSpPr>
            <p:nvPr/>
          </p:nvSpPr>
          <p:spPr bwMode="auto">
            <a:xfrm>
              <a:off x="2251075" y="3182026"/>
              <a:ext cx="2349500" cy="479574"/>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100" name="Rectangle 36"/>
            <p:cNvSpPr>
              <a:spLocks noChangeArrowheads="1"/>
            </p:cNvSpPr>
            <p:nvPr/>
          </p:nvSpPr>
          <p:spPr bwMode="auto">
            <a:xfrm>
              <a:off x="777875" y="3182026"/>
              <a:ext cx="1473200" cy="479574"/>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B</a:t>
              </a:r>
            </a:p>
          </p:txBody>
        </p:sp>
        <p:sp>
          <p:nvSpPr>
            <p:cNvPr id="101" name="Rectangle 37"/>
            <p:cNvSpPr>
              <a:spLocks noChangeArrowheads="1"/>
            </p:cNvSpPr>
            <p:nvPr/>
          </p:nvSpPr>
          <p:spPr bwMode="auto">
            <a:xfrm>
              <a:off x="6176963" y="2771167"/>
              <a:ext cx="2244725"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dirty="0">
                  <a:solidFill>
                    <a:srgbClr val="000000"/>
                  </a:solidFill>
                  <a:latin typeface="微软雅黑" panose="020B0503020204020204" pitchFamily="34" charset="-122"/>
                  <a:ea typeface="微软雅黑" panose="020B0503020204020204" pitchFamily="34" charset="-122"/>
                </a:rPr>
                <a:t>00H</a:t>
              </a:r>
            </a:p>
          </p:txBody>
        </p:sp>
        <p:sp>
          <p:nvSpPr>
            <p:cNvPr id="102" name="Rectangle 38"/>
            <p:cNvSpPr>
              <a:spLocks noChangeArrowheads="1"/>
            </p:cNvSpPr>
            <p:nvPr/>
          </p:nvSpPr>
          <p:spPr bwMode="auto">
            <a:xfrm>
              <a:off x="4600575" y="2771167"/>
              <a:ext cx="1576388"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T2CON</a:t>
              </a:r>
            </a:p>
          </p:txBody>
        </p:sp>
        <p:sp>
          <p:nvSpPr>
            <p:cNvPr id="103" name="Rectangle 39"/>
            <p:cNvSpPr>
              <a:spLocks noChangeArrowheads="1"/>
            </p:cNvSpPr>
            <p:nvPr/>
          </p:nvSpPr>
          <p:spPr bwMode="auto">
            <a:xfrm>
              <a:off x="2251075" y="2771167"/>
              <a:ext cx="2349500"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104" name="Rectangle 40"/>
            <p:cNvSpPr>
              <a:spLocks noChangeArrowheads="1"/>
            </p:cNvSpPr>
            <p:nvPr/>
          </p:nvSpPr>
          <p:spPr bwMode="auto">
            <a:xfrm>
              <a:off x="777875" y="2771167"/>
              <a:ext cx="1473200"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dirty="0">
                  <a:solidFill>
                    <a:srgbClr val="000000"/>
                  </a:solidFill>
                  <a:latin typeface="微软雅黑" panose="020B0503020204020204" pitchFamily="34" charset="-122"/>
                  <a:ea typeface="微软雅黑" panose="020B0503020204020204" pitchFamily="34" charset="-122"/>
                </a:rPr>
                <a:t>ACC</a:t>
              </a:r>
            </a:p>
          </p:txBody>
        </p:sp>
        <p:sp>
          <p:nvSpPr>
            <p:cNvPr id="105" name="Rectangle 41"/>
            <p:cNvSpPr>
              <a:spLocks noChangeArrowheads="1"/>
            </p:cNvSpPr>
            <p:nvPr/>
          </p:nvSpPr>
          <p:spPr bwMode="auto">
            <a:xfrm>
              <a:off x="6176963" y="2360309"/>
              <a:ext cx="2244725"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106" name="Rectangle 42"/>
            <p:cNvSpPr>
              <a:spLocks noChangeArrowheads="1"/>
            </p:cNvSpPr>
            <p:nvPr/>
          </p:nvSpPr>
          <p:spPr bwMode="auto">
            <a:xfrm>
              <a:off x="4600575" y="2360309"/>
              <a:ext cx="1576388"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TCON</a:t>
              </a:r>
            </a:p>
          </p:txBody>
        </p:sp>
        <p:sp>
          <p:nvSpPr>
            <p:cNvPr id="107" name="Rectangle 43"/>
            <p:cNvSpPr>
              <a:spLocks noChangeArrowheads="1"/>
            </p:cNvSpPr>
            <p:nvPr/>
          </p:nvSpPr>
          <p:spPr bwMode="auto">
            <a:xfrm>
              <a:off x="2251075" y="2360309"/>
              <a:ext cx="23495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dirty="0">
                  <a:solidFill>
                    <a:srgbClr val="FF0000"/>
                  </a:solidFill>
                  <a:latin typeface="微软雅黑" panose="020B0503020204020204" pitchFamily="34" charset="-122"/>
                  <a:ea typeface="微软雅黑" panose="020B0503020204020204" pitchFamily="34" charset="-122"/>
                </a:rPr>
                <a:t>0000H</a:t>
              </a:r>
            </a:p>
          </p:txBody>
        </p:sp>
        <p:sp>
          <p:nvSpPr>
            <p:cNvPr id="108" name="Rectangle 44"/>
            <p:cNvSpPr>
              <a:spLocks noChangeArrowheads="1"/>
            </p:cNvSpPr>
            <p:nvPr/>
          </p:nvSpPr>
          <p:spPr bwMode="auto">
            <a:xfrm>
              <a:off x="777875" y="2360309"/>
              <a:ext cx="14732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PC</a:t>
              </a:r>
            </a:p>
          </p:txBody>
        </p:sp>
        <p:sp>
          <p:nvSpPr>
            <p:cNvPr id="109" name="Rectangle 45"/>
            <p:cNvSpPr>
              <a:spLocks noChangeArrowheads="1"/>
            </p:cNvSpPr>
            <p:nvPr/>
          </p:nvSpPr>
          <p:spPr bwMode="auto">
            <a:xfrm>
              <a:off x="6176963" y="1949450"/>
              <a:ext cx="2244725"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zh-CN" altLang="en-US" sz="2400" b="0" kern="0">
                  <a:solidFill>
                    <a:srgbClr val="000000"/>
                  </a:solidFill>
                  <a:latin typeface="微软雅黑" panose="020B0503020204020204" pitchFamily="34" charset="-122"/>
                  <a:ea typeface="微软雅黑" panose="020B0503020204020204" pitchFamily="34" charset="-122"/>
                </a:rPr>
                <a:t>复位状态</a:t>
              </a:r>
            </a:p>
          </p:txBody>
        </p:sp>
        <p:sp>
          <p:nvSpPr>
            <p:cNvPr id="110" name="Rectangle 46"/>
            <p:cNvSpPr>
              <a:spLocks noChangeArrowheads="1"/>
            </p:cNvSpPr>
            <p:nvPr/>
          </p:nvSpPr>
          <p:spPr bwMode="auto">
            <a:xfrm>
              <a:off x="4600575" y="1949450"/>
              <a:ext cx="1576388"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zh-CN" altLang="en-US" sz="2400" b="0" kern="0">
                  <a:solidFill>
                    <a:srgbClr val="000000"/>
                  </a:solidFill>
                  <a:latin typeface="微软雅黑" panose="020B0503020204020204" pitchFamily="34" charset="-122"/>
                  <a:ea typeface="微软雅黑" panose="020B0503020204020204" pitchFamily="34" charset="-122"/>
                </a:rPr>
                <a:t>寄存器</a:t>
              </a:r>
            </a:p>
          </p:txBody>
        </p:sp>
        <p:sp>
          <p:nvSpPr>
            <p:cNvPr id="111" name="Rectangle 47"/>
            <p:cNvSpPr>
              <a:spLocks noChangeArrowheads="1"/>
            </p:cNvSpPr>
            <p:nvPr/>
          </p:nvSpPr>
          <p:spPr bwMode="auto">
            <a:xfrm>
              <a:off x="2251075" y="1949450"/>
              <a:ext cx="23495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zh-CN" altLang="en-US" sz="2400" b="0" kern="0" dirty="0">
                  <a:solidFill>
                    <a:srgbClr val="000000"/>
                  </a:solidFill>
                  <a:latin typeface="微软雅黑" panose="020B0503020204020204" pitchFamily="34" charset="-122"/>
                  <a:ea typeface="微软雅黑" panose="020B0503020204020204" pitchFamily="34" charset="-122"/>
                </a:rPr>
                <a:t>复位状态</a:t>
              </a:r>
            </a:p>
          </p:txBody>
        </p:sp>
        <p:sp>
          <p:nvSpPr>
            <p:cNvPr id="112" name="Rectangle 48"/>
            <p:cNvSpPr>
              <a:spLocks noChangeArrowheads="1"/>
            </p:cNvSpPr>
            <p:nvPr/>
          </p:nvSpPr>
          <p:spPr bwMode="auto">
            <a:xfrm>
              <a:off x="777875" y="1949450"/>
              <a:ext cx="14732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zh-CN" altLang="en-US" sz="2400" b="0" kern="0">
                  <a:solidFill>
                    <a:srgbClr val="000000"/>
                  </a:solidFill>
                  <a:latin typeface="微软雅黑" panose="020B0503020204020204" pitchFamily="34" charset="-122"/>
                  <a:ea typeface="微软雅黑" panose="020B0503020204020204" pitchFamily="34" charset="-122"/>
                </a:rPr>
                <a:t>寄存器</a:t>
              </a:r>
            </a:p>
          </p:txBody>
        </p:sp>
        <p:sp>
          <p:nvSpPr>
            <p:cNvPr id="113" name="Line 49"/>
            <p:cNvSpPr>
              <a:spLocks noChangeShapeType="1"/>
            </p:cNvSpPr>
            <p:nvPr/>
          </p:nvSpPr>
          <p:spPr bwMode="auto">
            <a:xfrm>
              <a:off x="777875" y="1949450"/>
              <a:ext cx="7643813" cy="0"/>
            </a:xfrm>
            <a:prstGeom prst="line">
              <a:avLst/>
            </a:prstGeom>
            <a:noFill/>
            <a:ln w="12700" cap="sq">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14" name="Line 50"/>
            <p:cNvSpPr>
              <a:spLocks noChangeShapeType="1"/>
            </p:cNvSpPr>
            <p:nvPr/>
          </p:nvSpPr>
          <p:spPr bwMode="auto">
            <a:xfrm>
              <a:off x="777875" y="2360309"/>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15" name="Line 51"/>
            <p:cNvSpPr>
              <a:spLocks noChangeShapeType="1"/>
            </p:cNvSpPr>
            <p:nvPr/>
          </p:nvSpPr>
          <p:spPr bwMode="auto">
            <a:xfrm>
              <a:off x="777875" y="2771167"/>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16" name="Line 52"/>
            <p:cNvSpPr>
              <a:spLocks noChangeShapeType="1"/>
            </p:cNvSpPr>
            <p:nvPr/>
          </p:nvSpPr>
          <p:spPr bwMode="auto">
            <a:xfrm>
              <a:off x="777875" y="3182026"/>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17" name="Line 53"/>
            <p:cNvSpPr>
              <a:spLocks noChangeShapeType="1"/>
            </p:cNvSpPr>
            <p:nvPr/>
          </p:nvSpPr>
          <p:spPr bwMode="auto">
            <a:xfrm>
              <a:off x="777875" y="3660168"/>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18" name="Line 54"/>
            <p:cNvSpPr>
              <a:spLocks noChangeShapeType="1"/>
            </p:cNvSpPr>
            <p:nvPr/>
          </p:nvSpPr>
          <p:spPr bwMode="auto">
            <a:xfrm>
              <a:off x="777875" y="4071026"/>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19" name="Line 55"/>
            <p:cNvSpPr>
              <a:spLocks noChangeShapeType="1"/>
            </p:cNvSpPr>
            <p:nvPr/>
          </p:nvSpPr>
          <p:spPr bwMode="auto">
            <a:xfrm>
              <a:off x="777875" y="4481885"/>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0" name="Line 56"/>
            <p:cNvSpPr>
              <a:spLocks noChangeShapeType="1"/>
            </p:cNvSpPr>
            <p:nvPr/>
          </p:nvSpPr>
          <p:spPr bwMode="auto">
            <a:xfrm>
              <a:off x="777875" y="4892743"/>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1" name="Line 57"/>
            <p:cNvSpPr>
              <a:spLocks noChangeShapeType="1"/>
            </p:cNvSpPr>
            <p:nvPr/>
          </p:nvSpPr>
          <p:spPr bwMode="auto">
            <a:xfrm>
              <a:off x="777875" y="5303602"/>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2" name="Line 58"/>
            <p:cNvSpPr>
              <a:spLocks noChangeShapeType="1"/>
            </p:cNvSpPr>
            <p:nvPr/>
          </p:nvSpPr>
          <p:spPr bwMode="auto">
            <a:xfrm>
              <a:off x="777875" y="5714461"/>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3" name="Line 59"/>
            <p:cNvSpPr>
              <a:spLocks noChangeShapeType="1"/>
            </p:cNvSpPr>
            <p:nvPr/>
          </p:nvSpPr>
          <p:spPr bwMode="auto">
            <a:xfrm>
              <a:off x="777875" y="6123888"/>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4" name="Line 60"/>
            <p:cNvSpPr>
              <a:spLocks noChangeShapeType="1"/>
            </p:cNvSpPr>
            <p:nvPr/>
          </p:nvSpPr>
          <p:spPr bwMode="auto">
            <a:xfrm>
              <a:off x="777875" y="6536178"/>
              <a:ext cx="7643813" cy="0"/>
            </a:xfrm>
            <a:prstGeom prst="line">
              <a:avLst/>
            </a:prstGeom>
            <a:noFill/>
            <a:ln w="12700" cap="sq">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5" name="Line 61"/>
            <p:cNvSpPr>
              <a:spLocks noChangeShapeType="1"/>
            </p:cNvSpPr>
            <p:nvPr/>
          </p:nvSpPr>
          <p:spPr bwMode="auto">
            <a:xfrm>
              <a:off x="777875" y="1949450"/>
              <a:ext cx="0" cy="4586728"/>
            </a:xfrm>
            <a:prstGeom prst="line">
              <a:avLst/>
            </a:prstGeom>
            <a:noFill/>
            <a:ln w="12700" cap="sq">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6" name="Line 62"/>
            <p:cNvSpPr>
              <a:spLocks noChangeShapeType="1"/>
            </p:cNvSpPr>
            <p:nvPr/>
          </p:nvSpPr>
          <p:spPr bwMode="auto">
            <a:xfrm>
              <a:off x="2251075" y="1949450"/>
              <a:ext cx="0" cy="4586728"/>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7" name="Line 63"/>
            <p:cNvSpPr>
              <a:spLocks noChangeShapeType="1"/>
            </p:cNvSpPr>
            <p:nvPr/>
          </p:nvSpPr>
          <p:spPr bwMode="auto">
            <a:xfrm>
              <a:off x="4600575" y="1949450"/>
              <a:ext cx="0" cy="4586728"/>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8" name="Line 64"/>
            <p:cNvSpPr>
              <a:spLocks noChangeShapeType="1"/>
            </p:cNvSpPr>
            <p:nvPr/>
          </p:nvSpPr>
          <p:spPr bwMode="auto">
            <a:xfrm>
              <a:off x="6176963" y="1949450"/>
              <a:ext cx="0" cy="4586728"/>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9" name="Line 65"/>
            <p:cNvSpPr>
              <a:spLocks noChangeShapeType="1"/>
            </p:cNvSpPr>
            <p:nvPr/>
          </p:nvSpPr>
          <p:spPr bwMode="auto">
            <a:xfrm>
              <a:off x="8421688" y="1949450"/>
              <a:ext cx="0" cy="4586728"/>
            </a:xfrm>
            <a:prstGeom prst="line">
              <a:avLst/>
            </a:prstGeom>
            <a:noFill/>
            <a:ln w="12700" cap="sq">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grpSp>
      <p:sp>
        <p:nvSpPr>
          <p:cNvPr id="102404" name="文本框 130"/>
          <p:cNvSpPr txBox="1">
            <a:spLocks noChangeArrowheads="1"/>
          </p:cNvSpPr>
          <p:nvPr/>
        </p:nvSpPr>
        <p:spPr bwMode="auto">
          <a:xfrm>
            <a:off x="3027362" y="1310482"/>
            <a:ext cx="3149600" cy="581057"/>
          </a:xfrm>
          <a:prstGeom prst="rect">
            <a:avLst/>
          </a:prstGeom>
          <a:noFill/>
          <a:ln w="9525">
            <a:noFill/>
            <a:miter lim="800000"/>
          </a:ln>
        </p:spPr>
        <p:txBody>
          <a:bodyPr>
            <a:spAutoFit/>
          </a:bodyPr>
          <a:lstStyle/>
          <a:p>
            <a:pPr algn="just">
              <a:lnSpc>
                <a:spcPct val="150000"/>
              </a:lnSpc>
            </a:pPr>
            <a:r>
              <a:rPr lang="en-US" altLang="zh-CN" sz="2400" b="1" dirty="0">
                <a:solidFill>
                  <a:srgbClr val="000000"/>
                </a:solidFill>
                <a:latin typeface="微软雅黑" panose="020B0503020204020204" pitchFamily="34" charset="-122"/>
                <a:ea typeface="微软雅黑" panose="020B0503020204020204" pitchFamily="34" charset="-122"/>
              </a:rPr>
              <a:t>PC</a:t>
            </a:r>
            <a:r>
              <a:rPr lang="zh-CN" altLang="en-US" sz="2400" b="1" dirty="0">
                <a:solidFill>
                  <a:srgbClr val="000000"/>
                </a:solidFill>
                <a:latin typeface="微软雅黑" panose="020B0503020204020204" pitchFamily="34" charset="-122"/>
                <a:ea typeface="微软雅黑" panose="020B0503020204020204" pitchFamily="34" charset="-122"/>
              </a:rPr>
              <a:t>与</a:t>
            </a:r>
            <a:r>
              <a:rPr lang="en-US" altLang="zh-CN" sz="2400" b="1" dirty="0">
                <a:solidFill>
                  <a:srgbClr val="000000"/>
                </a:solidFill>
                <a:latin typeface="微软雅黑" panose="020B0503020204020204" pitchFamily="34" charset="-122"/>
                <a:ea typeface="微软雅黑" panose="020B0503020204020204" pitchFamily="34" charset="-122"/>
              </a:rPr>
              <a:t>SFR</a:t>
            </a:r>
            <a:r>
              <a:rPr lang="zh-CN" altLang="en-US" sz="2400" b="1" dirty="0">
                <a:solidFill>
                  <a:srgbClr val="000000"/>
                </a:solidFill>
                <a:latin typeface="微软雅黑" panose="020B0503020204020204" pitchFamily="34" charset="-122"/>
                <a:ea typeface="微软雅黑" panose="020B0503020204020204" pitchFamily="34" charset="-122"/>
              </a:rPr>
              <a:t>复位状态表</a:t>
            </a:r>
            <a:endParaRPr lang="en-US" altLang="zh-CN" sz="2400" b="1" dirty="0">
              <a:solidFill>
                <a:srgbClr val="000000"/>
              </a:solidFill>
              <a:latin typeface="微软雅黑" panose="020B0503020204020204" pitchFamily="34" charset="-122"/>
              <a:ea typeface="微软雅黑" panose="020B0503020204020204" pitchFamily="34" charset="-122"/>
            </a:endParaRPr>
          </a:p>
        </p:txBody>
      </p:sp>
      <p:pic>
        <p:nvPicPr>
          <p:cNvPr id="102405" name="图片 131"/>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文本框 1"/>
          <p:cNvSpPr txBox="1">
            <a:spLocks noChangeArrowheads="1"/>
          </p:cNvSpPr>
          <p:nvPr/>
        </p:nvSpPr>
        <p:spPr bwMode="auto">
          <a:xfrm>
            <a:off x="257175" y="736600"/>
            <a:ext cx="8636000" cy="581025"/>
          </a:xfrm>
          <a:prstGeom prst="rect">
            <a:avLst/>
          </a:prstGeom>
          <a:noFill/>
          <a:ln w="9525">
            <a:noFill/>
            <a:miter lim="800000"/>
          </a:ln>
        </p:spPr>
        <p:txBody>
          <a:bodyPr>
            <a:spAutoFit/>
          </a:bodyPr>
          <a:lstStyle/>
          <a:p>
            <a:pPr algn="just">
              <a:lnSpc>
                <a:spcPct val="150000"/>
              </a:lnSpc>
            </a:pPr>
            <a:r>
              <a:rPr lang="en-US" altLang="zh-CN" sz="2400" b="1">
                <a:solidFill>
                  <a:srgbClr val="000000"/>
                </a:solidFill>
                <a:latin typeface="微软雅黑" panose="020B0503020204020204" pitchFamily="34" charset="-122"/>
                <a:ea typeface="微软雅黑" panose="020B0503020204020204" pitchFamily="34" charset="-122"/>
              </a:rPr>
              <a:t>2.3.1 </a:t>
            </a:r>
            <a:r>
              <a:rPr lang="zh-CN" altLang="en-US" sz="2400" b="1">
                <a:solidFill>
                  <a:srgbClr val="000000"/>
                </a:solidFill>
                <a:latin typeface="微软雅黑" panose="020B0503020204020204" pitchFamily="34" charset="-122"/>
                <a:ea typeface="微软雅黑" panose="020B0503020204020204" pitchFamily="34" charset="-122"/>
              </a:rPr>
              <a:t>复位方式</a:t>
            </a:r>
            <a:endParaRPr lang="en-US" altLang="zh-CN" sz="2400">
              <a:solidFill>
                <a:srgbClr val="000000"/>
              </a:solidFill>
              <a:latin typeface="微软雅黑" panose="020B0503020204020204" pitchFamily="34" charset="-122"/>
              <a:ea typeface="微软雅黑" panose="020B0503020204020204" pitchFamily="34" charset="-122"/>
            </a:endParaRPr>
          </a:p>
        </p:txBody>
      </p:sp>
      <p:sp>
        <p:nvSpPr>
          <p:cNvPr id="102402"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2.3 MCS-51</a:t>
            </a:r>
            <a:r>
              <a:rPr lang="zh-CN" altLang="en-US" sz="2800">
                <a:solidFill>
                  <a:srgbClr val="000000"/>
                </a:solidFill>
                <a:latin typeface="微软雅黑" panose="020B0503020204020204" pitchFamily="34" charset="-122"/>
                <a:ea typeface="微软雅黑" panose="020B0503020204020204" pitchFamily="34" charset="-122"/>
              </a:rPr>
              <a:t>的工作方式</a:t>
            </a:r>
          </a:p>
        </p:txBody>
      </p:sp>
      <p:grpSp>
        <p:nvGrpSpPr>
          <p:cNvPr id="2" name="组合 1"/>
          <p:cNvGrpSpPr/>
          <p:nvPr/>
        </p:nvGrpSpPr>
        <p:grpSpPr>
          <a:xfrm>
            <a:off x="777875" y="1949450"/>
            <a:ext cx="7643813" cy="4586728"/>
            <a:chOff x="777875" y="1949450"/>
            <a:chExt cx="7643813" cy="4586728"/>
          </a:xfrm>
        </p:grpSpPr>
        <p:sp>
          <p:nvSpPr>
            <p:cNvPr id="69" name="Rectangle 5"/>
            <p:cNvSpPr>
              <a:spLocks noChangeArrowheads="1"/>
            </p:cNvSpPr>
            <p:nvPr/>
          </p:nvSpPr>
          <p:spPr bwMode="auto">
            <a:xfrm>
              <a:off x="6176963" y="6123888"/>
              <a:ext cx="2244725"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endParaRPr lang="zh-CN" altLang="zh-CN" sz="2400" b="0" kern="0">
                <a:solidFill>
                  <a:srgbClr val="000000"/>
                </a:solidFill>
                <a:latin typeface="微软雅黑" panose="020B0503020204020204" pitchFamily="34" charset="-122"/>
                <a:ea typeface="微软雅黑" panose="020B0503020204020204" pitchFamily="34" charset="-122"/>
              </a:endParaRPr>
            </a:p>
          </p:txBody>
        </p:sp>
        <p:sp>
          <p:nvSpPr>
            <p:cNvPr id="70" name="Rectangle 6"/>
            <p:cNvSpPr>
              <a:spLocks noChangeArrowheads="1"/>
            </p:cNvSpPr>
            <p:nvPr/>
          </p:nvSpPr>
          <p:spPr bwMode="auto">
            <a:xfrm>
              <a:off x="4600575" y="6123888"/>
              <a:ext cx="1576388"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endParaRPr lang="zh-CN" altLang="zh-CN" sz="2400" b="0" kern="0">
                <a:solidFill>
                  <a:srgbClr val="000000"/>
                </a:solidFill>
                <a:latin typeface="微软雅黑" panose="020B0503020204020204" pitchFamily="34" charset="-122"/>
                <a:ea typeface="微软雅黑" panose="020B0503020204020204" pitchFamily="34" charset="-122"/>
              </a:endParaRPr>
            </a:p>
          </p:txBody>
        </p:sp>
        <p:sp>
          <p:nvSpPr>
            <p:cNvPr id="71" name="Rectangle 7"/>
            <p:cNvSpPr>
              <a:spLocks noChangeArrowheads="1"/>
            </p:cNvSpPr>
            <p:nvPr/>
          </p:nvSpPr>
          <p:spPr bwMode="auto">
            <a:xfrm>
              <a:off x="2251075" y="6123888"/>
              <a:ext cx="23495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72" name="Rectangle 8"/>
            <p:cNvSpPr>
              <a:spLocks noChangeArrowheads="1"/>
            </p:cNvSpPr>
            <p:nvPr/>
          </p:nvSpPr>
          <p:spPr bwMode="auto">
            <a:xfrm>
              <a:off x="777875" y="6123888"/>
              <a:ext cx="14732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TMOD</a:t>
              </a:r>
            </a:p>
          </p:txBody>
        </p:sp>
        <p:sp>
          <p:nvSpPr>
            <p:cNvPr id="73" name="Rectangle 9"/>
            <p:cNvSpPr>
              <a:spLocks noChangeArrowheads="1"/>
            </p:cNvSpPr>
            <p:nvPr/>
          </p:nvSpPr>
          <p:spPr bwMode="auto">
            <a:xfrm>
              <a:off x="6176963" y="5714461"/>
              <a:ext cx="2244725"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0XXX0000B</a:t>
              </a:r>
            </a:p>
          </p:txBody>
        </p:sp>
        <p:sp>
          <p:nvSpPr>
            <p:cNvPr id="74" name="Rectangle 10"/>
            <p:cNvSpPr>
              <a:spLocks noChangeArrowheads="1"/>
            </p:cNvSpPr>
            <p:nvPr/>
          </p:nvSpPr>
          <p:spPr bwMode="auto">
            <a:xfrm>
              <a:off x="4600575" y="5714461"/>
              <a:ext cx="1576388"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PCON</a:t>
              </a:r>
            </a:p>
          </p:txBody>
        </p:sp>
        <p:sp>
          <p:nvSpPr>
            <p:cNvPr id="75" name="Rectangle 11"/>
            <p:cNvSpPr>
              <a:spLocks noChangeArrowheads="1"/>
            </p:cNvSpPr>
            <p:nvPr/>
          </p:nvSpPr>
          <p:spPr bwMode="auto">
            <a:xfrm>
              <a:off x="2251075" y="5714461"/>
              <a:ext cx="2349500"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0X000000B</a:t>
              </a:r>
            </a:p>
          </p:txBody>
        </p:sp>
        <p:sp>
          <p:nvSpPr>
            <p:cNvPr id="76" name="Rectangle 12"/>
            <p:cNvSpPr>
              <a:spLocks noChangeArrowheads="1"/>
            </p:cNvSpPr>
            <p:nvPr/>
          </p:nvSpPr>
          <p:spPr bwMode="auto">
            <a:xfrm>
              <a:off x="777875" y="5714461"/>
              <a:ext cx="1473200"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IE</a:t>
              </a:r>
            </a:p>
          </p:txBody>
        </p:sp>
        <p:sp>
          <p:nvSpPr>
            <p:cNvPr id="77" name="Rectangle 13"/>
            <p:cNvSpPr>
              <a:spLocks noChangeArrowheads="1"/>
            </p:cNvSpPr>
            <p:nvPr/>
          </p:nvSpPr>
          <p:spPr bwMode="auto">
            <a:xfrm>
              <a:off x="6176963" y="5303602"/>
              <a:ext cx="2244725"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XXH</a:t>
              </a:r>
            </a:p>
          </p:txBody>
        </p:sp>
        <p:sp>
          <p:nvSpPr>
            <p:cNvPr id="78" name="Rectangle 14"/>
            <p:cNvSpPr>
              <a:spLocks noChangeArrowheads="1"/>
            </p:cNvSpPr>
            <p:nvPr/>
          </p:nvSpPr>
          <p:spPr bwMode="auto">
            <a:xfrm>
              <a:off x="4600575" y="5303602"/>
              <a:ext cx="1576388"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SBUF</a:t>
              </a:r>
            </a:p>
          </p:txBody>
        </p:sp>
        <p:sp>
          <p:nvSpPr>
            <p:cNvPr id="79" name="Rectangle 15"/>
            <p:cNvSpPr>
              <a:spLocks noChangeArrowheads="1"/>
            </p:cNvSpPr>
            <p:nvPr/>
          </p:nvSpPr>
          <p:spPr bwMode="auto">
            <a:xfrm>
              <a:off x="2251075" y="5303602"/>
              <a:ext cx="23495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XX000000B</a:t>
              </a:r>
            </a:p>
          </p:txBody>
        </p:sp>
        <p:sp>
          <p:nvSpPr>
            <p:cNvPr id="80" name="Rectangle 16"/>
            <p:cNvSpPr>
              <a:spLocks noChangeArrowheads="1"/>
            </p:cNvSpPr>
            <p:nvPr/>
          </p:nvSpPr>
          <p:spPr bwMode="auto">
            <a:xfrm>
              <a:off x="777875" y="5303602"/>
              <a:ext cx="14732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IP</a:t>
              </a:r>
            </a:p>
          </p:txBody>
        </p:sp>
        <p:sp>
          <p:nvSpPr>
            <p:cNvPr id="81" name="Rectangle 17"/>
            <p:cNvSpPr>
              <a:spLocks noChangeArrowheads="1"/>
            </p:cNvSpPr>
            <p:nvPr/>
          </p:nvSpPr>
          <p:spPr bwMode="auto">
            <a:xfrm>
              <a:off x="6176963" y="4892743"/>
              <a:ext cx="2244725"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82" name="Rectangle 18"/>
            <p:cNvSpPr>
              <a:spLocks noChangeArrowheads="1"/>
            </p:cNvSpPr>
            <p:nvPr/>
          </p:nvSpPr>
          <p:spPr bwMode="auto">
            <a:xfrm>
              <a:off x="4600575" y="4892743"/>
              <a:ext cx="1576388"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SCON</a:t>
              </a:r>
            </a:p>
          </p:txBody>
        </p:sp>
        <p:sp>
          <p:nvSpPr>
            <p:cNvPr id="83" name="Rectangle 19"/>
            <p:cNvSpPr>
              <a:spLocks noChangeArrowheads="1"/>
            </p:cNvSpPr>
            <p:nvPr/>
          </p:nvSpPr>
          <p:spPr bwMode="auto">
            <a:xfrm>
              <a:off x="2251075" y="4892743"/>
              <a:ext cx="23495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FF0000"/>
                  </a:solidFill>
                  <a:latin typeface="微软雅黑" panose="020B0503020204020204" pitchFamily="34" charset="-122"/>
                  <a:ea typeface="微软雅黑" panose="020B0503020204020204" pitchFamily="34" charset="-122"/>
                </a:rPr>
                <a:t>FFH</a:t>
              </a:r>
            </a:p>
          </p:txBody>
        </p:sp>
        <p:sp>
          <p:nvSpPr>
            <p:cNvPr id="84" name="Rectangle 20"/>
            <p:cNvSpPr>
              <a:spLocks noChangeArrowheads="1"/>
            </p:cNvSpPr>
            <p:nvPr/>
          </p:nvSpPr>
          <p:spPr bwMode="auto">
            <a:xfrm>
              <a:off x="777875" y="4892743"/>
              <a:ext cx="14732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P0~P3</a:t>
              </a:r>
            </a:p>
          </p:txBody>
        </p:sp>
        <p:sp>
          <p:nvSpPr>
            <p:cNvPr id="85" name="Rectangle 21"/>
            <p:cNvSpPr>
              <a:spLocks noChangeArrowheads="1"/>
            </p:cNvSpPr>
            <p:nvPr/>
          </p:nvSpPr>
          <p:spPr bwMode="auto">
            <a:xfrm>
              <a:off x="6176963" y="4481885"/>
              <a:ext cx="2244725"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86" name="Rectangle 22"/>
            <p:cNvSpPr>
              <a:spLocks noChangeArrowheads="1"/>
            </p:cNvSpPr>
            <p:nvPr/>
          </p:nvSpPr>
          <p:spPr bwMode="auto">
            <a:xfrm>
              <a:off x="4600575" y="4481885"/>
              <a:ext cx="1576388"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TL1</a:t>
              </a:r>
            </a:p>
          </p:txBody>
        </p:sp>
        <p:sp>
          <p:nvSpPr>
            <p:cNvPr id="87" name="Rectangle 23"/>
            <p:cNvSpPr>
              <a:spLocks noChangeArrowheads="1"/>
            </p:cNvSpPr>
            <p:nvPr/>
          </p:nvSpPr>
          <p:spPr bwMode="auto">
            <a:xfrm>
              <a:off x="2251075" y="4481885"/>
              <a:ext cx="23495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0000H</a:t>
              </a:r>
            </a:p>
          </p:txBody>
        </p:sp>
        <p:sp>
          <p:nvSpPr>
            <p:cNvPr id="88" name="Rectangle 24"/>
            <p:cNvSpPr>
              <a:spLocks noChangeArrowheads="1"/>
            </p:cNvSpPr>
            <p:nvPr/>
          </p:nvSpPr>
          <p:spPr bwMode="auto">
            <a:xfrm>
              <a:off x="777875" y="4481885"/>
              <a:ext cx="14732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DPTR</a:t>
              </a:r>
            </a:p>
          </p:txBody>
        </p:sp>
        <p:sp>
          <p:nvSpPr>
            <p:cNvPr id="89" name="Rectangle 25"/>
            <p:cNvSpPr>
              <a:spLocks noChangeArrowheads="1"/>
            </p:cNvSpPr>
            <p:nvPr/>
          </p:nvSpPr>
          <p:spPr bwMode="auto">
            <a:xfrm>
              <a:off x="6176963" y="4071026"/>
              <a:ext cx="2244725"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90" name="Rectangle 26"/>
            <p:cNvSpPr>
              <a:spLocks noChangeArrowheads="1"/>
            </p:cNvSpPr>
            <p:nvPr/>
          </p:nvSpPr>
          <p:spPr bwMode="auto">
            <a:xfrm>
              <a:off x="4600575" y="4071026"/>
              <a:ext cx="1576388"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TH1</a:t>
              </a:r>
            </a:p>
          </p:txBody>
        </p:sp>
        <p:sp>
          <p:nvSpPr>
            <p:cNvPr id="91" name="Rectangle 27"/>
            <p:cNvSpPr>
              <a:spLocks noChangeArrowheads="1"/>
            </p:cNvSpPr>
            <p:nvPr/>
          </p:nvSpPr>
          <p:spPr bwMode="auto">
            <a:xfrm>
              <a:off x="2251075" y="4071026"/>
              <a:ext cx="23495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FF0000"/>
                  </a:solidFill>
                  <a:latin typeface="微软雅黑" panose="020B0503020204020204" pitchFamily="34" charset="-122"/>
                  <a:ea typeface="微软雅黑" panose="020B0503020204020204" pitchFamily="34" charset="-122"/>
                </a:rPr>
                <a:t>07H</a:t>
              </a:r>
            </a:p>
          </p:txBody>
        </p:sp>
        <p:sp>
          <p:nvSpPr>
            <p:cNvPr id="92" name="Rectangle 28"/>
            <p:cNvSpPr>
              <a:spLocks noChangeArrowheads="1"/>
            </p:cNvSpPr>
            <p:nvPr/>
          </p:nvSpPr>
          <p:spPr bwMode="auto">
            <a:xfrm>
              <a:off x="777875" y="4071026"/>
              <a:ext cx="14732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SP</a:t>
              </a:r>
            </a:p>
          </p:txBody>
        </p:sp>
        <p:sp>
          <p:nvSpPr>
            <p:cNvPr id="93" name="Rectangle 29"/>
            <p:cNvSpPr>
              <a:spLocks noChangeArrowheads="1"/>
            </p:cNvSpPr>
            <p:nvPr/>
          </p:nvSpPr>
          <p:spPr bwMode="auto">
            <a:xfrm>
              <a:off x="6176963" y="3660168"/>
              <a:ext cx="2244725"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94" name="Rectangle 30"/>
            <p:cNvSpPr>
              <a:spLocks noChangeArrowheads="1"/>
            </p:cNvSpPr>
            <p:nvPr/>
          </p:nvSpPr>
          <p:spPr bwMode="auto">
            <a:xfrm>
              <a:off x="4600575" y="3660168"/>
              <a:ext cx="1576388"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TL0</a:t>
              </a:r>
            </a:p>
          </p:txBody>
        </p:sp>
        <p:sp>
          <p:nvSpPr>
            <p:cNvPr id="95" name="Rectangle 31"/>
            <p:cNvSpPr>
              <a:spLocks noChangeArrowheads="1"/>
            </p:cNvSpPr>
            <p:nvPr/>
          </p:nvSpPr>
          <p:spPr bwMode="auto">
            <a:xfrm>
              <a:off x="2251075" y="3660168"/>
              <a:ext cx="2349500"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96" name="Rectangle 32"/>
            <p:cNvSpPr>
              <a:spLocks noChangeArrowheads="1"/>
            </p:cNvSpPr>
            <p:nvPr/>
          </p:nvSpPr>
          <p:spPr bwMode="auto">
            <a:xfrm>
              <a:off x="777875" y="3660168"/>
              <a:ext cx="1473200"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PSW</a:t>
              </a:r>
            </a:p>
          </p:txBody>
        </p:sp>
        <p:sp>
          <p:nvSpPr>
            <p:cNvPr id="97" name="Rectangle 33"/>
            <p:cNvSpPr>
              <a:spLocks noChangeArrowheads="1"/>
            </p:cNvSpPr>
            <p:nvPr/>
          </p:nvSpPr>
          <p:spPr bwMode="auto">
            <a:xfrm>
              <a:off x="6176963" y="3182026"/>
              <a:ext cx="2244725" cy="479574"/>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98" name="Rectangle 34"/>
            <p:cNvSpPr>
              <a:spLocks noChangeArrowheads="1"/>
            </p:cNvSpPr>
            <p:nvPr/>
          </p:nvSpPr>
          <p:spPr bwMode="auto">
            <a:xfrm>
              <a:off x="4600575" y="3182026"/>
              <a:ext cx="1576388" cy="479574"/>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dirty="0">
                  <a:solidFill>
                    <a:srgbClr val="000000"/>
                  </a:solidFill>
                  <a:latin typeface="微软雅黑" panose="020B0503020204020204" pitchFamily="34" charset="-122"/>
                  <a:ea typeface="微软雅黑" panose="020B0503020204020204" pitchFamily="34" charset="-122"/>
                </a:rPr>
                <a:t>TH0</a:t>
              </a:r>
            </a:p>
          </p:txBody>
        </p:sp>
        <p:sp>
          <p:nvSpPr>
            <p:cNvPr id="99" name="Rectangle 35"/>
            <p:cNvSpPr>
              <a:spLocks noChangeArrowheads="1"/>
            </p:cNvSpPr>
            <p:nvPr/>
          </p:nvSpPr>
          <p:spPr bwMode="auto">
            <a:xfrm>
              <a:off x="2251075" y="3182026"/>
              <a:ext cx="2349500" cy="479574"/>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100" name="Rectangle 36"/>
            <p:cNvSpPr>
              <a:spLocks noChangeArrowheads="1"/>
            </p:cNvSpPr>
            <p:nvPr/>
          </p:nvSpPr>
          <p:spPr bwMode="auto">
            <a:xfrm>
              <a:off x="777875" y="3182026"/>
              <a:ext cx="1473200" cy="479574"/>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B</a:t>
              </a:r>
            </a:p>
          </p:txBody>
        </p:sp>
        <p:sp>
          <p:nvSpPr>
            <p:cNvPr id="101" name="Rectangle 37"/>
            <p:cNvSpPr>
              <a:spLocks noChangeArrowheads="1"/>
            </p:cNvSpPr>
            <p:nvPr/>
          </p:nvSpPr>
          <p:spPr bwMode="auto">
            <a:xfrm>
              <a:off x="6176963" y="2771167"/>
              <a:ext cx="2244725"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dirty="0">
                  <a:solidFill>
                    <a:srgbClr val="000000"/>
                  </a:solidFill>
                  <a:latin typeface="微软雅黑" panose="020B0503020204020204" pitchFamily="34" charset="-122"/>
                  <a:ea typeface="微软雅黑" panose="020B0503020204020204" pitchFamily="34" charset="-122"/>
                </a:rPr>
                <a:t>00H</a:t>
              </a:r>
            </a:p>
          </p:txBody>
        </p:sp>
        <p:sp>
          <p:nvSpPr>
            <p:cNvPr id="102" name="Rectangle 38"/>
            <p:cNvSpPr>
              <a:spLocks noChangeArrowheads="1"/>
            </p:cNvSpPr>
            <p:nvPr/>
          </p:nvSpPr>
          <p:spPr bwMode="auto">
            <a:xfrm>
              <a:off x="4600575" y="2771167"/>
              <a:ext cx="1576388"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T2CON</a:t>
              </a:r>
            </a:p>
          </p:txBody>
        </p:sp>
        <p:sp>
          <p:nvSpPr>
            <p:cNvPr id="103" name="Rectangle 39"/>
            <p:cNvSpPr>
              <a:spLocks noChangeArrowheads="1"/>
            </p:cNvSpPr>
            <p:nvPr/>
          </p:nvSpPr>
          <p:spPr bwMode="auto">
            <a:xfrm>
              <a:off x="2251075" y="2771167"/>
              <a:ext cx="2349500"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104" name="Rectangle 40"/>
            <p:cNvSpPr>
              <a:spLocks noChangeArrowheads="1"/>
            </p:cNvSpPr>
            <p:nvPr/>
          </p:nvSpPr>
          <p:spPr bwMode="auto">
            <a:xfrm>
              <a:off x="777875" y="2771167"/>
              <a:ext cx="1473200" cy="409427"/>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A</a:t>
              </a:r>
            </a:p>
          </p:txBody>
        </p:sp>
        <p:sp>
          <p:nvSpPr>
            <p:cNvPr id="105" name="Rectangle 41"/>
            <p:cNvSpPr>
              <a:spLocks noChangeArrowheads="1"/>
            </p:cNvSpPr>
            <p:nvPr/>
          </p:nvSpPr>
          <p:spPr bwMode="auto">
            <a:xfrm>
              <a:off x="6176963" y="2360309"/>
              <a:ext cx="2244725"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00H</a:t>
              </a:r>
            </a:p>
          </p:txBody>
        </p:sp>
        <p:sp>
          <p:nvSpPr>
            <p:cNvPr id="106" name="Rectangle 42"/>
            <p:cNvSpPr>
              <a:spLocks noChangeArrowheads="1"/>
            </p:cNvSpPr>
            <p:nvPr/>
          </p:nvSpPr>
          <p:spPr bwMode="auto">
            <a:xfrm>
              <a:off x="4600575" y="2360309"/>
              <a:ext cx="1576388"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TCON</a:t>
              </a:r>
            </a:p>
          </p:txBody>
        </p:sp>
        <p:sp>
          <p:nvSpPr>
            <p:cNvPr id="107" name="Rectangle 43"/>
            <p:cNvSpPr>
              <a:spLocks noChangeArrowheads="1"/>
            </p:cNvSpPr>
            <p:nvPr/>
          </p:nvSpPr>
          <p:spPr bwMode="auto">
            <a:xfrm>
              <a:off x="2251075" y="2360309"/>
              <a:ext cx="23495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dirty="0">
                  <a:solidFill>
                    <a:srgbClr val="FF0000"/>
                  </a:solidFill>
                  <a:latin typeface="微软雅黑" panose="020B0503020204020204" pitchFamily="34" charset="-122"/>
                  <a:ea typeface="微软雅黑" panose="020B0503020204020204" pitchFamily="34" charset="-122"/>
                </a:rPr>
                <a:t>0000H</a:t>
              </a:r>
            </a:p>
          </p:txBody>
        </p:sp>
        <p:sp>
          <p:nvSpPr>
            <p:cNvPr id="108" name="Rectangle 44"/>
            <p:cNvSpPr>
              <a:spLocks noChangeArrowheads="1"/>
            </p:cNvSpPr>
            <p:nvPr/>
          </p:nvSpPr>
          <p:spPr bwMode="auto">
            <a:xfrm>
              <a:off x="777875" y="2360309"/>
              <a:ext cx="14732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en-US" altLang="zh-CN" sz="2400" b="0" kern="0">
                  <a:solidFill>
                    <a:srgbClr val="000000"/>
                  </a:solidFill>
                  <a:latin typeface="微软雅黑" panose="020B0503020204020204" pitchFamily="34" charset="-122"/>
                  <a:ea typeface="微软雅黑" panose="020B0503020204020204" pitchFamily="34" charset="-122"/>
                </a:rPr>
                <a:t>PC</a:t>
              </a:r>
            </a:p>
          </p:txBody>
        </p:sp>
        <p:sp>
          <p:nvSpPr>
            <p:cNvPr id="109" name="Rectangle 45"/>
            <p:cNvSpPr>
              <a:spLocks noChangeArrowheads="1"/>
            </p:cNvSpPr>
            <p:nvPr/>
          </p:nvSpPr>
          <p:spPr bwMode="auto">
            <a:xfrm>
              <a:off x="6176963" y="1949450"/>
              <a:ext cx="2244725"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zh-CN" altLang="en-US" sz="2400" b="0" kern="0">
                  <a:solidFill>
                    <a:srgbClr val="000000"/>
                  </a:solidFill>
                  <a:latin typeface="微软雅黑" panose="020B0503020204020204" pitchFamily="34" charset="-122"/>
                  <a:ea typeface="微软雅黑" panose="020B0503020204020204" pitchFamily="34" charset="-122"/>
                </a:rPr>
                <a:t>复位状态</a:t>
              </a:r>
            </a:p>
          </p:txBody>
        </p:sp>
        <p:sp>
          <p:nvSpPr>
            <p:cNvPr id="110" name="Rectangle 46"/>
            <p:cNvSpPr>
              <a:spLocks noChangeArrowheads="1"/>
            </p:cNvSpPr>
            <p:nvPr/>
          </p:nvSpPr>
          <p:spPr bwMode="auto">
            <a:xfrm>
              <a:off x="4600575" y="1949450"/>
              <a:ext cx="1576388"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zh-CN" altLang="en-US" sz="2400" b="0" kern="0">
                  <a:solidFill>
                    <a:srgbClr val="000000"/>
                  </a:solidFill>
                  <a:latin typeface="微软雅黑" panose="020B0503020204020204" pitchFamily="34" charset="-122"/>
                  <a:ea typeface="微软雅黑" panose="020B0503020204020204" pitchFamily="34" charset="-122"/>
                </a:rPr>
                <a:t>寄存器</a:t>
              </a:r>
            </a:p>
          </p:txBody>
        </p:sp>
        <p:sp>
          <p:nvSpPr>
            <p:cNvPr id="111" name="Rectangle 47"/>
            <p:cNvSpPr>
              <a:spLocks noChangeArrowheads="1"/>
            </p:cNvSpPr>
            <p:nvPr/>
          </p:nvSpPr>
          <p:spPr bwMode="auto">
            <a:xfrm>
              <a:off x="2251075" y="1949450"/>
              <a:ext cx="23495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zh-CN" altLang="en-US" sz="2400" b="0" kern="0" dirty="0">
                  <a:solidFill>
                    <a:srgbClr val="000000"/>
                  </a:solidFill>
                  <a:latin typeface="微软雅黑" panose="020B0503020204020204" pitchFamily="34" charset="-122"/>
                  <a:ea typeface="微软雅黑" panose="020B0503020204020204" pitchFamily="34" charset="-122"/>
                </a:rPr>
                <a:t>复位状态</a:t>
              </a:r>
            </a:p>
          </p:txBody>
        </p:sp>
        <p:sp>
          <p:nvSpPr>
            <p:cNvPr id="112" name="Rectangle 48"/>
            <p:cNvSpPr>
              <a:spLocks noChangeArrowheads="1"/>
            </p:cNvSpPr>
            <p:nvPr/>
          </p:nvSpPr>
          <p:spPr bwMode="auto">
            <a:xfrm>
              <a:off x="777875" y="1949450"/>
              <a:ext cx="1473200" cy="410859"/>
            </a:xfrm>
            <a:prstGeom prst="rect">
              <a:avLst/>
            </a:prstGeom>
            <a:noFill/>
            <a:ln w="12700">
              <a:solidFill>
                <a:srgbClr val="000000"/>
              </a:solidFill>
              <a:miter lim="800000"/>
            </a:ln>
            <a:effectLst/>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FFCC"/>
                </a:buClr>
                <a:buSzPct val="75000"/>
                <a:buFont typeface="Wingdings" panose="05000000000000000000" pitchFamily="2" charset="2"/>
                <a:buNone/>
                <a:defRPr/>
              </a:pPr>
              <a:r>
                <a:rPr lang="zh-CN" altLang="en-US" sz="2400" b="0" kern="0">
                  <a:solidFill>
                    <a:srgbClr val="000000"/>
                  </a:solidFill>
                  <a:latin typeface="微软雅黑" panose="020B0503020204020204" pitchFamily="34" charset="-122"/>
                  <a:ea typeface="微软雅黑" panose="020B0503020204020204" pitchFamily="34" charset="-122"/>
                </a:rPr>
                <a:t>寄存器</a:t>
              </a:r>
            </a:p>
          </p:txBody>
        </p:sp>
        <p:sp>
          <p:nvSpPr>
            <p:cNvPr id="113" name="Line 49"/>
            <p:cNvSpPr>
              <a:spLocks noChangeShapeType="1"/>
            </p:cNvSpPr>
            <p:nvPr/>
          </p:nvSpPr>
          <p:spPr bwMode="auto">
            <a:xfrm>
              <a:off x="777875" y="1949450"/>
              <a:ext cx="7643813" cy="0"/>
            </a:xfrm>
            <a:prstGeom prst="line">
              <a:avLst/>
            </a:prstGeom>
            <a:noFill/>
            <a:ln w="12700" cap="sq">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14" name="Line 50"/>
            <p:cNvSpPr>
              <a:spLocks noChangeShapeType="1"/>
            </p:cNvSpPr>
            <p:nvPr/>
          </p:nvSpPr>
          <p:spPr bwMode="auto">
            <a:xfrm>
              <a:off x="777875" y="2360309"/>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15" name="Line 51"/>
            <p:cNvSpPr>
              <a:spLocks noChangeShapeType="1"/>
            </p:cNvSpPr>
            <p:nvPr/>
          </p:nvSpPr>
          <p:spPr bwMode="auto">
            <a:xfrm>
              <a:off x="777875" y="2771167"/>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16" name="Line 52"/>
            <p:cNvSpPr>
              <a:spLocks noChangeShapeType="1"/>
            </p:cNvSpPr>
            <p:nvPr/>
          </p:nvSpPr>
          <p:spPr bwMode="auto">
            <a:xfrm>
              <a:off x="777875" y="3182026"/>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17" name="Line 53"/>
            <p:cNvSpPr>
              <a:spLocks noChangeShapeType="1"/>
            </p:cNvSpPr>
            <p:nvPr/>
          </p:nvSpPr>
          <p:spPr bwMode="auto">
            <a:xfrm>
              <a:off x="777875" y="3660168"/>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18" name="Line 54"/>
            <p:cNvSpPr>
              <a:spLocks noChangeShapeType="1"/>
            </p:cNvSpPr>
            <p:nvPr/>
          </p:nvSpPr>
          <p:spPr bwMode="auto">
            <a:xfrm>
              <a:off x="777875" y="4071026"/>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19" name="Line 55"/>
            <p:cNvSpPr>
              <a:spLocks noChangeShapeType="1"/>
            </p:cNvSpPr>
            <p:nvPr/>
          </p:nvSpPr>
          <p:spPr bwMode="auto">
            <a:xfrm>
              <a:off x="777875" y="4481885"/>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0" name="Line 56"/>
            <p:cNvSpPr>
              <a:spLocks noChangeShapeType="1"/>
            </p:cNvSpPr>
            <p:nvPr/>
          </p:nvSpPr>
          <p:spPr bwMode="auto">
            <a:xfrm>
              <a:off x="777875" y="4892743"/>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1" name="Line 57"/>
            <p:cNvSpPr>
              <a:spLocks noChangeShapeType="1"/>
            </p:cNvSpPr>
            <p:nvPr/>
          </p:nvSpPr>
          <p:spPr bwMode="auto">
            <a:xfrm>
              <a:off x="777875" y="5303602"/>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2" name="Line 58"/>
            <p:cNvSpPr>
              <a:spLocks noChangeShapeType="1"/>
            </p:cNvSpPr>
            <p:nvPr/>
          </p:nvSpPr>
          <p:spPr bwMode="auto">
            <a:xfrm>
              <a:off x="777875" y="5714461"/>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3" name="Line 59"/>
            <p:cNvSpPr>
              <a:spLocks noChangeShapeType="1"/>
            </p:cNvSpPr>
            <p:nvPr/>
          </p:nvSpPr>
          <p:spPr bwMode="auto">
            <a:xfrm>
              <a:off x="777875" y="6123888"/>
              <a:ext cx="7643813" cy="0"/>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4" name="Line 60"/>
            <p:cNvSpPr>
              <a:spLocks noChangeShapeType="1"/>
            </p:cNvSpPr>
            <p:nvPr/>
          </p:nvSpPr>
          <p:spPr bwMode="auto">
            <a:xfrm>
              <a:off x="777875" y="6536178"/>
              <a:ext cx="7643813" cy="0"/>
            </a:xfrm>
            <a:prstGeom prst="line">
              <a:avLst/>
            </a:prstGeom>
            <a:noFill/>
            <a:ln w="12700" cap="sq">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5" name="Line 61"/>
            <p:cNvSpPr>
              <a:spLocks noChangeShapeType="1"/>
            </p:cNvSpPr>
            <p:nvPr/>
          </p:nvSpPr>
          <p:spPr bwMode="auto">
            <a:xfrm>
              <a:off x="777875" y="1949450"/>
              <a:ext cx="0" cy="4586728"/>
            </a:xfrm>
            <a:prstGeom prst="line">
              <a:avLst/>
            </a:prstGeom>
            <a:noFill/>
            <a:ln w="12700" cap="sq">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6" name="Line 62"/>
            <p:cNvSpPr>
              <a:spLocks noChangeShapeType="1"/>
            </p:cNvSpPr>
            <p:nvPr/>
          </p:nvSpPr>
          <p:spPr bwMode="auto">
            <a:xfrm>
              <a:off x="2251075" y="1949450"/>
              <a:ext cx="0" cy="4586728"/>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7" name="Line 63"/>
            <p:cNvSpPr>
              <a:spLocks noChangeShapeType="1"/>
            </p:cNvSpPr>
            <p:nvPr/>
          </p:nvSpPr>
          <p:spPr bwMode="auto">
            <a:xfrm>
              <a:off x="4600575" y="1949450"/>
              <a:ext cx="0" cy="4586728"/>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8" name="Line 64"/>
            <p:cNvSpPr>
              <a:spLocks noChangeShapeType="1"/>
            </p:cNvSpPr>
            <p:nvPr/>
          </p:nvSpPr>
          <p:spPr bwMode="auto">
            <a:xfrm>
              <a:off x="6176963" y="1949450"/>
              <a:ext cx="0" cy="4586728"/>
            </a:xfrm>
            <a:prstGeom prst="line">
              <a:avLst/>
            </a:prstGeom>
            <a:noFill/>
            <a:ln w="12700">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sp>
          <p:nvSpPr>
            <p:cNvPr id="129" name="Line 65"/>
            <p:cNvSpPr>
              <a:spLocks noChangeShapeType="1"/>
            </p:cNvSpPr>
            <p:nvPr/>
          </p:nvSpPr>
          <p:spPr bwMode="auto">
            <a:xfrm>
              <a:off x="8421688" y="1949450"/>
              <a:ext cx="0" cy="4586728"/>
            </a:xfrm>
            <a:prstGeom prst="line">
              <a:avLst/>
            </a:prstGeom>
            <a:noFill/>
            <a:ln w="12700" cap="sq">
              <a:solidFill>
                <a:srgbClr val="000000"/>
              </a:solidFill>
              <a:miter lim="800000"/>
            </a:ln>
            <a:effectLst/>
          </p:spPr>
          <p:txBody>
            <a:bodyPr wrap="none"/>
            <a:lstStyle/>
            <a:p>
              <a:pPr>
                <a:defRPr/>
              </a:pPr>
              <a:endParaRPr lang="zh-CN" altLang="en-US" b="1" kern="0">
                <a:solidFill>
                  <a:srgbClr val="FFFFFF"/>
                </a:solidFill>
                <a:latin typeface="微软雅黑" panose="020B0503020204020204" pitchFamily="34" charset="-122"/>
                <a:ea typeface="微软雅黑" panose="020B0503020204020204" pitchFamily="34" charset="-122"/>
              </a:endParaRPr>
            </a:p>
          </p:txBody>
        </p:sp>
      </p:grpSp>
      <p:sp>
        <p:nvSpPr>
          <p:cNvPr id="102404" name="文本框 130"/>
          <p:cNvSpPr txBox="1">
            <a:spLocks noChangeArrowheads="1"/>
          </p:cNvSpPr>
          <p:nvPr/>
        </p:nvSpPr>
        <p:spPr bwMode="auto">
          <a:xfrm>
            <a:off x="3027362" y="1310482"/>
            <a:ext cx="3149600" cy="581057"/>
          </a:xfrm>
          <a:prstGeom prst="rect">
            <a:avLst/>
          </a:prstGeom>
          <a:noFill/>
          <a:ln w="9525">
            <a:noFill/>
            <a:miter lim="800000"/>
          </a:ln>
        </p:spPr>
        <p:txBody>
          <a:bodyPr>
            <a:spAutoFit/>
          </a:bodyPr>
          <a:lstStyle/>
          <a:p>
            <a:pPr algn="just">
              <a:lnSpc>
                <a:spcPct val="150000"/>
              </a:lnSpc>
            </a:pPr>
            <a:r>
              <a:rPr lang="en-US" altLang="zh-CN" sz="2400" b="1" dirty="0">
                <a:solidFill>
                  <a:srgbClr val="000000"/>
                </a:solidFill>
                <a:latin typeface="微软雅黑" panose="020B0503020204020204" pitchFamily="34" charset="-122"/>
                <a:ea typeface="微软雅黑" panose="020B0503020204020204" pitchFamily="34" charset="-122"/>
              </a:rPr>
              <a:t>PC</a:t>
            </a:r>
            <a:r>
              <a:rPr lang="zh-CN" altLang="en-US" sz="2400" b="1" dirty="0">
                <a:solidFill>
                  <a:srgbClr val="000000"/>
                </a:solidFill>
                <a:latin typeface="微软雅黑" panose="020B0503020204020204" pitchFamily="34" charset="-122"/>
                <a:ea typeface="微软雅黑" panose="020B0503020204020204" pitchFamily="34" charset="-122"/>
              </a:rPr>
              <a:t>与</a:t>
            </a:r>
            <a:r>
              <a:rPr lang="en-US" altLang="zh-CN" sz="2400" b="1" dirty="0">
                <a:solidFill>
                  <a:srgbClr val="000000"/>
                </a:solidFill>
                <a:latin typeface="微软雅黑" panose="020B0503020204020204" pitchFamily="34" charset="-122"/>
                <a:ea typeface="微软雅黑" panose="020B0503020204020204" pitchFamily="34" charset="-122"/>
              </a:rPr>
              <a:t>SFR</a:t>
            </a:r>
            <a:r>
              <a:rPr lang="zh-CN" altLang="en-US" sz="2400" b="1" dirty="0">
                <a:solidFill>
                  <a:srgbClr val="000000"/>
                </a:solidFill>
                <a:latin typeface="微软雅黑" panose="020B0503020204020204" pitchFamily="34" charset="-122"/>
                <a:ea typeface="微软雅黑" panose="020B0503020204020204" pitchFamily="34" charset="-122"/>
              </a:rPr>
              <a:t>复位状态表</a:t>
            </a:r>
            <a:endParaRPr lang="en-US" altLang="zh-CN" sz="2400" b="1" dirty="0">
              <a:solidFill>
                <a:srgbClr val="000000"/>
              </a:solidFill>
              <a:latin typeface="微软雅黑" panose="020B0503020204020204" pitchFamily="34" charset="-122"/>
              <a:ea typeface="微软雅黑" panose="020B0503020204020204" pitchFamily="34" charset="-122"/>
            </a:endParaRPr>
          </a:p>
        </p:txBody>
      </p:sp>
      <p:pic>
        <p:nvPicPr>
          <p:cNvPr id="102405" name="图片 131"/>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sp>
        <p:nvSpPr>
          <p:cNvPr id="3" name="矩形标注 2"/>
          <p:cNvSpPr/>
          <p:nvPr/>
        </p:nvSpPr>
        <p:spPr>
          <a:xfrm>
            <a:off x="3873910" y="1074386"/>
            <a:ext cx="5020853" cy="2466463"/>
          </a:xfrm>
          <a:prstGeom prst="wedgeRectCallout">
            <a:avLst>
              <a:gd name="adj1" fmla="val -52209"/>
              <a:gd name="adj2" fmla="val 112513"/>
            </a:avLst>
          </a:prstGeom>
        </p:spPr>
        <p:style>
          <a:lnRef idx="0">
            <a:schemeClr val="accent5"/>
          </a:lnRef>
          <a:fillRef idx="3">
            <a:schemeClr val="accent5"/>
          </a:fillRef>
          <a:effectRef idx="3">
            <a:schemeClr val="accent5"/>
          </a:effectRef>
          <a:fontRef idx="minor">
            <a:schemeClr val="lt1"/>
          </a:fontRef>
        </p:style>
        <p:txBody>
          <a:bodyPr rtlCol="0" anchor="ctr"/>
          <a:lstStyle/>
          <a:p>
            <a:pPr marL="285750" indent="-285750" algn="just">
              <a:lnSpc>
                <a:spcPct val="150000"/>
              </a:lnSpc>
              <a:buFont typeface="Wingdings" panose="05000000000000000000" pitchFamily="2" charset="2"/>
              <a:buChar char="Ø"/>
            </a:pPr>
            <a:r>
              <a:rPr lang="en-US" altLang="zh-CN" sz="1600" dirty="0">
                <a:latin typeface="微软雅黑" panose="020B0503020204020204" pitchFamily="34" charset="-122"/>
                <a:ea typeface="微软雅黑" panose="020B0503020204020204" pitchFamily="34" charset="-122"/>
              </a:rPr>
              <a:t>P0~P3</a:t>
            </a:r>
            <a:r>
              <a:rPr lang="zh-CN" altLang="en-US" sz="1600" dirty="0">
                <a:latin typeface="微软雅黑" panose="020B0503020204020204" pitchFamily="34" charset="-122"/>
                <a:ea typeface="微软雅黑" panose="020B0503020204020204" pitchFamily="34" charset="-122"/>
              </a:rPr>
              <a:t>都是</a:t>
            </a:r>
            <a:r>
              <a:rPr lang="en-US" altLang="zh-CN" sz="1600" dirty="0">
                <a:latin typeface="微软雅黑" panose="020B0503020204020204" pitchFamily="34" charset="-122"/>
                <a:ea typeface="微软雅黑" panose="020B0503020204020204" pitchFamily="34" charset="-122"/>
              </a:rPr>
              <a:t>8</a:t>
            </a:r>
            <a:r>
              <a:rPr lang="zh-CN" altLang="en-US" sz="1600" dirty="0">
                <a:latin typeface="微软雅黑" panose="020B0503020204020204" pitchFamily="34" charset="-122"/>
                <a:ea typeface="微软雅黑" panose="020B0503020204020204" pitchFamily="34" charset="-122"/>
              </a:rPr>
              <a:t>位并行</a:t>
            </a:r>
            <a:r>
              <a:rPr lang="en-US" altLang="zh-CN" sz="1600" dirty="0">
                <a:latin typeface="微软雅黑" panose="020B0503020204020204" pitchFamily="34" charset="-122"/>
                <a:ea typeface="微软雅黑" panose="020B0503020204020204" pitchFamily="34" charset="-122"/>
              </a:rPr>
              <a:t>I/O</a:t>
            </a:r>
            <a:r>
              <a:rPr lang="zh-CN" altLang="en-US" sz="1600" dirty="0">
                <a:latin typeface="微软雅黑" panose="020B0503020204020204" pitchFamily="34" charset="-122"/>
                <a:ea typeface="微软雅黑" panose="020B0503020204020204" pitchFamily="34" charset="-122"/>
              </a:rPr>
              <a:t>口，此外，</a:t>
            </a:r>
            <a:r>
              <a:rPr lang="en-US" altLang="zh-CN" sz="1600" dirty="0">
                <a:latin typeface="微软雅黑" panose="020B0503020204020204" pitchFamily="34" charset="-122"/>
                <a:ea typeface="微软雅黑" panose="020B0503020204020204" pitchFamily="34" charset="-122"/>
              </a:rPr>
              <a:t>P0</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P2</a:t>
            </a:r>
            <a:r>
              <a:rPr lang="zh-CN" altLang="en-US" sz="1600" dirty="0">
                <a:latin typeface="微软雅黑" panose="020B0503020204020204" pitchFamily="34" charset="-122"/>
                <a:ea typeface="微软雅黑" panose="020B0503020204020204" pitchFamily="34" charset="-122"/>
              </a:rPr>
              <a:t>作为地址</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数据复用总线，</a:t>
            </a:r>
            <a:r>
              <a:rPr lang="en-US" altLang="zh-CN" sz="1600" dirty="0">
                <a:latin typeface="微软雅黑" panose="020B0503020204020204" pitchFamily="34" charset="-122"/>
                <a:ea typeface="微软雅黑" panose="020B0503020204020204" pitchFamily="34" charset="-122"/>
              </a:rPr>
              <a:t>P3</a:t>
            </a:r>
            <a:r>
              <a:rPr lang="zh-CN" altLang="en-US" sz="1600" dirty="0">
                <a:latin typeface="微软雅黑" panose="020B0503020204020204" pitchFamily="34" charset="-122"/>
                <a:ea typeface="微软雅黑" panose="020B0503020204020204" pitchFamily="34" charset="-122"/>
              </a:rPr>
              <a:t>具有第二功能</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命令字决定</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en-US" altLang="zh-CN" sz="1600" dirty="0">
                <a:latin typeface="微软雅黑" panose="020B0503020204020204" pitchFamily="34" charset="-122"/>
                <a:ea typeface="微软雅黑" panose="020B0503020204020204" pitchFamily="34" charset="-122"/>
              </a:rPr>
              <a:t>P0</a:t>
            </a:r>
            <a:r>
              <a:rPr lang="zh-CN" altLang="en-US" sz="1600" dirty="0">
                <a:latin typeface="微软雅黑" panose="020B0503020204020204" pitchFamily="34" charset="-122"/>
                <a:ea typeface="微软雅黑" panose="020B0503020204020204" pitchFamily="34" charset="-122"/>
              </a:rPr>
              <a:t>口是真正的双向口；</a:t>
            </a:r>
            <a:r>
              <a:rPr lang="en-US" altLang="zh-CN" sz="1600" dirty="0">
                <a:latin typeface="微软雅黑" panose="020B0503020204020204" pitchFamily="34" charset="-122"/>
                <a:ea typeface="微软雅黑" panose="020B0503020204020204" pitchFamily="34" charset="-122"/>
              </a:rPr>
              <a:t>P1~P3</a:t>
            </a:r>
            <a:r>
              <a:rPr lang="zh-CN" altLang="en-US" sz="1600" dirty="0">
                <a:latin typeface="微软雅黑" panose="020B0503020204020204" pitchFamily="34" charset="-122"/>
                <a:ea typeface="微软雅黑" panose="020B0503020204020204" pitchFamily="34" charset="-122"/>
              </a:rPr>
              <a:t>口都是准双向，作为输入时须先写高再读操作；</a:t>
            </a:r>
            <a:endParaRPr lang="en-US" altLang="zh-CN" sz="1600" dirty="0">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单片机复位时</a:t>
            </a:r>
            <a:r>
              <a:rPr lang="en-US" altLang="zh-CN" sz="1600" dirty="0">
                <a:latin typeface="微软雅黑" panose="020B0503020204020204" pitchFamily="34" charset="-122"/>
                <a:ea typeface="微软雅黑" panose="020B0503020204020204" pitchFamily="34" charset="-122"/>
              </a:rPr>
              <a:t>P0~P3</a:t>
            </a:r>
            <a:r>
              <a:rPr lang="zh-CN" altLang="en-US" sz="1600" dirty="0">
                <a:latin typeface="微软雅黑" panose="020B0503020204020204" pitchFamily="34" charset="-122"/>
                <a:ea typeface="微软雅黑" panose="020B0503020204020204" pitchFamily="34" charset="-122"/>
              </a:rPr>
              <a:t>口均为高电平，相当于已经进行一次写高操作，</a:t>
            </a:r>
            <a:r>
              <a:rPr lang="en-US" altLang="zh-CN" sz="1600" dirty="0">
                <a:latin typeface="微软雅黑" panose="020B0503020204020204" pitchFamily="34" charset="-122"/>
                <a:ea typeface="微软雅黑" panose="020B0503020204020204" pitchFamily="34" charset="-122"/>
              </a:rPr>
              <a:t>P0~P3</a:t>
            </a:r>
            <a:r>
              <a:rPr lang="zh-CN" altLang="en-US" sz="1600" dirty="0">
                <a:latin typeface="微软雅黑" panose="020B0503020204020204" pitchFamily="34" charset="-122"/>
                <a:ea typeface="微软雅黑" panose="020B0503020204020204" pitchFamily="34" charset="-122"/>
              </a:rPr>
              <a:t>复位后可读可写。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4524375"/>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2.3.2 </a:t>
            </a:r>
            <a:r>
              <a:rPr lang="zh-CN" altLang="en-US" sz="2400" b="1" dirty="0">
                <a:solidFill>
                  <a:prstClr val="black"/>
                </a:solidFill>
                <a:latin typeface="微软雅黑" panose="020B0503020204020204" pitchFamily="34" charset="-122"/>
                <a:ea typeface="微软雅黑" panose="020B0503020204020204" pitchFamily="34" charset="-122"/>
              </a:rPr>
              <a:t>程序执行工作方式</a:t>
            </a:r>
            <a:endParaRPr lang="en-US" altLang="zh-CN" sz="2400" b="1"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通常可分为</a:t>
            </a:r>
            <a:r>
              <a:rPr lang="zh-CN" altLang="en-US" sz="2400" dirty="0">
                <a:solidFill>
                  <a:srgbClr val="0000FF"/>
                </a:solidFill>
                <a:latin typeface="微软雅黑" panose="020B0503020204020204" pitchFamily="34" charset="-122"/>
                <a:ea typeface="微软雅黑" panose="020B0503020204020204" pitchFamily="34" charset="-122"/>
              </a:rPr>
              <a:t>连续执行</a:t>
            </a:r>
            <a:r>
              <a:rPr lang="zh-CN" altLang="en-US" sz="2400" dirty="0">
                <a:solidFill>
                  <a:prstClr val="black"/>
                </a:solidFill>
                <a:latin typeface="微软雅黑" panose="020B0503020204020204" pitchFamily="34" charset="-122"/>
                <a:ea typeface="微软雅黑" panose="020B0503020204020204" pitchFamily="34" charset="-122"/>
              </a:rPr>
              <a:t>和</a:t>
            </a:r>
            <a:r>
              <a:rPr lang="zh-CN" altLang="en-US" sz="2400" dirty="0">
                <a:solidFill>
                  <a:srgbClr val="0000FF"/>
                </a:solidFill>
                <a:latin typeface="微软雅黑" panose="020B0503020204020204" pitchFamily="34" charset="-122"/>
                <a:ea typeface="微软雅黑" panose="020B0503020204020204" pitchFamily="34" charset="-122"/>
              </a:rPr>
              <a:t>单步执行</a:t>
            </a:r>
            <a:r>
              <a:rPr lang="zh-CN" altLang="en-US" sz="2400" dirty="0">
                <a:solidFill>
                  <a:prstClr val="black"/>
                </a:solidFill>
                <a:latin typeface="微软雅黑" panose="020B0503020204020204" pitchFamily="34" charset="-122"/>
                <a:ea typeface="微软雅黑" panose="020B0503020204020204" pitchFamily="34" charset="-122"/>
              </a:rPr>
              <a:t>两种工作方式。</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连续执行方式</a:t>
            </a:r>
          </a:p>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连续执行方式是单片机</a:t>
            </a:r>
            <a:r>
              <a:rPr lang="zh-CN" altLang="en-US" sz="2400" dirty="0">
                <a:solidFill>
                  <a:srgbClr val="0000FF"/>
                </a:solidFill>
                <a:latin typeface="微软雅黑" panose="020B0503020204020204" pitchFamily="34" charset="-122"/>
                <a:ea typeface="微软雅黑" panose="020B0503020204020204" pitchFamily="34" charset="-122"/>
              </a:rPr>
              <a:t>正常执行</a:t>
            </a:r>
            <a:r>
              <a:rPr lang="zh-CN" altLang="en-US" sz="2400" dirty="0">
                <a:solidFill>
                  <a:prstClr val="black"/>
                </a:solidFill>
                <a:latin typeface="微软雅黑" panose="020B0503020204020204" pitchFamily="34" charset="-122"/>
                <a:ea typeface="微软雅黑" panose="020B0503020204020204" pitchFamily="34" charset="-122"/>
              </a:rPr>
              <a:t>控制程序的工作方式。 </a:t>
            </a: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单步执行方式</a:t>
            </a:r>
          </a:p>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用户在调试程序时，常常要一条一条地执行程序中的每一条指令。单步执行方式就是为用户</a:t>
            </a:r>
            <a:r>
              <a:rPr lang="zh-CN" altLang="en-US" sz="2400" dirty="0">
                <a:solidFill>
                  <a:srgbClr val="0000FF"/>
                </a:solidFill>
                <a:latin typeface="微软雅黑" panose="020B0503020204020204" pitchFamily="34" charset="-122"/>
                <a:ea typeface="微软雅黑" panose="020B0503020204020204" pitchFamily="34" charset="-122"/>
              </a:rPr>
              <a:t>调试程序</a:t>
            </a:r>
            <a:r>
              <a:rPr lang="zh-CN" altLang="en-US" sz="2400" dirty="0">
                <a:solidFill>
                  <a:prstClr val="black"/>
                </a:solidFill>
                <a:latin typeface="微软雅黑" panose="020B0503020204020204" pitchFamily="34" charset="-122"/>
                <a:ea typeface="微软雅黑" panose="020B0503020204020204" pitchFamily="34" charset="-122"/>
              </a:rPr>
              <a:t>而设计出的一种工作方式。</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
        <p:nvSpPr>
          <p:cNvPr id="104450"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2.3 MCS-51</a:t>
            </a:r>
            <a:r>
              <a:rPr lang="zh-CN" altLang="en-US" sz="2800">
                <a:solidFill>
                  <a:srgbClr val="000000"/>
                </a:solidFill>
                <a:latin typeface="微软雅黑" panose="020B0503020204020204" pitchFamily="34" charset="-122"/>
                <a:ea typeface="微软雅黑" panose="020B0503020204020204" pitchFamily="34" charset="-122"/>
              </a:rPr>
              <a:t>的工作方式</a:t>
            </a:r>
          </a:p>
        </p:txBody>
      </p:sp>
      <p:pic>
        <p:nvPicPr>
          <p:cNvPr id="104451"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04452"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078313"/>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2.3.3 </a:t>
            </a:r>
            <a:r>
              <a:rPr lang="zh-CN" altLang="en-US" sz="2400" b="1" dirty="0">
                <a:solidFill>
                  <a:prstClr val="black"/>
                </a:solidFill>
                <a:latin typeface="微软雅黑" panose="020B0503020204020204" pitchFamily="34" charset="-122"/>
                <a:ea typeface="微软雅黑" panose="020B0503020204020204" pitchFamily="34" charset="-122"/>
              </a:rPr>
              <a:t>节电工作方式</a:t>
            </a:r>
            <a:endParaRPr lang="en-US" altLang="zh-CN" sz="2400" b="1"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节电工作方式是一种能减少单片机功耗的工作方式，通常有</a:t>
            </a:r>
            <a:r>
              <a:rPr lang="zh-CN" altLang="en-US" sz="2400" dirty="0">
                <a:solidFill>
                  <a:srgbClr val="0000FF"/>
                </a:solidFill>
                <a:latin typeface="微软雅黑" panose="020B0503020204020204" pitchFamily="34" charset="-122"/>
                <a:ea typeface="微软雅黑" panose="020B0503020204020204" pitchFamily="34" charset="-122"/>
              </a:rPr>
              <a:t>空闲方式</a:t>
            </a:r>
            <a:r>
              <a:rPr lang="zh-CN" altLang="en-US" sz="2400" dirty="0">
                <a:solidFill>
                  <a:prstClr val="black"/>
                </a:solidFill>
                <a:latin typeface="微软雅黑" panose="020B0503020204020204" pitchFamily="34" charset="-122"/>
                <a:ea typeface="微软雅黑" panose="020B0503020204020204" pitchFamily="34" charset="-122"/>
              </a:rPr>
              <a:t>和</a:t>
            </a:r>
            <a:r>
              <a:rPr lang="zh-CN" altLang="en-US" sz="2400" dirty="0">
                <a:solidFill>
                  <a:srgbClr val="0000FF"/>
                </a:solidFill>
                <a:latin typeface="微软雅黑" panose="020B0503020204020204" pitchFamily="34" charset="-122"/>
                <a:ea typeface="微软雅黑" panose="020B0503020204020204" pitchFamily="34" charset="-122"/>
              </a:rPr>
              <a:t>掉电方式</a:t>
            </a:r>
            <a:r>
              <a:rPr lang="zh-CN" altLang="en-US" sz="2400" dirty="0">
                <a:solidFill>
                  <a:prstClr val="black"/>
                </a:solidFill>
                <a:latin typeface="微软雅黑" panose="020B0503020204020204" pitchFamily="34" charset="-122"/>
                <a:ea typeface="微软雅黑" panose="020B0503020204020204" pitchFamily="34" charset="-122"/>
              </a:rPr>
              <a:t>两种。</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只有</a:t>
            </a:r>
            <a:r>
              <a:rPr lang="en-US" altLang="zh-CN" sz="2400" dirty="0">
                <a:solidFill>
                  <a:srgbClr val="C00000"/>
                </a:solidFill>
                <a:latin typeface="微软雅黑" panose="020B0503020204020204" pitchFamily="34" charset="-122"/>
                <a:ea typeface="微软雅黑" panose="020B0503020204020204" pitchFamily="34" charset="-122"/>
              </a:rPr>
              <a:t>CHMOS</a:t>
            </a:r>
            <a:r>
              <a:rPr lang="zh-CN" altLang="en-US" sz="2400" dirty="0">
                <a:solidFill>
                  <a:srgbClr val="C00000"/>
                </a:solidFill>
                <a:latin typeface="微软雅黑" panose="020B0503020204020204" pitchFamily="34" charset="-122"/>
                <a:ea typeface="微软雅黑" panose="020B0503020204020204" pitchFamily="34" charset="-122"/>
              </a:rPr>
              <a:t>型器件</a:t>
            </a:r>
            <a:r>
              <a:rPr lang="zh-CN" altLang="en-US" sz="2400" dirty="0">
                <a:solidFill>
                  <a:prstClr val="black"/>
                </a:solidFill>
                <a:latin typeface="微软雅黑" panose="020B0503020204020204" pitchFamily="34" charset="-122"/>
                <a:ea typeface="微软雅黑" panose="020B0503020204020204" pitchFamily="34" charset="-122"/>
              </a:rPr>
              <a:t>才有这种工作方式。</a:t>
            </a:r>
            <a:endParaRPr lang="en-US" altLang="zh-CN" sz="24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掉电方式</a:t>
            </a:r>
          </a:p>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单片机在运行过程中，如果发生掉电，</a:t>
            </a:r>
            <a:r>
              <a:rPr lang="zh-CN" altLang="en-US" sz="2400" dirty="0">
                <a:solidFill>
                  <a:srgbClr val="0000FF"/>
                </a:solidFill>
                <a:latin typeface="微软雅黑" panose="020B0503020204020204" pitchFamily="34" charset="-122"/>
                <a:ea typeface="微软雅黑" panose="020B0503020204020204" pitchFamily="34" charset="-122"/>
              </a:rPr>
              <a:t>片内</a:t>
            </a:r>
            <a:r>
              <a:rPr lang="en-US" altLang="zh-CN" sz="2400" dirty="0">
                <a:solidFill>
                  <a:srgbClr val="0000FF"/>
                </a:solidFill>
                <a:latin typeface="微软雅黑" panose="020B0503020204020204" pitchFamily="34" charset="-122"/>
                <a:ea typeface="微软雅黑" panose="020B0503020204020204" pitchFamily="34" charset="-122"/>
              </a:rPr>
              <a:t>RAM</a:t>
            </a:r>
            <a:r>
              <a:rPr lang="zh-CN" altLang="en-US" sz="2400" dirty="0">
                <a:solidFill>
                  <a:srgbClr val="0000FF"/>
                </a:solidFill>
                <a:latin typeface="微软雅黑" panose="020B0503020204020204" pitchFamily="34" charset="-122"/>
                <a:ea typeface="微软雅黑" panose="020B0503020204020204" pitchFamily="34" charset="-122"/>
              </a:rPr>
              <a:t>和</a:t>
            </a:r>
            <a:r>
              <a:rPr lang="en-US" altLang="zh-CN" sz="2400" dirty="0">
                <a:solidFill>
                  <a:srgbClr val="0000FF"/>
                </a:solidFill>
                <a:latin typeface="微软雅黑" panose="020B0503020204020204" pitchFamily="34" charset="-122"/>
                <a:ea typeface="微软雅黑" panose="020B0503020204020204" pitchFamily="34" charset="-122"/>
              </a:rPr>
              <a:t>SFR</a:t>
            </a:r>
            <a:r>
              <a:rPr lang="zh-CN" altLang="en-US" sz="2400" dirty="0">
                <a:solidFill>
                  <a:srgbClr val="0000FF"/>
                </a:solidFill>
                <a:latin typeface="微软雅黑" panose="020B0503020204020204" pitchFamily="34" charset="-122"/>
                <a:ea typeface="微软雅黑" panose="020B0503020204020204" pitchFamily="34" charset="-122"/>
              </a:rPr>
              <a:t>中的信息将会丢失</a:t>
            </a:r>
            <a:r>
              <a:rPr lang="zh-CN" altLang="en-US" sz="2400" dirty="0">
                <a:solidFill>
                  <a:prstClr val="black"/>
                </a:solidFill>
                <a:latin typeface="微软雅黑" panose="020B0503020204020204" pitchFamily="34" charset="-122"/>
                <a:ea typeface="微软雅黑" panose="020B0503020204020204" pitchFamily="34" charset="-122"/>
              </a:rPr>
              <a:t>。为防止信息丢失，可以把一组备用电源加到</a:t>
            </a:r>
            <a:r>
              <a:rPr lang="en-US" altLang="zh-CN" sz="2400" dirty="0">
                <a:solidFill>
                  <a:prstClr val="black"/>
                </a:solidFill>
                <a:latin typeface="微软雅黑" panose="020B0503020204020204" pitchFamily="34" charset="-122"/>
                <a:ea typeface="微软雅黑" panose="020B0503020204020204" pitchFamily="34" charset="-122"/>
              </a:rPr>
              <a:t>RST/V</a:t>
            </a:r>
            <a:r>
              <a:rPr lang="en-US" altLang="zh-CN" sz="2400" baseline="-25000" dirty="0">
                <a:solidFill>
                  <a:prstClr val="black"/>
                </a:solidFill>
                <a:latin typeface="微软雅黑" panose="020B0503020204020204" pitchFamily="34" charset="-122"/>
                <a:ea typeface="微软雅黑" panose="020B0503020204020204" pitchFamily="34" charset="-122"/>
              </a:rPr>
              <a:t>PD</a:t>
            </a:r>
            <a:r>
              <a:rPr lang="zh-CN" altLang="en-US" sz="2400" dirty="0">
                <a:solidFill>
                  <a:prstClr val="black"/>
                </a:solidFill>
                <a:latin typeface="微软雅黑" panose="020B0503020204020204" pitchFamily="34" charset="-122"/>
                <a:ea typeface="微软雅黑" panose="020B0503020204020204" pitchFamily="34" charset="-122"/>
              </a:rPr>
              <a:t>端，当</a:t>
            </a:r>
            <a:r>
              <a:rPr lang="en-US" altLang="zh-CN" sz="2400" dirty="0">
                <a:solidFill>
                  <a:prstClr val="black"/>
                </a:solidFill>
                <a:latin typeface="微软雅黑" panose="020B0503020204020204" pitchFamily="34" charset="-122"/>
                <a:ea typeface="微软雅黑" panose="020B0503020204020204" pitchFamily="34" charset="-122"/>
              </a:rPr>
              <a:t>V</a:t>
            </a:r>
            <a:r>
              <a:rPr lang="en-US" altLang="zh-CN" sz="2400" baseline="-25000" dirty="0">
                <a:solidFill>
                  <a:prstClr val="black"/>
                </a:solidFill>
                <a:latin typeface="微软雅黑" panose="020B0503020204020204" pitchFamily="34" charset="-122"/>
                <a:ea typeface="微软雅黑" panose="020B0503020204020204" pitchFamily="34" charset="-122"/>
              </a:rPr>
              <a:t>CC</a:t>
            </a:r>
            <a:r>
              <a:rPr lang="zh-CN" altLang="en-US" sz="2400" dirty="0">
                <a:solidFill>
                  <a:prstClr val="black"/>
                </a:solidFill>
                <a:latin typeface="微软雅黑" panose="020B0503020204020204" pitchFamily="34" charset="-122"/>
                <a:ea typeface="微软雅黑" panose="020B0503020204020204" pitchFamily="34" charset="-122"/>
              </a:rPr>
              <a:t>上的电压低于</a:t>
            </a:r>
            <a:r>
              <a:rPr lang="en-US" altLang="zh-CN" sz="2400" dirty="0">
                <a:solidFill>
                  <a:prstClr val="black"/>
                </a:solidFill>
                <a:latin typeface="微软雅黑" panose="020B0503020204020204" pitchFamily="34" charset="-122"/>
                <a:ea typeface="微软雅黑" panose="020B0503020204020204" pitchFamily="34" charset="-122"/>
              </a:rPr>
              <a:t>V</a:t>
            </a:r>
            <a:r>
              <a:rPr lang="en-US" altLang="zh-CN" sz="2400" baseline="-25000" dirty="0">
                <a:solidFill>
                  <a:prstClr val="black"/>
                </a:solidFill>
                <a:latin typeface="微软雅黑" panose="020B0503020204020204" pitchFamily="34" charset="-122"/>
                <a:ea typeface="微软雅黑" panose="020B0503020204020204" pitchFamily="34" charset="-122"/>
              </a:rPr>
              <a:t>PD</a:t>
            </a:r>
            <a:r>
              <a:rPr lang="zh-CN" altLang="en-US" sz="2400" dirty="0">
                <a:solidFill>
                  <a:prstClr val="black"/>
                </a:solidFill>
                <a:latin typeface="微软雅黑" panose="020B0503020204020204" pitchFamily="34" charset="-122"/>
                <a:ea typeface="微软雅黑" panose="020B0503020204020204" pitchFamily="34" charset="-122"/>
              </a:rPr>
              <a:t>上的电压时，备用电源通过</a:t>
            </a:r>
            <a:r>
              <a:rPr lang="en-US" altLang="zh-CN" sz="2400" dirty="0">
                <a:solidFill>
                  <a:prstClr val="black"/>
                </a:solidFill>
                <a:latin typeface="微软雅黑" panose="020B0503020204020204" pitchFamily="34" charset="-122"/>
                <a:ea typeface="微软雅黑" panose="020B0503020204020204" pitchFamily="34" charset="-122"/>
              </a:rPr>
              <a:t>V</a:t>
            </a:r>
            <a:r>
              <a:rPr lang="en-US" altLang="zh-CN" sz="2400" baseline="-25000" dirty="0">
                <a:solidFill>
                  <a:prstClr val="black"/>
                </a:solidFill>
                <a:latin typeface="微软雅黑" panose="020B0503020204020204" pitchFamily="34" charset="-122"/>
                <a:ea typeface="微软雅黑" panose="020B0503020204020204" pitchFamily="34" charset="-122"/>
              </a:rPr>
              <a:t>PD</a:t>
            </a:r>
            <a:r>
              <a:rPr lang="zh-CN" altLang="en-US" sz="2400" dirty="0">
                <a:solidFill>
                  <a:prstClr val="black"/>
                </a:solidFill>
                <a:latin typeface="微软雅黑" panose="020B0503020204020204" pitchFamily="34" charset="-122"/>
                <a:ea typeface="微软雅黑" panose="020B0503020204020204" pitchFamily="34" charset="-122"/>
              </a:rPr>
              <a:t>端，以低功耗保持内部</a:t>
            </a:r>
            <a:r>
              <a:rPr lang="en-US" altLang="zh-CN" sz="2400" dirty="0">
                <a:solidFill>
                  <a:prstClr val="black"/>
                </a:solidFill>
                <a:latin typeface="微软雅黑" panose="020B0503020204020204" pitchFamily="34" charset="-122"/>
                <a:ea typeface="微软雅黑" panose="020B0503020204020204" pitchFamily="34" charset="-122"/>
              </a:rPr>
              <a:t>RAM</a:t>
            </a:r>
            <a:r>
              <a:rPr lang="zh-CN" altLang="en-US" sz="2400" dirty="0">
                <a:solidFill>
                  <a:prstClr val="black"/>
                </a:solidFill>
                <a:latin typeface="微软雅黑" panose="020B0503020204020204" pitchFamily="34" charset="-122"/>
                <a:ea typeface="微软雅黑" panose="020B0503020204020204" pitchFamily="34" charset="-122"/>
              </a:rPr>
              <a:t>和</a:t>
            </a:r>
            <a:r>
              <a:rPr lang="en-US" altLang="zh-CN" sz="2400" dirty="0">
                <a:solidFill>
                  <a:prstClr val="black"/>
                </a:solidFill>
                <a:latin typeface="微软雅黑" panose="020B0503020204020204" pitchFamily="34" charset="-122"/>
                <a:ea typeface="微软雅黑" panose="020B0503020204020204" pitchFamily="34" charset="-122"/>
              </a:rPr>
              <a:t>SFR</a:t>
            </a:r>
            <a:r>
              <a:rPr lang="zh-CN" altLang="en-US" sz="2400" dirty="0">
                <a:solidFill>
                  <a:prstClr val="black"/>
                </a:solidFill>
                <a:latin typeface="微软雅黑" panose="020B0503020204020204" pitchFamily="34" charset="-122"/>
                <a:ea typeface="微软雅黑" panose="020B0503020204020204" pitchFamily="34" charset="-122"/>
              </a:rPr>
              <a:t>中的数据。 </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
        <p:nvSpPr>
          <p:cNvPr id="10649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2.3 MCS-51</a:t>
            </a:r>
            <a:r>
              <a:rPr lang="zh-CN" altLang="en-US" sz="2800">
                <a:solidFill>
                  <a:srgbClr val="000000"/>
                </a:solidFill>
                <a:latin typeface="微软雅黑" panose="020B0503020204020204" pitchFamily="34" charset="-122"/>
                <a:ea typeface="微软雅黑" panose="020B0503020204020204" pitchFamily="34" charset="-122"/>
              </a:rPr>
              <a:t>的工作方式</a:t>
            </a:r>
          </a:p>
        </p:txBody>
      </p:sp>
      <p:pic>
        <p:nvPicPr>
          <p:cNvPr id="106499"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06500"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631180"/>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2.3.3 </a:t>
            </a:r>
            <a:r>
              <a:rPr lang="zh-CN" altLang="en-US" sz="2400" b="1" dirty="0">
                <a:solidFill>
                  <a:prstClr val="black"/>
                </a:solidFill>
                <a:latin typeface="微软雅黑" panose="020B0503020204020204" pitchFamily="34" charset="-122"/>
                <a:ea typeface="微软雅黑" panose="020B0503020204020204" pitchFamily="34" charset="-122"/>
              </a:rPr>
              <a:t>节电工作方式</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空闲方式</a:t>
            </a:r>
          </a:p>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进入空闲方式后，</a:t>
            </a:r>
            <a:r>
              <a:rPr lang="en-US" altLang="zh-CN" sz="2400" dirty="0">
                <a:solidFill>
                  <a:prstClr val="black"/>
                </a:solidFill>
                <a:latin typeface="微软雅黑" panose="020B0503020204020204" pitchFamily="34" charset="-122"/>
                <a:ea typeface="微软雅黑" panose="020B0503020204020204" pitchFamily="34" charset="-122"/>
              </a:rPr>
              <a:t>CPU</a:t>
            </a:r>
            <a:r>
              <a:rPr lang="zh-CN" altLang="en-US" sz="2400" dirty="0">
                <a:solidFill>
                  <a:prstClr val="black"/>
                </a:solidFill>
                <a:latin typeface="微软雅黑" panose="020B0503020204020204" pitchFamily="34" charset="-122"/>
                <a:ea typeface="微软雅黑" panose="020B0503020204020204" pitchFamily="34" charset="-122"/>
              </a:rPr>
              <a:t>停止工作，但中断、串行口和定时器</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计数器可以继续工作。此时，</a:t>
            </a:r>
            <a:r>
              <a:rPr lang="en-US" altLang="zh-CN" sz="2400" dirty="0">
                <a:solidFill>
                  <a:prstClr val="black"/>
                </a:solidFill>
                <a:latin typeface="微软雅黑" panose="020B0503020204020204" pitchFamily="34" charset="-122"/>
                <a:ea typeface="微软雅黑" panose="020B0503020204020204" pitchFamily="34" charset="-122"/>
              </a:rPr>
              <a:t>CPU</a:t>
            </a:r>
            <a:r>
              <a:rPr lang="zh-CN" altLang="en-US" sz="2400" dirty="0">
                <a:solidFill>
                  <a:prstClr val="black"/>
                </a:solidFill>
                <a:latin typeface="微软雅黑" panose="020B0503020204020204" pitchFamily="34" charset="-122"/>
                <a:ea typeface="微软雅黑" panose="020B0503020204020204" pitchFamily="34" charset="-122"/>
              </a:rPr>
              <a:t>中的</a:t>
            </a:r>
            <a:r>
              <a:rPr lang="en-US" altLang="zh-CN" sz="2400" dirty="0">
                <a:solidFill>
                  <a:prstClr val="black"/>
                </a:solidFill>
                <a:latin typeface="微软雅黑" panose="020B0503020204020204" pitchFamily="34" charset="-122"/>
                <a:ea typeface="微软雅黑" panose="020B0503020204020204" pitchFamily="34" charset="-122"/>
              </a:rPr>
              <a:t>SP</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PC</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PSW</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ACC</a:t>
            </a:r>
            <a:r>
              <a:rPr lang="zh-CN" altLang="en-US" sz="2400" dirty="0">
                <a:solidFill>
                  <a:prstClr val="black"/>
                </a:solidFill>
                <a:latin typeface="微软雅黑" panose="020B0503020204020204" pitchFamily="34" charset="-122"/>
                <a:ea typeface="微软雅黑" panose="020B0503020204020204" pitchFamily="34" charset="-122"/>
              </a:rPr>
              <a:t>及</a:t>
            </a:r>
            <a:r>
              <a:rPr lang="en-US" altLang="zh-CN" sz="2400" dirty="0">
                <a:solidFill>
                  <a:prstClr val="black"/>
                </a:solidFill>
                <a:latin typeface="微软雅黑" panose="020B0503020204020204" pitchFamily="34" charset="-122"/>
                <a:ea typeface="微软雅黑" panose="020B0503020204020204" pitchFamily="34" charset="-122"/>
              </a:rPr>
              <a:t>SFR</a:t>
            </a:r>
            <a:r>
              <a:rPr lang="zh-CN" altLang="en-US" sz="2400" dirty="0">
                <a:solidFill>
                  <a:prstClr val="black"/>
                </a:solidFill>
                <a:latin typeface="微软雅黑" panose="020B0503020204020204" pitchFamily="34" charset="-122"/>
                <a:ea typeface="微软雅黑" panose="020B0503020204020204" pitchFamily="34" charset="-122"/>
              </a:rPr>
              <a:t>中的其他寄存器和内部</a:t>
            </a:r>
            <a:r>
              <a:rPr lang="en-US" altLang="zh-CN" sz="2400" dirty="0">
                <a:solidFill>
                  <a:prstClr val="black"/>
                </a:solidFill>
                <a:latin typeface="微软雅黑" panose="020B0503020204020204" pitchFamily="34" charset="-122"/>
                <a:ea typeface="微软雅黑" panose="020B0503020204020204" pitchFamily="34" charset="-122"/>
              </a:rPr>
              <a:t>RAM</a:t>
            </a:r>
            <a:r>
              <a:rPr lang="zh-CN" altLang="en-US" sz="2400" dirty="0">
                <a:solidFill>
                  <a:prstClr val="black"/>
                </a:solidFill>
                <a:latin typeface="微软雅黑" panose="020B0503020204020204" pitchFamily="34" charset="-122"/>
                <a:ea typeface="微软雅黑" panose="020B0503020204020204" pitchFamily="34" charset="-122"/>
              </a:rPr>
              <a:t>中的内容保持不变，时钟电路继续工作，</a:t>
            </a:r>
            <a:r>
              <a:rPr lang="en-US" altLang="zh-CN" sz="2400" dirty="0">
                <a:solidFill>
                  <a:prstClr val="black"/>
                </a:solidFill>
                <a:latin typeface="微软雅黑" panose="020B0503020204020204" pitchFamily="34" charset="-122"/>
                <a:ea typeface="微软雅黑" panose="020B0503020204020204" pitchFamily="34" charset="-122"/>
              </a:rPr>
              <a:t>ALE</a:t>
            </a:r>
            <a:r>
              <a:rPr lang="zh-CN" altLang="en-US" sz="2400" dirty="0">
                <a:solidFill>
                  <a:prstClr val="black"/>
                </a:solidFill>
                <a:latin typeface="微软雅黑" panose="020B0503020204020204" pitchFamily="34" charset="-122"/>
                <a:ea typeface="微软雅黑" panose="020B0503020204020204" pitchFamily="34" charset="-122"/>
              </a:rPr>
              <a:t>和</a:t>
            </a:r>
            <a:r>
              <a:rPr lang="en-US" altLang="zh-CN" sz="2400" dirty="0">
                <a:solidFill>
                  <a:prstClr val="black"/>
                </a:solidFill>
                <a:latin typeface="微软雅黑" panose="020B0503020204020204" pitchFamily="34" charset="-122"/>
                <a:ea typeface="微软雅黑" panose="020B0503020204020204" pitchFamily="34" charset="-122"/>
              </a:rPr>
              <a:t>/PSEN</a:t>
            </a:r>
            <a:r>
              <a:rPr lang="zh-CN" altLang="en-US" sz="2400" dirty="0">
                <a:solidFill>
                  <a:prstClr val="black"/>
                </a:solidFill>
                <a:latin typeface="微软雅黑" panose="020B0503020204020204" pitchFamily="34" charset="-122"/>
                <a:ea typeface="微软雅黑" panose="020B0503020204020204" pitchFamily="34" charset="-122"/>
              </a:rPr>
              <a:t>变为高电平，无脉冲输出，处在无效状态。</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      </a:t>
            </a:r>
            <a:r>
              <a:rPr lang="zh-CN" altLang="en-US" sz="2400" dirty="0">
                <a:solidFill>
                  <a:prstClr val="black"/>
                </a:solidFill>
                <a:latin typeface="微软雅黑" panose="020B0503020204020204" pitchFamily="34" charset="-122"/>
                <a:ea typeface="微软雅黑" panose="020B0503020204020204" pitchFamily="34" charset="-122"/>
              </a:rPr>
              <a:t>空闲工作方式期间，如果有中断产生，则单片机通过内部的</a:t>
            </a:r>
            <a:r>
              <a:rPr lang="zh-CN" altLang="en-US" sz="2400" dirty="0">
                <a:solidFill>
                  <a:srgbClr val="0000FF"/>
                </a:solidFill>
                <a:latin typeface="微软雅黑" panose="020B0503020204020204" pitchFamily="34" charset="-122"/>
                <a:ea typeface="微软雅黑" panose="020B0503020204020204" pitchFamily="34" charset="-122"/>
              </a:rPr>
              <a:t>硬件电路</a:t>
            </a:r>
            <a:r>
              <a:rPr lang="zh-CN" altLang="en-US" sz="2400" dirty="0">
                <a:solidFill>
                  <a:prstClr val="black"/>
                </a:solidFill>
                <a:latin typeface="微软雅黑" panose="020B0503020204020204" pitchFamily="34" charset="-122"/>
                <a:ea typeface="微软雅黑" panose="020B0503020204020204" pitchFamily="34" charset="-122"/>
              </a:rPr>
              <a:t>自动使</a:t>
            </a:r>
            <a:r>
              <a:rPr lang="en-US" altLang="zh-CN" sz="2400" b="1" dirty="0">
                <a:solidFill>
                  <a:prstClr val="black"/>
                </a:solidFill>
                <a:latin typeface="微软雅黑" panose="020B0503020204020204" pitchFamily="34" charset="-122"/>
                <a:ea typeface="微软雅黑" panose="020B0503020204020204" pitchFamily="34" charset="-122"/>
              </a:rPr>
              <a:t>IDL</a:t>
            </a:r>
            <a:r>
              <a:rPr lang="en-US" altLang="zh-CN" sz="2400" dirty="0">
                <a:solidFill>
                  <a:prstClr val="black"/>
                </a:solidFill>
                <a:latin typeface="微软雅黑" panose="020B0503020204020204" pitchFamily="34" charset="-122"/>
                <a:ea typeface="微软雅黑" panose="020B0503020204020204" pitchFamily="34" charset="-122"/>
              </a:rPr>
              <a:t>=0</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srgbClr val="0000FF"/>
                </a:solidFill>
                <a:latin typeface="微软雅黑" panose="020B0503020204020204" pitchFamily="34" charset="-122"/>
                <a:ea typeface="微软雅黑" panose="020B0503020204020204" pitchFamily="34" charset="-122"/>
              </a:rPr>
              <a:t>CPU</a:t>
            </a:r>
            <a:r>
              <a:rPr lang="zh-CN" altLang="en-US" sz="2400" dirty="0">
                <a:solidFill>
                  <a:srgbClr val="0000FF"/>
                </a:solidFill>
                <a:latin typeface="微软雅黑" panose="020B0503020204020204" pitchFamily="34" charset="-122"/>
                <a:ea typeface="微软雅黑" panose="020B0503020204020204" pitchFamily="34" charset="-122"/>
              </a:rPr>
              <a:t>从空闲方式中退出</a:t>
            </a:r>
            <a:r>
              <a:rPr lang="zh-CN" altLang="en-US" sz="2400" dirty="0">
                <a:solidFill>
                  <a:prstClr val="black"/>
                </a:solidFill>
                <a:latin typeface="微软雅黑" panose="020B0503020204020204" pitchFamily="34" charset="-122"/>
                <a:ea typeface="微软雅黑" panose="020B0503020204020204" pitchFamily="34" charset="-122"/>
              </a:rPr>
              <a:t>，继续执行原来的程序。</a:t>
            </a:r>
            <a:endParaRPr lang="zh-CN" altLang="en-US" sz="2000" dirty="0">
              <a:solidFill>
                <a:srgbClr val="C00000"/>
              </a:solidFill>
              <a:latin typeface="微软雅黑" panose="020B0503020204020204" pitchFamily="34" charset="-122"/>
              <a:ea typeface="微软雅黑" panose="020B0503020204020204" pitchFamily="34" charset="-122"/>
            </a:endParaRPr>
          </a:p>
        </p:txBody>
      </p:sp>
      <p:sp>
        <p:nvSpPr>
          <p:cNvPr id="108546"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2.3 MCS-51</a:t>
            </a:r>
            <a:r>
              <a:rPr lang="zh-CN" altLang="en-US" sz="2800">
                <a:solidFill>
                  <a:srgbClr val="000000"/>
                </a:solidFill>
                <a:latin typeface="微软雅黑" panose="020B0503020204020204" pitchFamily="34" charset="-122"/>
                <a:ea typeface="微软雅黑" panose="020B0503020204020204" pitchFamily="34" charset="-122"/>
              </a:rPr>
              <a:t>的工作方式</a:t>
            </a:r>
          </a:p>
        </p:txBody>
      </p:sp>
      <p:pic>
        <p:nvPicPr>
          <p:cNvPr id="108547"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08548"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文本框 1"/>
          <p:cNvSpPr txBox="1">
            <a:spLocks noChangeArrowheads="1"/>
          </p:cNvSpPr>
          <p:nvPr/>
        </p:nvSpPr>
        <p:spPr bwMode="auto">
          <a:xfrm>
            <a:off x="257175" y="736600"/>
            <a:ext cx="8636000" cy="5078313"/>
          </a:xfrm>
          <a:prstGeom prst="rect">
            <a:avLst/>
          </a:prstGeom>
          <a:noFill/>
          <a:ln w="9525">
            <a:noFill/>
            <a:miter lim="800000"/>
          </a:ln>
        </p:spPr>
        <p:txBody>
          <a:bodyPr>
            <a:spAutoFit/>
          </a:bodyPr>
          <a:lstStyle/>
          <a:p>
            <a:pPr algn="just">
              <a:lnSpc>
                <a:spcPct val="150000"/>
              </a:lnSpc>
            </a:pPr>
            <a:r>
              <a:rPr lang="zh-CN" altLang="en-US" sz="2400" dirty="0">
                <a:solidFill>
                  <a:srgbClr val="000000"/>
                </a:solidFill>
                <a:latin typeface="微软雅黑" panose="020B0503020204020204" pitchFamily="34" charset="-122"/>
                <a:ea typeface="微软雅黑" panose="020B0503020204020204" pitchFamily="34" charset="-122"/>
              </a:rPr>
              <a:t>      时序就是计算机指令执行时各种微操作在时间上的顺序关系。计算机所执行的每一个操作都是在时钟信号的控制下进行。</a:t>
            </a:r>
          </a:p>
          <a:p>
            <a:pPr algn="just">
              <a:lnSpc>
                <a:spcPct val="150000"/>
              </a:lnSpc>
            </a:pPr>
            <a:r>
              <a:rPr lang="en-US" altLang="zh-CN" sz="2400" b="1" dirty="0">
                <a:solidFill>
                  <a:srgbClr val="000000"/>
                </a:solidFill>
                <a:latin typeface="微软雅黑" panose="020B0503020204020204" pitchFamily="34" charset="-122"/>
                <a:ea typeface="微软雅黑" panose="020B0503020204020204" pitchFamily="34" charset="-122"/>
              </a:rPr>
              <a:t>2.4.1 </a:t>
            </a:r>
            <a:r>
              <a:rPr lang="zh-CN" altLang="en-US" sz="2400" b="1" dirty="0">
                <a:solidFill>
                  <a:srgbClr val="000000"/>
                </a:solidFill>
                <a:latin typeface="微软雅黑" panose="020B0503020204020204" pitchFamily="34" charset="-122"/>
                <a:ea typeface="微软雅黑" panose="020B0503020204020204" pitchFamily="34" charset="-122"/>
              </a:rPr>
              <a:t>时钟</a:t>
            </a:r>
            <a:endParaRPr lang="en-US" altLang="zh-CN" sz="2400" b="1" dirty="0">
              <a:solidFill>
                <a:srgbClr val="000000"/>
              </a:solidFill>
              <a:latin typeface="微软雅黑" panose="020B0503020204020204" pitchFamily="34" charset="-122"/>
              <a:ea typeface="微软雅黑" panose="020B0503020204020204" pitchFamily="34" charset="-122"/>
            </a:endParaRPr>
          </a:p>
          <a:p>
            <a:pPr algn="just">
              <a:lnSpc>
                <a:spcPct val="150000"/>
              </a:lnSpc>
            </a:pPr>
            <a:r>
              <a:rPr lang="zh-CN" altLang="en-US" sz="2400" dirty="0">
                <a:solidFill>
                  <a:srgbClr val="000000"/>
                </a:solidFill>
                <a:latin typeface="微软雅黑" panose="020B0503020204020204" pitchFamily="34" charset="-122"/>
                <a:ea typeface="微软雅黑" panose="020B0503020204020204" pitchFamily="34" charset="-122"/>
              </a:rPr>
              <a:t>      计算机执行指令的过程可分为</a:t>
            </a:r>
            <a:r>
              <a:rPr lang="zh-CN" altLang="en-US" sz="2400" dirty="0">
                <a:solidFill>
                  <a:srgbClr val="0000FF"/>
                </a:solidFill>
                <a:latin typeface="微软雅黑" panose="020B0503020204020204" pitchFamily="34" charset="-122"/>
                <a:ea typeface="微软雅黑" panose="020B0503020204020204" pitchFamily="34" charset="-122"/>
              </a:rPr>
              <a:t>取指令</a:t>
            </a:r>
            <a:r>
              <a:rPr lang="zh-CN" altLang="en-US" sz="2400" dirty="0">
                <a:solidFill>
                  <a:srgbClr val="000000"/>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分析指令</a:t>
            </a:r>
            <a:r>
              <a:rPr lang="zh-CN" altLang="en-US" sz="2400" dirty="0">
                <a:solidFill>
                  <a:srgbClr val="000000"/>
                </a:solidFill>
                <a:latin typeface="微软雅黑" panose="020B0503020204020204" pitchFamily="34" charset="-122"/>
                <a:ea typeface="微软雅黑" panose="020B0503020204020204" pitchFamily="34" charset="-122"/>
              </a:rPr>
              <a:t>和</a:t>
            </a:r>
            <a:r>
              <a:rPr lang="zh-CN" altLang="en-US" sz="2400" dirty="0">
                <a:solidFill>
                  <a:srgbClr val="0000FF"/>
                </a:solidFill>
                <a:latin typeface="微软雅黑" panose="020B0503020204020204" pitchFamily="34" charset="-122"/>
                <a:ea typeface="微软雅黑" panose="020B0503020204020204" pitchFamily="34" charset="-122"/>
              </a:rPr>
              <a:t>执行指令</a:t>
            </a:r>
            <a:r>
              <a:rPr lang="zh-CN" altLang="en-US" sz="2400" dirty="0">
                <a:solidFill>
                  <a:srgbClr val="000000"/>
                </a:solidFill>
                <a:latin typeface="微软雅黑" panose="020B0503020204020204" pitchFamily="34" charset="-122"/>
                <a:ea typeface="微软雅黑" panose="020B0503020204020204" pitchFamily="34" charset="-122"/>
              </a:rPr>
              <a:t>三个步骤，每个步骤又由许多微操作所组成，这些微操作必须在一个统一的时钟脉冲的控制下才能按照正确的顺序执行。时钟脉冲由时钟振荡器产生 。</a:t>
            </a:r>
            <a:endParaRPr lang="en-US" altLang="zh-CN" sz="2400" dirty="0">
              <a:solidFill>
                <a:srgbClr val="000000"/>
              </a:solidFill>
              <a:latin typeface="微软雅黑" panose="020B0503020204020204" pitchFamily="34" charset="-122"/>
              <a:ea typeface="微软雅黑" panose="020B0503020204020204" pitchFamily="34" charset="-122"/>
            </a:endParaRPr>
          </a:p>
          <a:p>
            <a:pPr algn="just">
              <a:lnSpc>
                <a:spcPct val="150000"/>
              </a:lnSpc>
            </a:pPr>
            <a:r>
              <a:rPr lang="en-US" altLang="zh-CN" sz="2400" dirty="0">
                <a:solidFill>
                  <a:srgbClr val="000000"/>
                </a:solidFill>
                <a:latin typeface="微软雅黑" panose="020B0503020204020204" pitchFamily="34" charset="-122"/>
                <a:ea typeface="微软雅黑" panose="020B0503020204020204" pitchFamily="34" charset="-122"/>
              </a:rPr>
              <a:t>      MCS-51</a:t>
            </a:r>
            <a:r>
              <a:rPr lang="zh-CN" altLang="en-US" sz="2400" dirty="0">
                <a:solidFill>
                  <a:srgbClr val="000000"/>
                </a:solidFill>
                <a:latin typeface="微软雅黑" panose="020B0503020204020204" pitchFamily="34" charset="-122"/>
                <a:ea typeface="微软雅黑" panose="020B0503020204020204" pitchFamily="34" charset="-122"/>
              </a:rPr>
              <a:t>的时钟振荡器是由单片机内部反相放大器和外接晶振振荡器及微调电容组成的一个</a:t>
            </a:r>
            <a:r>
              <a:rPr lang="zh-CN" altLang="en-US" sz="2400" dirty="0">
                <a:solidFill>
                  <a:srgbClr val="0000FF"/>
                </a:solidFill>
                <a:latin typeface="微软雅黑" panose="020B0503020204020204" pitchFamily="34" charset="-122"/>
                <a:ea typeface="微软雅黑" panose="020B0503020204020204" pitchFamily="34" charset="-122"/>
              </a:rPr>
              <a:t>三点式振荡器</a:t>
            </a:r>
            <a:r>
              <a:rPr lang="zh-CN" altLang="en-US" sz="2400" dirty="0">
                <a:solidFill>
                  <a:srgbClr val="000000"/>
                </a:solidFill>
                <a:latin typeface="微软雅黑" panose="020B0503020204020204" pitchFamily="34" charset="-122"/>
                <a:ea typeface="微软雅黑" panose="020B0503020204020204" pitchFamily="34" charset="-122"/>
              </a:rPr>
              <a:t>。</a:t>
            </a:r>
          </a:p>
        </p:txBody>
      </p:sp>
      <p:sp>
        <p:nvSpPr>
          <p:cNvPr id="110594"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2.4 MCS-51</a:t>
            </a:r>
            <a:r>
              <a:rPr lang="zh-CN" altLang="en-US" sz="2800">
                <a:solidFill>
                  <a:srgbClr val="000000"/>
                </a:solidFill>
                <a:latin typeface="微软雅黑" panose="020B0503020204020204" pitchFamily="34" charset="-122"/>
                <a:ea typeface="微软雅黑" panose="020B0503020204020204" pitchFamily="34" charset="-122"/>
              </a:rPr>
              <a:t>单片机的时序</a:t>
            </a:r>
          </a:p>
        </p:txBody>
      </p:sp>
      <p:pic>
        <p:nvPicPr>
          <p:cNvPr id="110595"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10596"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文本框 1"/>
          <p:cNvSpPr txBox="1">
            <a:spLocks noChangeArrowheads="1"/>
          </p:cNvSpPr>
          <p:nvPr/>
        </p:nvSpPr>
        <p:spPr bwMode="auto">
          <a:xfrm>
            <a:off x="257175" y="736600"/>
            <a:ext cx="8636000" cy="2492990"/>
          </a:xfrm>
          <a:prstGeom prst="rect">
            <a:avLst/>
          </a:prstGeom>
          <a:noFill/>
          <a:ln w="9525">
            <a:noFill/>
            <a:miter lim="800000"/>
          </a:ln>
        </p:spPr>
        <p:txBody>
          <a:bodyPr>
            <a:spAutoFit/>
          </a:bodyPr>
          <a:lstStyle/>
          <a:p>
            <a:pPr algn="just">
              <a:lnSpc>
                <a:spcPct val="150000"/>
              </a:lnSpc>
            </a:pPr>
            <a:r>
              <a:rPr lang="en-US" altLang="zh-CN" sz="2400" b="1" dirty="0">
                <a:solidFill>
                  <a:srgbClr val="000000"/>
                </a:solidFill>
                <a:latin typeface="微软雅黑" panose="020B0503020204020204" pitchFamily="34" charset="-122"/>
                <a:ea typeface="微软雅黑" panose="020B0503020204020204" pitchFamily="34" charset="-122"/>
              </a:rPr>
              <a:t>2.4.1 </a:t>
            </a:r>
            <a:r>
              <a:rPr lang="zh-CN" altLang="en-US" sz="2400" b="1" dirty="0">
                <a:solidFill>
                  <a:srgbClr val="000000"/>
                </a:solidFill>
                <a:latin typeface="微软雅黑" panose="020B0503020204020204" pitchFamily="34" charset="-122"/>
                <a:ea typeface="微软雅黑" panose="020B0503020204020204" pitchFamily="34" charset="-122"/>
              </a:rPr>
              <a:t>时钟</a:t>
            </a:r>
            <a:endParaRPr lang="en-US" altLang="zh-CN" sz="2400" b="1" dirty="0">
              <a:solidFill>
                <a:srgbClr val="000000"/>
              </a:solidFill>
              <a:latin typeface="微软雅黑" panose="020B0503020204020204" pitchFamily="34" charset="-122"/>
              <a:ea typeface="微软雅黑" panose="020B0503020204020204" pitchFamily="34" charset="-122"/>
            </a:endParaRPr>
          </a:p>
          <a:p>
            <a:pPr algn="just">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rPr>
              <a:t>      </a:t>
            </a:r>
            <a:r>
              <a:rPr lang="en-US" altLang="zh-CN" sz="2000" dirty="0">
                <a:solidFill>
                  <a:srgbClr val="000000"/>
                </a:solidFill>
                <a:latin typeface="微软雅黑" panose="020B0503020204020204" pitchFamily="34" charset="-122"/>
                <a:ea typeface="微软雅黑" panose="020B0503020204020204" pitchFamily="34" charset="-122"/>
              </a:rPr>
              <a:t>MCS-51</a:t>
            </a:r>
            <a:r>
              <a:rPr lang="zh-CN" altLang="en-US" sz="2000" dirty="0">
                <a:solidFill>
                  <a:srgbClr val="000000"/>
                </a:solidFill>
                <a:latin typeface="微软雅黑" panose="020B0503020204020204" pitchFamily="34" charset="-122"/>
                <a:ea typeface="微软雅黑" panose="020B0503020204020204" pitchFamily="34" charset="-122"/>
              </a:rPr>
              <a:t>的内部工作时钟也可以由外部振荡器提供，对于</a:t>
            </a:r>
            <a:r>
              <a:rPr lang="en-US" altLang="zh-CN" sz="2000" dirty="0">
                <a:solidFill>
                  <a:srgbClr val="000000"/>
                </a:solidFill>
                <a:latin typeface="微软雅黑" panose="020B0503020204020204" pitchFamily="34" charset="-122"/>
                <a:ea typeface="微软雅黑" panose="020B0503020204020204" pitchFamily="34" charset="-122"/>
              </a:rPr>
              <a:t>HMOS</a:t>
            </a:r>
            <a:r>
              <a:rPr lang="zh-CN" altLang="en-US" sz="2000" dirty="0">
                <a:solidFill>
                  <a:srgbClr val="000000"/>
                </a:solidFill>
                <a:latin typeface="微软雅黑" panose="020B0503020204020204" pitchFamily="34" charset="-122"/>
                <a:ea typeface="微软雅黑" panose="020B0503020204020204" pitchFamily="34" charset="-122"/>
              </a:rPr>
              <a:t>型芯片，外部振荡器的信号接至</a:t>
            </a:r>
            <a:r>
              <a:rPr lang="en-US" altLang="zh-CN" sz="2000" dirty="0">
                <a:solidFill>
                  <a:srgbClr val="000000"/>
                </a:solidFill>
                <a:latin typeface="微软雅黑" panose="020B0503020204020204" pitchFamily="34" charset="-122"/>
                <a:ea typeface="微软雅黑" panose="020B0503020204020204" pitchFamily="34" charset="-122"/>
              </a:rPr>
              <a:t>XTAL2</a:t>
            </a:r>
            <a:r>
              <a:rPr lang="zh-CN" altLang="en-US" sz="2000" dirty="0">
                <a:solidFill>
                  <a:srgbClr val="000000"/>
                </a:solidFill>
                <a:latin typeface="微软雅黑" panose="020B0503020204020204" pitchFamily="34" charset="-122"/>
                <a:ea typeface="微软雅黑" panose="020B0503020204020204" pitchFamily="34" charset="-122"/>
              </a:rPr>
              <a:t>，即内部时钟发生器的输出端；对于</a:t>
            </a:r>
            <a:r>
              <a:rPr lang="en-US" altLang="zh-CN" sz="2000" dirty="0">
                <a:solidFill>
                  <a:srgbClr val="000000"/>
                </a:solidFill>
                <a:latin typeface="微软雅黑" panose="020B0503020204020204" pitchFamily="34" charset="-122"/>
                <a:ea typeface="微软雅黑" panose="020B0503020204020204" pitchFamily="34" charset="-122"/>
              </a:rPr>
              <a:t>CHMOS</a:t>
            </a:r>
            <a:r>
              <a:rPr lang="zh-CN" altLang="en-US" sz="2000" dirty="0">
                <a:solidFill>
                  <a:srgbClr val="000000"/>
                </a:solidFill>
                <a:latin typeface="微软雅黑" panose="020B0503020204020204" pitchFamily="34" charset="-122"/>
                <a:ea typeface="微软雅黑" panose="020B0503020204020204" pitchFamily="34" charset="-122"/>
              </a:rPr>
              <a:t>型芯片，因内部时钟发生器的信号取自反相放大器的输入端</a:t>
            </a:r>
            <a:r>
              <a:rPr lang="en-US" altLang="zh-CN"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即与非门的一个输入端</a:t>
            </a:r>
            <a:r>
              <a:rPr lang="en-US" altLang="zh-CN" sz="2000" dirty="0">
                <a:solidFill>
                  <a:srgbClr val="00000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微软雅黑" panose="020B0503020204020204" pitchFamily="34" charset="-122"/>
                <a:ea typeface="微软雅黑" panose="020B0503020204020204" pitchFamily="34" charset="-122"/>
              </a:rPr>
              <a:t>，采用外部时钟源时，外部信号接至</a:t>
            </a:r>
            <a:r>
              <a:rPr lang="en-US" altLang="zh-CN" sz="2000" dirty="0">
                <a:solidFill>
                  <a:srgbClr val="000000"/>
                </a:solidFill>
                <a:latin typeface="微软雅黑" panose="020B0503020204020204" pitchFamily="34" charset="-122"/>
                <a:ea typeface="微软雅黑" panose="020B0503020204020204" pitchFamily="34" charset="-122"/>
              </a:rPr>
              <a:t>XTAL1</a:t>
            </a:r>
            <a:r>
              <a:rPr lang="zh-CN" altLang="en-US" sz="2000" dirty="0">
                <a:solidFill>
                  <a:srgbClr val="000000"/>
                </a:solidFill>
                <a:latin typeface="微软雅黑" panose="020B0503020204020204" pitchFamily="34" charset="-122"/>
                <a:ea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rPr>
              <a:t>XTAL2</a:t>
            </a:r>
            <a:r>
              <a:rPr lang="zh-CN" altLang="en-US" sz="2000" dirty="0">
                <a:solidFill>
                  <a:srgbClr val="000000"/>
                </a:solidFill>
                <a:latin typeface="微软雅黑" panose="020B0503020204020204" pitchFamily="34" charset="-122"/>
                <a:ea typeface="微软雅黑" panose="020B0503020204020204" pitchFamily="34" charset="-122"/>
              </a:rPr>
              <a:t>浮空。</a:t>
            </a:r>
            <a:endParaRPr lang="en-US" altLang="zh-CN" sz="2000" dirty="0">
              <a:solidFill>
                <a:srgbClr val="C00000"/>
              </a:solidFill>
              <a:latin typeface="微软雅黑" panose="020B0503020204020204" pitchFamily="34" charset="-122"/>
              <a:ea typeface="微软雅黑" panose="020B0503020204020204" pitchFamily="34" charset="-122"/>
            </a:endParaRPr>
          </a:p>
        </p:txBody>
      </p:sp>
      <p:sp>
        <p:nvSpPr>
          <p:cNvPr id="112642"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2.4 MCS-51</a:t>
            </a:r>
            <a:r>
              <a:rPr lang="zh-CN" altLang="en-US" sz="2800">
                <a:solidFill>
                  <a:srgbClr val="000000"/>
                </a:solidFill>
                <a:latin typeface="微软雅黑" panose="020B0503020204020204" pitchFamily="34" charset="-122"/>
                <a:ea typeface="微软雅黑" panose="020B0503020204020204" pitchFamily="34" charset="-122"/>
              </a:rPr>
              <a:t>单片机的时序</a:t>
            </a:r>
          </a:p>
        </p:txBody>
      </p:sp>
      <p:pic>
        <p:nvPicPr>
          <p:cNvPr id="112643"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12644"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pic>
        <p:nvPicPr>
          <p:cNvPr id="2" name="图片 1"/>
          <p:cNvPicPr>
            <a:picLocks noChangeAspect="1"/>
          </p:cNvPicPr>
          <p:nvPr/>
        </p:nvPicPr>
        <p:blipFill>
          <a:blip r:embed="rId5"/>
          <a:stretch>
            <a:fillRect/>
          </a:stretch>
        </p:blipFill>
        <p:spPr>
          <a:xfrm>
            <a:off x="856866" y="3637935"/>
            <a:ext cx="8042055" cy="2875577"/>
          </a:xfrm>
          <a:prstGeom prst="rect">
            <a:avLst/>
          </a:prstGeom>
        </p:spPr>
      </p:pic>
      <p:sp>
        <p:nvSpPr>
          <p:cNvPr id="3" name="矩形标注 2"/>
          <p:cNvSpPr/>
          <p:nvPr/>
        </p:nvSpPr>
        <p:spPr>
          <a:xfrm>
            <a:off x="266930" y="3447664"/>
            <a:ext cx="1160207" cy="393290"/>
          </a:xfrm>
          <a:prstGeom prst="wedgeRectCallout">
            <a:avLst>
              <a:gd name="adj1" fmla="val 28319"/>
              <a:gd name="adj2" fmla="val 115000"/>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dirty="0"/>
              <a:t>30±10 pF</a:t>
            </a:r>
            <a:endParaRPr lang="zh-CN" altLang="en-US" dirty="0"/>
          </a:p>
        </p:txBody>
      </p:sp>
      <p:sp>
        <p:nvSpPr>
          <p:cNvPr id="9" name="矩形标注 8"/>
          <p:cNvSpPr/>
          <p:nvPr/>
        </p:nvSpPr>
        <p:spPr>
          <a:xfrm>
            <a:off x="452283" y="5287345"/>
            <a:ext cx="1391266" cy="393290"/>
          </a:xfrm>
          <a:prstGeom prst="wedgeRectCallout">
            <a:avLst>
              <a:gd name="adj1" fmla="val 42067"/>
              <a:gd name="adj2" fmla="val -217500"/>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dirty="0"/>
              <a:t>1.2~24 MHz</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6002338"/>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2.4.2 CPU</a:t>
            </a:r>
            <a:r>
              <a:rPr lang="zh-CN" altLang="en-US" sz="2400" b="1" dirty="0">
                <a:solidFill>
                  <a:prstClr val="black"/>
                </a:solidFill>
                <a:latin typeface="微软雅黑" panose="020B0503020204020204" pitchFamily="34" charset="-122"/>
                <a:ea typeface="微软雅黑" panose="020B0503020204020204" pitchFamily="34" charset="-122"/>
              </a:rPr>
              <a:t>时序</a:t>
            </a:r>
            <a:endParaRPr lang="en-US" altLang="zh-CN" sz="2400" b="1"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单片机的时序是指</a:t>
            </a:r>
            <a:r>
              <a:rPr lang="en-US" altLang="zh-CN" sz="2000" dirty="0">
                <a:solidFill>
                  <a:prstClr val="black"/>
                </a:solidFill>
                <a:latin typeface="微软雅黑" panose="020B0503020204020204" pitchFamily="34" charset="-122"/>
                <a:ea typeface="微软雅黑" panose="020B0503020204020204" pitchFamily="34" charset="-122"/>
              </a:rPr>
              <a:t>CPU</a:t>
            </a:r>
            <a:r>
              <a:rPr lang="zh-CN" altLang="en-US" sz="2000" dirty="0">
                <a:solidFill>
                  <a:prstClr val="black"/>
                </a:solidFill>
                <a:latin typeface="微软雅黑" panose="020B0503020204020204" pitchFamily="34" charset="-122"/>
                <a:ea typeface="微软雅黑" panose="020B0503020204020204" pitchFamily="34" charset="-122"/>
              </a:rPr>
              <a:t>在执行指令时所需控制信号的时间顺序。时序信号是以时钟脉冲为基准产生的。</a:t>
            </a:r>
            <a:r>
              <a:rPr lang="en-US" altLang="zh-CN" sz="2000" dirty="0">
                <a:solidFill>
                  <a:prstClr val="black"/>
                </a:solidFill>
                <a:latin typeface="微软雅黑" panose="020B0503020204020204" pitchFamily="34" charset="-122"/>
                <a:ea typeface="微软雅黑" panose="020B0503020204020204" pitchFamily="34" charset="-122"/>
              </a:rPr>
              <a:t>CPU</a:t>
            </a:r>
            <a:r>
              <a:rPr lang="zh-CN" altLang="en-US" sz="2000" dirty="0">
                <a:solidFill>
                  <a:prstClr val="black"/>
                </a:solidFill>
                <a:latin typeface="微软雅黑" panose="020B0503020204020204" pitchFamily="34" charset="-122"/>
                <a:ea typeface="微软雅黑" panose="020B0503020204020204" pitchFamily="34" charset="-122"/>
              </a:rPr>
              <a:t>发出的时序信号有两类：一类用于</a:t>
            </a:r>
            <a:r>
              <a:rPr lang="zh-CN" altLang="en-US" sz="2000" dirty="0">
                <a:solidFill>
                  <a:srgbClr val="0000FF"/>
                </a:solidFill>
                <a:latin typeface="微软雅黑" panose="020B0503020204020204" pitchFamily="34" charset="-122"/>
                <a:ea typeface="微软雅黑" panose="020B0503020204020204" pitchFamily="34" charset="-122"/>
              </a:rPr>
              <a:t>片内各功能部件的控制</a:t>
            </a:r>
            <a:r>
              <a:rPr lang="zh-CN" altLang="en-US" sz="2000" dirty="0">
                <a:solidFill>
                  <a:prstClr val="black"/>
                </a:solidFill>
                <a:latin typeface="微软雅黑" panose="020B0503020204020204" pitchFamily="34" charset="-122"/>
                <a:ea typeface="微软雅黑" panose="020B0503020204020204" pitchFamily="34" charset="-122"/>
              </a:rPr>
              <a:t>，另一类信号</a:t>
            </a:r>
            <a:r>
              <a:rPr lang="zh-CN" altLang="en-US" sz="2000" dirty="0">
                <a:solidFill>
                  <a:srgbClr val="0000FF"/>
                </a:solidFill>
                <a:latin typeface="微软雅黑" panose="020B0503020204020204" pitchFamily="34" charset="-122"/>
                <a:ea typeface="微软雅黑" panose="020B0503020204020204" pitchFamily="34" charset="-122"/>
              </a:rPr>
              <a:t>通过单片机的引脚送到外部 </a:t>
            </a:r>
            <a:r>
              <a:rPr lang="zh-CN" altLang="en-US" sz="2000" dirty="0">
                <a:solidFill>
                  <a:prstClr val="black"/>
                </a:solidFill>
                <a:latin typeface="微软雅黑" panose="020B0503020204020204" pitchFamily="34" charset="-122"/>
                <a:ea typeface="微软雅黑" panose="020B0503020204020204" pitchFamily="34" charset="-122"/>
              </a:rPr>
              <a:t>。</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时钟周期、机器周期和指令周期</a:t>
            </a: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时钟周期</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时钟周期也称振荡周期，即振荡器的振荡频率</a:t>
            </a:r>
            <a:r>
              <a:rPr lang="en-US" altLang="zh-CN" sz="2000" dirty="0" err="1">
                <a:solidFill>
                  <a:prstClr val="black"/>
                </a:solidFill>
                <a:latin typeface="微软雅黑" panose="020B0503020204020204" pitchFamily="34" charset="-122"/>
                <a:ea typeface="微软雅黑" panose="020B0503020204020204" pitchFamily="34" charset="-122"/>
              </a:rPr>
              <a:t>fosc</a:t>
            </a:r>
            <a:r>
              <a:rPr lang="zh-CN" altLang="en-US" sz="2000" dirty="0">
                <a:solidFill>
                  <a:prstClr val="black"/>
                </a:solidFill>
                <a:latin typeface="微软雅黑" panose="020B0503020204020204" pitchFamily="34" charset="-122"/>
                <a:ea typeface="微软雅黑" panose="020B0503020204020204" pitchFamily="34" charset="-122"/>
              </a:rPr>
              <a:t>的倒数，是时序中</a:t>
            </a:r>
            <a:r>
              <a:rPr lang="zh-CN" altLang="en-US" sz="2000" dirty="0">
                <a:solidFill>
                  <a:srgbClr val="0000FF"/>
                </a:solidFill>
                <a:latin typeface="微软雅黑" panose="020B0503020204020204" pitchFamily="34" charset="-122"/>
                <a:ea typeface="微软雅黑" panose="020B0503020204020204" pitchFamily="34" charset="-122"/>
              </a:rPr>
              <a:t>最小的时间单位</a:t>
            </a:r>
            <a:r>
              <a:rPr lang="zh-CN" altLang="en-US" sz="2000" dirty="0">
                <a:solidFill>
                  <a:prstClr val="black"/>
                </a:solidFill>
                <a:latin typeface="微软雅黑" panose="020B0503020204020204" pitchFamily="34" charset="-122"/>
                <a:ea typeface="微软雅黑" panose="020B0503020204020204" pitchFamily="34" charset="-122"/>
              </a:rPr>
              <a:t>。 </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机器周期</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a:t>
            </a:r>
            <a:r>
              <a:rPr lang="zh-CN" altLang="en-US" sz="2000" dirty="0">
                <a:solidFill>
                  <a:srgbClr val="0000FF"/>
                </a:solidFill>
                <a:latin typeface="微软雅黑" panose="020B0503020204020204" pitchFamily="34" charset="-122"/>
                <a:ea typeface="微软雅黑" panose="020B0503020204020204" pitchFamily="34" charset="-122"/>
              </a:rPr>
              <a:t>执行一条指令</a:t>
            </a:r>
            <a:r>
              <a:rPr lang="zh-CN" altLang="en-US" sz="2000" dirty="0">
                <a:solidFill>
                  <a:prstClr val="black"/>
                </a:solidFill>
                <a:latin typeface="微软雅黑" panose="020B0503020204020204" pitchFamily="34" charset="-122"/>
                <a:ea typeface="微软雅黑" panose="020B0503020204020204" pitchFamily="34" charset="-122"/>
              </a:rPr>
              <a:t>的过程可分为</a:t>
            </a:r>
            <a:r>
              <a:rPr lang="zh-CN" altLang="en-US" sz="2000" dirty="0">
                <a:solidFill>
                  <a:srgbClr val="0000FF"/>
                </a:solidFill>
                <a:latin typeface="微软雅黑" panose="020B0503020204020204" pitchFamily="34" charset="-122"/>
                <a:ea typeface="微软雅黑" panose="020B0503020204020204" pitchFamily="34" charset="-122"/>
              </a:rPr>
              <a:t>若干个阶段</a:t>
            </a:r>
            <a:r>
              <a:rPr lang="zh-CN" altLang="en-US" sz="2000" dirty="0">
                <a:solidFill>
                  <a:prstClr val="black"/>
                </a:solidFill>
                <a:latin typeface="微软雅黑" panose="020B0503020204020204" pitchFamily="34" charset="-122"/>
                <a:ea typeface="微软雅黑" panose="020B0503020204020204" pitchFamily="34" charset="-122"/>
              </a:rPr>
              <a:t>，每一阶段完成一规定的操作，完成一个规定操作所需要的时间称为一个机器周期。</a:t>
            </a:r>
            <a:endParaRPr lang="en-US" altLang="zh-CN" sz="20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a:t>
            </a:r>
            <a:r>
              <a:rPr lang="zh-CN" altLang="en-US" sz="2000" dirty="0">
                <a:solidFill>
                  <a:prstClr val="black"/>
                </a:solidFill>
                <a:latin typeface="微软雅黑" panose="020B0503020204020204" pitchFamily="34" charset="-122"/>
                <a:ea typeface="微软雅黑" panose="020B0503020204020204" pitchFamily="34" charset="-122"/>
              </a:rPr>
              <a:t>机器周期是单片机的</a:t>
            </a:r>
            <a:r>
              <a:rPr lang="zh-CN" altLang="en-US" sz="2000" dirty="0">
                <a:solidFill>
                  <a:srgbClr val="0000FF"/>
                </a:solidFill>
                <a:latin typeface="微软雅黑" panose="020B0503020204020204" pitchFamily="34" charset="-122"/>
                <a:ea typeface="微软雅黑" panose="020B0503020204020204" pitchFamily="34" charset="-122"/>
              </a:rPr>
              <a:t>基本操作周期</a:t>
            </a:r>
            <a:r>
              <a:rPr lang="zh-CN" altLang="en-US" sz="2000" dirty="0">
                <a:solidFill>
                  <a:prstClr val="black"/>
                </a:solidFill>
                <a:latin typeface="微软雅黑" panose="020B0503020204020204" pitchFamily="34" charset="-122"/>
                <a:ea typeface="微软雅黑" panose="020B0503020204020204" pitchFamily="34" charset="-122"/>
              </a:rPr>
              <a:t>，每个机器周期包含</a:t>
            </a:r>
            <a:r>
              <a:rPr lang="en-US" altLang="zh-CN" sz="2000" dirty="0">
                <a:solidFill>
                  <a:srgbClr val="0000FF"/>
                </a:solidFill>
                <a:latin typeface="微软雅黑" panose="020B0503020204020204" pitchFamily="34" charset="-122"/>
                <a:ea typeface="微软雅黑" panose="020B0503020204020204" pitchFamily="34" charset="-122"/>
              </a:rPr>
              <a:t>6</a:t>
            </a:r>
            <a:r>
              <a:rPr lang="zh-CN" altLang="en-US" sz="2000" dirty="0">
                <a:solidFill>
                  <a:srgbClr val="0000FF"/>
                </a:solidFill>
                <a:latin typeface="微软雅黑" panose="020B0503020204020204" pitchFamily="34" charset="-122"/>
                <a:ea typeface="微软雅黑" panose="020B0503020204020204" pitchFamily="34" charset="-122"/>
              </a:rPr>
              <a:t>个状态周期</a:t>
            </a:r>
            <a:r>
              <a:rPr lang="zh-CN" altLang="en-US" sz="2000" dirty="0">
                <a:solidFill>
                  <a:prstClr val="black"/>
                </a:solidFill>
                <a:latin typeface="微软雅黑" panose="020B0503020204020204" pitchFamily="34" charset="-122"/>
                <a:ea typeface="微软雅黑" panose="020B0503020204020204" pitchFamily="34" charset="-122"/>
              </a:rPr>
              <a:t>。</a:t>
            </a:r>
            <a:endParaRPr lang="en-US" altLang="zh-CN" sz="2000" dirty="0">
              <a:solidFill>
                <a:prstClr val="black"/>
              </a:solidFill>
              <a:latin typeface="微软雅黑" panose="020B0503020204020204" pitchFamily="34" charset="-122"/>
              <a:ea typeface="微软雅黑" panose="020B0503020204020204" pitchFamily="34" charset="-122"/>
            </a:endParaRPr>
          </a:p>
        </p:txBody>
      </p:sp>
      <p:sp>
        <p:nvSpPr>
          <p:cNvPr id="114690"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2.4 MCS-51</a:t>
            </a:r>
            <a:r>
              <a:rPr lang="zh-CN" altLang="en-US" sz="2800">
                <a:solidFill>
                  <a:srgbClr val="000000"/>
                </a:solidFill>
                <a:latin typeface="微软雅黑" panose="020B0503020204020204" pitchFamily="34" charset="-122"/>
                <a:ea typeface="微软雅黑" panose="020B0503020204020204" pitchFamily="34" charset="-122"/>
              </a:rPr>
              <a:t>单片机的时序</a:t>
            </a:r>
          </a:p>
        </p:txBody>
      </p:sp>
      <p:pic>
        <p:nvPicPr>
          <p:cNvPr id="114691"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2214880"/>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2.4.2 CPU</a:t>
            </a:r>
            <a:r>
              <a:rPr lang="zh-CN" altLang="en-US" sz="2400" b="1" dirty="0">
                <a:solidFill>
                  <a:prstClr val="black"/>
                </a:solidFill>
                <a:latin typeface="微软雅黑" panose="020B0503020204020204" pitchFamily="34" charset="-122"/>
                <a:ea typeface="微软雅黑" panose="020B0503020204020204" pitchFamily="34" charset="-122"/>
              </a:rPr>
              <a:t>时序</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时钟周期、机器周期和指令周期</a:t>
            </a:r>
            <a:r>
              <a:rPr lang="zh-CN" altLang="en-US" sz="2000" dirty="0">
                <a:solidFill>
                  <a:prstClr val="black"/>
                </a:solidFill>
                <a:latin typeface="微软雅黑" panose="020B0503020204020204" pitchFamily="34" charset="-122"/>
                <a:ea typeface="微软雅黑" panose="020B0503020204020204" pitchFamily="34" charset="-122"/>
              </a:rPr>
              <a:t> </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机器周期</a:t>
            </a:r>
            <a:r>
              <a:rPr lang="en-US" altLang="zh-CN" sz="2400" dirty="0">
                <a:solidFill>
                  <a:prstClr val="black"/>
                </a:solidFill>
                <a:latin typeface="微软雅黑" panose="020B0503020204020204" pitchFamily="34" charset="-122"/>
                <a:ea typeface="微软雅黑" panose="020B0503020204020204" pitchFamily="34" charset="-122"/>
              </a:rPr>
              <a:t>(</a:t>
            </a:r>
            <a:r>
              <a:rPr lang="en-US" altLang="zh-CN" sz="2400" i="1" dirty="0">
                <a:solidFill>
                  <a:prstClr val="black"/>
                </a:solidFill>
                <a:latin typeface="微软雅黑" panose="020B0503020204020204" pitchFamily="34" charset="-122"/>
                <a:ea typeface="微软雅黑" panose="020B0503020204020204" pitchFamily="34" charset="-122"/>
              </a:rPr>
              <a:t>T</a:t>
            </a:r>
            <a:r>
              <a:rPr lang="en-US" altLang="zh-CN" sz="2400" baseline="-25000" dirty="0">
                <a:solidFill>
                  <a:prstClr val="black"/>
                </a:solidFill>
                <a:uFillTx/>
                <a:latin typeface="微软雅黑" panose="020B0503020204020204" pitchFamily="34" charset="-122"/>
                <a:ea typeface="微软雅黑" panose="020B0503020204020204" pitchFamily="34" charset="-122"/>
              </a:rPr>
              <a:t>M</a:t>
            </a:r>
            <a:r>
              <a:rPr lang="en-US" altLang="zh-CN" sz="2400" dirty="0">
                <a:solidFill>
                  <a:prstClr val="black"/>
                </a:solidFill>
                <a:latin typeface="微软雅黑" panose="020B0503020204020204" pitchFamily="34" charset="-122"/>
                <a:ea typeface="微软雅黑" panose="020B0503020204020204" pitchFamily="34" charset="-122"/>
              </a:rPr>
              <a:t>)</a:t>
            </a:r>
          </a:p>
          <a:p>
            <a:pPr algn="just" fontAlgn="auto">
              <a:lnSpc>
                <a:spcPct val="150000"/>
              </a:lnSpc>
              <a:spcBef>
                <a:spcPts val="0"/>
              </a:spcBef>
              <a:spcAft>
                <a:spcPts val="0"/>
              </a:spcAft>
              <a:defRPr/>
            </a:pPr>
            <a:endParaRPr lang="en-US" altLang="zh-CN" sz="2000" dirty="0">
              <a:solidFill>
                <a:prstClr val="black"/>
              </a:solidFill>
              <a:latin typeface="微软雅黑" panose="020B0503020204020204" pitchFamily="34" charset="-122"/>
              <a:ea typeface="微软雅黑" panose="020B0503020204020204" pitchFamily="34" charset="-122"/>
            </a:endParaRPr>
          </a:p>
        </p:txBody>
      </p:sp>
      <p:sp>
        <p:nvSpPr>
          <p:cNvPr id="114690"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2.4 MCS-51</a:t>
            </a:r>
            <a:r>
              <a:rPr lang="zh-CN" altLang="en-US" sz="2800">
                <a:solidFill>
                  <a:srgbClr val="000000"/>
                </a:solidFill>
                <a:latin typeface="微软雅黑" panose="020B0503020204020204" pitchFamily="34" charset="-122"/>
                <a:ea typeface="微软雅黑" panose="020B0503020204020204" pitchFamily="34" charset="-122"/>
              </a:rPr>
              <a:t>单片机的时序</a:t>
            </a:r>
          </a:p>
        </p:txBody>
      </p:sp>
      <p:pic>
        <p:nvPicPr>
          <p:cNvPr id="114691"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graphicFrame>
        <p:nvGraphicFramePr>
          <p:cNvPr id="267268" name="Object 4"/>
          <p:cNvGraphicFramePr/>
          <p:nvPr/>
        </p:nvGraphicFramePr>
        <p:xfrm>
          <a:off x="297180" y="3756978"/>
          <a:ext cx="7969250" cy="2239962"/>
        </p:xfrm>
        <a:graphic>
          <a:graphicData uri="http://schemas.openxmlformats.org/presentationml/2006/ole">
            <mc:AlternateContent xmlns:mc="http://schemas.openxmlformats.org/markup-compatibility/2006">
              <mc:Choice xmlns:v="urn:schemas-microsoft-com:vml" Requires="v">
                <p:oleObj r:id="rId4" imgW="4905375" imgH="1209675" progId="Paint.Picture">
                  <p:embed/>
                </p:oleObj>
              </mc:Choice>
              <mc:Fallback>
                <p:oleObj r:id="rId4" imgW="4905375" imgH="1209675" progId="Paint.Picture">
                  <p:embed/>
                  <p:pic>
                    <p:nvPicPr>
                      <p:cNvPr id="0" name="图片 3101"/>
                      <p:cNvPicPr/>
                      <p:nvPr/>
                    </p:nvPicPr>
                    <p:blipFill>
                      <a:blip r:embed="rId5"/>
                      <a:stretch>
                        <a:fillRect/>
                      </a:stretch>
                    </p:blipFill>
                    <p:spPr>
                      <a:xfrm>
                        <a:off x="297180" y="3756978"/>
                        <a:ext cx="7969250" cy="2239962"/>
                      </a:xfrm>
                      <a:prstGeom prst="rect">
                        <a:avLst/>
                      </a:prstGeom>
                      <a:noFill/>
                      <a:ln w="38100">
                        <a:noFill/>
                        <a:miter/>
                      </a:ln>
                    </p:spPr>
                  </p:pic>
                </p:oleObj>
              </mc:Fallback>
            </mc:AlternateContent>
          </a:graphicData>
        </a:graphic>
      </p:graphicFrame>
      <p:sp>
        <p:nvSpPr>
          <p:cNvPr id="20485" name="Rectangle 8"/>
          <p:cNvSpPr/>
          <p:nvPr/>
        </p:nvSpPr>
        <p:spPr>
          <a:xfrm>
            <a:off x="2948305" y="2539365"/>
            <a:ext cx="3800475" cy="398780"/>
          </a:xfrm>
          <a:prstGeom prst="rect">
            <a:avLst/>
          </a:prstGeom>
          <a:noFill/>
          <a:ln w="9525">
            <a:noFill/>
          </a:ln>
        </p:spPr>
        <p:txBody>
          <a:bodyPr>
            <a:spAutoFit/>
          </a:bodyPr>
          <a:lstStyle/>
          <a:p>
            <a:r>
              <a:rPr lang="en-US" altLang="zh-CN" sz="2000" b="1">
                <a:solidFill>
                  <a:schemeClr val="hlink"/>
                </a:solidFill>
                <a:latin typeface="Times New Roman" panose="02020603050405020304" pitchFamily="18" charset="0"/>
              </a:rPr>
              <a:t>MCS-51</a:t>
            </a:r>
            <a:r>
              <a:rPr lang="zh-CN" altLang="en-US" sz="2000" b="1" dirty="0">
                <a:solidFill>
                  <a:schemeClr val="hlink"/>
                </a:solidFill>
                <a:latin typeface="Times New Roman" panose="02020603050405020304" pitchFamily="18" charset="0"/>
              </a:rPr>
              <a:t>单片机的机器周期</a:t>
            </a:r>
            <a:r>
              <a:rPr lang="en-US" altLang="zh-CN" sz="2000" b="1">
                <a:solidFill>
                  <a:schemeClr val="hlink"/>
                </a:solidFill>
                <a:latin typeface="Times New Roman" panose="02020603050405020304" pitchFamily="18" charset="0"/>
              </a:rPr>
              <a:t>(</a:t>
            </a:r>
            <a:r>
              <a:rPr lang="en-US" altLang="zh-CN" sz="2000" b="1" i="1">
                <a:solidFill>
                  <a:schemeClr val="hlink"/>
                </a:solidFill>
                <a:latin typeface="Times New Roman" panose="02020603050405020304" pitchFamily="18" charset="0"/>
              </a:rPr>
              <a:t>T</a:t>
            </a:r>
            <a:r>
              <a:rPr lang="en-US" altLang="zh-CN" sz="2000" b="1" baseline="-25000">
                <a:solidFill>
                  <a:schemeClr val="hlink"/>
                </a:solidFill>
                <a:latin typeface="Times New Roman" panose="02020603050405020304" pitchFamily="18" charset="0"/>
              </a:rPr>
              <a:t>M</a:t>
            </a:r>
            <a:r>
              <a:rPr lang="en-US" altLang="zh-CN" sz="2000" b="1">
                <a:solidFill>
                  <a:schemeClr val="hlink"/>
                </a:solidFill>
                <a:latin typeface="Times New Roman" panose="02020603050405020304" pitchFamily="18" charset="0"/>
              </a:rPr>
              <a:t>)</a:t>
            </a:r>
          </a:p>
        </p:txBody>
      </p:sp>
      <p:sp>
        <p:nvSpPr>
          <p:cNvPr id="267273" name="AutoShape 9"/>
          <p:cNvSpPr/>
          <p:nvPr/>
        </p:nvSpPr>
        <p:spPr>
          <a:xfrm>
            <a:off x="1833880" y="3291840"/>
            <a:ext cx="1168400" cy="317500"/>
          </a:xfrm>
          <a:prstGeom prst="wedgeRoundRectCallout">
            <a:avLst>
              <a:gd name="adj1" fmla="val -46602"/>
              <a:gd name="adj2" fmla="val 119000"/>
              <a:gd name="adj3" fmla="val 16667"/>
            </a:avLst>
          </a:prstGeom>
          <a:solidFill>
            <a:srgbClr val="006600"/>
          </a:solidFill>
          <a:ln w="9525" cap="flat" cmpd="sng">
            <a:solidFill>
              <a:schemeClr val="tx1"/>
            </a:solidFill>
            <a:prstDash val="solid"/>
            <a:miter/>
            <a:headEnd type="none" w="med" len="med"/>
            <a:tailEnd type="none" w="med" len="med"/>
          </a:ln>
        </p:spPr>
        <p:txBody>
          <a:bodyPr anchor="ctr"/>
          <a:lstStyle/>
          <a:p>
            <a:pPr algn="ctr"/>
            <a:r>
              <a:rPr lang="zh-CN" altLang="en-US" sz="2000" b="1" dirty="0">
                <a:solidFill>
                  <a:schemeClr val="bg1"/>
                </a:solidFill>
                <a:latin typeface="Arial" panose="020B0604020202020204" pitchFamily="34" charset="0"/>
                <a:ea typeface="黑体" panose="02010609060101010101" pitchFamily="2" charset="-122"/>
              </a:rPr>
              <a:t>状态</a:t>
            </a:r>
          </a:p>
        </p:txBody>
      </p:sp>
      <p:sp>
        <p:nvSpPr>
          <p:cNvPr id="267274" name="AutoShape 10"/>
          <p:cNvSpPr/>
          <p:nvPr/>
        </p:nvSpPr>
        <p:spPr>
          <a:xfrm>
            <a:off x="563880" y="5095240"/>
            <a:ext cx="1168400" cy="317500"/>
          </a:xfrm>
          <a:prstGeom prst="wedgeRoundRectCallout">
            <a:avLst>
              <a:gd name="adj1" fmla="val 50134"/>
              <a:gd name="adj2" fmla="val -193000"/>
              <a:gd name="adj3" fmla="val 16667"/>
            </a:avLst>
          </a:prstGeom>
          <a:solidFill>
            <a:srgbClr val="006600"/>
          </a:solidFill>
          <a:ln w="9525" cap="flat" cmpd="sng">
            <a:solidFill>
              <a:schemeClr val="tx1"/>
            </a:solidFill>
            <a:prstDash val="solid"/>
            <a:miter/>
            <a:headEnd type="none" w="med" len="med"/>
            <a:tailEnd type="none" w="med" len="med"/>
          </a:ln>
        </p:spPr>
        <p:txBody>
          <a:bodyPr anchor="ctr"/>
          <a:lstStyle/>
          <a:p>
            <a:pPr algn="ctr"/>
            <a:r>
              <a:rPr lang="en-US" altLang="zh-CN" sz="2000" b="1">
                <a:solidFill>
                  <a:schemeClr val="bg1"/>
                </a:solidFill>
                <a:latin typeface="Arial" panose="020B0604020202020204" pitchFamily="34" charset="0"/>
                <a:ea typeface="黑体" panose="02010609060101010101" pitchFamily="2" charset="-122"/>
              </a:rPr>
              <a:t>P1</a:t>
            </a:r>
            <a:r>
              <a:rPr lang="zh-CN" altLang="en-US" sz="2000" b="1" dirty="0">
                <a:solidFill>
                  <a:schemeClr val="bg1"/>
                </a:solidFill>
                <a:latin typeface="Arial" panose="020B0604020202020204" pitchFamily="34" charset="0"/>
                <a:ea typeface="黑体" panose="02010609060101010101" pitchFamily="2" charset="-122"/>
              </a:rPr>
              <a:t>相</a:t>
            </a:r>
          </a:p>
        </p:txBody>
      </p:sp>
      <p:sp>
        <p:nvSpPr>
          <p:cNvPr id="267275" name="AutoShape 11"/>
          <p:cNvSpPr/>
          <p:nvPr/>
        </p:nvSpPr>
        <p:spPr>
          <a:xfrm flipH="1">
            <a:off x="2138680" y="5082540"/>
            <a:ext cx="1168400" cy="317500"/>
          </a:xfrm>
          <a:prstGeom prst="wedgeRoundRectCallout">
            <a:avLst>
              <a:gd name="adj1" fmla="val 68611"/>
              <a:gd name="adj2" fmla="val -209000"/>
              <a:gd name="adj3" fmla="val 16667"/>
            </a:avLst>
          </a:prstGeom>
          <a:solidFill>
            <a:srgbClr val="006600"/>
          </a:solidFill>
          <a:ln w="9525" cap="flat" cmpd="sng">
            <a:solidFill>
              <a:schemeClr val="tx1"/>
            </a:solidFill>
            <a:prstDash val="solid"/>
            <a:miter/>
            <a:headEnd type="none" w="med" len="med"/>
            <a:tailEnd type="none" w="med" len="med"/>
          </a:ln>
        </p:spPr>
        <p:txBody>
          <a:bodyPr anchor="ctr"/>
          <a:lstStyle/>
          <a:p>
            <a:pPr algn="ctr"/>
            <a:r>
              <a:rPr lang="en-US" altLang="zh-CN" sz="2000" b="1">
                <a:solidFill>
                  <a:schemeClr val="bg1"/>
                </a:solidFill>
                <a:latin typeface="Arial" panose="020B0604020202020204" pitchFamily="34" charset="0"/>
                <a:ea typeface="黑体" panose="02010609060101010101" pitchFamily="2" charset="-122"/>
              </a:rPr>
              <a:t>P2</a:t>
            </a:r>
            <a:r>
              <a:rPr lang="zh-CN" altLang="en-US" sz="2000" b="1" dirty="0">
                <a:solidFill>
                  <a:schemeClr val="bg1"/>
                </a:solidFill>
                <a:latin typeface="Arial" panose="020B0604020202020204" pitchFamily="34" charset="0"/>
                <a:ea typeface="黑体" panose="02010609060101010101" pitchFamily="2" charset="-122"/>
              </a:rPr>
              <a:t>相</a:t>
            </a:r>
          </a:p>
        </p:txBody>
      </p:sp>
      <p:grpSp>
        <p:nvGrpSpPr>
          <p:cNvPr id="3" name="Group 16"/>
          <p:cNvGrpSpPr/>
          <p:nvPr/>
        </p:nvGrpSpPr>
        <p:grpSpPr>
          <a:xfrm>
            <a:off x="1579880" y="2834640"/>
            <a:ext cx="2984500" cy="990600"/>
            <a:chOff x="808" y="2792"/>
            <a:chExt cx="1880" cy="624"/>
          </a:xfrm>
        </p:grpSpPr>
        <p:sp>
          <p:nvSpPr>
            <p:cNvPr id="20495" name="Line 12"/>
            <p:cNvSpPr/>
            <p:nvPr/>
          </p:nvSpPr>
          <p:spPr>
            <a:xfrm>
              <a:off x="808" y="2792"/>
              <a:ext cx="0" cy="624"/>
            </a:xfrm>
            <a:prstGeom prst="line">
              <a:avLst/>
            </a:prstGeom>
            <a:ln w="12700" cap="flat" cmpd="sng">
              <a:solidFill>
                <a:schemeClr val="hlink"/>
              </a:solidFill>
              <a:prstDash val="solid"/>
              <a:headEnd type="none" w="med" len="med"/>
              <a:tailEnd type="none" w="med" len="med"/>
            </a:ln>
          </p:spPr>
        </p:sp>
        <p:sp>
          <p:nvSpPr>
            <p:cNvPr id="20496" name="Line 13"/>
            <p:cNvSpPr/>
            <p:nvPr/>
          </p:nvSpPr>
          <p:spPr>
            <a:xfrm>
              <a:off x="2688" y="2792"/>
              <a:ext cx="0" cy="624"/>
            </a:xfrm>
            <a:prstGeom prst="line">
              <a:avLst/>
            </a:prstGeom>
            <a:ln w="12700" cap="flat" cmpd="sng">
              <a:solidFill>
                <a:schemeClr val="hlink"/>
              </a:solidFill>
              <a:prstDash val="solid"/>
              <a:headEnd type="none" w="med" len="med"/>
              <a:tailEnd type="none" w="med" len="med"/>
            </a:ln>
          </p:spPr>
        </p:sp>
        <p:sp>
          <p:nvSpPr>
            <p:cNvPr id="20497" name="Line 14"/>
            <p:cNvSpPr/>
            <p:nvPr/>
          </p:nvSpPr>
          <p:spPr>
            <a:xfrm>
              <a:off x="816" y="3128"/>
              <a:ext cx="1864" cy="0"/>
            </a:xfrm>
            <a:prstGeom prst="line">
              <a:avLst/>
            </a:prstGeom>
            <a:ln w="28575" cap="flat" cmpd="sng">
              <a:solidFill>
                <a:schemeClr val="hlink"/>
              </a:solidFill>
              <a:prstDash val="solid"/>
              <a:headEnd type="stealth" w="lg" len="lg"/>
              <a:tailEnd type="stealth" w="lg" len="lg"/>
            </a:ln>
          </p:spPr>
        </p:sp>
        <p:sp>
          <p:nvSpPr>
            <p:cNvPr id="20498" name="Rectangle 15"/>
            <p:cNvSpPr/>
            <p:nvPr/>
          </p:nvSpPr>
          <p:spPr>
            <a:xfrm>
              <a:off x="1574" y="2899"/>
              <a:ext cx="292" cy="232"/>
            </a:xfrm>
            <a:prstGeom prst="rect">
              <a:avLst/>
            </a:prstGeom>
            <a:noFill/>
            <a:ln w="9525">
              <a:noFill/>
            </a:ln>
          </p:spPr>
          <p:txBody>
            <a:bodyPr wrap="none">
              <a:spAutoFit/>
            </a:bodyPr>
            <a:lstStyle/>
            <a:p>
              <a:r>
                <a:rPr lang="en-US" altLang="zh-CN" b="1" i="1">
                  <a:solidFill>
                    <a:schemeClr val="hlink"/>
                  </a:solidFill>
                  <a:latin typeface="Times New Roman" panose="02020603050405020304" pitchFamily="18" charset="0"/>
                </a:rPr>
                <a:t>T</a:t>
              </a:r>
              <a:r>
                <a:rPr lang="en-US" altLang="zh-CN" b="1" baseline="-25000">
                  <a:solidFill>
                    <a:schemeClr val="hlink"/>
                  </a:solidFill>
                  <a:latin typeface="Times New Roman" panose="02020603050405020304" pitchFamily="18" charset="0"/>
                </a:rPr>
                <a:t>M</a:t>
              </a:r>
            </a:p>
          </p:txBody>
        </p:sp>
      </p:grpSp>
      <p:grpSp>
        <p:nvGrpSpPr>
          <p:cNvPr id="4" name="Group 17"/>
          <p:cNvGrpSpPr/>
          <p:nvPr/>
        </p:nvGrpSpPr>
        <p:grpSpPr>
          <a:xfrm>
            <a:off x="4564380" y="2834640"/>
            <a:ext cx="2984500" cy="990600"/>
            <a:chOff x="808" y="2792"/>
            <a:chExt cx="1880" cy="624"/>
          </a:xfrm>
        </p:grpSpPr>
        <p:sp>
          <p:nvSpPr>
            <p:cNvPr id="20491" name="Line 18"/>
            <p:cNvSpPr/>
            <p:nvPr/>
          </p:nvSpPr>
          <p:spPr>
            <a:xfrm>
              <a:off x="808" y="2792"/>
              <a:ext cx="0" cy="624"/>
            </a:xfrm>
            <a:prstGeom prst="line">
              <a:avLst/>
            </a:prstGeom>
            <a:ln w="12700" cap="flat" cmpd="sng">
              <a:solidFill>
                <a:schemeClr val="hlink"/>
              </a:solidFill>
              <a:prstDash val="solid"/>
              <a:headEnd type="none" w="med" len="med"/>
              <a:tailEnd type="none" w="med" len="med"/>
            </a:ln>
          </p:spPr>
        </p:sp>
        <p:sp>
          <p:nvSpPr>
            <p:cNvPr id="20492" name="Line 19"/>
            <p:cNvSpPr/>
            <p:nvPr/>
          </p:nvSpPr>
          <p:spPr>
            <a:xfrm>
              <a:off x="2688" y="2792"/>
              <a:ext cx="0" cy="624"/>
            </a:xfrm>
            <a:prstGeom prst="line">
              <a:avLst/>
            </a:prstGeom>
            <a:ln w="12700" cap="flat" cmpd="sng">
              <a:solidFill>
                <a:schemeClr val="hlink"/>
              </a:solidFill>
              <a:prstDash val="solid"/>
              <a:headEnd type="none" w="med" len="med"/>
              <a:tailEnd type="none" w="med" len="med"/>
            </a:ln>
          </p:spPr>
        </p:sp>
        <p:sp>
          <p:nvSpPr>
            <p:cNvPr id="20493" name="Line 20"/>
            <p:cNvSpPr/>
            <p:nvPr/>
          </p:nvSpPr>
          <p:spPr>
            <a:xfrm>
              <a:off x="816" y="3128"/>
              <a:ext cx="1864" cy="0"/>
            </a:xfrm>
            <a:prstGeom prst="line">
              <a:avLst/>
            </a:prstGeom>
            <a:ln w="28575" cap="flat" cmpd="sng">
              <a:solidFill>
                <a:schemeClr val="hlink"/>
              </a:solidFill>
              <a:prstDash val="solid"/>
              <a:headEnd type="stealth" w="lg" len="lg"/>
              <a:tailEnd type="stealth" w="lg" len="lg"/>
            </a:ln>
          </p:spPr>
        </p:sp>
        <p:sp>
          <p:nvSpPr>
            <p:cNvPr id="20494" name="Rectangle 21"/>
            <p:cNvSpPr/>
            <p:nvPr/>
          </p:nvSpPr>
          <p:spPr>
            <a:xfrm>
              <a:off x="1574" y="2899"/>
              <a:ext cx="292" cy="232"/>
            </a:xfrm>
            <a:prstGeom prst="rect">
              <a:avLst/>
            </a:prstGeom>
            <a:noFill/>
            <a:ln w="9525">
              <a:noFill/>
            </a:ln>
          </p:spPr>
          <p:txBody>
            <a:bodyPr wrap="none">
              <a:spAutoFit/>
            </a:bodyPr>
            <a:lstStyle/>
            <a:p>
              <a:r>
                <a:rPr lang="en-US" altLang="zh-CN" b="1" i="1">
                  <a:solidFill>
                    <a:schemeClr val="hlink"/>
                  </a:solidFill>
                  <a:latin typeface="Times New Roman" panose="02020603050405020304" pitchFamily="18" charset="0"/>
                </a:rPr>
                <a:t>T</a:t>
              </a:r>
              <a:r>
                <a:rPr lang="en-US" altLang="zh-CN" b="1" baseline="-25000">
                  <a:solidFill>
                    <a:schemeClr val="hlink"/>
                  </a:solidFill>
                  <a:latin typeface="Times New Roman" panose="02020603050405020304" pitchFamily="18" charset="0"/>
                </a:rPr>
                <a:t>M</a:t>
              </a:r>
            </a:p>
          </p:txBody>
        </p:sp>
      </p:grpSp>
      <p:pic>
        <p:nvPicPr>
          <p:cNvPr id="116740" name="图片 4"/>
          <p:cNvPicPr>
            <a:picLocks noChangeAspect="1"/>
          </p:cNvPicPr>
          <p:nvPr/>
        </p:nvPicPr>
        <p:blipFill>
          <a:blip r:embed="rId6"/>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67268"/>
                                        </p:tgtEl>
                                        <p:attrNameLst>
                                          <p:attrName>style.visibility</p:attrName>
                                        </p:attrNameLst>
                                      </p:cBhvr>
                                      <p:to>
                                        <p:strVal val="visible"/>
                                      </p:to>
                                    </p:set>
                                    <p:animEffect transition="in" filter="box(in)">
                                      <p:cBhvr>
                                        <p:cTn id="7" dur="500"/>
                                        <p:tgtEl>
                                          <p:spTgt spid="267268"/>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to="" calcmode="lin" valueType="num">
                                      <p:cBhvr>
                                        <p:cTn id="12" dur="1" fill="hold"/>
                                        <p:tgtEl>
                                          <p:spTgt spid="3"/>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to="" calcmode="lin" valueType="num">
                                      <p:cBhvr>
                                        <p:cTn id="17" dur="1" fill="hold"/>
                                        <p:tgtEl>
                                          <p:spTgt spid="4"/>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267273"/>
                                        </p:tgtEl>
                                        <p:attrNameLst>
                                          <p:attrName>style.visibility</p:attrName>
                                        </p:attrNameLst>
                                      </p:cBhvr>
                                      <p:to>
                                        <p:strVal val="visible"/>
                                      </p:to>
                                    </p:set>
                                    <p:animEffect transition="in" filter="strips(downRight)">
                                      <p:cBhvr>
                                        <p:cTn id="22" dur="500"/>
                                        <p:tgtEl>
                                          <p:spTgt spid="26727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67274"/>
                                        </p:tgtEl>
                                        <p:attrNameLst>
                                          <p:attrName>style.visibility</p:attrName>
                                        </p:attrNameLst>
                                      </p:cBhvr>
                                      <p:to>
                                        <p:strVal val="visible"/>
                                      </p:to>
                                    </p:set>
                                    <p:animEffect transition="in" filter="wipe(up)">
                                      <p:cBhvr>
                                        <p:cTn id="27" dur="500"/>
                                        <p:tgtEl>
                                          <p:spTgt spid="26727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67275"/>
                                        </p:tgtEl>
                                        <p:attrNameLst>
                                          <p:attrName>style.visibility</p:attrName>
                                        </p:attrNameLst>
                                      </p:cBhvr>
                                      <p:to>
                                        <p:strVal val="visible"/>
                                      </p:to>
                                    </p:set>
                                    <p:animEffect transition="in" filter="wipe(up)">
                                      <p:cBhvr>
                                        <p:cTn id="32" dur="500"/>
                                        <p:tgtEl>
                                          <p:spTgt spid="267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73" grpId="0" bldLvl="0" animBg="1"/>
      <p:bldP spid="267274" grpId="0" bldLvl="0" animBg="1"/>
      <p:bldP spid="267275"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5262563"/>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2.4.2 CPU</a:t>
            </a:r>
            <a:r>
              <a:rPr lang="zh-CN" altLang="en-US" sz="2400" b="1" dirty="0">
                <a:solidFill>
                  <a:prstClr val="black"/>
                </a:solidFill>
                <a:latin typeface="微软雅黑" panose="020B0503020204020204" pitchFamily="34" charset="-122"/>
                <a:ea typeface="微软雅黑" panose="020B0503020204020204" pitchFamily="34" charset="-122"/>
              </a:rPr>
              <a:t>时序</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指令周期</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a:t>
            </a:r>
            <a:r>
              <a:rPr lang="zh-CN" altLang="en-US" sz="2000" dirty="0">
                <a:solidFill>
                  <a:srgbClr val="0000FF"/>
                </a:solidFill>
                <a:latin typeface="微软雅黑" panose="020B0503020204020204" pitchFamily="34" charset="-122"/>
                <a:ea typeface="微软雅黑" panose="020B0503020204020204" pitchFamily="34" charset="-122"/>
              </a:rPr>
              <a:t>执行一条指令</a:t>
            </a:r>
            <a:r>
              <a:rPr lang="zh-CN" altLang="en-US" sz="2000" dirty="0">
                <a:solidFill>
                  <a:prstClr val="black"/>
                </a:solidFill>
                <a:latin typeface="微软雅黑" panose="020B0503020204020204" pitchFamily="34" charset="-122"/>
                <a:ea typeface="微软雅黑" panose="020B0503020204020204" pitchFamily="34" charset="-122"/>
              </a:rPr>
              <a:t>所用的时间。</a:t>
            </a:r>
            <a:endParaRPr lang="en-US" altLang="zh-CN" sz="20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en-US" altLang="zh-CN" sz="2000" dirty="0">
                <a:solidFill>
                  <a:prstClr val="black"/>
                </a:solidFill>
                <a:latin typeface="微软雅黑" panose="020B0503020204020204" pitchFamily="34" charset="-122"/>
                <a:ea typeface="微软雅黑" panose="020B0503020204020204" pitchFamily="34" charset="-122"/>
              </a:rPr>
              <a:t>       MCS-51</a:t>
            </a:r>
            <a:r>
              <a:rPr lang="zh-CN" altLang="en-US" sz="2000" dirty="0">
                <a:solidFill>
                  <a:prstClr val="black"/>
                </a:solidFill>
                <a:latin typeface="微软雅黑" panose="020B0503020204020204" pitchFamily="34" charset="-122"/>
                <a:ea typeface="微软雅黑" panose="020B0503020204020204" pitchFamily="34" charset="-122"/>
              </a:rPr>
              <a:t>单片机的指令周期可以分为</a:t>
            </a:r>
            <a:r>
              <a:rPr lang="zh-CN" altLang="en-US" sz="2000" dirty="0">
                <a:solidFill>
                  <a:srgbClr val="0000FF"/>
                </a:solidFill>
                <a:latin typeface="微软雅黑" panose="020B0503020204020204" pitchFamily="34" charset="-122"/>
                <a:ea typeface="微软雅黑" panose="020B0503020204020204" pitchFamily="34" charset="-122"/>
              </a:rPr>
              <a:t>单周期指令</a:t>
            </a:r>
            <a:r>
              <a:rPr lang="zh-CN" altLang="en-US" sz="2000" dirty="0">
                <a:solidFill>
                  <a:prstClr val="black"/>
                </a:solidFill>
                <a:latin typeface="微软雅黑" panose="020B0503020204020204" pitchFamily="34" charset="-122"/>
                <a:ea typeface="微软雅黑" panose="020B0503020204020204" pitchFamily="34" charset="-122"/>
              </a:rPr>
              <a:t>、</a:t>
            </a:r>
            <a:r>
              <a:rPr lang="zh-CN" altLang="en-US" sz="2000" dirty="0">
                <a:solidFill>
                  <a:srgbClr val="0000FF"/>
                </a:solidFill>
                <a:latin typeface="微软雅黑" panose="020B0503020204020204" pitchFamily="34" charset="-122"/>
                <a:ea typeface="微软雅黑" panose="020B0503020204020204" pitchFamily="34" charset="-122"/>
              </a:rPr>
              <a:t>双周期指令</a:t>
            </a:r>
            <a:r>
              <a:rPr lang="zh-CN" altLang="en-US" sz="2000" dirty="0">
                <a:solidFill>
                  <a:prstClr val="black"/>
                </a:solidFill>
                <a:latin typeface="微软雅黑" panose="020B0503020204020204" pitchFamily="34" charset="-122"/>
                <a:ea typeface="微软雅黑" panose="020B0503020204020204" pitchFamily="34" charset="-122"/>
              </a:rPr>
              <a:t>和</a:t>
            </a:r>
            <a:r>
              <a:rPr lang="zh-CN" altLang="en-US" sz="2000" dirty="0">
                <a:solidFill>
                  <a:srgbClr val="0000FF"/>
                </a:solidFill>
                <a:latin typeface="微软雅黑" panose="020B0503020204020204" pitchFamily="34" charset="-122"/>
                <a:ea typeface="微软雅黑" panose="020B0503020204020204" pitchFamily="34" charset="-122"/>
              </a:rPr>
              <a:t>四周期指令</a:t>
            </a:r>
            <a:r>
              <a:rPr lang="en-US" altLang="zh-CN" sz="2000" dirty="0">
                <a:solidFill>
                  <a:prstClr val="black"/>
                </a:solidFill>
                <a:latin typeface="微软雅黑" panose="020B0503020204020204" pitchFamily="34" charset="-122"/>
                <a:ea typeface="微软雅黑" panose="020B0503020204020204" pitchFamily="34" charset="-122"/>
              </a:rPr>
              <a:t>3</a:t>
            </a:r>
            <a:r>
              <a:rPr lang="zh-CN" altLang="en-US" sz="2000" dirty="0">
                <a:solidFill>
                  <a:prstClr val="black"/>
                </a:solidFill>
                <a:latin typeface="微软雅黑" panose="020B0503020204020204" pitchFamily="34" charset="-122"/>
                <a:ea typeface="微软雅黑" panose="020B0503020204020204" pitchFamily="34" charset="-122"/>
              </a:rPr>
              <a:t>种。只有</a:t>
            </a:r>
            <a:r>
              <a:rPr lang="zh-CN" altLang="en-US" sz="2000" dirty="0">
                <a:solidFill>
                  <a:srgbClr val="0000FF"/>
                </a:solidFill>
                <a:latin typeface="微软雅黑" panose="020B0503020204020204" pitchFamily="34" charset="-122"/>
                <a:ea typeface="微软雅黑" panose="020B0503020204020204" pitchFamily="34" charset="-122"/>
              </a:rPr>
              <a:t>乘法</a:t>
            </a:r>
            <a:r>
              <a:rPr lang="zh-CN" altLang="en-US" sz="2000" dirty="0">
                <a:solidFill>
                  <a:prstClr val="black"/>
                </a:solidFill>
                <a:latin typeface="微软雅黑" panose="020B0503020204020204" pitchFamily="34" charset="-122"/>
                <a:ea typeface="微软雅黑" panose="020B0503020204020204" pitchFamily="34" charset="-122"/>
              </a:rPr>
              <a:t>和</a:t>
            </a:r>
            <a:r>
              <a:rPr lang="zh-CN" altLang="en-US" sz="2000" dirty="0">
                <a:solidFill>
                  <a:srgbClr val="0000FF"/>
                </a:solidFill>
                <a:latin typeface="微软雅黑" panose="020B0503020204020204" pitchFamily="34" charset="-122"/>
                <a:ea typeface="微软雅黑" panose="020B0503020204020204" pitchFamily="34" charset="-122"/>
              </a:rPr>
              <a:t>除法</a:t>
            </a:r>
            <a:r>
              <a:rPr lang="zh-CN" altLang="en-US" sz="2000" dirty="0">
                <a:solidFill>
                  <a:prstClr val="black"/>
                </a:solidFill>
                <a:latin typeface="微软雅黑" panose="020B0503020204020204" pitchFamily="34" charset="-122"/>
                <a:ea typeface="微软雅黑" panose="020B0503020204020204" pitchFamily="34" charset="-122"/>
              </a:rPr>
              <a:t>指令是</a:t>
            </a:r>
            <a:r>
              <a:rPr lang="zh-CN" altLang="en-US" sz="2000" dirty="0">
                <a:solidFill>
                  <a:srgbClr val="0000FF"/>
                </a:solidFill>
                <a:latin typeface="微软雅黑" panose="020B0503020204020204" pitchFamily="34" charset="-122"/>
                <a:ea typeface="微软雅黑" panose="020B0503020204020204" pitchFamily="34" charset="-122"/>
              </a:rPr>
              <a:t>四周期指令</a:t>
            </a:r>
            <a:r>
              <a:rPr lang="zh-CN" altLang="en-US" sz="2000" dirty="0">
                <a:solidFill>
                  <a:prstClr val="black"/>
                </a:solidFill>
                <a:latin typeface="微软雅黑" panose="020B0503020204020204" pitchFamily="34" charset="-122"/>
                <a:ea typeface="微软雅黑" panose="020B0503020204020204" pitchFamily="34" charset="-122"/>
              </a:rPr>
              <a:t>，其余都是单周期指令和双周期指令。</a:t>
            </a:r>
            <a:endParaRPr lang="en-US" altLang="zh-CN" sz="2000"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单片机的取指</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执行时序</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取指令阶段把程序计数器</a:t>
            </a:r>
            <a:r>
              <a:rPr lang="en-US" altLang="zh-CN" sz="2400" dirty="0">
                <a:solidFill>
                  <a:prstClr val="black"/>
                </a:solidFill>
                <a:latin typeface="微软雅黑" panose="020B0503020204020204" pitchFamily="34" charset="-122"/>
                <a:ea typeface="微软雅黑" panose="020B0503020204020204" pitchFamily="34" charset="-122"/>
              </a:rPr>
              <a:t>PC</a:t>
            </a:r>
            <a:r>
              <a:rPr lang="zh-CN" altLang="en-US" sz="2400" dirty="0">
                <a:solidFill>
                  <a:prstClr val="black"/>
                </a:solidFill>
                <a:latin typeface="微软雅黑" panose="020B0503020204020204" pitchFamily="34" charset="-122"/>
                <a:ea typeface="微软雅黑" panose="020B0503020204020204" pitchFamily="34" charset="-122"/>
              </a:rPr>
              <a:t>中的</a:t>
            </a:r>
            <a:r>
              <a:rPr lang="zh-CN" altLang="en-US" sz="2400" dirty="0">
                <a:solidFill>
                  <a:srgbClr val="C00000"/>
                </a:solidFill>
                <a:latin typeface="微软雅黑" panose="020B0503020204020204" pitchFamily="34" charset="-122"/>
                <a:ea typeface="微软雅黑" panose="020B0503020204020204" pitchFamily="34" charset="-122"/>
              </a:rPr>
              <a:t>指令地址</a:t>
            </a:r>
            <a:r>
              <a:rPr lang="zh-CN" altLang="en-US" sz="2400" dirty="0">
                <a:solidFill>
                  <a:prstClr val="black"/>
                </a:solidFill>
                <a:latin typeface="微软雅黑" panose="020B0503020204020204" pitchFamily="34" charset="-122"/>
                <a:ea typeface="微软雅黑" panose="020B0503020204020204" pitchFamily="34" charset="-122"/>
              </a:rPr>
              <a:t>送到程序存储器，选中指定单元并从中</a:t>
            </a:r>
            <a:r>
              <a:rPr lang="zh-CN" altLang="en-US" sz="2400" dirty="0">
                <a:solidFill>
                  <a:srgbClr val="C00000"/>
                </a:solidFill>
                <a:latin typeface="微软雅黑" panose="020B0503020204020204" pitchFamily="34" charset="-122"/>
                <a:ea typeface="微软雅黑" panose="020B0503020204020204" pitchFamily="34" charset="-122"/>
              </a:rPr>
              <a:t>取</a:t>
            </a:r>
            <a:r>
              <a:rPr lang="zh-CN" altLang="en-US" sz="2400" dirty="0">
                <a:solidFill>
                  <a:prstClr val="black"/>
                </a:solidFill>
                <a:latin typeface="微软雅黑" panose="020B0503020204020204" pitchFamily="34" charset="-122"/>
                <a:ea typeface="微软雅黑" panose="020B0503020204020204" pitchFamily="34" charset="-122"/>
              </a:rPr>
              <a:t>出需要执行的指令。指令执行阶段对指令操作码进行</a:t>
            </a:r>
            <a:r>
              <a:rPr lang="zh-CN" altLang="en-US" sz="2400" dirty="0">
                <a:solidFill>
                  <a:srgbClr val="C00000"/>
                </a:solidFill>
                <a:latin typeface="微软雅黑" panose="020B0503020204020204" pitchFamily="34" charset="-122"/>
                <a:ea typeface="微软雅黑" panose="020B0503020204020204" pitchFamily="34" charset="-122"/>
              </a:rPr>
              <a:t>译码</a:t>
            </a:r>
            <a:r>
              <a:rPr lang="zh-CN" altLang="en-US" sz="2400" dirty="0">
                <a:solidFill>
                  <a:prstClr val="black"/>
                </a:solidFill>
                <a:latin typeface="微软雅黑" panose="020B0503020204020204" pitchFamily="34" charset="-122"/>
                <a:ea typeface="微软雅黑" panose="020B0503020204020204" pitchFamily="34" charset="-122"/>
              </a:rPr>
              <a:t>，以产生一系列控制信号完成指令的执行。 </a:t>
            </a:r>
          </a:p>
        </p:txBody>
      </p:sp>
      <p:sp>
        <p:nvSpPr>
          <p:cNvPr id="11673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2.4 MCS-51</a:t>
            </a:r>
            <a:r>
              <a:rPr lang="zh-CN" altLang="en-US" sz="2800">
                <a:solidFill>
                  <a:srgbClr val="000000"/>
                </a:solidFill>
                <a:latin typeface="微软雅黑" panose="020B0503020204020204" pitchFamily="34" charset="-122"/>
                <a:ea typeface="微软雅黑" panose="020B0503020204020204" pitchFamily="34" charset="-122"/>
              </a:rPr>
              <a:t>单片机的时序</a:t>
            </a:r>
          </a:p>
        </p:txBody>
      </p:sp>
      <p:pic>
        <p:nvPicPr>
          <p:cNvPr id="116739"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16740"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1753235"/>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2.4.2 CPU</a:t>
            </a:r>
            <a:r>
              <a:rPr lang="zh-CN" altLang="en-US" sz="2400" b="1" dirty="0">
                <a:solidFill>
                  <a:prstClr val="black"/>
                </a:solidFill>
                <a:latin typeface="微软雅黑" panose="020B0503020204020204" pitchFamily="34" charset="-122"/>
                <a:ea typeface="微软雅黑" panose="020B0503020204020204" pitchFamily="34" charset="-122"/>
              </a:rPr>
              <a:t>时序</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单片机的取指</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执行时序</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a:t>
            </a:r>
            <a:r>
              <a:rPr lang="en-US" altLang="zh-CN" sz="2400" dirty="0">
                <a:solidFill>
                  <a:prstClr val="black"/>
                </a:solidFill>
                <a:latin typeface="微软雅黑" panose="020B0503020204020204" pitchFamily="34" charset="-122"/>
                <a:ea typeface="微软雅黑" panose="020B0503020204020204" pitchFamily="34" charset="-122"/>
              </a:rPr>
              <a:t>(1) </a:t>
            </a:r>
            <a:r>
              <a:rPr lang="zh-CN" altLang="en-US" sz="2400" dirty="0">
                <a:solidFill>
                  <a:prstClr val="black"/>
                </a:solidFill>
                <a:latin typeface="微软雅黑" panose="020B0503020204020204" pitchFamily="34" charset="-122"/>
                <a:ea typeface="微软雅黑" panose="020B0503020204020204" pitchFamily="34" charset="-122"/>
              </a:rPr>
              <a:t>单字节单周期指令 </a:t>
            </a:r>
          </a:p>
        </p:txBody>
      </p:sp>
      <p:sp>
        <p:nvSpPr>
          <p:cNvPr id="11673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2.4 MCS-51</a:t>
            </a:r>
            <a:r>
              <a:rPr lang="zh-CN" altLang="en-US" sz="2800">
                <a:solidFill>
                  <a:srgbClr val="000000"/>
                </a:solidFill>
                <a:latin typeface="微软雅黑" panose="020B0503020204020204" pitchFamily="34" charset="-122"/>
                <a:ea typeface="微软雅黑" panose="020B0503020204020204" pitchFamily="34" charset="-122"/>
              </a:rPr>
              <a:t>单片机的时序</a:t>
            </a:r>
          </a:p>
        </p:txBody>
      </p:sp>
      <p:pic>
        <p:nvPicPr>
          <p:cNvPr id="116739"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16740"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grpSp>
        <p:nvGrpSpPr>
          <p:cNvPr id="21510" name="Group 34"/>
          <p:cNvGrpSpPr/>
          <p:nvPr/>
        </p:nvGrpSpPr>
        <p:grpSpPr>
          <a:xfrm>
            <a:off x="7294563" y="3375343"/>
            <a:ext cx="1303337" cy="1747837"/>
            <a:chOff x="4699" y="2407"/>
            <a:chExt cx="821" cy="1101"/>
          </a:xfrm>
        </p:grpSpPr>
        <p:sp>
          <p:nvSpPr>
            <p:cNvPr id="21521" name="Rectangle 10"/>
            <p:cNvSpPr/>
            <p:nvPr/>
          </p:nvSpPr>
          <p:spPr>
            <a:xfrm>
              <a:off x="5109" y="2605"/>
              <a:ext cx="411" cy="113"/>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04</a:t>
              </a:r>
            </a:p>
          </p:txBody>
        </p:sp>
        <p:sp>
          <p:nvSpPr>
            <p:cNvPr id="21522" name="Rectangle 11"/>
            <p:cNvSpPr/>
            <p:nvPr/>
          </p:nvSpPr>
          <p:spPr>
            <a:xfrm>
              <a:off x="5109" y="2718"/>
              <a:ext cx="411" cy="112"/>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1523" name="Rectangle 12"/>
            <p:cNvSpPr/>
            <p:nvPr/>
          </p:nvSpPr>
          <p:spPr>
            <a:xfrm>
              <a:off x="5109" y="2830"/>
              <a:ext cx="411" cy="113"/>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1524" name="Rectangle 13"/>
            <p:cNvSpPr/>
            <p:nvPr/>
          </p:nvSpPr>
          <p:spPr>
            <a:xfrm>
              <a:off x="5109" y="2943"/>
              <a:ext cx="411" cy="113"/>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1525" name="Rectangle 14"/>
            <p:cNvSpPr/>
            <p:nvPr/>
          </p:nvSpPr>
          <p:spPr>
            <a:xfrm>
              <a:off x="5109" y="3056"/>
              <a:ext cx="411" cy="113"/>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1526" name="Rectangle 15"/>
            <p:cNvSpPr/>
            <p:nvPr/>
          </p:nvSpPr>
          <p:spPr>
            <a:xfrm>
              <a:off x="5109" y="3169"/>
              <a:ext cx="411" cy="113"/>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1527" name="Rectangle 16"/>
            <p:cNvSpPr/>
            <p:nvPr/>
          </p:nvSpPr>
          <p:spPr>
            <a:xfrm>
              <a:off x="5109" y="3282"/>
              <a:ext cx="411" cy="113"/>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1528" name="Rectangle 17"/>
            <p:cNvSpPr/>
            <p:nvPr/>
          </p:nvSpPr>
          <p:spPr>
            <a:xfrm>
              <a:off x="5109" y="3395"/>
              <a:ext cx="411" cy="113"/>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1529" name="Rectangle 18" descr="羊皮纸"/>
            <p:cNvSpPr/>
            <p:nvPr/>
          </p:nvSpPr>
          <p:spPr>
            <a:xfrm>
              <a:off x="4735" y="2407"/>
              <a:ext cx="657" cy="169"/>
            </a:xfrm>
            <a:prstGeom prst="rect">
              <a:avLst/>
            </a:prstGeom>
            <a:noFill/>
            <a:ln w="12700">
              <a:noFill/>
            </a:ln>
          </p:spPr>
          <p:txBody>
            <a:bodyPr wrap="none" anchor="ctr"/>
            <a:lstStyle/>
            <a:p>
              <a:pPr algn="ctr"/>
              <a:r>
                <a:rPr lang="zh-CN" altLang="en-US" sz="1600" b="1" dirty="0">
                  <a:latin typeface="Times New Roman" panose="02020603050405020304" pitchFamily="18" charset="0"/>
                  <a:ea typeface="黑体" panose="02010609060101010101" pitchFamily="2" charset="-122"/>
                </a:rPr>
                <a:t>程序存储器</a:t>
              </a:r>
            </a:p>
          </p:txBody>
        </p:sp>
        <p:sp>
          <p:nvSpPr>
            <p:cNvPr id="21530" name="Rectangle 19"/>
            <p:cNvSpPr/>
            <p:nvPr/>
          </p:nvSpPr>
          <p:spPr>
            <a:xfrm>
              <a:off x="4699" y="2605"/>
              <a:ext cx="410" cy="113"/>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2000H</a:t>
              </a:r>
            </a:p>
          </p:txBody>
        </p:sp>
        <p:sp>
          <p:nvSpPr>
            <p:cNvPr id="21531" name="Rectangle 20"/>
            <p:cNvSpPr/>
            <p:nvPr/>
          </p:nvSpPr>
          <p:spPr>
            <a:xfrm>
              <a:off x="4699" y="2830"/>
              <a:ext cx="410" cy="113"/>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2002H</a:t>
              </a:r>
            </a:p>
          </p:txBody>
        </p:sp>
        <p:sp>
          <p:nvSpPr>
            <p:cNvPr id="21532" name="Rectangle 21"/>
            <p:cNvSpPr/>
            <p:nvPr/>
          </p:nvSpPr>
          <p:spPr>
            <a:xfrm>
              <a:off x="4699" y="2943"/>
              <a:ext cx="410" cy="113"/>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2003H</a:t>
              </a:r>
            </a:p>
          </p:txBody>
        </p:sp>
        <p:sp>
          <p:nvSpPr>
            <p:cNvPr id="21533" name="Rectangle 22"/>
            <p:cNvSpPr/>
            <p:nvPr/>
          </p:nvSpPr>
          <p:spPr>
            <a:xfrm>
              <a:off x="4699" y="3056"/>
              <a:ext cx="410" cy="113"/>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2004H</a:t>
              </a:r>
            </a:p>
          </p:txBody>
        </p:sp>
        <p:sp>
          <p:nvSpPr>
            <p:cNvPr id="21534" name="Rectangle 23"/>
            <p:cNvSpPr/>
            <p:nvPr/>
          </p:nvSpPr>
          <p:spPr>
            <a:xfrm>
              <a:off x="4699" y="3169"/>
              <a:ext cx="410" cy="113"/>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2005H</a:t>
              </a:r>
            </a:p>
          </p:txBody>
        </p:sp>
        <p:sp>
          <p:nvSpPr>
            <p:cNvPr id="21535" name="Rectangle 24"/>
            <p:cNvSpPr/>
            <p:nvPr/>
          </p:nvSpPr>
          <p:spPr>
            <a:xfrm>
              <a:off x="4699" y="3282"/>
              <a:ext cx="410" cy="113"/>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2006H</a:t>
              </a:r>
            </a:p>
          </p:txBody>
        </p:sp>
        <p:sp>
          <p:nvSpPr>
            <p:cNvPr id="21536" name="Rectangle 25"/>
            <p:cNvSpPr/>
            <p:nvPr/>
          </p:nvSpPr>
          <p:spPr>
            <a:xfrm>
              <a:off x="4699" y="3395"/>
              <a:ext cx="410" cy="113"/>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2007H</a:t>
              </a:r>
            </a:p>
          </p:txBody>
        </p:sp>
        <p:sp>
          <p:nvSpPr>
            <p:cNvPr id="21537" name="Rectangle 26"/>
            <p:cNvSpPr/>
            <p:nvPr/>
          </p:nvSpPr>
          <p:spPr>
            <a:xfrm>
              <a:off x="4699" y="2718"/>
              <a:ext cx="410" cy="112"/>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2001H</a:t>
              </a:r>
            </a:p>
          </p:txBody>
        </p:sp>
      </p:grpSp>
      <p:sp>
        <p:nvSpPr>
          <p:cNvPr id="21511" name="AutoShape 28"/>
          <p:cNvSpPr/>
          <p:nvPr/>
        </p:nvSpPr>
        <p:spPr>
          <a:xfrm>
            <a:off x="7781925" y="2572068"/>
            <a:ext cx="1158875" cy="546100"/>
          </a:xfrm>
          <a:prstGeom prst="wedgeRoundRectCallout">
            <a:avLst>
              <a:gd name="adj1" fmla="val 2741"/>
              <a:gd name="adj2" fmla="val 162208"/>
              <a:gd name="adj3" fmla="val 16667"/>
            </a:avLst>
          </a:prstGeom>
          <a:noFill/>
          <a:ln w="12700" cap="flat" cmpd="sng">
            <a:solidFill>
              <a:srgbClr val="FF0000"/>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INC  A</a:t>
            </a:r>
          </a:p>
          <a:p>
            <a:pPr algn="ctr"/>
            <a:r>
              <a:rPr lang="en-US" altLang="zh-CN" sz="1600" b="1">
                <a:latin typeface="Times New Roman" panose="02020603050405020304" pitchFamily="18" charset="0"/>
                <a:ea typeface="黑体" panose="02010609060101010101" pitchFamily="2" charset="-122"/>
              </a:rPr>
              <a:t> </a:t>
            </a:r>
            <a:r>
              <a:rPr lang="zh-CN" altLang="en-US" sz="1600" b="1" dirty="0">
                <a:latin typeface="Times New Roman" panose="02020603050405020304" pitchFamily="18" charset="0"/>
                <a:ea typeface="黑体" panose="02010609060101010101" pitchFamily="2" charset="-122"/>
              </a:rPr>
              <a:t>的机器码</a:t>
            </a:r>
          </a:p>
        </p:txBody>
      </p:sp>
      <p:grpSp>
        <p:nvGrpSpPr>
          <p:cNvPr id="21512" name="Group 32"/>
          <p:cNvGrpSpPr/>
          <p:nvPr/>
        </p:nvGrpSpPr>
        <p:grpSpPr>
          <a:xfrm>
            <a:off x="369888" y="2721293"/>
            <a:ext cx="6837362" cy="3011487"/>
            <a:chOff x="123" y="1787"/>
            <a:chExt cx="4307" cy="1897"/>
          </a:xfrm>
        </p:grpSpPr>
        <p:graphicFrame>
          <p:nvGraphicFramePr>
            <p:cNvPr id="21506" name="Object 5"/>
            <p:cNvGraphicFramePr/>
            <p:nvPr/>
          </p:nvGraphicFramePr>
          <p:xfrm>
            <a:off x="123" y="2128"/>
            <a:ext cx="4307" cy="909"/>
          </p:xfrm>
          <a:graphic>
            <a:graphicData uri="http://schemas.openxmlformats.org/presentationml/2006/ole">
              <mc:AlternateContent xmlns:mc="http://schemas.openxmlformats.org/markup-compatibility/2006">
                <mc:Choice xmlns:v="urn:schemas-microsoft-com:vml" Requires="v">
                  <p:oleObj r:id="rId5" imgW="4905375" imgH="1209675" progId="Paint.Picture">
                    <p:embed/>
                  </p:oleObj>
                </mc:Choice>
                <mc:Fallback>
                  <p:oleObj r:id="rId5" imgW="4905375" imgH="1209675" progId="Paint.Picture">
                    <p:embed/>
                    <p:pic>
                      <p:nvPicPr>
                        <p:cNvPr id="0" name="图片 3102"/>
                        <p:cNvPicPr/>
                        <p:nvPr/>
                      </p:nvPicPr>
                      <p:blipFill>
                        <a:blip r:embed="rId6"/>
                        <a:stretch>
                          <a:fillRect/>
                        </a:stretch>
                      </p:blipFill>
                      <p:spPr>
                        <a:xfrm>
                          <a:off x="123" y="2128"/>
                          <a:ext cx="4307" cy="909"/>
                        </a:xfrm>
                        <a:prstGeom prst="rect">
                          <a:avLst/>
                        </a:prstGeom>
                        <a:noFill/>
                        <a:ln w="38100">
                          <a:noFill/>
                          <a:miter/>
                        </a:ln>
                      </p:spPr>
                    </p:pic>
                  </p:oleObj>
                </mc:Fallback>
              </mc:AlternateContent>
            </a:graphicData>
          </a:graphic>
        </p:graphicFrame>
        <p:sp>
          <p:nvSpPr>
            <p:cNvPr id="21514" name="AutoShape 6"/>
            <p:cNvSpPr/>
            <p:nvPr/>
          </p:nvSpPr>
          <p:spPr>
            <a:xfrm>
              <a:off x="543" y="1787"/>
              <a:ext cx="646" cy="226"/>
            </a:xfrm>
            <a:prstGeom prst="wedgeRoundRectCallout">
              <a:avLst>
                <a:gd name="adj1" fmla="val 51546"/>
                <a:gd name="adj2" fmla="val 174778"/>
                <a:gd name="adj3" fmla="val 16667"/>
              </a:avLst>
            </a:prstGeom>
            <a:noFill/>
            <a:ln w="12700" cap="flat" cmpd="sng">
              <a:solidFill>
                <a:schemeClr val="hlink"/>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P1</a:t>
              </a:r>
              <a:r>
                <a:rPr lang="zh-CN" altLang="en-US" sz="1600" b="1" dirty="0">
                  <a:latin typeface="Times New Roman" panose="02020603050405020304" pitchFamily="18" charset="0"/>
                  <a:ea typeface="黑体" panose="02010609060101010101" pitchFamily="2" charset="-122"/>
                </a:rPr>
                <a:t>相</a:t>
              </a:r>
            </a:p>
          </p:txBody>
        </p:sp>
        <p:sp>
          <p:nvSpPr>
            <p:cNvPr id="21515" name="AutoShape 7"/>
            <p:cNvSpPr/>
            <p:nvPr/>
          </p:nvSpPr>
          <p:spPr>
            <a:xfrm>
              <a:off x="1333" y="1815"/>
              <a:ext cx="502" cy="170"/>
            </a:xfrm>
            <a:prstGeom prst="wedgeRoundRectCallout">
              <a:avLst>
                <a:gd name="adj1" fmla="val -49602"/>
                <a:gd name="adj2" fmla="val 211764"/>
                <a:gd name="adj3" fmla="val 16667"/>
              </a:avLst>
            </a:prstGeom>
            <a:noFill/>
            <a:ln w="12700" cap="flat" cmpd="sng">
              <a:solidFill>
                <a:srgbClr val="FF0000"/>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P2</a:t>
              </a:r>
              <a:r>
                <a:rPr lang="zh-CN" altLang="en-US" sz="1600" b="1" dirty="0">
                  <a:latin typeface="Times New Roman" panose="02020603050405020304" pitchFamily="18" charset="0"/>
                  <a:ea typeface="黑体" panose="02010609060101010101" pitchFamily="2" charset="-122"/>
                </a:rPr>
                <a:t>相</a:t>
              </a:r>
            </a:p>
          </p:txBody>
        </p:sp>
        <p:sp>
          <p:nvSpPr>
            <p:cNvPr id="21516" name="AutoShape 8"/>
            <p:cNvSpPr/>
            <p:nvPr/>
          </p:nvSpPr>
          <p:spPr>
            <a:xfrm>
              <a:off x="577" y="3220"/>
              <a:ext cx="678" cy="254"/>
            </a:xfrm>
            <a:prstGeom prst="wedgeRoundRectCallout">
              <a:avLst>
                <a:gd name="adj1" fmla="val 10981"/>
                <a:gd name="adj2" fmla="val -153148"/>
                <a:gd name="adj3" fmla="val 16667"/>
              </a:avLst>
            </a:prstGeom>
            <a:noFill/>
            <a:ln w="12700" cap="flat" cmpd="sng">
              <a:solidFill>
                <a:schemeClr val="hlink"/>
              </a:solidFill>
              <a:prstDash val="solid"/>
              <a:miter/>
              <a:headEnd type="none" w="med" len="med"/>
              <a:tailEnd type="none" w="med" len="med"/>
            </a:ln>
          </p:spPr>
          <p:txBody>
            <a:bodyPr wrap="none" anchor="ctr"/>
            <a:lstStyle/>
            <a:p>
              <a:pPr algn="ctr"/>
              <a:r>
                <a:rPr lang="zh-CN" altLang="en-US" sz="1600" b="1" dirty="0">
                  <a:latin typeface="Times New Roman" panose="02020603050405020304" pitchFamily="18" charset="0"/>
                  <a:ea typeface="黑体" panose="02010609060101010101" pitchFamily="2" charset="-122"/>
                </a:rPr>
                <a:t>读机器码</a:t>
              </a:r>
            </a:p>
          </p:txBody>
        </p:sp>
        <p:sp>
          <p:nvSpPr>
            <p:cNvPr id="21517" name="AutoShape 9"/>
            <p:cNvSpPr/>
            <p:nvPr/>
          </p:nvSpPr>
          <p:spPr>
            <a:xfrm>
              <a:off x="1509" y="3192"/>
              <a:ext cx="1446" cy="254"/>
            </a:xfrm>
            <a:prstGeom prst="wedgeRoundRectCallout">
              <a:avLst>
                <a:gd name="adj1" fmla="val -33921"/>
                <a:gd name="adj2" fmla="val -145671"/>
                <a:gd name="adj3" fmla="val 16667"/>
              </a:avLst>
            </a:prstGeom>
            <a:noFill/>
            <a:ln w="12700" cap="flat" cmpd="sng">
              <a:solidFill>
                <a:schemeClr val="hlink"/>
              </a:solidFill>
              <a:prstDash val="solid"/>
              <a:miter/>
              <a:headEnd type="none" w="med" len="med"/>
              <a:tailEnd type="none" w="med" len="med"/>
            </a:ln>
          </p:spPr>
          <p:txBody>
            <a:bodyPr wrap="none" anchor="ctr"/>
            <a:lstStyle/>
            <a:p>
              <a:pPr algn="ctr"/>
              <a:r>
                <a:rPr lang="zh-CN" altLang="en-US" sz="1600" b="1" dirty="0">
                  <a:latin typeface="Times New Roman" panose="02020603050405020304" pitchFamily="18" charset="0"/>
                  <a:ea typeface="黑体" panose="02010609060101010101" pitchFamily="2" charset="-122"/>
                </a:rPr>
                <a:t>读下一个机器码，</a:t>
              </a:r>
              <a:r>
                <a:rPr lang="zh-CN" altLang="en-US" sz="1600" b="1" dirty="0">
                  <a:solidFill>
                    <a:srgbClr val="C00000"/>
                  </a:solidFill>
                  <a:latin typeface="Times New Roman" panose="02020603050405020304" pitchFamily="18" charset="0"/>
                  <a:ea typeface="黑体" panose="02010609060101010101" pitchFamily="2" charset="-122"/>
                </a:rPr>
                <a:t>丢弃</a:t>
              </a:r>
            </a:p>
          </p:txBody>
        </p:sp>
        <p:sp>
          <p:nvSpPr>
            <p:cNvPr id="21518" name="Rectangle 27"/>
            <p:cNvSpPr/>
            <p:nvPr/>
          </p:nvSpPr>
          <p:spPr>
            <a:xfrm>
              <a:off x="2214" y="3534"/>
              <a:ext cx="1331" cy="150"/>
            </a:xfrm>
            <a:prstGeom prst="rect">
              <a:avLst/>
            </a:prstGeom>
            <a:noFill/>
            <a:ln w="12700">
              <a:noFill/>
            </a:ln>
          </p:spPr>
          <p:txBody>
            <a:bodyPr wrap="none" anchor="ctr"/>
            <a:lstStyle/>
            <a:p>
              <a:pPr algn="ctr"/>
              <a:r>
                <a:rPr lang="en-US" altLang="zh-CN" sz="2000" b="1" dirty="0">
                  <a:latin typeface="Times New Roman" panose="02020603050405020304" pitchFamily="18" charset="0"/>
                  <a:ea typeface="黑体" panose="02010609060101010101" pitchFamily="2" charset="-122"/>
                </a:rPr>
                <a:t>CPU</a:t>
              </a:r>
              <a:r>
                <a:rPr lang="zh-CN" altLang="en-US" sz="2000" b="1" dirty="0">
                  <a:latin typeface="Times New Roman" panose="02020603050405020304" pitchFamily="18" charset="0"/>
                  <a:ea typeface="黑体" panose="02010609060101010101" pitchFamily="2" charset="-122"/>
                </a:rPr>
                <a:t>执行指令   </a:t>
              </a:r>
              <a:r>
                <a:rPr lang="en-US" altLang="zh-CN" sz="2000" b="1" dirty="0">
                  <a:latin typeface="Times New Roman" panose="02020603050405020304" pitchFamily="18" charset="0"/>
                  <a:ea typeface="黑体" panose="02010609060101010101" pitchFamily="2" charset="-122"/>
                </a:rPr>
                <a:t>INC    A</a:t>
              </a:r>
            </a:p>
          </p:txBody>
        </p:sp>
        <p:sp>
          <p:nvSpPr>
            <p:cNvPr id="21519" name="Text Box 29"/>
            <p:cNvSpPr txBox="1"/>
            <p:nvPr/>
          </p:nvSpPr>
          <p:spPr>
            <a:xfrm>
              <a:off x="1492" y="2597"/>
              <a:ext cx="685" cy="193"/>
            </a:xfrm>
            <a:prstGeom prst="rect">
              <a:avLst/>
            </a:prstGeom>
            <a:noFill/>
            <a:ln w="9525">
              <a:noFill/>
            </a:ln>
          </p:spPr>
          <p:txBody>
            <a:bodyPr>
              <a:spAutoFit/>
            </a:bodyPr>
            <a:lstStyle/>
            <a:p>
              <a:pPr eaLnBrk="1" hangingPunct="1">
                <a:spcBef>
                  <a:spcPct val="50000"/>
                </a:spcBef>
              </a:pPr>
              <a:r>
                <a:rPr lang="en-US" altLang="zh-CN" sz="1400" b="1" dirty="0">
                  <a:solidFill>
                    <a:schemeClr val="hlink"/>
                  </a:solidFill>
                  <a:latin typeface="Times New Roman" panose="02020603050405020304" pitchFamily="18" charset="0"/>
                  <a:ea typeface="宋体" panose="02010600030101010101" pitchFamily="2" charset="-122"/>
                </a:rPr>
                <a:t>(PC)</a:t>
              </a:r>
              <a:r>
                <a:rPr lang="zh-CN" altLang="en-US" sz="1400" b="1" dirty="0">
                  <a:solidFill>
                    <a:schemeClr val="hlink"/>
                  </a:solidFill>
                  <a:latin typeface="Times New Roman" panose="02020603050405020304" pitchFamily="18" charset="0"/>
                  <a:ea typeface="宋体" panose="02010600030101010101" pitchFamily="2" charset="-122"/>
                </a:rPr>
                <a:t>加</a:t>
              </a:r>
              <a:r>
                <a:rPr lang="en-US" altLang="zh-CN" sz="1400" b="1" dirty="0">
                  <a:solidFill>
                    <a:schemeClr val="hlink"/>
                  </a:solidFill>
                  <a:latin typeface="Times New Roman" panose="02020603050405020304" pitchFamily="18" charset="0"/>
                  <a:ea typeface="宋体" panose="02010600030101010101" pitchFamily="2" charset="-122"/>
                </a:rPr>
                <a:t>1</a:t>
              </a:r>
            </a:p>
          </p:txBody>
        </p:sp>
        <p:sp>
          <p:nvSpPr>
            <p:cNvPr id="21520" name="Text Box 30"/>
            <p:cNvSpPr txBox="1"/>
            <p:nvPr/>
          </p:nvSpPr>
          <p:spPr>
            <a:xfrm>
              <a:off x="2214" y="2597"/>
              <a:ext cx="685" cy="193"/>
            </a:xfrm>
            <a:prstGeom prst="rect">
              <a:avLst/>
            </a:prstGeom>
            <a:noFill/>
            <a:ln w="9525">
              <a:noFill/>
            </a:ln>
          </p:spPr>
          <p:txBody>
            <a:bodyPr>
              <a:spAutoFit/>
            </a:bodyPr>
            <a:lstStyle/>
            <a:p>
              <a:pPr eaLnBrk="1" hangingPunct="1">
                <a:spcBef>
                  <a:spcPct val="50000"/>
                </a:spcBef>
              </a:pPr>
              <a:r>
                <a:rPr lang="en-US" altLang="zh-CN" sz="1400" b="1" dirty="0">
                  <a:solidFill>
                    <a:schemeClr val="hlink"/>
                  </a:solidFill>
                  <a:latin typeface="Times New Roman" panose="02020603050405020304" pitchFamily="18" charset="0"/>
                  <a:ea typeface="宋体" panose="02010600030101010101" pitchFamily="2" charset="-122"/>
                </a:rPr>
                <a:t>(PC)</a:t>
              </a:r>
              <a:r>
                <a:rPr lang="zh-CN" altLang="en-US" sz="1400" b="1" dirty="0">
                  <a:solidFill>
                    <a:schemeClr val="hlink"/>
                  </a:solidFill>
                  <a:latin typeface="Times New Roman" panose="02020603050405020304" pitchFamily="18" charset="0"/>
                  <a:ea typeface="宋体" panose="02010600030101010101" pitchFamily="2" charset="-122"/>
                </a:rPr>
                <a:t>不加</a:t>
              </a:r>
              <a:r>
                <a:rPr lang="en-US" altLang="zh-CN" sz="1400" b="1" dirty="0">
                  <a:solidFill>
                    <a:schemeClr val="hlink"/>
                  </a:solidFill>
                  <a:latin typeface="Times New Roman" panose="02020603050405020304" pitchFamily="18" charset="0"/>
                  <a:ea typeface="宋体" panose="02010600030101010101" pitchFamily="2" charset="-122"/>
                </a:rPr>
                <a:t>1</a:t>
              </a: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1753235"/>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2.4.2 CPU</a:t>
            </a:r>
            <a:r>
              <a:rPr lang="zh-CN" altLang="en-US" sz="2400" b="1" dirty="0">
                <a:solidFill>
                  <a:prstClr val="black"/>
                </a:solidFill>
                <a:latin typeface="微软雅黑" panose="020B0503020204020204" pitchFamily="34" charset="-122"/>
                <a:ea typeface="微软雅黑" panose="020B0503020204020204" pitchFamily="34" charset="-122"/>
              </a:rPr>
              <a:t>时序</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单片机的取指</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执行时序</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a:t>
            </a:r>
            <a:r>
              <a:rPr lang="en-US" altLang="zh-CN" sz="2400" dirty="0">
                <a:solidFill>
                  <a:prstClr val="black"/>
                </a:solidFill>
                <a:latin typeface="微软雅黑" panose="020B0503020204020204" pitchFamily="34" charset="-122"/>
                <a:ea typeface="微软雅黑" panose="020B0503020204020204" pitchFamily="34" charset="-122"/>
              </a:rPr>
              <a:t>(2) </a:t>
            </a:r>
            <a:r>
              <a:rPr lang="zh-CN" altLang="en-US" sz="2400" dirty="0">
                <a:solidFill>
                  <a:prstClr val="black"/>
                </a:solidFill>
                <a:latin typeface="微软雅黑" panose="020B0503020204020204" pitchFamily="34" charset="-122"/>
                <a:ea typeface="微软雅黑" panose="020B0503020204020204" pitchFamily="34" charset="-122"/>
              </a:rPr>
              <a:t>双字节单周期指令 </a:t>
            </a:r>
          </a:p>
        </p:txBody>
      </p:sp>
      <p:sp>
        <p:nvSpPr>
          <p:cNvPr id="11673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2.4 MCS-51</a:t>
            </a:r>
            <a:r>
              <a:rPr lang="zh-CN" altLang="en-US" sz="2800">
                <a:solidFill>
                  <a:srgbClr val="000000"/>
                </a:solidFill>
                <a:latin typeface="微软雅黑" panose="020B0503020204020204" pitchFamily="34" charset="-122"/>
                <a:ea typeface="微软雅黑" panose="020B0503020204020204" pitchFamily="34" charset="-122"/>
              </a:rPr>
              <a:t>单片机的时序</a:t>
            </a:r>
          </a:p>
        </p:txBody>
      </p:sp>
      <p:pic>
        <p:nvPicPr>
          <p:cNvPr id="116739"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16740"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graphicFrame>
        <p:nvGraphicFramePr>
          <p:cNvPr id="22530" name="Object 6"/>
          <p:cNvGraphicFramePr/>
          <p:nvPr/>
        </p:nvGraphicFramePr>
        <p:xfrm>
          <a:off x="604520" y="2746375"/>
          <a:ext cx="6096000" cy="1876425"/>
        </p:xfrm>
        <a:graphic>
          <a:graphicData uri="http://schemas.openxmlformats.org/presentationml/2006/ole">
            <mc:AlternateContent xmlns:mc="http://schemas.openxmlformats.org/markup-compatibility/2006">
              <mc:Choice xmlns:v="urn:schemas-microsoft-com:vml" Requires="v">
                <p:oleObj r:id="rId5" imgW="4905375" imgH="1209675" progId="Paint.Picture">
                  <p:embed/>
                </p:oleObj>
              </mc:Choice>
              <mc:Fallback>
                <p:oleObj r:id="rId5" imgW="4905375" imgH="1209675" progId="Paint.Picture">
                  <p:embed/>
                  <p:pic>
                    <p:nvPicPr>
                      <p:cNvPr id="0" name="图片 3103"/>
                      <p:cNvPicPr/>
                      <p:nvPr/>
                    </p:nvPicPr>
                    <p:blipFill>
                      <a:blip r:embed="rId6"/>
                      <a:stretch>
                        <a:fillRect/>
                      </a:stretch>
                    </p:blipFill>
                    <p:spPr>
                      <a:xfrm>
                        <a:off x="604520" y="2746375"/>
                        <a:ext cx="6096000" cy="1876425"/>
                      </a:xfrm>
                      <a:prstGeom prst="rect">
                        <a:avLst/>
                      </a:prstGeom>
                      <a:noFill/>
                      <a:ln w="38100">
                        <a:noFill/>
                        <a:miter/>
                      </a:ln>
                    </p:spPr>
                  </p:pic>
                </p:oleObj>
              </mc:Fallback>
            </mc:AlternateContent>
          </a:graphicData>
        </a:graphic>
      </p:graphicFrame>
      <p:grpSp>
        <p:nvGrpSpPr>
          <p:cNvPr id="22534" name="Group 33"/>
          <p:cNvGrpSpPr/>
          <p:nvPr/>
        </p:nvGrpSpPr>
        <p:grpSpPr>
          <a:xfrm>
            <a:off x="6754495" y="2727325"/>
            <a:ext cx="1849438" cy="2193925"/>
            <a:chOff x="3914" y="2650"/>
            <a:chExt cx="1165" cy="1382"/>
          </a:xfrm>
        </p:grpSpPr>
        <p:sp>
          <p:nvSpPr>
            <p:cNvPr id="22543" name="Rectangle 9"/>
            <p:cNvSpPr/>
            <p:nvPr/>
          </p:nvSpPr>
          <p:spPr>
            <a:xfrm>
              <a:off x="4478" y="2898"/>
              <a:ext cx="563" cy="142"/>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24</a:t>
              </a:r>
            </a:p>
          </p:txBody>
        </p:sp>
        <p:sp>
          <p:nvSpPr>
            <p:cNvPr id="22544" name="Rectangle 10"/>
            <p:cNvSpPr/>
            <p:nvPr/>
          </p:nvSpPr>
          <p:spPr>
            <a:xfrm>
              <a:off x="4478" y="3040"/>
              <a:ext cx="563" cy="142"/>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50</a:t>
              </a:r>
            </a:p>
          </p:txBody>
        </p:sp>
        <p:sp>
          <p:nvSpPr>
            <p:cNvPr id="22545" name="Rectangle 11"/>
            <p:cNvSpPr/>
            <p:nvPr/>
          </p:nvSpPr>
          <p:spPr>
            <a:xfrm>
              <a:off x="4478" y="3182"/>
              <a:ext cx="563" cy="141"/>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2546" name="Rectangle 12"/>
            <p:cNvSpPr/>
            <p:nvPr/>
          </p:nvSpPr>
          <p:spPr>
            <a:xfrm>
              <a:off x="4478" y="3323"/>
              <a:ext cx="563" cy="142"/>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2547" name="Rectangle 13"/>
            <p:cNvSpPr/>
            <p:nvPr/>
          </p:nvSpPr>
          <p:spPr>
            <a:xfrm>
              <a:off x="4478" y="3465"/>
              <a:ext cx="563" cy="142"/>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2548" name="Rectangle 14"/>
            <p:cNvSpPr/>
            <p:nvPr/>
          </p:nvSpPr>
          <p:spPr>
            <a:xfrm>
              <a:off x="4478" y="3607"/>
              <a:ext cx="563" cy="142"/>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2549" name="Rectangle 15"/>
            <p:cNvSpPr/>
            <p:nvPr/>
          </p:nvSpPr>
          <p:spPr>
            <a:xfrm>
              <a:off x="4478" y="3749"/>
              <a:ext cx="563" cy="141"/>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2550" name="Rectangle 16"/>
            <p:cNvSpPr/>
            <p:nvPr/>
          </p:nvSpPr>
          <p:spPr>
            <a:xfrm>
              <a:off x="4478" y="3890"/>
              <a:ext cx="563" cy="142"/>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2551" name="Rectangle 17" descr="羊皮纸"/>
            <p:cNvSpPr/>
            <p:nvPr/>
          </p:nvSpPr>
          <p:spPr>
            <a:xfrm>
              <a:off x="4177" y="2650"/>
              <a:ext cx="902" cy="213"/>
            </a:xfrm>
            <a:prstGeom prst="rect">
              <a:avLst/>
            </a:prstGeom>
            <a:noFill/>
            <a:ln w="12700">
              <a:noFill/>
            </a:ln>
          </p:spPr>
          <p:txBody>
            <a:bodyPr wrap="none" anchor="ctr"/>
            <a:lstStyle/>
            <a:p>
              <a:pPr algn="ctr"/>
              <a:r>
                <a:rPr lang="zh-CN" altLang="en-US" sz="1600" b="1" dirty="0">
                  <a:latin typeface="Times New Roman" panose="02020603050405020304" pitchFamily="18" charset="0"/>
                  <a:ea typeface="黑体" panose="02010609060101010101" pitchFamily="2" charset="-122"/>
                </a:rPr>
                <a:t>程序存储器</a:t>
              </a:r>
            </a:p>
          </p:txBody>
        </p:sp>
        <p:sp>
          <p:nvSpPr>
            <p:cNvPr id="22552" name="Rectangle 18"/>
            <p:cNvSpPr/>
            <p:nvPr/>
          </p:nvSpPr>
          <p:spPr>
            <a:xfrm>
              <a:off x="3914" y="2898"/>
              <a:ext cx="564" cy="142"/>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2000H</a:t>
              </a:r>
            </a:p>
          </p:txBody>
        </p:sp>
        <p:sp>
          <p:nvSpPr>
            <p:cNvPr id="22553" name="Rectangle 19"/>
            <p:cNvSpPr/>
            <p:nvPr/>
          </p:nvSpPr>
          <p:spPr>
            <a:xfrm>
              <a:off x="3914" y="3182"/>
              <a:ext cx="564" cy="141"/>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2002H</a:t>
              </a:r>
            </a:p>
          </p:txBody>
        </p:sp>
        <p:sp>
          <p:nvSpPr>
            <p:cNvPr id="22554" name="Rectangle 20"/>
            <p:cNvSpPr/>
            <p:nvPr/>
          </p:nvSpPr>
          <p:spPr>
            <a:xfrm>
              <a:off x="3914" y="3323"/>
              <a:ext cx="564" cy="142"/>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2003H</a:t>
              </a:r>
            </a:p>
          </p:txBody>
        </p:sp>
        <p:sp>
          <p:nvSpPr>
            <p:cNvPr id="22555" name="Rectangle 21"/>
            <p:cNvSpPr/>
            <p:nvPr/>
          </p:nvSpPr>
          <p:spPr>
            <a:xfrm>
              <a:off x="3914" y="3465"/>
              <a:ext cx="564" cy="142"/>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2004H</a:t>
              </a:r>
            </a:p>
          </p:txBody>
        </p:sp>
        <p:sp>
          <p:nvSpPr>
            <p:cNvPr id="22556" name="Rectangle 22"/>
            <p:cNvSpPr/>
            <p:nvPr/>
          </p:nvSpPr>
          <p:spPr>
            <a:xfrm>
              <a:off x="3914" y="3607"/>
              <a:ext cx="564" cy="142"/>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2005H</a:t>
              </a:r>
            </a:p>
          </p:txBody>
        </p:sp>
        <p:sp>
          <p:nvSpPr>
            <p:cNvPr id="22557" name="Rectangle 23"/>
            <p:cNvSpPr/>
            <p:nvPr/>
          </p:nvSpPr>
          <p:spPr>
            <a:xfrm>
              <a:off x="3914" y="3749"/>
              <a:ext cx="564" cy="141"/>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2006H</a:t>
              </a:r>
            </a:p>
          </p:txBody>
        </p:sp>
        <p:sp>
          <p:nvSpPr>
            <p:cNvPr id="22558" name="Rectangle 24"/>
            <p:cNvSpPr/>
            <p:nvPr/>
          </p:nvSpPr>
          <p:spPr>
            <a:xfrm>
              <a:off x="3914" y="3890"/>
              <a:ext cx="564" cy="142"/>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2007H</a:t>
              </a:r>
            </a:p>
          </p:txBody>
        </p:sp>
        <p:sp>
          <p:nvSpPr>
            <p:cNvPr id="22559" name="Rectangle 25"/>
            <p:cNvSpPr/>
            <p:nvPr/>
          </p:nvSpPr>
          <p:spPr>
            <a:xfrm>
              <a:off x="3914" y="3040"/>
              <a:ext cx="564" cy="142"/>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2001H</a:t>
              </a:r>
            </a:p>
          </p:txBody>
        </p:sp>
      </p:grpSp>
      <p:sp>
        <p:nvSpPr>
          <p:cNvPr id="90139" name="AutoShape 27"/>
          <p:cNvSpPr/>
          <p:nvPr/>
        </p:nvSpPr>
        <p:spPr>
          <a:xfrm>
            <a:off x="1260211" y="4687633"/>
            <a:ext cx="1227352" cy="506413"/>
          </a:xfrm>
          <a:prstGeom prst="wedgeRoundRectCallout">
            <a:avLst>
              <a:gd name="adj1" fmla="val -4315"/>
              <a:gd name="adj2" fmla="val -94829"/>
              <a:gd name="adj3" fmla="val 16667"/>
            </a:avLst>
          </a:prstGeom>
          <a:noFill/>
          <a:ln w="12700" cap="flat" cmpd="sng">
            <a:solidFill>
              <a:srgbClr val="FF0033"/>
            </a:solidFill>
            <a:prstDash val="solid"/>
            <a:miter/>
            <a:headEnd type="none" w="med" len="med"/>
            <a:tailEnd type="none" w="med" len="med"/>
          </a:ln>
        </p:spPr>
        <p:txBody>
          <a:bodyPr wrap="none" anchor="ctr"/>
          <a:lstStyle/>
          <a:p>
            <a:pPr algn="ctr"/>
            <a:r>
              <a:rPr lang="zh-CN" altLang="en-US" sz="1600" b="1" dirty="0">
                <a:latin typeface="Times New Roman" panose="02020603050405020304" pitchFamily="18" charset="0"/>
                <a:ea typeface="黑体" panose="02010609060101010101" pitchFamily="2" charset="-122"/>
              </a:rPr>
              <a:t>读机器码 </a:t>
            </a:r>
            <a:r>
              <a:rPr lang="en-US" altLang="zh-CN" sz="1600" b="1">
                <a:latin typeface="Times New Roman" panose="02020603050405020304" pitchFamily="18" charset="0"/>
                <a:ea typeface="黑体" panose="02010609060101010101" pitchFamily="2" charset="-122"/>
              </a:rPr>
              <a:t>24</a:t>
            </a:r>
          </a:p>
        </p:txBody>
      </p:sp>
      <p:sp>
        <p:nvSpPr>
          <p:cNvPr id="90140" name="AutoShape 28"/>
          <p:cNvSpPr/>
          <p:nvPr/>
        </p:nvSpPr>
        <p:spPr>
          <a:xfrm>
            <a:off x="2704670" y="4672012"/>
            <a:ext cx="1444543" cy="506413"/>
          </a:xfrm>
          <a:prstGeom prst="wedgeRoundRectCallout">
            <a:avLst>
              <a:gd name="adj1" fmla="val -41676"/>
              <a:gd name="adj2" fmla="val -89810"/>
              <a:gd name="adj3" fmla="val 16667"/>
            </a:avLst>
          </a:prstGeom>
          <a:noFill/>
          <a:ln w="12700" cap="flat" cmpd="sng">
            <a:solidFill>
              <a:srgbClr val="FF0033"/>
            </a:solidFill>
            <a:prstDash val="solid"/>
            <a:miter/>
            <a:headEnd type="none" w="med" len="med"/>
            <a:tailEnd type="none" w="med" len="med"/>
          </a:ln>
        </p:spPr>
        <p:txBody>
          <a:bodyPr wrap="none" anchor="ctr"/>
          <a:lstStyle/>
          <a:p>
            <a:pPr algn="ctr"/>
            <a:r>
              <a:rPr lang="zh-CN" altLang="en-US" sz="1600" b="1" dirty="0">
                <a:latin typeface="Times New Roman" panose="02020603050405020304" pitchFamily="18" charset="0"/>
                <a:ea typeface="黑体" panose="02010609060101010101" pitchFamily="2" charset="-122"/>
              </a:rPr>
              <a:t>读机器码  </a:t>
            </a:r>
            <a:r>
              <a:rPr lang="en-US" altLang="zh-CN" sz="1600" b="1">
                <a:latin typeface="Times New Roman" panose="02020603050405020304" pitchFamily="18" charset="0"/>
                <a:ea typeface="黑体" panose="02010609060101010101" pitchFamily="2" charset="-122"/>
              </a:rPr>
              <a:t>50</a:t>
            </a:r>
          </a:p>
        </p:txBody>
      </p:sp>
      <p:sp>
        <p:nvSpPr>
          <p:cNvPr id="22537" name="Rectangle 29"/>
          <p:cNvSpPr/>
          <p:nvPr/>
        </p:nvSpPr>
        <p:spPr>
          <a:xfrm>
            <a:off x="3231833" y="6032500"/>
            <a:ext cx="3186112" cy="280988"/>
          </a:xfrm>
          <a:prstGeom prst="rect">
            <a:avLst/>
          </a:prstGeom>
          <a:noFill/>
          <a:ln w="12700">
            <a:noFill/>
          </a:ln>
        </p:spPr>
        <p:txBody>
          <a:bodyPr wrap="none" anchor="ctr"/>
          <a:lstStyle/>
          <a:p>
            <a:pPr algn="ctr"/>
            <a:r>
              <a:rPr lang="en-US" altLang="zh-CN" sz="2000" b="1">
                <a:latin typeface="Times New Roman" panose="02020603050405020304" pitchFamily="18" charset="0"/>
                <a:ea typeface="黑体" panose="02010609060101010101" pitchFamily="2" charset="-122"/>
              </a:rPr>
              <a:t>CPU</a:t>
            </a:r>
            <a:r>
              <a:rPr lang="zh-CN" altLang="en-US" sz="2000" b="1" dirty="0">
                <a:latin typeface="Times New Roman" panose="02020603050405020304" pitchFamily="18" charset="0"/>
                <a:ea typeface="黑体" panose="02010609060101010101" pitchFamily="2" charset="-122"/>
              </a:rPr>
              <a:t>执行指令 </a:t>
            </a:r>
            <a:r>
              <a:rPr lang="en-US" altLang="zh-CN" sz="2000" b="1">
                <a:latin typeface="Times New Roman" panose="02020603050405020304" pitchFamily="18" charset="0"/>
                <a:ea typeface="黑体" panose="02010609060101010101" pitchFamily="2" charset="-122"/>
              </a:rPr>
              <a:t>ADD   A,  #50H</a:t>
            </a:r>
          </a:p>
        </p:txBody>
      </p:sp>
      <p:sp>
        <p:nvSpPr>
          <p:cNvPr id="90142" name="Text Box 30"/>
          <p:cNvSpPr txBox="1"/>
          <p:nvPr/>
        </p:nvSpPr>
        <p:spPr>
          <a:xfrm>
            <a:off x="1652270" y="3203575"/>
            <a:ext cx="1087438" cy="306705"/>
          </a:xfrm>
          <a:prstGeom prst="rect">
            <a:avLst/>
          </a:prstGeom>
          <a:noFill/>
          <a:ln w="9525">
            <a:noFill/>
          </a:ln>
        </p:spPr>
        <p:txBody>
          <a:bodyPr>
            <a:spAutoFit/>
          </a:bodyPr>
          <a:lstStyle/>
          <a:p>
            <a:pPr eaLnBrk="1" hangingPunct="1">
              <a:spcBef>
                <a:spcPct val="50000"/>
              </a:spcBef>
            </a:pPr>
            <a:r>
              <a:rPr lang="en-US" altLang="zh-CN" sz="1400" b="1">
                <a:solidFill>
                  <a:schemeClr val="hlink"/>
                </a:solidFill>
                <a:latin typeface="Times New Roman" panose="02020603050405020304" pitchFamily="18" charset="0"/>
                <a:ea typeface="宋体" panose="02010600030101010101" pitchFamily="2" charset="-122"/>
              </a:rPr>
              <a:t>(PC)</a:t>
            </a:r>
            <a:r>
              <a:rPr lang="zh-CN" altLang="en-US" sz="1400" b="1" dirty="0">
                <a:solidFill>
                  <a:schemeClr val="hlink"/>
                </a:solidFill>
                <a:latin typeface="Times New Roman" panose="02020603050405020304" pitchFamily="18" charset="0"/>
                <a:ea typeface="宋体" panose="02010600030101010101" pitchFamily="2" charset="-122"/>
              </a:rPr>
              <a:t>加</a:t>
            </a:r>
            <a:r>
              <a:rPr lang="en-US" altLang="zh-CN" sz="1400" b="1">
                <a:solidFill>
                  <a:schemeClr val="hlink"/>
                </a:solidFill>
                <a:latin typeface="Times New Roman" panose="02020603050405020304" pitchFamily="18" charset="0"/>
                <a:ea typeface="宋体" panose="02010600030101010101" pitchFamily="2" charset="-122"/>
              </a:rPr>
              <a:t>1</a:t>
            </a:r>
          </a:p>
        </p:txBody>
      </p:sp>
      <p:sp>
        <p:nvSpPr>
          <p:cNvPr id="90143" name="Text Box 31"/>
          <p:cNvSpPr txBox="1"/>
          <p:nvPr/>
        </p:nvSpPr>
        <p:spPr>
          <a:xfrm>
            <a:off x="2663508" y="3190875"/>
            <a:ext cx="1087437" cy="306705"/>
          </a:xfrm>
          <a:prstGeom prst="rect">
            <a:avLst/>
          </a:prstGeom>
          <a:noFill/>
          <a:ln w="9525">
            <a:noFill/>
          </a:ln>
        </p:spPr>
        <p:txBody>
          <a:bodyPr>
            <a:spAutoFit/>
          </a:bodyPr>
          <a:lstStyle/>
          <a:p>
            <a:pPr eaLnBrk="1" hangingPunct="1">
              <a:spcBef>
                <a:spcPct val="50000"/>
              </a:spcBef>
            </a:pPr>
            <a:r>
              <a:rPr lang="en-US" altLang="zh-CN" sz="1400" b="1">
                <a:solidFill>
                  <a:schemeClr val="hlink"/>
                </a:solidFill>
                <a:latin typeface="Times New Roman" panose="02020603050405020304" pitchFamily="18" charset="0"/>
                <a:ea typeface="宋体" panose="02010600030101010101" pitchFamily="2" charset="-122"/>
              </a:rPr>
              <a:t>(PC)</a:t>
            </a:r>
            <a:r>
              <a:rPr lang="zh-CN" altLang="en-US" sz="1400" b="1" dirty="0">
                <a:solidFill>
                  <a:schemeClr val="hlink"/>
                </a:solidFill>
                <a:latin typeface="Times New Roman" panose="02020603050405020304" pitchFamily="18" charset="0"/>
                <a:ea typeface="宋体" panose="02010600030101010101" pitchFamily="2" charset="-122"/>
              </a:rPr>
              <a:t>加</a:t>
            </a:r>
            <a:r>
              <a:rPr lang="en-US" altLang="zh-CN" sz="1400" b="1">
                <a:solidFill>
                  <a:schemeClr val="hlink"/>
                </a:solidFill>
                <a:latin typeface="Times New Roman" panose="02020603050405020304" pitchFamily="18" charset="0"/>
                <a:ea typeface="宋体" panose="02010600030101010101" pitchFamily="2" charset="-122"/>
              </a:rPr>
              <a:t>1</a:t>
            </a:r>
          </a:p>
        </p:txBody>
      </p:sp>
      <p:sp>
        <p:nvSpPr>
          <p:cNvPr id="90144" name="Text Box 32"/>
          <p:cNvSpPr txBox="1"/>
          <p:nvPr/>
        </p:nvSpPr>
        <p:spPr>
          <a:xfrm>
            <a:off x="3925570" y="3170238"/>
            <a:ext cx="1087438" cy="306705"/>
          </a:xfrm>
          <a:prstGeom prst="rect">
            <a:avLst/>
          </a:prstGeom>
          <a:noFill/>
          <a:ln w="9525">
            <a:noFill/>
          </a:ln>
        </p:spPr>
        <p:txBody>
          <a:bodyPr>
            <a:spAutoFit/>
          </a:bodyPr>
          <a:lstStyle/>
          <a:p>
            <a:pPr eaLnBrk="1" hangingPunct="1">
              <a:spcBef>
                <a:spcPct val="50000"/>
              </a:spcBef>
            </a:pPr>
            <a:r>
              <a:rPr lang="en-US" altLang="zh-CN" sz="1400" b="1">
                <a:solidFill>
                  <a:schemeClr val="hlink"/>
                </a:solidFill>
                <a:latin typeface="Times New Roman" panose="02020603050405020304" pitchFamily="18" charset="0"/>
                <a:ea typeface="宋体" panose="02010600030101010101" pitchFamily="2" charset="-122"/>
              </a:rPr>
              <a:t>(PC)</a:t>
            </a:r>
            <a:r>
              <a:rPr lang="zh-CN" altLang="en-US" sz="1400" b="1" dirty="0">
                <a:solidFill>
                  <a:schemeClr val="hlink"/>
                </a:solidFill>
                <a:latin typeface="Times New Roman" panose="02020603050405020304" pitchFamily="18" charset="0"/>
                <a:ea typeface="宋体" panose="02010600030101010101" pitchFamily="2" charset="-122"/>
              </a:rPr>
              <a:t>加</a:t>
            </a:r>
            <a:r>
              <a:rPr lang="en-US" altLang="zh-CN" sz="1400" b="1">
                <a:solidFill>
                  <a:schemeClr val="hlink"/>
                </a:solidFill>
                <a:latin typeface="Times New Roman" panose="02020603050405020304" pitchFamily="18" charset="0"/>
                <a:ea typeface="宋体" panose="02010600030101010101" pitchFamily="2" charset="-122"/>
              </a:rPr>
              <a:t>1</a:t>
            </a:r>
          </a:p>
        </p:txBody>
      </p:sp>
      <p:sp>
        <p:nvSpPr>
          <p:cNvPr id="90147" name="AutoShape 35"/>
          <p:cNvSpPr/>
          <p:nvPr/>
        </p:nvSpPr>
        <p:spPr>
          <a:xfrm>
            <a:off x="4712970" y="5139097"/>
            <a:ext cx="2154238" cy="404813"/>
          </a:xfrm>
          <a:prstGeom prst="wedgeRoundRectCallout">
            <a:avLst>
              <a:gd name="adj1" fmla="val -81171"/>
              <a:gd name="adj2" fmla="val -225296"/>
              <a:gd name="adj3" fmla="val 16667"/>
            </a:avLst>
          </a:prstGeom>
          <a:noFill/>
          <a:ln w="12700" cap="flat" cmpd="sng">
            <a:solidFill>
              <a:srgbClr val="FF0033"/>
            </a:solidFill>
            <a:prstDash val="solid"/>
            <a:miter/>
            <a:headEnd type="none" w="med" len="med"/>
            <a:tailEnd type="none" w="med" len="med"/>
          </a:ln>
        </p:spPr>
        <p:txBody>
          <a:bodyPr wrap="none" anchor="ctr"/>
          <a:lstStyle/>
          <a:p>
            <a:pPr algn="ctr"/>
            <a:r>
              <a:rPr lang="zh-CN" altLang="en-US" sz="1600" b="1" dirty="0">
                <a:latin typeface="Times New Roman" panose="02020603050405020304" pitchFamily="18" charset="0"/>
                <a:ea typeface="黑体" panose="02010609060101010101" pitchFamily="2" charset="-122"/>
              </a:rPr>
              <a:t>读下一个指令的机器码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0139"/>
                                        </p:tgtEl>
                                        <p:attrNameLst>
                                          <p:attrName>style.visibility</p:attrName>
                                        </p:attrNameLst>
                                      </p:cBhvr>
                                      <p:to>
                                        <p:strVal val="visible"/>
                                      </p:to>
                                    </p:set>
                                    <p:animEffect transition="in" filter="box(in)">
                                      <p:cBhvr>
                                        <p:cTn id="7" dur="500"/>
                                        <p:tgtEl>
                                          <p:spTgt spid="9013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0142"/>
                                        </p:tgtEl>
                                        <p:attrNameLst>
                                          <p:attrName>style.visibility</p:attrName>
                                        </p:attrNameLst>
                                      </p:cBhvr>
                                      <p:to>
                                        <p:strVal val="visible"/>
                                      </p:to>
                                    </p:set>
                                    <p:animEffect transition="in" filter="box(in)">
                                      <p:cBhvr>
                                        <p:cTn id="12" dur="500"/>
                                        <p:tgtEl>
                                          <p:spTgt spid="9014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90140"/>
                                        </p:tgtEl>
                                        <p:attrNameLst>
                                          <p:attrName>style.visibility</p:attrName>
                                        </p:attrNameLst>
                                      </p:cBhvr>
                                      <p:to>
                                        <p:strVal val="visible"/>
                                      </p:to>
                                    </p:set>
                                    <p:animEffect transition="in" filter="strips(downLeft)">
                                      <p:cBhvr>
                                        <p:cTn id="17" dur="500"/>
                                        <p:tgtEl>
                                          <p:spTgt spid="90140"/>
                                        </p:tgtEl>
                                      </p:cBhvr>
                                    </p:animEffect>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90143"/>
                                        </p:tgtEl>
                                        <p:attrNameLst>
                                          <p:attrName>style.visibility</p:attrName>
                                        </p:attrNameLst>
                                      </p:cBhvr>
                                      <p:to>
                                        <p:strVal val="visible"/>
                                      </p:to>
                                    </p:set>
                                    <p:anim to="" calcmode="lin" valueType="num">
                                      <p:cBhvr>
                                        <p:cTn id="22" dur="1" fill="hold"/>
                                        <p:tgtEl>
                                          <p:spTgt spid="90143"/>
                                        </p:tgtEl>
                                        <p:attrNameLst>
                                          <p:attrName>style.visibility</p:attrName>
                                        </p:attrNameLst>
                                      </p:cBhvr>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0147"/>
                                        </p:tgtEl>
                                        <p:attrNameLst>
                                          <p:attrName>style.visibility</p:attrName>
                                        </p:attrNameLst>
                                      </p:cBhvr>
                                      <p:to>
                                        <p:strVal val="visible"/>
                                      </p:to>
                                    </p:set>
                                    <p:animEffect transition="in" filter="wipe(down)">
                                      <p:cBhvr>
                                        <p:cTn id="27" dur="500"/>
                                        <p:tgtEl>
                                          <p:spTgt spid="9014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90144"/>
                                        </p:tgtEl>
                                        <p:attrNameLst>
                                          <p:attrName>style.visibility</p:attrName>
                                        </p:attrNameLst>
                                      </p:cBhvr>
                                      <p:to>
                                        <p:strVal val="visible"/>
                                      </p:to>
                                    </p:set>
                                    <p:animEffect transition="in" filter="box(in)">
                                      <p:cBhvr>
                                        <p:cTn id="32" dur="500"/>
                                        <p:tgtEl>
                                          <p:spTgt spid="90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39" grpId="0" bldLvl="0" animBg="1"/>
      <p:bldP spid="90140" grpId="0" bldLvl="0" animBg="1"/>
      <p:bldP spid="90142" grpId="0"/>
      <p:bldP spid="90143" grpId="0"/>
      <p:bldP spid="90144" grpId="0"/>
      <p:bldP spid="90147"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1753235"/>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2.4.2 CPU</a:t>
            </a:r>
            <a:r>
              <a:rPr lang="zh-CN" altLang="en-US" sz="2400" b="1" dirty="0">
                <a:solidFill>
                  <a:prstClr val="black"/>
                </a:solidFill>
                <a:latin typeface="微软雅黑" panose="020B0503020204020204" pitchFamily="34" charset="-122"/>
                <a:ea typeface="微软雅黑" panose="020B0503020204020204" pitchFamily="34" charset="-122"/>
              </a:rPr>
              <a:t>时序</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单片机的取指</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执行时序</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a:t>
            </a:r>
            <a:r>
              <a:rPr lang="en-US" altLang="zh-CN" sz="2400" dirty="0">
                <a:solidFill>
                  <a:prstClr val="black"/>
                </a:solidFill>
                <a:latin typeface="微软雅黑" panose="020B0503020204020204" pitchFamily="34" charset="-122"/>
                <a:ea typeface="微软雅黑" panose="020B0503020204020204" pitchFamily="34" charset="-122"/>
              </a:rPr>
              <a:t>(3) </a:t>
            </a:r>
            <a:r>
              <a:rPr lang="zh-CN" altLang="en-US" sz="2400" dirty="0">
                <a:solidFill>
                  <a:prstClr val="black"/>
                </a:solidFill>
                <a:latin typeface="微软雅黑" panose="020B0503020204020204" pitchFamily="34" charset="-122"/>
                <a:ea typeface="微软雅黑" panose="020B0503020204020204" pitchFamily="34" charset="-122"/>
              </a:rPr>
              <a:t>单字节双周期指令 </a:t>
            </a:r>
          </a:p>
        </p:txBody>
      </p:sp>
      <p:sp>
        <p:nvSpPr>
          <p:cNvPr id="11673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2.4 MCS-51</a:t>
            </a:r>
            <a:r>
              <a:rPr lang="zh-CN" altLang="en-US" sz="2800">
                <a:solidFill>
                  <a:srgbClr val="000000"/>
                </a:solidFill>
                <a:latin typeface="微软雅黑" panose="020B0503020204020204" pitchFamily="34" charset="-122"/>
                <a:ea typeface="微软雅黑" panose="020B0503020204020204" pitchFamily="34" charset="-122"/>
              </a:rPr>
              <a:t>单片机的时序</a:t>
            </a:r>
          </a:p>
        </p:txBody>
      </p:sp>
      <p:pic>
        <p:nvPicPr>
          <p:cNvPr id="116739"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16740"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grpSp>
        <p:nvGrpSpPr>
          <p:cNvPr id="23558" name="Group 38"/>
          <p:cNvGrpSpPr/>
          <p:nvPr/>
        </p:nvGrpSpPr>
        <p:grpSpPr>
          <a:xfrm>
            <a:off x="6916738" y="2723515"/>
            <a:ext cx="1863725" cy="2181225"/>
            <a:chOff x="3941" y="2946"/>
            <a:chExt cx="1174" cy="1374"/>
          </a:xfrm>
        </p:grpSpPr>
        <p:sp>
          <p:nvSpPr>
            <p:cNvPr id="23569" name="Rectangle 17" descr="羊皮纸"/>
            <p:cNvSpPr/>
            <p:nvPr/>
          </p:nvSpPr>
          <p:spPr>
            <a:xfrm>
              <a:off x="4206" y="2946"/>
              <a:ext cx="909" cy="211"/>
            </a:xfrm>
            <a:prstGeom prst="rect">
              <a:avLst/>
            </a:prstGeom>
            <a:noFill/>
            <a:ln w="12700">
              <a:noFill/>
            </a:ln>
          </p:spPr>
          <p:txBody>
            <a:bodyPr wrap="none" anchor="ctr"/>
            <a:lstStyle/>
            <a:p>
              <a:pPr algn="ctr"/>
              <a:r>
                <a:rPr lang="zh-CN" altLang="en-US" sz="1600" b="1" dirty="0">
                  <a:latin typeface="Times New Roman" panose="02020603050405020304" pitchFamily="18" charset="0"/>
                  <a:ea typeface="黑体" panose="02010609060101010101" pitchFamily="2" charset="-122"/>
                </a:rPr>
                <a:t>程序存储器</a:t>
              </a:r>
            </a:p>
          </p:txBody>
        </p:sp>
        <p:grpSp>
          <p:nvGrpSpPr>
            <p:cNvPr id="23570" name="Group 37"/>
            <p:cNvGrpSpPr/>
            <p:nvPr/>
          </p:nvGrpSpPr>
          <p:grpSpPr>
            <a:xfrm>
              <a:off x="3941" y="3193"/>
              <a:ext cx="1136" cy="1127"/>
              <a:chOff x="3941" y="3193"/>
              <a:chExt cx="1136" cy="1127"/>
            </a:xfrm>
          </p:grpSpPr>
          <p:sp>
            <p:nvSpPr>
              <p:cNvPr id="23571" name="Rectangle 9"/>
              <p:cNvSpPr/>
              <p:nvPr/>
            </p:nvSpPr>
            <p:spPr>
              <a:xfrm>
                <a:off x="4509" y="3193"/>
                <a:ext cx="568" cy="141"/>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A3</a:t>
                </a:r>
              </a:p>
            </p:txBody>
          </p:sp>
          <p:sp>
            <p:nvSpPr>
              <p:cNvPr id="23572" name="Rectangle 10"/>
              <p:cNvSpPr/>
              <p:nvPr/>
            </p:nvSpPr>
            <p:spPr>
              <a:xfrm>
                <a:off x="4509" y="3334"/>
                <a:ext cx="568" cy="140"/>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3573" name="Rectangle 11"/>
              <p:cNvSpPr/>
              <p:nvPr/>
            </p:nvSpPr>
            <p:spPr>
              <a:xfrm>
                <a:off x="4509" y="3474"/>
                <a:ext cx="568" cy="141"/>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3574" name="Rectangle 12"/>
              <p:cNvSpPr/>
              <p:nvPr/>
            </p:nvSpPr>
            <p:spPr>
              <a:xfrm>
                <a:off x="4509" y="3615"/>
                <a:ext cx="568" cy="141"/>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3575" name="Rectangle 13"/>
              <p:cNvSpPr/>
              <p:nvPr/>
            </p:nvSpPr>
            <p:spPr>
              <a:xfrm>
                <a:off x="4509" y="3756"/>
                <a:ext cx="568" cy="141"/>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3576" name="Rectangle 14"/>
              <p:cNvSpPr/>
              <p:nvPr/>
            </p:nvSpPr>
            <p:spPr>
              <a:xfrm>
                <a:off x="4509" y="3897"/>
                <a:ext cx="568" cy="141"/>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3577" name="Rectangle 15"/>
              <p:cNvSpPr/>
              <p:nvPr/>
            </p:nvSpPr>
            <p:spPr>
              <a:xfrm>
                <a:off x="4509" y="4038"/>
                <a:ext cx="568" cy="141"/>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3578" name="Rectangle 16"/>
              <p:cNvSpPr/>
              <p:nvPr/>
            </p:nvSpPr>
            <p:spPr>
              <a:xfrm>
                <a:off x="4509" y="4179"/>
                <a:ext cx="568" cy="141"/>
              </a:xfrm>
              <a:prstGeom prst="rect">
                <a:avLst/>
              </a:prstGeom>
              <a:noFill/>
              <a:ln w="12700" cap="flat" cmpd="sng">
                <a:solidFill>
                  <a:schemeClr val="tx1"/>
                </a:solidFill>
                <a:prstDash val="solid"/>
                <a:miter/>
                <a:headEnd type="none" w="med" len="med"/>
                <a:tailEnd type="none" w="med" len="med"/>
              </a:ln>
            </p:spPr>
            <p:txBody>
              <a:bodyPr wrap="none" anchor="ctr"/>
              <a:lstStyle/>
              <a:p>
                <a:pPr algn="ctr"/>
                <a:r>
                  <a:rPr lang="en-US" altLang="zh-CN" sz="1600" b="1">
                    <a:latin typeface="Times New Roman" panose="02020603050405020304" pitchFamily="18" charset="0"/>
                    <a:ea typeface="黑体" panose="02010609060101010101" pitchFamily="2" charset="-122"/>
                  </a:rPr>
                  <a:t>XX</a:t>
                </a:r>
              </a:p>
            </p:txBody>
          </p:sp>
          <p:sp>
            <p:nvSpPr>
              <p:cNvPr id="23579" name="Rectangle 18"/>
              <p:cNvSpPr/>
              <p:nvPr/>
            </p:nvSpPr>
            <p:spPr>
              <a:xfrm>
                <a:off x="3941" y="3193"/>
                <a:ext cx="568" cy="141"/>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2000H</a:t>
                </a:r>
              </a:p>
            </p:txBody>
          </p:sp>
          <p:sp>
            <p:nvSpPr>
              <p:cNvPr id="23580" name="Rectangle 19"/>
              <p:cNvSpPr/>
              <p:nvPr/>
            </p:nvSpPr>
            <p:spPr>
              <a:xfrm>
                <a:off x="3941" y="3474"/>
                <a:ext cx="568" cy="141"/>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2002H</a:t>
                </a:r>
              </a:p>
            </p:txBody>
          </p:sp>
          <p:sp>
            <p:nvSpPr>
              <p:cNvPr id="23581" name="Rectangle 20"/>
              <p:cNvSpPr/>
              <p:nvPr/>
            </p:nvSpPr>
            <p:spPr>
              <a:xfrm>
                <a:off x="3941" y="3615"/>
                <a:ext cx="568" cy="141"/>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2003H</a:t>
                </a:r>
              </a:p>
            </p:txBody>
          </p:sp>
          <p:sp>
            <p:nvSpPr>
              <p:cNvPr id="23582" name="Rectangle 21"/>
              <p:cNvSpPr/>
              <p:nvPr/>
            </p:nvSpPr>
            <p:spPr>
              <a:xfrm>
                <a:off x="3941" y="3756"/>
                <a:ext cx="568" cy="141"/>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2004H</a:t>
                </a:r>
              </a:p>
            </p:txBody>
          </p:sp>
          <p:sp>
            <p:nvSpPr>
              <p:cNvPr id="23583" name="Rectangle 22"/>
              <p:cNvSpPr/>
              <p:nvPr/>
            </p:nvSpPr>
            <p:spPr>
              <a:xfrm>
                <a:off x="3941" y="3897"/>
                <a:ext cx="568" cy="141"/>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2005H</a:t>
                </a:r>
              </a:p>
            </p:txBody>
          </p:sp>
          <p:sp>
            <p:nvSpPr>
              <p:cNvPr id="23584" name="Rectangle 23"/>
              <p:cNvSpPr/>
              <p:nvPr/>
            </p:nvSpPr>
            <p:spPr>
              <a:xfrm>
                <a:off x="3941" y="4038"/>
                <a:ext cx="568" cy="141"/>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2006H</a:t>
                </a:r>
              </a:p>
            </p:txBody>
          </p:sp>
          <p:sp>
            <p:nvSpPr>
              <p:cNvPr id="23585" name="Rectangle 24"/>
              <p:cNvSpPr/>
              <p:nvPr/>
            </p:nvSpPr>
            <p:spPr>
              <a:xfrm>
                <a:off x="3941" y="4179"/>
                <a:ext cx="568" cy="141"/>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2007H</a:t>
                </a:r>
              </a:p>
            </p:txBody>
          </p:sp>
          <p:sp>
            <p:nvSpPr>
              <p:cNvPr id="23586" name="Rectangle 25"/>
              <p:cNvSpPr/>
              <p:nvPr/>
            </p:nvSpPr>
            <p:spPr>
              <a:xfrm>
                <a:off x="3941" y="3334"/>
                <a:ext cx="568" cy="140"/>
              </a:xfrm>
              <a:prstGeom prst="rect">
                <a:avLst/>
              </a:prstGeom>
              <a:noFill/>
              <a:ln w="12700">
                <a:noFill/>
              </a:ln>
            </p:spPr>
            <p:txBody>
              <a:bodyPr wrap="none" anchor="ctr"/>
              <a:lstStyle/>
              <a:p>
                <a:pPr algn="ctr"/>
                <a:r>
                  <a:rPr lang="en-US" altLang="zh-CN" sz="1600" b="1">
                    <a:latin typeface="Times New Roman" panose="02020603050405020304" pitchFamily="18" charset="0"/>
                    <a:ea typeface="黑体" panose="02010609060101010101" pitchFamily="2" charset="-122"/>
                  </a:rPr>
                  <a:t>2001H</a:t>
                </a:r>
              </a:p>
            </p:txBody>
          </p:sp>
        </p:grpSp>
      </p:grpSp>
      <p:sp>
        <p:nvSpPr>
          <p:cNvPr id="23559" name="Rectangle 30"/>
          <p:cNvSpPr/>
          <p:nvPr/>
        </p:nvSpPr>
        <p:spPr>
          <a:xfrm>
            <a:off x="3487738" y="5828665"/>
            <a:ext cx="2689225" cy="279400"/>
          </a:xfrm>
          <a:prstGeom prst="rect">
            <a:avLst/>
          </a:prstGeom>
          <a:noFill/>
          <a:ln w="12700">
            <a:noFill/>
          </a:ln>
        </p:spPr>
        <p:txBody>
          <a:bodyPr wrap="none" anchor="ctr"/>
          <a:lstStyle/>
          <a:p>
            <a:pPr algn="ctr"/>
            <a:r>
              <a:rPr lang="en-US" altLang="zh-CN" sz="2000" b="1">
                <a:latin typeface="Times New Roman" panose="02020603050405020304" pitchFamily="18" charset="0"/>
                <a:ea typeface="黑体" panose="02010609060101010101" pitchFamily="2" charset="-122"/>
              </a:rPr>
              <a:t>CPU</a:t>
            </a:r>
            <a:r>
              <a:rPr lang="zh-CN" altLang="en-US" sz="2000" b="1" dirty="0">
                <a:latin typeface="Times New Roman" panose="02020603050405020304" pitchFamily="18" charset="0"/>
                <a:ea typeface="黑体" panose="02010609060101010101" pitchFamily="2" charset="-122"/>
              </a:rPr>
              <a:t>执行指令</a:t>
            </a:r>
            <a:r>
              <a:rPr lang="en-US" altLang="zh-CN" sz="2000" b="1">
                <a:latin typeface="Times New Roman" panose="02020603050405020304" pitchFamily="18" charset="0"/>
                <a:ea typeface="黑体" panose="02010609060101010101" pitchFamily="2" charset="-122"/>
              </a:rPr>
              <a:t>INC  DPTR</a:t>
            </a:r>
          </a:p>
        </p:txBody>
      </p:sp>
      <p:graphicFrame>
        <p:nvGraphicFramePr>
          <p:cNvPr id="23554" name="Object 6"/>
          <p:cNvGraphicFramePr/>
          <p:nvPr/>
        </p:nvGraphicFramePr>
        <p:xfrm>
          <a:off x="466725" y="3018790"/>
          <a:ext cx="6132513" cy="1993900"/>
        </p:xfrm>
        <a:graphic>
          <a:graphicData uri="http://schemas.openxmlformats.org/presentationml/2006/ole">
            <mc:AlternateContent xmlns:mc="http://schemas.openxmlformats.org/markup-compatibility/2006">
              <mc:Choice xmlns:v="urn:schemas-microsoft-com:vml" Requires="v">
                <p:oleObj r:id="rId5" imgW="4956810" imgH="1276350" progId="Paint.Picture">
                  <p:embed/>
                </p:oleObj>
              </mc:Choice>
              <mc:Fallback>
                <p:oleObj r:id="rId5" imgW="4956810" imgH="1276350" progId="Paint.Picture">
                  <p:embed/>
                  <p:pic>
                    <p:nvPicPr>
                      <p:cNvPr id="0" name="图片 3097"/>
                      <p:cNvPicPr/>
                      <p:nvPr/>
                    </p:nvPicPr>
                    <p:blipFill>
                      <a:blip r:embed="rId6"/>
                      <a:stretch>
                        <a:fillRect/>
                      </a:stretch>
                    </p:blipFill>
                    <p:spPr>
                      <a:xfrm>
                        <a:off x="466725" y="3018790"/>
                        <a:ext cx="6132513" cy="1993900"/>
                      </a:xfrm>
                      <a:prstGeom prst="rect">
                        <a:avLst/>
                      </a:prstGeom>
                      <a:noFill/>
                      <a:ln w="12700" cap="flat" cmpd="sng">
                        <a:solidFill>
                          <a:schemeClr val="tx1"/>
                        </a:solidFill>
                        <a:prstDash val="solid"/>
                        <a:miter/>
                        <a:headEnd type="none" w="med" len="med"/>
                        <a:tailEnd type="none" w="med" len="med"/>
                      </a:ln>
                    </p:spPr>
                  </p:pic>
                </p:oleObj>
              </mc:Fallback>
            </mc:AlternateContent>
          </a:graphicData>
        </a:graphic>
      </p:graphicFrame>
      <p:sp>
        <p:nvSpPr>
          <p:cNvPr id="23560" name="AutoShape 26"/>
          <p:cNvSpPr/>
          <p:nvPr/>
        </p:nvSpPr>
        <p:spPr>
          <a:xfrm>
            <a:off x="1304925" y="4115753"/>
            <a:ext cx="1101725" cy="249237"/>
          </a:xfrm>
          <a:prstGeom prst="wedgeRoundRectCallout">
            <a:avLst>
              <a:gd name="adj1" fmla="val -19039"/>
              <a:gd name="adj2" fmla="val 113697"/>
              <a:gd name="adj3" fmla="val 16667"/>
            </a:avLst>
          </a:prstGeom>
          <a:noFill/>
          <a:ln w="12700" cap="flat" cmpd="sng">
            <a:solidFill>
              <a:schemeClr val="hlink"/>
            </a:solidFill>
            <a:prstDash val="solid"/>
            <a:miter/>
            <a:headEnd type="none" w="med" len="med"/>
            <a:tailEnd type="none" w="med" len="med"/>
          </a:ln>
        </p:spPr>
        <p:txBody>
          <a:bodyPr wrap="none" anchor="ctr"/>
          <a:lstStyle/>
          <a:p>
            <a:pPr algn="ctr"/>
            <a:r>
              <a:rPr lang="zh-CN" altLang="en-US" sz="1600" b="1" dirty="0">
                <a:latin typeface="Times New Roman" panose="02020603050405020304" pitchFamily="18" charset="0"/>
                <a:ea typeface="黑体" panose="02010609060101010101" pitchFamily="2" charset="-122"/>
              </a:rPr>
              <a:t>读操作码 </a:t>
            </a:r>
            <a:r>
              <a:rPr lang="en-US" altLang="zh-CN" sz="1600" b="1" dirty="0">
                <a:latin typeface="Times New Roman" panose="02020603050405020304" pitchFamily="18" charset="0"/>
                <a:ea typeface="黑体" panose="02010609060101010101" pitchFamily="2" charset="-122"/>
              </a:rPr>
              <a:t>A3</a:t>
            </a:r>
          </a:p>
        </p:txBody>
      </p:sp>
      <p:sp>
        <p:nvSpPr>
          <p:cNvPr id="23561" name="AutoShape 27"/>
          <p:cNvSpPr/>
          <p:nvPr/>
        </p:nvSpPr>
        <p:spPr>
          <a:xfrm>
            <a:off x="2513013" y="4115753"/>
            <a:ext cx="2117981" cy="249237"/>
          </a:xfrm>
          <a:prstGeom prst="wedgeRoundRectCallout">
            <a:avLst>
              <a:gd name="adj1" fmla="val -36661"/>
              <a:gd name="adj2" fmla="val 112863"/>
              <a:gd name="adj3" fmla="val 16667"/>
            </a:avLst>
          </a:prstGeom>
          <a:noFill/>
          <a:ln w="12700" cap="flat" cmpd="sng">
            <a:solidFill>
              <a:schemeClr val="hlink"/>
            </a:solidFill>
            <a:prstDash val="solid"/>
            <a:miter/>
            <a:headEnd type="none" w="med" len="med"/>
            <a:tailEnd type="none" w="med" len="med"/>
          </a:ln>
        </p:spPr>
        <p:txBody>
          <a:bodyPr wrap="none" anchor="ctr"/>
          <a:lstStyle/>
          <a:p>
            <a:pPr algn="ctr"/>
            <a:r>
              <a:rPr lang="zh-CN" altLang="en-US" sz="1600" b="1" dirty="0">
                <a:latin typeface="Times New Roman" panose="02020603050405020304" pitchFamily="18" charset="0"/>
                <a:ea typeface="黑体" panose="02010609060101010101" pitchFamily="2" charset="-122"/>
              </a:rPr>
              <a:t>读下一个操作码，丢弃</a:t>
            </a:r>
          </a:p>
        </p:txBody>
      </p:sp>
      <p:sp>
        <p:nvSpPr>
          <p:cNvPr id="23562" name="AutoShape 28"/>
          <p:cNvSpPr/>
          <p:nvPr/>
        </p:nvSpPr>
        <p:spPr>
          <a:xfrm>
            <a:off x="1292224" y="5317492"/>
            <a:ext cx="2119569" cy="349250"/>
          </a:xfrm>
          <a:prstGeom prst="wedgeRoundRectCallout">
            <a:avLst>
              <a:gd name="adj1" fmla="val 74852"/>
              <a:gd name="adj2" fmla="val -200475"/>
              <a:gd name="adj3" fmla="val 16667"/>
            </a:avLst>
          </a:prstGeom>
          <a:noFill/>
          <a:ln w="12700" cap="flat" cmpd="sng">
            <a:solidFill>
              <a:schemeClr val="hlink"/>
            </a:solidFill>
            <a:prstDash val="solid"/>
            <a:miter/>
            <a:headEnd type="none" w="med" len="med"/>
            <a:tailEnd type="none" w="med" len="med"/>
          </a:ln>
        </p:spPr>
        <p:txBody>
          <a:bodyPr wrap="none" anchor="ctr"/>
          <a:lstStyle/>
          <a:p>
            <a:pPr algn="ctr"/>
            <a:r>
              <a:rPr lang="zh-CN" altLang="en-US" sz="1600" b="1" dirty="0">
                <a:latin typeface="Times New Roman" panose="02020603050405020304" pitchFamily="18" charset="0"/>
                <a:ea typeface="黑体" panose="02010609060101010101" pitchFamily="2" charset="-122"/>
              </a:rPr>
              <a:t>读下一个操作码，</a:t>
            </a:r>
            <a:r>
              <a:rPr lang="zh-CN" altLang="en-US" sz="1600" b="1" dirty="0">
                <a:solidFill>
                  <a:srgbClr val="C00000"/>
                </a:solidFill>
                <a:latin typeface="Times New Roman" panose="02020603050405020304" pitchFamily="18" charset="0"/>
                <a:ea typeface="黑体" panose="02010609060101010101" pitchFamily="2" charset="-122"/>
              </a:rPr>
              <a:t>丢弃</a:t>
            </a:r>
          </a:p>
        </p:txBody>
      </p:sp>
      <p:sp>
        <p:nvSpPr>
          <p:cNvPr id="23563" name="AutoShape 29"/>
          <p:cNvSpPr/>
          <p:nvPr/>
        </p:nvSpPr>
        <p:spPr>
          <a:xfrm>
            <a:off x="3813969" y="5317491"/>
            <a:ext cx="2078831" cy="349250"/>
          </a:xfrm>
          <a:prstGeom prst="wedgeRoundRectCallout">
            <a:avLst>
              <a:gd name="adj1" fmla="val 15248"/>
              <a:gd name="adj2" fmla="val -205293"/>
              <a:gd name="adj3" fmla="val 16667"/>
            </a:avLst>
          </a:prstGeom>
          <a:noFill/>
          <a:ln w="12700" cap="flat" cmpd="sng">
            <a:solidFill>
              <a:schemeClr val="hlink"/>
            </a:solidFill>
            <a:prstDash val="solid"/>
            <a:miter/>
            <a:headEnd type="none" w="med" len="med"/>
            <a:tailEnd type="none" w="med" len="med"/>
          </a:ln>
        </p:spPr>
        <p:txBody>
          <a:bodyPr wrap="none" anchor="ctr"/>
          <a:lstStyle/>
          <a:p>
            <a:pPr algn="ctr"/>
            <a:r>
              <a:rPr lang="zh-CN" altLang="en-US" sz="1600" b="1" dirty="0">
                <a:latin typeface="Times New Roman" panose="02020603050405020304" pitchFamily="18" charset="0"/>
                <a:ea typeface="黑体" panose="02010609060101010101" pitchFamily="2" charset="-122"/>
              </a:rPr>
              <a:t>读下一个操作码，</a:t>
            </a:r>
            <a:r>
              <a:rPr lang="zh-CN" altLang="en-US" sz="1600" b="1" dirty="0">
                <a:solidFill>
                  <a:srgbClr val="C00000"/>
                </a:solidFill>
                <a:latin typeface="Times New Roman" panose="02020603050405020304" pitchFamily="18" charset="0"/>
                <a:ea typeface="黑体" panose="02010609060101010101" pitchFamily="2" charset="-122"/>
              </a:rPr>
              <a:t>丢弃</a:t>
            </a:r>
          </a:p>
        </p:txBody>
      </p:sp>
      <p:sp>
        <p:nvSpPr>
          <p:cNvPr id="23564" name="Text Box 31"/>
          <p:cNvSpPr txBox="1"/>
          <p:nvPr/>
        </p:nvSpPr>
        <p:spPr>
          <a:xfrm>
            <a:off x="1403350" y="3514090"/>
            <a:ext cx="947738" cy="306705"/>
          </a:xfrm>
          <a:prstGeom prst="rect">
            <a:avLst/>
          </a:prstGeom>
          <a:noFill/>
          <a:ln w="9525">
            <a:noFill/>
          </a:ln>
        </p:spPr>
        <p:txBody>
          <a:bodyPr>
            <a:spAutoFit/>
          </a:bodyPr>
          <a:lstStyle/>
          <a:p>
            <a:pPr eaLnBrk="1" hangingPunct="1">
              <a:spcBef>
                <a:spcPct val="50000"/>
              </a:spcBef>
            </a:pPr>
            <a:r>
              <a:rPr lang="en-US" altLang="zh-CN" sz="1400" b="1">
                <a:solidFill>
                  <a:schemeClr val="hlink"/>
                </a:solidFill>
                <a:latin typeface="Times New Roman" panose="02020603050405020304" pitchFamily="18" charset="0"/>
                <a:ea typeface="宋体" panose="02010600030101010101" pitchFamily="2" charset="-122"/>
              </a:rPr>
              <a:t>(PC)</a:t>
            </a:r>
            <a:r>
              <a:rPr lang="zh-CN" altLang="en-US" sz="1400" b="1" dirty="0">
                <a:solidFill>
                  <a:schemeClr val="hlink"/>
                </a:solidFill>
                <a:latin typeface="Times New Roman" panose="02020603050405020304" pitchFamily="18" charset="0"/>
                <a:ea typeface="宋体" panose="02010600030101010101" pitchFamily="2" charset="-122"/>
              </a:rPr>
              <a:t>加</a:t>
            </a:r>
            <a:r>
              <a:rPr lang="en-US" altLang="zh-CN" sz="1400" b="1">
                <a:solidFill>
                  <a:schemeClr val="hlink"/>
                </a:solidFill>
                <a:latin typeface="Times New Roman" panose="02020603050405020304" pitchFamily="18" charset="0"/>
                <a:ea typeface="宋体" panose="02010600030101010101" pitchFamily="2" charset="-122"/>
              </a:rPr>
              <a:t>1</a:t>
            </a:r>
          </a:p>
        </p:txBody>
      </p:sp>
      <p:sp>
        <p:nvSpPr>
          <p:cNvPr id="23565" name="Text Box 32"/>
          <p:cNvSpPr txBox="1"/>
          <p:nvPr/>
        </p:nvSpPr>
        <p:spPr>
          <a:xfrm>
            <a:off x="2535238" y="3526790"/>
            <a:ext cx="1152525" cy="306705"/>
          </a:xfrm>
          <a:prstGeom prst="rect">
            <a:avLst/>
          </a:prstGeom>
          <a:noFill/>
          <a:ln w="9525">
            <a:noFill/>
          </a:ln>
        </p:spPr>
        <p:txBody>
          <a:bodyPr>
            <a:spAutoFit/>
          </a:bodyPr>
          <a:lstStyle/>
          <a:p>
            <a:pPr eaLnBrk="1" hangingPunct="1">
              <a:spcBef>
                <a:spcPct val="50000"/>
              </a:spcBef>
            </a:pPr>
            <a:r>
              <a:rPr lang="en-US" altLang="zh-CN" sz="1400" b="1">
                <a:solidFill>
                  <a:schemeClr val="hlink"/>
                </a:solidFill>
                <a:latin typeface="Times New Roman" panose="02020603050405020304" pitchFamily="18" charset="0"/>
                <a:ea typeface="宋体" panose="02010600030101010101" pitchFamily="2" charset="-122"/>
              </a:rPr>
              <a:t>(PC)</a:t>
            </a:r>
            <a:r>
              <a:rPr lang="zh-CN" altLang="en-US" sz="1400" b="1" dirty="0">
                <a:solidFill>
                  <a:schemeClr val="hlink"/>
                </a:solidFill>
                <a:latin typeface="Times New Roman" panose="02020603050405020304" pitchFamily="18" charset="0"/>
                <a:ea typeface="宋体" panose="02010600030101010101" pitchFamily="2" charset="-122"/>
              </a:rPr>
              <a:t>不加</a:t>
            </a:r>
            <a:r>
              <a:rPr lang="en-US" altLang="zh-CN" sz="1400" b="1">
                <a:solidFill>
                  <a:schemeClr val="hlink"/>
                </a:solidFill>
                <a:latin typeface="Times New Roman" panose="02020603050405020304" pitchFamily="18" charset="0"/>
                <a:ea typeface="宋体" panose="02010600030101010101" pitchFamily="2" charset="-122"/>
              </a:rPr>
              <a:t>1</a:t>
            </a:r>
          </a:p>
        </p:txBody>
      </p:sp>
      <p:sp>
        <p:nvSpPr>
          <p:cNvPr id="23566" name="Text Box 33"/>
          <p:cNvSpPr txBox="1"/>
          <p:nvPr/>
        </p:nvSpPr>
        <p:spPr>
          <a:xfrm>
            <a:off x="3559175" y="3525203"/>
            <a:ext cx="1239838" cy="306705"/>
          </a:xfrm>
          <a:prstGeom prst="rect">
            <a:avLst/>
          </a:prstGeom>
          <a:noFill/>
          <a:ln w="9525">
            <a:noFill/>
          </a:ln>
        </p:spPr>
        <p:txBody>
          <a:bodyPr>
            <a:spAutoFit/>
          </a:bodyPr>
          <a:lstStyle/>
          <a:p>
            <a:pPr eaLnBrk="1" hangingPunct="1">
              <a:spcBef>
                <a:spcPct val="50000"/>
              </a:spcBef>
            </a:pPr>
            <a:r>
              <a:rPr lang="en-US" altLang="zh-CN" sz="1400" b="1">
                <a:solidFill>
                  <a:schemeClr val="hlink"/>
                </a:solidFill>
                <a:latin typeface="Times New Roman" panose="02020603050405020304" pitchFamily="18" charset="0"/>
                <a:ea typeface="宋体" panose="02010600030101010101" pitchFamily="2" charset="-122"/>
              </a:rPr>
              <a:t>(PC)</a:t>
            </a:r>
            <a:r>
              <a:rPr lang="zh-CN" altLang="en-US" sz="1400" b="1" dirty="0">
                <a:solidFill>
                  <a:schemeClr val="hlink"/>
                </a:solidFill>
                <a:latin typeface="Times New Roman" panose="02020603050405020304" pitchFamily="18" charset="0"/>
                <a:ea typeface="宋体" panose="02010600030101010101" pitchFamily="2" charset="-122"/>
              </a:rPr>
              <a:t>不加</a:t>
            </a:r>
            <a:r>
              <a:rPr lang="en-US" altLang="zh-CN" sz="1400" b="1">
                <a:solidFill>
                  <a:schemeClr val="hlink"/>
                </a:solidFill>
                <a:latin typeface="Times New Roman" panose="02020603050405020304" pitchFamily="18" charset="0"/>
                <a:ea typeface="宋体" panose="02010600030101010101" pitchFamily="2" charset="-122"/>
              </a:rPr>
              <a:t>1</a:t>
            </a:r>
          </a:p>
        </p:txBody>
      </p:sp>
      <p:sp>
        <p:nvSpPr>
          <p:cNvPr id="23567" name="Text Box 34"/>
          <p:cNvSpPr txBox="1"/>
          <p:nvPr/>
        </p:nvSpPr>
        <p:spPr>
          <a:xfrm>
            <a:off x="4716463" y="3542665"/>
            <a:ext cx="1176337" cy="306705"/>
          </a:xfrm>
          <a:prstGeom prst="rect">
            <a:avLst/>
          </a:prstGeom>
          <a:noFill/>
          <a:ln w="9525">
            <a:noFill/>
          </a:ln>
        </p:spPr>
        <p:txBody>
          <a:bodyPr>
            <a:spAutoFit/>
          </a:bodyPr>
          <a:lstStyle/>
          <a:p>
            <a:pPr eaLnBrk="1" hangingPunct="1">
              <a:spcBef>
                <a:spcPct val="50000"/>
              </a:spcBef>
            </a:pPr>
            <a:r>
              <a:rPr lang="en-US" altLang="zh-CN" sz="1400" b="1">
                <a:solidFill>
                  <a:schemeClr val="hlink"/>
                </a:solidFill>
                <a:latin typeface="Times New Roman" panose="02020603050405020304" pitchFamily="18" charset="0"/>
                <a:ea typeface="宋体" panose="02010600030101010101" pitchFamily="2" charset="-122"/>
              </a:rPr>
              <a:t>(PC)</a:t>
            </a:r>
            <a:r>
              <a:rPr lang="zh-CN" altLang="en-US" sz="1400" b="1" dirty="0">
                <a:solidFill>
                  <a:schemeClr val="hlink"/>
                </a:solidFill>
                <a:latin typeface="Times New Roman" panose="02020603050405020304" pitchFamily="18" charset="0"/>
                <a:ea typeface="宋体" panose="02010600030101010101" pitchFamily="2" charset="-122"/>
              </a:rPr>
              <a:t>不加</a:t>
            </a:r>
            <a:r>
              <a:rPr lang="en-US" altLang="zh-CN" sz="1400" b="1">
                <a:solidFill>
                  <a:schemeClr val="hlink"/>
                </a:solidFill>
                <a:latin typeface="Times New Roman" panose="02020603050405020304" pitchFamily="18" charset="0"/>
                <a:ea typeface="宋体" panose="02010600030101010101" pitchFamily="2" charset="-122"/>
              </a:rPr>
              <a:t>1</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1753235"/>
          </a:xfrm>
          <a:prstGeom prst="rect">
            <a:avLst/>
          </a:prstGeom>
          <a:noFill/>
        </p:spPr>
        <p:txBody>
          <a:bodyPr>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2.4.2 CPU</a:t>
            </a:r>
            <a:r>
              <a:rPr lang="zh-CN" altLang="en-US" sz="2400" b="1" dirty="0">
                <a:solidFill>
                  <a:prstClr val="black"/>
                </a:solidFill>
                <a:latin typeface="微软雅黑" panose="020B0503020204020204" pitchFamily="34" charset="-122"/>
                <a:ea typeface="微软雅黑" panose="020B0503020204020204" pitchFamily="34" charset="-122"/>
              </a:rPr>
              <a:t>时序</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en-US" altLang="zh-CN" sz="2400" dirty="0">
                <a:solidFill>
                  <a:prstClr val="black"/>
                </a:solidFill>
                <a:latin typeface="微软雅黑" panose="020B0503020204020204" pitchFamily="34" charset="-122"/>
                <a:ea typeface="微软雅黑" panose="020B0503020204020204" pitchFamily="34" charset="-122"/>
              </a:rPr>
              <a:t>MCS-51</a:t>
            </a:r>
            <a:r>
              <a:rPr lang="zh-CN" altLang="en-US" sz="2400" dirty="0">
                <a:solidFill>
                  <a:prstClr val="black"/>
                </a:solidFill>
                <a:latin typeface="微软雅黑" panose="020B0503020204020204" pitchFamily="34" charset="-122"/>
                <a:ea typeface="微软雅黑" panose="020B0503020204020204" pitchFamily="34" charset="-122"/>
              </a:rPr>
              <a:t>单片机的取指</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执行时序</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a:t>
            </a:r>
            <a:r>
              <a:rPr lang="en-US" altLang="zh-CN" sz="2400" dirty="0">
                <a:solidFill>
                  <a:prstClr val="black"/>
                </a:solidFill>
                <a:latin typeface="微软雅黑" panose="020B0503020204020204" pitchFamily="34" charset="-122"/>
                <a:ea typeface="微软雅黑" panose="020B0503020204020204" pitchFamily="34" charset="-122"/>
              </a:rPr>
              <a:t>(4) </a:t>
            </a:r>
            <a:r>
              <a:rPr lang="zh-CN" altLang="en-US" sz="2400" dirty="0">
                <a:solidFill>
                  <a:prstClr val="black"/>
                </a:solidFill>
                <a:latin typeface="微软雅黑" panose="020B0503020204020204" pitchFamily="34" charset="-122"/>
                <a:ea typeface="微软雅黑" panose="020B0503020204020204" pitchFamily="34" charset="-122"/>
              </a:rPr>
              <a:t>单片机访问外部</a:t>
            </a:r>
            <a:r>
              <a:rPr lang="en-US" altLang="zh-CN" sz="2400" dirty="0">
                <a:solidFill>
                  <a:prstClr val="black"/>
                </a:solidFill>
                <a:latin typeface="微软雅黑" panose="020B0503020204020204" pitchFamily="34" charset="-122"/>
                <a:ea typeface="微软雅黑" panose="020B0503020204020204" pitchFamily="34" charset="-122"/>
              </a:rPr>
              <a:t>RAM</a:t>
            </a:r>
            <a:r>
              <a:rPr lang="zh-CN" altLang="en-US" sz="2400" dirty="0">
                <a:solidFill>
                  <a:prstClr val="black"/>
                </a:solidFill>
                <a:latin typeface="微软雅黑" panose="020B0503020204020204" pitchFamily="34" charset="-122"/>
                <a:ea typeface="微软雅黑" panose="020B0503020204020204" pitchFamily="34" charset="-122"/>
              </a:rPr>
              <a:t>指令的时序</a:t>
            </a:r>
            <a:r>
              <a:rPr lang="en-US" altLang="zh-CN" sz="2000" dirty="0">
                <a:solidFill>
                  <a:srgbClr val="C00000"/>
                </a:solidFill>
                <a:latin typeface="微软雅黑" panose="020B0503020204020204" pitchFamily="34" charset="-122"/>
                <a:ea typeface="微软雅黑" panose="020B0503020204020204" pitchFamily="34" charset="-122"/>
              </a:rPr>
              <a:t>(</a:t>
            </a:r>
            <a:r>
              <a:rPr lang="zh-CN" altLang="en-US" sz="2000" dirty="0">
                <a:solidFill>
                  <a:srgbClr val="C00000"/>
                </a:solidFill>
                <a:latin typeface="微软雅黑" panose="020B0503020204020204" pitchFamily="34" charset="-122"/>
                <a:ea typeface="微软雅黑" panose="020B0503020204020204" pitchFamily="34" charset="-122"/>
              </a:rPr>
              <a:t>单字节双周期</a:t>
            </a:r>
            <a:r>
              <a:rPr lang="en-US" altLang="zh-CN" sz="2000" dirty="0">
                <a:solidFill>
                  <a:srgbClr val="C00000"/>
                </a:solidFill>
                <a:latin typeface="微软雅黑" panose="020B0503020204020204" pitchFamily="34" charset="-122"/>
                <a:ea typeface="微软雅黑" panose="020B0503020204020204" pitchFamily="34" charset="-122"/>
              </a:rPr>
              <a:t>)</a:t>
            </a:r>
            <a:r>
              <a:rPr lang="zh-CN" altLang="en-US" sz="2000" dirty="0">
                <a:solidFill>
                  <a:srgbClr val="C00000"/>
                </a:solidFill>
                <a:latin typeface="微软雅黑" panose="020B0503020204020204" pitchFamily="34" charset="-122"/>
                <a:ea typeface="微软雅黑" panose="020B0503020204020204" pitchFamily="34" charset="-122"/>
              </a:rPr>
              <a:t> </a:t>
            </a:r>
          </a:p>
        </p:txBody>
      </p:sp>
      <p:sp>
        <p:nvSpPr>
          <p:cNvPr id="116738"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2.4 MCS-51</a:t>
            </a:r>
            <a:r>
              <a:rPr lang="zh-CN" altLang="en-US" sz="2800">
                <a:solidFill>
                  <a:srgbClr val="000000"/>
                </a:solidFill>
                <a:latin typeface="微软雅黑" panose="020B0503020204020204" pitchFamily="34" charset="-122"/>
                <a:ea typeface="微软雅黑" panose="020B0503020204020204" pitchFamily="34" charset="-122"/>
              </a:rPr>
              <a:t>单片机的时序</a:t>
            </a:r>
          </a:p>
        </p:txBody>
      </p:sp>
      <p:pic>
        <p:nvPicPr>
          <p:cNvPr id="116739"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16740"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graphicFrame>
        <p:nvGraphicFramePr>
          <p:cNvPr id="24578" name="Object 5"/>
          <p:cNvGraphicFramePr/>
          <p:nvPr/>
        </p:nvGraphicFramePr>
        <p:xfrm>
          <a:off x="7408545" y="3367246"/>
          <a:ext cx="1511300" cy="1566863"/>
        </p:xfrm>
        <a:graphic>
          <a:graphicData uri="http://schemas.openxmlformats.org/presentationml/2006/ole">
            <mc:AlternateContent xmlns:mc="http://schemas.openxmlformats.org/markup-compatibility/2006">
              <mc:Choice xmlns:v="urn:schemas-microsoft-com:vml" Requires="v">
                <p:oleObj name="Visio" r:id="rId5" imgW="861060" imgH="886460" progId="Visio.Drawing.11">
                  <p:embed/>
                </p:oleObj>
              </mc:Choice>
              <mc:Fallback>
                <p:oleObj name="Visio" r:id="rId5" imgW="861060" imgH="886460" progId="Visio.Drawing.11">
                  <p:embed/>
                  <p:pic>
                    <p:nvPicPr>
                      <p:cNvPr id="0" name="图片 3098"/>
                      <p:cNvPicPr/>
                      <p:nvPr/>
                    </p:nvPicPr>
                    <p:blipFill>
                      <a:blip r:embed="rId6"/>
                      <a:stretch>
                        <a:fillRect/>
                      </a:stretch>
                    </p:blipFill>
                    <p:spPr>
                      <a:xfrm>
                        <a:off x="7408545" y="3367246"/>
                        <a:ext cx="1511300" cy="1566863"/>
                      </a:xfrm>
                      <a:prstGeom prst="rect">
                        <a:avLst/>
                      </a:prstGeom>
                      <a:noFill/>
                      <a:ln w="38100">
                        <a:noFill/>
                        <a:miter/>
                      </a:ln>
                    </p:spPr>
                  </p:pic>
                </p:oleObj>
              </mc:Fallback>
            </mc:AlternateContent>
          </a:graphicData>
        </a:graphic>
      </p:graphicFrame>
      <p:sp>
        <p:nvSpPr>
          <p:cNvPr id="24584" name="Rectangle 7"/>
          <p:cNvSpPr/>
          <p:nvPr/>
        </p:nvSpPr>
        <p:spPr>
          <a:xfrm>
            <a:off x="268289" y="5965408"/>
            <a:ext cx="8624886" cy="400110"/>
          </a:xfrm>
          <a:prstGeom prst="rect">
            <a:avLst/>
          </a:prstGeom>
          <a:noFill/>
          <a:ln w="9525">
            <a:noFill/>
          </a:ln>
        </p:spPr>
        <p:txBody>
          <a:bodyPr wrap="square" anchor="ctr">
            <a:spAutoFit/>
          </a:bodyPr>
          <a:lstStyle/>
          <a:p>
            <a:pPr algn="ctr" eaLnBrk="1" hangingPunct="1"/>
            <a:r>
              <a:rPr lang="en-US" altLang="zh-CN" sz="2000" dirty="0">
                <a:latin typeface="Times New Roman" panose="02020603050405020304" pitchFamily="18" charset="0"/>
                <a:ea typeface="黑体" panose="02010609060101010101" pitchFamily="2" charset="-122"/>
              </a:rPr>
              <a:t>CPU</a:t>
            </a:r>
            <a:r>
              <a:rPr lang="zh-CN" altLang="en-US" sz="2000" dirty="0">
                <a:latin typeface="Times New Roman" panose="02020603050405020304" pitchFamily="18" charset="0"/>
                <a:ea typeface="黑体" panose="02010609060101010101" pitchFamily="2" charset="-122"/>
              </a:rPr>
              <a:t>执行访问外部数据存储器指令</a:t>
            </a:r>
            <a:r>
              <a:rPr lang="en-US" altLang="zh-CN" sz="2000" dirty="0">
                <a:latin typeface="Times New Roman" panose="02020603050405020304" pitchFamily="18" charset="0"/>
                <a:ea typeface="黑体" panose="02010609060101010101" pitchFamily="2" charset="-122"/>
              </a:rPr>
              <a:t>MOVX A, @A+DPTR</a:t>
            </a:r>
            <a:r>
              <a:rPr lang="zh-CN" altLang="en-US" sz="2000" dirty="0">
                <a:latin typeface="Times New Roman" panose="02020603050405020304" pitchFamily="18" charset="0"/>
                <a:ea typeface="黑体" panose="02010609060101010101" pitchFamily="2" charset="-122"/>
              </a:rPr>
              <a:t>的时序</a:t>
            </a:r>
          </a:p>
        </p:txBody>
      </p:sp>
      <p:pic>
        <p:nvPicPr>
          <p:cNvPr id="3" name="图片 2"/>
          <p:cNvPicPr>
            <a:picLocks noChangeAspect="1"/>
          </p:cNvPicPr>
          <p:nvPr/>
        </p:nvPicPr>
        <p:blipFill>
          <a:blip r:embed="rId7"/>
          <a:stretch>
            <a:fillRect/>
          </a:stretch>
        </p:blipFill>
        <p:spPr>
          <a:xfrm>
            <a:off x="250825" y="2613660"/>
            <a:ext cx="7249533" cy="3235326"/>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2293784" cy="1754326"/>
          </a:xfrm>
          <a:prstGeom prst="rect">
            <a:avLst/>
          </a:prstGeom>
          <a:noFill/>
        </p:spPr>
        <p:txBody>
          <a:bodyPr wrap="square">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2.4.2 CPU</a:t>
            </a:r>
            <a:r>
              <a:rPr lang="zh-CN" altLang="en-US" sz="2400" b="1" dirty="0">
                <a:solidFill>
                  <a:prstClr val="black"/>
                </a:solidFill>
                <a:latin typeface="微软雅黑" panose="020B0503020204020204" pitchFamily="34" charset="-122"/>
                <a:ea typeface="微软雅黑" panose="020B0503020204020204" pitchFamily="34" charset="-122"/>
              </a:rPr>
              <a:t>时序</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lvl="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访问外部</a:t>
            </a:r>
            <a:endParaRPr lang="en-US" altLang="zh-CN" sz="2400" dirty="0">
              <a:solidFill>
                <a:prstClr val="black"/>
              </a:solidFill>
              <a:latin typeface="微软雅黑" panose="020B0503020204020204" pitchFamily="34" charset="-122"/>
              <a:ea typeface="微软雅黑" panose="020B0503020204020204" pitchFamily="34" charset="-122"/>
            </a:endParaRPr>
          </a:p>
          <a:p>
            <a:pPr lvl="0" algn="just" fontAlgn="auto">
              <a:lnSpc>
                <a:spcPct val="150000"/>
              </a:lnSpc>
              <a:spcBef>
                <a:spcPts val="0"/>
              </a:spcBef>
              <a:spcAft>
                <a:spcPts val="0"/>
              </a:spcAft>
              <a:defRPr/>
            </a:pPr>
            <a:r>
              <a:rPr lang="en-US" altLang="zh-CN" sz="2400" dirty="0">
                <a:solidFill>
                  <a:prstClr val="black"/>
                </a:solidFill>
                <a:latin typeface="微软雅黑" panose="020B0503020204020204" pitchFamily="34" charset="-122"/>
                <a:ea typeface="微软雅黑" panose="020B0503020204020204" pitchFamily="34" charset="-122"/>
              </a:rPr>
              <a:t>    ROM</a:t>
            </a:r>
            <a:r>
              <a:rPr lang="zh-CN" altLang="en-US" sz="2400" dirty="0">
                <a:solidFill>
                  <a:prstClr val="black"/>
                </a:solidFill>
                <a:latin typeface="微软雅黑" panose="020B0503020204020204" pitchFamily="34" charset="-122"/>
                <a:ea typeface="微软雅黑" panose="020B0503020204020204" pitchFamily="34" charset="-122"/>
              </a:rPr>
              <a:t>时序 </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
        <p:nvSpPr>
          <p:cNvPr id="118786"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2.4 MCS-51</a:t>
            </a:r>
            <a:r>
              <a:rPr lang="zh-CN" altLang="en-US" sz="2800">
                <a:solidFill>
                  <a:srgbClr val="000000"/>
                </a:solidFill>
                <a:latin typeface="微软雅黑" panose="020B0503020204020204" pitchFamily="34" charset="-122"/>
                <a:ea typeface="微软雅黑" panose="020B0503020204020204" pitchFamily="34" charset="-122"/>
              </a:rPr>
              <a:t>单片机的时序</a:t>
            </a:r>
          </a:p>
        </p:txBody>
      </p:sp>
      <p:pic>
        <p:nvPicPr>
          <p:cNvPr id="118787"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18788"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pic>
        <p:nvPicPr>
          <p:cNvPr id="5" name="图片 4"/>
          <p:cNvPicPr>
            <a:picLocks noChangeAspect="1"/>
          </p:cNvPicPr>
          <p:nvPr/>
        </p:nvPicPr>
        <p:blipFill>
          <a:blip r:embed="rId5"/>
          <a:stretch>
            <a:fillRect/>
          </a:stretch>
        </p:blipFill>
        <p:spPr>
          <a:xfrm>
            <a:off x="2550958" y="733585"/>
            <a:ext cx="6343805" cy="5868827"/>
          </a:xfrm>
          <a:prstGeom prst="rect">
            <a:avLst/>
          </a:prstGeom>
        </p:spPr>
      </p:pic>
      <p:sp>
        <p:nvSpPr>
          <p:cNvPr id="3" name="矩形标注 2"/>
          <p:cNvSpPr/>
          <p:nvPr/>
        </p:nvSpPr>
        <p:spPr>
          <a:xfrm>
            <a:off x="268287" y="2684206"/>
            <a:ext cx="2396254" cy="658761"/>
          </a:xfrm>
          <a:prstGeom prst="wedgeRectCallout">
            <a:avLst>
              <a:gd name="adj1" fmla="val 58850"/>
              <a:gd name="adj2" fmla="val -18097"/>
            </a:avLst>
          </a:prstGeom>
        </p:spPr>
        <p:style>
          <a:lnRef idx="0">
            <a:schemeClr val="accent5"/>
          </a:lnRef>
          <a:fillRef idx="3">
            <a:schemeClr val="accent5"/>
          </a:fillRef>
          <a:effectRef idx="3">
            <a:schemeClr val="accent5"/>
          </a:effectRef>
          <a:fontRef idx="minor">
            <a:schemeClr val="lt1"/>
          </a:fontRef>
        </p:style>
        <p:txBody>
          <a:bodyPr rtlCol="0" anchor="ctr"/>
          <a:lstStyle/>
          <a:p>
            <a:pPr algn="just"/>
            <a:r>
              <a:rPr lang="zh-CN" altLang="en-US" dirty="0">
                <a:latin typeface="微软雅黑" panose="020B0503020204020204" pitchFamily="34" charset="-122"/>
                <a:ea typeface="微软雅黑" panose="020B0503020204020204" pitchFamily="34" charset="-122"/>
              </a:rPr>
              <a:t>单字节单周期指令</a:t>
            </a:r>
            <a:endParaRPr lang="en-US" altLang="zh-CN" dirty="0">
              <a:latin typeface="微软雅黑" panose="020B0503020204020204" pitchFamily="34" charset="-122"/>
              <a:ea typeface="微软雅黑" panose="020B0503020204020204" pitchFamily="34" charset="-122"/>
            </a:endParaRPr>
          </a:p>
          <a:p>
            <a:pPr algn="just"/>
            <a:r>
              <a:rPr lang="zh-CN" altLang="en-US" dirty="0">
                <a:latin typeface="微软雅黑" panose="020B0503020204020204" pitchFamily="34" charset="-122"/>
                <a:ea typeface="微软雅黑" panose="020B0503020204020204" pitchFamily="34" charset="-122"/>
              </a:rPr>
              <a:t>，例如：</a:t>
            </a:r>
            <a:r>
              <a:rPr lang="en-US" altLang="zh-CN" dirty="0">
                <a:latin typeface="微软雅黑" panose="020B0503020204020204" pitchFamily="34" charset="-122"/>
                <a:ea typeface="微软雅黑" panose="020B0503020204020204" pitchFamily="34" charset="-122"/>
              </a:rPr>
              <a:t>INC  A</a:t>
            </a:r>
            <a:endParaRPr lang="zh-CN" altLang="en-US" dirty="0">
              <a:latin typeface="微软雅黑" panose="020B0503020204020204" pitchFamily="34" charset="-122"/>
              <a:ea typeface="微软雅黑" panose="020B0503020204020204" pitchFamily="34" charset="-122"/>
            </a:endParaRPr>
          </a:p>
        </p:txBody>
      </p:sp>
      <p:sp>
        <p:nvSpPr>
          <p:cNvPr id="9" name="矩形标注 8"/>
          <p:cNvSpPr/>
          <p:nvPr/>
        </p:nvSpPr>
        <p:spPr>
          <a:xfrm>
            <a:off x="268287" y="3606546"/>
            <a:ext cx="2396255" cy="788473"/>
          </a:xfrm>
          <a:prstGeom prst="wedgeRectCallout">
            <a:avLst>
              <a:gd name="adj1" fmla="val 62684"/>
              <a:gd name="adj2" fmla="val 7050"/>
            </a:avLst>
          </a:prstGeom>
        </p:spPr>
        <p:style>
          <a:lnRef idx="0">
            <a:schemeClr val="accent5"/>
          </a:lnRef>
          <a:fillRef idx="3">
            <a:schemeClr val="accent5"/>
          </a:fillRef>
          <a:effectRef idx="3">
            <a:schemeClr val="accent5"/>
          </a:effectRef>
          <a:fontRef idx="minor">
            <a:schemeClr val="lt1"/>
          </a:fontRef>
        </p:style>
        <p:txBody>
          <a:bodyPr rtlCol="0" anchor="ctr"/>
          <a:lstStyle/>
          <a:p>
            <a:pPr algn="just"/>
            <a:r>
              <a:rPr lang="zh-CN" altLang="en-US" dirty="0">
                <a:latin typeface="微软雅黑" panose="020B0503020204020204" pitchFamily="34" charset="-122"/>
                <a:ea typeface="微软雅黑" panose="020B0503020204020204" pitchFamily="34" charset="-122"/>
              </a:rPr>
              <a:t>双字节单周期指令，例如：</a:t>
            </a:r>
            <a:r>
              <a:rPr lang="en-US" altLang="zh-CN" dirty="0">
                <a:latin typeface="微软雅黑" panose="020B0503020204020204" pitchFamily="34" charset="-122"/>
                <a:ea typeface="微软雅黑" panose="020B0503020204020204" pitchFamily="34" charset="-122"/>
              </a:rPr>
              <a:t>ADD A, #data</a:t>
            </a:r>
            <a:endParaRPr lang="zh-CN" altLang="en-US" dirty="0">
              <a:latin typeface="微软雅黑" panose="020B0503020204020204" pitchFamily="34" charset="-122"/>
              <a:ea typeface="微软雅黑" panose="020B0503020204020204" pitchFamily="34" charset="-122"/>
            </a:endParaRPr>
          </a:p>
        </p:txBody>
      </p:sp>
      <p:sp>
        <p:nvSpPr>
          <p:cNvPr id="10" name="矩形标注 9"/>
          <p:cNvSpPr/>
          <p:nvPr/>
        </p:nvSpPr>
        <p:spPr>
          <a:xfrm>
            <a:off x="250824" y="4623346"/>
            <a:ext cx="2413717" cy="658761"/>
          </a:xfrm>
          <a:prstGeom prst="wedgeRectCallout">
            <a:avLst>
              <a:gd name="adj1" fmla="val 59137"/>
              <a:gd name="adj2" fmla="val 8769"/>
            </a:avLst>
          </a:prstGeom>
        </p:spPr>
        <p:style>
          <a:lnRef idx="0">
            <a:schemeClr val="accent5"/>
          </a:lnRef>
          <a:fillRef idx="3">
            <a:schemeClr val="accent5"/>
          </a:fillRef>
          <a:effectRef idx="3">
            <a:schemeClr val="accent5"/>
          </a:effectRef>
          <a:fontRef idx="minor">
            <a:schemeClr val="lt1"/>
          </a:fontRef>
        </p:style>
        <p:txBody>
          <a:bodyPr rtlCol="0" anchor="ctr"/>
          <a:lstStyle/>
          <a:p>
            <a:pPr algn="just"/>
            <a:r>
              <a:rPr lang="zh-CN" altLang="en-US" dirty="0">
                <a:latin typeface="微软雅黑" panose="020B0503020204020204" pitchFamily="34" charset="-122"/>
                <a:ea typeface="微软雅黑" panose="020B0503020204020204" pitchFamily="34" charset="-122"/>
              </a:rPr>
              <a:t>单字节双周期指令，例如：</a:t>
            </a:r>
            <a:r>
              <a:rPr lang="en-US" altLang="zh-CN" dirty="0">
                <a:latin typeface="微软雅黑" panose="020B0503020204020204" pitchFamily="34" charset="-122"/>
                <a:ea typeface="微软雅黑" panose="020B0503020204020204" pitchFamily="34" charset="-122"/>
              </a:rPr>
              <a:t>INC  DPTR</a:t>
            </a:r>
            <a:endParaRPr lang="zh-CN" altLang="en-US" dirty="0">
              <a:latin typeface="微软雅黑" panose="020B0503020204020204" pitchFamily="34" charset="-122"/>
              <a:ea typeface="微软雅黑" panose="020B0503020204020204" pitchFamily="34" charset="-122"/>
            </a:endParaRPr>
          </a:p>
        </p:txBody>
      </p:sp>
      <p:sp>
        <p:nvSpPr>
          <p:cNvPr id="11" name="矩形标注 10"/>
          <p:cNvSpPr/>
          <p:nvPr/>
        </p:nvSpPr>
        <p:spPr>
          <a:xfrm>
            <a:off x="250824" y="5451442"/>
            <a:ext cx="2413717" cy="909416"/>
          </a:xfrm>
          <a:prstGeom prst="wedgeRectCallout">
            <a:avLst>
              <a:gd name="adj1" fmla="val 57915"/>
              <a:gd name="adj2" fmla="val -7402"/>
            </a:avLst>
          </a:prstGeom>
        </p:spPr>
        <p:style>
          <a:lnRef idx="0">
            <a:schemeClr val="accent5"/>
          </a:lnRef>
          <a:fillRef idx="3">
            <a:schemeClr val="accent5"/>
          </a:fillRef>
          <a:effectRef idx="3">
            <a:schemeClr val="accent5"/>
          </a:effectRef>
          <a:fontRef idx="minor">
            <a:schemeClr val="lt1"/>
          </a:fontRef>
        </p:style>
        <p:txBody>
          <a:bodyPr rtlCol="0" anchor="ctr"/>
          <a:lstStyle/>
          <a:p>
            <a:pPr algn="just"/>
            <a:r>
              <a:rPr lang="zh-CN" altLang="en-US" dirty="0">
                <a:latin typeface="微软雅黑" panose="020B0503020204020204" pitchFamily="34" charset="-122"/>
                <a:ea typeface="微软雅黑" panose="020B0503020204020204" pitchFamily="34" charset="-122"/>
              </a:rPr>
              <a:t>访问外部</a:t>
            </a:r>
            <a:r>
              <a:rPr lang="en-US" altLang="zh-CN" dirty="0">
                <a:latin typeface="微软雅黑" panose="020B0503020204020204" pitchFamily="34" charset="-122"/>
                <a:ea typeface="微软雅黑" panose="020B0503020204020204" pitchFamily="34" charset="-122"/>
              </a:rPr>
              <a:t>RAM</a:t>
            </a:r>
            <a:r>
              <a:rPr lang="zh-CN" altLang="en-US" dirty="0">
                <a:latin typeface="微软雅黑" panose="020B0503020204020204" pitchFamily="34" charset="-122"/>
                <a:ea typeface="微软雅黑" panose="020B0503020204020204" pitchFamily="34" charset="-122"/>
              </a:rPr>
              <a:t>指令，例如：</a:t>
            </a:r>
            <a:r>
              <a:rPr lang="en-US" altLang="zh-CN" dirty="0">
                <a:latin typeface="微软雅黑" panose="020B0503020204020204" pitchFamily="34" charset="-122"/>
                <a:ea typeface="微软雅黑" panose="020B0503020204020204" pitchFamily="34" charset="-122"/>
              </a:rPr>
              <a:t>MOVX (</a:t>
            </a:r>
            <a:r>
              <a:rPr lang="zh-CN" altLang="en-US" dirty="0">
                <a:latin typeface="微软雅黑" panose="020B0503020204020204" pitchFamily="34" charset="-122"/>
                <a:ea typeface="微软雅黑" panose="020B0503020204020204" pitchFamily="34" charset="-122"/>
              </a:rPr>
              <a:t>单字节双周期</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3125122" cy="3046988"/>
          </a:xfrm>
          <a:prstGeom prst="rect">
            <a:avLst/>
          </a:prstGeom>
          <a:noFill/>
        </p:spPr>
        <p:txBody>
          <a:bodyPr wrap="square">
            <a:spAutoFit/>
          </a:bodyPr>
          <a:lstStyle/>
          <a:p>
            <a:pPr algn="just" fontAlgn="auto">
              <a:lnSpc>
                <a:spcPct val="150000"/>
              </a:lnSpc>
              <a:spcBef>
                <a:spcPts val="0"/>
              </a:spcBef>
              <a:spcAft>
                <a:spcPts val="0"/>
              </a:spcAft>
              <a:defRPr/>
            </a:pPr>
            <a:r>
              <a:rPr lang="en-US" altLang="zh-CN" sz="2400" b="1" dirty="0">
                <a:solidFill>
                  <a:prstClr val="black"/>
                </a:solidFill>
                <a:latin typeface="微软雅黑" panose="020B0503020204020204" pitchFamily="34" charset="-122"/>
                <a:ea typeface="微软雅黑" panose="020B0503020204020204" pitchFamily="34" charset="-122"/>
              </a:rPr>
              <a:t>2.4.2 CPU</a:t>
            </a:r>
            <a:r>
              <a:rPr lang="zh-CN" altLang="en-US" sz="2400" b="1" dirty="0">
                <a:solidFill>
                  <a:prstClr val="black"/>
                </a:solidFill>
                <a:latin typeface="微软雅黑" panose="020B0503020204020204" pitchFamily="34" charset="-122"/>
                <a:ea typeface="微软雅黑" panose="020B0503020204020204" pitchFamily="34" charset="-122"/>
              </a:rPr>
              <a:t>时序</a:t>
            </a:r>
            <a:endParaRPr lang="en-US" altLang="zh-CN" sz="2400" b="1" dirty="0">
              <a:solidFill>
                <a:prstClr val="black"/>
              </a:solidFill>
              <a:latin typeface="微软雅黑" panose="020B0503020204020204" pitchFamily="34" charset="-122"/>
              <a:ea typeface="微软雅黑" panose="020B0503020204020204" pitchFamily="34" charset="-122"/>
            </a:endParaRPr>
          </a:p>
          <a:p>
            <a:pPr marL="342900" indent="-342900" algn="just" fontAlgn="auto">
              <a:lnSpc>
                <a:spcPct val="150000"/>
              </a:lnSpc>
              <a:spcBef>
                <a:spcPts val="0"/>
              </a:spcBef>
              <a:spcAft>
                <a:spcPts val="0"/>
              </a:spcAft>
              <a:buFont typeface="Wingdings" panose="05000000000000000000" pitchFamily="2" charset="2"/>
              <a:buChar char="n"/>
              <a:defRPr/>
            </a:pPr>
            <a:r>
              <a:rPr lang="zh-CN" altLang="en-US" sz="2400" dirty="0">
                <a:solidFill>
                  <a:prstClr val="black"/>
                </a:solidFill>
                <a:latin typeface="微软雅黑" panose="020B0503020204020204" pitchFamily="34" charset="-122"/>
                <a:ea typeface="微软雅黑" panose="020B0503020204020204" pitchFamily="34" charset="-122"/>
              </a:rPr>
              <a:t>读外部</a:t>
            </a:r>
            <a:r>
              <a:rPr lang="en-US" altLang="zh-CN" sz="2400" dirty="0">
                <a:solidFill>
                  <a:prstClr val="black"/>
                </a:solidFill>
                <a:latin typeface="微软雅黑" panose="020B0503020204020204" pitchFamily="34" charset="-122"/>
                <a:ea typeface="微软雅黑" panose="020B0503020204020204" pitchFamily="34" charset="-122"/>
              </a:rPr>
              <a:t>RAM</a:t>
            </a:r>
            <a:r>
              <a:rPr lang="zh-CN" altLang="en-US" sz="2400" dirty="0">
                <a:solidFill>
                  <a:prstClr val="black"/>
                </a:solidFill>
                <a:latin typeface="微软雅黑" panose="020B0503020204020204" pitchFamily="34" charset="-122"/>
                <a:ea typeface="微软雅黑" panose="020B0503020204020204" pitchFamily="34" charset="-122"/>
              </a:rPr>
              <a:t>时序</a:t>
            </a:r>
          </a:p>
          <a:p>
            <a:pPr algn="just" fontAlgn="auto">
              <a:lnSpc>
                <a:spcPct val="150000"/>
              </a:lnSpc>
              <a:spcBef>
                <a:spcPts val="0"/>
              </a:spcBef>
              <a:spcAft>
                <a:spcPts val="0"/>
              </a:spcAft>
              <a:defRPr/>
            </a:pPr>
            <a:r>
              <a:rPr lang="zh-CN" altLang="en-US" sz="2000" dirty="0">
                <a:solidFill>
                  <a:prstClr val="black"/>
                </a:solidFill>
                <a:latin typeface="微软雅黑" panose="020B0503020204020204" pitchFamily="34" charset="-122"/>
                <a:ea typeface="微软雅黑" panose="020B0503020204020204" pitchFamily="34" charset="-122"/>
              </a:rPr>
              <a:t>       访问外部</a:t>
            </a:r>
            <a:r>
              <a:rPr lang="en-US" altLang="zh-CN" sz="2000" dirty="0">
                <a:solidFill>
                  <a:prstClr val="black"/>
                </a:solidFill>
                <a:latin typeface="微软雅黑" panose="020B0503020204020204" pitchFamily="34" charset="-122"/>
                <a:ea typeface="微软雅黑" panose="020B0503020204020204" pitchFamily="34" charset="-122"/>
              </a:rPr>
              <a:t>RAM</a:t>
            </a:r>
            <a:r>
              <a:rPr lang="zh-CN" altLang="en-US" sz="2000" dirty="0">
                <a:solidFill>
                  <a:prstClr val="black"/>
                </a:solidFill>
                <a:latin typeface="微软雅黑" panose="020B0503020204020204" pitchFamily="34" charset="-122"/>
                <a:ea typeface="微软雅黑" panose="020B0503020204020204" pitchFamily="34" charset="-122"/>
              </a:rPr>
              <a:t>的操作有两种情况，即</a:t>
            </a:r>
            <a:r>
              <a:rPr lang="zh-CN" altLang="en-US" sz="2000" b="1" dirty="0">
                <a:solidFill>
                  <a:srgbClr val="0000FF"/>
                </a:solidFill>
                <a:latin typeface="微软雅黑" panose="020B0503020204020204" pitchFamily="34" charset="-122"/>
                <a:ea typeface="微软雅黑" panose="020B0503020204020204" pitchFamily="34" charset="-122"/>
              </a:rPr>
              <a:t>读操作</a:t>
            </a:r>
            <a:r>
              <a:rPr lang="zh-CN" altLang="en-US" sz="2000" dirty="0">
                <a:solidFill>
                  <a:prstClr val="black"/>
                </a:solidFill>
                <a:latin typeface="微软雅黑" panose="020B0503020204020204" pitchFamily="34" charset="-122"/>
                <a:ea typeface="微软雅黑" panose="020B0503020204020204" pitchFamily="34" charset="-122"/>
              </a:rPr>
              <a:t>和</a:t>
            </a:r>
            <a:r>
              <a:rPr lang="zh-CN" altLang="en-US" sz="2000" b="1" dirty="0">
                <a:solidFill>
                  <a:srgbClr val="0000FF"/>
                </a:solidFill>
                <a:latin typeface="微软雅黑" panose="020B0503020204020204" pitchFamily="34" charset="-122"/>
                <a:ea typeface="微软雅黑" panose="020B0503020204020204" pitchFamily="34" charset="-122"/>
              </a:rPr>
              <a:t>写操作</a:t>
            </a:r>
            <a:r>
              <a:rPr lang="zh-CN" altLang="en-US" sz="2000" dirty="0">
                <a:solidFill>
                  <a:prstClr val="black"/>
                </a:solidFill>
                <a:latin typeface="微软雅黑" panose="020B0503020204020204" pitchFamily="34" charset="-122"/>
                <a:ea typeface="微软雅黑" panose="020B0503020204020204" pitchFamily="34" charset="-122"/>
              </a:rPr>
              <a:t>，两种操作的方式基本相同。</a:t>
            </a:r>
            <a:endParaRPr lang="en-US" altLang="zh-CN" sz="2000" dirty="0">
              <a:solidFill>
                <a:prstClr val="black"/>
              </a:solidFill>
              <a:latin typeface="微软雅黑" panose="020B0503020204020204" pitchFamily="34" charset="-122"/>
              <a:ea typeface="微软雅黑" panose="020B0503020204020204" pitchFamily="34" charset="-122"/>
            </a:endParaRPr>
          </a:p>
        </p:txBody>
      </p:sp>
      <p:sp>
        <p:nvSpPr>
          <p:cNvPr id="118786"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2.4 MCS-51</a:t>
            </a:r>
            <a:r>
              <a:rPr lang="zh-CN" altLang="en-US" sz="2800">
                <a:solidFill>
                  <a:srgbClr val="000000"/>
                </a:solidFill>
                <a:latin typeface="微软雅黑" panose="020B0503020204020204" pitchFamily="34" charset="-122"/>
                <a:ea typeface="微软雅黑" panose="020B0503020204020204" pitchFamily="34" charset="-122"/>
              </a:rPr>
              <a:t>单片机的时序</a:t>
            </a:r>
          </a:p>
        </p:txBody>
      </p:sp>
      <p:pic>
        <p:nvPicPr>
          <p:cNvPr id="118787"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18788" name="图片 4"/>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pic>
        <p:nvPicPr>
          <p:cNvPr id="7" name="图片 6"/>
          <p:cNvPicPr>
            <a:picLocks noChangeAspect="1"/>
          </p:cNvPicPr>
          <p:nvPr/>
        </p:nvPicPr>
        <p:blipFill>
          <a:blip r:embed="rId5"/>
          <a:stretch>
            <a:fillRect/>
          </a:stretch>
        </p:blipFill>
        <p:spPr>
          <a:xfrm>
            <a:off x="3382297" y="1364009"/>
            <a:ext cx="5518969" cy="4743033"/>
          </a:xfrm>
          <a:prstGeom prst="rect">
            <a:avLst/>
          </a:prstGeom>
        </p:spPr>
      </p:pic>
      <p:sp>
        <p:nvSpPr>
          <p:cNvPr id="3" name="矩形标注 2"/>
          <p:cNvSpPr/>
          <p:nvPr/>
        </p:nvSpPr>
        <p:spPr>
          <a:xfrm>
            <a:off x="849313" y="4478282"/>
            <a:ext cx="2189111" cy="934065"/>
          </a:xfrm>
          <a:prstGeom prst="wedgeRectCallout">
            <a:avLst>
              <a:gd name="adj1" fmla="val 58666"/>
              <a:gd name="adj2" fmla="val -102763"/>
            </a:avLst>
          </a:prstGeom>
        </p:spPr>
        <p:style>
          <a:lnRef idx="0">
            <a:schemeClr val="accent5"/>
          </a:lnRef>
          <a:fillRef idx="3">
            <a:schemeClr val="accent5"/>
          </a:fillRef>
          <a:effectRef idx="3">
            <a:schemeClr val="accent5"/>
          </a:effectRef>
          <a:fontRef idx="minor">
            <a:schemeClr val="lt1"/>
          </a:fontRef>
        </p:style>
        <p:txBody>
          <a:bodyPr rtlCol="0" anchor="ctr"/>
          <a:lstStyle/>
          <a:p>
            <a:pPr algn="just">
              <a:lnSpc>
                <a:spcPct val="150000"/>
              </a:lnSpc>
            </a:pPr>
            <a:r>
              <a:rPr lang="zh-CN" altLang="en-US" dirty="0">
                <a:latin typeface="微软雅黑" panose="020B0503020204020204" pitchFamily="34" charset="-122"/>
                <a:ea typeface="微软雅黑" panose="020B0503020204020204" pitchFamily="34" charset="-122"/>
              </a:rPr>
              <a:t>结合参考教材</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读外部</a:t>
            </a:r>
            <a:r>
              <a:rPr lang="en-US" altLang="zh-CN" dirty="0">
                <a:latin typeface="微软雅黑" panose="020B0503020204020204" pitchFamily="34" charset="-122"/>
                <a:ea typeface="微软雅黑" panose="020B0503020204020204" pitchFamily="34" charset="-122"/>
              </a:rPr>
              <a:t>RAM</a:t>
            </a:r>
            <a:r>
              <a:rPr lang="zh-CN" altLang="en-US" dirty="0">
                <a:latin typeface="微软雅黑" panose="020B0503020204020204" pitchFamily="34" charset="-122"/>
                <a:ea typeface="微软雅黑" panose="020B0503020204020204" pitchFamily="34" charset="-122"/>
              </a:rPr>
              <a:t>时序</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7175" y="736600"/>
            <a:ext cx="8636000" cy="3416320"/>
          </a:xfrm>
          <a:prstGeom prst="rect">
            <a:avLst/>
          </a:prstGeom>
          <a:noFill/>
        </p:spPr>
        <p:txBody>
          <a:bodyPr>
            <a:spAutoFit/>
          </a:bodyPr>
          <a:lstStyle/>
          <a:p>
            <a:pPr algn="just" fontAlgn="auto">
              <a:lnSpc>
                <a:spcPct val="150000"/>
              </a:lnSpc>
              <a:spcBef>
                <a:spcPts val="0"/>
              </a:spcBef>
              <a:spcAft>
                <a:spcPts val="0"/>
              </a:spcAft>
              <a:defRPr/>
            </a:pPr>
            <a:r>
              <a:rPr lang="zh-CN" altLang="en-US" sz="2400" dirty="0">
                <a:solidFill>
                  <a:prstClr val="black"/>
                </a:solidFill>
                <a:latin typeface="微软雅黑" panose="020B0503020204020204" pitchFamily="34" charset="-122"/>
                <a:ea typeface="微软雅黑" panose="020B0503020204020204" pitchFamily="34" charset="-122"/>
              </a:rPr>
              <a:t>       单片机最小系统硬件电路包括</a:t>
            </a:r>
            <a:r>
              <a:rPr lang="zh-CN" altLang="en-US" sz="2400" dirty="0">
                <a:solidFill>
                  <a:srgbClr val="0000FF"/>
                </a:solidFill>
                <a:latin typeface="微软雅黑" panose="020B0503020204020204" pitchFamily="34" charset="-122"/>
                <a:ea typeface="微软雅黑" panose="020B0503020204020204" pitchFamily="34" charset="-122"/>
              </a:rPr>
              <a:t>电源电路</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时钟电路</a:t>
            </a:r>
            <a:r>
              <a:rPr lang="zh-CN" altLang="en-US"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复位电路</a:t>
            </a:r>
            <a:r>
              <a:rPr lang="zh-CN" altLang="en-US" sz="2400" dirty="0">
                <a:solidFill>
                  <a:prstClr val="black"/>
                </a:solidFill>
                <a:latin typeface="微软雅黑" panose="020B0503020204020204" pitchFamily="34" charset="-122"/>
                <a:ea typeface="微软雅黑" panose="020B0503020204020204" pitchFamily="34" charset="-122"/>
              </a:rPr>
              <a:t>及</a:t>
            </a:r>
            <a:r>
              <a:rPr lang="zh-CN" altLang="en-US" sz="2400" dirty="0">
                <a:solidFill>
                  <a:srgbClr val="0000FF"/>
                </a:solidFill>
                <a:latin typeface="微软雅黑" panose="020B0503020204020204" pitchFamily="34" charset="-122"/>
                <a:ea typeface="微软雅黑" panose="020B0503020204020204" pitchFamily="34" charset="-122"/>
              </a:rPr>
              <a:t>扩展部分</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需要时</a:t>
            </a:r>
            <a:r>
              <a:rPr lang="en-US" altLang="zh-CN" sz="2400" dirty="0">
                <a:solidFill>
                  <a:prstClr val="black"/>
                </a:solidFill>
                <a:latin typeface="微软雅黑" panose="020B0503020204020204" pitchFamily="34" charset="-122"/>
                <a:ea typeface="微软雅黑" panose="020B0503020204020204" pitchFamily="34" charset="-122"/>
              </a:rPr>
              <a:t>)</a:t>
            </a:r>
            <a:r>
              <a:rPr lang="zh-CN" altLang="en-US" sz="2400" dirty="0">
                <a:solidFill>
                  <a:prstClr val="black"/>
                </a:solidFill>
                <a:latin typeface="微软雅黑" panose="020B0503020204020204" pitchFamily="34" charset="-122"/>
                <a:ea typeface="微软雅黑" panose="020B0503020204020204" pitchFamily="34" charset="-122"/>
              </a:rPr>
              <a:t>等组成。</a:t>
            </a: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为单片机提供稳定可靠的</a:t>
            </a:r>
            <a:r>
              <a:rPr lang="zh-CN" altLang="en-US" sz="2400" u="sng" dirty="0">
                <a:solidFill>
                  <a:prstClr val="black"/>
                </a:solidFill>
                <a:latin typeface="微软雅黑" panose="020B0503020204020204" pitchFamily="34" charset="-122"/>
                <a:ea typeface="微软雅黑" panose="020B0503020204020204" pitchFamily="34" charset="-122"/>
              </a:rPr>
              <a:t>工作电源</a:t>
            </a:r>
            <a:r>
              <a:rPr lang="zh-CN" altLang="en-US" sz="2400" dirty="0">
                <a:solidFill>
                  <a:prstClr val="black"/>
                </a:solidFill>
                <a:latin typeface="微软雅黑" panose="020B0503020204020204" pitchFamily="34" charset="-122"/>
                <a:ea typeface="微软雅黑" panose="020B0503020204020204" pitchFamily="34" charset="-122"/>
              </a:rPr>
              <a:t>。</a:t>
            </a: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dirty="0">
                <a:solidFill>
                  <a:prstClr val="black"/>
                </a:solidFill>
                <a:latin typeface="微软雅黑" panose="020B0503020204020204" pitchFamily="34" charset="-122"/>
                <a:ea typeface="微软雅黑" panose="020B0503020204020204" pitchFamily="34" charset="-122"/>
              </a:rPr>
              <a:t>时钟电路即</a:t>
            </a:r>
            <a:r>
              <a:rPr lang="zh-CN" altLang="en-US" sz="2400" u="sng" dirty="0">
                <a:solidFill>
                  <a:prstClr val="black"/>
                </a:solidFill>
                <a:latin typeface="微软雅黑" panose="020B0503020204020204" pitchFamily="34" charset="-122"/>
                <a:ea typeface="微软雅黑" panose="020B0503020204020204" pitchFamily="34" charset="-122"/>
              </a:rPr>
              <a:t>振荡电路</a:t>
            </a:r>
            <a:r>
              <a:rPr lang="zh-CN" altLang="en-US" sz="2400" dirty="0">
                <a:solidFill>
                  <a:prstClr val="black"/>
                </a:solidFill>
                <a:latin typeface="微软雅黑" panose="020B0503020204020204" pitchFamily="34" charset="-122"/>
                <a:ea typeface="微软雅黑" panose="020B0503020204020204" pitchFamily="34" charset="-122"/>
              </a:rPr>
              <a:t>，用于产生单片机最基本的时间单位。</a:t>
            </a:r>
          </a:p>
          <a:p>
            <a:pPr marL="342900" indent="-342900" algn="just" fontAlgn="auto">
              <a:lnSpc>
                <a:spcPct val="150000"/>
              </a:lnSpc>
              <a:spcBef>
                <a:spcPts val="0"/>
              </a:spcBef>
              <a:spcAft>
                <a:spcPts val="0"/>
              </a:spcAft>
              <a:buFont typeface="Wingdings" panose="05000000000000000000" pitchFamily="2" charset="2"/>
              <a:buChar char="Ø"/>
              <a:defRPr/>
            </a:pPr>
            <a:r>
              <a:rPr lang="zh-CN" altLang="en-US" sz="2400" u="sng" dirty="0">
                <a:solidFill>
                  <a:prstClr val="black"/>
                </a:solidFill>
                <a:latin typeface="微软雅黑" panose="020B0503020204020204" pitchFamily="34" charset="-122"/>
                <a:ea typeface="微软雅黑" panose="020B0503020204020204" pitchFamily="34" charset="-122"/>
              </a:rPr>
              <a:t>复位电路</a:t>
            </a:r>
            <a:r>
              <a:rPr lang="zh-CN" altLang="en-US" sz="2400" dirty="0">
                <a:solidFill>
                  <a:prstClr val="black"/>
                </a:solidFill>
                <a:latin typeface="微软雅黑" panose="020B0503020204020204" pitchFamily="34" charset="-122"/>
                <a:ea typeface="微软雅黑" panose="020B0503020204020204" pitchFamily="34" charset="-122"/>
              </a:rPr>
              <a:t>用于产生复位信号，使单片机从固定的起始状态开始工作。</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
        <p:nvSpPr>
          <p:cNvPr id="120834" name="文本框 5"/>
          <p:cNvSpPr txBox="1">
            <a:spLocks noChangeArrowheads="1"/>
          </p:cNvSpPr>
          <p:nvPr/>
        </p:nvSpPr>
        <p:spPr bwMode="auto">
          <a:xfrm>
            <a:off x="268288" y="201613"/>
            <a:ext cx="8624887" cy="523875"/>
          </a:xfrm>
          <a:prstGeom prst="rect">
            <a:avLst/>
          </a:prstGeom>
          <a:noFill/>
          <a:ln w="9525">
            <a:noFill/>
            <a:miter lim="800000"/>
          </a:ln>
        </p:spPr>
        <p:txBody>
          <a:bodyPr>
            <a:spAutoFit/>
          </a:bodyPr>
          <a:lstStyle/>
          <a:p>
            <a:r>
              <a:rPr lang="en-US" altLang="zh-CN" sz="2800">
                <a:solidFill>
                  <a:srgbClr val="000000"/>
                </a:solidFill>
                <a:latin typeface="微软雅黑" panose="020B0503020204020204" pitchFamily="34" charset="-122"/>
                <a:ea typeface="微软雅黑" panose="020B0503020204020204" pitchFamily="34" charset="-122"/>
              </a:rPr>
              <a:t>2.5 </a:t>
            </a:r>
            <a:r>
              <a:rPr lang="zh-CN" altLang="en-US" sz="2800">
                <a:solidFill>
                  <a:srgbClr val="000000"/>
                </a:solidFill>
                <a:latin typeface="微软雅黑" panose="020B0503020204020204" pitchFamily="34" charset="-122"/>
                <a:ea typeface="微软雅黑" panose="020B0503020204020204" pitchFamily="34" charset="-122"/>
              </a:rPr>
              <a:t>单片机最小系统</a:t>
            </a:r>
          </a:p>
        </p:txBody>
      </p:sp>
      <p:pic>
        <p:nvPicPr>
          <p:cNvPr id="120835" name="图片 3"/>
          <p:cNvPicPr>
            <a:picLocks noChangeAspect="1"/>
          </p:cNvPicPr>
          <p:nvPr/>
        </p:nvPicPr>
        <p:blipFill>
          <a:blip r:embed="rId3"/>
          <a:srcRect/>
          <a:stretch>
            <a:fillRect/>
          </a:stretch>
        </p:blipFill>
        <p:spPr bwMode="auto">
          <a:xfrm>
            <a:off x="7018338" y="80963"/>
            <a:ext cx="1876425" cy="539750"/>
          </a:xfrm>
          <a:prstGeom prst="rect">
            <a:avLst/>
          </a:prstGeom>
          <a:noFill/>
          <a:ln w="9525">
            <a:noFill/>
            <a:miter lim="800000"/>
            <a:headEnd/>
            <a:tailEnd/>
          </a:ln>
        </p:spPr>
      </p:pic>
      <p:pic>
        <p:nvPicPr>
          <p:cNvPr id="120836" name="图片 6"/>
          <p:cNvPicPr>
            <a:picLocks noChangeAspect="1"/>
          </p:cNvPicPr>
          <p:nvPr/>
        </p:nvPicPr>
        <p:blipFill>
          <a:blip r:embed="rId4"/>
          <a:srcRect/>
          <a:stretch>
            <a:fillRect/>
          </a:stretch>
        </p:blipFill>
        <p:spPr bwMode="auto">
          <a:xfrm>
            <a:off x="254000" y="6419850"/>
            <a:ext cx="2495550" cy="360363"/>
          </a:xfrm>
          <a:prstGeom prst="rect">
            <a:avLst/>
          </a:prstGeom>
          <a:noFill/>
          <a:ln w="9525">
            <a:noFill/>
            <a:miter lim="800000"/>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E3249A5-24E8-5757-BD5D-D34834F34E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41521"/>
            <a:ext cx="9144000" cy="5774958"/>
          </a:xfrm>
          <a:prstGeom prst="rect">
            <a:avLst/>
          </a:prstGeom>
        </p:spPr>
      </p:pic>
    </p:spTree>
    <p:extLst>
      <p:ext uri="{BB962C8B-B14F-4D97-AF65-F5344CB8AC3E}">
        <p14:creationId xmlns:p14="http://schemas.microsoft.com/office/powerpoint/2010/main" val="36980965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DYwYjdjNGZhZjE1NTY2ZWQxNTYyYWVlZDI3YWU1MTQ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282</TotalTime>
  <Words>8991</Words>
  <Application>Microsoft Office PowerPoint</Application>
  <PresentationFormat>全屏显示(4:3)</PresentationFormat>
  <Paragraphs>914</Paragraphs>
  <Slides>70</Slides>
  <Notes>67</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70</vt:i4>
      </vt:variant>
    </vt:vector>
  </HeadingPairs>
  <TitlesOfParts>
    <vt:vector size="81" baseType="lpstr">
      <vt:lpstr>宋体</vt:lpstr>
      <vt:lpstr>微软雅黑</vt:lpstr>
      <vt:lpstr>Arial</vt:lpstr>
      <vt:lpstr>Calibri</vt:lpstr>
      <vt:lpstr>Calibri Light</vt:lpstr>
      <vt:lpstr>Cambria Math</vt:lpstr>
      <vt:lpstr>Times New Roman</vt:lpstr>
      <vt:lpstr>Wingdings</vt:lpstr>
      <vt:lpstr>Office 主题</vt:lpstr>
      <vt:lpstr>Paintbrush Picture</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GXH</dc:creator>
  <cp:lastModifiedBy>灿 付</cp:lastModifiedBy>
  <cp:revision>252</cp:revision>
  <dcterms:created xsi:type="dcterms:W3CDTF">2019-03-15T01:02:00Z</dcterms:created>
  <dcterms:modified xsi:type="dcterms:W3CDTF">2025-09-23T14:56:23Z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2052-12.1.0.16399</vt:lpwstr>
  </property>
  <property fmtid="{D5CDD505-2E9C-101B-9397-08002B2CF9AE}" pid="3" name="ICV">
    <vt:lpwstr>2884654AAA6A4C4384EBD6C4750F21A6_12</vt:lpwstr>
  </property>
</Properties>
</file>