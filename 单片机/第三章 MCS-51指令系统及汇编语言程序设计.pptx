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0"/>
  </p:notesMasterIdLst>
  <p:sldIdLst>
    <p:sldId id="256" r:id="rId2"/>
    <p:sldId id="258" r:id="rId3"/>
    <p:sldId id="395" r:id="rId4"/>
    <p:sldId id="267" r:id="rId5"/>
    <p:sldId id="295" r:id="rId6"/>
    <p:sldId id="293" r:id="rId7"/>
    <p:sldId id="294" r:id="rId8"/>
    <p:sldId id="275" r:id="rId9"/>
    <p:sldId id="296" r:id="rId10"/>
    <p:sldId id="297" r:id="rId11"/>
    <p:sldId id="298" r:id="rId12"/>
    <p:sldId id="299" r:id="rId13"/>
    <p:sldId id="300" r:id="rId14"/>
    <p:sldId id="419" r:id="rId15"/>
    <p:sldId id="394" r:id="rId16"/>
    <p:sldId id="276" r:id="rId17"/>
    <p:sldId id="301" r:id="rId18"/>
    <p:sldId id="420" r:id="rId19"/>
    <p:sldId id="280" r:id="rId20"/>
    <p:sldId id="302" r:id="rId21"/>
    <p:sldId id="443" r:id="rId22"/>
    <p:sldId id="422" r:id="rId23"/>
    <p:sldId id="421" r:id="rId24"/>
    <p:sldId id="281" r:id="rId25"/>
    <p:sldId id="303" r:id="rId26"/>
    <p:sldId id="424" r:id="rId27"/>
    <p:sldId id="282" r:id="rId28"/>
    <p:sldId id="304" r:id="rId29"/>
    <p:sldId id="423" r:id="rId30"/>
    <p:sldId id="283" r:id="rId31"/>
    <p:sldId id="425" r:id="rId32"/>
    <p:sldId id="305" r:id="rId33"/>
    <p:sldId id="306" r:id="rId34"/>
    <p:sldId id="284" r:id="rId35"/>
    <p:sldId id="426" r:id="rId36"/>
    <p:sldId id="285" r:id="rId37"/>
    <p:sldId id="307" r:id="rId38"/>
    <p:sldId id="427" r:id="rId39"/>
    <p:sldId id="438" r:id="rId40"/>
    <p:sldId id="439" r:id="rId41"/>
    <p:sldId id="396" r:id="rId42"/>
    <p:sldId id="442" r:id="rId43"/>
    <p:sldId id="440" r:id="rId44"/>
    <p:sldId id="286" r:id="rId45"/>
    <p:sldId id="435" r:id="rId46"/>
    <p:sldId id="287" r:id="rId47"/>
    <p:sldId id="288" r:id="rId48"/>
    <p:sldId id="289" r:id="rId49"/>
    <p:sldId id="290" r:id="rId50"/>
    <p:sldId id="291" r:id="rId51"/>
    <p:sldId id="292" r:id="rId52"/>
    <p:sldId id="431" r:id="rId53"/>
    <p:sldId id="309" r:id="rId54"/>
    <p:sldId id="310" r:id="rId55"/>
    <p:sldId id="315" r:id="rId56"/>
    <p:sldId id="311" r:id="rId57"/>
    <p:sldId id="316" r:id="rId58"/>
    <p:sldId id="317" r:id="rId59"/>
    <p:sldId id="312" r:id="rId60"/>
    <p:sldId id="318" r:id="rId61"/>
    <p:sldId id="313" r:id="rId62"/>
    <p:sldId id="399" r:id="rId63"/>
    <p:sldId id="400" r:id="rId64"/>
    <p:sldId id="319" r:id="rId65"/>
    <p:sldId id="401" r:id="rId66"/>
    <p:sldId id="320" r:id="rId67"/>
    <p:sldId id="321" r:id="rId68"/>
    <p:sldId id="406" r:id="rId69"/>
    <p:sldId id="407" r:id="rId70"/>
    <p:sldId id="408" r:id="rId71"/>
    <p:sldId id="322" r:id="rId72"/>
    <p:sldId id="324" r:id="rId73"/>
    <p:sldId id="325" r:id="rId74"/>
    <p:sldId id="326" r:id="rId75"/>
    <p:sldId id="327" r:id="rId76"/>
    <p:sldId id="314" r:id="rId77"/>
    <p:sldId id="331" r:id="rId78"/>
    <p:sldId id="405" r:id="rId79"/>
    <p:sldId id="332" r:id="rId80"/>
    <p:sldId id="328" r:id="rId81"/>
    <p:sldId id="336" r:id="rId82"/>
    <p:sldId id="333" r:id="rId83"/>
    <p:sldId id="337" r:id="rId84"/>
    <p:sldId id="402" r:id="rId85"/>
    <p:sldId id="334" r:id="rId86"/>
    <p:sldId id="335" r:id="rId87"/>
    <p:sldId id="338" r:id="rId88"/>
    <p:sldId id="339" r:id="rId89"/>
    <p:sldId id="340" r:id="rId90"/>
    <p:sldId id="341" r:id="rId91"/>
    <p:sldId id="344" r:id="rId92"/>
    <p:sldId id="345" r:id="rId93"/>
    <p:sldId id="403" r:id="rId94"/>
    <p:sldId id="342" r:id="rId95"/>
    <p:sldId id="404" r:id="rId96"/>
    <p:sldId id="343" r:id="rId97"/>
    <p:sldId id="347" r:id="rId98"/>
    <p:sldId id="348" r:id="rId99"/>
    <p:sldId id="349" r:id="rId100"/>
    <p:sldId id="350" r:id="rId101"/>
    <p:sldId id="351" r:id="rId102"/>
    <p:sldId id="409" r:id="rId103"/>
    <p:sldId id="352" r:id="rId104"/>
    <p:sldId id="353" r:id="rId105"/>
    <p:sldId id="410" r:id="rId106"/>
    <p:sldId id="354" r:id="rId107"/>
    <p:sldId id="355" r:id="rId108"/>
    <p:sldId id="356" r:id="rId109"/>
    <p:sldId id="437" r:id="rId110"/>
    <p:sldId id="436" r:id="rId111"/>
    <p:sldId id="357" r:id="rId112"/>
    <p:sldId id="359" r:id="rId113"/>
    <p:sldId id="358" r:id="rId114"/>
    <p:sldId id="360" r:id="rId115"/>
    <p:sldId id="361" r:id="rId116"/>
    <p:sldId id="362" r:id="rId117"/>
    <p:sldId id="363" r:id="rId118"/>
    <p:sldId id="365" r:id="rId119"/>
    <p:sldId id="366" r:id="rId120"/>
    <p:sldId id="411" r:id="rId121"/>
    <p:sldId id="367" r:id="rId122"/>
    <p:sldId id="368" r:id="rId123"/>
    <p:sldId id="412" r:id="rId124"/>
    <p:sldId id="413" r:id="rId125"/>
    <p:sldId id="397" r:id="rId126"/>
    <p:sldId id="432" r:id="rId127"/>
    <p:sldId id="433" r:id="rId128"/>
    <p:sldId id="434" r:id="rId129"/>
    <p:sldId id="369" r:id="rId130"/>
    <p:sldId id="371" r:id="rId131"/>
    <p:sldId id="372" r:id="rId132"/>
    <p:sldId id="376" r:id="rId133"/>
    <p:sldId id="373" r:id="rId134"/>
    <p:sldId id="415" r:id="rId135"/>
    <p:sldId id="414" r:id="rId136"/>
    <p:sldId id="375" r:id="rId137"/>
    <p:sldId id="377" r:id="rId138"/>
    <p:sldId id="398" r:id="rId139"/>
    <p:sldId id="378" r:id="rId140"/>
    <p:sldId id="416" r:id="rId141"/>
    <p:sldId id="417" r:id="rId142"/>
    <p:sldId id="379" r:id="rId143"/>
    <p:sldId id="380" r:id="rId144"/>
    <p:sldId id="418" r:id="rId145"/>
    <p:sldId id="381" r:id="rId146"/>
    <p:sldId id="382" r:id="rId147"/>
    <p:sldId id="428" r:id="rId148"/>
    <p:sldId id="383" r:id="rId149"/>
    <p:sldId id="384" r:id="rId150"/>
    <p:sldId id="385" r:id="rId151"/>
    <p:sldId id="386" r:id="rId152"/>
    <p:sldId id="387" r:id="rId153"/>
    <p:sldId id="391" r:id="rId154"/>
    <p:sldId id="392" r:id="rId155"/>
    <p:sldId id="388" r:id="rId156"/>
    <p:sldId id="429" r:id="rId157"/>
    <p:sldId id="430" r:id="rId158"/>
    <p:sldId id="389" r:id="rId159"/>
  </p:sldIdLst>
  <p:sldSz cx="9144000" cy="6858000" type="screen4x3"/>
  <p:notesSz cx="6858000" cy="9144000"/>
  <p:custDataLst>
    <p:tags r:id="rId16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orient="horz" pos="51" userDrawn="1">
          <p15:clr>
            <a:srgbClr val="A4A3A4"/>
          </p15:clr>
        </p15:guide>
        <p15:guide id="3" orient="horz" pos="4271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pos="2885" userDrawn="1">
          <p15:clr>
            <a:srgbClr val="A4A3A4"/>
          </p15:clr>
        </p15:guide>
        <p15:guide id="6" pos="160" userDrawn="1">
          <p15:clr>
            <a:srgbClr val="A4A3A4"/>
          </p15:clr>
        </p15:guide>
        <p15:guide id="7" pos="5603" userDrawn="1">
          <p15:clr>
            <a:srgbClr val="A4A3A4"/>
          </p15:clr>
        </p15:guide>
        <p15:guide id="8" pos="599" userDrawn="1">
          <p15:clr>
            <a:srgbClr val="A4A3A4"/>
          </p15:clr>
        </p15:guide>
        <p15:guide id="9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567DCB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2" autoAdjust="0"/>
    <p:restoredTop sz="93223" autoAdjust="0"/>
  </p:normalViewPr>
  <p:slideViewPr>
    <p:cSldViewPr snapToGrid="0" showGuides="1">
      <p:cViewPr varScale="1">
        <p:scale>
          <a:sx n="103" d="100"/>
          <a:sy n="103" d="100"/>
        </p:scale>
        <p:origin x="1144" y="56"/>
      </p:cViewPr>
      <p:guideLst>
        <p:guide orient="horz" pos="2205"/>
        <p:guide orient="horz" pos="51"/>
        <p:guide orient="horz" pos="4271"/>
        <p:guide orient="horz" pos="391"/>
        <p:guide pos="2885"/>
        <p:guide pos="160"/>
        <p:guide pos="5603"/>
        <p:guide pos="599"/>
        <p:guide orient="horz" pos="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238B977-6E1D-4012-98BF-D0E9132A762C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DF1482B-270B-4B0E-A1B4-4CDBA977158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12E578-2C6E-43B5-8E7E-B675D60E00E8}" type="slidenum">
              <a:rPr lang="zh-CN" altLang="en-US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7D5D46-45B2-4A27-99B7-E7C3F3191B14}" type="slidenum">
              <a:rPr lang="zh-CN" altLang="en-US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补充：</a:t>
            </a:r>
            <a:r>
              <a:rPr lang="zh-CN" altLang="en-US" b="0" dirty="0"/>
              <a:t>汇编语言、机器语言及高级语言；指令语句和伪指令语句</a:t>
            </a:r>
            <a:r>
              <a:rPr lang="en-US" altLang="zh-CN" b="0" dirty="0"/>
              <a:t>(</a:t>
            </a:r>
            <a:r>
              <a:rPr lang="zh-CN" altLang="en-US" b="0" dirty="0"/>
              <a:t>指示性语句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1C921E-D92E-4BD3-A09C-53435B7F8062}" type="slidenum">
              <a:rPr lang="zh-CN" altLang="en-US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41B5B5-1A8F-4D8E-9B1E-E8AE3C4F2D19}" type="slidenum">
              <a:rPr lang="zh-CN" altLang="en-US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6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3C6CE0-12CA-45DA-B7EC-4460DE58F681}" type="slidenum">
              <a:rPr lang="zh-CN" altLang="en-US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6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9AFB94-5D25-491E-8195-6FEF7164FFDE}" type="slidenum">
              <a:rPr lang="zh-CN" altLang="en-US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A5C6A8-6A80-4F4C-8D64-D4524161FC67}" type="slidenum">
              <a:rPr lang="zh-CN" altLang="en-US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7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NOP;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INC A;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MOV  A,</a:t>
            </a:r>
            <a:r>
              <a:rPr lang="en-US" altLang="zh-CN" baseline="0" dirty="0"/>
              <a:t>  #12H;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baseline="0" dirty="0"/>
              <a:t>CJNE  A,  #data,  </a:t>
            </a:r>
            <a:r>
              <a:rPr lang="en-US" altLang="zh-CN" baseline="0" dirty="0" err="1"/>
              <a:t>rel</a:t>
            </a:r>
            <a:r>
              <a:rPr lang="zh-CN" altLang="en-US" baseline="0" dirty="0"/>
              <a:t>（转移到目的地址，三目操作数）</a:t>
            </a:r>
            <a:endParaRPr lang="zh-CN" altLang="en-US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890BB3-3172-4412-869E-FD58229B8F8B}" type="slidenum">
              <a:rPr lang="zh-CN" altLang="en-US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3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206816-7BB8-4C51-922D-80528E469E55}" type="slidenum">
              <a:rPr lang="zh-CN" altLang="en-US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5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R0</a:t>
            </a:r>
            <a:r>
              <a:rPr lang="zh-CN" altLang="en-US" dirty="0"/>
              <a:t>、</a:t>
            </a:r>
            <a:r>
              <a:rPr lang="en-US" altLang="zh-CN" dirty="0"/>
              <a:t>R1</a:t>
            </a:r>
            <a:r>
              <a:rPr lang="zh-CN" altLang="en-US" dirty="0"/>
              <a:t>可用作间接寻址；</a:t>
            </a:r>
            <a:r>
              <a:rPr lang="en-US" altLang="zh-CN" dirty="0"/>
              <a:t>R0-R7</a:t>
            </a:r>
            <a:r>
              <a:rPr lang="zh-CN" altLang="en-US" dirty="0"/>
              <a:t>用来做寄存器寻址，寻址速度最快。</a:t>
            </a: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21BD0C-DD51-46CE-871F-AEE809988616}" type="slidenum">
              <a:rPr lang="zh-CN" altLang="en-US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502CF7-3C9B-4763-B318-7541B02B33FC}" type="slidenum">
              <a:rPr lang="zh-CN" altLang="en-US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F2AA7D-1411-4C43-B8B6-F5DB824DB463}" type="slidenum">
              <a:rPr lang="zh-CN" altLang="en-US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：指出操作数所在地方的方式。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操作对象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，无论何种指令其操作对象都是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，数据在指令中有两种表示方法，即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数据本身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数据所在地方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5460C0-2F92-490B-B9F5-4E8D14DD581F}" type="slidenum">
              <a:rPr lang="zh-CN" altLang="en-US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4687DF-9840-45E7-988D-B607768FFFF4}" type="slidenum">
              <a:rPr lang="zh-CN" altLang="en-US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F8B16F-CBBD-44B1-8D65-EF5D892E2B5C}" type="slidenum">
              <a:rPr lang="zh-CN" altLang="en-US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91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18D387-FEC8-43D4-AD89-1CFC648C2C02}" type="slidenum">
              <a:rPr lang="zh-CN" altLang="en-US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A26A5C-D86A-4422-80E4-D4265B5A2753}" type="slidenum">
              <a:rPr lang="zh-CN" altLang="en-US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A26A5C-D86A-4422-80E4-D4265B5A2753}" type="slidenum">
              <a:rPr lang="zh-CN" altLang="en-US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885ADB-CA4A-4F9A-99F7-AA37D13C5EA1}" type="slidenum">
              <a:rPr lang="zh-CN" altLang="en-US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A257FB-05ED-453C-B291-422A18CF8C1E}" type="slidenum">
              <a:rPr lang="zh-CN" altLang="en-US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C12B2B-2FFE-4DC8-A22E-F4A64E182222}" type="slidenum">
              <a:rPr lang="zh-CN" altLang="en-US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D89D66-DDE7-4669-AC9E-4B58EFFC8564}" type="slidenum">
              <a:rPr lang="zh-CN" altLang="en-US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14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9CAEEB-875E-4662-A309-E600EC9A592A}" type="slidenum">
              <a:rPr lang="zh-CN" altLang="en-US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34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7BDD07-C9C0-4266-8233-A6CB5DC6F4CC}" type="slidenum">
              <a:rPr lang="zh-CN" altLang="en-US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55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794F4B-5098-4C8A-8264-9579BA0F06AF}" type="slidenum">
              <a:rPr lang="zh-CN" altLang="en-US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75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758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87B56A-A679-4F05-98B5-9016F756DFA3}" type="slidenum">
              <a:rPr lang="zh-CN" altLang="en-US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C8D077-D614-4CE2-AC76-FB853AE677EC}" type="slidenum">
              <a:rPr lang="zh-CN" altLang="en-US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16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68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901AF2E-4CC3-4D74-9005-3FC2C1AC73B1}" type="slidenum">
              <a:rPr lang="zh-CN" altLang="en-US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37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37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677E54-F00E-4F04-9C40-66F984ABD02C}" type="slidenum">
              <a:rPr lang="zh-CN" altLang="en-US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57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MOV  DPTR,  #data</a:t>
            </a:r>
            <a:endParaRPr lang="zh-CN" altLang="en-US" dirty="0"/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9B623F-F2A8-490F-82F4-539D355B2CCE}" type="slidenum">
              <a:rPr lang="zh-CN" altLang="en-US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78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例题中当前</a:t>
            </a:r>
            <a:r>
              <a:rPr lang="en-US" altLang="zh-CN" dirty="0"/>
              <a:t>PC=0102H</a:t>
            </a:r>
            <a:r>
              <a:rPr lang="zh-CN" altLang="en-US" dirty="0"/>
              <a:t>（双字节指令），跳转至</a:t>
            </a:r>
            <a:r>
              <a:rPr lang="en-US" altLang="zh-CN" dirty="0"/>
              <a:t>0102H+0030H=0132H</a:t>
            </a:r>
            <a:r>
              <a:rPr lang="zh-CN" altLang="en-US" dirty="0"/>
              <a:t>。</a:t>
            </a: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2FA23F-AE09-4ED3-B4FC-7FCA3E146CCA}" type="slidenum">
              <a:rPr lang="zh-CN" altLang="en-US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98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b="0" dirty="0"/>
              <a:t>(1) SJMP </a:t>
            </a:r>
            <a:r>
              <a:rPr lang="en-US" altLang="zh-CN" b="0" dirty="0" err="1"/>
              <a:t>rel</a:t>
            </a:r>
            <a:r>
              <a:rPr lang="zh-CN" altLang="en-US" b="0" dirty="0"/>
              <a:t>；</a:t>
            </a:r>
            <a:r>
              <a:rPr lang="en-US" altLang="zh-CN" b="0" dirty="0"/>
              <a:t>(2) CJNE A , direct, </a:t>
            </a:r>
            <a:r>
              <a:rPr lang="en-US" altLang="zh-CN" b="0" dirty="0" err="1"/>
              <a:t>rel</a:t>
            </a:r>
            <a:r>
              <a:rPr lang="zh-CN" altLang="en-US" b="0" dirty="0"/>
              <a:t>；</a:t>
            </a:r>
            <a:r>
              <a:rPr lang="en-US" altLang="zh-CN" b="0" dirty="0"/>
              <a:t>(3) CJNE A , #data, </a:t>
            </a:r>
            <a:r>
              <a:rPr lang="en-US" altLang="zh-CN" b="0" dirty="0" err="1"/>
              <a:t>rel</a:t>
            </a:r>
            <a:r>
              <a:rPr lang="en-US" altLang="zh-CN" b="0" dirty="0"/>
              <a:t> </a:t>
            </a:r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6535D0-AED2-4581-8C31-804934B08081}" type="slidenum">
              <a:rPr lang="zh-CN" altLang="en-US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19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87F0AF-FAD4-4973-BA12-BDFCA71CA11C}" type="slidenum">
              <a:rPr lang="zh-CN" altLang="en-US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39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0AE4F0-326B-406D-A21F-E5F295572A89}" type="slidenum">
              <a:rPr lang="zh-CN" altLang="en-US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3A59F-6209-4639-A654-034DBCD714D1}" type="slidenum">
              <a:rPr lang="zh-CN" altLang="en-US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6EA720-D7D1-4228-B7B0-81DE6A12C161}" type="slidenum">
              <a:rPr lang="zh-CN" altLang="en-US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6EA720-D7D1-4228-B7B0-81DE6A12C161}" type="slidenum">
              <a:rPr lang="zh-CN" altLang="en-US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01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F935F8-D5A6-4225-BBD2-92E6707DF568}" type="slidenum">
              <a:rPr lang="zh-CN" altLang="en-US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41B5B5-1A8F-4D8E-9B1E-E8AE3C4F2D19}" type="slidenum">
              <a:rPr lang="zh-CN" altLang="en-US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21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  PSW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命令一般是在发生中断时，需要保护现场，以便执行完中断后，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</a:t>
            </a:r>
            <a:r>
              <a:rPr lang="en-US" altLang="zh-C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PSW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指令还原现场，从堆栈中取出被保护的数据，恢复程序状态字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（堆栈操作也可以对累加器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或其它寄存器和存储器单元进行操作）。</a:t>
            </a:r>
            <a:endParaRPr lang="zh-CN" altLang="en-US" dirty="0"/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651525-0469-484A-8AD9-C84E43AE847B}" type="slidenum">
              <a:rPr lang="zh-CN" altLang="en-US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42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42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2B7A09-654D-4272-9093-3D194F0331A3}" type="slidenum">
              <a:rPr lang="zh-CN" altLang="en-US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35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4211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3D8A4172-7760-417B-A01D-A3067CD2EA01}" type="slidenum">
              <a:rPr lang="zh-CN" altLang="en-US" sz="1200">
                <a:latin typeface="+mn-lt"/>
                <a:ea typeface="+mn-ea"/>
              </a:rPr>
              <a:t>45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62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62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A6919C-9F7B-4BEA-9BCD-713B691FBEED}" type="slidenum">
              <a:rPr lang="zh-CN" altLang="en-US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83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83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F2E0F9-090C-4E2D-A622-01784C4DA634}" type="slidenum">
              <a:rPr lang="zh-CN" altLang="en-US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03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03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24F1D1-2BC6-44BA-91BC-5F79AD993E49}" type="slidenum">
              <a:rPr lang="zh-CN" altLang="en-US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011524-7D80-4309-A03C-06DDD35ED0BD}" type="slidenum">
              <a:rPr lang="zh-CN" altLang="en-US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4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44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3E65A8-45C0-4A68-B6CA-4CA8956BA96E}" type="slidenum">
              <a:rPr lang="zh-CN" altLang="en-US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64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64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BCB095-1B0E-4B51-BC06-7D7B43863D3D}" type="slidenum">
              <a:rPr lang="zh-CN" altLang="en-US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85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6499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C71D3DAE-49E0-4485-8D5A-F9A7A6B85BC2}" type="slidenum">
              <a:rPr lang="zh-CN" altLang="en-US" sz="1200">
                <a:latin typeface="+mn-lt"/>
                <a:ea typeface="+mn-ea"/>
              </a:rPr>
              <a:t>52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05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累加器</a:t>
            </a:r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工作时最繁忙、最活跃的一个寄存器。</a:t>
            </a:r>
            <a:endParaRPr lang="zh-CN" altLang="en-US" dirty="0"/>
          </a:p>
        </p:txBody>
      </p:sp>
      <p:sp>
        <p:nvSpPr>
          <p:cNvPr id="1085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A54A31B-1A9F-4353-BFCE-6BF6F81ADE86}" type="slidenum">
              <a:rPr lang="zh-CN" altLang="en-US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05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9A63B9-4332-4FD3-8AE6-4EE140C0CBC0}" type="slidenum">
              <a:rPr lang="zh-CN" altLang="en-US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46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BB7BD0-EB92-421D-BFBE-C2CBD2E841A5}" type="slidenum">
              <a:rPr lang="zh-CN" altLang="en-US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67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469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65C1BD-A5B3-41D9-851D-21E7427D6351}" type="slidenum">
              <a:rPr lang="zh-CN" altLang="en-US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87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67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1DCB94-1893-49C1-864C-C1206E23B159}" type="slidenum">
              <a:rPr lang="zh-CN" altLang="en-US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08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878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953D5B-7CC4-4B4B-9554-47B4609FBBE3}" type="slidenum">
              <a:rPr lang="zh-CN" altLang="en-US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28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08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38F1E6-53FC-4642-ABC0-CCDCA1AF5961}" type="slidenum">
              <a:rPr lang="zh-CN" altLang="en-US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88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32543D-9E70-42E2-81BD-57FD88F46230}" type="slidenum">
              <a:rPr lang="zh-CN" altLang="en-US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69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49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AFB61C-D020-433D-870E-4DC51BB47BBF}" type="slidenum">
              <a:rPr lang="zh-CN" altLang="en-US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90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697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293FC8-639D-4EB8-A031-7129F9893929}" type="slidenum">
              <a:rPr lang="zh-CN" altLang="en-US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10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90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C6F633-FAF8-4F73-B0E9-A1B26733C828}" type="slidenum">
              <a:rPr lang="zh-CN" altLang="en-US"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31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10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95210E-2327-477E-8C44-2A89568B6FE2}" type="slidenum">
              <a:rPr lang="zh-CN" altLang="en-US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51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6CDE9D-41FB-43F4-8C46-16D7553A920D}" type="slidenum">
              <a:rPr lang="zh-CN" altLang="en-US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72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51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BA18F3-EDFA-4F90-9174-DDD1671D0EE4}" type="slidenum">
              <a:rPr lang="zh-CN" altLang="en-US"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92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72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A729EF-E91F-423E-BC86-9D9675EAE6EF}" type="slidenum">
              <a:rPr lang="zh-CN" altLang="en-US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13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92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28F751-9B58-46F2-8F85-EFDC8E24AB1C}" type="slidenum">
              <a:rPr lang="zh-CN" altLang="en-US"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3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1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7C82BE-EF0D-4DB5-BD48-2A10B2CF685F}" type="slidenum">
              <a:rPr lang="zh-CN" altLang="en-US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5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3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07CCF7-9CF2-4E1F-9FD9-80C2543B07B5}" type="slidenum">
              <a:rPr lang="zh-CN" altLang="en-US"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74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54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46A654-86EB-4527-A079-A23F41A34C69}" type="slidenum">
              <a:rPr lang="zh-CN" altLang="en-US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9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74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E01FA3-37C7-4FA6-884D-52A63F3C28FF}" type="slidenum">
              <a:rPr lang="zh-CN" altLang="en-US"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1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95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51A3AA-F87D-421B-9FC0-A713D1B9B943}" type="slidenum">
              <a:rPr lang="zh-CN" altLang="en-US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36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15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7547C4-60F9-4C4A-B601-2B5B5A35A2A8}" type="slidenum">
              <a:rPr lang="zh-CN" altLang="en-US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56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4C7E83-B3D4-46B4-9732-3C1BF76226FE}" type="slidenum">
              <a:rPr lang="zh-CN" altLang="en-US"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76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56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864981-25B8-4DEC-99B7-EEF85059690A}" type="slidenum">
              <a:rPr lang="zh-CN" altLang="en-US"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97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76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20FF0B-8940-4956-BAB8-264C27468F3B}" type="slidenum">
              <a:rPr lang="zh-CN" altLang="en-US"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1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97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333065-6803-4552-AB3F-E55DCAC7FDDB}" type="slidenum">
              <a:rPr lang="zh-CN" altLang="en-US"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3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17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954F4A-0512-43F0-BF95-3CD179CDE06C}" type="slidenum">
              <a:rPr lang="zh-CN" altLang="en-US"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58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38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46CAFF-47BC-4CAA-AA87-9153F46DE532}" type="slidenum">
              <a:rPr lang="zh-CN" altLang="en-US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79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589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B5C394-9232-480A-B9A4-47EFDB9F76A4}" type="slidenum">
              <a:rPr lang="zh-CN" altLang="en-US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99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79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0ECF59-3E12-44FE-8087-F79CF5C6363A}" type="slidenum">
              <a:rPr lang="zh-CN" altLang="en-US"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20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998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7C92D3-EC0B-46A3-9408-9169335E16D3}" type="slidenum">
              <a:rPr lang="zh-CN" altLang="en-US"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0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20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E8B983-E90F-47D5-A238-B857B40EBF91}" type="slidenum">
              <a:rPr lang="zh-CN" altLang="en-US"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61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08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5DDB4F-7F51-4708-B1D0-732F22A5A1BD}" type="slidenum">
              <a:rPr lang="zh-CN" altLang="en-US"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81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61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206761-382A-46B3-892E-FC9BD6B582AB}" type="slidenum">
              <a:rPr lang="zh-CN" altLang="en-US"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02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817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8DEA78-C039-4399-87CA-4ED195F0CED5}" type="slidenum">
              <a:rPr lang="zh-CN" altLang="en-US"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22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b="0" dirty="0">
              <a:solidFill>
                <a:srgbClr val="0000FF"/>
              </a:solidFill>
            </a:endParaRPr>
          </a:p>
        </p:txBody>
      </p:sp>
      <p:sp>
        <p:nvSpPr>
          <p:cNvPr id="1802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D6CEE9-E377-4AF2-8648-8A09A61161CB}" type="slidenum">
              <a:rPr lang="zh-CN" altLang="en-US"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22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1EF8B2-FE34-48F6-A7A5-FB5829DAAE3A}" type="slidenum">
              <a:rPr lang="zh-CN" altLang="en-US"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63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43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43F1FC-B110-4788-96F3-CA431F7A8D8D}" type="slidenum">
              <a:rPr lang="zh-CN" altLang="en-US"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84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63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8A7DB5-91FB-4FD6-AD96-CCFDE3FE5CA1}" type="slidenum">
              <a:rPr lang="zh-CN" altLang="en-US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04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84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B7BED9-20F3-419C-8229-F4EE56B83526}" type="slidenum">
              <a:rPr lang="zh-CN" altLang="en-US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25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04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87BA07-C5E6-48D8-A674-1573C3151BC0}" type="slidenum">
              <a:rPr lang="zh-CN" altLang="en-US"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45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25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49EF7A-1F99-4545-A450-20225B1104D0}" type="slidenum">
              <a:rPr lang="zh-CN" altLang="en-US"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66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5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8279A1-689B-4146-9EA0-81482AB24A94}" type="slidenum">
              <a:rPr lang="zh-CN" altLang="en-US"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86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66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571436-0EB2-4A49-93DE-50467681EF32}" type="slidenum">
              <a:rPr lang="zh-CN" altLang="en-US"/>
              <a:t>96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07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86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78A7C9-B999-4D65-8501-D023E0EBE092}" type="slidenum">
              <a:rPr lang="zh-CN" altLang="en-US"/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27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007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ECD21F-46E2-4CA0-BC02-93C36E68C844}" type="slidenum">
              <a:rPr lang="zh-CN" altLang="en-US"/>
              <a:t>98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48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027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DF7996-7C87-4C54-8480-F457F9F87E9C}" type="slidenum">
              <a:rPr lang="zh-CN" altLang="en-US"/>
              <a:t>99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68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048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844C26-6ABD-4364-A1C7-9D452AE4BC11}" type="slidenum">
              <a:rPr lang="zh-CN" altLang="en-US"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88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068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FE8C89-9AFA-4C8E-89C4-E18D1F18BD5D}" type="slidenum">
              <a:rPr lang="zh-CN" altLang="en-US"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09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088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9E8C40-0701-44E4-B085-5D59C120E0C3}" type="slidenum">
              <a:rPr lang="zh-CN" altLang="en-US"/>
              <a:t>102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29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109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77CAF5-6FE7-4DDB-A7DF-BB205FA65E8C}" type="slidenum">
              <a:rPr lang="zh-CN" altLang="en-US"/>
              <a:t>103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50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129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884AD3-3C2A-400C-91C7-EDA469749CC7}" type="slidenum">
              <a:rPr lang="zh-CN" altLang="en-US"/>
              <a:t>104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70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150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A8D5F3-71E8-457D-996B-5BB4B801FB3A}" type="slidenum">
              <a:rPr lang="zh-CN" altLang="en-US"/>
              <a:t>105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91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1709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85022B-9EF1-4AE0-8238-F19DA73EBC62}" type="slidenum">
              <a:rPr lang="zh-CN" altLang="en-US"/>
              <a:t>106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11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b="0" dirty="0"/>
          </a:p>
        </p:txBody>
      </p:sp>
      <p:sp>
        <p:nvSpPr>
          <p:cNvPr id="2191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7F8406D-30FA-4D26-94A5-4C1FF632675E}" type="slidenum">
              <a:rPr lang="zh-CN" altLang="en-US"/>
              <a:t>107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32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118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E7F0D9-D254-44BC-9FEE-BA74AD13F932}" type="slidenum">
              <a:rPr lang="zh-CN" altLang="en-US"/>
              <a:t>108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76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1187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BC4EFF70-4F26-4BB3-A38F-8E71A55DB46D}" type="slidenum">
              <a:rPr lang="zh-CN" altLang="en-US" sz="1200">
                <a:latin typeface="+mn-lt"/>
                <a:ea typeface="+mn-ea"/>
              </a:rPr>
              <a:t>109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56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1187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EF07B513-B9D7-4997-BB45-C6F316391F91}" type="slidenum">
              <a:rPr lang="zh-CN" altLang="en-US" sz="1200">
                <a:latin typeface="+mn-lt"/>
                <a:ea typeface="+mn-ea"/>
              </a:rPr>
              <a:t>110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52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32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A132B6-9371-4361-BA71-7AC7A2B04F05}" type="slidenum">
              <a:rPr lang="zh-CN" altLang="en-US"/>
              <a:t>111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73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528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8494937-26B5-44C6-91FB-F72203E72346}" type="slidenum">
              <a:rPr lang="zh-CN" altLang="en-US"/>
              <a:t>112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93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73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6145B3-4AF9-4F46-B7B1-52F7FFA21046}" type="slidenum">
              <a:rPr lang="zh-CN" altLang="en-US"/>
              <a:t>113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14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937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225579-F860-49A8-A110-1CF9F28BEB0A}" type="slidenum">
              <a:rPr lang="zh-CN" altLang="en-US"/>
              <a:t>114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34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14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57D2FF-9B73-4DA8-B9D3-A952C32591AF}" type="slidenum">
              <a:rPr lang="zh-CN" altLang="en-US"/>
              <a:t>115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55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34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45BCAF-B879-49A9-81C3-0E952F28981C}" type="slidenum">
              <a:rPr lang="zh-CN" altLang="en-US"/>
              <a:t>116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75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55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B148D3-C580-4526-9981-FB93B39D15A9}" type="slidenum">
              <a:rPr lang="zh-CN" altLang="en-US"/>
              <a:t>117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396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75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3FA9B2-7AB8-4EB0-93CC-35BA63D2CFCA}" type="slidenum">
              <a:rPr lang="zh-CN" altLang="en-US"/>
              <a:t>118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16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96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83A353-30BA-42B1-9066-AE10D1A1F58D}" type="slidenum">
              <a:rPr lang="zh-CN" altLang="en-US"/>
              <a:t>119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37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16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96786B-D722-47A4-99AA-410904822292}" type="slidenum">
              <a:rPr lang="zh-CN" altLang="en-US"/>
              <a:t>120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37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74EC16-4ECB-4325-9570-1314E5D104B5}" type="slidenum">
              <a:rPr lang="zh-CN" altLang="en-US"/>
              <a:t>121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78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57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A524BC-7CA3-42E5-80C5-0BA217E7167F}" type="slidenum">
              <a:rPr lang="zh-CN" altLang="en-US"/>
              <a:t>122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98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78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179DC9-35CF-4F0F-8BC4-270C1CE0F00F}" type="slidenum">
              <a:rPr lang="zh-CN" altLang="en-US"/>
              <a:t>123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19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98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65AA3D-8D91-40BE-8BB7-4B18DAAF1191}" type="slidenum">
              <a:rPr lang="zh-CN" altLang="en-US"/>
              <a:t>124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49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1907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8806C30E-100F-43BB-ACD7-3ADF9C7D30F8}" type="slidenum">
              <a:rPr lang="zh-CN" altLang="en-US" sz="1200">
                <a:latin typeface="+mn-lt"/>
                <a:ea typeface="+mn-ea"/>
              </a:rPr>
              <a:t>126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70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3955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815EB6F6-CCBB-4DDF-88A0-219D1282E8B5}" type="slidenum">
              <a:rPr lang="zh-CN" altLang="en-US" sz="1200">
                <a:latin typeface="+mn-lt"/>
                <a:ea typeface="+mn-ea"/>
              </a:rPr>
              <a:t>127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590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3955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</a:ln>
        </p:spPr>
        <p:txBody>
          <a:bodyPr anchor="b"/>
          <a:lstStyle/>
          <a:p>
            <a:pPr algn="r">
              <a:defRPr/>
            </a:pPr>
            <a:fld id="{846DFE7C-4998-410A-9F8B-31C3265ADBD5}" type="slidenum">
              <a:rPr lang="zh-CN" altLang="en-US" sz="1200">
                <a:latin typeface="+mn-lt"/>
                <a:ea typeface="+mn-ea"/>
              </a:rPr>
              <a:t>128</a:t>
            </a:fld>
            <a:endParaRPr lang="en-US" altLang="zh-CN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11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70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017C95-4ECD-4F2C-A78D-2B77497BBD3F}" type="slidenum">
              <a:rPr lang="zh-CN" altLang="en-US"/>
              <a:t>129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31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90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22662B-C51B-4AD4-B47F-D290EC67A8CE}" type="slidenum">
              <a:rPr lang="zh-CN" altLang="en-US"/>
              <a:t>130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52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611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5EEC57-2271-4A43-BB7D-372955589B82}" type="slidenum">
              <a:rPr lang="zh-CN" altLang="en-US"/>
              <a:t>131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72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631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92111F-1C6C-4289-A51E-B012EE9C5013}" type="slidenum">
              <a:rPr lang="zh-CN" altLang="en-US"/>
              <a:t>132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93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652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A8A2BCC-A453-4BA1-88D6-47FB8E81821C}" type="slidenum">
              <a:rPr lang="zh-CN" altLang="en-US"/>
              <a:t>133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3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693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C9D7EE-2FE4-4F28-8838-145BFD9A136D}" type="slidenum">
              <a:rPr lang="zh-CN" altLang="en-US"/>
              <a:t>134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54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13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B52AC2-FE1C-416D-AA7B-AEFCBB2942E4}" type="slidenum">
              <a:rPr lang="zh-CN" altLang="en-US"/>
              <a:t>135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7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34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29481D-96A0-4372-8990-C0C1773169AF}" type="slidenum">
              <a:rPr lang="zh-CN" altLang="en-US"/>
              <a:t>136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9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54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5BAE1C-4867-4622-8B3C-C9528AE48356}" type="slidenum">
              <a:rPr lang="zh-CN" altLang="en-US"/>
              <a:t>137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82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785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57C4FB-4190-4AB1-B01F-6A0624199129}" type="slidenum">
              <a:rPr lang="zh-CN" altLang="en-US"/>
              <a:t>139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846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057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94C1B0-B619-4603-8791-0BBCACB3FC72}" type="slidenum">
              <a:rPr lang="zh-CN" altLang="en-US"/>
              <a:t>140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867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26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9D45E5-D8E2-44CE-A44E-FC2DD0F8AF5C}" type="slidenum">
              <a:rPr lang="zh-CN" altLang="en-US"/>
              <a:t>141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6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887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467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B30564-F301-4E0F-8124-F778B182AF4F}" type="slidenum">
              <a:rPr lang="zh-CN" altLang="en-US"/>
              <a:t>142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08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672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78043A-88A4-43BE-A5E2-EDE6EE0E0479}" type="slidenum">
              <a:rPr lang="zh-CN" altLang="en-US"/>
              <a:t>143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28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877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8BCE0F-6D16-45B1-AAA4-B13191479DE2}" type="slidenum">
              <a:rPr lang="zh-CN" altLang="en-US"/>
              <a:t>144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081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A9F5DA-C66C-4367-9DA7-AB273C610EAB}" type="slidenum">
              <a:rPr lang="zh-CN" altLang="en-US"/>
              <a:t>145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6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286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95828E-E6C5-4C6D-BC8B-68DC0CC815DB}" type="slidenum">
              <a:rPr lang="zh-CN" altLang="en-US"/>
              <a:t>146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99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BF64B6-D2DB-46B3-ADD2-697B3E9E74B9}" type="slidenum">
              <a:rPr lang="zh-CN" altLang="en-US"/>
              <a:t>147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10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696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34D52B-64ED-4C3B-8A6E-34B6AD6B9BF9}" type="slidenum">
              <a:rPr lang="zh-CN" altLang="en-US"/>
              <a:t>148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31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90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C2D3CA-C147-47C4-A9BC-8806524FCEBB}" type="slidenum">
              <a:rPr lang="zh-CN" altLang="en-US"/>
              <a:t>149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51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105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11919D-715A-4F74-A333-2B9EA881818B}" type="slidenum">
              <a:rPr lang="zh-CN" altLang="en-US"/>
              <a:t>150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7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310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B9AAEB-1B3A-40C0-9E93-D1D8ED735C59}" type="slidenum">
              <a:rPr lang="zh-CN" altLang="en-US"/>
              <a:t>151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92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515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46D175-49EF-48E8-9BC6-F43B7FDE58A5}" type="slidenum">
              <a:rPr lang="zh-CN" altLang="en-US"/>
              <a:t>152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12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720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69B8A5-2CB5-42F9-B733-63E026021CCF}" type="slidenum">
              <a:rPr lang="zh-CN" altLang="en-US"/>
              <a:t>153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3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925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3854CC-A99E-4C52-8BA6-B12C0C9764F4}" type="slidenum">
              <a:rPr lang="zh-CN" altLang="en-US"/>
              <a:t>154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53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12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22BDD2-A560-4B3E-91AC-C3BCD7EFCDBF}" type="slidenum">
              <a:rPr lang="zh-CN" altLang="en-US"/>
              <a:t>155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74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334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5E89EF-EC15-4DA1-8038-56802AC686EA}" type="slidenum">
              <a:rPr lang="zh-CN" altLang="en-US"/>
              <a:t>156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194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539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AE6882-CF8E-48B5-8993-81D27AD71E43}" type="slidenum">
              <a:rPr lang="zh-CN" altLang="en-US"/>
              <a:t>157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15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234BB2-C5F0-4488-A56B-D43B68F83DFF}" type="slidenum">
              <a:rPr lang="zh-CN" altLang="en-US"/>
              <a:t>158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10DCE-A448-4D3B-A600-B412B714F94D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E88D0-B6D7-4064-B515-ECE25E9F938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CAFF0-B71E-483C-A4CA-F41E92DA04CF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67D53-3734-4E2B-B282-394A3FDFAF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4E7E8-0ABA-407B-9E80-0CA01E2A9395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6B47C-2367-4096-A88B-3D0EA637669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55EF6-3284-4E8C-A491-A9F6C23EFFAA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EC0B2-B409-430F-86F0-C6ABDB1D607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37CAA-0A03-40F4-980A-194F1EAA16ED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5DD82-D651-40CE-90C2-B3BBBB0E7E3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091C5-61E5-4152-A7B0-E6F51BB68E1C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D3028-44A9-4C9E-A0E8-C90ED57CD3F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FBCC2-C9DE-41C4-B584-36D7F8AED89C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1CEA0-2B2D-478A-913B-3D5E1B43E0C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06456-E177-4378-9EA1-0D8E82113DAD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F706F-B854-49EE-B0BB-BB2C276A178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B72C7-6A52-49DC-B825-B01826FAA188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976E8-3111-4577-B9C0-E4540B15B7C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DBF39-F074-4DF1-ABA8-ED4726996357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558B0-E2D3-4482-82F2-748C152350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8384-DEE2-4483-8AC9-E99429282640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5821F-6457-4FD8-B360-B7200F1EEA6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BFB6331-FE1F-4BFE-879A-C4EDDAF19541}" type="datetimeFigureOut">
              <a:rPr lang="zh-CN" altLang="en-US"/>
              <a:t>2026/1/19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E731C7D-0C3C-46BF-B1E1-9D67BFE5750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tiff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5"/>
          <p:cNvSpPr txBox="1">
            <a:spLocks noChangeArrowheads="1"/>
          </p:cNvSpPr>
          <p:nvPr/>
        </p:nvSpPr>
        <p:spPr bwMode="auto">
          <a:xfrm>
            <a:off x="971550" y="2389188"/>
            <a:ext cx="7921625" cy="35086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4338" name="文本框 6"/>
          <p:cNvSpPr txBox="1">
            <a:spLocks noChangeArrowheads="1"/>
          </p:cNvSpPr>
          <p:nvPr/>
        </p:nvSpPr>
        <p:spPr bwMode="auto">
          <a:xfrm>
            <a:off x="268288" y="744538"/>
            <a:ext cx="8624887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MCS-51指令系统及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</a:t>
            </a:r>
          </a:p>
        </p:txBody>
      </p:sp>
      <p:pic>
        <p:nvPicPr>
          <p:cNvPr id="1433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1"/>
          <p:cNvSpPr txBox="1">
            <a:spLocks noChangeArrowheads="1"/>
          </p:cNvSpPr>
          <p:nvPr/>
        </p:nvSpPr>
        <p:spPr bwMode="auto">
          <a:xfrm>
            <a:off x="971550" y="2276475"/>
            <a:ext cx="7921625" cy="32778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指令系统的分类、格式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对操作数的要求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指令系统的数据传送、算术运算、逻辑运算、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控制转移、布尔运算等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指令的功能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指令系统中各指令对寄存器资源的占用情况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6" name="文本框 3"/>
          <p:cNvSpPr txBox="1">
            <a:spLocks noChangeArrowheads="1"/>
          </p:cNvSpPr>
          <p:nvPr/>
        </p:nvSpPr>
        <p:spPr bwMode="auto">
          <a:xfrm>
            <a:off x="268288" y="744538"/>
            <a:ext cx="8624887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MCS-51指令系统及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</a:t>
            </a:r>
          </a:p>
        </p:txBody>
      </p:sp>
      <p:pic>
        <p:nvPicPr>
          <p:cNvPr id="16387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2006600"/>
            <a:ext cx="792162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7410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计算机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单片机如何完成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的任务？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什么是指令、程序及指令系统？三者间的关系？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计算机通过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完成指定的任务，计算机的全部操作都是执行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的结果；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是计算机所能识别的一条条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所能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直接执行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的所有指令的集合；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是由其</a:t>
            </a:r>
            <a:r>
              <a:rPr lang="zh-CN" altLang="en-US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体现。任何计算机语言编写的程序都必须转换为指令系统中相应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指令代码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的有序集合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才能直接执行。</a:t>
            </a:r>
          </a:p>
        </p:txBody>
      </p:sp>
      <p:sp>
        <p:nvSpPr>
          <p:cNvPr id="184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184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规定计算机进行某种操作的命令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一条指令仅能完成一种操作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指令、伪指令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指令语句、指示性语句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计算机按要求执行各种操作所编写的</a:t>
            </a:r>
            <a:r>
              <a:rPr lang="zh-CN" altLang="en-US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指令序列</a:t>
            </a:r>
            <a:endParaRPr lang="en-US" altLang="zh-CN" sz="2400" u="sng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机器码语言：</a:t>
            </a:r>
            <a:r>
              <a:rPr lang="en-US" altLang="zh-CN" sz="20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14H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汇编语言：    </a:t>
            </a:r>
            <a:r>
              <a:rPr lang="en-US" altLang="zh-CN" sz="20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</a:t>
            </a:r>
            <a:r>
              <a:rPr lang="zh-CN" altLang="en-US" sz="20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#20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程序、汇编、反汇编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(U)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C++……)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04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216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精简指令集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中共有</a:t>
            </a:r>
            <a:r>
              <a:rPr lang="en-US" altLang="zh-CN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指令，其分类如下：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指令所占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条单字节指令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条双字节指令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条三字节指令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zh-CN" altLang="en-US" sz="22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编译后所占字节长度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(12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个振荡周期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条指令的执行时间为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条指令的执行时间为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指令功能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分类，可分为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(29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(24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逻辑运算及移位类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(24 )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(17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(17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25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4074227" y="5832689"/>
            <a:ext cx="4818948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精简指令集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(RISC)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、复杂指令集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(CISC)</a:t>
            </a:r>
          </a:p>
          <a:p>
            <a:pPr marL="342900" indent="-342900">
              <a:buClr>
                <a:srgbClr val="C00000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“二八定律”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单片机指令系统的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执行时间快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单周期、双周期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指令短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，约有一半指令为单字节指令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单字节、双字节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用一条指令即可实现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个单字节的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相乘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具有丰富的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可直接用传送指令实现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的输入输出操作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457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169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指令系统中指令有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两级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直接识别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并执行的机器语言指令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汇编语言指令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简称汇编指令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机器语言指令是计算机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能识别的指令，在设计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时由其硬件定义。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指令由二进制数“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编码组成，也称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执行速度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最快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。但使用时繁琐费时，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不易阅读和记忆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，对用户而言一般不采用机器语言编写程序。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汇编语言指令是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符号化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的机器语言。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一条汇编语言指令必须有一条相应的机器语言指令。汇编语言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指令易读、便于记忆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。对于汇编语言所编写的程序，必须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成机器语言的目标代码，即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662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0914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汇编语言指令格式由以下几个部分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]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中的项表示可选项。 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标号：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符号，一般是由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个字符组成，以字母开头的字母数字串，与操作码之间用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冒号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分开。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操作码：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助记符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表示指令的操作功能，决定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执行何种操作。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操作码是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指令的核心，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不可缺少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，其他几项根据指令不同为可选项。 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操作数：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参加操作的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或数据的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注释：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指令功能说明，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以便于阅读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867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8936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汇编语言指令格式由以下几个部分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指令系统中，操作数的作用也不同。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例如，传送类指令为两个操作数，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表示操作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存储器单元地址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表示操作数的来源。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操作码与操作数之间必须用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分隔，操作数与操作数之间必须用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半角字符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依据指令功能不同，</a:t>
            </a:r>
            <a:r>
              <a:rPr lang="zh-CN" altLang="en-US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4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3072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标注 1"/>
          <p:cNvSpPr/>
          <p:nvPr/>
        </p:nvSpPr>
        <p:spPr>
          <a:xfrm>
            <a:off x="254000" y="5770880"/>
            <a:ext cx="8639175" cy="607378"/>
          </a:xfrm>
          <a:prstGeom prst="wedgeRectCallout">
            <a:avLst>
              <a:gd name="adj1" fmla="val 34407"/>
              <a:gd name="adj2" fmla="val -10329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NOP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   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A,  #12H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CJNE  A,  #data,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（转移到目的地址，三目操作数）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55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单片机指令系统共有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指令，按指令功能分为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五大类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：片内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、片外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、程序存储器传送指令、交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换及堆栈指令。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：加法、带进位加、减、乘、除、加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、减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：逻辑与、逻辑或、逻辑异或、移位指令。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控制程序转移类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：无条件转移与调用、条件转移、空操作指令。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布尔变量操作类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：位数据传送、位与、位或、位转移指令。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7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3277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3481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7246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指令的分类及符号说明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符号说明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#data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(data)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表示后面数据是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#data16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位立即数。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：表示８位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内部数据存储器单元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RAM: 00H-7FH, SFR: 80H-FFH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，表示当前选中的寄存器区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个工作寄存器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，表示当前选中的寄存器区中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个寄存器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，可作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地址指针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Addr11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：表示一个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形式的８位带符号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和条件转移指令中。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169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指令的分类及符号说明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符号说明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数据指针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，可用作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或专用寄存器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可按位寻址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中的直接寻址位。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：位操作数的前缀，表示对该位操作数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的助记符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乘除指令中操作数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，其它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指令中操作数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标志位，也可作为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布尔处理机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的前缀。 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当前指令的首地址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←：表示将箭头右边的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传送至箭头的左边。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6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3686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55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指令的分类及符号说明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符号说明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①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为任意一个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寄存器的内容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时表示该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(A)+1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(Rn)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②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为任意一个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((X))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所指向的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存储单元的内容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))+1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指向存储单元的内容加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后再送到该单元中；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③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对于直接地址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时表示该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地址单元的内容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时表示该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(direct)+1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单元的内容加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后送给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</a:p>
        </p:txBody>
      </p:sp>
      <p:sp>
        <p:nvSpPr>
          <p:cNvPr id="3891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3891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2006600"/>
            <a:ext cx="792162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40962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047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：寻找或获得操作数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指令中操作数必须通过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指定参与运算的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或操作数所在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寄存器、存储器、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寻址方式越多样，计算机的功能越强，灵活性越大。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指令系统的寻址方式有以下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立即寻址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变址寻址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变址寄存器间接寻址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相对寻址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</a:t>
            </a:r>
          </a:p>
        </p:txBody>
      </p:sp>
      <p:sp>
        <p:nvSpPr>
          <p:cNvPr id="4198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4198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标注 6"/>
          <p:cNvSpPr/>
          <p:nvPr/>
        </p:nvSpPr>
        <p:spPr>
          <a:xfrm>
            <a:off x="5918027" y="2815151"/>
            <a:ext cx="2976736" cy="2728519"/>
          </a:xfrm>
          <a:prstGeom prst="wedgeRectCallout">
            <a:avLst>
              <a:gd name="adj1" fmla="val -69935"/>
              <a:gd name="adj2" fmla="val -4530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微处理器寻址方式：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立即数寻址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寄存器相对寻址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基址变址寻址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相对基址变址寻址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1460" y="5889985"/>
            <a:ext cx="8018542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含义；② 功能、特点、识别方法；③ 格式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对操作数的要求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7246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立即寻址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(Immediate Addressing)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立即寻址中，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操作数直接出现在指令中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。操作数前加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号表示，也称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。指令的操作数可以是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数，可实现对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等寄存器赋值。立即数仅可作为</a:t>
            </a:r>
            <a:r>
              <a:rPr lang="zh-CN" altLang="en-US" sz="20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例如：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MOV    A,      #26H      ; A←26H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，指令执行结果：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(A)=26H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，即将立即数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送至累加器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MOV  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#64H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64H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ADD   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#05H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A←(A)+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05H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MOV    DPTR,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＃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DFFFH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DFH→DPH,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FFH→DPL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立即寻址中，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立即数作为指令的一部分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同指令一起放在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立即数在目标代码中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4035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44036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419100" y="3313113"/>
            <a:ext cx="1766888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46084" name="Text Box 6"/>
          <p:cNvSpPr txBox="1">
            <a:spLocks noChangeArrowheads="1"/>
          </p:cNvSpPr>
          <p:nvPr/>
        </p:nvSpPr>
        <p:spPr bwMode="auto">
          <a:xfrm>
            <a:off x="431800" y="4429125"/>
            <a:ext cx="1800225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grpSp>
        <p:nvGrpSpPr>
          <p:cNvPr id="46101" name="Group 21"/>
          <p:cNvGrpSpPr/>
          <p:nvPr/>
        </p:nvGrpSpPr>
        <p:grpSpPr bwMode="auto">
          <a:xfrm>
            <a:off x="2870200" y="4429125"/>
            <a:ext cx="2959100" cy="1241425"/>
            <a:chOff x="1808" y="2790"/>
            <a:chExt cx="1440" cy="782"/>
          </a:xfrm>
        </p:grpSpPr>
        <p:sp>
          <p:nvSpPr>
            <p:cNvPr id="46096" name="Rectangle 8"/>
            <p:cNvSpPr>
              <a:spLocks noChangeArrowheads="1"/>
            </p:cNvSpPr>
            <p:nvPr/>
          </p:nvSpPr>
          <p:spPr bwMode="auto">
            <a:xfrm>
              <a:off x="1808" y="2790"/>
              <a:ext cx="1440" cy="672"/>
            </a:xfrm>
            <a:prstGeom prst="rect">
              <a:avLst/>
            </a:prstGeom>
            <a:gradFill rotWithShape="0">
              <a:gsLst>
                <a:gs pos="0">
                  <a:srgbClr val="99995C"/>
                </a:gs>
                <a:gs pos="50000">
                  <a:srgbClr val="FFFF99"/>
                </a:gs>
                <a:gs pos="100000">
                  <a:srgbClr val="99995C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097" name="Line 9"/>
            <p:cNvSpPr>
              <a:spLocks noChangeShapeType="1"/>
            </p:cNvSpPr>
            <p:nvPr/>
          </p:nvSpPr>
          <p:spPr bwMode="auto">
            <a:xfrm>
              <a:off x="1808" y="3126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Text Box 10"/>
            <p:cNvSpPr txBox="1">
              <a:spLocks noChangeArrowheads="1"/>
            </p:cNvSpPr>
            <p:nvPr/>
          </p:nvSpPr>
          <p:spPr bwMode="auto">
            <a:xfrm>
              <a:off x="2048" y="2790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46099" name="Text Box 11"/>
            <p:cNvSpPr txBox="1">
              <a:spLocks noChangeArrowheads="1"/>
            </p:cNvSpPr>
            <p:nvPr/>
          </p:nvSpPr>
          <p:spPr bwMode="auto">
            <a:xfrm>
              <a:off x="1847" y="3126"/>
              <a:ext cx="1384" cy="4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源操作数为立即数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9" name="Rectangle 12"/>
          <p:cNvSpPr>
            <a:spLocks noChangeArrowheads="1"/>
          </p:cNvSpPr>
          <p:nvPr/>
        </p:nvSpPr>
        <p:spPr bwMode="auto">
          <a:xfrm>
            <a:off x="2609850" y="3327400"/>
            <a:ext cx="35893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rgbClr val="CC00CC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程序存储器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(ROM)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2590800" y="1841500"/>
            <a:ext cx="6096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rgbClr val="CC00CC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指令的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存放在程序存储器中</a:t>
            </a:r>
          </a:p>
        </p:txBody>
      </p:sp>
      <p:sp>
        <p:nvSpPr>
          <p:cNvPr id="111" name="Text Box 14"/>
          <p:cNvSpPr txBox="1">
            <a:spLocks noChangeArrowheads="1"/>
          </p:cNvSpPr>
          <p:nvPr/>
        </p:nvSpPr>
        <p:spPr bwMode="auto">
          <a:xfrm>
            <a:off x="2590800" y="2554288"/>
            <a:ext cx="46482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rgbClr val="CC00CC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操作数紧跟操作码后面</a:t>
            </a:r>
          </a:p>
        </p:txBody>
      </p:sp>
      <p:sp>
        <p:nvSpPr>
          <p:cNvPr id="46089" name="Rectangle 15"/>
          <p:cNvSpPr>
            <a:spLocks noChangeArrowheads="1"/>
          </p:cNvSpPr>
          <p:nvPr/>
        </p:nvSpPr>
        <p:spPr bwMode="auto">
          <a:xfrm>
            <a:off x="457200" y="1882775"/>
            <a:ext cx="1809750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立即寻址：</a:t>
            </a:r>
          </a:p>
        </p:txBody>
      </p:sp>
      <p:sp>
        <p:nvSpPr>
          <p:cNvPr id="114" name="Text Box 20"/>
          <p:cNvSpPr txBox="1">
            <a:spLocks noChangeArrowheads="1"/>
          </p:cNvSpPr>
          <p:nvPr/>
        </p:nvSpPr>
        <p:spPr bwMode="auto">
          <a:xfrm>
            <a:off x="6311900" y="4603750"/>
            <a:ext cx="1346200" cy="812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#data</a:t>
            </a:r>
          </a:p>
        </p:txBody>
      </p:sp>
      <p:sp>
        <p:nvSpPr>
          <p:cNvPr id="115" name="Line 21"/>
          <p:cNvSpPr>
            <a:spLocks noChangeShapeType="1"/>
          </p:cNvSpPr>
          <p:nvPr/>
        </p:nvSpPr>
        <p:spPr bwMode="auto">
          <a:xfrm flipH="1">
            <a:off x="5905500" y="4721225"/>
            <a:ext cx="40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Line 22"/>
          <p:cNvSpPr>
            <a:spLocks noChangeShapeType="1"/>
          </p:cNvSpPr>
          <p:nvPr/>
        </p:nvSpPr>
        <p:spPr bwMode="auto">
          <a:xfrm flipH="1">
            <a:off x="5905500" y="5216525"/>
            <a:ext cx="40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6093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95" name="图片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矩形 20"/>
          <p:cNvSpPr/>
          <p:nvPr/>
        </p:nvSpPr>
        <p:spPr>
          <a:xfrm>
            <a:off x="268289" y="5671107"/>
            <a:ext cx="8624886" cy="6463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A,    #10H;          MOV   R0,  #20H;          MOV   SP,   #60H;        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MOV   DPTR,  #2500H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/>
      <p:bldP spid="111" grpId="0"/>
      <p:bldP spid="114" grpId="0"/>
      <p:bldP spid="115" grpId="0" animBg="1"/>
      <p:bldP spid="116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215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Direct Addressing)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直接寻址中，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操作数的单元地址直接出现在指令中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；该类寻址方式可进行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的访问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写操作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eaLnBrk="1" latinLnBrk="0" hangingPunct="1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寻址空间包括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en-US" altLang="zh-CN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特殊功能寄存器地址空间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指令中显式给出直接地址，访问空间仅在内部</a:t>
            </a:r>
            <a:r>
              <a:rPr lang="en-US" altLang="zh-CN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 algn="just" eaLnBrk="1" latinLnBrk="0" hangingPunct="1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0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至少为双字节指令</a:t>
            </a:r>
          </a:p>
          <a:p>
            <a:pPr marL="342900" indent="-342900" algn="just">
              <a:lnSpc>
                <a:spcPct val="200000"/>
              </a:lnSpc>
              <a:spcBef>
                <a:spcPts val="5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</a:p>
          <a:p>
            <a:pPr lvl="1" algn="just">
              <a:lnSpc>
                <a:spcPct val="13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例如：</a:t>
            </a:r>
          </a:p>
          <a:p>
            <a:pPr marL="0" lvl="1" algn="just" eaLnBrk="1" latinLnBrk="0" hangingPunct="1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MOV  A,  76H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A←(76H)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单元的内容传送给累加器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0" lvl="1" algn="just" eaLnBrk="1" latinLnBrk="0" hangingPunct="1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ADD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A←A+(43H)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的内容与内部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单元的内容相加的和传送给累加器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1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48132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3289300" y="3300413"/>
            <a:ext cx="4397375" cy="400050"/>
          </a:xfrm>
          <a:prstGeom prst="wedgeRectCallout">
            <a:avLst>
              <a:gd name="adj1" fmla="val -59887"/>
              <a:gd name="adj2" fmla="val 4281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操作数的直接地址出现在机器码中。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892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地址空间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在指令中使用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符号表示数据的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存储地址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eaLnBrk="1" latinLnBrk="0" hangingPunct="1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可访问特殊功能寄存器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(SFR)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的寻址方式。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TCON,   ACC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；源操作数直接寻址，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TCON←(ACC)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TCON,   A 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；源操作数寄存器寻址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TCON←(A)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；源操作数直接寻址，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A←(P1)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 A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85H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非法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，不能对未定义的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地址单元操作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50183" name="图片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7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16076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特殊功能寄存器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地址空间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单片机中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：访问特殊功能寄存器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只能采用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方式。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666457" y="2722180"/>
            <a:ext cx="1182687" cy="1392237"/>
            <a:chOff x="5072063" y="4748213"/>
            <a:chExt cx="1182687" cy="1392237"/>
          </a:xfrm>
        </p:grpSpPr>
        <p:sp>
          <p:nvSpPr>
            <p:cNvPr id="7" name="AutoShape 5"/>
            <p:cNvSpPr/>
            <p:nvPr/>
          </p:nvSpPr>
          <p:spPr bwMode="auto">
            <a:xfrm>
              <a:off x="5072063" y="4748213"/>
              <a:ext cx="288925" cy="620712"/>
            </a:xfrm>
            <a:prstGeom prst="rightBrace">
              <a:avLst>
                <a:gd name="adj1" fmla="val 22896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/>
              <a:endParaRPr kumimoji="1" lang="zh-CN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AutoShape 5"/>
            <p:cNvSpPr/>
            <p:nvPr/>
          </p:nvSpPr>
          <p:spPr bwMode="auto">
            <a:xfrm>
              <a:off x="5072063" y="5545138"/>
              <a:ext cx="288925" cy="595312"/>
            </a:xfrm>
            <a:prstGeom prst="rightBrace">
              <a:avLst>
                <a:gd name="adj1" fmla="val 22865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/>
              <a:endParaRPr kumimoji="1" lang="zh-CN" altLang="zh-CN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5465763" y="4859338"/>
              <a:ext cx="788987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等效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5465763" y="5643563"/>
              <a:ext cx="788987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等效</a:t>
              </a:r>
            </a:p>
          </p:txBody>
        </p:sp>
      </p:grpSp>
      <p:pic>
        <p:nvPicPr>
          <p:cNvPr id="50183" name="图片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标注 1"/>
          <p:cNvSpPr/>
          <p:nvPr/>
        </p:nvSpPr>
        <p:spPr>
          <a:xfrm>
            <a:off x="952502" y="4599216"/>
            <a:ext cx="7942261" cy="1790527"/>
          </a:xfrm>
          <a:prstGeom prst="wedgeRectCallout">
            <a:avLst>
              <a:gd name="adj1" fmla="val -54468"/>
              <a:gd name="adj2" fmla="val -3285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    AB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；专用寄存器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为寄存器寻址，机器码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，单字节，四机器周期指令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     AB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；机器码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，单字节，四机器周期指令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  direct  ;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堆栈指针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为寄存器间接寻址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隐含寻址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    direct  ;</a:t>
            </a:r>
            <a:endParaRPr lang="en-US" altLang="zh-CN" sz="1400" dirty="0"/>
          </a:p>
          <a:p>
            <a:pPr algn="just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8086 CPU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  r8/m8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；无符号字节乘法：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AX←AL×r8/m8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    r8/m8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；无符号字节除法：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AH←AX÷r8/m8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8287" y="2309374"/>
            <a:ext cx="8636000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3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pPr lvl="1"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A,     SP        ;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←(SP)          </a:t>
            </a:r>
          </a:p>
          <a:p>
            <a:pPr lvl="1"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A,     81H     ;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←(SP) </a:t>
            </a:r>
          </a:p>
          <a:p>
            <a:pPr lvl="1"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P1,    #5AH  ;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P1←(#5AH)</a:t>
            </a:r>
          </a:p>
          <a:p>
            <a:pPr lvl="1"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90H, #5AH  ;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P1←(#5AH)           </a:t>
            </a:r>
          </a:p>
          <a:p>
            <a:pPr lvl="1"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30H    ; B ←(30H)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仅在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乘、除法中为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，其余为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7708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规定访问特殊功能寄存器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只能采用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方式的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分布在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80H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范围内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系列单片机有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字节的片内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，其中的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80H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所占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地址重叠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：该范围内的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只能用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只能用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方式，从而解决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地址冲突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的问题。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对于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系列单片机片内高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 RAM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，其寻址方式采用</a:t>
            </a:r>
            <a:r>
              <a:rPr lang="zh-CN" altLang="en-US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2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MOV   R0,     #90H   ; 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指向高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 RAM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MOV   A,       @R0    ; 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间址寻址方式读取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MOV   @R0,  A         ; 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间址寻址方式写入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5222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81000" y="2894013"/>
            <a:ext cx="1741488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1000" y="4119563"/>
            <a:ext cx="1741488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grpSp>
        <p:nvGrpSpPr>
          <p:cNvPr id="13" name="Group 45"/>
          <p:cNvGrpSpPr/>
          <p:nvPr/>
        </p:nvGrpSpPr>
        <p:grpSpPr bwMode="auto">
          <a:xfrm>
            <a:off x="933450" y="5040313"/>
            <a:ext cx="1965614" cy="799041"/>
            <a:chOff x="288" y="3120"/>
            <a:chExt cx="1440" cy="672"/>
          </a:xfrm>
        </p:grpSpPr>
        <p:sp>
          <p:nvSpPr>
            <p:cNvPr id="54301" name="Rectangle 6"/>
            <p:cNvSpPr>
              <a:spLocks noChangeArrowheads="1"/>
            </p:cNvSpPr>
            <p:nvPr/>
          </p:nvSpPr>
          <p:spPr bwMode="auto">
            <a:xfrm>
              <a:off x="288" y="3120"/>
              <a:ext cx="1440" cy="672"/>
            </a:xfrm>
            <a:prstGeom prst="rect">
              <a:avLst/>
            </a:prstGeom>
            <a:gradFill rotWithShape="0">
              <a:gsLst>
                <a:gs pos="0">
                  <a:srgbClr val="6D8888"/>
                </a:gs>
                <a:gs pos="50000">
                  <a:srgbClr val="CCFFFF"/>
                </a:gs>
                <a:gs pos="100000">
                  <a:srgbClr val="6D8888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302" name="Line 7"/>
            <p:cNvSpPr>
              <a:spLocks noChangeShapeType="1"/>
            </p:cNvSpPr>
            <p:nvPr/>
          </p:nvSpPr>
          <p:spPr bwMode="auto">
            <a:xfrm>
              <a:off x="288" y="3456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4303" name="Text Box 8"/>
            <p:cNvSpPr txBox="1">
              <a:spLocks noChangeArrowheads="1"/>
            </p:cNvSpPr>
            <p:nvPr/>
          </p:nvSpPr>
          <p:spPr bwMode="auto">
            <a:xfrm>
              <a:off x="528" y="3138"/>
              <a:ext cx="864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54304" name="Text Box 9"/>
            <p:cNvSpPr txBox="1">
              <a:spLocks noChangeArrowheads="1"/>
            </p:cNvSpPr>
            <p:nvPr/>
          </p:nvSpPr>
          <p:spPr bwMode="auto">
            <a:xfrm>
              <a:off x="336" y="3480"/>
              <a:ext cx="129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操作数地址</a:t>
              </a:r>
            </a:p>
          </p:txBody>
        </p:sp>
      </p:grpSp>
      <p:grpSp>
        <p:nvGrpSpPr>
          <p:cNvPr id="18" name="Group 38"/>
          <p:cNvGrpSpPr/>
          <p:nvPr/>
        </p:nvGrpSpPr>
        <p:grpSpPr bwMode="auto">
          <a:xfrm>
            <a:off x="2667000" y="1492250"/>
            <a:ext cx="5808663" cy="1071563"/>
            <a:chOff x="528" y="3024"/>
            <a:chExt cx="3840" cy="675"/>
          </a:xfrm>
        </p:grpSpPr>
        <p:sp>
          <p:nvSpPr>
            <p:cNvPr id="54299" name="Text Box 12"/>
            <p:cNvSpPr txBox="1">
              <a:spLocks noChangeArrowheads="1"/>
            </p:cNvSpPr>
            <p:nvPr/>
          </p:nvSpPr>
          <p:spPr bwMode="auto">
            <a:xfrm>
              <a:off x="528" y="3024"/>
              <a:ext cx="384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buClr>
                  <a:srgbClr val="CC00CC"/>
                </a:buClr>
                <a:buFont typeface="Wingdings" panose="05000000000000000000" pitchFamily="2" charset="2"/>
                <a:buChar char="v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在指令中直接给出操作数的</a:t>
              </a:r>
              <a:r>
                <a:rPr lang="zh-CN" altLang="en-US" sz="2400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</a:t>
              </a:r>
              <a:r>
                <a:rPr lang="zh-CN" altLang="en-US" sz="24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300" name="Text Box 13"/>
            <p:cNvSpPr txBox="1">
              <a:spLocks noChangeArrowheads="1"/>
            </p:cNvSpPr>
            <p:nvPr/>
          </p:nvSpPr>
          <p:spPr bwMode="auto">
            <a:xfrm>
              <a:off x="528" y="3408"/>
              <a:ext cx="364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buClr>
                  <a:srgbClr val="CC00CC"/>
                </a:buClr>
                <a:buFont typeface="Wingdings" panose="05000000000000000000" pitchFamily="2" charset="2"/>
                <a:buChar char="v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操作码后面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紧跟一个实际</a:t>
              </a:r>
              <a:r>
                <a:rPr lang="zh-CN" altLang="en-US" sz="24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</a:t>
              </a:r>
              <a:r>
                <a:rPr lang="zh-CN" altLang="en-US" sz="2400" b="1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</p:grpSp>
      <p:grpSp>
        <p:nvGrpSpPr>
          <p:cNvPr id="21" name="Group 52"/>
          <p:cNvGrpSpPr/>
          <p:nvPr/>
        </p:nvGrpSpPr>
        <p:grpSpPr bwMode="auto">
          <a:xfrm>
            <a:off x="3695700" y="4583114"/>
            <a:ext cx="1754038" cy="1198562"/>
            <a:chOff x="1968" y="2712"/>
            <a:chExt cx="1440" cy="1008"/>
          </a:xfrm>
        </p:grpSpPr>
        <p:sp>
          <p:nvSpPr>
            <p:cNvPr id="54293" name="Rectangle 17"/>
            <p:cNvSpPr>
              <a:spLocks noChangeArrowheads="1"/>
            </p:cNvSpPr>
            <p:nvPr/>
          </p:nvSpPr>
          <p:spPr bwMode="auto">
            <a:xfrm>
              <a:off x="1968" y="2712"/>
              <a:ext cx="1440" cy="1008"/>
            </a:xfrm>
            <a:prstGeom prst="rect">
              <a:avLst/>
            </a:prstGeom>
            <a:gradFill rotWithShape="0">
              <a:gsLst>
                <a:gs pos="0">
                  <a:srgbClr val="66FF33"/>
                </a:gs>
                <a:gs pos="50000">
                  <a:srgbClr val="C9FFB7"/>
                </a:gs>
                <a:gs pos="100000">
                  <a:srgbClr val="66FF33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294" name="Line 18"/>
            <p:cNvSpPr>
              <a:spLocks noChangeShapeType="1"/>
            </p:cNvSpPr>
            <p:nvPr/>
          </p:nvSpPr>
          <p:spPr bwMode="auto">
            <a:xfrm>
              <a:off x="1968" y="3048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4295" name="Text Box 19"/>
            <p:cNvSpPr txBox="1">
              <a:spLocks noChangeArrowheads="1"/>
            </p:cNvSpPr>
            <p:nvPr/>
          </p:nvSpPr>
          <p:spPr bwMode="auto">
            <a:xfrm>
              <a:off x="2208" y="2730"/>
              <a:ext cx="864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54296" name="Text Box 20"/>
            <p:cNvSpPr txBox="1">
              <a:spLocks noChangeArrowheads="1"/>
            </p:cNvSpPr>
            <p:nvPr/>
          </p:nvSpPr>
          <p:spPr bwMode="auto">
            <a:xfrm>
              <a:off x="2016" y="3066"/>
              <a:ext cx="129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操作数地址</a:t>
              </a:r>
            </a:p>
          </p:txBody>
        </p:sp>
        <p:sp>
          <p:nvSpPr>
            <p:cNvPr id="54297" name="Line 26"/>
            <p:cNvSpPr>
              <a:spLocks noChangeShapeType="1"/>
            </p:cNvSpPr>
            <p:nvPr/>
          </p:nvSpPr>
          <p:spPr bwMode="auto">
            <a:xfrm>
              <a:off x="1968" y="3384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4298" name="Text Box 27"/>
            <p:cNvSpPr txBox="1">
              <a:spLocks noChangeArrowheads="1"/>
            </p:cNvSpPr>
            <p:nvPr/>
          </p:nvSpPr>
          <p:spPr bwMode="auto">
            <a:xfrm>
              <a:off x="2208" y="3420"/>
              <a:ext cx="100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立即数</a:t>
              </a:r>
            </a:p>
          </p:txBody>
        </p:sp>
      </p:grpSp>
      <p:grpSp>
        <p:nvGrpSpPr>
          <p:cNvPr id="28" name="Group 46"/>
          <p:cNvGrpSpPr/>
          <p:nvPr/>
        </p:nvGrpSpPr>
        <p:grpSpPr bwMode="auto">
          <a:xfrm>
            <a:off x="6343650" y="4583114"/>
            <a:ext cx="2162175" cy="1198562"/>
            <a:chOff x="3696" y="2832"/>
            <a:chExt cx="1584" cy="1008"/>
          </a:xfrm>
        </p:grpSpPr>
        <p:sp>
          <p:nvSpPr>
            <p:cNvPr id="54287" name="Rectangle 30"/>
            <p:cNvSpPr>
              <a:spLocks noChangeArrowheads="1"/>
            </p:cNvSpPr>
            <p:nvPr/>
          </p:nvSpPr>
          <p:spPr bwMode="auto">
            <a:xfrm>
              <a:off x="3696" y="2832"/>
              <a:ext cx="1584" cy="1008"/>
            </a:xfrm>
            <a:prstGeom prst="rect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997A5C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288" name="Line 31"/>
            <p:cNvSpPr>
              <a:spLocks noChangeShapeType="1"/>
            </p:cNvSpPr>
            <p:nvPr/>
          </p:nvSpPr>
          <p:spPr bwMode="auto">
            <a:xfrm>
              <a:off x="3696" y="3168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4289" name="Text Box 32"/>
            <p:cNvSpPr txBox="1">
              <a:spLocks noChangeArrowheads="1"/>
            </p:cNvSpPr>
            <p:nvPr/>
          </p:nvSpPr>
          <p:spPr bwMode="auto">
            <a:xfrm>
              <a:off x="4032" y="2850"/>
              <a:ext cx="864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54290" name="Text Box 33"/>
            <p:cNvSpPr txBox="1">
              <a:spLocks noChangeArrowheads="1"/>
            </p:cNvSpPr>
            <p:nvPr/>
          </p:nvSpPr>
          <p:spPr bwMode="auto">
            <a:xfrm>
              <a:off x="3744" y="3186"/>
              <a:ext cx="148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目的操作数地址</a:t>
              </a:r>
            </a:p>
          </p:txBody>
        </p:sp>
        <p:sp>
          <p:nvSpPr>
            <p:cNvPr id="54291" name="Line 34"/>
            <p:cNvSpPr>
              <a:spLocks noChangeShapeType="1"/>
            </p:cNvSpPr>
            <p:nvPr/>
          </p:nvSpPr>
          <p:spPr bwMode="auto">
            <a:xfrm>
              <a:off x="3696" y="3504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4292" name="Text Box 36"/>
            <p:cNvSpPr txBox="1">
              <a:spLocks noChangeArrowheads="1"/>
            </p:cNvSpPr>
            <p:nvPr/>
          </p:nvSpPr>
          <p:spPr bwMode="auto">
            <a:xfrm>
              <a:off x="3732" y="3504"/>
              <a:ext cx="154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源操作数地址</a:t>
              </a:r>
            </a:p>
          </p:txBody>
        </p:sp>
      </p:grpSp>
      <p:grpSp>
        <p:nvGrpSpPr>
          <p:cNvPr id="35" name="Group 40"/>
          <p:cNvGrpSpPr/>
          <p:nvPr/>
        </p:nvGrpSpPr>
        <p:grpSpPr bwMode="auto">
          <a:xfrm>
            <a:off x="2667000" y="2881314"/>
            <a:ext cx="5170488" cy="1017588"/>
            <a:chOff x="1536" y="816"/>
            <a:chExt cx="2064" cy="641"/>
          </a:xfrm>
        </p:grpSpPr>
        <p:sp>
          <p:nvSpPr>
            <p:cNvPr id="54285" name="Rectangle 10"/>
            <p:cNvSpPr>
              <a:spLocks noChangeArrowheads="1"/>
            </p:cNvSpPr>
            <p:nvPr/>
          </p:nvSpPr>
          <p:spPr bwMode="auto">
            <a:xfrm>
              <a:off x="1536" y="816"/>
              <a:ext cx="206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buClr>
                  <a:srgbClr val="CC00CC"/>
                </a:buClr>
                <a:buFont typeface="Wingdings" panose="05000000000000000000" pitchFamily="2" charset="2"/>
                <a:buChar char="ü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内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的低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128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   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00H~7FH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286" name="Rectangle 39"/>
            <p:cNvSpPr>
              <a:spLocks noChangeArrowheads="1"/>
            </p:cNvSpPr>
            <p:nvPr/>
          </p:nvSpPr>
          <p:spPr bwMode="auto">
            <a:xfrm>
              <a:off x="1536" y="1166"/>
              <a:ext cx="203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buClr>
                  <a:srgbClr val="CC00CC"/>
                </a:buClr>
                <a:buFont typeface="Wingdings" panose="05000000000000000000" pitchFamily="2" charset="2"/>
                <a:buChar char="ü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特殊功能寄存器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SFR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区 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80H~FFH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Rectangle 41"/>
          <p:cNvSpPr>
            <a:spLocks noChangeArrowheads="1"/>
          </p:cNvSpPr>
          <p:nvPr/>
        </p:nvSpPr>
        <p:spPr bwMode="auto">
          <a:xfrm>
            <a:off x="381000" y="1517650"/>
            <a:ext cx="1741488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</a:p>
        </p:txBody>
      </p:sp>
      <p:sp>
        <p:nvSpPr>
          <p:cNvPr id="54283" name="Text Box 58"/>
          <p:cNvSpPr txBox="1">
            <a:spLocks noChangeArrowheads="1"/>
          </p:cNvSpPr>
          <p:nvPr/>
        </p:nvSpPr>
        <p:spPr bwMode="auto">
          <a:xfrm>
            <a:off x="482600" y="3465513"/>
            <a:ext cx="1524000" cy="45720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</a:p>
        </p:txBody>
      </p:sp>
      <p:pic>
        <p:nvPicPr>
          <p:cNvPr id="54284" name="图片 3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矩形 33"/>
          <p:cNvSpPr/>
          <p:nvPr/>
        </p:nvSpPr>
        <p:spPr>
          <a:xfrm>
            <a:off x="623094" y="5974303"/>
            <a:ext cx="7915274" cy="64516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/>
              <a:t>(1) PUSH   ACC</a:t>
            </a:r>
            <a:r>
              <a:rPr lang="zh-CN" altLang="en-US" b="1" dirty="0"/>
              <a:t>                            </a:t>
            </a:r>
            <a:r>
              <a:rPr lang="en-US" altLang="zh-CN" b="1" dirty="0"/>
              <a:t>(2)  MOV   P0,  #FFH</a:t>
            </a:r>
            <a:r>
              <a:rPr lang="zh-CN" altLang="en-US" b="1" dirty="0"/>
              <a:t>                 </a:t>
            </a:r>
            <a:r>
              <a:rPr lang="en-US" altLang="zh-CN" b="1" dirty="0"/>
              <a:t>(3)  MOV  ACC,  P1 </a:t>
            </a:r>
          </a:p>
          <a:p>
            <a:r>
              <a:rPr lang="en-US" altLang="zh-CN" b="1" dirty="0"/>
              <a:t>      INC       ACC                                   MOV   SP,   #60H                       MOV  ACC, 30H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56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(Register Addressing)</a:t>
            </a: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寄存器寻址中，寄存器中的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en-US" sz="2400" b="1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，从寄存器中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操作数或向寄存器中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例如： 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A←(B)   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源操作数直接寻址，目的操作数寄存器寻址</a:t>
            </a: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30H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(30H)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(R0)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A←(R1)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寄存器寻址方式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可用于访问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的寄存器有如下几种：</a:t>
            </a: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当前工作寄存器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(n=0~7)</a:t>
            </a: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寄存在成对出现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、数据指针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</a:p>
        </p:txBody>
      </p:sp>
      <p:sp>
        <p:nvSpPr>
          <p:cNvPr id="5632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56324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5110617" y="4736880"/>
            <a:ext cx="3784146" cy="914401"/>
          </a:xfrm>
          <a:prstGeom prst="wedgeRectCallout">
            <a:avLst>
              <a:gd name="adj1" fmla="val -58586"/>
              <a:gd name="adj2" fmla="val -625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隐含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在机器语言操作码中，单字节指令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访问的寄存器为：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R0~R7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寄存器名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隐含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在操作码中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隐含寻址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寄存器寻址的指令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单字节指令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，由于寄存器在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内部，采用寄存器寻址可以获得较高的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运算速率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A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#80H       =&gt;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80H 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A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 80H        =&gt;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E5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80H 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DPTR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#3000H   =&gt;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3000H</a:t>
            </a:r>
          </a:p>
        </p:txBody>
      </p:sp>
      <p:sp>
        <p:nvSpPr>
          <p:cNvPr id="5837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5837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标注 6"/>
          <p:cNvSpPr/>
          <p:nvPr/>
        </p:nvSpPr>
        <p:spPr>
          <a:xfrm>
            <a:off x="371475" y="4883646"/>
            <a:ext cx="8416925" cy="1506042"/>
          </a:xfrm>
          <a:prstGeom prst="wedgeRectCallout">
            <a:avLst>
              <a:gd name="adj1" fmla="val -8666"/>
              <a:gd name="adj2" fmla="val -45376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30000"/>
              </a:lnSpc>
              <a:buFont typeface="微软雅黑" panose="020B0503020204020204" pitchFamily="34" charset="-122"/>
              <a:buChar char="※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寄存器寻址中寄存器隐含在操作码中，指令机器码短，执行速度快。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  A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；机器码是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14H</a:t>
            </a: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DEC  0E0H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，机器码是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15E0H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，两条指令从执行结果看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是等效的，但寻址方式不同，机器码也不同。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1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30200" y="2636838"/>
            <a:ext cx="1945640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42901" y="3841750"/>
            <a:ext cx="1932939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grpSp>
        <p:nvGrpSpPr>
          <p:cNvPr id="7" name="Group 47"/>
          <p:cNvGrpSpPr/>
          <p:nvPr/>
        </p:nvGrpSpPr>
        <p:grpSpPr bwMode="auto">
          <a:xfrm>
            <a:off x="762000" y="4881563"/>
            <a:ext cx="2286000" cy="609600"/>
            <a:chOff x="480" y="2544"/>
            <a:chExt cx="1440" cy="384"/>
          </a:xfrm>
        </p:grpSpPr>
        <p:sp>
          <p:nvSpPr>
            <p:cNvPr id="60440" name="Rectangle 6"/>
            <p:cNvSpPr>
              <a:spLocks noChangeArrowheads="1"/>
            </p:cNvSpPr>
            <p:nvPr/>
          </p:nvSpPr>
          <p:spPr bwMode="auto">
            <a:xfrm>
              <a:off x="480" y="2544"/>
              <a:ext cx="1440" cy="384"/>
            </a:xfrm>
            <a:prstGeom prst="rect">
              <a:avLst/>
            </a:prstGeom>
            <a:gradFill rotWithShape="0">
              <a:gsLst>
                <a:gs pos="0">
                  <a:srgbClr val="8EB28E"/>
                </a:gs>
                <a:gs pos="50000">
                  <a:srgbClr val="CCFFCC"/>
                </a:gs>
                <a:gs pos="100000">
                  <a:srgbClr val="8EB28E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41" name="Text Box 8"/>
            <p:cNvSpPr txBox="1">
              <a:spLocks noChangeArrowheads="1"/>
            </p:cNvSpPr>
            <p:nvPr/>
          </p:nvSpPr>
          <p:spPr bwMode="auto">
            <a:xfrm>
              <a:off x="720" y="2586"/>
              <a:ext cx="86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</p:grp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635626" y="1592263"/>
            <a:ext cx="4231339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Clr>
                <a:srgbClr val="CC00CC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寄存器内容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就是实际操作数</a:t>
            </a:r>
          </a:p>
        </p:txBody>
      </p:sp>
      <p:grpSp>
        <p:nvGrpSpPr>
          <p:cNvPr id="11" name="Group 48"/>
          <p:cNvGrpSpPr/>
          <p:nvPr/>
        </p:nvGrpSpPr>
        <p:grpSpPr bwMode="auto">
          <a:xfrm>
            <a:off x="3505200" y="4424363"/>
            <a:ext cx="2286000" cy="1066800"/>
            <a:chOff x="2304" y="2256"/>
            <a:chExt cx="1440" cy="672"/>
          </a:xfrm>
        </p:grpSpPr>
        <p:sp>
          <p:nvSpPr>
            <p:cNvPr id="60436" name="Rectangle 14"/>
            <p:cNvSpPr>
              <a:spLocks noChangeArrowheads="1"/>
            </p:cNvSpPr>
            <p:nvPr/>
          </p:nvSpPr>
          <p:spPr bwMode="auto">
            <a:xfrm>
              <a:off x="2304" y="2256"/>
              <a:ext cx="1440" cy="672"/>
            </a:xfrm>
            <a:prstGeom prst="rect">
              <a:avLst/>
            </a:prstGeom>
            <a:gradFill rotWithShape="0">
              <a:gsLst>
                <a:gs pos="0">
                  <a:srgbClr val="7A9999"/>
                </a:gs>
                <a:gs pos="50000">
                  <a:srgbClr val="CCFFFF"/>
                </a:gs>
                <a:gs pos="100000">
                  <a:srgbClr val="7A9999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37" name="Line 15"/>
            <p:cNvSpPr>
              <a:spLocks noChangeShapeType="1"/>
            </p:cNvSpPr>
            <p:nvPr/>
          </p:nvSpPr>
          <p:spPr bwMode="auto">
            <a:xfrm>
              <a:off x="2304" y="2592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Text Box 16"/>
            <p:cNvSpPr txBox="1">
              <a:spLocks noChangeArrowheads="1"/>
            </p:cNvSpPr>
            <p:nvPr/>
          </p:nvSpPr>
          <p:spPr bwMode="auto">
            <a:xfrm>
              <a:off x="2544" y="2274"/>
              <a:ext cx="86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60439" name="Text Box 19"/>
            <p:cNvSpPr txBox="1">
              <a:spLocks noChangeArrowheads="1"/>
            </p:cNvSpPr>
            <p:nvPr/>
          </p:nvSpPr>
          <p:spPr bwMode="auto">
            <a:xfrm>
              <a:off x="2544" y="2622"/>
              <a:ext cx="100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立即数</a:t>
              </a:r>
            </a:p>
          </p:txBody>
        </p:sp>
      </p:grpSp>
      <p:grpSp>
        <p:nvGrpSpPr>
          <p:cNvPr id="16" name="Group 49"/>
          <p:cNvGrpSpPr/>
          <p:nvPr/>
        </p:nvGrpSpPr>
        <p:grpSpPr bwMode="auto">
          <a:xfrm>
            <a:off x="6324600" y="4424363"/>
            <a:ext cx="2362200" cy="1066800"/>
            <a:chOff x="3984" y="2256"/>
            <a:chExt cx="1584" cy="672"/>
          </a:xfrm>
        </p:grpSpPr>
        <p:sp>
          <p:nvSpPr>
            <p:cNvPr id="60432" name="Rectangle 21"/>
            <p:cNvSpPr>
              <a:spLocks noChangeArrowheads="1"/>
            </p:cNvSpPr>
            <p:nvPr/>
          </p:nvSpPr>
          <p:spPr bwMode="auto">
            <a:xfrm>
              <a:off x="3984" y="2256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475F77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33" name="Line 22"/>
            <p:cNvSpPr>
              <a:spLocks noChangeShapeType="1"/>
            </p:cNvSpPr>
            <p:nvPr/>
          </p:nvSpPr>
          <p:spPr bwMode="auto">
            <a:xfrm>
              <a:off x="3984" y="2592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Text Box 23"/>
            <p:cNvSpPr txBox="1">
              <a:spLocks noChangeArrowheads="1"/>
            </p:cNvSpPr>
            <p:nvPr/>
          </p:nvSpPr>
          <p:spPr bwMode="auto">
            <a:xfrm>
              <a:off x="4224" y="2268"/>
              <a:ext cx="86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60435" name="Text Box 24"/>
            <p:cNvSpPr txBox="1">
              <a:spLocks noChangeArrowheads="1"/>
            </p:cNvSpPr>
            <p:nvPr/>
          </p:nvSpPr>
          <p:spPr bwMode="auto">
            <a:xfrm>
              <a:off x="4176" y="2616"/>
              <a:ext cx="110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直接地址</a:t>
              </a:r>
            </a:p>
          </p:txBody>
        </p:sp>
      </p:grpSp>
      <p:grpSp>
        <p:nvGrpSpPr>
          <p:cNvPr id="21" name="Group 27"/>
          <p:cNvGrpSpPr/>
          <p:nvPr/>
        </p:nvGrpSpPr>
        <p:grpSpPr bwMode="auto">
          <a:xfrm>
            <a:off x="2711825" y="2611438"/>
            <a:ext cx="5142416" cy="1017587"/>
            <a:chOff x="1536" y="816"/>
            <a:chExt cx="1682" cy="641"/>
          </a:xfrm>
        </p:grpSpPr>
        <p:sp>
          <p:nvSpPr>
            <p:cNvPr id="60430" name="Rectangle 28"/>
            <p:cNvSpPr>
              <a:spLocks noChangeArrowheads="1"/>
            </p:cNvSpPr>
            <p:nvPr/>
          </p:nvSpPr>
          <p:spPr bwMode="auto">
            <a:xfrm>
              <a:off x="1536" y="816"/>
              <a:ext cx="168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R0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～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R7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，由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RS1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RS0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确定寄存器区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31" name="Rectangle 29"/>
            <p:cNvSpPr>
              <a:spLocks noChangeArrowheads="1"/>
            </p:cNvSpPr>
            <p:nvPr/>
          </p:nvSpPr>
          <p:spPr bwMode="auto">
            <a:xfrm>
              <a:off x="1560" y="1166"/>
              <a:ext cx="105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Cy(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DPTR</a:t>
              </a:r>
            </a:p>
          </p:txBody>
        </p:sp>
      </p:grpSp>
      <p:sp>
        <p:nvSpPr>
          <p:cNvPr id="24" name="Rectangle 45"/>
          <p:cNvSpPr>
            <a:spLocks noChangeArrowheads="1"/>
          </p:cNvSpPr>
          <p:nvPr/>
        </p:nvSpPr>
        <p:spPr bwMode="auto">
          <a:xfrm>
            <a:off x="304800" y="1617663"/>
            <a:ext cx="1971040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寄存器寻址：</a:t>
            </a:r>
          </a:p>
        </p:txBody>
      </p:sp>
      <p:pic>
        <p:nvPicPr>
          <p:cNvPr id="60427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9" name="图片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矩形 26"/>
          <p:cNvSpPr/>
          <p:nvPr/>
        </p:nvSpPr>
        <p:spPr>
          <a:xfrm>
            <a:off x="267335" y="5895897"/>
            <a:ext cx="8627427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MOV  A,  Rn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E8~EFH)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MOV  Rn, #data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MOV  Rn, direct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539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间接寻址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(Register  Indirect  Addressing)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寄存器间接寻址中，寄存器中的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是操作数的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对应存储单元的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该寻址方式中寄存器实际上是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地址指针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。寄存器前用间址符号“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”表示寄存器间接寻址。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操作数的地址要事先放在指定的寄存器中。如：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为间址寻址寄存器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进行读取操作时，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这种寻址方式用于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访问数据寄存器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，可以使用工作寄存器区的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堆栈指针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仅用于</a:t>
            </a:r>
            <a:r>
              <a:rPr lang="zh-CN" altLang="en-US" sz="20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堆栈操作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数据指针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46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6246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6136849" y="5902238"/>
            <a:ext cx="2756326" cy="420579"/>
          </a:xfrm>
          <a:prstGeom prst="wedgeRectCallout">
            <a:avLst>
              <a:gd name="adj1" fmla="val -8978"/>
              <a:gd name="adj2" fmla="val -135309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堆栈指针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的内容是地址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4322763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@R1,     76H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XCHD     A,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@R0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 A,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@R1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@DPTR,  A</a:t>
            </a:r>
          </a:p>
        </p:txBody>
      </p:sp>
      <p:sp>
        <p:nvSpPr>
          <p:cNvPr id="6451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grpSp>
        <p:nvGrpSpPr>
          <p:cNvPr id="64515" name="组合 4"/>
          <p:cNvGrpSpPr/>
          <p:nvPr/>
        </p:nvGrpSpPr>
        <p:grpSpPr bwMode="auto">
          <a:xfrm>
            <a:off x="4867550" y="2670239"/>
            <a:ext cx="3952875" cy="3105150"/>
            <a:chOff x="4832350" y="1852886"/>
            <a:chExt cx="3953219" cy="3106052"/>
          </a:xfrm>
        </p:grpSpPr>
        <p:sp>
          <p:nvSpPr>
            <p:cNvPr id="64520" name="Text Box 5"/>
            <p:cNvSpPr txBox="1">
              <a:spLocks noChangeArrowheads="1"/>
            </p:cNvSpPr>
            <p:nvPr/>
          </p:nvSpPr>
          <p:spPr bwMode="auto">
            <a:xfrm>
              <a:off x="5491219" y="2747846"/>
              <a:ext cx="878493" cy="400226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40H</a:t>
              </a:r>
            </a:p>
          </p:txBody>
        </p:sp>
        <p:sp>
          <p:nvSpPr>
            <p:cNvPr id="64521" name="Text Box 6"/>
            <p:cNvSpPr txBox="1">
              <a:spLocks noChangeArrowheads="1"/>
            </p:cNvSpPr>
            <p:nvPr/>
          </p:nvSpPr>
          <p:spPr bwMode="auto">
            <a:xfrm>
              <a:off x="4832350" y="2747844"/>
              <a:ext cx="494153" cy="3925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R0</a:t>
              </a:r>
            </a:p>
          </p:txBody>
        </p:sp>
        <p:sp>
          <p:nvSpPr>
            <p:cNvPr id="64522" name="Text Box 7"/>
            <p:cNvSpPr txBox="1">
              <a:spLocks noChangeArrowheads="1"/>
            </p:cNvSpPr>
            <p:nvPr/>
          </p:nvSpPr>
          <p:spPr bwMode="auto">
            <a:xfrm>
              <a:off x="4887256" y="3992611"/>
              <a:ext cx="384340" cy="3925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64523" name="Text Box 8"/>
            <p:cNvSpPr txBox="1">
              <a:spLocks noChangeArrowheads="1"/>
            </p:cNvSpPr>
            <p:nvPr/>
          </p:nvSpPr>
          <p:spPr bwMode="auto">
            <a:xfrm>
              <a:off x="5491219" y="3992611"/>
              <a:ext cx="878493" cy="3925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47H</a:t>
              </a:r>
            </a:p>
          </p:txBody>
        </p:sp>
        <p:sp>
          <p:nvSpPr>
            <p:cNvPr id="64524" name="Line 11"/>
            <p:cNvSpPr>
              <a:spLocks noChangeShapeType="1"/>
            </p:cNvSpPr>
            <p:nvPr/>
          </p:nvSpPr>
          <p:spPr bwMode="auto">
            <a:xfrm>
              <a:off x="8620853" y="2474096"/>
              <a:ext cx="0" cy="2434131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5" name="Freeform 12"/>
            <p:cNvSpPr/>
            <p:nvPr/>
          </p:nvSpPr>
          <p:spPr bwMode="auto">
            <a:xfrm>
              <a:off x="7577642" y="2480446"/>
              <a:ext cx="1043211" cy="419519"/>
            </a:xfrm>
            <a:custGeom>
              <a:avLst/>
              <a:gdLst>
                <a:gd name="T0" fmla="*/ 0 w 912"/>
                <a:gd name="T1" fmla="*/ 2147483647 h 160"/>
                <a:gd name="T2" fmla="*/ 2147483647 w 912"/>
                <a:gd name="T3" fmla="*/ 2147483647 h 160"/>
                <a:gd name="T4" fmla="*/ 2147483647 w 912"/>
                <a:gd name="T5" fmla="*/ 2147483647 h 160"/>
                <a:gd name="T6" fmla="*/ 2147483647 w 912"/>
                <a:gd name="T7" fmla="*/ 2147483647 h 160"/>
                <a:gd name="T8" fmla="*/ 2147483647 w 912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160"/>
                <a:gd name="T17" fmla="*/ 912 w 91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160">
                  <a:moveTo>
                    <a:pt x="0" y="48"/>
                  </a:moveTo>
                  <a:cubicBezTo>
                    <a:pt x="72" y="88"/>
                    <a:pt x="144" y="128"/>
                    <a:pt x="240" y="144"/>
                  </a:cubicBezTo>
                  <a:cubicBezTo>
                    <a:pt x="336" y="160"/>
                    <a:pt x="480" y="160"/>
                    <a:pt x="576" y="144"/>
                  </a:cubicBezTo>
                  <a:cubicBezTo>
                    <a:pt x="672" y="128"/>
                    <a:pt x="760" y="72"/>
                    <a:pt x="816" y="48"/>
                  </a:cubicBezTo>
                  <a:cubicBezTo>
                    <a:pt x="872" y="24"/>
                    <a:pt x="896" y="8"/>
                    <a:pt x="912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6" name="Freeform 13"/>
            <p:cNvSpPr/>
            <p:nvPr/>
          </p:nvSpPr>
          <p:spPr bwMode="auto">
            <a:xfrm>
              <a:off x="7577642" y="4482904"/>
              <a:ext cx="1043211" cy="419519"/>
            </a:xfrm>
            <a:custGeom>
              <a:avLst/>
              <a:gdLst>
                <a:gd name="T0" fmla="*/ 0 w 912"/>
                <a:gd name="T1" fmla="*/ 0 h 240"/>
                <a:gd name="T2" fmla="*/ 2147483647 w 912"/>
                <a:gd name="T3" fmla="*/ 2147483647 h 240"/>
                <a:gd name="T4" fmla="*/ 2147483647 w 912"/>
                <a:gd name="T5" fmla="*/ 2147483647 h 240"/>
                <a:gd name="T6" fmla="*/ 2147483647 w 912"/>
                <a:gd name="T7" fmla="*/ 2147483647 h 240"/>
                <a:gd name="T8" fmla="*/ 2147483647 w 912"/>
                <a:gd name="T9" fmla="*/ 2147483647 h 240"/>
                <a:gd name="T10" fmla="*/ 2147483647 w 912"/>
                <a:gd name="T11" fmla="*/ 2147483647 h 2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2"/>
                <a:gd name="T19" fmla="*/ 0 h 240"/>
                <a:gd name="T20" fmla="*/ 912 w 912"/>
                <a:gd name="T21" fmla="*/ 240 h 2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2" h="240">
                  <a:moveTo>
                    <a:pt x="0" y="0"/>
                  </a:moveTo>
                  <a:cubicBezTo>
                    <a:pt x="68" y="12"/>
                    <a:pt x="136" y="24"/>
                    <a:pt x="192" y="48"/>
                  </a:cubicBezTo>
                  <a:cubicBezTo>
                    <a:pt x="248" y="72"/>
                    <a:pt x="272" y="120"/>
                    <a:pt x="336" y="144"/>
                  </a:cubicBezTo>
                  <a:cubicBezTo>
                    <a:pt x="400" y="168"/>
                    <a:pt x="512" y="192"/>
                    <a:pt x="576" y="192"/>
                  </a:cubicBezTo>
                  <a:cubicBezTo>
                    <a:pt x="640" y="192"/>
                    <a:pt x="664" y="136"/>
                    <a:pt x="720" y="144"/>
                  </a:cubicBezTo>
                  <a:cubicBezTo>
                    <a:pt x="776" y="152"/>
                    <a:pt x="880" y="224"/>
                    <a:pt x="912" y="24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7" name="Line 14"/>
            <p:cNvSpPr>
              <a:spLocks noChangeShapeType="1"/>
            </p:cNvSpPr>
            <p:nvPr/>
          </p:nvSpPr>
          <p:spPr bwMode="auto">
            <a:xfrm>
              <a:off x="7576713" y="2603500"/>
              <a:ext cx="2012" cy="18794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28" name="Text Box 17"/>
            <p:cNvSpPr txBox="1">
              <a:spLocks noChangeArrowheads="1"/>
            </p:cNvSpPr>
            <p:nvPr/>
          </p:nvSpPr>
          <p:spPr bwMode="auto">
            <a:xfrm>
              <a:off x="7577642" y="3413544"/>
              <a:ext cx="1043211" cy="3925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宋体" panose="02010600030101010101" pitchFamily="2" charset="-122"/>
                </a:rPr>
                <a:t>47H</a:t>
              </a:r>
            </a:p>
          </p:txBody>
        </p:sp>
        <p:sp>
          <p:nvSpPr>
            <p:cNvPr id="64529" name="Text Box 18"/>
            <p:cNvSpPr txBox="1">
              <a:spLocks noChangeArrowheads="1"/>
            </p:cNvSpPr>
            <p:nvPr/>
          </p:nvSpPr>
          <p:spPr bwMode="auto">
            <a:xfrm>
              <a:off x="6754053" y="2397883"/>
              <a:ext cx="658869" cy="2561055"/>
            </a:xfrm>
            <a:prstGeom prst="rect">
              <a:avLst/>
            </a:prstGeom>
            <a:noFill/>
            <a:ln w="28575">
              <a:solidFill>
                <a:srgbClr val="7030A0"/>
              </a:solidFill>
              <a:prstDash val="dash"/>
              <a:miter lim="800000"/>
            </a:ln>
          </p:spPr>
          <p:txBody>
            <a:bodyPr tIns="82800"/>
            <a:lstStyle/>
            <a:p>
              <a:pPr>
                <a:lnSpc>
                  <a:spcPct val="0"/>
                </a:lnSpc>
                <a:spcBef>
                  <a:spcPct val="50000"/>
                </a:spcBef>
              </a:pPr>
              <a:endParaRPr kumimoji="1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endParaRPr kumimoji="1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40H</a:t>
              </a:r>
            </a:p>
            <a:p>
              <a:pPr algn="ctr"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  <a:p>
              <a:pPr algn="ctr">
                <a:lnSpc>
                  <a:spcPct val="0"/>
                </a:lnSpc>
                <a:spcBef>
                  <a:spcPct val="50000"/>
                </a:spcBef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sp>
          <p:nvSpPr>
            <p:cNvPr id="64530" name="Line 20"/>
            <p:cNvSpPr>
              <a:spLocks noChangeShapeType="1"/>
            </p:cNvSpPr>
            <p:nvPr/>
          </p:nvSpPr>
          <p:spPr bwMode="auto">
            <a:xfrm>
              <a:off x="6572456" y="3571256"/>
              <a:ext cx="302765" cy="1098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1" name="Line 21"/>
            <p:cNvSpPr>
              <a:spLocks noChangeShapeType="1"/>
            </p:cNvSpPr>
            <p:nvPr/>
          </p:nvSpPr>
          <p:spPr bwMode="auto">
            <a:xfrm flipH="1">
              <a:off x="6572226" y="2957260"/>
              <a:ext cx="238" cy="6139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2" name="Line 22"/>
            <p:cNvSpPr>
              <a:spLocks noChangeShapeType="1"/>
            </p:cNvSpPr>
            <p:nvPr/>
          </p:nvSpPr>
          <p:spPr bwMode="auto">
            <a:xfrm flipH="1" flipV="1">
              <a:off x="6369712" y="2952505"/>
              <a:ext cx="202513" cy="26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3" name="Line 24"/>
            <p:cNvSpPr>
              <a:spLocks noChangeShapeType="1"/>
            </p:cNvSpPr>
            <p:nvPr/>
          </p:nvSpPr>
          <p:spPr bwMode="auto">
            <a:xfrm flipH="1">
              <a:off x="6424619" y="4106881"/>
              <a:ext cx="16471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4" name="Freeform 25"/>
            <p:cNvSpPr/>
            <p:nvPr/>
          </p:nvSpPr>
          <p:spPr bwMode="auto">
            <a:xfrm>
              <a:off x="6589336" y="3598188"/>
              <a:ext cx="1098116" cy="509455"/>
            </a:xfrm>
            <a:custGeom>
              <a:avLst/>
              <a:gdLst>
                <a:gd name="T0" fmla="*/ 0 w 960"/>
                <a:gd name="T1" fmla="*/ 2147483647 h 336"/>
                <a:gd name="T2" fmla="*/ 2147483647 w 960"/>
                <a:gd name="T3" fmla="*/ 2147483647 h 336"/>
                <a:gd name="T4" fmla="*/ 2147483647 w 960"/>
                <a:gd name="T5" fmla="*/ 2147483647 h 336"/>
                <a:gd name="T6" fmla="*/ 2147483647 w 960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336"/>
                <a:gd name="T14" fmla="*/ 960 w 9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336">
                  <a:moveTo>
                    <a:pt x="0" y="336"/>
                  </a:moveTo>
                  <a:cubicBezTo>
                    <a:pt x="160" y="324"/>
                    <a:pt x="320" y="312"/>
                    <a:pt x="432" y="288"/>
                  </a:cubicBezTo>
                  <a:cubicBezTo>
                    <a:pt x="544" y="264"/>
                    <a:pt x="584" y="240"/>
                    <a:pt x="672" y="192"/>
                  </a:cubicBezTo>
                  <a:cubicBezTo>
                    <a:pt x="760" y="144"/>
                    <a:pt x="912" y="32"/>
                    <a:pt x="960" y="0"/>
                  </a:cubicBez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solid"/>
              <a:rou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535" name="Text Box 26"/>
            <p:cNvSpPr txBox="1">
              <a:spLocks noChangeArrowheads="1"/>
            </p:cNvSpPr>
            <p:nvPr/>
          </p:nvSpPr>
          <p:spPr bwMode="auto">
            <a:xfrm>
              <a:off x="7289106" y="1852886"/>
              <a:ext cx="1496463" cy="40011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数据存储器</a:t>
              </a:r>
            </a:p>
          </p:txBody>
        </p:sp>
      </p:grp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5526362" y="1114695"/>
            <a:ext cx="2735262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R0,   #40H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A,  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@R0 </a:t>
            </a:r>
          </a:p>
        </p:txBody>
      </p:sp>
      <p:pic>
        <p:nvPicPr>
          <p:cNvPr id="64517" name="图片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9" name="图片 2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矩形标注 24"/>
          <p:cNvSpPr/>
          <p:nvPr/>
        </p:nvSpPr>
        <p:spPr>
          <a:xfrm>
            <a:off x="5614416" y="2590529"/>
            <a:ext cx="1174670" cy="420579"/>
          </a:xfrm>
          <a:prstGeom prst="wedgeRectCallout">
            <a:avLst>
              <a:gd name="adj1" fmla="val 75252"/>
              <a:gd name="adj2" fmla="val 16077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579938" y="1004341"/>
            <a:ext cx="0" cy="5191672"/>
          </a:xfrm>
          <a:prstGeom prst="line">
            <a:avLst/>
          </a:prstGeom>
          <a:ln w="28575">
            <a:solidFill>
              <a:srgbClr val="567DCB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296713" y="601987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间接寻址示意图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5" grpId="0" animBg="1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56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17500" y="2894965"/>
            <a:ext cx="1727200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317499" y="4041775"/>
            <a:ext cx="1727201" cy="4572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grpSp>
        <p:nvGrpSpPr>
          <p:cNvPr id="42" name="Group 19"/>
          <p:cNvGrpSpPr/>
          <p:nvPr/>
        </p:nvGrpSpPr>
        <p:grpSpPr bwMode="auto">
          <a:xfrm>
            <a:off x="2857500" y="2833846"/>
            <a:ext cx="5045649" cy="1017587"/>
            <a:chOff x="1536" y="816"/>
            <a:chExt cx="1681" cy="641"/>
          </a:xfrm>
        </p:grpSpPr>
        <p:sp>
          <p:nvSpPr>
            <p:cNvPr id="66576" name="Rectangle 20"/>
            <p:cNvSpPr>
              <a:spLocks noChangeArrowheads="1"/>
            </p:cNvSpPr>
            <p:nvPr/>
          </p:nvSpPr>
          <p:spPr bwMode="auto">
            <a:xfrm>
              <a:off x="1536" y="816"/>
              <a:ext cx="150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＠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R0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、＠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SP)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577" name="Rectangle 21"/>
            <p:cNvSpPr>
              <a:spLocks noChangeArrowheads="1"/>
            </p:cNvSpPr>
            <p:nvPr/>
          </p:nvSpPr>
          <p:spPr bwMode="auto">
            <a:xfrm>
              <a:off x="1536" y="1166"/>
              <a:ext cx="1681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＠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R0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、＠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、＠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DPTR)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5" name="Rectangle 32"/>
          <p:cNvSpPr>
            <a:spLocks noChangeArrowheads="1"/>
          </p:cNvSpPr>
          <p:nvPr/>
        </p:nvSpPr>
        <p:spPr bwMode="auto">
          <a:xfrm>
            <a:off x="304800" y="1704975"/>
            <a:ext cx="2552700" cy="4603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寄存器间接寻址：</a:t>
            </a:r>
          </a:p>
        </p:txBody>
      </p:sp>
      <p:grpSp>
        <p:nvGrpSpPr>
          <p:cNvPr id="46" name="Group 43"/>
          <p:cNvGrpSpPr/>
          <p:nvPr/>
        </p:nvGrpSpPr>
        <p:grpSpPr bwMode="auto">
          <a:xfrm>
            <a:off x="2929255" y="1692275"/>
            <a:ext cx="5705945" cy="1020763"/>
            <a:chOff x="1944" y="632"/>
            <a:chExt cx="3210" cy="643"/>
          </a:xfrm>
        </p:grpSpPr>
        <p:sp>
          <p:nvSpPr>
            <p:cNvPr id="66574" name="Text Box 8"/>
            <p:cNvSpPr txBox="1">
              <a:spLocks noChangeArrowheads="1"/>
            </p:cNvSpPr>
            <p:nvPr/>
          </p:nvSpPr>
          <p:spPr bwMode="auto">
            <a:xfrm>
              <a:off x="1944" y="632"/>
              <a:ext cx="3210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寄存器的内容是一个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，由该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地址单元</a:t>
              </a:r>
            </a:p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寻址到所需的操作数</a:t>
              </a:r>
            </a:p>
          </p:txBody>
        </p:sp>
        <p:sp>
          <p:nvSpPr>
            <p:cNvPr id="66575" name="Rectangle 33"/>
            <p:cNvSpPr>
              <a:spLocks noChangeArrowheads="1"/>
            </p:cNvSpPr>
            <p:nvPr/>
          </p:nvSpPr>
          <p:spPr bwMode="auto">
            <a:xfrm>
              <a:off x="1944" y="984"/>
              <a:ext cx="1472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100000"/>
                </a:spcBef>
              </a:pPr>
              <a:endPara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6571" name="图片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3" name="图片 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268287" y="5836442"/>
            <a:ext cx="862647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MOV @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F7)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MOV @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#data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MOV @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direct</a:t>
            </a:r>
          </a:p>
        </p:txBody>
      </p:sp>
      <p:grpSp>
        <p:nvGrpSpPr>
          <p:cNvPr id="17" name="Group 47"/>
          <p:cNvGrpSpPr/>
          <p:nvPr/>
        </p:nvGrpSpPr>
        <p:grpSpPr bwMode="auto">
          <a:xfrm>
            <a:off x="670560" y="4922203"/>
            <a:ext cx="2286000" cy="609600"/>
            <a:chOff x="480" y="2544"/>
            <a:chExt cx="1440" cy="384"/>
          </a:xfrm>
        </p:grpSpPr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480" y="2544"/>
              <a:ext cx="1440" cy="384"/>
            </a:xfrm>
            <a:prstGeom prst="rect">
              <a:avLst/>
            </a:prstGeom>
            <a:gradFill rotWithShape="0">
              <a:gsLst>
                <a:gs pos="0">
                  <a:srgbClr val="8EB28E"/>
                </a:gs>
                <a:gs pos="50000">
                  <a:srgbClr val="CCFFCC"/>
                </a:gs>
                <a:gs pos="100000">
                  <a:srgbClr val="8EB28E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802" y="2586"/>
              <a:ext cx="769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</p:grpSp>
      <p:grpSp>
        <p:nvGrpSpPr>
          <p:cNvPr id="20" name="Group 48"/>
          <p:cNvGrpSpPr/>
          <p:nvPr/>
        </p:nvGrpSpPr>
        <p:grpSpPr bwMode="auto">
          <a:xfrm>
            <a:off x="3413760" y="4465003"/>
            <a:ext cx="2286000" cy="1066800"/>
            <a:chOff x="2304" y="2256"/>
            <a:chExt cx="1440" cy="672"/>
          </a:xfrm>
        </p:grpSpPr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2304" y="2256"/>
              <a:ext cx="1440" cy="672"/>
            </a:xfrm>
            <a:prstGeom prst="rect">
              <a:avLst/>
            </a:prstGeom>
            <a:gradFill rotWithShape="0">
              <a:gsLst>
                <a:gs pos="0">
                  <a:srgbClr val="7A9999"/>
                </a:gs>
                <a:gs pos="50000">
                  <a:srgbClr val="CCFFFF"/>
                </a:gs>
                <a:gs pos="100000">
                  <a:srgbClr val="7A9999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2304" y="2592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2682" y="2274"/>
              <a:ext cx="70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2688" y="2622"/>
              <a:ext cx="703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立即数</a:t>
              </a:r>
            </a:p>
          </p:txBody>
        </p:sp>
      </p:grpSp>
      <p:grpSp>
        <p:nvGrpSpPr>
          <p:cNvPr id="27" name="Group 49"/>
          <p:cNvGrpSpPr/>
          <p:nvPr/>
        </p:nvGrpSpPr>
        <p:grpSpPr bwMode="auto">
          <a:xfrm>
            <a:off x="6233160" y="4465003"/>
            <a:ext cx="2362200" cy="1066800"/>
            <a:chOff x="3984" y="2256"/>
            <a:chExt cx="1584" cy="672"/>
          </a:xfrm>
        </p:grpSpPr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984" y="2256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475F77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3984" y="2592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4394" y="2268"/>
              <a:ext cx="77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4295" y="2616"/>
              <a:ext cx="994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直接地址</a:t>
              </a:r>
            </a:p>
          </p:txBody>
        </p:sp>
      </p:grpSp>
      <p:sp>
        <p:nvSpPr>
          <p:cNvPr id="32" name="矩形标注 31"/>
          <p:cNvSpPr/>
          <p:nvPr/>
        </p:nvSpPr>
        <p:spPr>
          <a:xfrm>
            <a:off x="6798760" y="2260947"/>
            <a:ext cx="1796600" cy="420579"/>
          </a:xfrm>
          <a:prstGeom prst="wedgeRectCallout">
            <a:avLst>
              <a:gd name="adj1" fmla="val -51690"/>
              <a:gd name="adj2" fmla="val 10635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仅用于堆栈操作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8936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变址寻址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变址寄存器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间接寻址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变址寻址是以程序指针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或数据指针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，以累加器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为无符号数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，两者内容相加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即基地址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的操作数的有效地址。变址寻址方式主要用于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访问固化在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中的某个字节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变址寻址方式有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程序指针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，形成源操作数地址：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数据指针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，形成源操作数地址：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861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6861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4579938" y="5714932"/>
            <a:ext cx="3063240" cy="83099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MOVC   A,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A+DPTR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MOVC   A,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A+PC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5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30213" y="1676400"/>
            <a:ext cx="5114925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基址寄存器加变址寄存器间接寻址：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30213" y="2200275"/>
            <a:ext cx="815340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1" latinLnBrk="0" hangingPunct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两者相加形成</a:t>
            </a:r>
            <a:r>
              <a:rPr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操作数地址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42913" y="3630613"/>
            <a:ext cx="1798637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982663" y="4251325"/>
            <a:ext cx="77311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A+DPTR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A+PC)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zh-CN" altLang="en-US" sz="2000" b="1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读操作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，无写操作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68313" y="4972823"/>
            <a:ext cx="1773237" cy="4619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pic>
        <p:nvPicPr>
          <p:cNvPr id="70665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7" name="图片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980123" y="5454260"/>
            <a:ext cx="4710112" cy="94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MOVC   A,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A+DPTR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MOVC   A,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A+PC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15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变址寻址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变址寄存器间接寻址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用程序指针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基地址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，形成操作数地址：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@A+PC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      目标代码     汇编指令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2100     7406	       MOV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#06H</a:t>
            </a: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2102     83               MOVC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@A+PC</a:t>
            </a: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2103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00	       NOP</a:t>
            </a: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2104     00               NOP</a:t>
            </a: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 ：                ：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2109     32              DB  32H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执行结果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(A)=32H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7270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7270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787652" y="5495453"/>
            <a:ext cx="941859" cy="325924"/>
          </a:xfrm>
          <a:prstGeom prst="wedgeRectCallout">
            <a:avLst>
              <a:gd name="adj1" fmla="val 93453"/>
              <a:gd name="adj2" fmla="val 38619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2013+6</a:t>
            </a:r>
            <a:endParaRPr lang="zh-CN" altLang="en-US" dirty="0"/>
          </a:p>
        </p:txBody>
      </p:sp>
      <p:sp>
        <p:nvSpPr>
          <p:cNvPr id="7" name="矩形标注 6"/>
          <p:cNvSpPr/>
          <p:nvPr/>
        </p:nvSpPr>
        <p:spPr>
          <a:xfrm>
            <a:off x="787652" y="3937924"/>
            <a:ext cx="941859" cy="551779"/>
          </a:xfrm>
          <a:prstGeom prst="wedgeRectCallout">
            <a:avLst>
              <a:gd name="adj1" fmla="val 93453"/>
              <a:gd name="adj2" fmla="val 38619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54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变址寻址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基址寄存器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变址寄存器间接寻址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用数据指针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基地址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，形成操作数地址：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@A+DPTR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  A,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#01H</a:t>
            </a: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DPTR,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#TABLE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MOVC   A, 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@A+DPTR</a:t>
            </a: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TABLE:   DB   41H</a:t>
            </a: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	DB   42H</a:t>
            </a:r>
          </a:p>
          <a:p>
            <a:pPr lvl="3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执行结果：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(A)=42H</a:t>
            </a:r>
          </a:p>
        </p:txBody>
      </p:sp>
      <p:sp>
        <p:nvSpPr>
          <p:cNvPr id="7475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7475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左箭头 2"/>
          <p:cNvSpPr/>
          <p:nvPr/>
        </p:nvSpPr>
        <p:spPr>
          <a:xfrm rot="10800000">
            <a:off x="1236999" y="4273238"/>
            <a:ext cx="682625" cy="244444"/>
          </a:xfrm>
          <a:prstGeom prst="lef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 rot="10800000">
            <a:off x="1236998" y="4724390"/>
            <a:ext cx="682625" cy="244444"/>
          </a:xfrm>
          <a:prstGeom prst="lef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53905" y="396711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1788" y="491608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@A+DPTR</a:t>
            </a:r>
            <a:endParaRPr lang="zh-CN" altLang="en-US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4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5399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相对寻址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Relative  Addressing)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相对寻址是以程序计数器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当前值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，加上指令中给出的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相对偏移量</a:t>
            </a:r>
            <a:r>
              <a:rPr lang="en-US" altLang="zh-CN" sz="2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，形成新的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值，即程序的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仅出现在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中，用于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，用于实现程序的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分支转移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相对偏移量</a:t>
            </a:r>
            <a:r>
              <a:rPr lang="en-US" altLang="zh-CN" sz="2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是一个用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表示的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，程序的转移范围在相对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当前值的</a:t>
            </a:r>
            <a:r>
              <a:rPr lang="en-US" alt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-128B~+127B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0000FF"/>
              </a:buClr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操作：跳转到的目的地址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”指程序存储器中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下一条指令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所在的首地址，是一个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位数；在实际编程中，“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680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76804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6115051" y="3752850"/>
            <a:ext cx="2552700" cy="857250"/>
          </a:xfrm>
          <a:prstGeom prst="wedgeRectCallout">
            <a:avLst>
              <a:gd name="adj1" fmla="val -44340"/>
              <a:gd name="adj2" fmla="val 93611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0100H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SJMP  #30H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程序跳转至？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相对寻址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97150" y="3156880"/>
            <a:ext cx="17240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rgbClr val="CC00CC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06400" y="3169580"/>
            <a:ext cx="1720850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寻址空间：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06400" y="3933961"/>
            <a:ext cx="1720850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指令形式：</a:t>
            </a:r>
          </a:p>
        </p:txBody>
      </p:sp>
      <p:grpSp>
        <p:nvGrpSpPr>
          <p:cNvPr id="8" name="Group 6"/>
          <p:cNvGrpSpPr/>
          <p:nvPr/>
        </p:nvGrpSpPr>
        <p:grpSpPr bwMode="auto">
          <a:xfrm>
            <a:off x="663575" y="4908097"/>
            <a:ext cx="2286000" cy="864038"/>
            <a:chOff x="288" y="3120"/>
            <a:chExt cx="1440" cy="672"/>
          </a:xfrm>
        </p:grpSpPr>
        <p:sp>
          <p:nvSpPr>
            <p:cNvPr id="78875" name="Rectangle 7"/>
            <p:cNvSpPr>
              <a:spLocks noChangeArrowheads="1"/>
            </p:cNvSpPr>
            <p:nvPr/>
          </p:nvSpPr>
          <p:spPr bwMode="auto">
            <a:xfrm>
              <a:off x="288" y="3120"/>
              <a:ext cx="1440" cy="672"/>
            </a:xfrm>
            <a:prstGeom prst="rect">
              <a:avLst/>
            </a:prstGeom>
            <a:gradFill rotWithShape="0">
              <a:gsLst>
                <a:gs pos="0">
                  <a:srgbClr val="6D8888"/>
                </a:gs>
                <a:gs pos="50000">
                  <a:srgbClr val="CCFFFF"/>
                </a:gs>
                <a:gs pos="100000">
                  <a:srgbClr val="6D8888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76" name="Line 8"/>
            <p:cNvSpPr>
              <a:spLocks noChangeShapeType="1"/>
            </p:cNvSpPr>
            <p:nvPr/>
          </p:nvSpPr>
          <p:spPr bwMode="auto">
            <a:xfrm>
              <a:off x="288" y="3456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877" name="Text Box 9"/>
            <p:cNvSpPr txBox="1">
              <a:spLocks noChangeArrowheads="1"/>
            </p:cNvSpPr>
            <p:nvPr/>
          </p:nvSpPr>
          <p:spPr bwMode="auto">
            <a:xfrm>
              <a:off x="588" y="3126"/>
              <a:ext cx="752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78878" name="Text Box 10"/>
            <p:cNvSpPr txBox="1">
              <a:spLocks noChangeArrowheads="1"/>
            </p:cNvSpPr>
            <p:nvPr/>
          </p:nvSpPr>
          <p:spPr bwMode="auto">
            <a:xfrm>
              <a:off x="590" y="3474"/>
              <a:ext cx="605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rel</a:t>
              </a:r>
            </a:p>
          </p:txBody>
        </p:sp>
      </p:grpSp>
      <p:grpSp>
        <p:nvGrpSpPr>
          <p:cNvPr id="13" name="Group 11"/>
          <p:cNvGrpSpPr/>
          <p:nvPr/>
        </p:nvGrpSpPr>
        <p:grpSpPr bwMode="auto">
          <a:xfrm>
            <a:off x="3384550" y="4477213"/>
            <a:ext cx="2286000" cy="1296057"/>
            <a:chOff x="1872" y="2832"/>
            <a:chExt cx="1440" cy="1008"/>
          </a:xfrm>
        </p:grpSpPr>
        <p:sp>
          <p:nvSpPr>
            <p:cNvPr id="78869" name="Rectangle 12"/>
            <p:cNvSpPr>
              <a:spLocks noChangeArrowheads="1"/>
            </p:cNvSpPr>
            <p:nvPr/>
          </p:nvSpPr>
          <p:spPr bwMode="auto">
            <a:xfrm>
              <a:off x="1872" y="2832"/>
              <a:ext cx="1440" cy="1008"/>
            </a:xfrm>
            <a:prstGeom prst="rect">
              <a:avLst/>
            </a:prstGeom>
            <a:gradFill rotWithShape="0">
              <a:gsLst>
                <a:gs pos="0">
                  <a:srgbClr val="81A1A1"/>
                </a:gs>
                <a:gs pos="50000">
                  <a:srgbClr val="CCFFFF"/>
                </a:gs>
                <a:gs pos="100000">
                  <a:srgbClr val="81A1A1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70" name="Line 13"/>
            <p:cNvSpPr>
              <a:spLocks noChangeShapeType="1"/>
            </p:cNvSpPr>
            <p:nvPr/>
          </p:nvSpPr>
          <p:spPr bwMode="auto">
            <a:xfrm>
              <a:off x="1872" y="3168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871" name="Text Box 14"/>
            <p:cNvSpPr txBox="1">
              <a:spLocks noChangeArrowheads="1"/>
            </p:cNvSpPr>
            <p:nvPr/>
          </p:nvSpPr>
          <p:spPr bwMode="auto">
            <a:xfrm>
              <a:off x="2285" y="2856"/>
              <a:ext cx="74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78872" name="Text Box 15"/>
            <p:cNvSpPr txBox="1">
              <a:spLocks noChangeArrowheads="1"/>
            </p:cNvSpPr>
            <p:nvPr/>
          </p:nvSpPr>
          <p:spPr bwMode="auto">
            <a:xfrm>
              <a:off x="2114" y="3186"/>
              <a:ext cx="96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直接地址</a:t>
              </a:r>
            </a:p>
          </p:txBody>
        </p:sp>
        <p:sp>
          <p:nvSpPr>
            <p:cNvPr id="78873" name="Line 16"/>
            <p:cNvSpPr>
              <a:spLocks noChangeShapeType="1"/>
            </p:cNvSpPr>
            <p:nvPr/>
          </p:nvSpPr>
          <p:spPr bwMode="auto">
            <a:xfrm>
              <a:off x="1872" y="3504"/>
              <a:ext cx="14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874" name="Text Box 17"/>
            <p:cNvSpPr txBox="1">
              <a:spLocks noChangeArrowheads="1"/>
            </p:cNvSpPr>
            <p:nvPr/>
          </p:nvSpPr>
          <p:spPr bwMode="auto">
            <a:xfrm>
              <a:off x="2359" y="3516"/>
              <a:ext cx="545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rel</a:t>
              </a:r>
            </a:p>
          </p:txBody>
        </p:sp>
      </p:grpSp>
      <p:grpSp>
        <p:nvGrpSpPr>
          <p:cNvPr id="20" name="Group 18"/>
          <p:cNvGrpSpPr/>
          <p:nvPr/>
        </p:nvGrpSpPr>
        <p:grpSpPr bwMode="auto">
          <a:xfrm>
            <a:off x="6064250" y="4477213"/>
            <a:ext cx="2335032" cy="1296057"/>
            <a:chOff x="3696" y="2832"/>
            <a:chExt cx="1584" cy="1008"/>
          </a:xfrm>
        </p:grpSpPr>
        <p:sp>
          <p:nvSpPr>
            <p:cNvPr id="78863" name="Rectangle 19"/>
            <p:cNvSpPr>
              <a:spLocks noChangeArrowheads="1"/>
            </p:cNvSpPr>
            <p:nvPr/>
          </p:nvSpPr>
          <p:spPr bwMode="auto">
            <a:xfrm>
              <a:off x="3696" y="2832"/>
              <a:ext cx="1584" cy="1008"/>
            </a:xfrm>
            <a:prstGeom prst="rect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997A5C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64" name="Line 20"/>
            <p:cNvSpPr>
              <a:spLocks noChangeShapeType="1"/>
            </p:cNvSpPr>
            <p:nvPr/>
          </p:nvSpPr>
          <p:spPr bwMode="auto">
            <a:xfrm>
              <a:off x="3696" y="3168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865" name="Text Box 21"/>
            <p:cNvSpPr txBox="1">
              <a:spLocks noChangeArrowheads="1"/>
            </p:cNvSpPr>
            <p:nvPr/>
          </p:nvSpPr>
          <p:spPr bwMode="auto">
            <a:xfrm>
              <a:off x="4044" y="2838"/>
              <a:ext cx="71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操作码</a:t>
              </a:r>
            </a:p>
          </p:txBody>
        </p:sp>
        <p:sp>
          <p:nvSpPr>
            <p:cNvPr id="78866" name="Text Box 22"/>
            <p:cNvSpPr txBox="1">
              <a:spLocks noChangeArrowheads="1"/>
            </p:cNvSpPr>
            <p:nvPr/>
          </p:nvSpPr>
          <p:spPr bwMode="auto">
            <a:xfrm>
              <a:off x="3954" y="3180"/>
              <a:ext cx="81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立即数</a:t>
              </a:r>
            </a:p>
          </p:txBody>
        </p:sp>
        <p:sp>
          <p:nvSpPr>
            <p:cNvPr id="78867" name="Line 23"/>
            <p:cNvSpPr>
              <a:spLocks noChangeShapeType="1"/>
            </p:cNvSpPr>
            <p:nvPr/>
          </p:nvSpPr>
          <p:spPr bwMode="auto">
            <a:xfrm>
              <a:off x="3696" y="3504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868" name="Text Box 24"/>
            <p:cNvSpPr txBox="1">
              <a:spLocks noChangeArrowheads="1"/>
            </p:cNvSpPr>
            <p:nvPr/>
          </p:nvSpPr>
          <p:spPr bwMode="auto">
            <a:xfrm>
              <a:off x="3965" y="3504"/>
              <a:ext cx="681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rel</a:t>
              </a:r>
            </a:p>
          </p:txBody>
        </p:sp>
      </p:grp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406400" y="1508125"/>
            <a:ext cx="1720850" cy="4619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相对寻址：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2540000" y="1449388"/>
            <a:ext cx="6350000" cy="1533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为基准地址，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上指令的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，结果为目标地址。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有符号补码数，范围：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-128B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+127B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(80H-7FH)</a:t>
            </a:r>
          </a:p>
        </p:txBody>
      </p:sp>
      <p:sp>
        <p:nvSpPr>
          <p:cNvPr id="78859" name="Text Box 27"/>
          <p:cNvSpPr txBox="1">
            <a:spLocks noChangeArrowheads="1"/>
          </p:cNvSpPr>
          <p:nvPr/>
        </p:nvSpPr>
        <p:spPr bwMode="auto">
          <a:xfrm>
            <a:off x="3390900" y="3974167"/>
            <a:ext cx="46482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一般为双字节或三字节指令</a:t>
            </a:r>
          </a:p>
        </p:txBody>
      </p:sp>
      <p:pic>
        <p:nvPicPr>
          <p:cNvPr id="78860" name="图片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2" name="图片 3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663576" y="5956857"/>
            <a:ext cx="7915274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/>
              <a:t>(1) SJMP  </a:t>
            </a:r>
            <a:r>
              <a:rPr lang="en-US" altLang="zh-CN" b="1" dirty="0" err="1"/>
              <a:t>rel</a:t>
            </a:r>
            <a:r>
              <a:rPr lang="zh-CN" altLang="en-US" b="1" dirty="0"/>
              <a:t>；                        </a:t>
            </a:r>
            <a:r>
              <a:rPr lang="en-US" altLang="zh-CN" b="1" dirty="0"/>
              <a:t>(2) CJNE A ,  direct,  </a:t>
            </a:r>
            <a:r>
              <a:rPr lang="en-US" altLang="zh-CN" b="1" dirty="0" err="1"/>
              <a:t>rel</a:t>
            </a:r>
            <a:r>
              <a:rPr lang="zh-CN" altLang="en-US" b="1" dirty="0"/>
              <a:t>；          </a:t>
            </a:r>
            <a:r>
              <a:rPr lang="en-US" altLang="zh-CN" b="1" dirty="0"/>
              <a:t>(3) CJNE A ,  #data,  </a:t>
            </a:r>
            <a:r>
              <a:rPr lang="en-US" altLang="zh-CN" b="1" dirty="0" err="1"/>
              <a:t>rel</a:t>
            </a:r>
            <a:r>
              <a:rPr lang="en-US" altLang="zh-CN" b="1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/>
      <p:bldP spid="78859" grpId="0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159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 Addressing)</a:t>
            </a:r>
          </a:p>
          <a:p>
            <a:pPr marL="0" indent="0" algn="just" eaLnBrk="1" latinLnBrk="0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系列单片机中有独立的性能优越的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布尔处理器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位变量操作运算器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位累加器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位存储器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，可对位地址空间的每个位进行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位变量传送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状态控制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等操作。位地址包括：内部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地址空间的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可进行位寻址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可位寻址区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地址空间的可位寻址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位寄存器的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位寻址给出的是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直接地址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，是一种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P1.0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P1.0←0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  ACC.7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ACC.7←1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 C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C←NOT(C)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89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8089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位地址里的数据只可能是一个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有的位地址十分明确，如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P1.0, ACC.7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等，有的位地址则“不太明确”。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A,      17H       ; A←(17H)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17H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字节地址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，直接寻址；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ACC.0, 17H      ; ACC.0←(17H)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所以该指令中的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17H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22H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294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8294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位寻址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grpSp>
        <p:nvGrpSpPr>
          <p:cNvPr id="84995" name="组合 2"/>
          <p:cNvGrpSpPr/>
          <p:nvPr/>
        </p:nvGrpSpPr>
        <p:grpSpPr bwMode="auto">
          <a:xfrm>
            <a:off x="950913" y="884238"/>
            <a:ext cx="7712075" cy="5635625"/>
            <a:chOff x="1027113" y="1138005"/>
            <a:chExt cx="7712075" cy="5636471"/>
          </a:xfrm>
        </p:grpSpPr>
        <p:sp>
          <p:nvSpPr>
            <p:cNvPr id="84999" name="Rectangle 3"/>
            <p:cNvSpPr>
              <a:spLocks noChangeArrowheads="1"/>
            </p:cNvSpPr>
            <p:nvPr/>
          </p:nvSpPr>
          <p:spPr bwMode="auto">
            <a:xfrm>
              <a:off x="1636713" y="4750877"/>
              <a:ext cx="1676400" cy="1524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000" name="Rectangle 4"/>
            <p:cNvSpPr>
              <a:spLocks noChangeArrowheads="1"/>
            </p:cNvSpPr>
            <p:nvPr/>
          </p:nvSpPr>
          <p:spPr bwMode="auto">
            <a:xfrm>
              <a:off x="1636713" y="3226877"/>
              <a:ext cx="1676400" cy="15240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001" name="Line 5"/>
            <p:cNvSpPr>
              <a:spLocks noChangeShapeType="1"/>
            </p:cNvSpPr>
            <p:nvPr/>
          </p:nvSpPr>
          <p:spPr bwMode="auto">
            <a:xfrm>
              <a:off x="1636713" y="5970077"/>
              <a:ext cx="1676400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02" name="Line 6"/>
            <p:cNvSpPr>
              <a:spLocks noChangeShapeType="1"/>
            </p:cNvSpPr>
            <p:nvPr/>
          </p:nvSpPr>
          <p:spPr bwMode="auto">
            <a:xfrm>
              <a:off x="1636713" y="5589077"/>
              <a:ext cx="1676400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03" name="Text Box 7"/>
            <p:cNvSpPr txBox="1">
              <a:spLocks noChangeArrowheads="1"/>
            </p:cNvSpPr>
            <p:nvPr/>
          </p:nvSpPr>
          <p:spPr bwMode="auto">
            <a:xfrm>
              <a:off x="1027113" y="6122482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00H</a:t>
              </a:r>
            </a:p>
          </p:txBody>
        </p:sp>
        <p:sp>
          <p:nvSpPr>
            <p:cNvPr id="85004" name="Text Box 8"/>
            <p:cNvSpPr txBox="1">
              <a:spLocks noChangeArrowheads="1"/>
            </p:cNvSpPr>
            <p:nvPr/>
          </p:nvSpPr>
          <p:spPr bwMode="auto">
            <a:xfrm>
              <a:off x="1027113" y="5722425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20H</a:t>
              </a:r>
            </a:p>
          </p:txBody>
        </p:sp>
        <p:sp>
          <p:nvSpPr>
            <p:cNvPr id="85005" name="Text Box 9"/>
            <p:cNvSpPr txBox="1">
              <a:spLocks noChangeArrowheads="1"/>
            </p:cNvSpPr>
            <p:nvPr/>
          </p:nvSpPr>
          <p:spPr bwMode="auto">
            <a:xfrm>
              <a:off x="1027113" y="5523994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2FH</a:t>
              </a:r>
            </a:p>
          </p:txBody>
        </p:sp>
        <p:sp>
          <p:nvSpPr>
            <p:cNvPr id="85006" name="Text Box 10"/>
            <p:cNvSpPr txBox="1">
              <a:spLocks noChangeArrowheads="1"/>
            </p:cNvSpPr>
            <p:nvPr/>
          </p:nvSpPr>
          <p:spPr bwMode="auto">
            <a:xfrm>
              <a:off x="1027113" y="45984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7FH</a:t>
              </a:r>
            </a:p>
          </p:txBody>
        </p:sp>
        <p:sp>
          <p:nvSpPr>
            <p:cNvPr id="85007" name="Text Box 11"/>
            <p:cNvSpPr txBox="1">
              <a:spLocks noChangeArrowheads="1"/>
            </p:cNvSpPr>
            <p:nvPr/>
          </p:nvSpPr>
          <p:spPr bwMode="auto">
            <a:xfrm>
              <a:off x="1027113" y="5917692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1FH</a:t>
              </a:r>
            </a:p>
          </p:txBody>
        </p:sp>
        <p:sp>
          <p:nvSpPr>
            <p:cNvPr id="85008" name="Text Box 12"/>
            <p:cNvSpPr txBox="1">
              <a:spLocks noChangeArrowheads="1"/>
            </p:cNvSpPr>
            <p:nvPr/>
          </p:nvSpPr>
          <p:spPr bwMode="auto">
            <a:xfrm>
              <a:off x="1027113" y="5327144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30H</a:t>
              </a:r>
            </a:p>
          </p:txBody>
        </p:sp>
        <p:sp>
          <p:nvSpPr>
            <p:cNvPr id="85009" name="Text Box 13"/>
            <p:cNvSpPr txBox="1">
              <a:spLocks noChangeArrowheads="1"/>
            </p:cNvSpPr>
            <p:nvPr/>
          </p:nvSpPr>
          <p:spPr bwMode="auto">
            <a:xfrm>
              <a:off x="1027113" y="44079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80H</a:t>
              </a:r>
            </a:p>
          </p:txBody>
        </p:sp>
        <p:sp>
          <p:nvSpPr>
            <p:cNvPr id="85010" name="Text Box 14"/>
            <p:cNvSpPr txBox="1">
              <a:spLocks noChangeArrowheads="1"/>
            </p:cNvSpPr>
            <p:nvPr/>
          </p:nvSpPr>
          <p:spPr bwMode="auto">
            <a:xfrm>
              <a:off x="1027113" y="313162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FFH</a:t>
              </a:r>
            </a:p>
          </p:txBody>
        </p:sp>
        <p:sp>
          <p:nvSpPr>
            <p:cNvPr id="85011" name="Text Box 15"/>
            <p:cNvSpPr txBox="1">
              <a:spLocks noChangeArrowheads="1"/>
            </p:cNvSpPr>
            <p:nvPr/>
          </p:nvSpPr>
          <p:spPr bwMode="auto">
            <a:xfrm>
              <a:off x="1712913" y="3607877"/>
              <a:ext cx="1447800" cy="584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52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子系列才有</a:t>
              </a:r>
            </a:p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区</a:t>
              </a:r>
            </a:p>
          </p:txBody>
        </p:sp>
        <p:sp>
          <p:nvSpPr>
            <p:cNvPr id="85012" name="Text Box 16"/>
            <p:cNvSpPr txBox="1">
              <a:spLocks noChangeArrowheads="1"/>
            </p:cNvSpPr>
            <p:nvPr/>
          </p:nvSpPr>
          <p:spPr bwMode="auto">
            <a:xfrm>
              <a:off x="1770063" y="4979477"/>
              <a:ext cx="1524000" cy="366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区</a:t>
              </a:r>
            </a:p>
          </p:txBody>
        </p:sp>
        <p:sp>
          <p:nvSpPr>
            <p:cNvPr id="85013" name="Text Box 17"/>
            <p:cNvSpPr txBox="1">
              <a:spLocks noChangeArrowheads="1"/>
            </p:cNvSpPr>
            <p:nvPr/>
          </p:nvSpPr>
          <p:spPr bwMode="auto">
            <a:xfrm>
              <a:off x="1941513" y="5589077"/>
              <a:ext cx="1219200" cy="366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位寻址区</a:t>
              </a:r>
            </a:p>
          </p:txBody>
        </p:sp>
        <p:sp>
          <p:nvSpPr>
            <p:cNvPr id="85014" name="Text Box 18"/>
            <p:cNvSpPr txBox="1">
              <a:spLocks noChangeArrowheads="1"/>
            </p:cNvSpPr>
            <p:nvPr/>
          </p:nvSpPr>
          <p:spPr bwMode="auto">
            <a:xfrm>
              <a:off x="1655763" y="5931977"/>
              <a:ext cx="1600200" cy="366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工作寄存器区</a:t>
              </a:r>
            </a:p>
          </p:txBody>
        </p:sp>
        <p:sp>
          <p:nvSpPr>
            <p:cNvPr id="85015" name="Text Box 19"/>
            <p:cNvSpPr txBox="1">
              <a:spLocks noChangeArrowheads="1"/>
            </p:cNvSpPr>
            <p:nvPr/>
          </p:nvSpPr>
          <p:spPr bwMode="auto">
            <a:xfrm>
              <a:off x="4303713" y="3303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27H</a:t>
              </a:r>
            </a:p>
          </p:txBody>
        </p:sp>
        <p:sp>
          <p:nvSpPr>
            <p:cNvPr id="85016" name="Text Box 20"/>
            <p:cNvSpPr txBox="1">
              <a:spLocks noChangeArrowheads="1"/>
            </p:cNvSpPr>
            <p:nvPr/>
          </p:nvSpPr>
          <p:spPr bwMode="auto">
            <a:xfrm>
              <a:off x="4303713" y="5217602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22H</a:t>
              </a:r>
            </a:p>
          </p:txBody>
        </p:sp>
        <p:sp>
          <p:nvSpPr>
            <p:cNvPr id="85017" name="Text Box 21"/>
            <p:cNvSpPr txBox="1">
              <a:spLocks noChangeArrowheads="1"/>
            </p:cNvSpPr>
            <p:nvPr/>
          </p:nvSpPr>
          <p:spPr bwMode="auto">
            <a:xfrm>
              <a:off x="4303713" y="5589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21H</a:t>
              </a:r>
            </a:p>
          </p:txBody>
        </p:sp>
        <p:sp>
          <p:nvSpPr>
            <p:cNvPr id="85018" name="Text Box 22"/>
            <p:cNvSpPr txBox="1">
              <a:spLocks noChangeArrowheads="1"/>
            </p:cNvSpPr>
            <p:nvPr/>
          </p:nvSpPr>
          <p:spPr bwMode="auto">
            <a:xfrm>
              <a:off x="4303713" y="597642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20H</a:t>
              </a:r>
            </a:p>
          </p:txBody>
        </p:sp>
        <p:sp>
          <p:nvSpPr>
            <p:cNvPr id="85019" name="Text Box 23"/>
            <p:cNvSpPr txBox="1">
              <a:spLocks noChangeArrowheads="1"/>
            </p:cNvSpPr>
            <p:nvPr/>
          </p:nvSpPr>
          <p:spPr bwMode="auto">
            <a:xfrm>
              <a:off x="4303713" y="3684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26H</a:t>
              </a:r>
            </a:p>
          </p:txBody>
        </p:sp>
        <p:sp>
          <p:nvSpPr>
            <p:cNvPr id="85020" name="Text Box 24"/>
            <p:cNvSpPr txBox="1">
              <a:spLocks noChangeArrowheads="1"/>
            </p:cNvSpPr>
            <p:nvPr/>
          </p:nvSpPr>
          <p:spPr bwMode="auto">
            <a:xfrm>
              <a:off x="4303713" y="4446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24H</a:t>
              </a:r>
            </a:p>
          </p:txBody>
        </p:sp>
        <p:sp>
          <p:nvSpPr>
            <p:cNvPr id="85021" name="Text Box 25"/>
            <p:cNvSpPr txBox="1">
              <a:spLocks noChangeArrowheads="1"/>
            </p:cNvSpPr>
            <p:nvPr/>
          </p:nvSpPr>
          <p:spPr bwMode="auto">
            <a:xfrm>
              <a:off x="4303713" y="4065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25H</a:t>
              </a:r>
            </a:p>
          </p:txBody>
        </p:sp>
        <p:sp>
          <p:nvSpPr>
            <p:cNvPr id="85022" name="Text Box 26"/>
            <p:cNvSpPr txBox="1">
              <a:spLocks noChangeArrowheads="1"/>
            </p:cNvSpPr>
            <p:nvPr/>
          </p:nvSpPr>
          <p:spPr bwMode="auto">
            <a:xfrm>
              <a:off x="4303713" y="48270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23H</a:t>
              </a:r>
            </a:p>
          </p:txBody>
        </p:sp>
        <p:sp>
          <p:nvSpPr>
            <p:cNvPr id="85023" name="Text Box 27"/>
            <p:cNvSpPr txBox="1">
              <a:spLocks noChangeArrowheads="1"/>
            </p:cNvSpPr>
            <p:nvPr/>
          </p:nvSpPr>
          <p:spPr bwMode="auto">
            <a:xfrm>
              <a:off x="4303713" y="290937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28H</a:t>
              </a:r>
            </a:p>
          </p:txBody>
        </p:sp>
        <p:sp>
          <p:nvSpPr>
            <p:cNvPr id="85024" name="Line 28"/>
            <p:cNvSpPr>
              <a:spLocks noChangeShapeType="1"/>
            </p:cNvSpPr>
            <p:nvPr/>
          </p:nvSpPr>
          <p:spPr bwMode="auto">
            <a:xfrm flipV="1">
              <a:off x="3313113" y="1836227"/>
              <a:ext cx="990600" cy="37338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5" name="Line 29"/>
            <p:cNvSpPr>
              <a:spLocks noChangeShapeType="1"/>
            </p:cNvSpPr>
            <p:nvPr/>
          </p:nvSpPr>
          <p:spPr bwMode="auto">
            <a:xfrm>
              <a:off x="3313113" y="5970077"/>
              <a:ext cx="990600" cy="2095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6" name="Rectangle 30"/>
            <p:cNvSpPr>
              <a:spLocks noChangeArrowheads="1"/>
            </p:cNvSpPr>
            <p:nvPr/>
          </p:nvSpPr>
          <p:spPr bwMode="auto">
            <a:xfrm>
              <a:off x="4837113" y="5951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07 06 05 04 03 02 01 00</a:t>
              </a:r>
            </a:p>
          </p:txBody>
        </p:sp>
        <p:sp>
          <p:nvSpPr>
            <p:cNvPr id="85027" name="Line 31"/>
            <p:cNvSpPr>
              <a:spLocks noChangeShapeType="1"/>
            </p:cNvSpPr>
            <p:nvPr/>
          </p:nvSpPr>
          <p:spPr bwMode="auto">
            <a:xfrm>
              <a:off x="622776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8" name="Line 32"/>
            <p:cNvSpPr>
              <a:spLocks noChangeShapeType="1"/>
            </p:cNvSpPr>
            <p:nvPr/>
          </p:nvSpPr>
          <p:spPr bwMode="auto">
            <a:xfrm>
              <a:off x="588486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9" name="Line 33"/>
            <p:cNvSpPr>
              <a:spLocks noChangeShapeType="1"/>
            </p:cNvSpPr>
            <p:nvPr/>
          </p:nvSpPr>
          <p:spPr bwMode="auto">
            <a:xfrm>
              <a:off x="552291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0" name="Line 34"/>
            <p:cNvSpPr>
              <a:spLocks noChangeShapeType="1"/>
            </p:cNvSpPr>
            <p:nvPr/>
          </p:nvSpPr>
          <p:spPr bwMode="auto">
            <a:xfrm>
              <a:off x="519906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1" name="Line 35"/>
            <p:cNvSpPr>
              <a:spLocks noChangeShapeType="1"/>
            </p:cNvSpPr>
            <p:nvPr/>
          </p:nvSpPr>
          <p:spPr bwMode="auto">
            <a:xfrm>
              <a:off x="658971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2" name="Line 36"/>
            <p:cNvSpPr>
              <a:spLocks noChangeShapeType="1"/>
            </p:cNvSpPr>
            <p:nvPr/>
          </p:nvSpPr>
          <p:spPr bwMode="auto">
            <a:xfrm>
              <a:off x="691356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3" name="Line 37"/>
            <p:cNvSpPr>
              <a:spLocks noChangeShapeType="1"/>
            </p:cNvSpPr>
            <p:nvPr/>
          </p:nvSpPr>
          <p:spPr bwMode="auto">
            <a:xfrm>
              <a:off x="7256463" y="5951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4" name="Rectangle 38"/>
            <p:cNvSpPr>
              <a:spLocks noChangeArrowheads="1"/>
            </p:cNvSpPr>
            <p:nvPr/>
          </p:nvSpPr>
          <p:spPr bwMode="auto">
            <a:xfrm>
              <a:off x="4837113" y="5570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0F 0E 0D 0C 0B0A 09 08</a:t>
              </a:r>
            </a:p>
          </p:txBody>
        </p:sp>
        <p:sp>
          <p:nvSpPr>
            <p:cNvPr id="85035" name="Line 39"/>
            <p:cNvSpPr>
              <a:spLocks noChangeShapeType="1"/>
            </p:cNvSpPr>
            <p:nvPr/>
          </p:nvSpPr>
          <p:spPr bwMode="auto">
            <a:xfrm>
              <a:off x="622776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6" name="Line 40"/>
            <p:cNvSpPr>
              <a:spLocks noChangeShapeType="1"/>
            </p:cNvSpPr>
            <p:nvPr/>
          </p:nvSpPr>
          <p:spPr bwMode="auto">
            <a:xfrm>
              <a:off x="588486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7" name="Line 41"/>
            <p:cNvSpPr>
              <a:spLocks noChangeShapeType="1"/>
            </p:cNvSpPr>
            <p:nvPr/>
          </p:nvSpPr>
          <p:spPr bwMode="auto">
            <a:xfrm>
              <a:off x="552291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8" name="Line 42"/>
            <p:cNvSpPr>
              <a:spLocks noChangeShapeType="1"/>
            </p:cNvSpPr>
            <p:nvPr/>
          </p:nvSpPr>
          <p:spPr bwMode="auto">
            <a:xfrm>
              <a:off x="519906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9" name="Line 43"/>
            <p:cNvSpPr>
              <a:spLocks noChangeShapeType="1"/>
            </p:cNvSpPr>
            <p:nvPr/>
          </p:nvSpPr>
          <p:spPr bwMode="auto">
            <a:xfrm>
              <a:off x="658971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0" name="Line 44"/>
            <p:cNvSpPr>
              <a:spLocks noChangeShapeType="1"/>
            </p:cNvSpPr>
            <p:nvPr/>
          </p:nvSpPr>
          <p:spPr bwMode="auto">
            <a:xfrm>
              <a:off x="691356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1" name="Line 45"/>
            <p:cNvSpPr>
              <a:spLocks noChangeShapeType="1"/>
            </p:cNvSpPr>
            <p:nvPr/>
          </p:nvSpPr>
          <p:spPr bwMode="auto">
            <a:xfrm>
              <a:off x="7256463" y="5570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2" name="Rectangle 46"/>
            <p:cNvSpPr>
              <a:spLocks noChangeArrowheads="1"/>
            </p:cNvSpPr>
            <p:nvPr/>
          </p:nvSpPr>
          <p:spPr bwMode="auto">
            <a:xfrm>
              <a:off x="4837113" y="5189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17 16 15 14 13 12 11 10</a:t>
              </a:r>
            </a:p>
          </p:txBody>
        </p:sp>
        <p:sp>
          <p:nvSpPr>
            <p:cNvPr id="85043" name="Line 47"/>
            <p:cNvSpPr>
              <a:spLocks noChangeShapeType="1"/>
            </p:cNvSpPr>
            <p:nvPr/>
          </p:nvSpPr>
          <p:spPr bwMode="auto">
            <a:xfrm>
              <a:off x="622776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4" name="Line 48"/>
            <p:cNvSpPr>
              <a:spLocks noChangeShapeType="1"/>
            </p:cNvSpPr>
            <p:nvPr/>
          </p:nvSpPr>
          <p:spPr bwMode="auto">
            <a:xfrm>
              <a:off x="588486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5" name="Line 49"/>
            <p:cNvSpPr>
              <a:spLocks noChangeShapeType="1"/>
            </p:cNvSpPr>
            <p:nvPr/>
          </p:nvSpPr>
          <p:spPr bwMode="auto">
            <a:xfrm>
              <a:off x="552291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6" name="Line 50"/>
            <p:cNvSpPr>
              <a:spLocks noChangeShapeType="1"/>
            </p:cNvSpPr>
            <p:nvPr/>
          </p:nvSpPr>
          <p:spPr bwMode="auto">
            <a:xfrm>
              <a:off x="519906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7" name="Line 51"/>
            <p:cNvSpPr>
              <a:spLocks noChangeShapeType="1"/>
            </p:cNvSpPr>
            <p:nvPr/>
          </p:nvSpPr>
          <p:spPr bwMode="auto">
            <a:xfrm>
              <a:off x="658971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8" name="Line 52"/>
            <p:cNvSpPr>
              <a:spLocks noChangeShapeType="1"/>
            </p:cNvSpPr>
            <p:nvPr/>
          </p:nvSpPr>
          <p:spPr bwMode="auto">
            <a:xfrm>
              <a:off x="691356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49" name="Line 53"/>
            <p:cNvSpPr>
              <a:spLocks noChangeShapeType="1"/>
            </p:cNvSpPr>
            <p:nvPr/>
          </p:nvSpPr>
          <p:spPr bwMode="auto">
            <a:xfrm>
              <a:off x="7256463" y="5189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0" name="Rectangle 54"/>
            <p:cNvSpPr>
              <a:spLocks noChangeArrowheads="1"/>
            </p:cNvSpPr>
            <p:nvPr/>
          </p:nvSpPr>
          <p:spPr bwMode="auto">
            <a:xfrm>
              <a:off x="4837113" y="4808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1F 1E 1D 1C1B 1A 19 18</a:t>
              </a:r>
            </a:p>
          </p:txBody>
        </p:sp>
        <p:sp>
          <p:nvSpPr>
            <p:cNvPr id="85051" name="Line 55"/>
            <p:cNvSpPr>
              <a:spLocks noChangeShapeType="1"/>
            </p:cNvSpPr>
            <p:nvPr/>
          </p:nvSpPr>
          <p:spPr bwMode="auto">
            <a:xfrm>
              <a:off x="622776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2" name="Line 56"/>
            <p:cNvSpPr>
              <a:spLocks noChangeShapeType="1"/>
            </p:cNvSpPr>
            <p:nvPr/>
          </p:nvSpPr>
          <p:spPr bwMode="auto">
            <a:xfrm>
              <a:off x="588486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3" name="Line 57"/>
            <p:cNvSpPr>
              <a:spLocks noChangeShapeType="1"/>
            </p:cNvSpPr>
            <p:nvPr/>
          </p:nvSpPr>
          <p:spPr bwMode="auto">
            <a:xfrm>
              <a:off x="552291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4" name="Line 58"/>
            <p:cNvSpPr>
              <a:spLocks noChangeShapeType="1"/>
            </p:cNvSpPr>
            <p:nvPr/>
          </p:nvSpPr>
          <p:spPr bwMode="auto">
            <a:xfrm>
              <a:off x="519906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5" name="Line 59"/>
            <p:cNvSpPr>
              <a:spLocks noChangeShapeType="1"/>
            </p:cNvSpPr>
            <p:nvPr/>
          </p:nvSpPr>
          <p:spPr bwMode="auto">
            <a:xfrm>
              <a:off x="658971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6" name="Line 60"/>
            <p:cNvSpPr>
              <a:spLocks noChangeShapeType="1"/>
            </p:cNvSpPr>
            <p:nvPr/>
          </p:nvSpPr>
          <p:spPr bwMode="auto">
            <a:xfrm>
              <a:off x="691356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7" name="Line 61"/>
            <p:cNvSpPr>
              <a:spLocks noChangeShapeType="1"/>
            </p:cNvSpPr>
            <p:nvPr/>
          </p:nvSpPr>
          <p:spPr bwMode="auto">
            <a:xfrm>
              <a:off x="7256463" y="4808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58" name="Rectangle 62"/>
            <p:cNvSpPr>
              <a:spLocks noChangeArrowheads="1"/>
            </p:cNvSpPr>
            <p:nvPr/>
          </p:nvSpPr>
          <p:spPr bwMode="auto">
            <a:xfrm>
              <a:off x="4837113" y="4427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27 26 25 24 23 22 21 20</a:t>
              </a:r>
            </a:p>
          </p:txBody>
        </p:sp>
        <p:sp>
          <p:nvSpPr>
            <p:cNvPr id="85059" name="Line 63"/>
            <p:cNvSpPr>
              <a:spLocks noChangeShapeType="1"/>
            </p:cNvSpPr>
            <p:nvPr/>
          </p:nvSpPr>
          <p:spPr bwMode="auto">
            <a:xfrm>
              <a:off x="622776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0" name="Line 64"/>
            <p:cNvSpPr>
              <a:spLocks noChangeShapeType="1"/>
            </p:cNvSpPr>
            <p:nvPr/>
          </p:nvSpPr>
          <p:spPr bwMode="auto">
            <a:xfrm>
              <a:off x="588486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1" name="Line 65"/>
            <p:cNvSpPr>
              <a:spLocks noChangeShapeType="1"/>
            </p:cNvSpPr>
            <p:nvPr/>
          </p:nvSpPr>
          <p:spPr bwMode="auto">
            <a:xfrm>
              <a:off x="552291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2" name="Line 66"/>
            <p:cNvSpPr>
              <a:spLocks noChangeShapeType="1"/>
            </p:cNvSpPr>
            <p:nvPr/>
          </p:nvSpPr>
          <p:spPr bwMode="auto">
            <a:xfrm>
              <a:off x="519906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3" name="Line 67"/>
            <p:cNvSpPr>
              <a:spLocks noChangeShapeType="1"/>
            </p:cNvSpPr>
            <p:nvPr/>
          </p:nvSpPr>
          <p:spPr bwMode="auto">
            <a:xfrm>
              <a:off x="658971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4" name="Line 68"/>
            <p:cNvSpPr>
              <a:spLocks noChangeShapeType="1"/>
            </p:cNvSpPr>
            <p:nvPr/>
          </p:nvSpPr>
          <p:spPr bwMode="auto">
            <a:xfrm>
              <a:off x="691356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5" name="Line 69"/>
            <p:cNvSpPr>
              <a:spLocks noChangeShapeType="1"/>
            </p:cNvSpPr>
            <p:nvPr/>
          </p:nvSpPr>
          <p:spPr bwMode="auto">
            <a:xfrm>
              <a:off x="7256463" y="4427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6" name="Rectangle 70"/>
            <p:cNvSpPr>
              <a:spLocks noChangeArrowheads="1"/>
            </p:cNvSpPr>
            <p:nvPr/>
          </p:nvSpPr>
          <p:spPr bwMode="auto">
            <a:xfrm>
              <a:off x="4837113" y="4046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2F 2E 2D 2C 2B2A 29 28</a:t>
              </a:r>
            </a:p>
          </p:txBody>
        </p:sp>
        <p:sp>
          <p:nvSpPr>
            <p:cNvPr id="85067" name="Line 71"/>
            <p:cNvSpPr>
              <a:spLocks noChangeShapeType="1"/>
            </p:cNvSpPr>
            <p:nvPr/>
          </p:nvSpPr>
          <p:spPr bwMode="auto">
            <a:xfrm>
              <a:off x="622776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8" name="Line 72"/>
            <p:cNvSpPr>
              <a:spLocks noChangeShapeType="1"/>
            </p:cNvSpPr>
            <p:nvPr/>
          </p:nvSpPr>
          <p:spPr bwMode="auto">
            <a:xfrm>
              <a:off x="588486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69" name="Line 73"/>
            <p:cNvSpPr>
              <a:spLocks noChangeShapeType="1"/>
            </p:cNvSpPr>
            <p:nvPr/>
          </p:nvSpPr>
          <p:spPr bwMode="auto">
            <a:xfrm>
              <a:off x="552291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0" name="Line 74"/>
            <p:cNvSpPr>
              <a:spLocks noChangeShapeType="1"/>
            </p:cNvSpPr>
            <p:nvPr/>
          </p:nvSpPr>
          <p:spPr bwMode="auto">
            <a:xfrm>
              <a:off x="519906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1" name="Line 75"/>
            <p:cNvSpPr>
              <a:spLocks noChangeShapeType="1"/>
            </p:cNvSpPr>
            <p:nvPr/>
          </p:nvSpPr>
          <p:spPr bwMode="auto">
            <a:xfrm>
              <a:off x="658971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2" name="Line 76"/>
            <p:cNvSpPr>
              <a:spLocks noChangeShapeType="1"/>
            </p:cNvSpPr>
            <p:nvPr/>
          </p:nvSpPr>
          <p:spPr bwMode="auto">
            <a:xfrm>
              <a:off x="691356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3" name="Line 77"/>
            <p:cNvSpPr>
              <a:spLocks noChangeShapeType="1"/>
            </p:cNvSpPr>
            <p:nvPr/>
          </p:nvSpPr>
          <p:spPr bwMode="auto">
            <a:xfrm>
              <a:off x="7256463" y="4046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4" name="Rectangle 78"/>
            <p:cNvSpPr>
              <a:spLocks noChangeArrowheads="1"/>
            </p:cNvSpPr>
            <p:nvPr/>
          </p:nvSpPr>
          <p:spPr bwMode="auto">
            <a:xfrm>
              <a:off x="4837113" y="3665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37 36 35 34 33 32 31 30</a:t>
              </a:r>
            </a:p>
          </p:txBody>
        </p:sp>
        <p:sp>
          <p:nvSpPr>
            <p:cNvPr id="85075" name="Line 79"/>
            <p:cNvSpPr>
              <a:spLocks noChangeShapeType="1"/>
            </p:cNvSpPr>
            <p:nvPr/>
          </p:nvSpPr>
          <p:spPr bwMode="auto">
            <a:xfrm>
              <a:off x="622776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6" name="Line 80"/>
            <p:cNvSpPr>
              <a:spLocks noChangeShapeType="1"/>
            </p:cNvSpPr>
            <p:nvPr/>
          </p:nvSpPr>
          <p:spPr bwMode="auto">
            <a:xfrm>
              <a:off x="588486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7" name="Line 81"/>
            <p:cNvSpPr>
              <a:spLocks noChangeShapeType="1"/>
            </p:cNvSpPr>
            <p:nvPr/>
          </p:nvSpPr>
          <p:spPr bwMode="auto">
            <a:xfrm>
              <a:off x="552291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8" name="Line 82"/>
            <p:cNvSpPr>
              <a:spLocks noChangeShapeType="1"/>
            </p:cNvSpPr>
            <p:nvPr/>
          </p:nvSpPr>
          <p:spPr bwMode="auto">
            <a:xfrm>
              <a:off x="519906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79" name="Line 83"/>
            <p:cNvSpPr>
              <a:spLocks noChangeShapeType="1"/>
            </p:cNvSpPr>
            <p:nvPr/>
          </p:nvSpPr>
          <p:spPr bwMode="auto">
            <a:xfrm>
              <a:off x="658971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0" name="Line 84"/>
            <p:cNvSpPr>
              <a:spLocks noChangeShapeType="1"/>
            </p:cNvSpPr>
            <p:nvPr/>
          </p:nvSpPr>
          <p:spPr bwMode="auto">
            <a:xfrm>
              <a:off x="691356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1" name="Line 85"/>
            <p:cNvSpPr>
              <a:spLocks noChangeShapeType="1"/>
            </p:cNvSpPr>
            <p:nvPr/>
          </p:nvSpPr>
          <p:spPr bwMode="auto">
            <a:xfrm>
              <a:off x="7256463" y="3665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2" name="Rectangle 86"/>
            <p:cNvSpPr>
              <a:spLocks noChangeArrowheads="1"/>
            </p:cNvSpPr>
            <p:nvPr/>
          </p:nvSpPr>
          <p:spPr bwMode="auto">
            <a:xfrm>
              <a:off x="4837113" y="3284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3F 3E 3D 3C3B 3A 39 38</a:t>
              </a:r>
            </a:p>
          </p:txBody>
        </p:sp>
        <p:sp>
          <p:nvSpPr>
            <p:cNvPr id="85083" name="Line 87"/>
            <p:cNvSpPr>
              <a:spLocks noChangeShapeType="1"/>
            </p:cNvSpPr>
            <p:nvPr/>
          </p:nvSpPr>
          <p:spPr bwMode="auto">
            <a:xfrm>
              <a:off x="622776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4" name="Line 88"/>
            <p:cNvSpPr>
              <a:spLocks noChangeShapeType="1"/>
            </p:cNvSpPr>
            <p:nvPr/>
          </p:nvSpPr>
          <p:spPr bwMode="auto">
            <a:xfrm>
              <a:off x="588486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5" name="Line 89"/>
            <p:cNvSpPr>
              <a:spLocks noChangeShapeType="1"/>
            </p:cNvSpPr>
            <p:nvPr/>
          </p:nvSpPr>
          <p:spPr bwMode="auto">
            <a:xfrm>
              <a:off x="552291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6" name="Line 90"/>
            <p:cNvSpPr>
              <a:spLocks noChangeShapeType="1"/>
            </p:cNvSpPr>
            <p:nvPr/>
          </p:nvSpPr>
          <p:spPr bwMode="auto">
            <a:xfrm>
              <a:off x="519906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7" name="Line 91"/>
            <p:cNvSpPr>
              <a:spLocks noChangeShapeType="1"/>
            </p:cNvSpPr>
            <p:nvPr/>
          </p:nvSpPr>
          <p:spPr bwMode="auto">
            <a:xfrm>
              <a:off x="658971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8" name="Line 92"/>
            <p:cNvSpPr>
              <a:spLocks noChangeShapeType="1"/>
            </p:cNvSpPr>
            <p:nvPr/>
          </p:nvSpPr>
          <p:spPr bwMode="auto">
            <a:xfrm>
              <a:off x="691356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89" name="Line 93"/>
            <p:cNvSpPr>
              <a:spLocks noChangeShapeType="1"/>
            </p:cNvSpPr>
            <p:nvPr/>
          </p:nvSpPr>
          <p:spPr bwMode="auto">
            <a:xfrm>
              <a:off x="7256463" y="3284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0" name="Rectangle 94"/>
            <p:cNvSpPr>
              <a:spLocks noChangeArrowheads="1"/>
            </p:cNvSpPr>
            <p:nvPr/>
          </p:nvSpPr>
          <p:spPr bwMode="auto">
            <a:xfrm>
              <a:off x="4837113" y="29030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47 46 45 44 43 42 41 40</a:t>
              </a:r>
            </a:p>
          </p:txBody>
        </p:sp>
        <p:sp>
          <p:nvSpPr>
            <p:cNvPr id="85091" name="Line 95"/>
            <p:cNvSpPr>
              <a:spLocks noChangeShapeType="1"/>
            </p:cNvSpPr>
            <p:nvPr/>
          </p:nvSpPr>
          <p:spPr bwMode="auto">
            <a:xfrm>
              <a:off x="622776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2" name="Line 96"/>
            <p:cNvSpPr>
              <a:spLocks noChangeShapeType="1"/>
            </p:cNvSpPr>
            <p:nvPr/>
          </p:nvSpPr>
          <p:spPr bwMode="auto">
            <a:xfrm>
              <a:off x="588486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3" name="Line 97"/>
            <p:cNvSpPr>
              <a:spLocks noChangeShapeType="1"/>
            </p:cNvSpPr>
            <p:nvPr/>
          </p:nvSpPr>
          <p:spPr bwMode="auto">
            <a:xfrm>
              <a:off x="552291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4" name="Line 98"/>
            <p:cNvSpPr>
              <a:spLocks noChangeShapeType="1"/>
            </p:cNvSpPr>
            <p:nvPr/>
          </p:nvSpPr>
          <p:spPr bwMode="auto">
            <a:xfrm>
              <a:off x="519906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5" name="Line 99"/>
            <p:cNvSpPr>
              <a:spLocks noChangeShapeType="1"/>
            </p:cNvSpPr>
            <p:nvPr/>
          </p:nvSpPr>
          <p:spPr bwMode="auto">
            <a:xfrm>
              <a:off x="658971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6" name="Line 100"/>
            <p:cNvSpPr>
              <a:spLocks noChangeShapeType="1"/>
            </p:cNvSpPr>
            <p:nvPr/>
          </p:nvSpPr>
          <p:spPr bwMode="auto">
            <a:xfrm>
              <a:off x="691356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7" name="Line 101"/>
            <p:cNvSpPr>
              <a:spLocks noChangeShapeType="1"/>
            </p:cNvSpPr>
            <p:nvPr/>
          </p:nvSpPr>
          <p:spPr bwMode="auto">
            <a:xfrm>
              <a:off x="7256463" y="29030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98" name="Rectangle 102"/>
            <p:cNvSpPr>
              <a:spLocks noChangeArrowheads="1"/>
            </p:cNvSpPr>
            <p:nvPr/>
          </p:nvSpPr>
          <p:spPr bwMode="auto">
            <a:xfrm>
              <a:off x="4837113" y="1607627"/>
              <a:ext cx="2743200" cy="12954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099" name="Line 103"/>
            <p:cNvSpPr>
              <a:spLocks noChangeShapeType="1"/>
            </p:cNvSpPr>
            <p:nvPr/>
          </p:nvSpPr>
          <p:spPr bwMode="auto">
            <a:xfrm>
              <a:off x="4837113" y="1912427"/>
              <a:ext cx="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0" name="Text Box 104"/>
            <p:cNvSpPr txBox="1">
              <a:spLocks noChangeArrowheads="1"/>
            </p:cNvSpPr>
            <p:nvPr/>
          </p:nvSpPr>
          <p:spPr bwMode="auto">
            <a:xfrm>
              <a:off x="4303713" y="1633027"/>
              <a:ext cx="609600" cy="3365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2FH</a:t>
              </a:r>
            </a:p>
          </p:txBody>
        </p:sp>
        <p:sp>
          <p:nvSpPr>
            <p:cNvPr id="85101" name="Rectangle 105"/>
            <p:cNvSpPr>
              <a:spLocks noChangeArrowheads="1"/>
            </p:cNvSpPr>
            <p:nvPr/>
          </p:nvSpPr>
          <p:spPr bwMode="auto">
            <a:xfrm>
              <a:off x="4837113" y="1607627"/>
              <a:ext cx="2743200" cy="381000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7F 7E 7D7C 7B 7A 79 78</a:t>
              </a:r>
            </a:p>
          </p:txBody>
        </p:sp>
        <p:sp>
          <p:nvSpPr>
            <p:cNvPr id="85102" name="Line 106"/>
            <p:cNvSpPr>
              <a:spLocks noChangeShapeType="1"/>
            </p:cNvSpPr>
            <p:nvPr/>
          </p:nvSpPr>
          <p:spPr bwMode="auto">
            <a:xfrm>
              <a:off x="622776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3" name="Line 107"/>
            <p:cNvSpPr>
              <a:spLocks noChangeShapeType="1"/>
            </p:cNvSpPr>
            <p:nvPr/>
          </p:nvSpPr>
          <p:spPr bwMode="auto">
            <a:xfrm>
              <a:off x="588486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4" name="Line 108"/>
            <p:cNvSpPr>
              <a:spLocks noChangeShapeType="1"/>
            </p:cNvSpPr>
            <p:nvPr/>
          </p:nvSpPr>
          <p:spPr bwMode="auto">
            <a:xfrm>
              <a:off x="552291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5" name="Line 109"/>
            <p:cNvSpPr>
              <a:spLocks noChangeShapeType="1"/>
            </p:cNvSpPr>
            <p:nvPr/>
          </p:nvSpPr>
          <p:spPr bwMode="auto">
            <a:xfrm>
              <a:off x="519906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6" name="Line 110"/>
            <p:cNvSpPr>
              <a:spLocks noChangeShapeType="1"/>
            </p:cNvSpPr>
            <p:nvPr/>
          </p:nvSpPr>
          <p:spPr bwMode="auto">
            <a:xfrm>
              <a:off x="658971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7" name="Line 111"/>
            <p:cNvSpPr>
              <a:spLocks noChangeShapeType="1"/>
            </p:cNvSpPr>
            <p:nvPr/>
          </p:nvSpPr>
          <p:spPr bwMode="auto">
            <a:xfrm>
              <a:off x="691356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8" name="Line 112"/>
            <p:cNvSpPr>
              <a:spLocks noChangeShapeType="1"/>
            </p:cNvSpPr>
            <p:nvPr/>
          </p:nvSpPr>
          <p:spPr bwMode="auto">
            <a:xfrm>
              <a:off x="7256463" y="1607627"/>
              <a:ext cx="0" cy="381000"/>
            </a:xfrm>
            <a:prstGeom prst="line">
              <a:avLst/>
            </a:prstGeom>
            <a:noFill/>
            <a:ln w="12700" cap="sq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09" name="Line 113"/>
            <p:cNvSpPr>
              <a:spLocks noChangeShapeType="1"/>
            </p:cNvSpPr>
            <p:nvPr/>
          </p:nvSpPr>
          <p:spPr bwMode="auto">
            <a:xfrm>
              <a:off x="4608513" y="2141027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110" name="Text Box 114"/>
            <p:cNvSpPr txBox="1">
              <a:spLocks noChangeArrowheads="1"/>
            </p:cNvSpPr>
            <p:nvPr/>
          </p:nvSpPr>
          <p:spPr bwMode="auto">
            <a:xfrm>
              <a:off x="5751513" y="2231514"/>
              <a:ext cx="914400" cy="3667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位地址</a:t>
              </a:r>
            </a:p>
          </p:txBody>
        </p:sp>
        <p:sp>
          <p:nvSpPr>
            <p:cNvPr id="85111" name="AutoShape 115"/>
            <p:cNvSpPr/>
            <p:nvPr/>
          </p:nvSpPr>
          <p:spPr bwMode="auto">
            <a:xfrm>
              <a:off x="7732713" y="1607627"/>
              <a:ext cx="304800" cy="4724400"/>
            </a:xfrm>
            <a:prstGeom prst="rightBrace">
              <a:avLst>
                <a:gd name="adj1" fmla="val 129167"/>
                <a:gd name="adj2" fmla="val 50000"/>
              </a:avLst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112" name="Text Box 116"/>
            <p:cNvSpPr txBox="1">
              <a:spLocks noChangeArrowheads="1"/>
            </p:cNvSpPr>
            <p:nvPr/>
          </p:nvSpPr>
          <p:spPr bwMode="auto">
            <a:xfrm>
              <a:off x="8037513" y="3055427"/>
              <a:ext cx="701675" cy="1739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总共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128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个可按位寻址的位</a:t>
              </a:r>
            </a:p>
          </p:txBody>
        </p:sp>
        <p:sp>
          <p:nvSpPr>
            <p:cNvPr id="85113" name="Text Box 117"/>
            <p:cNvSpPr txBox="1">
              <a:spLocks noChangeArrowheads="1"/>
            </p:cNvSpPr>
            <p:nvPr/>
          </p:nvSpPr>
          <p:spPr bwMode="auto">
            <a:xfrm>
              <a:off x="3998913" y="6407763"/>
              <a:ext cx="1295400" cy="3667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单元地址</a:t>
              </a:r>
            </a:p>
          </p:txBody>
        </p:sp>
        <p:sp>
          <p:nvSpPr>
            <p:cNvPr id="85114" name="Rectangle 118"/>
            <p:cNvSpPr>
              <a:spLocks noChangeArrowheads="1"/>
            </p:cNvSpPr>
            <p:nvPr/>
          </p:nvSpPr>
          <p:spPr bwMode="auto">
            <a:xfrm>
              <a:off x="4840287" y="5189144"/>
              <a:ext cx="342901" cy="381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115" name="Text Box 119"/>
            <p:cNvSpPr txBox="1">
              <a:spLocks noChangeArrowheads="1"/>
            </p:cNvSpPr>
            <p:nvPr/>
          </p:nvSpPr>
          <p:spPr bwMode="auto">
            <a:xfrm>
              <a:off x="4776816" y="5195377"/>
              <a:ext cx="461934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</a:p>
          </p:txBody>
        </p:sp>
        <p:sp>
          <p:nvSpPr>
            <p:cNvPr id="85116" name="Text Box 120"/>
            <p:cNvSpPr txBox="1">
              <a:spLocks noChangeArrowheads="1"/>
            </p:cNvSpPr>
            <p:nvPr/>
          </p:nvSpPr>
          <p:spPr bwMode="auto">
            <a:xfrm>
              <a:off x="4612148" y="1138005"/>
              <a:ext cx="3155031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D7 D6 D5 D4 D3 D2 D1 D0</a:t>
              </a:r>
            </a:p>
          </p:txBody>
        </p:sp>
      </p:grpSp>
      <p:pic>
        <p:nvPicPr>
          <p:cNvPr id="84996" name="图片 1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7" name="图片 1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31050" y="6408738"/>
            <a:ext cx="1763713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8" name="图片 12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标注 1"/>
          <p:cNvSpPr/>
          <p:nvPr/>
        </p:nvSpPr>
        <p:spPr>
          <a:xfrm>
            <a:off x="3415812" y="5316704"/>
            <a:ext cx="820524" cy="301480"/>
          </a:xfrm>
          <a:prstGeom prst="wedgeRectCallout">
            <a:avLst>
              <a:gd name="adj1" fmla="val 122802"/>
              <a:gd name="adj2" fmla="val -10239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22H.7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8704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69875" y="814294"/>
          <a:ext cx="8624888" cy="54321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6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寻址方式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寻址空间及利用的变量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立即寻址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立即数在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程序存储器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  <a:endParaRPr lang="zh-CN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直接寻址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575"/>
                        </a:spcBef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操作数的地址在指令中，操作数在</a:t>
                      </a:r>
                      <a:r>
                        <a:rPr kumimoji="1" lang="zh-CN" altLang="en-US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片内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数据存储器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kumimoji="1" lang="zh-CN" altLang="en-US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特殊功能寄存器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SFR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寄存器寻址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75"/>
                        </a:spcBef>
                      </a:pPr>
                      <a:r>
                        <a:rPr kumimoji="1" lang="zh-CN" altLang="en-US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片内</a:t>
                      </a:r>
                      <a:r>
                        <a:rPr kumimoji="1"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，操作数在工作寄存器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R0~R7</a:t>
                      </a:r>
                      <a:r>
                        <a:rPr kumimoji="1" lang="zh-CN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1" lang="zh-CN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1" lang="zh-CN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kumimoji="1" lang="zh-CN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DPTR</a:t>
                      </a:r>
                      <a:endParaRPr lang="zh-CN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寄存器间接寻址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575"/>
                        </a:spcBef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操作数的地址在指令中，操作数在：</a:t>
                      </a:r>
                      <a:endParaRPr kumimoji="1"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575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kumimoji="1" lang="zh-CN" altLang="en-US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片内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[@R0, @R1, SP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仅对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PUSH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POP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形式寻址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endParaRPr kumimoji="1"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575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外部数据存储器 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@R0, @R1, @DPTR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形式寻址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变址寻址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操作数在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程序存储器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[@A+DPTR</a:t>
                      </a:r>
                      <a:r>
                        <a:rPr kumimoji="1" lang="zh-CN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 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@A+PC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zh-CN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相对寻址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操作数在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程序存储器</a:t>
                      </a:r>
                      <a:r>
                        <a:rPr kumimoji="1" lang="en-US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r>
                        <a:rPr kumimoji="1" lang="zh-CN" altLang="zh-CN" sz="18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kumimoji="1" lang="zh-CN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(PC+</a:t>
                      </a:r>
                      <a:r>
                        <a:rPr kumimoji="1" lang="zh-CN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偏移量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位寻址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操作数为</a:t>
                      </a:r>
                      <a:r>
                        <a:rPr kumimoji="1" lang="zh-CN" altLang="en-US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片内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r>
                        <a:rPr kumimoji="1"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kumimoji="1"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20H~2FH</a:t>
                      </a:r>
                      <a:r>
                        <a:rPr kumimoji="1" lang="zh-CN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单元，</a:t>
                      </a:r>
                      <a:r>
                        <a:rPr kumimoji="1" lang="zh-CN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</a:t>
                      </a:r>
                      <a:r>
                        <a:rPr kumimoji="1" lang="en-US" altLang="zh-CN" sz="18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SFR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</p:txBody>
      </p:sp>
      <p:pic>
        <p:nvPicPr>
          <p:cNvPr id="8704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32525"/>
              </p:ext>
            </p:extLst>
          </p:nvPr>
        </p:nvGraphicFramePr>
        <p:xfrm>
          <a:off x="269874" y="1311353"/>
          <a:ext cx="8624889" cy="50669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5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8566">
                <a:tc gridSpan="2"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立即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寄存器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寄存器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间接寻址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变址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5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片内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128B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5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工作寄存器组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R0~R7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5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特殊功能寄存器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SFR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DPTR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Cy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5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56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程序储存器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56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片外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RAM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56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位地址空间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965325" y="760413"/>
            <a:ext cx="5229225" cy="42370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寻址方式与存储器空间的对应关系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2006600"/>
            <a:ext cx="792162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89090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2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216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精简指令集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中共有</a:t>
            </a:r>
            <a:r>
              <a:rPr lang="en-US" altLang="zh-CN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指令，其分类如下：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指令所占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条单字节指令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条双字节指令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条三字节指令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zh-CN" altLang="en-US" sz="2200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编译后所占字节长度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(12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个振荡周期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条指令的执行时间为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条指令的执行时间为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机器周期，即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四周期指令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指令功能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分类，可分为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(29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(24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逻辑运算及移位类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(24 )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(17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(17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</a:p>
        </p:txBody>
      </p:sp>
      <p:pic>
        <p:nvPicPr>
          <p:cNvPr id="225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4074227" y="5832689"/>
            <a:ext cx="4818948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精简指令集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(RISC)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、复杂指令集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(CISC)</a:t>
            </a:r>
          </a:p>
          <a:p>
            <a:pPr marL="342900" indent="-342900">
              <a:buClr>
                <a:srgbClr val="C00000"/>
              </a:buClr>
              <a:buFont typeface="微软雅黑" panose="020B0503020204020204" pitchFamily="34" charset="-122"/>
              <a:buChar char="※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“二八定律”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7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7554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数据传送指令是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的一类指令，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共有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，可通过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进行数据传送；可在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数据存储器之间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工作寄存器与数据存储器之间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进行数据传送。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一般是把源操作数传送到目的操作数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双操作数时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不影响标志位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，可能会影响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作为目的操作数时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进行访问。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可以分为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内部存储器间传送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外部数据存储器与累加器间传送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程序存储器向累加器传送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数据交换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SWAP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9113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91140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4143185" y="1048731"/>
            <a:ext cx="4745736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数据传送类指令可在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三个区间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进行：</a:t>
            </a: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芯片内部各单元之间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(R0~R7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SFR)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与外部数据存储器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与程序存储器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由此可以把数据传送类指令分为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</a:t>
            </a: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内部数据传送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通用传送指令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)——MOV</a:t>
            </a: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与片外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之间的传送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——MOVX</a:t>
            </a:r>
          </a:p>
          <a:p>
            <a:pPr marL="800100" lvl="1" indent="-34290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与程序存储器之间传送指令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——MOVC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18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9318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18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片内数据传送指令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① 以累加器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为目的操作数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的指令有以下形式：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   ;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A←data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立即寻址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   ; A←(direct)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Rn 	    ; A←(Rn)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@</a:t>
            </a:r>
            <a:r>
              <a:rPr lang="en-US" altLang="zh-CN" sz="2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; A←((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源操作数为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：把源操作数传送给累加器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※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间址寄存器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256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32256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566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521208" y="5917326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片内数据传送指令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以工作寄存器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为目的操作数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的指令有以下形式：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		;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Rn←data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A   		; Rn←(A)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		; Rn←(direct)</a:t>
            </a:r>
          </a:p>
        </p:txBody>
      </p:sp>
      <p:sp>
        <p:nvSpPr>
          <p:cNvPr id="952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952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277714" y="4289192"/>
            <a:ext cx="8624887" cy="1904411"/>
          </a:xfrm>
          <a:prstGeom prst="wedgeRectCallout">
            <a:avLst>
              <a:gd name="adj1" fmla="val 6284"/>
              <a:gd name="adj2" fmla="val -3555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 Rn,     Rn     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非法，可利用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间接实现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间数据传送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  01H,   02H      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工作寄存器区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00H-1FH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的初始值与指令中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相同，指令如何执行？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片内数据传送指令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以直接地址为目的操作数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的指令有以下形式：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A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Rn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@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sp>
        <p:nvSpPr>
          <p:cNvPr id="972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972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片内数据传送指令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以间接地址为目的操作数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的指令有以下形式：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A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：把源操作数所指定的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传送至以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地址指针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3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993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93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片内数据传送指令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位数据传送指令有以下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DPTR,  #data16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位立即数传送至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位数据指针寄存器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，高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位送入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位送入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3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0137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447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片外数据传送类指令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eaLnBrk="1" latinLnBrk="0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MOVX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类指令可在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与以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@DPTR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所代表的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之间进行数据传送。      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latinLnBrk="0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片外数据传送指令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有以下形式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MOVX   A,        @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   ; A←((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，寄存器间接寻址，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endParaRPr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MOVX   A,        @DPTR  ; A←((DPTR))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，寄存器间接寻址，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MOVX   @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A  	   ; (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)←(A)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RAM/IO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MOVX   @DPTR,  A  	   ; (DPTR)←(A)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RAM/IO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单片机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片外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数据存储器是通过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进行数据传送。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4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0342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586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程序存储器数据传送指令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程序存储器数据传送指令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查表指令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有以下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两种形式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MOVC   A,  @A+PC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A←(A+PC)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，即基址寄存器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的当前值与变址寄存器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的内容之和作为操作数的地址。</a:t>
            </a:r>
            <a:r>
              <a:rPr lang="zh-CN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本指令占用</a:t>
            </a:r>
            <a:r>
              <a:rPr lang="zh-CN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一个字节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，A的内容是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8位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u="sng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初学者不建议使用</a:t>
            </a: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algn="just">
              <a:lnSpc>
                <a:spcPct val="150000"/>
              </a:lnSpc>
            </a:pPr>
            <a:r>
              <a:rPr lang="zh-CN" altLang="pt-BR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优点：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不改变特殊功能寄存器及</a:t>
            </a: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的状态，根据</a:t>
            </a: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的内容就可以取出表格中的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pt-BR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表格只能存放在该条查表指令</a:t>
            </a:r>
            <a:r>
              <a:rPr lang="zh-CN" altLang="pt-BR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pt-BR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pt-BR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个单元</a:t>
            </a:r>
            <a:r>
              <a:rPr lang="zh-CN" altLang="pt-BR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之内，表格的大小受到限制，且表格只能被一段程序所利用。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pt-BR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MOVC  A,  @A+PC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单字节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指令，注意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当前值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下一条指令地址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pt-BR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475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05476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1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>
                <a:spLocks noChangeArrowheads="1"/>
              </p:cNvSpPr>
              <p:nvPr/>
            </p:nvSpPr>
            <p:spPr bwMode="auto">
              <a:xfrm>
                <a:off x="257175" y="736600"/>
                <a:ext cx="8636000" cy="58169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3.3.1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数据传送类指令</a:t>
                </a:r>
                <a:endParaRPr lang="en-US" altLang="zh-CN" sz="2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程序存储器数据传送指令 </a:t>
                </a:r>
                <a:r>
                  <a:rPr lang="en-US" altLang="zh-CN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</a:t>
                </a: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</a:t>
                </a:r>
                <a:r>
                  <a:rPr lang="en-US" altLang="zh-CN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程序存储器数据传送指令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查表指令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有以下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两种形式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   </a:t>
                </a:r>
                <a:endParaRPr lang="pt-BR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pt-BR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MOVC   A,  @A+DPTR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A←(A+DPTR)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，即基址寄存器</a:t>
                </a:r>
                <a:r>
                  <a:rPr lang="en-US" altLang="zh-CN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DPTR</a:t>
                </a:r>
                <a:r>
                  <a:rPr lang="zh-CN" altLang="en-US" sz="20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当前值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与变址寄存器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无符号数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之和作为操作数的地址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可在程序存储器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64KB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的任意空间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000" b="1" dirty="0">
                    <a:solidFill>
                      <a:srgbClr val="FF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</a:t>
                </a:r>
                <a:r>
                  <a:rPr lang="pt-BR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pt-BR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endParaRPr lang="pt-BR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在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MCS-51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指令系统中，这两条指令主要用于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查表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寻址方式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属于：基址寄存器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变址寄存器间接寻址。</a:t>
                </a:r>
                <a:r>
                  <a:rPr lang="pt-BR" altLang="zh-CN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PSEN</m:t>
                        </m:r>
                      </m:e>
                    </m:acc>
                  </m:oMath>
                </a14:m>
                <a:r>
                  <a:rPr lang="zh-CN" altLang="pt-BR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信号有效</a:t>
                </a:r>
                <a:r>
                  <a:rPr lang="zh-CN" altLang="pt-BR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pt-BR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zh-CN" altLang="pt-BR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</a:t>
                </a:r>
                <a:r>
                  <a:rPr lang="pt-BR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ROM</a:t>
                </a:r>
                <a:r>
                  <a:rPr lang="zh-CN" altLang="pt-BR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只读，数据传送是</a:t>
                </a:r>
                <a:r>
                  <a:rPr lang="zh-CN" altLang="pt-BR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单向</a:t>
                </a:r>
                <a:r>
                  <a:rPr lang="zh-CN" altLang="pt-BR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，通常用于</a:t>
                </a:r>
                <a:r>
                  <a:rPr lang="zh-CN" altLang="pt-BR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查表</a:t>
                </a:r>
                <a:r>
                  <a:rPr lang="zh-CN" altLang="pt-BR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操作，被查的表格在</a:t>
                </a:r>
                <a:r>
                  <a:rPr lang="pt-BR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ROM</a:t>
                </a:r>
                <a:r>
                  <a:rPr lang="zh-CN" altLang="pt-BR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中。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应用：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数据修正、函数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pt-BR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175" y="736600"/>
                <a:ext cx="8636000" cy="5816977"/>
              </a:xfrm>
              <a:prstGeom prst="rect">
                <a:avLst/>
              </a:prstGeom>
              <a:blipFill rotWithShape="1">
                <a:blip r:embed="rId4"/>
                <a:stretch>
                  <a:fillRect b="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07524" name="图片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数据交换指令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数据交换指令有以下形式：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字节交换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XCH   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 	;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的内容交换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XCH    A,  @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的内容交换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XCH    A,  direct   ;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的内容交换</a:t>
            </a: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低半字节交换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XCHD   A,  @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的低四位与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的低四位交换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高、低半字节交换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SWAP    A             ;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的低四位与高四位互换</a:t>
            </a:r>
          </a:p>
        </p:txBody>
      </p:sp>
      <p:sp>
        <p:nvSpPr>
          <p:cNvPr id="10957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0957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标注 4"/>
          <p:cNvSpPr/>
          <p:nvPr/>
        </p:nvSpPr>
        <p:spPr>
          <a:xfrm>
            <a:off x="3889846" y="1106424"/>
            <a:ext cx="4066704" cy="832104"/>
          </a:xfrm>
          <a:prstGeom prst="wedgeRectCallout">
            <a:avLst>
              <a:gd name="adj1" fmla="val -67535"/>
              <a:gd name="adj2" fmla="val 2099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作为操作数，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工作时最繁忙、最活跃的一个寄存器。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60153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堆栈操作指令有以下形式：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; SP←(SP)+1    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指针加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(SP)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←(direct) 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; (direct)←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(SP)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SP←(SP)-1       (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PUSH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指令是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或称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压栈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指令，其功能是先将堆栈指针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的内容加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，然后将直接寻址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单元中的数压入到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所指示的单元中。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POP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或称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指令，其功能是先将堆栈指针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所指示的单元内容弹出到</a:t>
            </a:r>
            <a:r>
              <a:rPr lang="zh-CN" altLang="en-US" sz="20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单元中，然后将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的内容减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始终指向栈顶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11161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11620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标注 6"/>
          <p:cNvSpPr/>
          <p:nvPr/>
        </p:nvSpPr>
        <p:spPr>
          <a:xfrm>
            <a:off x="4089744" y="1216058"/>
            <a:ext cx="3253737" cy="829559"/>
          </a:xfrm>
          <a:prstGeom prst="wedgeRectCallout">
            <a:avLst>
              <a:gd name="adj1" fmla="val -47366"/>
              <a:gd name="adj2" fmla="val 10849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中的内容存放的是操作数的地址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55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堆栈操作指令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中，堆栈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只能设定在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栈顶单元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使用堆栈时，一般需要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的初始值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，即由用户给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设置初值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栈底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堆栈操作指令一般用于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中断处理过程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中，若需要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保护现场数据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如内部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，可使用</a:t>
            </a:r>
            <a:r>
              <a:rPr lang="zh-CN" altLang="en-US" sz="20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入栈指令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，中断处理过程执行完后，再使用</a:t>
            </a:r>
            <a:r>
              <a:rPr lang="zh-CN" altLang="en-US" sz="20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出栈指令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恢复现场数据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两条指令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成对使用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注意顺序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66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1366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366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1299803" y="3230249"/>
            <a:ext cx="7135812" cy="842128"/>
          </a:xfrm>
          <a:prstGeom prst="wedgeRectCallout">
            <a:avLst>
              <a:gd name="adj1" fmla="val 5425"/>
              <a:gd name="adj2" fmla="val -10376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单片机复位时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SP=07H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，堆栈区默认从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08H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地址单元开始，通常需要重设堆栈指针，一般在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高端开设堆栈区，如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 SP,  #60H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4779964" y="1333044"/>
            <a:ext cx="2351086" cy="328612"/>
          </a:xfrm>
          <a:prstGeom prst="wedgeRectCallout">
            <a:avLst>
              <a:gd name="adj1" fmla="val -30800"/>
              <a:gd name="adj2" fmla="val 136233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 30H~7FH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078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(ACC)=7BH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(35H)=11H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，则执行以下指令后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单元中的内容为？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PUSH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(61H)←#7BH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PUSH  35H    ; (62H)←(35H)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(62H)←#11H</a:t>
            </a:r>
          </a:p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POP    </a:t>
            </a:r>
            <a:r>
              <a:rPr lang="pt-BR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; 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CC←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(62H)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pt-BR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CC←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#11H</a:t>
            </a:r>
          </a:p>
          <a:p>
            <a:pPr algn="just"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POP    35H     ; (35H)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(61H)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pt-BR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(35H)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#7BH</a:t>
            </a:r>
          </a:p>
        </p:txBody>
      </p:sp>
      <p:sp>
        <p:nvSpPr>
          <p:cNvPr id="11571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1571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1" name="图片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将片内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30H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单元中的内容互换。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76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68288" y="2093913"/>
            <a:ext cx="3171061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传送法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31H,   30H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 30H,   40H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 40H,   31H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5141913" y="2103438"/>
            <a:ext cx="3171061" cy="2462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间接地址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传送法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R0,     #40H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R1,     #30H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A,       @R0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B,        @R1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@R1,   A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@R0,   B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257175" y="4805363"/>
            <a:ext cx="2656496" cy="17851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传送法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	30H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PUSH	40H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POP 	           30H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POP	           40H 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5141913" y="4810125"/>
            <a:ext cx="3171061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字节交换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传送法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 A,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XCH	   A,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</a:p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MOV  30H,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pic>
        <p:nvPicPr>
          <p:cNvPr id="117768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3046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设片内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30H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片内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40H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片内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10H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单元的内容为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(P1)=0CAH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指出下列指令的寻址方式及指令执行后的结果。</a:t>
            </a:r>
          </a:p>
        </p:txBody>
      </p:sp>
      <p:sp>
        <p:nvSpPr>
          <p:cNvPr id="11981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119811" name="文本框 2"/>
          <p:cNvSpPr txBox="1">
            <a:spLocks noChangeArrowheads="1"/>
          </p:cNvSpPr>
          <p:nvPr/>
        </p:nvSpPr>
        <p:spPr bwMode="auto">
          <a:xfrm>
            <a:off x="257175" y="3925888"/>
            <a:ext cx="8636000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MOV   R0,      #30H               (2) MOV   A,      @R0</a:t>
            </a:r>
          </a:p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MOV   R1,       A                    (4) MOV   B,       @R1</a:t>
            </a:r>
          </a:p>
          <a:p>
            <a:pPr algn="just"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 MOV   @R0,   P1                   (6) MOV   P3,     P1</a:t>
            </a:r>
          </a:p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(7) MOV   10H,    #20H              (8) MOV   30H,   10H</a:t>
            </a:r>
          </a:p>
        </p:txBody>
      </p:sp>
      <p:pic>
        <p:nvPicPr>
          <p:cNvPr id="119812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4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算术运算类指令共有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基本的算术运算指令。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算术运算类指令所涉及的助记符有：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进行算术运算。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溢出标志位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的二进制整数进行加减运算。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进位标志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多字节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的加减运算。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85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2185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86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521208" y="5917326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8779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对压缩的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数进行运算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数指在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中存放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算术运算指令对程序状态字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三个标志</a:t>
            </a:r>
            <a:r>
              <a:rPr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都有影响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，根据运算的结果会将其置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或清除。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标志。</a:t>
            </a:r>
          </a:p>
        </p:txBody>
      </p:sp>
      <p:sp>
        <p:nvSpPr>
          <p:cNvPr id="12390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2390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7"/>
          <p:cNvSpPr txBox="1"/>
          <p:nvPr/>
        </p:nvSpPr>
        <p:spPr>
          <a:xfrm>
            <a:off x="521208" y="5917326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不带进位的加法指令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不带进位的加法指令有以下形式：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 		; A←(A)+data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 		; A←(A)+(direct)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Rn   		; A←(A)+(Rn)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@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		; A←(A)+((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：完成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中的数与源操作数</a:t>
            </a:r>
            <a:r>
              <a:rPr lang="zh-CN" altLang="en-US" sz="24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所确定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的内容按二进制运算相加，其和送入目的操作数累加器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</a:p>
        </p:txBody>
      </p:sp>
      <p:sp>
        <p:nvSpPr>
          <p:cNvPr id="12595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2595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1" name="图片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9093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不带进位的加法指令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之和为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，显然大于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，相加时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假定为有符号运算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符号位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，两个正数相加结果变负，实际上它是和数的最高位，符号位移入了进位标志，此时位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有进位而位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无进位，置位溢出标志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OV(OV=1)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结果溢出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12800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grpSp>
        <p:nvGrpSpPr>
          <p:cNvPr id="128004" name="组合 2"/>
          <p:cNvGrpSpPr/>
          <p:nvPr/>
        </p:nvGrpSpPr>
        <p:grpSpPr bwMode="auto">
          <a:xfrm>
            <a:off x="2824163" y="3175000"/>
            <a:ext cx="3540839" cy="1809726"/>
            <a:chOff x="2744788" y="1866900"/>
            <a:chExt cx="3540839" cy="1809726"/>
          </a:xfrm>
        </p:grpSpPr>
        <p:sp>
          <p:nvSpPr>
            <p:cNvPr id="128007" name="Text Box 5"/>
            <p:cNvSpPr txBox="1">
              <a:spLocks noChangeArrowheads="1"/>
            </p:cNvSpPr>
            <p:nvPr/>
          </p:nvSpPr>
          <p:spPr bwMode="auto">
            <a:xfrm>
              <a:off x="3125788" y="1866900"/>
              <a:ext cx="3159839" cy="180972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55000"/>
                </a:lnSpc>
              </a:pP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1 1 1 1 0 0 0 B      120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1 1 0 0 1 0 0 B      100</a:t>
              </a:r>
            </a:p>
            <a:p>
              <a:pPr>
                <a:lnSpc>
                  <a:spcPct val="155000"/>
                </a:lnSpc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1 0 1 1 1 0 0 B      220</a:t>
              </a:r>
            </a:p>
          </p:txBody>
        </p:sp>
        <p:sp>
          <p:nvSpPr>
            <p:cNvPr id="128008" name="Line 6"/>
            <p:cNvSpPr>
              <a:spLocks noChangeShapeType="1"/>
            </p:cNvSpPr>
            <p:nvPr/>
          </p:nvSpPr>
          <p:spPr bwMode="auto">
            <a:xfrm>
              <a:off x="2771775" y="3141663"/>
              <a:ext cx="35052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09" name="Text Box 7"/>
            <p:cNvSpPr txBox="1">
              <a:spLocks noChangeArrowheads="1"/>
            </p:cNvSpPr>
            <p:nvPr/>
          </p:nvSpPr>
          <p:spPr bwMode="auto">
            <a:xfrm>
              <a:off x="2744788" y="2605088"/>
              <a:ext cx="355600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pic>
        <p:nvPicPr>
          <p:cNvPr id="128005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49" name="图片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050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447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不带进位的加法指令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-100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相加，结果应为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，显然小于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，相加时： </a:t>
            </a: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符号位由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，两个负数相加结果变为正数，是因为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符号位移入进位标志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无进位而位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有进位，置位溢出标志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，由此可判断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结果溢出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0051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grpSp>
        <p:nvGrpSpPr>
          <p:cNvPr id="130052" name="组合 11"/>
          <p:cNvGrpSpPr/>
          <p:nvPr/>
        </p:nvGrpSpPr>
        <p:grpSpPr bwMode="auto">
          <a:xfrm>
            <a:off x="2870200" y="2941638"/>
            <a:ext cx="3555276" cy="2126952"/>
            <a:chOff x="2339975" y="2124075"/>
            <a:chExt cx="3555276" cy="2126953"/>
          </a:xfrm>
        </p:grpSpPr>
        <p:sp>
          <p:nvSpPr>
            <p:cNvPr id="130055" name="Text Box 5"/>
            <p:cNvSpPr txBox="1">
              <a:spLocks noChangeArrowheads="1"/>
            </p:cNvSpPr>
            <p:nvPr/>
          </p:nvSpPr>
          <p:spPr bwMode="auto">
            <a:xfrm>
              <a:off x="2819400" y="2124075"/>
              <a:ext cx="3031599" cy="156966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0 0 0 1 0 0 0  B  -120</a:t>
              </a:r>
            </a:p>
            <a:p>
              <a:pPr>
                <a:lnSpc>
                  <a:spcPct val="200000"/>
                </a:lnSpc>
              </a:pPr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0 0 1 1 1 0 0  B  -100</a:t>
              </a:r>
            </a:p>
          </p:txBody>
        </p:sp>
        <p:sp>
          <p:nvSpPr>
            <p:cNvPr id="130056" name="Line 6"/>
            <p:cNvSpPr>
              <a:spLocks noChangeShapeType="1"/>
            </p:cNvSpPr>
            <p:nvPr/>
          </p:nvSpPr>
          <p:spPr bwMode="auto">
            <a:xfrm>
              <a:off x="2339975" y="3644900"/>
              <a:ext cx="34290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57" name="Text Box 7"/>
            <p:cNvSpPr txBox="1">
              <a:spLocks noChangeArrowheads="1"/>
            </p:cNvSpPr>
            <p:nvPr/>
          </p:nvSpPr>
          <p:spPr bwMode="auto">
            <a:xfrm>
              <a:off x="2500313" y="3143250"/>
              <a:ext cx="355600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30058" name="Text Box 8"/>
            <p:cNvSpPr txBox="1">
              <a:spLocks noChangeArrowheads="1"/>
            </p:cNvSpPr>
            <p:nvPr/>
          </p:nvSpPr>
          <p:spPr bwMode="auto">
            <a:xfrm>
              <a:off x="2555875" y="3789363"/>
              <a:ext cx="3339376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0 1 0 0 1 0 0   B  -220</a:t>
              </a:r>
            </a:p>
          </p:txBody>
        </p:sp>
      </p:grpSp>
      <p:pic>
        <p:nvPicPr>
          <p:cNvPr id="130053" name="图片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7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18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带进位加法指令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带进位加法指令有以下形式：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	; A←(A)+#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data+Cy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	; A←(A)+(direct)+Cy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	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Rn	; A←(A)+(Rn)+Cy</a:t>
            </a:r>
          </a:p>
          <a:p>
            <a:pPr lvl="2" algn="just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	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@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A←(A)+((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))+Cy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：将指令中源操作数</a:t>
            </a:r>
            <a:r>
              <a:rPr lang="zh-CN" altLang="en-US" sz="24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所确定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的内容及进位标志位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相加，结果送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。此类指令常用于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多字节加法运算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209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32100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69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带进位加法指令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：两字节无符号二进制加法。被加数存放在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，加数存放在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A,       40H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ADD	 A,       50H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60H,   A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A,       41H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ADDC	 A,       51H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61H,   A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CLR	 A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ADDC	 A,       #0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62H,   A	</a:t>
            </a:r>
          </a:p>
        </p:txBody>
      </p:sp>
      <p:sp>
        <p:nvSpPr>
          <p:cNvPr id="13414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3414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14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53997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加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指令有以下形式：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A		; A←(A)+1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direct		;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(direct)←(direct)+1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Rn		; Rn←(Rn)+1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@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)←((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))+1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DPTR		; DPTR←(DPTR)+1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：把操作数指定的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内容加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。除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指令影响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奇偶标志位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外，其余不影响任何标志位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主要指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619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3619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619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3908612" y="1210235"/>
            <a:ext cx="4217521" cy="908892"/>
          </a:xfrm>
          <a:prstGeom prst="wedgeRectCallout">
            <a:avLst>
              <a:gd name="adj1" fmla="val -72371"/>
              <a:gd name="adj2" fmla="val 59492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中的任何标志，若原变量中内容为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FFH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则程序执行后变量为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6651812" y="2530009"/>
            <a:ext cx="2241363" cy="2278530"/>
          </a:xfrm>
          <a:prstGeom prst="wedgeRectCallout">
            <a:avLst>
              <a:gd name="adj1" fmla="val -68771"/>
              <a:gd name="adj2" fmla="val 54771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指令，先对低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位指针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的内容执行加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操作，当产生溢出时，对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的内容执行加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操作，不影响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标志位。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1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十进制调整指令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十进制调整指令有以下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DA  A  ; A←(A) 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码调整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：将存放于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中的两个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的和进行十进制调整，使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中的结果调整为正确的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码数。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只能进行二进制运算，如果进行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码运算的结果超过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，必须对结果进行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。此时，只需要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在加法指令之后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紧跟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一条这样的指令，即可根据标志位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和累加器的内容对结果自动进行修正，使之成为正确的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24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38244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4476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十进制调整指令：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   A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 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”指令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用在加法指令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(ADD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 “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 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”指令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码是指“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用二进制表达的十进制数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”。如：十进制数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可以用</a:t>
            </a:r>
            <a:r>
              <a:rPr lang="zh-CN" altLang="en-US" sz="20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00010100B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表示；用</a:t>
            </a:r>
            <a:r>
              <a:rPr lang="zh-CN" altLang="en-US" sz="20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表示；用</a:t>
            </a:r>
            <a:r>
              <a:rPr lang="en-US" altLang="zh-CN" sz="20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</a:t>
            </a:r>
            <a:r>
              <a:rPr lang="en-US" altLang="zh-CN" sz="20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个二进制位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就可以表示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可表示十进制数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个二进制位就可以表示两位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29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4029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0293" name="图片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7" name="图片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33226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加法指令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十进制调整指令：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   A</a:t>
            </a:r>
          </a:p>
          <a:p>
            <a:pPr lvl="1" algn="just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(AC)=1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&lt;— (A)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            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(CY)=1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&lt;— (A)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：两个十进制数“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相加，根据常识，显然其和应当为“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233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230313" y="4271963"/>
            <a:ext cx="2667000" cy="230822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A, #65H   ADD   A, #58H     DA     A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(A)=23H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   (CY)= 1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341" name="Text Box 9"/>
          <p:cNvSpPr txBox="1">
            <a:spLocks noChangeArrowheads="1"/>
          </p:cNvSpPr>
          <p:nvPr/>
        </p:nvSpPr>
        <p:spPr bwMode="auto">
          <a:xfrm>
            <a:off x="4594225" y="3903663"/>
            <a:ext cx="4048125" cy="267811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6   5          0110 0101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5   8          0101 1000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42342" name="Text Box 11"/>
          <p:cNvSpPr txBox="1">
            <a:spLocks noChangeArrowheads="1"/>
          </p:cNvSpPr>
          <p:nvPr/>
        </p:nvSpPr>
        <p:spPr bwMode="auto">
          <a:xfrm>
            <a:off x="4694238" y="5073650"/>
            <a:ext cx="371475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</p:txBody>
      </p:sp>
      <p:sp>
        <p:nvSpPr>
          <p:cNvPr id="142343" name="Line 13"/>
          <p:cNvSpPr>
            <a:spLocks noChangeShapeType="1"/>
          </p:cNvSpPr>
          <p:nvPr/>
        </p:nvSpPr>
        <p:spPr bwMode="auto">
          <a:xfrm flipH="1">
            <a:off x="4868863" y="5722938"/>
            <a:ext cx="0" cy="331787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344" name="Text Box 14"/>
          <p:cNvSpPr txBox="1">
            <a:spLocks noChangeArrowheads="1"/>
          </p:cNvSpPr>
          <p:nvPr/>
        </p:nvSpPr>
        <p:spPr bwMode="auto">
          <a:xfrm>
            <a:off x="4692650" y="6067425"/>
            <a:ext cx="446088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42345" name="Text Box 15"/>
          <p:cNvSpPr txBox="1">
            <a:spLocks noChangeArrowheads="1"/>
          </p:cNvSpPr>
          <p:nvPr/>
        </p:nvSpPr>
        <p:spPr bwMode="auto">
          <a:xfrm>
            <a:off x="5591175" y="6067425"/>
            <a:ext cx="444500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42346" name="Text Box 16"/>
          <p:cNvSpPr txBox="1">
            <a:spLocks noChangeArrowheads="1"/>
          </p:cNvSpPr>
          <p:nvPr/>
        </p:nvSpPr>
        <p:spPr bwMode="auto">
          <a:xfrm>
            <a:off x="4943475" y="5668963"/>
            <a:ext cx="669925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</a:p>
        </p:txBody>
      </p:sp>
      <p:sp>
        <p:nvSpPr>
          <p:cNvPr id="142347" name="Text Box 17"/>
          <p:cNvSpPr txBox="1">
            <a:spLocks noChangeArrowheads="1"/>
          </p:cNvSpPr>
          <p:nvPr/>
        </p:nvSpPr>
        <p:spPr bwMode="auto">
          <a:xfrm>
            <a:off x="5540375" y="5661025"/>
            <a:ext cx="742950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</a:p>
        </p:txBody>
      </p:sp>
      <p:sp>
        <p:nvSpPr>
          <p:cNvPr id="142348" name="Text Box 18"/>
          <p:cNvSpPr txBox="1">
            <a:spLocks noChangeArrowheads="1"/>
          </p:cNvSpPr>
          <p:nvPr/>
        </p:nvSpPr>
        <p:spPr bwMode="auto">
          <a:xfrm>
            <a:off x="5122863" y="6067425"/>
            <a:ext cx="519112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42349" name="Text Box 19"/>
          <p:cNvSpPr txBox="1">
            <a:spLocks noChangeArrowheads="1"/>
          </p:cNvSpPr>
          <p:nvPr/>
        </p:nvSpPr>
        <p:spPr bwMode="auto">
          <a:xfrm>
            <a:off x="5067300" y="5122863"/>
            <a:ext cx="3368675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6   6          0110 0110</a:t>
            </a:r>
          </a:p>
        </p:txBody>
      </p:sp>
      <p:sp>
        <p:nvSpPr>
          <p:cNvPr id="142350" name="Line 20"/>
          <p:cNvSpPr>
            <a:spLocks noChangeShapeType="1"/>
          </p:cNvSpPr>
          <p:nvPr/>
        </p:nvSpPr>
        <p:spPr bwMode="auto">
          <a:xfrm flipV="1">
            <a:off x="4654550" y="5646738"/>
            <a:ext cx="3948113" cy="158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351" name="Line 21"/>
          <p:cNvSpPr>
            <a:spLocks noChangeShapeType="1"/>
          </p:cNvSpPr>
          <p:nvPr/>
        </p:nvSpPr>
        <p:spPr bwMode="auto">
          <a:xfrm>
            <a:off x="4645025" y="5059363"/>
            <a:ext cx="3959225" cy="14287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2352" name="文本框 18"/>
          <p:cNvSpPr txBox="1">
            <a:spLocks noChangeArrowheads="1"/>
          </p:cNvSpPr>
          <p:nvPr/>
        </p:nvSpPr>
        <p:spPr bwMode="auto">
          <a:xfrm>
            <a:off x="5354638" y="5397500"/>
            <a:ext cx="287337" cy="214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2353" name="文本框 19"/>
          <p:cNvSpPr txBox="1">
            <a:spLocks noChangeArrowheads="1"/>
          </p:cNvSpPr>
          <p:nvPr/>
        </p:nvSpPr>
        <p:spPr bwMode="auto">
          <a:xfrm>
            <a:off x="4884738" y="5397500"/>
            <a:ext cx="287337" cy="214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2354" name="文本框 20"/>
          <p:cNvSpPr txBox="1">
            <a:spLocks noChangeArrowheads="1"/>
          </p:cNvSpPr>
          <p:nvPr/>
        </p:nvSpPr>
        <p:spPr bwMode="auto">
          <a:xfrm>
            <a:off x="7318375" y="5397500"/>
            <a:ext cx="287338" cy="214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2355" name="文本框 21"/>
          <p:cNvSpPr txBox="1">
            <a:spLocks noChangeArrowheads="1"/>
          </p:cNvSpPr>
          <p:nvPr/>
        </p:nvSpPr>
        <p:spPr bwMode="auto">
          <a:xfrm>
            <a:off x="6505575" y="5397500"/>
            <a:ext cx="285750" cy="214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2356" name="Text Box 17"/>
          <p:cNvSpPr txBox="1">
            <a:spLocks noChangeArrowheads="1"/>
          </p:cNvSpPr>
          <p:nvPr/>
        </p:nvSpPr>
        <p:spPr bwMode="auto">
          <a:xfrm>
            <a:off x="7435850" y="5656263"/>
            <a:ext cx="960438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</a:t>
            </a:r>
          </a:p>
        </p:txBody>
      </p:sp>
      <p:sp>
        <p:nvSpPr>
          <p:cNvPr id="142357" name="Text Box 17"/>
          <p:cNvSpPr txBox="1">
            <a:spLocks noChangeArrowheads="1"/>
          </p:cNvSpPr>
          <p:nvPr/>
        </p:nvSpPr>
        <p:spPr bwMode="auto">
          <a:xfrm>
            <a:off x="6592888" y="5665788"/>
            <a:ext cx="962025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0010</a:t>
            </a:r>
          </a:p>
        </p:txBody>
      </p:sp>
      <p:sp>
        <p:nvSpPr>
          <p:cNvPr id="142358" name="Text Box 17"/>
          <p:cNvSpPr txBox="1">
            <a:spLocks noChangeArrowheads="1"/>
          </p:cNvSpPr>
          <p:nvPr/>
        </p:nvSpPr>
        <p:spPr bwMode="auto">
          <a:xfrm>
            <a:off x="6262688" y="5656263"/>
            <a:ext cx="403225" cy="460375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pic>
        <p:nvPicPr>
          <p:cNvPr id="142359" name="图片 2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5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29546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十进制调整指令：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   A</a:t>
            </a: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en-US" altLang="zh-CN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(AC)=1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(A)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             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en-US" altLang="zh-CN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(CY)=1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(A)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：若两个压缩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相加，其和应当为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438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949325" y="3901440"/>
            <a:ext cx="2667000" cy="230822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A, #39H   ADD   A, #58H     DA     A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(A)=97H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   (CY)= 0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389" name="Text Box 9"/>
          <p:cNvSpPr txBox="1">
            <a:spLocks noChangeArrowheads="1"/>
          </p:cNvSpPr>
          <p:nvPr/>
        </p:nvSpPr>
        <p:spPr bwMode="auto">
          <a:xfrm>
            <a:off x="4594225" y="3903663"/>
            <a:ext cx="4048125" cy="267811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3   9           0011 1001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5   8           0101 1000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marL="457200" indent="-45720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44390" name="Text Box 11"/>
          <p:cNvSpPr txBox="1">
            <a:spLocks noChangeArrowheads="1"/>
          </p:cNvSpPr>
          <p:nvPr/>
        </p:nvSpPr>
        <p:spPr bwMode="auto">
          <a:xfrm>
            <a:off x="4694238" y="5073650"/>
            <a:ext cx="371475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</p:txBody>
      </p:sp>
      <p:sp>
        <p:nvSpPr>
          <p:cNvPr id="144391" name="Text Box 14"/>
          <p:cNvSpPr txBox="1">
            <a:spLocks noChangeArrowheads="1"/>
          </p:cNvSpPr>
          <p:nvPr/>
        </p:nvSpPr>
        <p:spPr bwMode="auto">
          <a:xfrm>
            <a:off x="4692650" y="6067425"/>
            <a:ext cx="446088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44392" name="Text Box 15"/>
          <p:cNvSpPr txBox="1">
            <a:spLocks noChangeArrowheads="1"/>
          </p:cNvSpPr>
          <p:nvPr/>
        </p:nvSpPr>
        <p:spPr bwMode="auto">
          <a:xfrm>
            <a:off x="5591175" y="6067425"/>
            <a:ext cx="444500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</p:txBody>
      </p:sp>
      <p:sp>
        <p:nvSpPr>
          <p:cNvPr id="144393" name="Text Box 17"/>
          <p:cNvSpPr txBox="1">
            <a:spLocks noChangeArrowheads="1"/>
          </p:cNvSpPr>
          <p:nvPr/>
        </p:nvSpPr>
        <p:spPr bwMode="auto">
          <a:xfrm>
            <a:off x="5540375" y="5661025"/>
            <a:ext cx="742950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</a:p>
        </p:txBody>
      </p:sp>
      <p:sp>
        <p:nvSpPr>
          <p:cNvPr id="144394" name="Text Box 18"/>
          <p:cNvSpPr txBox="1">
            <a:spLocks noChangeArrowheads="1"/>
          </p:cNvSpPr>
          <p:nvPr/>
        </p:nvSpPr>
        <p:spPr bwMode="auto">
          <a:xfrm>
            <a:off x="5122863" y="6067425"/>
            <a:ext cx="519112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</p:txBody>
      </p:sp>
      <p:sp>
        <p:nvSpPr>
          <p:cNvPr id="144395" name="Text Box 19"/>
          <p:cNvSpPr txBox="1">
            <a:spLocks noChangeArrowheads="1"/>
          </p:cNvSpPr>
          <p:nvPr/>
        </p:nvSpPr>
        <p:spPr bwMode="auto">
          <a:xfrm>
            <a:off x="5067300" y="5122863"/>
            <a:ext cx="3349625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6                    0110</a:t>
            </a:r>
          </a:p>
        </p:txBody>
      </p:sp>
      <p:sp>
        <p:nvSpPr>
          <p:cNvPr id="144396" name="Line 20"/>
          <p:cNvSpPr>
            <a:spLocks noChangeShapeType="1"/>
          </p:cNvSpPr>
          <p:nvPr/>
        </p:nvSpPr>
        <p:spPr bwMode="auto">
          <a:xfrm flipV="1">
            <a:off x="4654550" y="5646738"/>
            <a:ext cx="3948113" cy="158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397" name="Line 21"/>
          <p:cNvSpPr>
            <a:spLocks noChangeShapeType="1"/>
          </p:cNvSpPr>
          <p:nvPr/>
        </p:nvSpPr>
        <p:spPr bwMode="auto">
          <a:xfrm>
            <a:off x="4645025" y="5059363"/>
            <a:ext cx="3959225" cy="14287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44398" name="文本框 18"/>
          <p:cNvSpPr txBox="1">
            <a:spLocks noChangeArrowheads="1"/>
          </p:cNvSpPr>
          <p:nvPr/>
        </p:nvSpPr>
        <p:spPr bwMode="auto">
          <a:xfrm>
            <a:off x="5345113" y="5340350"/>
            <a:ext cx="287337" cy="214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4399" name="文本框 19"/>
          <p:cNvSpPr txBox="1">
            <a:spLocks noChangeArrowheads="1"/>
          </p:cNvSpPr>
          <p:nvPr/>
        </p:nvSpPr>
        <p:spPr bwMode="auto">
          <a:xfrm>
            <a:off x="7381875" y="5354638"/>
            <a:ext cx="287338" cy="214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800" b="1">
                <a:solidFill>
                  <a:srgbClr val="FF0000"/>
                </a:solidFill>
                <a:latin typeface="Calibri" panose="020F0502020204030204" pitchFamily="34" charset="0"/>
              </a:rPr>
              <a:t>●</a:t>
            </a:r>
            <a:endParaRPr lang="zh-CN" altLang="en-US" sz="800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4400" name="Text Box 17"/>
          <p:cNvSpPr txBox="1">
            <a:spLocks noChangeArrowheads="1"/>
          </p:cNvSpPr>
          <p:nvPr/>
        </p:nvSpPr>
        <p:spPr bwMode="auto">
          <a:xfrm>
            <a:off x="7540625" y="5665788"/>
            <a:ext cx="904875" cy="461962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0111</a:t>
            </a:r>
          </a:p>
        </p:txBody>
      </p:sp>
      <p:sp>
        <p:nvSpPr>
          <p:cNvPr id="144401" name="Text Box 17"/>
          <p:cNvSpPr txBox="1">
            <a:spLocks noChangeArrowheads="1"/>
          </p:cNvSpPr>
          <p:nvPr/>
        </p:nvSpPr>
        <p:spPr bwMode="auto">
          <a:xfrm>
            <a:off x="6729413" y="5680075"/>
            <a:ext cx="904875" cy="461963"/>
          </a:xfrm>
          <a:prstGeom prst="rect">
            <a:avLst/>
          </a:prstGeom>
          <a:noFill/>
          <a:ln w="12700" cap="sq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</a:t>
            </a:r>
          </a:p>
        </p:txBody>
      </p:sp>
      <p:pic>
        <p:nvPicPr>
          <p:cNvPr id="144402" name="图片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带借位减法指令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带借位减法指令有以下形式：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SUBB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	; A←(A)-data-Cy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SUBB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@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A←(A)-((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))-Cy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SUBB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direct	; A←(A)-(direct)-Cy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SUBB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Rn		; A←(A)-(Rn)-Cy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中减去源操作数指定的内容和标志位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，结果存入累加器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4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464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4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减法指令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带借位减法指令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执行指令后影响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等标志，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根据这些标志可分析出两数差值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1)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当两个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相减时，若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，表明被减数小于减数，此时必须将累加器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中的值连同借位一并考虑才是正确结果。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2)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当两个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相减时，若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同号相减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，则不发生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，结果正确。当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异号相减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OV=0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，表明没有发生溢出；若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OV=1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，表明发生了溢出，从而导致运算结果发生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4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484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84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493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减法指令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减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减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指令有以下形式：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  A			; A←(A)-1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  Rn			; Rn←(Rn)-1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  @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; 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)←((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))-1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  direct			; (direct)←(direct)-1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：将操作数指定的内容减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。若操作数为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后下溢为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。除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A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指令影响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奇偶标志位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，其余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标志位。</a:t>
            </a:r>
          </a:p>
        </p:txBody>
      </p:sp>
      <p:sp>
        <p:nvSpPr>
          <p:cNvPr id="1505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505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05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4216586" y="2241177"/>
            <a:ext cx="2139389" cy="430306"/>
          </a:xfrm>
          <a:prstGeom prst="wedgeRectCallout">
            <a:avLst>
              <a:gd name="adj1" fmla="val -65545"/>
              <a:gd name="adj2" fmla="val 55184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 DPTR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乘法指令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乘法指令有以下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MUL 	AB ; A←A×B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低字节，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B←A×B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高字节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：把累加器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和寄存器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相乘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，乘积又送回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中存放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中存放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字节。若乘积大于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00FFH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中非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，则溢出标志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OV=1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OV=0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总被清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专用寄存器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仅在乘法和除法指令中是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1525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5257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258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除法指令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除法指令有以下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DIV   AB	; A←(A)/(B)(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B←(A)/(B)(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位无符号数，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均被清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。若除数为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，执行该指令后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结果不定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，并将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MUL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指令寻址方式：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寄存器寻址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1546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5462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462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1706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逻辑操作指令共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条，所有指令均对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位二进制数按位进行逻辑运算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逻辑运算类指令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无进位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zh-CN" altLang="en-US" sz="24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。操作数都是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，可分为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单操作数指令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双操作数指令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两大类。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逻辑与运算：   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(ANL—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逻辑或运算：   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(ORL—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逻辑异或运算：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(XRL—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累加器清零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取反：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(CLR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CPL—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累加器移位操作：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(RL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RRC—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67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5667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667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521208" y="5917326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3553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双操作数逻辑运算指令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“与”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逻辑“与”指令有以下形式：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#data	       ; A←(A)∧data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direct	       ; A←(A)∧(direct)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Rn              ; A←(A)∧(Rn)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@</a:t>
            </a:r>
            <a:r>
              <a:rPr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; A←(A)∧((</a:t>
            </a:r>
            <a:r>
              <a:rPr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direct,  #data	       ; (direct)←(direct)∧data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	direct,  A	       ; (direct)←(direct)∧(A)</a:t>
            </a:r>
          </a:p>
        </p:txBody>
      </p:sp>
      <p:sp>
        <p:nvSpPr>
          <p:cNvPr id="15872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5872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双操作数逻辑运算指令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“与”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：将内部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30H, 31H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单元中存放的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码转换为压缩的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数，存放在内部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单元中。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 A,       30H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ANL	 A,       #0FH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32H,   A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	 A,       31H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ANL	 A,       #0FH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SWAP    A</a:t>
            </a: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ORL	 32H,   A</a:t>
            </a:r>
          </a:p>
        </p:txBody>
      </p:sp>
      <p:sp>
        <p:nvSpPr>
          <p:cNvPr id="16077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6077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077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双操作数逻辑运算指令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“与”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：将源操作数和目的操作数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进行逻辑“与”运算，并将结果存入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目的操作数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与运算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相与，本位为“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即屏蔽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相与，本位不变。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逻辑“与”指令常用于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屏蔽操作数中的某些位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6281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6281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282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80131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“或”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逻辑“或”指令有以下形式：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 #data	       ; A←(A)∨data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 direct	       ; A←(A)∨(direct)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 Rn            ; A←(A)∨(Rn)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      @</a:t>
            </a:r>
            <a:r>
              <a:rPr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; A←(A)∨((</a:t>
            </a:r>
            <a:r>
              <a:rPr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A	       ; (direct)←(direct)∨(A)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	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	       ; (direct)←(direct)∨data</a:t>
            </a:r>
          </a:p>
        </p:txBody>
      </p:sp>
      <p:sp>
        <p:nvSpPr>
          <p:cNvPr id="16486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6486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86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“或”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：将源操作数和目的操作数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进行逻辑“或”运算，并将结果存入目的操作数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、直接寻址的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或运算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相或，本位为“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相或，本位不变。</a:t>
            </a:r>
          </a:p>
        </p:txBody>
      </p:sp>
      <p:sp>
        <p:nvSpPr>
          <p:cNvPr id="16691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6691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91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“异或”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逻辑“异或”指令有以下形式：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	  #data     ; A←(A)⊕data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	  direct     ; A←(A)⊕(direct)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	  Rn	      ; A←(A)⊕(Rn)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	  @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; A←(A)⊕((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A	      ; (direct)←(direct)⊕(A)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 	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     ; (direct)←(direct)⊕data</a:t>
            </a:r>
          </a:p>
        </p:txBody>
      </p:sp>
      <p:sp>
        <p:nvSpPr>
          <p:cNvPr id="16896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6896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96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“异或”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：将源操作数和目的操作数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进行逻辑“异或”运算，并将结果存入目的操作数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、直接寻址的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异或运算的运算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异或，本位为非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即求反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；与“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异或，本位不变。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01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7101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101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7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3058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602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：已知累加器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中已存有数：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9AH</a:t>
            </a:r>
          </a:p>
          <a:p>
            <a:pPr lvl="1"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或者保留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某些位：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ANL   A,  #0FH       ;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(A)=0AH</a:t>
            </a:r>
          </a:p>
          <a:p>
            <a:pPr lvl="1"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或者保留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某些位：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ORL   A,   #0FH       ;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(A)=9FH</a:t>
            </a:r>
          </a:p>
          <a:p>
            <a:pPr lvl="1"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逻辑异或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取反或者保留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某些位：</a:t>
            </a:r>
          </a:p>
          <a:p>
            <a:pPr lvl="2" algn="just">
              <a:lnSpc>
                <a:spcPct val="14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XRL   A,   #0FH       ;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(A)=95H</a:t>
            </a:r>
          </a:p>
          <a:p>
            <a:pPr lvl="2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(A)     </a:t>
            </a:r>
            <a:r>
              <a:rPr kumimoji="1"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1001 1010 B</a:t>
            </a:r>
          </a:p>
          <a:p>
            <a:pPr lvl="2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#0FH </a:t>
            </a:r>
            <a:r>
              <a:rPr kumimoji="1"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0000 1111 B</a:t>
            </a:r>
          </a:p>
          <a:p>
            <a:pPr lvl="2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95H  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r>
              <a:rPr kumimoji="1"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1001 0101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05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73060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9703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单操作数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单操作数逻辑运算指令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操作数为累加器</a:t>
            </a:r>
            <a:r>
              <a:rPr lang="en-US" altLang="zh-CN" sz="2400" b="1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有以下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累加器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CLR	A	; A←0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累加器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求反指令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CPL	A	; A←(/A)</a:t>
            </a:r>
          </a:p>
        </p:txBody>
      </p:sp>
      <p:sp>
        <p:nvSpPr>
          <p:cNvPr id="17510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7510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510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16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的各位依次左移一位，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ACC.0←ACC.7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的各位依次右移一位，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ACC.7←ACC.0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该组指令不影响标志位。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的最高位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(D7)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时，执行一次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指令相当于对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进行一次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操作。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当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的最低位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(D0)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时，执行一次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指令相当于对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进行一次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操作。</a:t>
            </a:r>
          </a:p>
        </p:txBody>
      </p:sp>
      <p:sp>
        <p:nvSpPr>
          <p:cNvPr id="17715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7715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715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累加器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带进位位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的累加器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带进位位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的累加器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循环移位指令有以下形式：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   A    ; 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的各位依次左移一位，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Cy←ACC.7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ACC.0←Cy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RRC   A    ; 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的各位依次右移一位，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Cy←ACC.0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ACC.7←Cy</a:t>
            </a:r>
          </a:p>
          <a:p>
            <a:pPr algn="just">
              <a:lnSpc>
                <a:spcPct val="150000"/>
              </a:lnSpc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 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RRC 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指令影响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20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7920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920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6166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sz="24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为什么要用控制转移类指令？</a:t>
            </a:r>
            <a:endParaRPr lang="en-US" altLang="zh-CN" sz="2400" b="1" u="sng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程序一般是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由程序计数器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自动递增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，但有时因操作需要或设计较复杂程序，需要改变程序执行顺序，即将程序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跳转到某一制定的地址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将该地址赋给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后在执行，此时就要用到控制转移类指令。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控制转移指令主要是</a:t>
            </a:r>
            <a:r>
              <a:rPr lang="zh-CN" altLang="en-US" sz="22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修改程序计数器</a:t>
            </a:r>
            <a:r>
              <a:rPr lang="en-US" altLang="zh-CN" sz="22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。大多数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标志位。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控制转移类指令共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，可分为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空操作指令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子程序调用与返回指令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25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8125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125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521208" y="5725302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48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u="sng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不受任何条件限制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的转移指令称为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无条件转移指令有以下类型：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LJMP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AJMP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间接长转移指令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29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8329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330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1013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长转移指令有以下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LJMP	</a:t>
            </a:r>
            <a:r>
              <a:rPr lang="en-US" altLang="zh-CN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addr16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;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三字节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;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PC←addr16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：把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(addr16)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，从而实现程序转移。允许转移的目标地址范围是整个程序存储器空间，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在实际编程中，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实际地址可用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534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8534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534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7847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绝对转移指令有以下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AJMP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zh-CN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addr11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;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;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0←addr10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PC15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；② 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当前值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修改后的值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与指令中的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拼接在一起，共同构成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位目标地址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送给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，从而使程序转移。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转移范围为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2KB</a:t>
            </a:r>
            <a:r>
              <a:rPr lang="zh-CN" altLang="en-US" sz="24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地址空间。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87394" name="文本框 5"/>
          <p:cNvSpPr txBox="1">
            <a:spLocks noChangeArrowheads="1"/>
          </p:cNvSpPr>
          <p:nvPr/>
        </p:nvSpPr>
        <p:spPr bwMode="auto">
          <a:xfrm>
            <a:off x="268288" y="204788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8739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739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400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亦称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相对转移指令有以下唯一形式：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SJMP	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;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;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PC←(PC)+2+rel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：根据指令中给出的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相对偏移量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相对于当前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PC=(PC)+2)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程序将要转移的目标地址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(PC)+2+rel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，把该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目标地址送给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转移目标地址的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位二进制补码表示的</a:t>
            </a:r>
            <a:r>
              <a:rPr lang="zh-CN" altLang="en-US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带符号数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，由汇编程序在汇编过程中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自动计算偏移地址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，并填入指令代码中。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跳转目的地址处于当前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值的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-128~+127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字节之间。</a:t>
            </a:r>
          </a:p>
        </p:txBody>
      </p:sp>
      <p:pic>
        <p:nvPicPr>
          <p:cNvPr id="18944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944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89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8169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亦称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lvl="2" algn="just"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计算相对转移指令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中的偏移量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=?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0100H   	  SJMP    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; PC←(PC)+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</a:pPr>
            <a:r>
              <a:rPr lang="en-US" altLang="zh-CN" sz="22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0102H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	  MOV    A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  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#10H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0130H  	   ADD    A,       R0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0131H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MOV    A,       #40H      ; PC←(PC)+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2"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相对转移指令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中的偏移量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=2FH</a:t>
            </a:r>
          </a:p>
        </p:txBody>
      </p:sp>
      <p:sp>
        <p:nvSpPr>
          <p:cNvPr id="191491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91492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169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间接长转移指令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间接长转移指令有以下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JMP	@A+DPTR	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PC←(A)+(DPTR)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该指令也称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散转指令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，其功能是把累加器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变址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与数据指针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基址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相加，结果作为下一条指令地址送入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，指令执行后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不改变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不影响标志位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跳转范围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只要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的值固定，给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赋以不同的值，即可实现程序的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分支转移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。可代替众多的判断跳转指令。</a:t>
            </a:r>
          </a:p>
        </p:txBody>
      </p:sp>
      <p:sp>
        <p:nvSpPr>
          <p:cNvPr id="19353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9353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354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5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5586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60016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间接长转移指令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，下面的程序段可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的值决定转移的目标地址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分支结构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A,          #data   ;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的值分别为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时，实现分支转移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DPTR,   #TABLE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C        ;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保证带进位左移时低位为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，左移一位相当于乘以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     A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    @A+DPTR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TABLE:  AJMP  ROUT0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AJMP  ROUT1</a:t>
            </a:r>
          </a:p>
          <a:p>
            <a:pPr lvl="2"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AJMP  ROUT2</a:t>
            </a:r>
          </a:p>
        </p:txBody>
      </p:sp>
      <p:sp>
        <p:nvSpPr>
          <p:cNvPr id="19558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95588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2398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所谓条件转移指令是指</a:t>
            </a:r>
            <a:r>
              <a:rPr lang="zh-CN" altLang="en-US" sz="25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根据指令中给定的判断条件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决定程序是否转移。</a:t>
            </a:r>
            <a:endParaRPr lang="en-US" altLang="zh-CN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FF"/>
              </a:buClr>
              <a:buFont typeface="微软雅黑" panose="020B0503020204020204" pitchFamily="34" charset="-122"/>
              <a:buChar char="※"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条件满足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时，就按指令给定的相对偏移量进行</a:t>
            </a:r>
            <a:r>
              <a:rPr lang="zh-CN" altLang="en-US" sz="2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，程序</a:t>
            </a:r>
            <a:r>
              <a:rPr lang="zh-CN" altLang="en-US" sz="2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条件转移指令中</a:t>
            </a:r>
            <a:r>
              <a:rPr lang="zh-CN" altLang="en-US" sz="25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的形式属于</a:t>
            </a:r>
            <a:r>
              <a:rPr lang="zh-CN" altLang="en-US" sz="25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相对寻址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5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指令转移范围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偏移量计算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目标地址标号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的使用均同</a:t>
            </a:r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</a:t>
            </a:r>
            <a:r>
              <a:rPr lang="zh-CN" alt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</a:p>
        </p:txBody>
      </p:sp>
      <p:sp>
        <p:nvSpPr>
          <p:cNvPr id="1976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976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76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440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的条件转移指令有以下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累加器判零转移指令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JZ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JNZ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比较不相等转移指令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800100" lvl="1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5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6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1996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96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累加器判零转移指令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判零转移指令有以下形式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JZ	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JNZ	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这两条指令均为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双字节指令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的内容是否为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作为转移的条件。本指令执行前，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应有确定的值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实际编程中，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代替。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跳转范围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-128~+127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字节。</a:t>
            </a:r>
          </a:p>
        </p:txBody>
      </p:sp>
      <p:sp>
        <p:nvSpPr>
          <p:cNvPr id="2017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017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17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比较不相等转移指令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比较不相等转移指令有以下形式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三字节指令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1)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指令格式为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	A, #data,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(A)&gt;data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(A)&lt;data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。否则，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37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0377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378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比较不相等转移指令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比较不相等转移指令有以下形式：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2)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指令格式为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	A, direct,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(A)&gt;(direct)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(A)&lt;(direct)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。否则，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58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0582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2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比较不相等转移指令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比较不相等转移指令有以下形式：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3)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指令格式为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	Rn, #data,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(Rn)&gt;data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(Rn)&lt;data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。否则，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787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0787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87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00H~0FH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30H~3FH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MOV   A,       #0H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MOV   R0,     #30H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 MOV   @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A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INC     A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INC     R0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   R0,    #40H,  LOOP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；指令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 Rn, #data, 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STOP:  SJMP STOP                        ; SJMP  $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原地循环</a:t>
            </a:r>
          </a:p>
        </p:txBody>
      </p:sp>
      <p:sp>
        <p:nvSpPr>
          <p:cNvPr id="20992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0992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92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比较不相等转移指令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比较不相等转移指令有以下形式：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4)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指令格式为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	 @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#data, 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))&gt;data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))&lt;data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+rel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满足条件相对转移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。否则，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顺序执行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197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1197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197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  Rn,      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  direct, 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该组指令中第一条指令为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两字节指令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，第二条指令为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三字节指令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21401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1401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402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5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8626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例如：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CLR     A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R2,   #10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LOOP</a:t>
            </a:r>
            <a:r>
              <a:rPr lang="zh-CN" altLang="pt-BR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	</a:t>
            </a: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A,     R2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	DJNZ   R2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 </a:t>
            </a: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	SJMP   $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END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程序功能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(A)=10+9+8+7+6+5+4+3+2+1=37H</a:t>
            </a:r>
            <a:endParaRPr lang="zh-CN" altLang="en-US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06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16068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空操作指令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空操作指令有以下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NOP			;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空操作指令是唯一一条不使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产生任何操作控制的指令，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NOP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是使程序计数器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，在执行时间上消耗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个时钟周期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作用：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延时程序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；调试程序中使用</a:t>
            </a:r>
          </a:p>
        </p:txBody>
      </p:sp>
      <p:sp>
        <p:nvSpPr>
          <p:cNvPr id="21811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1811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811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子程序调用与返回指令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在程序设计时，常常有一些程序段被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多次反复执行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，为缩短程序，节省存储空间，把具有通用意义且逻辑上相对独立的某些程序编成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。当某个程序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主程序或子程序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该子程序时，可通过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子程序调用指令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来执行该子程序，当子程序执行完毕，可通过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子程序返回指令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返回到子程序调用指令时下一条指令处继续执行原程序。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16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2016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16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绝对调用指令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ACALL	addr11  ;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 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 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←addr11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功能：当前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PC{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断点地址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(PC+2)}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压栈；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位子程序入口地址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(PC)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10~0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←addr11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(PC)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15~11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不变。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只可调用在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ACALL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2KB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范围内的子程序。</a:t>
            </a:r>
          </a:p>
        </p:txBody>
      </p:sp>
      <p:sp>
        <p:nvSpPr>
          <p:cNvPr id="22221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2221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221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长调用指令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LCALL   	addr16  ; 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 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PC←addr16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功能：当前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PC{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断点地址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(PC+3)}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压栈；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位子程序入口地址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(PC)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16~0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←addr16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LCALL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指令可调用程序存储器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范围内的任意子程序。</a:t>
            </a:r>
          </a:p>
        </p:txBody>
      </p:sp>
      <p:sp>
        <p:nvSpPr>
          <p:cNvPr id="32665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326660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6662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ACALL	addr11  ;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←addr11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LCALL   	addr16  ;  PC←(PC)+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SP←(SP)+1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   ;   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SP←(PC)</a:t>
            </a:r>
            <a:r>
              <a:rPr lang="en-US" altLang="zh-CN" sz="2400" baseline="-25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  PC←addr16</a:t>
            </a:r>
          </a:p>
        </p:txBody>
      </p:sp>
      <p:sp>
        <p:nvSpPr>
          <p:cNvPr id="324611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324612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4614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ACALL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字节范围内的程序存储器。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字节范围的程序存储器空间。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(SP)= 07H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，标号“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XADD”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表示的实际地址为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0345H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0123H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执行指令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ACALL  XADD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后，当前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=(PC)+2=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0125H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压入堆栈的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单元，其高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压入堆栈的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(PC)=0345H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程序转向目标地址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0345H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处执行。</a:t>
            </a:r>
          </a:p>
        </p:txBody>
      </p:sp>
      <p:sp>
        <p:nvSpPr>
          <p:cNvPr id="22425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2425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26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9703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RET	;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←((SP)),   SP←(SP)-1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←((SP)),    SP←(SP)-1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RETI	;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15-8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←((SP)),   SP←(SP)-1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PC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←((SP)),    SP←(SP)-1</a:t>
            </a:r>
          </a:p>
        </p:txBody>
      </p:sp>
      <p:sp>
        <p:nvSpPr>
          <p:cNvPr id="22630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2630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30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子程序调用与返回指令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：从堆栈弹出调用指令压入堆栈保护的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，送入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，从而结束子程序执行。返回断点处继续执行。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RETI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：专用于中断服务程序返回的指令，除返回中断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处执行主程序以外，并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清除中断响应时被置位的优先级状态触发器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，以告知中断系统已经结束中断服务程序的执行，恢复中断逻辑以接受新的中断请求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2835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2835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35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077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位操作指令共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，所有的位操作指令均采用位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寻址方式，在进行位操作时，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汇编语言中的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位地址可       用以下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方式表示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直接位地址方式：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00H~7FH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点操作符表示方式：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25H.0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20H.0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位名称方式：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F0(PSW.5)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EA(IE.7)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专用寄存器</a:t>
            </a:r>
            <a:r>
              <a:rPr lang="zh-CN" altLang="en-US" sz="24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en-US" altLang="zh-CN" sz="24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P0.5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PSW.5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伪指令定义方式：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  bit  P1.0</a:t>
            </a:r>
          </a:p>
        </p:txBody>
      </p:sp>
      <p:sp>
        <p:nvSpPr>
          <p:cNvPr id="23040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3040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040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7"/>
          <p:cNvSpPr txBox="1"/>
          <p:nvPr/>
        </p:nvSpPr>
        <p:spPr>
          <a:xfrm>
            <a:off x="521208" y="5853318"/>
            <a:ext cx="8097647" cy="40011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：① 指令功能；② 指令格式；③ 对标志位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3970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位传送指令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位传送指令有以下形式：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  C,    bit		; Cy←(bit)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  bit,   C		; (bit)←(Cy)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位传送指令中，一个操作数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进位标志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可表示任何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3245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245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91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置位和复位指令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位置位指令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位置位指令有以下形式：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C	; Cy←1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SETB	bit	; (bit)←1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位复位指令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位复位指令有以下形式：</a:t>
            </a:r>
          </a:p>
          <a:p>
            <a:pPr lvl="2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C	; Cy←0</a:t>
            </a:r>
          </a:p>
          <a:p>
            <a:pPr lvl="2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bit	; (bit)←0</a:t>
            </a:r>
          </a:p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布尔累加器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或清零。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449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3449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450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位逻辑运算指令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位逻辑“与”指令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位逻辑“与”指令有以下形式：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ANL	C,   bit	      ; C←(C)∧(bit)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ANL	C,    /bit	      ; C←(C)∧(/bit)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：进位标志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与直接寻址位的布尔值进行位逻辑“与”运算，结果送入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54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3654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54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位逻辑运算指令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位逻辑“或”指令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位逻辑“或”指令有以下形式：</a:t>
            </a:r>
          </a:p>
          <a:p>
            <a:pPr marL="0"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ORL	C,    bit	      ; C←(C)∨(bit)</a:t>
            </a:r>
          </a:p>
          <a:p>
            <a:pPr marL="0"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ORL	C,    /bit	      ; C←(C)∨(/bit)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：进位标志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与直接寻址位的布尔值进行位逻辑“或”运算，结果送入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3859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3859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59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位逻辑运算指令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位逻辑“非”指令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位逻辑“非”指令有以下形式：</a:t>
            </a:r>
          </a:p>
          <a:p>
            <a:pPr marL="0"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CPL	C		</a:t>
            </a:r>
          </a:p>
          <a:p>
            <a:pPr marL="0"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CPL	bit		</a:t>
            </a:r>
          </a:p>
          <a:p>
            <a:pPr marL="0"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：对进位标志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或直接寻址位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的布尔值进行位逻辑“非”运算，结果送入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24064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4064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064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1708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位逻辑运算指令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sp>
        <p:nvSpPr>
          <p:cNvPr id="24269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242691" name="文本框 2"/>
          <p:cNvSpPr txBox="1">
            <a:spLocks noChangeArrowheads="1"/>
          </p:cNvSpPr>
          <p:nvPr/>
        </p:nvSpPr>
        <p:spPr bwMode="auto">
          <a:xfrm>
            <a:off x="684755" y="2444750"/>
            <a:ext cx="2153154" cy="41549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   BIT   20H.0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   BIT   20H.1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    BIT   20H.2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C,  P1.0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X,  C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C,  P1.1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Y,  C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C,  X</a:t>
            </a:r>
          </a:p>
        </p:txBody>
      </p:sp>
      <p:sp>
        <p:nvSpPr>
          <p:cNvPr id="242692" name="文本框 6"/>
          <p:cNvSpPr txBox="1">
            <a:spLocks noChangeArrowheads="1"/>
          </p:cNvSpPr>
          <p:nvPr/>
        </p:nvSpPr>
        <p:spPr bwMode="auto">
          <a:xfrm>
            <a:off x="4583113" y="2455863"/>
            <a:ext cx="2041525" cy="3138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   C,     /Y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  C,     /X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 C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Z,      C</a:t>
            </a: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P1.3,  C</a:t>
            </a:r>
          </a:p>
          <a:p>
            <a:pPr algn="just">
              <a:lnSpc>
                <a:spcPct val="150000"/>
              </a:lnSpc>
            </a:pPr>
            <a:endParaRPr lang="zh-CN" altLang="en-US" sz="2200" dirty="0">
              <a:latin typeface="Calibri" panose="020F0502020204030204" pitchFamily="34" charset="0"/>
            </a:endParaRPr>
          </a:p>
        </p:txBody>
      </p:sp>
      <p:pic>
        <p:nvPicPr>
          <p:cNvPr id="242693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2695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位条件转移指令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状态判断转移指令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位累加器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状态判断转移指令有以下形式：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JC	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; (Cy)= 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，跳转；否则顺序执行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JNC	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; (Cy)≠ 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，跳转；否则顺序执行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该组指令通常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指令一起使用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，可以比较出两个数的大小，从而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形成大于、小于、等于三个分支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4473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4473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474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579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位条件转移指令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位状态判断转移指令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位状态判断转移指令有以下形式：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JB	bit,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(bit)= 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，跳转；否则顺序执行。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JNB	bit,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; (bit)≠  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，跳转；否则顺序执行。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JBC	bit, </a:t>
            </a:r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; (bit)= 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，先将其清零再跳转；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否则顺序执行。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该组指令为三字节指令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algn="just">
              <a:lnSpc>
                <a:spcPct val="150000"/>
              </a:lnSpc>
              <a:spcBef>
                <a:spcPts val="5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   P1.0,   $   ;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端口变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678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4678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78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位条件转移指令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RAM20H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开始单元存有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，找最大值存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MAX: 	MOV 	R0,        #20H	</a:t>
            </a: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R2,        #10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；循环次数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pt-BR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50H,      #00H</a:t>
            </a: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；假设最大值为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#00H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	MOV 	A,          @R0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← (R0)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CJNE 	A, 50H,  NEXT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中内容与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单元数据比较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SJMP	NECH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(A)=(50H)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，转移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NEXT: 	JC 	NECH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(A)&lt;(direct)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	50H,       A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；更新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单元内容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NECH:	INC 	R0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pt-BR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 	R2,          LOOP</a:t>
            </a:r>
          </a:p>
        </p:txBody>
      </p:sp>
      <p:sp>
        <p:nvSpPr>
          <p:cNvPr id="2488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488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88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53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位操作类指令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位条件转移指令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：编程统计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的个数存入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1000H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	  R7,   #0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	  R2,   #8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	</a:t>
            </a:r>
            <a:r>
              <a:rPr lang="en-US" altLang="zh-CN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	  A                  ; Cy&lt;—A.7, A.0&lt;—Cy</a:t>
            </a:r>
            <a:endParaRPr lang="zh-CN" altLang="en-US" sz="24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JNC	  NEXT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INC	  R7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NEXT:	DJNZ	  R2,   LOOP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END</a:t>
            </a:r>
          </a:p>
        </p:txBody>
      </p:sp>
      <p:sp>
        <p:nvSpPr>
          <p:cNvPr id="2508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pic>
        <p:nvPicPr>
          <p:cNvPr id="2508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08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2006600"/>
            <a:ext cx="792162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252930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2932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3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52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每款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有对应的指令系统，当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二进制代码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表示时，称之为</a:t>
            </a:r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直接识别和执行的是机器语言的</a:t>
            </a:r>
            <a:r>
              <a:rPr lang="zh-CN" altLang="en-US" sz="240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指令代码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助记符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表示的机器语言，即用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助记符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来代表指令的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代表地址、常数或变量。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助记符一般是英文单词的缩写，用助记符编写的程序称为</a:t>
            </a:r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，汇编语言源程序必须翻译成机器语言的</a:t>
            </a:r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目标程序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，才能执行。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95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5395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395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078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汇编语言是助记符表示的机器语言。汇编语言与高级语言相比有以下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功能相同的条件下，汇编语言生成的目标程序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占用存储单元较少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，且执行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速度较快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具有直接针对输入／输出端口的操作指令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，便于自控系统及检测系统中数据的采集与发送。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程序中对单片机资源的操作是通过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自定义变量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设置来完成的，这些变量必须被说明为单片机内部资源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汇编语言编程资源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0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5600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0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49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355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设计原则及注意事项：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一种能完成某一特定任务的程序段。其资源要为所有调用程序共享。因此，子程序在结构上应具有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子程序的第一条指令的地址称为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子程序入口地址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，该指令前必须有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主程序调用子程序，两条子程序调用指令：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(1)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短调用指令：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ACALL   addr11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(2) 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长调用指令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LCALL    addr16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注意设置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堆栈指针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现场保护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最后一条指令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指令；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子程序可以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，即子程序可以调用子程序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堆栈区的深度会影响嵌套级数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在子程序调用时，还要注意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参数传递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入口参数、出口参数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5805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5805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805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957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汇编语言程序的组成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汇编语言语句可分为：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指令性语句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指示性语句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指令性语句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指令性语句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简称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是进行汇编语言程序设计的可执行语句，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单片机有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，每条指令都产生相应的机器语言的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指示性语句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指示性语句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又称汇编控制指令。它是控制汇编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过程的一些命令，程序员通过伪指令要求汇编程序在进行汇编时的一些操作。因此，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不产生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机器语言的目标代码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，是汇编语言程序中的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不可执行语句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。伪指令主要用于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源程序存放的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定义符号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、指定暂存数据的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存储区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将数据存入存储器、结束汇编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  <p:sp>
        <p:nvSpPr>
          <p:cNvPr id="26009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6009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010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标注 2"/>
          <p:cNvSpPr/>
          <p:nvPr/>
        </p:nvSpPr>
        <p:spPr>
          <a:xfrm>
            <a:off x="2749550" y="1913641"/>
            <a:ext cx="6143625" cy="1065229"/>
          </a:xfrm>
          <a:prstGeom prst="wedgeRectCallout">
            <a:avLst>
              <a:gd name="adj1" fmla="val -55272"/>
              <a:gd name="adj2" fmla="val -2801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在汇编期间告诉汇编程序如何为数据项分配内存空间、如何设置逻辑段、段寄存器和各逻辑段的对应关系及源程序到哪里结束等信息，以便指导汇编程序分配内存、汇编源程序、指定段寄存器。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8273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单片机汇编语言中常用的伪指令如下：</a:t>
            </a: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ORG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汇编起始地址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</a:p>
          <a:p>
            <a:pPr lvl="1" algn="just">
              <a:lnSpc>
                <a:spcPct val="14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：规定紧跟在该伪指令后的源程序经汇编后产生的目标程序在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中存放的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。在一个源程序中可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指令以规定不同程序段的起始地址，但地址必须</a:t>
            </a:r>
            <a:r>
              <a:rPr lang="zh-CN" altLang="en-US" sz="2000" b="1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由小到大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不能交叉、重叠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END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结束汇编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4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</a:p>
          <a:p>
            <a:pPr lvl="1" algn="just" eaLnBrk="1" latinLnBrk="0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：汇编语言源程序的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结束标志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，即通知汇编程序不再继续往下汇编。源程序是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一段子程序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后不加标号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。源程序是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主程序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，加标号时，标号应为主程序块的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第一条指令的符号地址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，汇编后程序从标号处开始执行；不加标号时，汇编后程序从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开始执行。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14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6214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3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64194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4196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5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EQU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等值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：标识符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EQU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数或汇编符号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把数或汇编符号赋给标识符，且只能赋值一次。程序中凡出现该符号名称就等同于该表达式。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优点：便于程序维护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DB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:]  DB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项或项表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将项或项表中的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存入标号所指示的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程序存储器的连续单元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：项与项之间用“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”分隔；字符型数据加</a:t>
            </a:r>
            <a:r>
              <a:rPr lang="en-US" altLang="zh-CN" sz="20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’’(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；负数用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；十进制自动转换为十六进制。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DW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:]  DW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项或项表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：将项或项表中的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存入标号所指示的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高低字节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位数据存入时，先存高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位，后存低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ORG   1400H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   DW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4A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汇编后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1400H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)=32H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1401H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)=4AH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             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1402H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)=00H,  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1403H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)=3CH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4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6624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4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伪指令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DS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定义存储单元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：标号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DS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：从标号所指示的单元开始，根据数字的值保留一定数量的字节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，留给以后存储数据用。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BIT 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地址符号命令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：标识符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赋以标识符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注意，不是标号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$ (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，也叫位置计数器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表示正在执行的指令所在位置。 </a:t>
            </a:r>
          </a:p>
        </p:txBody>
      </p:sp>
      <p:sp>
        <p:nvSpPr>
          <p:cNvPr id="26829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6829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829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5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323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程序设计步骤及技术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将汇编语言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转换为单片机能执行的机器码形式的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目标程序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的过程叫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。源程序经过机器汇编后，形成的若干文件中含有两个主要文件，一是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列表文件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，另一个是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目标码文件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列表文件主要信息为：</a:t>
            </a:r>
          </a:p>
          <a:p>
            <a:pPr lvl="3"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 址     目标码       汇编程序</a:t>
            </a:r>
          </a:p>
          <a:p>
            <a:pPr lvl="3"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	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0040H</a:t>
            </a:r>
          </a:p>
          <a:p>
            <a:pPr lvl="3" algn="just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0040H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747F        MOV    A,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#7FH</a:t>
            </a:r>
          </a:p>
          <a:p>
            <a:pPr lvl="3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0042H    7944        MOV    R1,     #44H</a:t>
            </a:r>
          </a:p>
          <a:p>
            <a:pPr lvl="3" algn="just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	     END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238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72387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2389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3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4434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909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程序设计步骤及技术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程序设计步骤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汇编语言程序设计一般经过以下几个步骤： 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(1)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分析问题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，明确任务要求，对于复杂的问题，还要将要解决的问题抽象成数学模型。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(2)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确定算法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，即根据实际问题和指令系统的特点确定完成这一任务需经历的步骤。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(3)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根据所选择的算法，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确定内存单元的分配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；使用哪些存储器单元；使用哪些寄存器；程序运行中的中间数据及结果存放在哪些单元，以利于提高程序的效率和运行速度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合理分配内存地址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(4) 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根据流程图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编写源程序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(5)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上机对源程序进行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4435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74436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7246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程序设计步骤及技术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程序设计技术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汇编语言程序设计时，对于同一个问题，会有不同的编程方式，但应按照结构化程序设计的要求，即程序的基本结构应采用顺序、选择和循环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种基本结构。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顺序、分支、循环和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程序设计时，应注意以下事项和技巧：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(1)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把要解决的问题化成一个个具有一定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功能模块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，各模块尽量采用子程序完成其功能。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(2)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力求少用无条件转移指令，尽量采用循环结构。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(3)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对主要的程序段要下功夫精心设计，这样会收到事半功倍的效果。</a:t>
            </a:r>
          </a:p>
        </p:txBody>
      </p:sp>
      <p:sp>
        <p:nvSpPr>
          <p:cNvPr id="2764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764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4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29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69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程序设计步骤及技术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程序设计技术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(4)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程序存储器的某些初始单元已有定义，因此，在需要使用这些单元或附近单元时，应在该单元内安排一条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转移指令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(5)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位数据解决问题的就不要使用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(6)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在中断处理程序中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，要保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护好现场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包括标志寄存器的内容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，中断结束前要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恢复现场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累加器是信息传递的枢纽，在调用子程序时应通过累加器传送子程序的参数，通过累加器向主程序传送返回参数。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(8)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为保证程序运行的安全可靠，应考虑使用软件抗干扰技术，如数字滤波技术、指令冗余技术、软件陷井技术，用汇编语言程序实现这些技术，不需要增加硬件成本，可靠性高，稳定性好，方便灵活。</a:t>
            </a:r>
          </a:p>
        </p:txBody>
      </p:sp>
      <p:sp>
        <p:nvSpPr>
          <p:cNvPr id="2785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</a:p>
        </p:txBody>
      </p:sp>
      <p:pic>
        <p:nvPicPr>
          <p:cNvPr id="2785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85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2006600"/>
            <a:ext cx="7921625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指令系统简介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寻址方式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汇编语言程序设计基础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80578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0580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55086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简单程序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简单程序是按照程序编写的顺序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逐条依次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执行，是程序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最基本的结构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将片内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的内容相加，结果存入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。假设整个程序在存储器中以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为起始地址的单元。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直接寻址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的方式传送数据并进行两个操作数相加运算。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2000H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A,        30H       	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取第一个操作数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A,        31H      	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两个操作数相加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32H,     A       	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存放结果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  <p:sp>
        <p:nvSpPr>
          <p:cNvPr id="28160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8160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160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7246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简单程序</a:t>
            </a: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将片内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的内容相加，结果存入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。假设整个程序在存储器中以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为起始地址的单元。</a:t>
            </a:r>
          </a:p>
          <a:p>
            <a:pPr algn="just">
              <a:lnSpc>
                <a:spcPct val="13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寄存器间接寻址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的方式进行两个操作数相加的运算。</a:t>
            </a: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2000H</a:t>
            </a: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R0,    #30H</a:t>
            </a: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A,     @R0</a:t>
            </a: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R0		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；指向下一个单元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 A,     @R0</a:t>
            </a: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；两个操作数相加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R0		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；指向下一个单元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@R0,  A	</a:t>
            </a: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；存放结果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2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  <a:p>
            <a:pPr lvl="2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分析程序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的优缺点</a:t>
            </a:r>
            <a:endParaRPr lang="pt-BR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65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8365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365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1981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简单程序</a:t>
            </a: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拼字：将外部数据存储器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位取出拼成一个字节，送到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3002H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单元中。</a:t>
            </a:r>
          </a:p>
        </p:txBody>
      </p:sp>
      <p:sp>
        <p:nvSpPr>
          <p:cNvPr id="28569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23888" y="2846388"/>
            <a:ext cx="3189287" cy="2892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  2000H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DPTR,    #3000H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A,          @DPTR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       A,          #0FH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SWAP    A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R1,         A</a:t>
            </a:r>
          </a:p>
          <a:p>
            <a:pPr algn="just">
              <a:lnSpc>
                <a:spcPct val="130000"/>
              </a:lnSpc>
            </a:pPr>
            <a:r>
              <a:rPr lang="pt-BR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 DPTR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594616" y="2865101"/>
            <a:ext cx="3370987" cy="2893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 A,            @DPTR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ANL        A,            #0FH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       A,             R1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   DPTR 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 @DPTR,    A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   $</a:t>
            </a:r>
          </a:p>
          <a:p>
            <a:pPr algn="just">
              <a:lnSpc>
                <a:spcPct val="130000"/>
              </a:lnSpc>
            </a:pPr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  <p:pic>
        <p:nvPicPr>
          <p:cNvPr id="285701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5703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45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7175" y="736600"/>
            <a:ext cx="8636000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分支程序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分支程序是通过程序中的条件进行判断，根据条件的“真”或“假”决定程序是否转移。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把片外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首地址为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开始存放的数据块，传送给片内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首地址为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开始的数据块，如果数据为“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，停止传送。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ORG   	2000H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    R0,       #10H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MOV    R1,       #20H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	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A,        @R0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A←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HERE:	JZ         HERE       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终止，程序原地踏步</a:t>
            </a:r>
          </a:p>
          <a:p>
            <a:pPr lvl="2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@R1,    A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RAM←A</a:t>
            </a:r>
          </a:p>
        </p:txBody>
      </p:sp>
      <p:sp>
        <p:nvSpPr>
          <p:cNvPr id="28774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87748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280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分支程序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 R0</a:t>
            </a:r>
          </a:p>
          <a:p>
            <a:pPr lvl="3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     R1</a:t>
            </a:r>
          </a:p>
          <a:p>
            <a:pPr lvl="3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 LOOP       	;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循环传送</a:t>
            </a:r>
          </a:p>
          <a:p>
            <a:pPr lvl="3"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  <p:sp>
        <p:nvSpPr>
          <p:cNvPr id="28979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8979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979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35086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分支程序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求符号函数。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X&gt;0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     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 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X=0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X&lt;0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84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82720" y="1549930"/>
            <a:ext cx="4310886" cy="48936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ORG      2000H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X  EQU  30H 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Y  EQU  31H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  A,           X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JZ          LOOP0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pt-B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          ACC.7,    LOOP1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MOV     A,           #01H</a:t>
            </a:r>
          </a:p>
          <a:p>
            <a:pPr marL="914400" lvl="5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SJMP     LOOP0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LOOP1: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A,           #0FFH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LOOP0: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 Y,            A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      $</a:t>
            </a:r>
          </a:p>
          <a:p>
            <a:pPr algn="just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END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784225" y="2962275"/>
            <a:ext cx="180975" cy="1104900"/>
          </a:xfrm>
          <a:prstGeom prst="leftBrace">
            <a:avLst>
              <a:gd name="adj1" fmla="val 5043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n w="12700">
                <a:solidFill>
                  <a:sysClr val="windowText" lastClr="000000"/>
                </a:solidFill>
              </a:ln>
            </a:endParaRPr>
          </a:p>
        </p:txBody>
      </p:sp>
      <p:pic>
        <p:nvPicPr>
          <p:cNvPr id="291845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1847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循环程序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在程序执行过程中，当需要多次反复执行某段程序时，可采用循环程序。 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循环程序一般由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组成：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 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</a:p>
          <a:p>
            <a:pPr lvl="2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89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9389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389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3860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循环程序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个数存放在内部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开始的连续单元中，试求其和并将结果存放在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和数是一个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位二进制数，不考虑进位问题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2000H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A,         #00H 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R7,       #14H	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建立循环计数器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R0,       #41H	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建立内存数据指针</a:t>
            </a:r>
          </a:p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	ADD     A,        @R0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R0		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指向下一个内存单元</a:t>
            </a:r>
          </a:p>
          <a:p>
            <a:pPr lvl="2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R7,      LOOP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修改循环计数器，判循环结束条件</a:t>
            </a:r>
          </a:p>
          <a:p>
            <a:pPr lvl="2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40H,  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存累加结果于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SJMP	$</a:t>
            </a:r>
          </a:p>
          <a:p>
            <a:pPr lvl="2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  <p:sp>
        <p:nvSpPr>
          <p:cNvPr id="29593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29593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594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175" y="736600"/>
            <a:ext cx="8636000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汇编语言基本程序设计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循环程序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在内部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开始的连续单元中存放一组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位无符号数，该数组的长度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3DH)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中，找出这组数组中的最大数，并将其存入内部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98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sp>
        <p:nvSpPr>
          <p:cNvPr id="297987" name="矩形 2"/>
          <p:cNvSpPr>
            <a:spLocks noChangeArrowheads="1"/>
          </p:cNvSpPr>
          <p:nvPr/>
        </p:nvSpPr>
        <p:spPr bwMode="auto">
          <a:xfrm>
            <a:off x="261938" y="3446463"/>
            <a:ext cx="4767262" cy="285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ORG     2000H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MOV    R0,       #42H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40H,    @R0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DEC     41H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LOOP:  INC      R0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MOV    A,        @R0</a:t>
            </a:r>
          </a:p>
          <a:p>
            <a:pPr algn="just"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    A,        40H,      COMP</a:t>
            </a:r>
          </a:p>
        </p:txBody>
      </p:sp>
      <p:sp>
        <p:nvSpPr>
          <p:cNvPr id="297988" name="矩形 4"/>
          <p:cNvSpPr>
            <a:spLocks noChangeArrowheads="1"/>
          </p:cNvSpPr>
          <p:nvPr/>
        </p:nvSpPr>
        <p:spPr bwMode="auto">
          <a:xfrm>
            <a:off x="5157788" y="3438525"/>
            <a:ext cx="3724275" cy="240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COMP:  </a:t>
            </a: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JC        NEXT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 MOV   40H,      A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NEXT:   </a:t>
            </a:r>
            <a:r>
              <a:rPr lang="en-US" altLang="zh-CN" sz="2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41H,      LOOP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 SJMP   $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 END</a:t>
            </a:r>
          </a:p>
        </p:txBody>
      </p:sp>
      <p:pic>
        <p:nvPicPr>
          <p:cNvPr id="297989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991" name="图片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1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较长时间的延时子程序，可以采用多重循环来实现。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利用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中每执行一条指令都有固定的时序这一特征，令其重复执行某些指令从而达到延时的目的。 </a:t>
            </a: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子程序如下：</a:t>
            </a:r>
          </a:p>
          <a:p>
            <a:pPr algn="just">
              <a:lnSpc>
                <a:spcPct val="14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源程序				        机器周期数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DELAY:	MOV 	R7,	#0FFH		   1</a:t>
            </a:r>
          </a:p>
          <a:p>
            <a:pPr lvl="1" algn="just"/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LOOP1:	MOV 	R6,	#0FFH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LOOP2:	NOP				   1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NOP				   1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DJNZ	R6,	LOOP2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R7,       LOOP1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RET				   2</a:t>
            </a:r>
          </a:p>
          <a:p>
            <a:pPr marL="457200" lvl="2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内循环一次所需机器周期数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次循环；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2"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外循环一次所需机器周期数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255+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次循环。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0034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00035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003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78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代码转换程序设计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编写一子程序，将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位二进制数转换为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码。</a:t>
            </a:r>
          </a:p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设要转换的二进制数在累加器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中，子程序的入口地址为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，转换结果存入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所指示的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algn="just"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 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BCD1:	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 B,      #100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DIV	 AB	        ; A←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百位数，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	@R0,  A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; (R0)←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百位数</a:t>
            </a: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	R0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	A,       #10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	A,       B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DIV	AB	        ; A←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十位数，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个位数</a:t>
            </a: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SWAP	A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ADD	A,       B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十位数和个位数组合到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	@R0,  A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(R0)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RET</a:t>
            </a:r>
          </a:p>
        </p:txBody>
      </p:sp>
      <p:sp>
        <p:nvSpPr>
          <p:cNvPr id="30208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0208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208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641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3.5.4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查表程序设计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查表是程序设计中使用的基本方法。适当地组织表格，可以十分方便地利用表格进行多种代码转换和算术运算等。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利用表格计算内部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单元中一位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数的平方值，并将结果存入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单元。首先组织平方表，且把它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作为程序的一部分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 	  2000H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  A,             40H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  DPTR,      #SQTAB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MOVC   A,            @A+DPTR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  41H,         A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SJMP	  $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SQTAB:	DB   0, 1, 4, 9, 16, 25, 36, 49, 64, 81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sp>
        <p:nvSpPr>
          <p:cNvPr id="304130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04131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4133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77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3.5.5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编写一子程序，实现多字节加法。 </a:t>
            </a:r>
          </a:p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两个多字节数分别存放在起始地址为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SECOND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的连续单元中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从低位字节开始存放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，两个数的字节数存放在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NUMBER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单元中，最后求得的和存放在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开始的区域中。使用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字节加法指令进行多字节的加法运算，可用循环程序来实现。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SUBAD:	MOV 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#FIRST</a:t>
            </a:r>
          </a:p>
          <a:p>
            <a:pPr lvl="1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MOV 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    #SECOND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置起始地址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 	R2,      NUMBER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置计数初值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	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</a:p>
          <a:p>
            <a:pPr lvl="1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LOOP:	MOV 	A,        @R0</a:t>
            </a:r>
          </a:p>
          <a:p>
            <a:pPr lvl="1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ADDC	A,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进行一次加法运算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	@R0, 	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存结果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	R0 </a:t>
            </a:r>
          </a:p>
          <a:p>
            <a:pPr lvl="1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INC 	R1	            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修改地址指针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R2,       LOOP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计数及循环控制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06178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06179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6181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3116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3.5.6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冒泡排序法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的基本算法是：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个数排序，从数据存放单元的一端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如起始单元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开始，将相邻二个数依次进行比较，如果相邻两个数的大小次序和排序要求一致，则不改变它们的存放次序，否则相互交换两数位置，使其符合排序要求，这样逐次比较，直至将最小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或最大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的数移至最后。然后，再将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个数继续比较，重复上面操作，直至比较完毕。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举例：</a:t>
            </a:r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4  7  5  8  6   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降序</a:t>
            </a:r>
            <a:r>
              <a:rPr lang="en-US" altLang="zh-CN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升序</a:t>
            </a:r>
            <a:endParaRPr lang="en-US" altLang="zh-CN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226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49238" y="3871913"/>
            <a:ext cx="2351087" cy="2568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 序：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4  7  5  8  6</a:t>
            </a:r>
            <a:endParaRPr lang="en-US" altLang="zh-CN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外循环第一次：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5  7  6  8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6  7  8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4  5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7  8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4  5  6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405063" y="4691063"/>
            <a:ext cx="1784350" cy="174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外循环第二次：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5  7  6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6  7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4  5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7  8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470400" y="5126038"/>
            <a:ext cx="2122488" cy="1330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外循环第三次：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5   6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  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7   8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57988" y="5545138"/>
            <a:ext cx="2122487" cy="917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外循环第四次：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b="1" u="sng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5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</p:txBody>
      </p:sp>
      <p:pic>
        <p:nvPicPr>
          <p:cNvPr id="308231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3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6062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3.5.6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个数据依次存放在内部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开始的存储单元中，编写程序实现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个数据按升序次序排序，结果仍存放在原存储单元中。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升序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	0100H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	EQU     20H           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		EQU     10  	                             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 R7,    #N-1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设置外循环计数器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NEXT: 	MOV    A,      R7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		MOV    80H,  A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 R6,    A      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设置外循环计数器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MOV    R0,    #20H 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设置数据指针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COMP:	MOV    A,     @R0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；取地址单元的数据存入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	 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	MOV    R2,    A               ; 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中内容存入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	INC      R0             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指向下一个地址单元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	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      C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	SUBB    A,     @R0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与下一个地址单元内容比较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	JC         LESS	        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小于下一个地址单元的内容时跳转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0275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10276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1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4954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3.5.6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MOV	A,        R2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XCH		A,        @R0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  	R0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MOV	@R0,   A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INC  	R0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LESS:   DJNZ	R6,      COMP    ; (R6)-1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不等于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，跳转至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继续内循环，相邻两个数比较</a:t>
            </a: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MOV           R0,      #20H	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遍历比较结束，得到最大数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DEC 	80H		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遍历次数减一，确定次最大数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MOV           R6,      80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pt-BR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pt-BR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	R7,      COMP	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全部遍历</a:t>
            </a:r>
            <a:endParaRPr lang="pt-BR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pt-BR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lvl="1" algn="just"/>
            <a:r>
              <a:rPr lang="pt-BR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END</a:t>
            </a:r>
          </a:p>
        </p:txBody>
      </p:sp>
      <p:sp>
        <p:nvSpPr>
          <p:cNvPr id="312322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12323" name="图片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2325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69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60631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3.5.7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编写一数据输入程序，每当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由高电平变为低电平时，由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口读入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个数据。连续读入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次。读入数据分别存入内部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开始的存储单元中。 程序如下：</a:t>
            </a: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    0100H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BLOCK   EQU   20H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N           EQU   10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MOV     R2,      #N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MOV     R0,      #BLOCK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LOOP: 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P1,      #0FFH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JB	       P0.0    $  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由高电平变低电平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MOV     A,       P1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口读入一个数据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JNB       P0.0    $  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由低电平变高电平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  @R0,  A    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存数据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INC	       R0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 R2,      LOOP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RET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END</a:t>
            </a:r>
          </a:p>
        </p:txBody>
      </p:sp>
      <p:sp>
        <p:nvSpPr>
          <p:cNvPr id="314371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14372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417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6418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60170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3.5.7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P1.0~P1.3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口分别接四个发光二极管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VL1~VL4(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共阳极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P1.4~P1.7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口分别接四个开关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S1~S4(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公共端接地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，编程将开关的状态反映到发光二极管上。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开关闭合，对应灯亮；开关断开，对应灯灭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ORG   0100H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STRAT: 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P1,      #0FFH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(</a:t>
            </a: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口前先写“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1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A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P1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       A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RR       A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RR       A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RR       A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ORL     A, #0F0H    ; </a:t>
            </a:r>
            <a:r>
              <a:rPr lang="zh-CN" altLang="en-US" sz="20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保留按键端口电平状态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P1, A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SJMP   STRAT</a:t>
            </a:r>
          </a:p>
          <a:p>
            <a:pPr lvl="2" algn="just">
              <a:lnSpc>
                <a:spcPct val="11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END</a:t>
            </a:r>
          </a:p>
        </p:txBody>
      </p:sp>
      <p:sp>
        <p:nvSpPr>
          <p:cNvPr id="316419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16420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465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8466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212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3.5.7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编写一个循环闪烁灯程序。用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P1.0~P1.7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分别控制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个发光二极管的阴极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共阳极接高电平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，每次其中某个灯闪烁点亮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次，依次进行，循环不止。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程序如下：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protues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仿真，分析程序执行步骤</a:t>
            </a:r>
            <a:r>
              <a:rPr lang="en-US" altLang="zh-CN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18467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sp>
        <p:nvSpPr>
          <p:cNvPr id="318468" name="矩形 3"/>
          <p:cNvSpPr>
            <a:spLocks noChangeArrowheads="1"/>
          </p:cNvSpPr>
          <p:nvPr/>
        </p:nvSpPr>
        <p:spPr bwMode="auto">
          <a:xfrm>
            <a:off x="631825" y="2914650"/>
            <a:ext cx="3594100" cy="3786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ORG        0100H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MOV A,   #0FEH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SHIFT:    LCALL      FLASH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RR            A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SJMP       SHIFT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FLASH:   MOV R2,  #0AH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FLASH1: MOV P1,  A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LCALL       DELAY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P1,   #0FFH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LCALL       DELAY</a:t>
            </a:r>
          </a:p>
        </p:txBody>
      </p:sp>
      <p:sp>
        <p:nvSpPr>
          <p:cNvPr id="318469" name="矩形 4"/>
          <p:cNvSpPr>
            <a:spLocks noChangeArrowheads="1"/>
          </p:cNvSpPr>
          <p:nvPr/>
        </p:nvSpPr>
        <p:spPr bwMode="auto">
          <a:xfrm>
            <a:off x="4584700" y="2914650"/>
            <a:ext cx="3594100" cy="3786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DJNZ   R2,  FLASH1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DELAY: MOV    R3,  #8FH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L1:	MOV    R4,  #0F8H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L2:	NOP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NOP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DJNZ	R4,  L2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DJNZ    R3,  L1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algn="just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END</a:t>
            </a:r>
          </a:p>
        </p:txBody>
      </p:sp>
      <p:pic>
        <p:nvPicPr>
          <p:cNvPr id="318470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513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" y="6419850"/>
            <a:ext cx="249555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57175" y="736600"/>
            <a:ext cx="8636000" cy="58169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3.5.8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数字滤波程序设计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限幅滤波子程序可以有效的抑制尖脉冲干扰。</a:t>
            </a: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为内部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单元，分别存放有某一输入口在相邻时刻采样的两个数据，如果它们的差值过大，超出了允许相邻采样值之差的最大变化范围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，则认为发生了干扰，此次输入数据予以剔除，则用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单元的数据取代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。滤波程序如下：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ORG      0100H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PT: 	MOV     A,        D2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	CLR       C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	SUBB     A,        D1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	JNC       PT1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	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       A</a:t>
            </a:r>
          </a:p>
          <a:p>
            <a:pPr lvl="1" algn="just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	INC       A		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；差值取绝对值，便于比较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PT1: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CJNE     A,         #M,      PT2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	AJMP    DONE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PT2:	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JC          DONE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	MOV     D2,        D1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DONE:	RET</a:t>
            </a: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	END </a:t>
            </a:r>
          </a:p>
        </p:txBody>
      </p:sp>
      <p:sp>
        <p:nvSpPr>
          <p:cNvPr id="320515" name="文本框 5"/>
          <p:cNvSpPr txBox="1">
            <a:spLocks noChangeArrowheads="1"/>
          </p:cNvSpPr>
          <p:nvPr/>
        </p:nvSpPr>
        <p:spPr bwMode="auto">
          <a:xfrm>
            <a:off x="268288" y="201613"/>
            <a:ext cx="8624887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程序设计实例</a:t>
            </a:r>
          </a:p>
        </p:txBody>
      </p:sp>
      <p:pic>
        <p:nvPicPr>
          <p:cNvPr id="320516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8338" y="80963"/>
            <a:ext cx="1876425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YwYjdjNGZhZjE1NTY2ZWQxNTYyYWVlZDI3YWU1MTQ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18583</Words>
  <Application>Microsoft Office PowerPoint</Application>
  <PresentationFormat>全屏显示(4:3)</PresentationFormat>
  <Paragraphs>1938</Paragraphs>
  <Slides>158</Slides>
  <Notes>153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158</vt:i4>
      </vt:variant>
    </vt:vector>
  </HeadingPairs>
  <TitlesOfParts>
    <vt:vector size="168" baseType="lpstr"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尚祺 周</cp:lastModifiedBy>
  <cp:revision>724</cp:revision>
  <dcterms:created xsi:type="dcterms:W3CDTF">2019-03-15T01:02:00Z</dcterms:created>
  <dcterms:modified xsi:type="dcterms:W3CDTF">2026-01-19T02:48:28Z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DB1C3E9F38094FF08B6E86C67815E746_12</vt:lpwstr>
  </property>
</Properties>
</file>