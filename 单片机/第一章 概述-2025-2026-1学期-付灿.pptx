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7" r:id="rId2"/>
    <p:sldId id="336" r:id="rId3"/>
    <p:sldId id="261" r:id="rId4"/>
    <p:sldId id="262" r:id="rId5"/>
    <p:sldId id="263" r:id="rId6"/>
    <p:sldId id="333" r:id="rId7"/>
    <p:sldId id="264" r:id="rId8"/>
    <p:sldId id="334" r:id="rId9"/>
    <p:sldId id="335" r:id="rId10"/>
    <p:sldId id="265" r:id="rId11"/>
    <p:sldId id="267" r:id="rId12"/>
    <p:sldId id="337" r:id="rId13"/>
    <p:sldId id="266" r:id="rId14"/>
    <p:sldId id="338" r:id="rId15"/>
    <p:sldId id="329" r:id="rId16"/>
    <p:sldId id="331" r:id="rId17"/>
    <p:sldId id="332" r:id="rId18"/>
    <p:sldId id="294" r:id="rId19"/>
    <p:sldId id="295" r:id="rId20"/>
    <p:sldId id="296" r:id="rId21"/>
    <p:sldId id="297" r:id="rId22"/>
    <p:sldId id="298" r:id="rId23"/>
    <p:sldId id="302" r:id="rId24"/>
    <p:sldId id="303" r:id="rId25"/>
    <p:sldId id="299" r:id="rId26"/>
    <p:sldId id="318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293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319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275" r:id="rId52"/>
    <p:sldId id="321" r:id="rId53"/>
    <p:sldId id="320" r:id="rId54"/>
    <p:sldId id="282" r:id="rId55"/>
    <p:sldId id="283" r:id="rId56"/>
    <p:sldId id="285" r:id="rId57"/>
    <p:sldId id="286" r:id="rId58"/>
    <p:sldId id="292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119" userDrawn="1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158" userDrawn="1">
          <p15:clr>
            <a:srgbClr val="A4A3A4"/>
          </p15:clr>
        </p15:guide>
        <p15:guide id="6" pos="5602" userDrawn="1">
          <p15:clr>
            <a:srgbClr val="A4A3A4"/>
          </p15:clr>
        </p15:guide>
        <p15:guide id="7" orient="horz" pos="459" userDrawn="1">
          <p15:clr>
            <a:srgbClr val="A4A3A4"/>
          </p15:clr>
        </p15:guide>
        <p15:guide id="8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6" autoAdjust="0"/>
    <p:restoredTop sz="91654" autoAdjust="0"/>
  </p:normalViewPr>
  <p:slideViewPr>
    <p:cSldViewPr snapToGrid="0" showGuides="1">
      <p:cViewPr varScale="1">
        <p:scale>
          <a:sx n="111" d="100"/>
          <a:sy n="111" d="100"/>
        </p:scale>
        <p:origin x="1882" y="77"/>
      </p:cViewPr>
      <p:guideLst>
        <p:guide pos="2880"/>
        <p:guide orient="horz" pos="2160"/>
        <p:guide orient="horz" pos="119"/>
        <p:guide orient="horz" pos="4201"/>
        <p:guide pos="158"/>
        <p:guide pos="5602"/>
        <p:guide orient="horz" pos="459"/>
        <p:guide pos="6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1003E-7D35-47D3-9E66-6CE4588D3A20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CA56-867C-475F-9A3D-BF45B115E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48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965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45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141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358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544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029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34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492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204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022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1672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971B8-DF76-68FC-1D37-02ADEF3C7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683154-142E-F20A-4D01-4E9B0B531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C5318C-E299-A226-637C-923B74B43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D8BCA3-6D3A-EB59-EB04-AAB8DB814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700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35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150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2718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82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09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37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354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1467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8608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7062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9083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182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038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308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242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0950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1294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8557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196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87743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9594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5161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57158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865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865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8717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0615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6554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3566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7522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26814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1787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3735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3481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748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81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92541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5454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155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0446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3882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8845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9429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33568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6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78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8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114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521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4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96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46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138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36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106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596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90358-C6B8-4813-A004-5C72FCDDCB7D}" type="datetimeFigureOut">
              <a:rPr lang="zh-CN" altLang="en-US" smtClean="0"/>
              <a:t>2025/9/10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06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3" Type="http://schemas.openxmlformats.org/officeDocument/2006/relationships/image" Target="../media/image2.tif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1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6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3.wmf"/><Relationship Id="rId10" Type="http://schemas.openxmlformats.org/officeDocument/2006/relationships/image" Target="../media/image20.png"/><Relationship Id="rId19" Type="http://schemas.openxmlformats.org/officeDocument/2006/relationships/image" Target="../media/image25.png"/><Relationship Id="rId4" Type="http://schemas.openxmlformats.org/officeDocument/2006/relationships/image" Target="../media/image1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968914"/>
            <a:ext cx="9143999" cy="86177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微软雅黑" pitchFamily="34" charset="-122"/>
              </a:rPr>
              <a:t>单片机原理</a:t>
            </a:r>
            <a:endParaRPr kumimoji="0" lang="zh-CN" altLang="en-US" sz="5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95097" y="3678424"/>
            <a:ext cx="4584717" cy="16829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授课教师：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付灿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Tel (WeChat): 18737604696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QQ:                506963569</a:t>
            </a:r>
          </a:p>
          <a:p>
            <a:pPr>
              <a:lnSpc>
                <a:spcPct val="12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E-mail:	           fucan@ahu.edu.cn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27345" y="5549708"/>
            <a:ext cx="3089307" cy="4641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安徽大学 集成电路学院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869" y="739056"/>
            <a:ext cx="3064301" cy="88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9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23"/>
    </mc:Choice>
    <mc:Fallback xmlns="">
      <p:transition spd="slow" advTm="1492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71550" y="1817787"/>
            <a:ext cx="79216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课程性质：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专业核心课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      时：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×18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       分：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考核方式：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期中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（闭卷）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期末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（闭卷）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30%=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平时作业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随堂测试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大作业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课堂要求：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纪律、预习、复习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781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971"/>
    </mc:Choice>
    <mc:Fallback xmlns="">
      <p:transition spd="slow" advTm="3509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7089" y="704556"/>
            <a:ext cx="7489824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课程重点：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、了解单片机的概念、发展及应用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、掌握单片机的基本结构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、掌握单片机的指令系统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、熟悉单片机的程序设计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、掌握单片机的中断系统原理及应用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、掌握单片机的定时器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计数器原理及应用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、掌握单片机的串行口原理及应用</a:t>
            </a:r>
          </a:p>
          <a:p>
            <a:pPr>
              <a:lnSpc>
                <a:spcPct val="150000"/>
              </a:lnSpc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、掌握单片机的系统扩展原理及接口技术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B9FE70F-C695-CB01-C737-0836C8E81EDF}"/>
              </a:ext>
            </a:extLst>
          </p:cNvPr>
          <p:cNvSpPr txBox="1"/>
          <p:nvPr/>
        </p:nvSpPr>
        <p:spPr>
          <a:xfrm>
            <a:off x="7385563" y="9144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对应章节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D60A3-1513-8D58-2633-D690B1F2069A}"/>
              </a:ext>
            </a:extLst>
          </p:cNvPr>
          <p:cNvSpPr txBox="1"/>
          <p:nvPr/>
        </p:nvSpPr>
        <p:spPr>
          <a:xfrm>
            <a:off x="7500980" y="1463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237BDA-33C5-A2DD-B9E2-4C6FDBE5B83E}"/>
              </a:ext>
            </a:extLst>
          </p:cNvPr>
          <p:cNvSpPr txBox="1"/>
          <p:nvPr/>
        </p:nvSpPr>
        <p:spPr>
          <a:xfrm>
            <a:off x="7500980" y="201287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79307F-57BE-AD7F-B68F-F656B9E42512}"/>
              </a:ext>
            </a:extLst>
          </p:cNvPr>
          <p:cNvSpPr txBox="1"/>
          <p:nvPr/>
        </p:nvSpPr>
        <p:spPr>
          <a:xfrm>
            <a:off x="7500980" y="2562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56B6E5-B23B-A880-0526-F7FC7DEF8E6D}"/>
              </a:ext>
            </a:extLst>
          </p:cNvPr>
          <p:cNvSpPr txBox="1"/>
          <p:nvPr/>
        </p:nvSpPr>
        <p:spPr>
          <a:xfrm>
            <a:off x="7500980" y="311135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8CD859-5225-5A0D-A4B3-A56FBBD7D07C}"/>
              </a:ext>
            </a:extLst>
          </p:cNvPr>
          <p:cNvSpPr txBox="1"/>
          <p:nvPr/>
        </p:nvSpPr>
        <p:spPr>
          <a:xfrm>
            <a:off x="7500980" y="36605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7DFCB89-2D93-1F88-44E0-4993B3930648}"/>
              </a:ext>
            </a:extLst>
          </p:cNvPr>
          <p:cNvSpPr txBox="1"/>
          <p:nvPr/>
        </p:nvSpPr>
        <p:spPr>
          <a:xfrm>
            <a:off x="7484148" y="4209830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8DB337-C395-129E-0B83-66C7D4BDEAB1}"/>
              </a:ext>
            </a:extLst>
          </p:cNvPr>
          <p:cNvSpPr txBox="1"/>
          <p:nvPr/>
        </p:nvSpPr>
        <p:spPr>
          <a:xfrm>
            <a:off x="7500980" y="47590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2C06D4-0C87-FB56-2AB4-737115855659}"/>
              </a:ext>
            </a:extLst>
          </p:cNvPr>
          <p:cNvSpPr txBox="1"/>
          <p:nvPr/>
        </p:nvSpPr>
        <p:spPr>
          <a:xfrm>
            <a:off x="7253315" y="5308305"/>
            <a:ext cx="1372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第八、九章</a:t>
            </a:r>
          </a:p>
        </p:txBody>
      </p:sp>
    </p:spTree>
    <p:extLst>
      <p:ext uri="{BB962C8B-B14F-4D97-AF65-F5344CB8AC3E}">
        <p14:creationId xmlns:p14="http://schemas.microsoft.com/office/powerpoint/2010/main" val="3062019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3360"/>
    </mc:Choice>
    <mc:Fallback xmlns="">
      <p:transition spd="slow" advTm="17336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1234976"/>
            <a:ext cx="8641655" cy="485305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51520" y="265212"/>
            <a:ext cx="46858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电子硬件技术体系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单片机是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7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30"/>
    </mc:Choice>
    <mc:Fallback xmlns="">
      <p:transition spd="slow" advTm="13633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51520" y="2652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</a:p>
        </p:txBody>
      </p:sp>
      <p:sp>
        <p:nvSpPr>
          <p:cNvPr id="6" name="矩形 5"/>
          <p:cNvSpPr/>
          <p:nvPr/>
        </p:nvSpPr>
        <p:spPr>
          <a:xfrm>
            <a:off x="3610540" y="5210462"/>
            <a:ext cx="1949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张毅刚 等  编著</a:t>
            </a:r>
          </a:p>
        </p:txBody>
      </p:sp>
      <p:sp>
        <p:nvSpPr>
          <p:cNvPr id="7" name="矩形 6"/>
          <p:cNvSpPr/>
          <p:nvPr/>
        </p:nvSpPr>
        <p:spPr>
          <a:xfrm>
            <a:off x="548690" y="5210462"/>
            <a:ext cx="16177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赵全利  主编</a:t>
            </a:r>
          </a:p>
        </p:txBody>
      </p:sp>
      <p:sp>
        <p:nvSpPr>
          <p:cNvPr id="8" name="矩形 7"/>
          <p:cNvSpPr/>
          <p:nvPr/>
        </p:nvSpPr>
        <p:spPr>
          <a:xfrm>
            <a:off x="6609534" y="5210462"/>
            <a:ext cx="1949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梅丽凤  等 编著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9" t="1493" r="11243" b="-1"/>
          <a:stretch/>
        </p:blipFill>
        <p:spPr>
          <a:xfrm>
            <a:off x="6287737" y="1679511"/>
            <a:ext cx="2603241" cy="32839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952" y="1679510"/>
            <a:ext cx="2310781" cy="32901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6" r="17090"/>
          <a:stretch/>
        </p:blipFill>
        <p:spPr>
          <a:xfrm>
            <a:off x="259450" y="1679510"/>
            <a:ext cx="2186998" cy="328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54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461"/>
    </mc:Choice>
    <mc:Fallback xmlns="">
      <p:transition spd="slow" advTm="3046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69" y="1726166"/>
            <a:ext cx="2408500" cy="3380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5" y="1726164"/>
            <a:ext cx="2320606" cy="3380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8" r="4753"/>
          <a:stretch/>
        </p:blipFill>
        <p:spPr>
          <a:xfrm>
            <a:off x="6273636" y="1726163"/>
            <a:ext cx="2427734" cy="33803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1520" y="265212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</a:p>
        </p:txBody>
      </p:sp>
      <p:sp>
        <p:nvSpPr>
          <p:cNvPr id="6" name="矩形 5"/>
          <p:cNvSpPr/>
          <p:nvPr/>
        </p:nvSpPr>
        <p:spPr>
          <a:xfrm>
            <a:off x="494118" y="5210462"/>
            <a:ext cx="16930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宋戈 等  编著</a:t>
            </a:r>
          </a:p>
        </p:txBody>
      </p:sp>
      <p:sp>
        <p:nvSpPr>
          <p:cNvPr id="7" name="矩形 6"/>
          <p:cNvSpPr/>
          <p:nvPr/>
        </p:nvSpPr>
        <p:spPr>
          <a:xfrm>
            <a:off x="3590462" y="5210462"/>
            <a:ext cx="13612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彭伟  编著</a:t>
            </a:r>
          </a:p>
        </p:txBody>
      </p:sp>
      <p:sp>
        <p:nvSpPr>
          <p:cNvPr id="8" name="矩形 7"/>
          <p:cNvSpPr/>
          <p:nvPr/>
        </p:nvSpPr>
        <p:spPr>
          <a:xfrm>
            <a:off x="6432255" y="5210462"/>
            <a:ext cx="16177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郭天祥  编著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7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8"/>
    </mc:Choice>
    <mc:Fallback xmlns="">
      <p:transition spd="slow" advTm="16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2808" y="739676"/>
            <a:ext cx="86403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高校教学模式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优点：基础扎实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缺点：耗时长、实用性差（脱离工程应用）</a:t>
            </a:r>
          </a:p>
        </p:txBody>
      </p:sp>
      <p:sp>
        <p:nvSpPr>
          <p:cNvPr id="3" name="矩形 2"/>
          <p:cNvSpPr/>
          <p:nvPr/>
        </p:nvSpPr>
        <p:spPr>
          <a:xfrm>
            <a:off x="251520" y="265212"/>
            <a:ext cx="4740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如何学习单片机？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两种学习模式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611760"/>
            <a:ext cx="8138282" cy="82315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0825" y="3797672"/>
            <a:ext cx="86423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实践教学模式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自上而下，把握全局、整体学习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优点：边学边练、牢固掌握、高效快速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缺点：知识体系在理论与系统层面稍差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66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2"/>
    </mc:Choice>
    <mc:Fallback xmlns="">
      <p:transition spd="slow" advTm="16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26521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如何学习单片机？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5" t="60308" r="42410" b="9302"/>
          <a:stretch/>
        </p:blipFill>
        <p:spPr>
          <a:xfrm>
            <a:off x="980462" y="1096115"/>
            <a:ext cx="3189606" cy="24109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168" y="1140684"/>
            <a:ext cx="3199285" cy="23954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0552" y="3827778"/>
            <a:ext cx="2973106" cy="2464158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63" t="15353" r="12842" b="13656"/>
          <a:stretch/>
        </p:blipFill>
        <p:spPr>
          <a:xfrm>
            <a:off x="978272" y="3891960"/>
            <a:ext cx="3191555" cy="232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7"/>
    </mc:Choice>
    <mc:Fallback xmlns="">
      <p:transition spd="slow" advTm="61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51520" y="265212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如何学习单片机？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24" b="7347"/>
          <a:stretch/>
        </p:blipFill>
        <p:spPr>
          <a:xfrm>
            <a:off x="250825" y="923609"/>
            <a:ext cx="8642350" cy="545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13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"/>
    </mc:Choice>
    <mc:Fallback xmlns="">
      <p:transition spd="slow" advTm="48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0" y="1997842"/>
            <a:ext cx="7921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8014" y="1106295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概述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63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"/>
    </mc:Choice>
    <mc:Fallback xmlns="">
      <p:transition spd="slow" advTm="37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71550" y="2005295"/>
            <a:ext cx="7921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计算机系统组成、接口、总线及程序设计的基本知识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单片机的概念、特点、应用领域及其嵌入式系统的概念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常用的数制及不同数制相互间的转换、编码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单片机的工作概况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68014" y="1106295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概述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5"/>
    </mc:Choice>
    <mc:Fallback xmlns="">
      <p:transition spd="slow" advTm="141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61D01-A46E-3D1D-28C8-DBDE59CB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70894F3-A819-E943-2CD6-DF8B5E920AA6}"/>
              </a:ext>
            </a:extLst>
          </p:cNvPr>
          <p:cNvSpPr txBox="1"/>
          <p:nvPr/>
        </p:nvSpPr>
        <p:spPr>
          <a:xfrm>
            <a:off x="971550" y="1997842"/>
            <a:ext cx="792162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C6B232-71B4-B10E-C690-49C3DEC4581C}"/>
              </a:ext>
            </a:extLst>
          </p:cNvPr>
          <p:cNvSpPr txBox="1"/>
          <p:nvPr/>
        </p:nvSpPr>
        <p:spPr>
          <a:xfrm>
            <a:off x="268014" y="1106295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概述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64650C-6B24-0CC3-D984-610E68B4FC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581C71E-CF3F-1BCB-3346-85DCCA18A6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4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13365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518570"/>
            <a:ext cx="8625161" cy="3892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发展概况</a:t>
            </a:r>
          </a:p>
          <a:p>
            <a:pPr marL="0" lvl="0" indent="0" algn="just" eaLnBrk="1" hangingPunct="1">
              <a:lnSpc>
                <a:spcPct val="110000"/>
              </a:lnSpc>
              <a:buClr>
                <a:srgbClr val="0000FF"/>
              </a:buClr>
              <a:buSzPct val="100000"/>
              <a:buNone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1946-1958: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第一代电子管计算机。磁鼓存储器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，主要采用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编程。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hangingPunct="1">
              <a:lnSpc>
                <a:spcPct val="110000"/>
              </a:lnSpc>
              <a:buClr>
                <a:srgbClr val="0000FF"/>
              </a:buClr>
              <a:buSzPct val="100000"/>
              <a:buNone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世界上第一台数字计算机</a:t>
            </a:r>
            <a:r>
              <a:rPr kumimoji="1" lang="en-US" altLang="zh-CN" sz="2000" b="0" i="0" u="sng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ENIAC</a:t>
            </a:r>
            <a:r>
              <a:rPr kumimoji="1" lang="zh-CN" altLang="en-US" sz="20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诞生于</a:t>
            </a:r>
            <a:r>
              <a:rPr kumimoji="1" lang="en-US" altLang="zh-CN" sz="20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1946</a:t>
            </a:r>
            <a:r>
              <a:rPr kumimoji="1" lang="zh-CN" altLang="en-US" sz="20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20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，时钟频率只有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100kHZ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秒内完成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5000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次加法运算。第一台计算机的研制过程中，美籍匈牙利科学家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诺依曼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担任研制小组的顾问，并在方案设计上做出重要贡献。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hangingPunct="1">
              <a:lnSpc>
                <a:spcPct val="110000"/>
              </a:lnSpc>
              <a:buClr>
                <a:srgbClr val="0000FF"/>
              </a:buClr>
              <a:buSzPct val="100000"/>
              <a:buNone/>
              <a:defRPr/>
            </a:pP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1946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月，他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提出的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和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二进制存储信息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 的思想，进一步构建了计算机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由：</a:t>
            </a:r>
            <a:r>
              <a:rPr lang="zh-CN" altLang="en-US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运算器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输出设备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组成的经典结构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，又称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其为冯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诺依曼计算机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C26181-628E-D487-3CD0-29A888DEF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013" y="4576555"/>
            <a:ext cx="8625161" cy="17734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1" lang="zh-CN" alt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诺依曼体系的基本思想：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）计算机（指硬件）由运算器、存储器、控制器、输入设备和输出设备五大基本部件组成。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）指令和数据均以二进制编码表示，采用二进制运算。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）采用存储程序的方式，程序和数据存放在同一存储器。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）指令在存储器中按其执行顺序存放，由程序计数器指明要执行的指令地址，自动从存储器中取出指令并执行。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）计算机是以运算器为中心的，输入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输出设备与存储器之间的数据传送都要通过运算器。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68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58525A41-09CF-2A21-6692-E99BD0EA3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014" y="572725"/>
            <a:ext cx="8625161" cy="3877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发展概况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1958-1964: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第二代晶体管计算机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None/>
              <a:tabLst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磁芯作主存储器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, 磁盘作外存储器，开始使用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编程。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1964-1971: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第三代集成电路计算机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None/>
              <a:tabLst/>
              <a:defRPr/>
            </a:pPr>
            <a:r>
              <a:rPr kumimoji="1" lang="zh-CN" altLang="en-US" sz="2000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半导体存储器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，出现多终端计算机和计算机网络。分时操作系统。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1971-       :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第四代大规模集成电路计算机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None/>
              <a:tabLst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出现微型计算机、单片微型计算机，外部设备多样化。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1981-        : 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第五代人工智能计算机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。模拟人的智能和交流方式。</a:t>
            </a:r>
            <a:endParaRPr kumimoji="1" lang="zh-CN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BEAF9-B200-BCC6-4819-03ABD432DD95}"/>
              </a:ext>
            </a:extLst>
          </p:cNvPr>
          <p:cNvSpPr txBox="1"/>
          <p:nvPr/>
        </p:nvSpPr>
        <p:spPr>
          <a:xfrm>
            <a:off x="268014" y="13365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2CB0706-1B63-0399-EEF1-7CA9446F4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013" y="4576555"/>
            <a:ext cx="8625161" cy="15905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从第一台电子数字计算机诞生到现在，电子计算机的发展经历了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电子管计算机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晶体管计算机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集成电路计算机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大规模集成电路计算机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超大规模集成电路计算机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等阶段。但是，计算机的结构仍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没有突破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冯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</a:t>
            </a:r>
            <a:r>
              <a:rPr lang="zh-CN" altLang="en-US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诺依曼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提出的计算机</a:t>
            </a:r>
            <a:r>
              <a:rPr lang="zh-CN" altLang="en-US" sz="20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经典结构框架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9D6B642-ACF1-68D9-5BF5-C447A8B909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B0835D-A043-41BB-8B23-1787D3C9F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90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计算机的基本结构</a:t>
            </a:r>
          </a:p>
          <a:p>
            <a:pPr lvl="0" algn="just">
              <a:lnSpc>
                <a:spcPct val="130000"/>
              </a:lnSpc>
            </a:pP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一台计算机的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基本结构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如图所示。它由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输入设备和输出设备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五部分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组成。随着大规模集成电路技术的迅速发展，把运算器、控制器和通用寄存器集成在一块半导体芯片上，称其为微处理器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。微处理器主要包括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算术逻辑运算部件</a:t>
            </a:r>
            <a:r>
              <a:rPr lang="en-US" altLang="zh-CN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(ALU)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累加器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控制逻辑部件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  <a:r>
              <a:rPr lang="zh-CN" altLang="en-US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等组成。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323" y="3436314"/>
            <a:ext cx="4454208" cy="268507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2300AF5-D4B8-7F2E-E6AD-B219F9833D92}"/>
              </a:ext>
            </a:extLst>
          </p:cNvPr>
          <p:cNvSpPr txBox="1"/>
          <p:nvPr/>
        </p:nvSpPr>
        <p:spPr>
          <a:xfrm>
            <a:off x="3584914" y="61213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电子计算机的</a:t>
            </a:r>
            <a:r>
              <a:rPr lang="zh-CN" altLang="en-US" sz="1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经典结构框架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910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存储器具有记忆功能，用来存放数据和程序。计算机中的存储器主要有随机存储器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和只读存储器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两种。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存储器的容量常以字节为单位表示如下：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Byte=8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bit</a:t>
            </a:r>
          </a:p>
          <a:p>
            <a:pPr algn="just">
              <a:lnSpc>
                <a:spcPct val="13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B=1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KB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1024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KB=1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1024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MB=1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1024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GB=1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TB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</p:spTree>
    <p:extLst>
      <p:ext uri="{BB962C8B-B14F-4D97-AF65-F5344CB8AC3E}">
        <p14:creationId xmlns:p14="http://schemas.microsoft.com/office/powerpoint/2010/main" val="3849753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总线是连接计算机各部件之间的一组公共的信号线。其可分为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系统总线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外总线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系统总线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应包括：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地址总线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控制总线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CB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数据总线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(I/O)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CPU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通过接口电路与外部输入、输出设备交换信息 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81FB4AE-71C9-3B1E-1763-0E5D476C7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699" y="2630877"/>
            <a:ext cx="4145542" cy="19273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总线分类：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片内总线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元件级总线（板内总线）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内总线（系统总线）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外总线（通信总线，串行和并行）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1729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7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475608" y="1804178"/>
            <a:ext cx="340995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硬件系统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构成微机的实体和装置。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软件系统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微机系统所使用的各种程序的总称。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软件系统与硬件系统共同构成实用的微机系统，两者是</a:t>
            </a:r>
            <a:r>
              <a:rPr lang="zh-CN" altLang="en-US" sz="20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相辅相成、缺一不可</a:t>
            </a:r>
            <a:r>
              <a:rPr lang="zh-CN" alt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84872" y="1752600"/>
            <a:ext cx="4876800" cy="3952875"/>
          </a:xfrm>
          <a:prstGeom prst="rect">
            <a:avLst/>
          </a:prstGeom>
          <a:gradFill rotWithShape="0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path path="shape">
              <a:fillToRect l="50000" t="50000" r="50000" b="50000"/>
            </a:path>
          </a:gradFill>
          <a:ln w="57150" cmpd="thickThin">
            <a:solidFill>
              <a:srgbClr val="333399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126000" tIns="10800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28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  <a:p>
            <a:pPr algn="ctr">
              <a:spcBef>
                <a:spcPct val="50000"/>
              </a:spcBef>
              <a:defRPr/>
            </a:pPr>
            <a:endParaRPr lang="zh-CN" altLang="en-US" sz="900" b="1">
              <a:solidFill>
                <a:srgbClr val="FFFF00"/>
              </a:solidFill>
              <a:latin typeface="Times New Roman" pitchFamily="18" charset="0"/>
              <a:ea typeface="黑体" pitchFamily="2" charset="-122"/>
            </a:endParaRPr>
          </a:p>
        </p:txBody>
      </p:sp>
      <p:grpSp>
        <p:nvGrpSpPr>
          <p:cNvPr id="13" name="Group 6"/>
          <p:cNvGrpSpPr>
            <a:grpSpLocks/>
          </p:cNvGrpSpPr>
          <p:nvPr/>
        </p:nvGrpSpPr>
        <p:grpSpPr bwMode="auto">
          <a:xfrm>
            <a:off x="4421897" y="2408238"/>
            <a:ext cx="565150" cy="2368550"/>
            <a:chOff x="2750" y="1517"/>
            <a:chExt cx="356" cy="1492"/>
          </a:xfrm>
        </p:grpSpPr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2935" y="1517"/>
              <a:ext cx="171" cy="1492"/>
            </a:xfrm>
            <a:prstGeom prst="rect">
              <a:avLst/>
            </a:prstGeom>
            <a:solidFill>
              <a:srgbClr val="FFCCFF"/>
            </a:solidFill>
            <a:ln w="22225">
              <a:solidFill>
                <a:srgbClr val="0000FF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36000" rIns="0" bIns="0"/>
            <a:lstStyle/>
            <a:p>
              <a:pPr algn="ctr" eaLnBrk="0" hangingPunct="0">
                <a:defRPr/>
              </a:pPr>
              <a:endParaRPr kumimoji="0" lang="zh-CN" altLang="en-US" sz="1400"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endParaRPr kumimoji="0" lang="zh-CN" altLang="en-US" sz="1400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FF"/>
                  </a:solidFill>
                  <a:latin typeface="Times New Roman" pitchFamily="18" charset="0"/>
                </a:rPr>
                <a:t>软</a:t>
              </a:r>
            </a:p>
            <a:p>
              <a:pPr algn="ctr" eaLnBrk="0" hangingPunct="0">
                <a:defRPr/>
              </a:pPr>
              <a:endParaRPr kumimoji="0" lang="zh-CN" altLang="en-US" sz="1400" b="1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FF"/>
                  </a:solidFill>
                  <a:latin typeface="Times New Roman" pitchFamily="18" charset="0"/>
                </a:rPr>
                <a:t>件</a:t>
              </a:r>
            </a:p>
            <a:p>
              <a:pPr algn="ctr" eaLnBrk="0" hangingPunct="0">
                <a:defRPr/>
              </a:pPr>
              <a:endParaRPr kumimoji="0" lang="zh-CN" altLang="en-US" sz="1400" b="1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FF"/>
                  </a:solidFill>
                  <a:latin typeface="Times New Roman" pitchFamily="18" charset="0"/>
                </a:rPr>
                <a:t>系</a:t>
              </a:r>
            </a:p>
            <a:p>
              <a:pPr algn="ctr" eaLnBrk="0" hangingPunct="0">
                <a:defRPr/>
              </a:pPr>
              <a:endParaRPr kumimoji="0" lang="zh-CN" altLang="en-US" sz="1400" b="1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FF"/>
                  </a:solidFill>
                  <a:latin typeface="Times New Roman" pitchFamily="18" charset="0"/>
                </a:rPr>
                <a:t>统</a:t>
              </a:r>
              <a:endParaRPr kumimoji="0" lang="zh-CN" altLang="en-US" sz="1400" b="1">
                <a:latin typeface="Times New Roman" pitchFamily="18" charset="0"/>
              </a:endParaRPr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2750" y="2038"/>
              <a:ext cx="15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418222" y="1814513"/>
            <a:ext cx="4610100" cy="509587"/>
            <a:chOff x="228" y="1143"/>
            <a:chExt cx="2904" cy="321"/>
          </a:xfrm>
        </p:grpSpPr>
        <p:sp>
          <p:nvSpPr>
            <p:cNvPr id="17" name="AutoShape 10"/>
            <p:cNvSpPr>
              <a:spLocks/>
            </p:cNvSpPr>
            <p:nvPr/>
          </p:nvSpPr>
          <p:spPr bwMode="auto">
            <a:xfrm rot="5400000">
              <a:off x="1594" y="-74"/>
              <a:ext cx="172" cy="2904"/>
            </a:xfrm>
            <a:prstGeom prst="leftBrace">
              <a:avLst>
                <a:gd name="adj1" fmla="val 140698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298" y="1143"/>
              <a:ext cx="992" cy="22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0" hangingPunct="0">
                <a:defRPr/>
              </a:pPr>
              <a:r>
                <a:rPr kumimoji="0" lang="zh-CN" altLang="en-US" sz="16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微型计算机系统</a:t>
              </a:r>
            </a:p>
          </p:txBody>
        </p:sp>
      </p:grpSp>
      <p:grpSp>
        <p:nvGrpSpPr>
          <p:cNvPr id="19" name="Group 12"/>
          <p:cNvGrpSpPr>
            <a:grpSpLocks/>
          </p:cNvGrpSpPr>
          <p:nvPr/>
        </p:nvGrpSpPr>
        <p:grpSpPr bwMode="auto">
          <a:xfrm>
            <a:off x="418222" y="2405063"/>
            <a:ext cx="3881438" cy="2368550"/>
            <a:chOff x="228" y="1515"/>
            <a:chExt cx="2445" cy="1492"/>
          </a:xfrm>
        </p:grpSpPr>
        <p:grpSp>
          <p:nvGrpSpPr>
            <p:cNvPr id="20" name="Group 13"/>
            <p:cNvGrpSpPr>
              <a:grpSpLocks/>
            </p:cNvGrpSpPr>
            <p:nvPr/>
          </p:nvGrpSpPr>
          <p:grpSpPr bwMode="auto">
            <a:xfrm>
              <a:off x="1154" y="1726"/>
              <a:ext cx="611" cy="492"/>
              <a:chOff x="2016" y="1872"/>
              <a:chExt cx="697" cy="608"/>
            </a:xfrm>
          </p:grpSpPr>
          <p:sp>
            <p:nvSpPr>
              <p:cNvPr id="38" name="Text Box 14"/>
              <p:cNvSpPr txBox="1">
                <a:spLocks noChangeArrowheads="1"/>
              </p:cNvSpPr>
              <p:nvPr/>
            </p:nvSpPr>
            <p:spPr bwMode="auto">
              <a:xfrm>
                <a:off x="2016" y="1872"/>
                <a:ext cx="697" cy="304"/>
              </a:xfrm>
              <a:prstGeom prst="rect">
                <a:avLst/>
              </a:prstGeom>
              <a:solidFill>
                <a:srgbClr val="CC99FF"/>
              </a:solidFill>
              <a:ln w="222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90000" rIns="0" bIns="0"/>
              <a:lstStyle/>
              <a:p>
                <a:pPr algn="ctr" eaLnBrk="0" hangingPunct="0">
                  <a:defRPr/>
                </a:pPr>
                <a:r>
                  <a:rPr kumimoji="0" lang="zh-CN" altLang="en-US" sz="1400">
                    <a:latin typeface="Times New Roman" pitchFamily="18" charset="0"/>
                  </a:rPr>
                  <a:t>运 算 器</a:t>
                </a:r>
              </a:p>
            </p:txBody>
          </p:sp>
          <p:sp>
            <p:nvSpPr>
              <p:cNvPr id="39" name="Text Box 15"/>
              <p:cNvSpPr txBox="1">
                <a:spLocks noChangeArrowheads="1"/>
              </p:cNvSpPr>
              <p:nvPr/>
            </p:nvSpPr>
            <p:spPr bwMode="auto">
              <a:xfrm>
                <a:off x="2016" y="2176"/>
                <a:ext cx="697" cy="304"/>
              </a:xfrm>
              <a:prstGeom prst="rect">
                <a:avLst/>
              </a:prstGeom>
              <a:solidFill>
                <a:srgbClr val="CC99FF"/>
              </a:solidFill>
              <a:ln w="222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 lIns="0" tIns="90000" rIns="0" bIns="0"/>
              <a:lstStyle/>
              <a:p>
                <a:pPr algn="ctr" eaLnBrk="0" hangingPunct="0">
                  <a:defRPr/>
                </a:pPr>
                <a:r>
                  <a:rPr kumimoji="0" lang="zh-CN" altLang="en-US" sz="1400">
                    <a:latin typeface="Times New Roman" pitchFamily="18" charset="0"/>
                  </a:rPr>
                  <a:t>控 制 器</a:t>
                </a:r>
              </a:p>
            </p:txBody>
          </p:sp>
        </p:grp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1312" y="1524"/>
              <a:ext cx="305" cy="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en-US" altLang="zh-CN" sz="1200">
                  <a:solidFill>
                    <a:srgbClr val="000000"/>
                  </a:solidFill>
                  <a:latin typeface="Times New Roman" panose="02020603050405020304" pitchFamily="18" charset="0"/>
                </a:rPr>
                <a:t>CPU</a:t>
              </a: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993" y="1664"/>
              <a:ext cx="916" cy="64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1298" y="2187"/>
              <a:ext cx="153" cy="224"/>
            </a:xfrm>
            <a:prstGeom prst="upDownArrow">
              <a:avLst>
                <a:gd name="adj1" fmla="val 50000"/>
                <a:gd name="adj2" fmla="val 29281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eaVert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Line 19"/>
            <p:cNvSpPr>
              <a:spLocks noChangeShapeType="1"/>
            </p:cNvSpPr>
            <p:nvPr/>
          </p:nvSpPr>
          <p:spPr bwMode="auto">
            <a:xfrm>
              <a:off x="1603" y="2231"/>
              <a:ext cx="1" cy="18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1145" y="2411"/>
              <a:ext cx="611" cy="223"/>
            </a:xfrm>
            <a:prstGeom prst="rect">
              <a:avLst/>
            </a:prstGeom>
            <a:solidFill>
              <a:srgbClr val="00CC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/>
            <a:lstStyle/>
            <a:p>
              <a:pPr algn="ctr" eaLnBrk="0" hangingPunct="0">
                <a:defRPr/>
              </a:pPr>
              <a:r>
                <a:rPr kumimoji="0" lang="zh-CN" altLang="en-US" sz="1400">
                  <a:latin typeface="Times New Roman" pitchFamily="18" charset="0"/>
                </a:rPr>
                <a:t>存 储 器</a:t>
              </a:r>
            </a:p>
          </p:txBody>
        </p:sp>
        <p:sp>
          <p:nvSpPr>
            <p:cNvPr id="26" name="AutoShape 21"/>
            <p:cNvSpPr>
              <a:spLocks noChangeArrowheads="1"/>
            </p:cNvSpPr>
            <p:nvPr/>
          </p:nvSpPr>
          <p:spPr bwMode="auto">
            <a:xfrm>
              <a:off x="872" y="1814"/>
              <a:ext cx="273" cy="116"/>
            </a:xfrm>
            <a:prstGeom prst="leftRightArrow">
              <a:avLst>
                <a:gd name="adj1" fmla="val 50000"/>
                <a:gd name="adj2" fmla="val 47069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 flipH="1">
              <a:off x="878" y="2038"/>
              <a:ext cx="267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661" y="1665"/>
              <a:ext cx="204" cy="969"/>
            </a:xfrm>
            <a:prstGeom prst="rect">
              <a:avLst/>
            </a:prstGeom>
            <a:solidFill>
              <a:srgbClr val="CCFFCC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36000" rIns="0" bIns="0"/>
            <a:lstStyle/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输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入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接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口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电路</a:t>
              </a:r>
            </a:p>
          </p:txBody>
        </p:sp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304" y="1665"/>
              <a:ext cx="205" cy="969"/>
            </a:xfrm>
            <a:prstGeom prst="rect">
              <a:avLst/>
            </a:prstGeom>
            <a:solidFill>
              <a:srgbClr val="CCFFCC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36000" rIns="0" bIns="0"/>
            <a:lstStyle/>
            <a:p>
              <a:pPr algn="ctr" eaLnBrk="0" hangingPunct="0">
                <a:defRPr/>
              </a:pPr>
              <a:endParaRPr kumimoji="0" lang="zh-CN" altLang="en-US" sz="140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输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入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设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备</a:t>
              </a:r>
            </a:p>
          </p:txBody>
        </p:sp>
        <p:sp>
          <p:nvSpPr>
            <p:cNvPr id="30" name="AutoShape 25"/>
            <p:cNvSpPr>
              <a:spLocks noChangeArrowheads="1"/>
            </p:cNvSpPr>
            <p:nvPr/>
          </p:nvSpPr>
          <p:spPr bwMode="auto">
            <a:xfrm>
              <a:off x="509" y="2112"/>
              <a:ext cx="152" cy="149"/>
            </a:xfrm>
            <a:prstGeom prst="leftRightArrow">
              <a:avLst>
                <a:gd name="adj1" fmla="val 50000"/>
                <a:gd name="adj2" fmla="val 20403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Text Box 26"/>
            <p:cNvSpPr txBox="1">
              <a:spLocks noChangeArrowheads="1"/>
            </p:cNvSpPr>
            <p:nvPr/>
          </p:nvSpPr>
          <p:spPr bwMode="auto">
            <a:xfrm>
              <a:off x="2393" y="1665"/>
              <a:ext cx="204" cy="969"/>
            </a:xfrm>
            <a:prstGeom prst="rect">
              <a:avLst/>
            </a:prstGeom>
            <a:solidFill>
              <a:srgbClr val="FFCC99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36000" rIns="0" bIns="0"/>
            <a:lstStyle/>
            <a:p>
              <a:pPr algn="ctr" eaLnBrk="0" hangingPunct="0">
                <a:defRPr/>
              </a:pPr>
              <a:endParaRPr kumimoji="0" lang="zh-CN" altLang="en-US" sz="140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输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出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设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备</a:t>
              </a:r>
            </a:p>
          </p:txBody>
        </p:sp>
        <p:sp>
          <p:nvSpPr>
            <p:cNvPr id="32" name="Text Box 27"/>
            <p:cNvSpPr txBox="1">
              <a:spLocks noChangeArrowheads="1"/>
            </p:cNvSpPr>
            <p:nvPr/>
          </p:nvSpPr>
          <p:spPr bwMode="auto">
            <a:xfrm>
              <a:off x="2037" y="1665"/>
              <a:ext cx="203" cy="969"/>
            </a:xfrm>
            <a:prstGeom prst="rect">
              <a:avLst/>
            </a:prstGeom>
            <a:solidFill>
              <a:srgbClr val="FFCC99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808080"/>
              </a:outerShdw>
            </a:effectLst>
          </p:spPr>
          <p:txBody>
            <a:bodyPr lIns="0" tIns="36000" rIns="0" bIns="0"/>
            <a:lstStyle/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输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出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接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口</a:t>
              </a:r>
            </a:p>
            <a:p>
              <a:pPr algn="ctr" eaLnBrk="0" hangingPunct="0">
                <a:defRPr/>
              </a:pPr>
              <a:r>
                <a:rPr kumimoji="0" lang="zh-CN" altLang="en-US" sz="1400" b="1">
                  <a:solidFill>
                    <a:srgbClr val="000000"/>
                  </a:solidFill>
                  <a:latin typeface="Times New Roman" pitchFamily="18" charset="0"/>
                </a:rPr>
                <a:t>电路</a:t>
              </a:r>
            </a:p>
          </p:txBody>
        </p:sp>
        <p:sp>
          <p:nvSpPr>
            <p:cNvPr id="33" name="AutoShape 28"/>
            <p:cNvSpPr>
              <a:spLocks noChangeArrowheads="1"/>
            </p:cNvSpPr>
            <p:nvPr/>
          </p:nvSpPr>
          <p:spPr bwMode="auto">
            <a:xfrm>
              <a:off x="2240" y="2112"/>
              <a:ext cx="153" cy="149"/>
            </a:xfrm>
            <a:prstGeom prst="leftRightArrow">
              <a:avLst>
                <a:gd name="adj1" fmla="val 50000"/>
                <a:gd name="adj2" fmla="val 20537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AutoShape 29"/>
            <p:cNvSpPr>
              <a:spLocks noChangeArrowheads="1"/>
            </p:cNvSpPr>
            <p:nvPr/>
          </p:nvSpPr>
          <p:spPr bwMode="auto">
            <a:xfrm>
              <a:off x="1750" y="1814"/>
              <a:ext cx="274" cy="116"/>
            </a:xfrm>
            <a:prstGeom prst="leftRightArrow">
              <a:avLst>
                <a:gd name="adj1" fmla="val 50000"/>
                <a:gd name="adj2" fmla="val 47241"/>
              </a:avLst>
            </a:prstGeom>
            <a:solidFill>
              <a:srgbClr val="FFFFFF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 flipH="1">
              <a:off x="1756" y="2038"/>
              <a:ext cx="268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228" y="1515"/>
              <a:ext cx="2445" cy="1492"/>
            </a:xfrm>
            <a:prstGeom prst="rect">
              <a:avLst/>
            </a:prstGeom>
            <a:noFill/>
            <a:ln w="22225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Text Box 32"/>
            <p:cNvSpPr txBox="1">
              <a:spLocks noChangeArrowheads="1"/>
            </p:cNvSpPr>
            <p:nvPr/>
          </p:nvSpPr>
          <p:spPr bwMode="auto">
            <a:xfrm>
              <a:off x="1112" y="2736"/>
              <a:ext cx="6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0" lang="zh-CN" altLang="zh-CN" sz="1400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硬件系统</a:t>
              </a:r>
            </a:p>
            <a:p>
              <a:pPr algn="just"/>
              <a:endParaRPr kumimoji="0" lang="zh-CN" altLang="en-US" sz="1400" dirty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589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716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1.1.3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339287" y="1258432"/>
            <a:ext cx="8553888" cy="5248944"/>
            <a:chOff x="213" y="792"/>
            <a:chExt cx="5261" cy="3258"/>
          </a:xfrm>
          <a:solidFill>
            <a:schemeClr val="bg1"/>
          </a:solidFill>
        </p:grpSpPr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1242" y="3420"/>
              <a:ext cx="4120" cy="6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10000"/>
                </a:lnSpc>
              </a:pP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系统软件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操作系统，编辑、编译程序，故障诊断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监控程序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…)</a:t>
              </a:r>
              <a:endPara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>
                <a:lnSpc>
                  <a:spcPct val="110000"/>
                </a:lnSpc>
              </a:pP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应用软件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科学计算，工业控制，数据处理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…)</a:t>
              </a:r>
            </a:p>
            <a:p>
              <a:pPr algn="just">
                <a:lnSpc>
                  <a:spcPct val="110000"/>
                </a:lnSpc>
              </a:pP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程序设计语言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机器语言、汇编语言、高级语言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213" y="2204"/>
              <a:ext cx="257" cy="152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微型计算机系统</a:t>
              </a:r>
              <a:endPara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 flipH="1">
              <a:off x="635" y="2118"/>
              <a:ext cx="379" cy="21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</a:t>
              </a:r>
              <a:endParaRPr kumimoji="1"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1128" y="1404"/>
              <a:ext cx="851" cy="41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微型计算机</a:t>
              </a:r>
              <a:endParaRPr kumimoji="1"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主机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kumimoji="1"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>
              <a:off x="2152" y="792"/>
              <a:ext cx="662" cy="39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微处理器</a:t>
              </a:r>
            </a:p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(CPU)</a:t>
              </a: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 flipH="1">
              <a:off x="624" y="3581"/>
              <a:ext cx="379" cy="25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</a:t>
              </a:r>
              <a:endParaRPr kumimoji="1"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139" y="2760"/>
              <a:ext cx="676" cy="24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外围设备</a:t>
              </a:r>
              <a:endParaRPr kumimoji="1"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 flipH="1">
              <a:off x="2943" y="809"/>
              <a:ext cx="547" cy="3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运算器</a:t>
              </a:r>
            </a:p>
            <a:p>
              <a:pPr algn="ctr"/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  <a:endParaRPr kumimoji="1" lang="zh-CN" altLang="en-US" sz="10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2152" y="1220"/>
              <a:ext cx="657" cy="39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主存储器</a:t>
              </a:r>
            </a:p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</a:t>
              </a: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 flipH="1">
              <a:off x="2911" y="1249"/>
              <a:ext cx="554" cy="34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RAM</a:t>
              </a:r>
            </a:p>
            <a:p>
              <a:pPr algn="ctr"/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ROM</a:t>
              </a: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1953" y="2542"/>
              <a:ext cx="716" cy="20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外部设备</a:t>
              </a:r>
              <a:endParaRPr kumimoji="1"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1964" y="3005"/>
              <a:ext cx="692" cy="22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辅助设备</a:t>
              </a:r>
              <a:endParaRPr kumimoji="1" lang="zh-CN" altLang="en-US" sz="12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823" y="2359"/>
              <a:ext cx="2651" cy="56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kumimoji="1" lang="en-US" altLang="zh-CN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输入设备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键盘、扫描仪、语音识别仪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…)</a:t>
              </a:r>
              <a:endParaRPr kumimoji="1"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kumimoji="1" lang="en-US" altLang="zh-CN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输出设备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显示器、打印机、绘图仪、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…)</a:t>
              </a:r>
              <a:endParaRPr kumimoji="1"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kumimoji="1" lang="en-US" altLang="zh-CN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辅助存储器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磁带、磁盘、光盘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 flipH="1">
              <a:off x="2163" y="1670"/>
              <a:ext cx="3263" cy="36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输出接口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(PIO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SIO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CTC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ADC</a:t>
              </a:r>
              <a:r>
                <a:rPr kumimoji="1" lang="zh-CN" altLang="en-US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DAC…)</a:t>
              </a:r>
              <a:endParaRPr kumimoji="1"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just"/>
              <a:r>
                <a:rPr kumimoji="1" lang="en-US" altLang="zh-CN" sz="16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(</a:t>
              </a: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I/O</a:t>
              </a:r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  <a:r>
                <a:rPr kumimoji="1" lang="en-US" altLang="zh-CN" sz="16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2163" y="2078"/>
              <a:ext cx="1503" cy="21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1" lang="en-US" altLang="zh-CN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2000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总线 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(AB</a:t>
              </a:r>
              <a:r>
                <a:rPr kumimoji="1" lang="zh-CN" altLang="en-US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DB</a:t>
              </a:r>
              <a:r>
                <a:rPr kumimoji="1" lang="zh-CN" altLang="en-US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kumimoji="1" lang="en-US" altLang="zh-CN" b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CB)</a:t>
              </a: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2821" y="2990"/>
              <a:ext cx="674" cy="369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dir="54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电源电路</a:t>
              </a:r>
            </a:p>
            <a:p>
              <a:pPr algn="ctr"/>
              <a:r>
                <a:rPr kumimoji="1" lang="zh-CN" altLang="en-US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时钟电路</a:t>
              </a:r>
              <a:endParaRPr kumimoji="1"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AutoShape 21"/>
            <p:cNvSpPr>
              <a:spLocks/>
            </p:cNvSpPr>
            <p:nvPr/>
          </p:nvSpPr>
          <p:spPr bwMode="auto">
            <a:xfrm>
              <a:off x="508" y="2247"/>
              <a:ext cx="66" cy="1391"/>
            </a:xfrm>
            <a:prstGeom prst="leftBrace">
              <a:avLst>
                <a:gd name="adj1" fmla="val 175631"/>
                <a:gd name="adj2" fmla="val 5000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AutoShape 22"/>
            <p:cNvSpPr>
              <a:spLocks/>
            </p:cNvSpPr>
            <p:nvPr/>
          </p:nvSpPr>
          <p:spPr bwMode="auto">
            <a:xfrm>
              <a:off x="1996" y="1032"/>
              <a:ext cx="67" cy="1112"/>
            </a:xfrm>
            <a:prstGeom prst="leftBrace">
              <a:avLst>
                <a:gd name="adj1" fmla="val 138308"/>
                <a:gd name="adj2" fmla="val 5000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AutoShape 23"/>
            <p:cNvSpPr>
              <a:spLocks/>
            </p:cNvSpPr>
            <p:nvPr/>
          </p:nvSpPr>
          <p:spPr bwMode="auto">
            <a:xfrm>
              <a:off x="1023" y="1616"/>
              <a:ext cx="67" cy="1207"/>
            </a:xfrm>
            <a:prstGeom prst="leftBrace">
              <a:avLst>
                <a:gd name="adj1" fmla="val 150124"/>
                <a:gd name="adj2" fmla="val 5000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AutoShape 24"/>
            <p:cNvSpPr>
              <a:spLocks/>
            </p:cNvSpPr>
            <p:nvPr/>
          </p:nvSpPr>
          <p:spPr bwMode="auto">
            <a:xfrm>
              <a:off x="1050" y="3497"/>
              <a:ext cx="67" cy="411"/>
            </a:xfrm>
            <a:prstGeom prst="leftBrace">
              <a:avLst>
                <a:gd name="adj1" fmla="val 51119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25"/>
            <p:cNvSpPr>
              <a:spLocks/>
            </p:cNvSpPr>
            <p:nvPr/>
          </p:nvSpPr>
          <p:spPr bwMode="auto">
            <a:xfrm>
              <a:off x="1843" y="2647"/>
              <a:ext cx="66" cy="410"/>
            </a:xfrm>
            <a:prstGeom prst="leftBrace">
              <a:avLst>
                <a:gd name="adj1" fmla="val 51768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utoShape 26"/>
            <p:cNvSpPr>
              <a:spLocks/>
            </p:cNvSpPr>
            <p:nvPr/>
          </p:nvSpPr>
          <p:spPr bwMode="auto">
            <a:xfrm>
              <a:off x="2676" y="2423"/>
              <a:ext cx="67" cy="411"/>
            </a:xfrm>
            <a:prstGeom prst="leftBrace">
              <a:avLst>
                <a:gd name="adj1" fmla="val 51119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AutoShape 27"/>
            <p:cNvSpPr>
              <a:spLocks/>
            </p:cNvSpPr>
            <p:nvPr/>
          </p:nvSpPr>
          <p:spPr bwMode="auto">
            <a:xfrm>
              <a:off x="2657" y="3024"/>
              <a:ext cx="67" cy="259"/>
            </a:xfrm>
            <a:prstGeom prst="leftBrace">
              <a:avLst>
                <a:gd name="adj1" fmla="val 32214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AutoShape 28"/>
            <p:cNvSpPr>
              <a:spLocks/>
            </p:cNvSpPr>
            <p:nvPr/>
          </p:nvSpPr>
          <p:spPr bwMode="auto">
            <a:xfrm>
              <a:off x="2842" y="838"/>
              <a:ext cx="67" cy="258"/>
            </a:xfrm>
            <a:prstGeom prst="leftBrace">
              <a:avLst>
                <a:gd name="adj1" fmla="val 32090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AutoShape 29"/>
            <p:cNvSpPr>
              <a:spLocks/>
            </p:cNvSpPr>
            <p:nvPr/>
          </p:nvSpPr>
          <p:spPr bwMode="auto">
            <a:xfrm>
              <a:off x="2845" y="1291"/>
              <a:ext cx="67" cy="259"/>
            </a:xfrm>
            <a:prstGeom prst="leftBrace">
              <a:avLst>
                <a:gd name="adj1" fmla="val 32214"/>
                <a:gd name="adj2" fmla="val 50870"/>
              </a:avLst>
            </a:prstGeom>
            <a:grpFill/>
            <a:ln w="9525">
              <a:solidFill>
                <a:srgbClr val="000000"/>
              </a:solidFill>
              <a:round/>
              <a:headEnd/>
              <a:tailEnd/>
            </a:ln>
            <a:effectLst>
              <a:outerShdw dist="25400" dir="5400000" algn="ctr" rotWithShape="0">
                <a:schemeClr val="bg2"/>
              </a:outerShdw>
            </a:effec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65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64206" y="739324"/>
            <a:ext cx="8628970" cy="539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1.1.4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计算机发展趋势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微型化─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便携式、低功耗。</a:t>
            </a:r>
            <a:endParaRPr lang="en-US" altLang="zh-CN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在微机的大家族中，单片微型计算机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以下简称单片机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发展极为迅速。单片机也被称作“单片微型计算机”、“微控制器”、“嵌入式微控制器”。单片机一词最初来源于“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Single Chip Microcomputer"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，简称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SCM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  </a:t>
            </a: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巨型化─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尖端科技领域的信息处理，需要超大容量、高速度。</a:t>
            </a:r>
            <a:endParaRPr lang="en-US" altLang="zh-CN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智能化─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模拟人类大脑思维和交流方式，多种处理能力。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系列化、标准化─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便于各种计算机硬、软件兼容和升级。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网络化─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网络计算机和信息高速公路。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just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多机系统─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大型设备、生产流水线集中管理(独立控制、	故障分散、资源共享)。</a:t>
            </a:r>
          </a:p>
        </p:txBody>
      </p:sp>
    </p:spTree>
    <p:extLst>
      <p:ext uri="{BB962C8B-B14F-4D97-AF65-F5344CB8AC3E}">
        <p14:creationId xmlns:p14="http://schemas.microsoft.com/office/powerpoint/2010/main" val="3425311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1.1.5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计算机应用概况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科学计算：人造卫星轨迹， 天气预报等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数据处理：企业管理、情报检索等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自动控制：航天飞行、火星探测等现场控制等  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辅助设计和制造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系统仿真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智能模拟</a:t>
            </a:r>
            <a:endParaRPr kumimoji="0"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</a:pPr>
            <a:r>
              <a:rPr kumimoji="0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计算机网络与信息高速公路</a:t>
            </a:r>
          </a:p>
        </p:txBody>
      </p:sp>
    </p:spTree>
    <p:extLst>
      <p:ext uri="{BB962C8B-B14F-4D97-AF65-F5344CB8AC3E}">
        <p14:creationId xmlns:p14="http://schemas.microsoft.com/office/powerpoint/2010/main" val="4265388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1.1.6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微型计算机的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应用形态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多板机</a:t>
            </a: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系统机）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、存储器、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接口电路和总线接口等组装在一块主机板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微机主板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。各种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适配板卡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插在主机板的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槽上并与电源、软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硬盘驱动器及光驱等装在同一机箱内，再配上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系统软件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，就构成了一台完整的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微型计算机系统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简称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。工业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机也属于多板机。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单板机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将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芯片、存储器芯片、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接口芯片和简单的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小键盘、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等装配在一块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印刷电路板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上，再配上监控程序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，就构成了一台单板微型计算机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简称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单板机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。单板机的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设备简单，软件资源少，使用不方便。早期主要用于微型计算机原理的教学及简单的测控系统，现在已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很少使用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9185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1.1.6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微型计算机的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应用形态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在一片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集成电路芯片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上集成微处理器、存储器、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接口电路，从而构成了单芯片微型计算机，即单片机。</a:t>
            </a:r>
          </a:p>
        </p:txBody>
      </p:sp>
    </p:spTree>
    <p:extLst>
      <p:ext uri="{BB962C8B-B14F-4D97-AF65-F5344CB8AC3E}">
        <p14:creationId xmlns:p14="http://schemas.microsoft.com/office/powerpoint/2010/main" val="2959663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计算机发展与应用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1.1.6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微型计算机的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应用形态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三种应用形态的比较：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桌面应用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属于通用计算机，主要应用于数据处理、办公自动化及辅助设计等广泛领域。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嵌入式应用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属于专用计算机，主要应用于智能仪表、智能传感器、智能家电、智能办公设备、汽车及军事电子设备等应用系统。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体积小、价格低、可靠性高，其非凡的嵌入式应用形态对于满足</a:t>
            </a:r>
            <a:r>
              <a:rPr kumimoji="0"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嵌入式应用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需求具有独特的优势。</a:t>
            </a: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240152"/>
              </p:ext>
            </p:extLst>
          </p:nvPr>
        </p:nvGraphicFramePr>
        <p:xfrm>
          <a:off x="1934028" y="1890398"/>
          <a:ext cx="5275943" cy="1486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514344" imgH="1245108" progId="Visio.Drawing.6">
                  <p:embed/>
                </p:oleObj>
              </mc:Choice>
              <mc:Fallback>
                <p:oleObj name="Visio" r:id="rId5" imgW="3514344" imgH="124510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028" y="1890398"/>
                        <a:ext cx="5275943" cy="1486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C384087-0A6D-5438-46C6-04D6C4347822}"/>
              </a:ext>
            </a:extLst>
          </p:cNvPr>
          <p:cNvSpPr txBox="1"/>
          <p:nvPr/>
        </p:nvSpPr>
        <p:spPr>
          <a:xfrm>
            <a:off x="1821926" y="3215388"/>
            <a:ext cx="1911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多板机（系统机）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583219-4FDD-BFA0-2045-DC0C98F920FC}"/>
              </a:ext>
            </a:extLst>
          </p:cNvPr>
          <p:cNvSpPr txBox="1"/>
          <p:nvPr/>
        </p:nvSpPr>
        <p:spPr>
          <a:xfrm>
            <a:off x="4442520" y="3215388"/>
            <a:ext cx="92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单板机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2A1968-7EB9-D671-B985-2B74E8C88299}"/>
              </a:ext>
            </a:extLst>
          </p:cNvPr>
          <p:cNvSpPr txBox="1"/>
          <p:nvPr/>
        </p:nvSpPr>
        <p:spPr>
          <a:xfrm>
            <a:off x="6395070" y="3215388"/>
            <a:ext cx="927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</a:p>
        </p:txBody>
      </p:sp>
    </p:spTree>
    <p:extLst>
      <p:ext uri="{BB962C8B-B14F-4D97-AF65-F5344CB8AC3E}">
        <p14:creationId xmlns:p14="http://schemas.microsoft.com/office/powerpoint/2010/main" val="3401493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单片机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(Single-Chip-Microcomputer)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单片微控制器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，基本结构是将微型计算机的基本功能部件：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中央处理器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(CPU)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输入接口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输出接口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中断系统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串行口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等全部集成在一个半导体芯片上。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  <a:endParaRPr lang="en-US" altLang="zh-CN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具有较高的性能价格比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体积小，可靠性高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控制功能强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使用方便、容易产品化</a:t>
            </a:r>
          </a:p>
        </p:txBody>
      </p:sp>
    </p:spTree>
    <p:extLst>
      <p:ext uri="{BB962C8B-B14F-4D97-AF65-F5344CB8AC3E}">
        <p14:creationId xmlns:p14="http://schemas.microsoft.com/office/powerpoint/2010/main" val="1771812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4962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第一阶段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(1974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年～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初级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自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1975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年美国德克萨斯仪器公司首次推出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TMS-1000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后，各个计算机生产公司竞相推出</a:t>
            </a:r>
            <a:r>
              <a:rPr kumimoji="0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。例如，美国国家半导体公司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(National Semiconductor)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COP402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系列，日本电气公司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(NEC)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0" lang="el-GR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PD75XX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系列，美国洛克威尔公司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(Rockwell)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PPS/1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系列，日本松下公司的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MN1400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系列，富士通公司的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MB88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特点：</a:t>
            </a:r>
            <a:r>
              <a:rPr kumimoji="0"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阶段，因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限制，单片机采用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双片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的形式，且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应用：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位单片机主要用于家用电器、电子玩具等。</a:t>
            </a:r>
          </a:p>
        </p:txBody>
      </p:sp>
    </p:spTree>
    <p:extLst>
      <p:ext uri="{BB962C8B-B14F-4D97-AF65-F5344CB8AC3E}">
        <p14:creationId xmlns:p14="http://schemas.microsoft.com/office/powerpoint/2010/main" val="2103993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21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(1976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年～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低性能单片机阶段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1976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首先推出了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MCS-48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位单片机以后，单片机发展进入了一个新的阶段，</a:t>
            </a:r>
            <a:r>
              <a:rPr kumimoji="0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纷纷应运而生。例如，莫斯特克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en-US" altLang="zh-CN" sz="20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Mostek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和仙童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(Fairchild)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公司共同合作生产的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3870(F8)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系列，摩托罗拉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(Motorola)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6801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系列等。</a:t>
            </a: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年以前各厂家生产的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位单片机，由于受集成度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几千只管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的限制，一般没有串行接口，并且寻址空间的范围小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小于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8KB)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，从性能上看属于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低档</a:t>
            </a:r>
            <a:r>
              <a:rPr kumimoji="0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特点：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体积小、功能全、价格低，赢得了广泛的应用，为单片机的发展奠定了基础。</a:t>
            </a:r>
          </a:p>
        </p:txBody>
      </p:sp>
    </p:spTree>
    <p:extLst>
      <p:ext uri="{BB962C8B-B14F-4D97-AF65-F5344CB8AC3E}">
        <p14:creationId xmlns:p14="http://schemas.microsoft.com/office/powerpoint/2010/main" val="3488211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67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第三阶段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(1978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年～现在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高性能单片机阶段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随着</a:t>
            </a:r>
            <a:r>
              <a:rPr kumimoji="0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集成电路工艺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水平的提高，在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年到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1983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年期间</a:t>
            </a:r>
            <a:r>
              <a:rPr kumimoji="0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集成度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提高到几万只管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片，一些</a:t>
            </a:r>
            <a:r>
              <a:rPr kumimoji="0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高性能</a:t>
            </a:r>
            <a:r>
              <a:rPr kumimoji="0"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相继问世。例如，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年摩托罗拉公司的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MC6801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系列，齐洛格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0" lang="en-US" altLang="zh-CN" sz="1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Zilog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1979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NEC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μPD78XX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1980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1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该阶段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单片机普遍带有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多级中断系统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位定时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计算器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，片内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容量加大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，且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寻址范围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可达</a:t>
            </a:r>
            <a:r>
              <a:rPr kumimoji="0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，甚至还有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A/D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转换器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高档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的基础上，单片机功能进一步提高，推出了</a:t>
            </a:r>
            <a:r>
              <a:rPr kumimoji="0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</a:t>
            </a:r>
            <a:r>
              <a:rPr kumimoji="0"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8X252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UPI-45283C152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18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Zilog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Motorola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MC68HC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等，进一步扩大了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kumimoji="0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的容量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，增加了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通信功能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传输功能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</a:t>
            </a:r>
            <a:r>
              <a:rPr kumimoji="0"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等。自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1985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年以来，各种高性能、大存储容量、多功能的超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位单片机不断涌现，在单片机应用领域发挥着越来越大的作用。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位单片机由于功能强，被广泛用于工业控制、智能接口、仪器仪表等各个领域。</a:t>
            </a:r>
          </a:p>
        </p:txBody>
      </p:sp>
    </p:spTree>
    <p:extLst>
      <p:ext uri="{BB962C8B-B14F-4D97-AF65-F5344CB8AC3E}">
        <p14:creationId xmlns:p14="http://schemas.microsoft.com/office/powerpoint/2010/main" val="4267546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第四阶段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(1982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年～现在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位单片机巩固发展及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位单片机、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位单片机推出阶段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1983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年以后，集成电路的集成度可达十几万只管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片，</a:t>
            </a:r>
            <a:r>
              <a:rPr kumimoji="0"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逐渐问世。这一阶段的代表产品有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1983 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公司推出的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MCS-96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1987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公司又推出的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80C96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，美国国家半导体公司推出的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HPC16040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NEC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公司推出的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783XX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系列等。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16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位单片机把单片机的功能又推向了一个新的阶段。如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MCS-96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系列的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集成度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万只管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片，片内含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8KB ROM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232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个全双工串行口、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位定时器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计数器、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级中断处理系统。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MCS-96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系列还具有多种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功能，如高速输入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(HSIO)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、脉冲宽度调制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(PWM)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输出、特殊用途的监视定时器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(Watchdog)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位单片机可用于</a:t>
            </a:r>
            <a:r>
              <a:rPr kumimoji="0"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高速复杂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的控制系统。</a:t>
            </a:r>
          </a:p>
          <a:p>
            <a:pPr marL="0" lvl="0" indent="0" algn="just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zh-CN" altLang="en-US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313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1.2.1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历程</a:t>
            </a:r>
            <a:endParaRPr kumimoji="0"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第四阶段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(1982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年～现在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位单片机巩固发展及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位单片机、</a:t>
            </a:r>
            <a:r>
              <a:rPr kumimoji="0"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0"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位单片机推出阶段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近年来，各个计算机生产厂家已进入更高性能的</a:t>
            </a:r>
            <a:r>
              <a:rPr kumimoji="0"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0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研制、生产阶段。由于控制领域对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位单片机需求并不十分迫切，所以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位单片机的应用并不很多。</a:t>
            </a: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单片机的发展虽然按先后顺序经历了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位的阶段，但从实际使用情况看，并没有出现推陈出新、以新代旧的局面。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位单片机仍各有应用领域，如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位单片机在一些简单家用电器、高档玩具中仍有应用，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在中、小规模应用场合</a:t>
            </a:r>
            <a:r>
              <a:rPr kumimoji="0"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仍占主流地位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位单片机在比较复杂的控制系统中才有应用。</a:t>
            </a:r>
          </a:p>
        </p:txBody>
      </p:sp>
    </p:spTree>
    <p:extLst>
      <p:ext uri="{BB962C8B-B14F-4D97-AF65-F5344CB8AC3E}">
        <p14:creationId xmlns:p14="http://schemas.microsoft.com/office/powerpoint/2010/main" val="3199899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602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1.2.2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kumimoji="0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系列介绍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在我国使用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最多的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Intel(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美国英特尔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系列及与其兼容的单片机。在众多的与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单片机兼容的各种增强型、扩展型等衍生品种的机型中，美国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Atmel(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艾特梅尔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公司推出的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系列，尤其是该系列中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单片机在我国的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位单片机应用中占有相当大的市场份额。 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Atmel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公司的技术</a:t>
            </a:r>
            <a:r>
              <a:rPr kumimoji="0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优势是其闪烁（</a:t>
            </a:r>
            <a:r>
              <a:rPr kumimoji="0"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</a:t>
            </a:r>
            <a:r>
              <a:rPr kumimoji="0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）存储器技术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 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存储器与</a:t>
            </a:r>
            <a:r>
              <a:rPr kumimoji="0" lang="en-US" altLang="zh-CN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89C51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内核相结合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，形成了</a:t>
            </a:r>
            <a:r>
              <a:rPr kumimoji="0" lang="en-US" altLang="zh-CN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 </a:t>
            </a:r>
            <a:r>
              <a:rPr kumimoji="0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系列单片机继承了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 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的原有功能，与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 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系列单片机在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引脚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方面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完全兼容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AT89C5x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系列单片机又增加了一些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新功能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，如看门狗定时器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WDT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ISP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串口接口等。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还支持由软件选择的两种</a:t>
            </a:r>
            <a:r>
              <a:rPr kumimoji="0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掉电工作方式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，非常适用于电池供电或其他要求</a:t>
            </a:r>
            <a:r>
              <a:rPr kumimoji="0" lang="zh-CN" altLang="en-US" sz="1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低功耗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的场合。</a:t>
            </a: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 eaLnBrk="1" fontAlgn="auto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AT89C51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是目前取代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</a:t>
            </a:r>
            <a:r>
              <a:rPr kumimoji="0"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主流芯片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之一。</a:t>
            </a:r>
          </a:p>
          <a:p>
            <a:pPr lvl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zh-CN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6415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单片机的发展趋势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的改进</a:t>
            </a: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采用双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结构，提高处理能力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增加数据总线宽度，内部采用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位数据总线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串行总线结构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存储器的发展</a:t>
            </a: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加大存储容量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kumimoji="0" lang="en-US" altLang="zh-CN" sz="16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或闪烁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(Flash)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程序保密化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片内</a:t>
            </a:r>
            <a:r>
              <a:rPr kumimoji="0"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的改进</a:t>
            </a: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增加并行口的驱动能力，能直接输出大电流和高电压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口的逻辑控制功能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设置了一些特殊的串行接口功能，构成分布式、网络化系统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外围电路内封化</a:t>
            </a: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器件集成度的不断提高，把众多的外围功能部件集成在片内</a:t>
            </a: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系统的单片化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kumimoji="0"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低功耗化</a:t>
            </a: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CHMOS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工艺</a:t>
            </a:r>
            <a:endParaRPr kumimoji="0"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总之，向高性能、高速、低压、低功耗、低价格、外围电路</a:t>
            </a:r>
            <a:r>
              <a:rPr kumimoji="0"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内装化</a:t>
            </a:r>
            <a:r>
              <a:rPr kumimoji="0"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方向发展。</a:t>
            </a:r>
          </a:p>
        </p:txBody>
      </p:sp>
    </p:spTree>
    <p:extLst>
      <p:ext uri="{BB962C8B-B14F-4D97-AF65-F5344CB8AC3E}">
        <p14:creationId xmlns:p14="http://schemas.microsoft.com/office/powerpoint/2010/main" val="3926720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单片机的应用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endParaRPr kumimoji="0"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18525" y="1492509"/>
            <a:ext cx="7142685" cy="4856612"/>
            <a:chOff x="1112791" y="1369958"/>
            <a:chExt cx="7142685" cy="4856612"/>
          </a:xfrm>
        </p:grpSpPr>
        <p:grpSp>
          <p:nvGrpSpPr>
            <p:cNvPr id="11" name="Group 4"/>
            <p:cNvGrpSpPr>
              <a:grpSpLocks/>
            </p:cNvGrpSpPr>
            <p:nvPr/>
          </p:nvGrpSpPr>
          <p:grpSpPr bwMode="auto">
            <a:xfrm>
              <a:off x="5429842" y="1369958"/>
              <a:ext cx="2049313" cy="1454687"/>
              <a:chOff x="3923" y="893"/>
              <a:chExt cx="1580" cy="1333"/>
            </a:xfrm>
          </p:grpSpPr>
          <p:graphicFrame>
            <p:nvGraphicFramePr>
              <p:cNvPr id="12" name="Object 5"/>
              <p:cNvGraphicFramePr>
                <a:graphicFrameLocks noChangeAspect="1"/>
              </p:cNvGraphicFramePr>
              <p:nvPr/>
            </p:nvGraphicFramePr>
            <p:xfrm>
              <a:off x="3923" y="893"/>
              <a:ext cx="1519" cy="1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5" imgW="2496559" imgH="1934357" progId="Photoshop.Image.5">
                      <p:embed/>
                    </p:oleObj>
                  </mc:Choice>
                  <mc:Fallback>
                    <p:oleObj name="Image" r:id="rId5" imgW="2496559" imgH="1934357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3" y="893"/>
                            <a:ext cx="1519" cy="1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Text Box 6"/>
              <p:cNvSpPr txBox="1">
                <a:spLocks noChangeArrowheads="1"/>
              </p:cNvSpPr>
              <p:nvPr/>
            </p:nvSpPr>
            <p:spPr bwMode="auto">
              <a:xfrm>
                <a:off x="4649" y="1888"/>
                <a:ext cx="854" cy="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工业方面</a:t>
                </a:r>
              </a:p>
            </p:txBody>
          </p:sp>
        </p:grpSp>
        <p:grpSp>
          <p:nvGrpSpPr>
            <p:cNvPr id="14" name="Group 7"/>
            <p:cNvGrpSpPr>
              <a:grpSpLocks/>
            </p:cNvGrpSpPr>
            <p:nvPr/>
          </p:nvGrpSpPr>
          <p:grpSpPr bwMode="auto">
            <a:xfrm>
              <a:off x="5959726" y="3226387"/>
              <a:ext cx="2295750" cy="1491791"/>
              <a:chOff x="3852" y="2421"/>
              <a:chExt cx="1770" cy="1367"/>
            </a:xfrm>
          </p:grpSpPr>
          <p:graphicFrame>
            <p:nvGraphicFramePr>
              <p:cNvPr id="15" name="Object 8"/>
              <p:cNvGraphicFramePr>
                <a:graphicFrameLocks noChangeAspect="1"/>
              </p:cNvGraphicFramePr>
              <p:nvPr/>
            </p:nvGraphicFramePr>
            <p:xfrm>
              <a:off x="3852" y="2421"/>
              <a:ext cx="1770" cy="10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7" imgW="3087348" imgH="1524616" progId="Photoshop.Image.5">
                      <p:embed/>
                    </p:oleObj>
                  </mc:Choice>
                  <mc:Fallback>
                    <p:oleObj name="Image" r:id="rId7" imgW="3087348" imgH="1524616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2" y="2421"/>
                            <a:ext cx="1770" cy="101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Text Box 9"/>
              <p:cNvSpPr txBox="1">
                <a:spLocks noChangeArrowheads="1"/>
              </p:cNvSpPr>
              <p:nvPr/>
            </p:nvSpPr>
            <p:spPr bwMode="auto">
              <a:xfrm>
                <a:off x="4604" y="3450"/>
                <a:ext cx="854" cy="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民用方面</a:t>
                </a:r>
              </a:p>
            </p:txBody>
          </p:sp>
        </p:grp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2047578" y="4551442"/>
              <a:ext cx="2411185" cy="1675128"/>
              <a:chOff x="295" y="2641"/>
              <a:chExt cx="1859" cy="1535"/>
            </a:xfrm>
          </p:grpSpPr>
          <p:graphicFrame>
            <p:nvGraphicFramePr>
              <p:cNvPr id="18" name="Object 11"/>
              <p:cNvGraphicFramePr>
                <a:graphicFrameLocks noChangeAspect="1"/>
              </p:cNvGraphicFramePr>
              <p:nvPr/>
            </p:nvGraphicFramePr>
            <p:xfrm>
              <a:off x="557" y="2641"/>
              <a:ext cx="1597" cy="1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9" imgW="2534674" imgH="2115405" progId="Photoshop.Image.5">
                      <p:embed/>
                    </p:oleObj>
                  </mc:Choice>
                  <mc:Fallback>
                    <p:oleObj name="Image" r:id="rId9" imgW="2534674" imgH="2115405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7" y="2641"/>
                            <a:ext cx="1597" cy="13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295" y="3838"/>
                <a:ext cx="854" cy="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仪表方面</a:t>
                </a:r>
              </a:p>
            </p:txBody>
          </p:sp>
        </p:grpSp>
        <p:grpSp>
          <p:nvGrpSpPr>
            <p:cNvPr id="20" name="Group 13"/>
            <p:cNvGrpSpPr>
              <a:grpSpLocks/>
            </p:cNvGrpSpPr>
            <p:nvPr/>
          </p:nvGrpSpPr>
          <p:grpSpPr bwMode="auto">
            <a:xfrm>
              <a:off x="1323298" y="1576321"/>
              <a:ext cx="3048029" cy="1283355"/>
              <a:chOff x="431" y="440"/>
              <a:chExt cx="2350" cy="1176"/>
            </a:xfrm>
          </p:grpSpPr>
          <p:graphicFrame>
            <p:nvGraphicFramePr>
              <p:cNvPr id="21" name="Object 14"/>
              <p:cNvGraphicFramePr>
                <a:graphicFrameLocks noChangeAspect="1"/>
              </p:cNvGraphicFramePr>
              <p:nvPr/>
            </p:nvGraphicFramePr>
            <p:xfrm>
              <a:off x="431" y="440"/>
              <a:ext cx="1531" cy="1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11" imgW="2553732" imgH="1962943" progId="Photoshop.Image.5">
                      <p:embed/>
                    </p:oleObj>
                  </mc:Choice>
                  <mc:Fallback>
                    <p:oleObj name="Image" r:id="rId11" imgW="2553732" imgH="1962943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" y="440"/>
                            <a:ext cx="1531" cy="1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Text Box 15"/>
              <p:cNvSpPr txBox="1">
                <a:spLocks noChangeArrowheads="1"/>
              </p:cNvSpPr>
              <p:nvPr/>
            </p:nvSpPr>
            <p:spPr bwMode="auto">
              <a:xfrm>
                <a:off x="1927" y="1162"/>
                <a:ext cx="854" cy="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电讯方面</a:t>
                </a:r>
              </a:p>
            </p:txBody>
          </p:sp>
        </p:grpSp>
        <p:grpSp>
          <p:nvGrpSpPr>
            <p:cNvPr id="23" name="Group 16"/>
            <p:cNvGrpSpPr>
              <a:grpSpLocks/>
            </p:cNvGrpSpPr>
            <p:nvPr/>
          </p:nvGrpSpPr>
          <p:grpSpPr bwMode="auto">
            <a:xfrm>
              <a:off x="4872739" y="4656206"/>
              <a:ext cx="2979287" cy="1508161"/>
              <a:chOff x="2428" y="2704"/>
              <a:chExt cx="2297" cy="1382"/>
            </a:xfrm>
          </p:grpSpPr>
          <p:graphicFrame>
            <p:nvGraphicFramePr>
              <p:cNvPr id="24" name="Object 17"/>
              <p:cNvGraphicFramePr>
                <a:graphicFrameLocks noChangeAspect="1"/>
              </p:cNvGraphicFramePr>
              <p:nvPr/>
            </p:nvGraphicFramePr>
            <p:xfrm>
              <a:off x="2428" y="2704"/>
              <a:ext cx="1495" cy="1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13" imgW="2372684" imgH="1962943" progId="Photoshop.Image.5">
                      <p:embed/>
                    </p:oleObj>
                  </mc:Choice>
                  <mc:Fallback>
                    <p:oleObj name="Image" r:id="rId13" imgW="2372684" imgH="1962943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28" y="2704"/>
                            <a:ext cx="1495" cy="1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Text Box 18"/>
              <p:cNvSpPr txBox="1">
                <a:spLocks noChangeArrowheads="1"/>
              </p:cNvSpPr>
              <p:nvPr/>
            </p:nvSpPr>
            <p:spPr bwMode="auto">
              <a:xfrm>
                <a:off x="3515" y="3748"/>
                <a:ext cx="1210" cy="3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数据处理方面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3579120" y="2848337"/>
              <a:ext cx="2000026" cy="1237521"/>
              <a:chOff x="3795937" y="2983642"/>
              <a:chExt cx="2000026" cy="1237521"/>
            </a:xfrm>
          </p:grpSpPr>
          <p:pic>
            <p:nvPicPr>
              <p:cNvPr id="10" name="Picture 3"/>
              <p:cNvPicPr>
                <a:picLocks noChangeAspect="1" noChangeArrowheads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72000" y="3429000"/>
                <a:ext cx="45719" cy="45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6" name="Group 19"/>
              <p:cNvGrpSpPr>
                <a:grpSpLocks/>
              </p:cNvGrpSpPr>
              <p:nvPr/>
            </p:nvGrpSpPr>
            <p:grpSpPr bwMode="auto">
              <a:xfrm>
                <a:off x="3795937" y="2983642"/>
                <a:ext cx="2000026" cy="1237521"/>
                <a:chOff x="2154" y="1570"/>
                <a:chExt cx="1542" cy="1134"/>
              </a:xfrm>
            </p:grpSpPr>
            <p:sp>
              <p:nvSpPr>
                <p:cNvPr id="27" name="AutoShape 20"/>
                <p:cNvSpPr>
                  <a:spLocks noChangeArrowheads="1"/>
                </p:cNvSpPr>
                <p:nvPr/>
              </p:nvSpPr>
              <p:spPr bwMode="auto">
                <a:xfrm>
                  <a:off x="2154" y="1570"/>
                  <a:ext cx="1542" cy="1134"/>
                </a:xfrm>
                <a:prstGeom prst="bevel">
                  <a:avLst>
                    <a:gd name="adj" fmla="val 6880"/>
                  </a:avLst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graphicFrame>
              <p:nvGraphicFramePr>
                <p:cNvPr id="28" name="Object 21"/>
                <p:cNvGraphicFramePr>
                  <a:graphicFrameLocks noChangeAspect="1"/>
                </p:cNvGraphicFramePr>
                <p:nvPr/>
              </p:nvGraphicFramePr>
              <p:xfrm>
                <a:off x="2245" y="1707"/>
                <a:ext cx="1361" cy="86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Image" r:id="rId16" imgW="4269679" imgH="2249206" progId="Photoshop.Image.5">
                        <p:embed/>
                      </p:oleObj>
                    </mc:Choice>
                    <mc:Fallback>
                      <p:oleObj name="Image" r:id="rId16" imgW="4269679" imgH="2249206" progId="Photoshop.Image.5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245" y="1707"/>
                              <a:ext cx="1361" cy="861"/>
                            </a:xfrm>
                            <a:prstGeom prst="rect">
                              <a:avLst/>
                            </a:prstGeom>
                            <a:solidFill>
                              <a:srgbClr val="FBB7BD"/>
                            </a:solidFill>
                            <a:ln>
                              <a:noFill/>
                            </a:ln>
                            <a:effectLst/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9" name="Group 22"/>
            <p:cNvGrpSpPr>
              <a:grpSpLocks/>
            </p:cNvGrpSpPr>
            <p:nvPr/>
          </p:nvGrpSpPr>
          <p:grpSpPr bwMode="auto">
            <a:xfrm>
              <a:off x="1112791" y="3416899"/>
              <a:ext cx="2168641" cy="1424886"/>
              <a:chOff x="797" y="1757"/>
              <a:chExt cx="1672" cy="1319"/>
            </a:xfrm>
          </p:grpSpPr>
          <p:graphicFrame>
            <p:nvGraphicFramePr>
              <p:cNvPr id="30" name="Object 23"/>
              <p:cNvGraphicFramePr>
                <a:graphicFrameLocks noChangeAspect="1"/>
              </p:cNvGraphicFramePr>
              <p:nvPr/>
            </p:nvGraphicFramePr>
            <p:xfrm>
              <a:off x="797" y="1757"/>
              <a:ext cx="1672" cy="10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Image" r:id="rId18" imgW="2915828" imgH="1514686" progId="Photoshop.Image.5">
                      <p:embed/>
                    </p:oleObj>
                  </mc:Choice>
                  <mc:Fallback>
                    <p:oleObj name="Image" r:id="rId18" imgW="2915828" imgH="1514686" progId="Photoshop.Image.5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97" y="1757"/>
                            <a:ext cx="1672" cy="10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Text Box 24"/>
              <p:cNvSpPr txBox="1">
                <a:spLocks noChangeArrowheads="1"/>
              </p:cNvSpPr>
              <p:nvPr/>
            </p:nvSpPr>
            <p:spPr bwMode="auto">
              <a:xfrm>
                <a:off x="1020" y="2734"/>
                <a:ext cx="854" cy="3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kumimoji="0" lang="zh-CN" altLang="en-US" sz="1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汽车方面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0114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单片机的发展历程及应用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268014" y="749300"/>
            <a:ext cx="8625161" cy="591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1.2.3 </a:t>
            </a:r>
            <a:r>
              <a:rPr kumimoji="0"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单片机的应用</a:t>
            </a:r>
            <a:endParaRPr kumimoji="0"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单片机由于其体积小、功耗低、价格低廉，且具有逻辑判断、定时计数、程序控制等多种功能，广泛应用于智能仪表、可编程序控制器、家用电器、医用设备、航空航天、专用设备的智能化管理及过程控制等领域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工业控制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。单片机可以构成各种工业控制系统、数据采集系统等。如数控机床、自动生产线控制、电机控制、温度控制等。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仪器仪表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。如智能仪器、医疗器械、数字示波器等。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计算机外部设备与智能接口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。如图形终端机、传真机、复印机、打印机、绘图仪、磁盘</a:t>
            </a:r>
            <a:r>
              <a:rPr kumimoji="0"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磁带机、智能终端机等。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商用机电产品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。如自动售货机、电子收款机、电子秤等。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家用电器</a:t>
            </a:r>
            <a:r>
              <a:rPr kumimoji="0"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。如微波炉、电视机、空调、洗衣机、录像机、音响设备等。</a:t>
            </a:r>
            <a:endParaRPr kumimoji="0"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商用级：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0°C -+70°C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、工业级：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-40°C -+85°C</a:t>
            </a:r>
            <a:r>
              <a:rPr kumimoji="0" lang="zh-CN" altLang="en-US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、军用级：</a:t>
            </a:r>
            <a:r>
              <a:rPr kumimoji="0" lang="en-US" altLang="zh-CN" sz="1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-65°C -+125°C</a:t>
            </a:r>
            <a:endParaRPr kumimoji="0" lang="zh-CN" altLang="en-US" sz="1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6392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在计算机中，任何命令和信息都是以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数据的形式存储的。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计算机与二进制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计算机是一种以二进制数据形式存储信息、以程序存储为基础、由程序自动控制的电子设备。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是计算机硬件能直接识别并进行处理的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唯一形式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二进制数据存储信息和程序储存是计算机的基本工作机制。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计数方式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。常用的数制有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八进制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数据等。在计算机内只能使用二进制表示，因此，计算机在处理数据时，必须进行各种数制之间的相互转换。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06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二进制数只有两个数字符号：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。计数时按“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逢二进一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”的原则进行计数。二进制数的表示形式有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(110)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(110.11)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10110B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在计算机中，一个二进制数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位或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既可以表示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，也可以表示一种符号的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，还可以表示某种操作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，计算机在程序运行时按程序的规则自动识别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一切信息都是以二进制数据进行存储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022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十六进制数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十六进制数有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个数字符号，其中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与十进制相同，剩余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，分别表示十进制数的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。十六进制数的计数原则是逢“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十六进一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为了便于区别不同进制的数据，一般情况下可在数据后跟一后缀：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二进制数用“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00111010B)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十六进制数用“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3A5H)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十进制数用“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685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不同进制数之间的转换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二进制数转换为十进制数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对任意二进制数均可按权值展开将其转化为十进制数。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(10)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=1×2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0×2</a:t>
            </a:r>
            <a:r>
              <a:rPr lang="en-US" altLang="zh-CN" sz="2400" baseline="30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=(2)</a:t>
            </a:r>
            <a:r>
              <a:rPr lang="en-US" altLang="zh-CN" sz="2400" baseline="-25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对于十进制整数，可采用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除２取余的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方法转化成二进制数。对于十进制小数，可采用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乘２取整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的方法转化成二进制数。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二进制数与十六进制数的相互转换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在将二进制数转换为十六进制数时，其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整数部分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可由小数点开始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向左每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位为一组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进行分组，直至高位。若高位不足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187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数制及其转换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不同进制数之间的转换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二进制数与十六进制数的相互转换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使其成为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位二进制数，其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小数部分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由小数点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向右每</a:t>
            </a: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为一组进行分组，不足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位则末位补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使其成为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例如：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1000101B=0100 0101B=45H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100101.101B=0010 0101.1010B=25.AH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需要将十六进制数转换为二进制数时，则为上述方法的逆过程。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例如：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45.AH=0100  0101. 1010B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7ABFH=0111 1010 1011 1111B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69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机器数与真值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一个数在计算机中的表示形式叫做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，而这个数本身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含符号“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-”)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称为机器数的真值。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通常在机器数中，用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最高位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表示负数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表示正数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（均为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位二进制为例）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18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89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原码、反码和补码 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的符号位用“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的符号位用“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1”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数值部分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随后表示，称为原码。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反码、补码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在计算机中，任何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都是以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形式存储的。对于正数，其反码、补码与原码相同。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对于负数，其反码为：原码的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符号位不变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，其数值部分按位取反。 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0786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原码、反码和补码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负数的补码为：原码的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符号位不变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数值部分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按位取反后再加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即负数的反码＋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，称为求补。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如果已知一个负数的补码，可以对该补码再进行求补码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即一个数的补码的补码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，即可得到该数的原码 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补码表示的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的表示唯一，加减运算方便，用加法代替减法。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7A64E23-DB5B-03B2-E9AB-10EF9B0BB5D4}"/>
              </a:ext>
            </a:extLst>
          </p:cNvPr>
          <p:cNvSpPr txBox="1"/>
          <p:nvPr/>
        </p:nvSpPr>
        <p:spPr>
          <a:xfrm>
            <a:off x="5106575" y="900331"/>
            <a:ext cx="353013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编码：</a:t>
            </a:r>
            <a:r>
              <a:rPr lang="en-US" altLang="zh-CN" dirty="0"/>
              <a:t>+0</a:t>
            </a:r>
            <a:r>
              <a:rPr lang="zh-CN" altLang="en-US" dirty="0"/>
              <a:t>，</a:t>
            </a:r>
            <a:r>
              <a:rPr lang="en-US" altLang="zh-CN" dirty="0"/>
              <a:t>-0</a:t>
            </a:r>
            <a:r>
              <a:rPr lang="zh-CN" altLang="en-US" dirty="0"/>
              <a:t>，</a:t>
            </a:r>
            <a:r>
              <a:rPr lang="en-US" altLang="zh-CN" dirty="0"/>
              <a:t>+127</a:t>
            </a:r>
            <a:r>
              <a:rPr lang="zh-CN" altLang="en-US" dirty="0"/>
              <a:t>，</a:t>
            </a:r>
            <a:r>
              <a:rPr lang="en-US" altLang="zh-CN" dirty="0"/>
              <a:t>-127</a:t>
            </a:r>
            <a:r>
              <a:rPr lang="zh-CN" altLang="en-US" dirty="0"/>
              <a:t>，</a:t>
            </a:r>
            <a:r>
              <a:rPr lang="en-US" altLang="zh-CN" dirty="0"/>
              <a:t>-128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821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原码、反码和补码 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pSp>
        <p:nvGrpSpPr>
          <p:cNvPr id="8" name="Group 8"/>
          <p:cNvGrpSpPr>
            <a:grpSpLocks noChangeAspect="1"/>
          </p:cNvGrpSpPr>
          <p:nvPr/>
        </p:nvGrpSpPr>
        <p:grpSpPr bwMode="auto">
          <a:xfrm>
            <a:off x="1202768" y="2447566"/>
            <a:ext cx="6744452" cy="3898875"/>
            <a:chOff x="417" y="1208"/>
            <a:chExt cx="4822" cy="2630"/>
          </a:xfrm>
        </p:grpSpPr>
        <p:sp>
          <p:nvSpPr>
            <p:cNvPr id="9" name="AutoShape 7"/>
            <p:cNvSpPr>
              <a:spLocks noChangeAspect="1" noChangeArrowheads="1" noTextEdit="1"/>
            </p:cNvSpPr>
            <p:nvPr/>
          </p:nvSpPr>
          <p:spPr bwMode="auto">
            <a:xfrm>
              <a:off x="417" y="1208"/>
              <a:ext cx="4822" cy="2630"/>
            </a:xfrm>
            <a:prstGeom prst="rect">
              <a:avLst/>
            </a:prstGeom>
            <a:solidFill>
              <a:srgbClr val="A3640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" name="Group 209"/>
            <p:cNvGrpSpPr>
              <a:grpSpLocks/>
            </p:cNvGrpSpPr>
            <p:nvPr/>
          </p:nvGrpSpPr>
          <p:grpSpPr bwMode="auto">
            <a:xfrm>
              <a:off x="427" y="1208"/>
              <a:ext cx="4780" cy="2591"/>
              <a:chOff x="427" y="1208"/>
              <a:chExt cx="4780" cy="2591"/>
            </a:xfrm>
          </p:grpSpPr>
          <p:sp>
            <p:nvSpPr>
              <p:cNvPr id="55" name="Rectangle 9"/>
              <p:cNvSpPr>
                <a:spLocks noChangeArrowheads="1"/>
              </p:cNvSpPr>
              <p:nvPr/>
            </p:nvSpPr>
            <p:spPr bwMode="auto">
              <a:xfrm>
                <a:off x="933" y="1234"/>
                <a:ext cx="8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8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Rectangle 10"/>
              <p:cNvSpPr>
                <a:spLocks noChangeArrowheads="1"/>
              </p:cNvSpPr>
              <p:nvPr/>
            </p:nvSpPr>
            <p:spPr bwMode="auto">
              <a:xfrm>
                <a:off x="1095" y="1241"/>
                <a:ext cx="6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位机器数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Rectangle 11"/>
              <p:cNvSpPr>
                <a:spLocks noChangeArrowheads="1"/>
              </p:cNvSpPr>
              <p:nvPr/>
            </p:nvSpPr>
            <p:spPr bwMode="auto">
              <a:xfrm>
                <a:off x="3758" y="1241"/>
                <a:ext cx="6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有符号数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Rectangle 12"/>
              <p:cNvSpPr>
                <a:spLocks noChangeArrowheads="1"/>
              </p:cNvSpPr>
              <p:nvPr/>
            </p:nvSpPr>
            <p:spPr bwMode="auto">
              <a:xfrm>
                <a:off x="427" y="1208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Line 13"/>
              <p:cNvSpPr>
                <a:spLocks noChangeShapeType="1"/>
              </p:cNvSpPr>
              <p:nvPr/>
            </p:nvSpPr>
            <p:spPr bwMode="auto">
              <a:xfrm>
                <a:off x="427" y="1208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>
                <a:off x="427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Rectangle 15"/>
              <p:cNvSpPr>
                <a:spLocks noChangeArrowheads="1"/>
              </p:cNvSpPr>
              <p:nvPr/>
            </p:nvSpPr>
            <p:spPr bwMode="auto">
              <a:xfrm>
                <a:off x="427" y="1208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Line 16"/>
              <p:cNvSpPr>
                <a:spLocks noChangeShapeType="1"/>
              </p:cNvSpPr>
              <p:nvPr/>
            </p:nvSpPr>
            <p:spPr bwMode="auto">
              <a:xfrm>
                <a:off x="427" y="1208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" name="Line 17"/>
              <p:cNvSpPr>
                <a:spLocks noChangeShapeType="1"/>
              </p:cNvSpPr>
              <p:nvPr/>
            </p:nvSpPr>
            <p:spPr bwMode="auto">
              <a:xfrm>
                <a:off x="427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Rectangle 18"/>
              <p:cNvSpPr>
                <a:spLocks noChangeArrowheads="1"/>
              </p:cNvSpPr>
              <p:nvPr/>
            </p:nvSpPr>
            <p:spPr bwMode="auto">
              <a:xfrm>
                <a:off x="431" y="1208"/>
                <a:ext cx="203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Line 19"/>
              <p:cNvSpPr>
                <a:spLocks noChangeShapeType="1"/>
              </p:cNvSpPr>
              <p:nvPr/>
            </p:nvSpPr>
            <p:spPr bwMode="auto">
              <a:xfrm>
                <a:off x="431" y="1208"/>
                <a:ext cx="203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Rectangle 20"/>
              <p:cNvSpPr>
                <a:spLocks noChangeArrowheads="1"/>
              </p:cNvSpPr>
              <p:nvPr/>
            </p:nvSpPr>
            <p:spPr bwMode="auto">
              <a:xfrm>
                <a:off x="2465" y="1208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Line 21"/>
              <p:cNvSpPr>
                <a:spLocks noChangeShapeType="1"/>
              </p:cNvSpPr>
              <p:nvPr/>
            </p:nvSpPr>
            <p:spPr bwMode="auto">
              <a:xfrm>
                <a:off x="2465" y="1208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22"/>
              <p:cNvSpPr>
                <a:spLocks noChangeShapeType="1"/>
              </p:cNvSpPr>
              <p:nvPr/>
            </p:nvSpPr>
            <p:spPr bwMode="auto">
              <a:xfrm>
                <a:off x="2465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Rectangle 23"/>
              <p:cNvSpPr>
                <a:spLocks noChangeArrowheads="1"/>
              </p:cNvSpPr>
              <p:nvPr/>
            </p:nvSpPr>
            <p:spPr bwMode="auto">
              <a:xfrm>
                <a:off x="2468" y="1208"/>
                <a:ext cx="712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Line 24"/>
              <p:cNvSpPr>
                <a:spLocks noChangeShapeType="1"/>
              </p:cNvSpPr>
              <p:nvPr/>
            </p:nvSpPr>
            <p:spPr bwMode="auto">
              <a:xfrm>
                <a:off x="2468" y="1208"/>
                <a:ext cx="712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Rectangle 25"/>
              <p:cNvSpPr>
                <a:spLocks noChangeArrowheads="1"/>
              </p:cNvSpPr>
              <p:nvPr/>
            </p:nvSpPr>
            <p:spPr bwMode="auto">
              <a:xfrm>
                <a:off x="3180" y="1208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Line 26"/>
              <p:cNvSpPr>
                <a:spLocks noChangeShapeType="1"/>
              </p:cNvSpPr>
              <p:nvPr/>
            </p:nvSpPr>
            <p:spPr bwMode="auto">
              <a:xfrm>
                <a:off x="3180" y="1208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27"/>
              <p:cNvSpPr>
                <a:spLocks noChangeShapeType="1"/>
              </p:cNvSpPr>
              <p:nvPr/>
            </p:nvSpPr>
            <p:spPr bwMode="auto">
              <a:xfrm>
                <a:off x="3180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Rectangle 28"/>
              <p:cNvSpPr>
                <a:spLocks noChangeArrowheads="1"/>
              </p:cNvSpPr>
              <p:nvPr/>
            </p:nvSpPr>
            <p:spPr bwMode="auto">
              <a:xfrm>
                <a:off x="3184" y="1208"/>
                <a:ext cx="2019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5" name="Line 29"/>
              <p:cNvSpPr>
                <a:spLocks noChangeShapeType="1"/>
              </p:cNvSpPr>
              <p:nvPr/>
            </p:nvSpPr>
            <p:spPr bwMode="auto">
              <a:xfrm>
                <a:off x="3184" y="1208"/>
                <a:ext cx="2019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Rectangle 30"/>
              <p:cNvSpPr>
                <a:spLocks noChangeArrowheads="1"/>
              </p:cNvSpPr>
              <p:nvPr/>
            </p:nvSpPr>
            <p:spPr bwMode="auto">
              <a:xfrm>
                <a:off x="5203" y="1208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Line 31"/>
              <p:cNvSpPr>
                <a:spLocks noChangeShapeType="1"/>
              </p:cNvSpPr>
              <p:nvPr/>
            </p:nvSpPr>
            <p:spPr bwMode="auto">
              <a:xfrm>
                <a:off x="5203" y="1208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32"/>
              <p:cNvSpPr>
                <a:spLocks noChangeShapeType="1"/>
              </p:cNvSpPr>
              <p:nvPr/>
            </p:nvSpPr>
            <p:spPr bwMode="auto">
              <a:xfrm>
                <a:off x="5203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Rectangle 33"/>
              <p:cNvSpPr>
                <a:spLocks noChangeArrowheads="1"/>
              </p:cNvSpPr>
              <p:nvPr/>
            </p:nvSpPr>
            <p:spPr bwMode="auto">
              <a:xfrm>
                <a:off x="5203" y="1208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Line 34"/>
              <p:cNvSpPr>
                <a:spLocks noChangeShapeType="1"/>
              </p:cNvSpPr>
              <p:nvPr/>
            </p:nvSpPr>
            <p:spPr bwMode="auto">
              <a:xfrm>
                <a:off x="5203" y="1208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" name="Line 35"/>
              <p:cNvSpPr>
                <a:spLocks noChangeShapeType="1"/>
              </p:cNvSpPr>
              <p:nvPr/>
            </p:nvSpPr>
            <p:spPr bwMode="auto">
              <a:xfrm>
                <a:off x="5203" y="1208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Rectangle 36"/>
              <p:cNvSpPr>
                <a:spLocks noChangeArrowheads="1"/>
              </p:cNvSpPr>
              <p:nvPr/>
            </p:nvSpPr>
            <p:spPr bwMode="auto">
              <a:xfrm>
                <a:off x="427" y="1211"/>
                <a:ext cx="4" cy="38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Line 37"/>
              <p:cNvSpPr>
                <a:spLocks noChangeShapeType="1"/>
              </p:cNvSpPr>
              <p:nvPr/>
            </p:nvSpPr>
            <p:spPr bwMode="auto">
              <a:xfrm>
                <a:off x="427" y="1211"/>
                <a:ext cx="0" cy="3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Rectangle 38"/>
              <p:cNvSpPr>
                <a:spLocks noChangeArrowheads="1"/>
              </p:cNvSpPr>
              <p:nvPr/>
            </p:nvSpPr>
            <p:spPr bwMode="auto">
              <a:xfrm>
                <a:off x="2465" y="1211"/>
                <a:ext cx="3" cy="38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Line 39"/>
              <p:cNvSpPr>
                <a:spLocks noChangeShapeType="1"/>
              </p:cNvSpPr>
              <p:nvPr/>
            </p:nvSpPr>
            <p:spPr bwMode="auto">
              <a:xfrm>
                <a:off x="2465" y="1211"/>
                <a:ext cx="0" cy="3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Rectangle 40"/>
              <p:cNvSpPr>
                <a:spLocks noChangeArrowheads="1"/>
              </p:cNvSpPr>
              <p:nvPr/>
            </p:nvSpPr>
            <p:spPr bwMode="auto">
              <a:xfrm>
                <a:off x="3180" y="1211"/>
                <a:ext cx="4" cy="38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Line 41"/>
              <p:cNvSpPr>
                <a:spLocks noChangeShapeType="1"/>
              </p:cNvSpPr>
              <p:nvPr/>
            </p:nvSpPr>
            <p:spPr bwMode="auto">
              <a:xfrm>
                <a:off x="3180" y="1211"/>
                <a:ext cx="0" cy="3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Rectangle 42"/>
              <p:cNvSpPr>
                <a:spLocks noChangeArrowheads="1"/>
              </p:cNvSpPr>
              <p:nvPr/>
            </p:nvSpPr>
            <p:spPr bwMode="auto">
              <a:xfrm>
                <a:off x="5203" y="1211"/>
                <a:ext cx="4" cy="38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Line 43"/>
              <p:cNvSpPr>
                <a:spLocks noChangeShapeType="1"/>
              </p:cNvSpPr>
              <p:nvPr/>
            </p:nvSpPr>
            <p:spPr bwMode="auto">
              <a:xfrm>
                <a:off x="5203" y="1211"/>
                <a:ext cx="0" cy="38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Rectangle 44"/>
              <p:cNvSpPr>
                <a:spLocks noChangeArrowheads="1"/>
              </p:cNvSpPr>
              <p:nvPr/>
            </p:nvSpPr>
            <p:spPr bwMode="auto">
              <a:xfrm>
                <a:off x="434" y="1628"/>
                <a:ext cx="6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十六进制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45"/>
              <p:cNvSpPr>
                <a:spLocks noChangeArrowheads="1"/>
              </p:cNvSpPr>
              <p:nvPr/>
            </p:nvSpPr>
            <p:spPr bwMode="auto">
              <a:xfrm>
                <a:off x="1561" y="1628"/>
                <a:ext cx="49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二进制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46"/>
              <p:cNvSpPr>
                <a:spLocks noChangeArrowheads="1"/>
              </p:cNvSpPr>
              <p:nvPr/>
            </p:nvSpPr>
            <p:spPr bwMode="auto">
              <a:xfrm>
                <a:off x="2497" y="1241"/>
                <a:ext cx="6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无符号数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47"/>
              <p:cNvSpPr>
                <a:spLocks noChangeArrowheads="1"/>
              </p:cNvSpPr>
              <p:nvPr/>
            </p:nvSpPr>
            <p:spPr bwMode="auto">
              <a:xfrm>
                <a:off x="2714" y="1497"/>
                <a:ext cx="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48"/>
              <p:cNvSpPr>
                <a:spLocks noChangeArrowheads="1"/>
              </p:cNvSpPr>
              <p:nvPr/>
            </p:nvSpPr>
            <p:spPr bwMode="auto">
              <a:xfrm>
                <a:off x="3288" y="1628"/>
                <a:ext cx="33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原码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Rectangle 49"/>
              <p:cNvSpPr>
                <a:spLocks noChangeArrowheads="1"/>
              </p:cNvSpPr>
              <p:nvPr/>
            </p:nvSpPr>
            <p:spPr bwMode="auto">
              <a:xfrm>
                <a:off x="3971" y="1628"/>
                <a:ext cx="33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反码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50"/>
              <p:cNvSpPr>
                <a:spLocks noChangeArrowheads="1"/>
              </p:cNvSpPr>
              <p:nvPr/>
            </p:nvSpPr>
            <p:spPr bwMode="auto">
              <a:xfrm>
                <a:off x="4654" y="1628"/>
                <a:ext cx="33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zh-CN" altLang="en-US">
                    <a:solidFill>
                      <a:schemeClr val="bg1"/>
                    </a:solidFill>
                    <a:latin typeface="宋体" panose="02010600030101010101" pitchFamily="2" charset="-122"/>
                  </a:rPr>
                  <a:t>补码</a:t>
                </a:r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51"/>
              <p:cNvSpPr>
                <a:spLocks noChangeArrowheads="1"/>
              </p:cNvSpPr>
              <p:nvPr/>
            </p:nvSpPr>
            <p:spPr bwMode="auto">
              <a:xfrm>
                <a:off x="427" y="159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Line 52"/>
              <p:cNvSpPr>
                <a:spLocks noChangeShapeType="1"/>
              </p:cNvSpPr>
              <p:nvPr/>
            </p:nvSpPr>
            <p:spPr bwMode="auto">
              <a:xfrm>
                <a:off x="427" y="1595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53"/>
              <p:cNvSpPr>
                <a:spLocks noChangeShapeType="1"/>
              </p:cNvSpPr>
              <p:nvPr/>
            </p:nvSpPr>
            <p:spPr bwMode="auto">
              <a:xfrm>
                <a:off x="427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Rectangle 54"/>
              <p:cNvSpPr>
                <a:spLocks noChangeArrowheads="1"/>
              </p:cNvSpPr>
              <p:nvPr/>
            </p:nvSpPr>
            <p:spPr bwMode="auto">
              <a:xfrm>
                <a:off x="431" y="1595"/>
                <a:ext cx="878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1" name="Line 55"/>
              <p:cNvSpPr>
                <a:spLocks noChangeShapeType="1"/>
              </p:cNvSpPr>
              <p:nvPr/>
            </p:nvSpPr>
            <p:spPr bwMode="auto">
              <a:xfrm>
                <a:off x="431" y="1595"/>
                <a:ext cx="878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Rectangle 56"/>
              <p:cNvSpPr>
                <a:spLocks noChangeArrowheads="1"/>
              </p:cNvSpPr>
              <p:nvPr/>
            </p:nvSpPr>
            <p:spPr bwMode="auto">
              <a:xfrm>
                <a:off x="1309" y="1595"/>
                <a:ext cx="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Line 57"/>
              <p:cNvSpPr>
                <a:spLocks noChangeShapeType="1"/>
              </p:cNvSpPr>
              <p:nvPr/>
            </p:nvSpPr>
            <p:spPr bwMode="auto">
              <a:xfrm>
                <a:off x="1309" y="1595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58"/>
              <p:cNvSpPr>
                <a:spLocks noChangeShapeType="1"/>
              </p:cNvSpPr>
              <p:nvPr/>
            </p:nvSpPr>
            <p:spPr bwMode="auto">
              <a:xfrm>
                <a:off x="1309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Rectangle 59"/>
              <p:cNvSpPr>
                <a:spLocks noChangeArrowheads="1"/>
              </p:cNvSpPr>
              <p:nvPr/>
            </p:nvSpPr>
            <p:spPr bwMode="auto">
              <a:xfrm>
                <a:off x="1312" y="1595"/>
                <a:ext cx="115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Line 60"/>
              <p:cNvSpPr>
                <a:spLocks noChangeShapeType="1"/>
              </p:cNvSpPr>
              <p:nvPr/>
            </p:nvSpPr>
            <p:spPr bwMode="auto">
              <a:xfrm>
                <a:off x="1312" y="1595"/>
                <a:ext cx="115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Rectangle 61"/>
              <p:cNvSpPr>
                <a:spLocks noChangeArrowheads="1"/>
              </p:cNvSpPr>
              <p:nvPr/>
            </p:nvSpPr>
            <p:spPr bwMode="auto">
              <a:xfrm>
                <a:off x="2465" y="1595"/>
                <a:ext cx="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8" name="Line 62"/>
              <p:cNvSpPr>
                <a:spLocks noChangeShapeType="1"/>
              </p:cNvSpPr>
              <p:nvPr/>
            </p:nvSpPr>
            <p:spPr bwMode="auto">
              <a:xfrm>
                <a:off x="2465" y="1595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63"/>
              <p:cNvSpPr>
                <a:spLocks noChangeShapeType="1"/>
              </p:cNvSpPr>
              <p:nvPr/>
            </p:nvSpPr>
            <p:spPr bwMode="auto">
              <a:xfrm>
                <a:off x="2465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Rectangle 64"/>
              <p:cNvSpPr>
                <a:spLocks noChangeArrowheads="1"/>
              </p:cNvSpPr>
              <p:nvPr/>
            </p:nvSpPr>
            <p:spPr bwMode="auto">
              <a:xfrm>
                <a:off x="3180" y="159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Line 65"/>
              <p:cNvSpPr>
                <a:spLocks noChangeShapeType="1"/>
              </p:cNvSpPr>
              <p:nvPr/>
            </p:nvSpPr>
            <p:spPr bwMode="auto">
              <a:xfrm>
                <a:off x="3180" y="1595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66"/>
              <p:cNvSpPr>
                <a:spLocks noChangeShapeType="1"/>
              </p:cNvSpPr>
              <p:nvPr/>
            </p:nvSpPr>
            <p:spPr bwMode="auto">
              <a:xfrm>
                <a:off x="3180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Rectangle 67"/>
              <p:cNvSpPr>
                <a:spLocks noChangeArrowheads="1"/>
              </p:cNvSpPr>
              <p:nvPr/>
            </p:nvSpPr>
            <p:spPr bwMode="auto">
              <a:xfrm>
                <a:off x="3184" y="1595"/>
                <a:ext cx="646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Line 68"/>
              <p:cNvSpPr>
                <a:spLocks noChangeShapeType="1"/>
              </p:cNvSpPr>
              <p:nvPr/>
            </p:nvSpPr>
            <p:spPr bwMode="auto">
              <a:xfrm>
                <a:off x="3184" y="1595"/>
                <a:ext cx="64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Rectangle 69"/>
              <p:cNvSpPr>
                <a:spLocks noChangeArrowheads="1"/>
              </p:cNvSpPr>
              <p:nvPr/>
            </p:nvSpPr>
            <p:spPr bwMode="auto">
              <a:xfrm>
                <a:off x="3830" y="159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Line 70"/>
              <p:cNvSpPr>
                <a:spLocks noChangeShapeType="1"/>
              </p:cNvSpPr>
              <p:nvPr/>
            </p:nvSpPr>
            <p:spPr bwMode="auto">
              <a:xfrm>
                <a:off x="3830" y="1595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71"/>
              <p:cNvSpPr>
                <a:spLocks noChangeShapeType="1"/>
              </p:cNvSpPr>
              <p:nvPr/>
            </p:nvSpPr>
            <p:spPr bwMode="auto">
              <a:xfrm>
                <a:off x="3830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Rectangle 72"/>
              <p:cNvSpPr>
                <a:spLocks noChangeArrowheads="1"/>
              </p:cNvSpPr>
              <p:nvPr/>
            </p:nvSpPr>
            <p:spPr bwMode="auto">
              <a:xfrm>
                <a:off x="3834" y="1595"/>
                <a:ext cx="708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9" name="Line 73"/>
              <p:cNvSpPr>
                <a:spLocks noChangeShapeType="1"/>
              </p:cNvSpPr>
              <p:nvPr/>
            </p:nvSpPr>
            <p:spPr bwMode="auto">
              <a:xfrm>
                <a:off x="3834" y="1595"/>
                <a:ext cx="708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Rectangle 74"/>
              <p:cNvSpPr>
                <a:spLocks noChangeArrowheads="1"/>
              </p:cNvSpPr>
              <p:nvPr/>
            </p:nvSpPr>
            <p:spPr bwMode="auto">
              <a:xfrm>
                <a:off x="4542" y="159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Line 75"/>
              <p:cNvSpPr>
                <a:spLocks noChangeShapeType="1"/>
              </p:cNvSpPr>
              <p:nvPr/>
            </p:nvSpPr>
            <p:spPr bwMode="auto">
              <a:xfrm>
                <a:off x="4542" y="1595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76"/>
              <p:cNvSpPr>
                <a:spLocks noChangeShapeType="1"/>
              </p:cNvSpPr>
              <p:nvPr/>
            </p:nvSpPr>
            <p:spPr bwMode="auto">
              <a:xfrm>
                <a:off x="4542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Rectangle 77"/>
              <p:cNvSpPr>
                <a:spLocks noChangeArrowheads="1"/>
              </p:cNvSpPr>
              <p:nvPr/>
            </p:nvSpPr>
            <p:spPr bwMode="auto">
              <a:xfrm>
                <a:off x="4546" y="1595"/>
                <a:ext cx="65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4" name="Line 78"/>
              <p:cNvSpPr>
                <a:spLocks noChangeShapeType="1"/>
              </p:cNvSpPr>
              <p:nvPr/>
            </p:nvSpPr>
            <p:spPr bwMode="auto">
              <a:xfrm>
                <a:off x="4546" y="1595"/>
                <a:ext cx="657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Rectangle 79"/>
              <p:cNvSpPr>
                <a:spLocks noChangeArrowheads="1"/>
              </p:cNvSpPr>
              <p:nvPr/>
            </p:nvSpPr>
            <p:spPr bwMode="auto">
              <a:xfrm>
                <a:off x="5203" y="1595"/>
                <a:ext cx="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Line 80"/>
              <p:cNvSpPr>
                <a:spLocks noChangeShapeType="1"/>
              </p:cNvSpPr>
              <p:nvPr/>
            </p:nvSpPr>
            <p:spPr bwMode="auto">
              <a:xfrm>
                <a:off x="5203" y="1595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81"/>
              <p:cNvSpPr>
                <a:spLocks noChangeShapeType="1"/>
              </p:cNvSpPr>
              <p:nvPr/>
            </p:nvSpPr>
            <p:spPr bwMode="auto">
              <a:xfrm>
                <a:off x="5203" y="1595"/>
                <a:ext cx="0" cy="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Rectangle 82"/>
              <p:cNvSpPr>
                <a:spLocks noChangeArrowheads="1"/>
              </p:cNvSpPr>
              <p:nvPr/>
            </p:nvSpPr>
            <p:spPr bwMode="auto">
              <a:xfrm>
                <a:off x="427" y="1599"/>
                <a:ext cx="4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Line 83"/>
              <p:cNvSpPr>
                <a:spLocks noChangeShapeType="1"/>
              </p:cNvSpPr>
              <p:nvPr/>
            </p:nvSpPr>
            <p:spPr bwMode="auto">
              <a:xfrm>
                <a:off x="427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Rectangle 84"/>
              <p:cNvSpPr>
                <a:spLocks noChangeArrowheads="1"/>
              </p:cNvSpPr>
              <p:nvPr/>
            </p:nvSpPr>
            <p:spPr bwMode="auto">
              <a:xfrm>
                <a:off x="1309" y="1599"/>
                <a:ext cx="3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Line 85"/>
              <p:cNvSpPr>
                <a:spLocks noChangeShapeType="1"/>
              </p:cNvSpPr>
              <p:nvPr/>
            </p:nvSpPr>
            <p:spPr bwMode="auto">
              <a:xfrm>
                <a:off x="1309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Rectangle 88"/>
              <p:cNvSpPr>
                <a:spLocks noChangeArrowheads="1"/>
              </p:cNvSpPr>
              <p:nvPr/>
            </p:nvSpPr>
            <p:spPr bwMode="auto">
              <a:xfrm>
                <a:off x="3180" y="1599"/>
                <a:ext cx="4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Line 89"/>
              <p:cNvSpPr>
                <a:spLocks noChangeShapeType="1"/>
              </p:cNvSpPr>
              <p:nvPr/>
            </p:nvSpPr>
            <p:spPr bwMode="auto">
              <a:xfrm>
                <a:off x="3180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Rectangle 90"/>
              <p:cNvSpPr>
                <a:spLocks noChangeArrowheads="1"/>
              </p:cNvSpPr>
              <p:nvPr/>
            </p:nvSpPr>
            <p:spPr bwMode="auto">
              <a:xfrm>
                <a:off x="3830" y="1599"/>
                <a:ext cx="4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7" name="Line 91"/>
              <p:cNvSpPr>
                <a:spLocks noChangeShapeType="1"/>
              </p:cNvSpPr>
              <p:nvPr/>
            </p:nvSpPr>
            <p:spPr bwMode="auto">
              <a:xfrm>
                <a:off x="3830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Rectangle 92"/>
              <p:cNvSpPr>
                <a:spLocks noChangeArrowheads="1"/>
              </p:cNvSpPr>
              <p:nvPr/>
            </p:nvSpPr>
            <p:spPr bwMode="auto">
              <a:xfrm>
                <a:off x="4542" y="1599"/>
                <a:ext cx="4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9" name="Line 93"/>
              <p:cNvSpPr>
                <a:spLocks noChangeShapeType="1"/>
              </p:cNvSpPr>
              <p:nvPr/>
            </p:nvSpPr>
            <p:spPr bwMode="auto">
              <a:xfrm>
                <a:off x="4542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Rectangle 94"/>
              <p:cNvSpPr>
                <a:spLocks noChangeArrowheads="1"/>
              </p:cNvSpPr>
              <p:nvPr/>
            </p:nvSpPr>
            <p:spPr bwMode="auto">
              <a:xfrm>
                <a:off x="5203" y="1599"/>
                <a:ext cx="4" cy="31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Line 95"/>
              <p:cNvSpPr>
                <a:spLocks noChangeShapeType="1"/>
              </p:cNvSpPr>
              <p:nvPr/>
            </p:nvSpPr>
            <p:spPr bwMode="auto">
              <a:xfrm>
                <a:off x="5203" y="1599"/>
                <a:ext cx="0" cy="31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Rectangle 96"/>
              <p:cNvSpPr>
                <a:spLocks noChangeArrowheads="1"/>
              </p:cNvSpPr>
              <p:nvPr/>
            </p:nvSpPr>
            <p:spPr bwMode="auto">
              <a:xfrm>
                <a:off x="763" y="1924"/>
                <a:ext cx="1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97"/>
              <p:cNvSpPr>
                <a:spLocks noChangeArrowheads="1"/>
              </p:cNvSpPr>
              <p:nvPr/>
            </p:nvSpPr>
            <p:spPr bwMode="auto">
              <a:xfrm>
                <a:off x="763" y="2150"/>
                <a:ext cx="1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98"/>
              <p:cNvSpPr>
                <a:spLocks noChangeArrowheads="1"/>
              </p:cNvSpPr>
              <p:nvPr/>
            </p:nvSpPr>
            <p:spPr bwMode="auto">
              <a:xfrm>
                <a:off x="763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99"/>
              <p:cNvSpPr>
                <a:spLocks noChangeArrowheads="1"/>
              </p:cNvSpPr>
              <p:nvPr/>
            </p:nvSpPr>
            <p:spPr bwMode="auto">
              <a:xfrm>
                <a:off x="759" y="2633"/>
                <a:ext cx="18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7F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00"/>
              <p:cNvSpPr>
                <a:spLocks noChangeArrowheads="1"/>
              </p:cNvSpPr>
              <p:nvPr/>
            </p:nvSpPr>
            <p:spPr bwMode="auto">
              <a:xfrm>
                <a:off x="763" y="2860"/>
                <a:ext cx="16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80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01"/>
              <p:cNvSpPr>
                <a:spLocks noChangeArrowheads="1"/>
              </p:cNvSpPr>
              <p:nvPr/>
            </p:nvSpPr>
            <p:spPr bwMode="auto">
              <a:xfrm>
                <a:off x="763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02"/>
              <p:cNvSpPr>
                <a:spLocks noChangeArrowheads="1"/>
              </p:cNvSpPr>
              <p:nvPr/>
            </p:nvSpPr>
            <p:spPr bwMode="auto">
              <a:xfrm>
                <a:off x="745" y="3342"/>
                <a:ext cx="211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FE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03"/>
              <p:cNvSpPr>
                <a:spLocks noChangeArrowheads="1"/>
              </p:cNvSpPr>
              <p:nvPr/>
            </p:nvSpPr>
            <p:spPr bwMode="auto">
              <a:xfrm>
                <a:off x="756" y="3569"/>
                <a:ext cx="20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FF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04"/>
              <p:cNvSpPr>
                <a:spLocks noChangeArrowheads="1"/>
              </p:cNvSpPr>
              <p:nvPr/>
            </p:nvSpPr>
            <p:spPr bwMode="auto">
              <a:xfrm>
                <a:off x="1457" y="1924"/>
                <a:ext cx="66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00000000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05"/>
              <p:cNvSpPr>
                <a:spLocks noChangeArrowheads="1"/>
              </p:cNvSpPr>
              <p:nvPr/>
            </p:nvSpPr>
            <p:spPr bwMode="auto">
              <a:xfrm>
                <a:off x="1457" y="2150"/>
                <a:ext cx="66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00000001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06"/>
              <p:cNvSpPr>
                <a:spLocks noChangeArrowheads="1"/>
              </p:cNvSpPr>
              <p:nvPr/>
            </p:nvSpPr>
            <p:spPr bwMode="auto">
              <a:xfrm>
                <a:off x="1782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07"/>
              <p:cNvSpPr>
                <a:spLocks noChangeArrowheads="1"/>
              </p:cNvSpPr>
              <p:nvPr/>
            </p:nvSpPr>
            <p:spPr bwMode="auto">
              <a:xfrm>
                <a:off x="1478" y="2633"/>
                <a:ext cx="60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01111111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08"/>
              <p:cNvSpPr>
                <a:spLocks noChangeArrowheads="1"/>
              </p:cNvSpPr>
              <p:nvPr/>
            </p:nvSpPr>
            <p:spPr bwMode="auto">
              <a:xfrm>
                <a:off x="1457" y="2860"/>
                <a:ext cx="66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10000000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09"/>
              <p:cNvSpPr>
                <a:spLocks noChangeArrowheads="1"/>
              </p:cNvSpPr>
              <p:nvPr/>
            </p:nvSpPr>
            <p:spPr bwMode="auto">
              <a:xfrm>
                <a:off x="1782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10"/>
              <p:cNvSpPr>
                <a:spLocks noChangeArrowheads="1"/>
              </p:cNvSpPr>
              <p:nvPr/>
            </p:nvSpPr>
            <p:spPr bwMode="auto">
              <a:xfrm>
                <a:off x="1478" y="3342"/>
                <a:ext cx="605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11111110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7" name="Rectangle 111"/>
              <p:cNvSpPr>
                <a:spLocks noChangeArrowheads="1"/>
              </p:cNvSpPr>
              <p:nvPr/>
            </p:nvSpPr>
            <p:spPr bwMode="auto">
              <a:xfrm>
                <a:off x="1486" y="3569"/>
                <a:ext cx="59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11111111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8" name="Rectangle 112"/>
              <p:cNvSpPr>
                <a:spLocks noChangeArrowheads="1"/>
              </p:cNvSpPr>
              <p:nvPr/>
            </p:nvSpPr>
            <p:spPr bwMode="auto">
              <a:xfrm>
                <a:off x="2772" y="1924"/>
                <a:ext cx="8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59" name="Rectangle 113"/>
              <p:cNvSpPr>
                <a:spLocks noChangeArrowheads="1"/>
              </p:cNvSpPr>
              <p:nvPr/>
            </p:nvSpPr>
            <p:spPr bwMode="auto">
              <a:xfrm>
                <a:off x="2772" y="2150"/>
                <a:ext cx="8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0" name="Rectangle 114"/>
              <p:cNvSpPr>
                <a:spLocks noChangeArrowheads="1"/>
              </p:cNvSpPr>
              <p:nvPr/>
            </p:nvSpPr>
            <p:spPr bwMode="auto">
              <a:xfrm>
                <a:off x="2718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1" name="Rectangle 115"/>
              <p:cNvSpPr>
                <a:spLocks noChangeArrowheads="1"/>
              </p:cNvSpPr>
              <p:nvPr/>
            </p:nvSpPr>
            <p:spPr bwMode="auto">
              <a:xfrm>
                <a:off x="2663" y="2633"/>
                <a:ext cx="24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127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2" name="Rectangle 116"/>
              <p:cNvSpPr>
                <a:spLocks noChangeArrowheads="1"/>
              </p:cNvSpPr>
              <p:nvPr/>
            </p:nvSpPr>
            <p:spPr bwMode="auto">
              <a:xfrm>
                <a:off x="2663" y="2860"/>
                <a:ext cx="24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128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3" name="Rectangle 117"/>
              <p:cNvSpPr>
                <a:spLocks noChangeArrowheads="1"/>
              </p:cNvSpPr>
              <p:nvPr/>
            </p:nvSpPr>
            <p:spPr bwMode="auto">
              <a:xfrm>
                <a:off x="2718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Rectangle 118"/>
              <p:cNvSpPr>
                <a:spLocks noChangeArrowheads="1"/>
              </p:cNvSpPr>
              <p:nvPr/>
            </p:nvSpPr>
            <p:spPr bwMode="auto">
              <a:xfrm>
                <a:off x="2663" y="3342"/>
                <a:ext cx="24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254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Rectangle 119"/>
              <p:cNvSpPr>
                <a:spLocks noChangeArrowheads="1"/>
              </p:cNvSpPr>
              <p:nvPr/>
            </p:nvSpPr>
            <p:spPr bwMode="auto">
              <a:xfrm>
                <a:off x="2663" y="3569"/>
                <a:ext cx="248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255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20"/>
              <p:cNvSpPr>
                <a:spLocks noChangeArrowheads="1"/>
              </p:cNvSpPr>
              <p:nvPr/>
            </p:nvSpPr>
            <p:spPr bwMode="auto">
              <a:xfrm>
                <a:off x="3390" y="1924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Rectangle 121"/>
              <p:cNvSpPr>
                <a:spLocks noChangeArrowheads="1"/>
              </p:cNvSpPr>
              <p:nvPr/>
            </p:nvSpPr>
            <p:spPr bwMode="auto">
              <a:xfrm>
                <a:off x="3390" y="2150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22"/>
              <p:cNvSpPr>
                <a:spLocks noChangeArrowheads="1"/>
              </p:cNvSpPr>
              <p:nvPr/>
            </p:nvSpPr>
            <p:spPr bwMode="auto">
              <a:xfrm>
                <a:off x="3397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23"/>
              <p:cNvSpPr>
                <a:spLocks noChangeArrowheads="1"/>
              </p:cNvSpPr>
              <p:nvPr/>
            </p:nvSpPr>
            <p:spPr bwMode="auto">
              <a:xfrm>
                <a:off x="3281" y="2633"/>
                <a:ext cx="34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+127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24"/>
              <p:cNvSpPr>
                <a:spLocks noChangeArrowheads="1"/>
              </p:cNvSpPr>
              <p:nvPr/>
            </p:nvSpPr>
            <p:spPr bwMode="auto">
              <a:xfrm>
                <a:off x="3390" y="2860"/>
                <a:ext cx="17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- 0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25"/>
              <p:cNvSpPr>
                <a:spLocks noChangeArrowheads="1"/>
              </p:cNvSpPr>
              <p:nvPr/>
            </p:nvSpPr>
            <p:spPr bwMode="auto">
              <a:xfrm>
                <a:off x="3397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26"/>
              <p:cNvSpPr>
                <a:spLocks noChangeArrowheads="1"/>
              </p:cNvSpPr>
              <p:nvPr/>
            </p:nvSpPr>
            <p:spPr bwMode="auto">
              <a:xfrm>
                <a:off x="3310" y="3342"/>
                <a:ext cx="30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-126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27"/>
              <p:cNvSpPr>
                <a:spLocks noChangeArrowheads="1"/>
              </p:cNvSpPr>
              <p:nvPr/>
            </p:nvSpPr>
            <p:spPr bwMode="auto">
              <a:xfrm>
                <a:off x="3310" y="3569"/>
                <a:ext cx="30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-127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28"/>
              <p:cNvSpPr>
                <a:spLocks noChangeArrowheads="1"/>
              </p:cNvSpPr>
              <p:nvPr/>
            </p:nvSpPr>
            <p:spPr bwMode="auto">
              <a:xfrm>
                <a:off x="4072" y="1924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29"/>
              <p:cNvSpPr>
                <a:spLocks noChangeArrowheads="1"/>
              </p:cNvSpPr>
              <p:nvPr/>
            </p:nvSpPr>
            <p:spPr bwMode="auto">
              <a:xfrm>
                <a:off x="4072" y="2150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30"/>
              <p:cNvSpPr>
                <a:spLocks noChangeArrowheads="1"/>
              </p:cNvSpPr>
              <p:nvPr/>
            </p:nvSpPr>
            <p:spPr bwMode="auto">
              <a:xfrm>
                <a:off x="4080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31"/>
              <p:cNvSpPr>
                <a:spLocks noChangeArrowheads="1"/>
              </p:cNvSpPr>
              <p:nvPr/>
            </p:nvSpPr>
            <p:spPr bwMode="auto">
              <a:xfrm>
                <a:off x="3978" y="2633"/>
                <a:ext cx="34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+127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32"/>
              <p:cNvSpPr>
                <a:spLocks noChangeArrowheads="1"/>
              </p:cNvSpPr>
              <p:nvPr/>
            </p:nvSpPr>
            <p:spPr bwMode="auto">
              <a:xfrm>
                <a:off x="3942" y="2860"/>
                <a:ext cx="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33"/>
              <p:cNvSpPr>
                <a:spLocks noChangeArrowheads="1"/>
              </p:cNvSpPr>
              <p:nvPr/>
            </p:nvSpPr>
            <p:spPr bwMode="auto">
              <a:xfrm>
                <a:off x="4011" y="2860"/>
                <a:ext cx="0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34"/>
              <p:cNvSpPr>
                <a:spLocks noChangeArrowheads="1"/>
              </p:cNvSpPr>
              <p:nvPr/>
            </p:nvSpPr>
            <p:spPr bwMode="auto">
              <a:xfrm>
                <a:off x="4007" y="2860"/>
                <a:ext cx="30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-127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35"/>
              <p:cNvSpPr>
                <a:spLocks noChangeArrowheads="1"/>
              </p:cNvSpPr>
              <p:nvPr/>
            </p:nvSpPr>
            <p:spPr bwMode="auto">
              <a:xfrm>
                <a:off x="4080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36"/>
              <p:cNvSpPr>
                <a:spLocks noChangeArrowheads="1"/>
              </p:cNvSpPr>
              <p:nvPr/>
            </p:nvSpPr>
            <p:spPr bwMode="auto">
              <a:xfrm>
                <a:off x="4072" y="3342"/>
                <a:ext cx="17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- 1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37"/>
              <p:cNvSpPr>
                <a:spLocks noChangeArrowheads="1"/>
              </p:cNvSpPr>
              <p:nvPr/>
            </p:nvSpPr>
            <p:spPr bwMode="auto">
              <a:xfrm>
                <a:off x="4072" y="3569"/>
                <a:ext cx="17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- 0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38"/>
              <p:cNvSpPr>
                <a:spLocks noChangeArrowheads="1"/>
              </p:cNvSpPr>
              <p:nvPr/>
            </p:nvSpPr>
            <p:spPr bwMode="auto">
              <a:xfrm>
                <a:off x="4759" y="1924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+0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5" name="Rectangle 139"/>
              <p:cNvSpPr>
                <a:spLocks noChangeArrowheads="1"/>
              </p:cNvSpPr>
              <p:nvPr/>
            </p:nvSpPr>
            <p:spPr bwMode="auto">
              <a:xfrm>
                <a:off x="4759" y="2150"/>
                <a:ext cx="17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40"/>
              <p:cNvSpPr>
                <a:spLocks noChangeArrowheads="1"/>
              </p:cNvSpPr>
              <p:nvPr/>
            </p:nvSpPr>
            <p:spPr bwMode="auto">
              <a:xfrm>
                <a:off x="4766" y="240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41"/>
              <p:cNvSpPr>
                <a:spLocks noChangeArrowheads="1"/>
              </p:cNvSpPr>
              <p:nvPr/>
            </p:nvSpPr>
            <p:spPr bwMode="auto">
              <a:xfrm>
                <a:off x="4650" y="2633"/>
                <a:ext cx="342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+127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42"/>
              <p:cNvSpPr>
                <a:spLocks noChangeArrowheads="1"/>
              </p:cNvSpPr>
              <p:nvPr/>
            </p:nvSpPr>
            <p:spPr bwMode="auto">
              <a:xfrm>
                <a:off x="4676" y="2860"/>
                <a:ext cx="303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-128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Rectangle 143"/>
              <p:cNvSpPr>
                <a:spLocks noChangeArrowheads="1"/>
              </p:cNvSpPr>
              <p:nvPr/>
            </p:nvSpPr>
            <p:spPr bwMode="auto">
              <a:xfrm>
                <a:off x="4766" y="3113"/>
                <a:ext cx="166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宋体" panose="02010600030101010101" pitchFamily="2" charset="-122"/>
                  </a:rPr>
                  <a:t>…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44"/>
              <p:cNvSpPr>
                <a:spLocks noChangeArrowheads="1"/>
              </p:cNvSpPr>
              <p:nvPr/>
            </p:nvSpPr>
            <p:spPr bwMode="auto">
              <a:xfrm>
                <a:off x="4759" y="3342"/>
                <a:ext cx="17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- 2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45"/>
              <p:cNvSpPr>
                <a:spLocks noChangeArrowheads="1"/>
              </p:cNvSpPr>
              <p:nvPr/>
            </p:nvSpPr>
            <p:spPr bwMode="auto">
              <a:xfrm>
                <a:off x="4759" y="3569"/>
                <a:ext cx="179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- 1</a:t>
                </a:r>
                <a:endParaRPr lang="en-US" altLang="zh-CN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46"/>
              <p:cNvSpPr>
                <a:spLocks noChangeArrowheads="1"/>
              </p:cNvSpPr>
              <p:nvPr/>
            </p:nvSpPr>
            <p:spPr bwMode="auto">
              <a:xfrm>
                <a:off x="427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3" name="Line 147"/>
              <p:cNvSpPr>
                <a:spLocks noChangeShapeType="1"/>
              </p:cNvSpPr>
              <p:nvPr/>
            </p:nvSpPr>
            <p:spPr bwMode="auto">
              <a:xfrm>
                <a:off x="427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148"/>
              <p:cNvSpPr>
                <a:spLocks noChangeShapeType="1"/>
              </p:cNvSpPr>
              <p:nvPr/>
            </p:nvSpPr>
            <p:spPr bwMode="auto">
              <a:xfrm>
                <a:off x="427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Rectangle 149"/>
              <p:cNvSpPr>
                <a:spLocks noChangeArrowheads="1"/>
              </p:cNvSpPr>
              <p:nvPr/>
            </p:nvSpPr>
            <p:spPr bwMode="auto">
              <a:xfrm>
                <a:off x="427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Line 150"/>
              <p:cNvSpPr>
                <a:spLocks noChangeShapeType="1"/>
              </p:cNvSpPr>
              <p:nvPr/>
            </p:nvSpPr>
            <p:spPr bwMode="auto">
              <a:xfrm>
                <a:off x="427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Line 151"/>
              <p:cNvSpPr>
                <a:spLocks noChangeShapeType="1"/>
              </p:cNvSpPr>
              <p:nvPr/>
            </p:nvSpPr>
            <p:spPr bwMode="auto">
              <a:xfrm>
                <a:off x="427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Rectangle 152"/>
              <p:cNvSpPr>
                <a:spLocks noChangeArrowheads="1"/>
              </p:cNvSpPr>
              <p:nvPr/>
            </p:nvSpPr>
            <p:spPr bwMode="auto">
              <a:xfrm>
                <a:off x="431" y="1921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Line 153"/>
              <p:cNvSpPr>
                <a:spLocks noChangeShapeType="1"/>
              </p:cNvSpPr>
              <p:nvPr/>
            </p:nvSpPr>
            <p:spPr bwMode="auto">
              <a:xfrm>
                <a:off x="431" y="1921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Line 154"/>
              <p:cNvSpPr>
                <a:spLocks noChangeShapeType="1"/>
              </p:cNvSpPr>
              <p:nvPr/>
            </p:nvSpPr>
            <p:spPr bwMode="auto">
              <a:xfrm>
                <a:off x="431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Rectangle 155"/>
              <p:cNvSpPr>
                <a:spLocks noChangeArrowheads="1"/>
              </p:cNvSpPr>
              <p:nvPr/>
            </p:nvSpPr>
            <p:spPr bwMode="auto">
              <a:xfrm>
                <a:off x="434" y="1921"/>
                <a:ext cx="875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2" name="Line 156"/>
              <p:cNvSpPr>
                <a:spLocks noChangeShapeType="1"/>
              </p:cNvSpPr>
              <p:nvPr/>
            </p:nvSpPr>
            <p:spPr bwMode="auto">
              <a:xfrm>
                <a:off x="434" y="1921"/>
                <a:ext cx="875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Rectangle 157"/>
              <p:cNvSpPr>
                <a:spLocks noChangeArrowheads="1"/>
              </p:cNvSpPr>
              <p:nvPr/>
            </p:nvSpPr>
            <p:spPr bwMode="auto">
              <a:xfrm>
                <a:off x="1309" y="1921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Line 158"/>
              <p:cNvSpPr>
                <a:spLocks noChangeShapeType="1"/>
              </p:cNvSpPr>
              <p:nvPr/>
            </p:nvSpPr>
            <p:spPr bwMode="auto">
              <a:xfrm>
                <a:off x="1309" y="1921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159"/>
              <p:cNvSpPr>
                <a:spLocks noChangeShapeType="1"/>
              </p:cNvSpPr>
              <p:nvPr/>
            </p:nvSpPr>
            <p:spPr bwMode="auto">
              <a:xfrm>
                <a:off x="1309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Rectangle 160"/>
              <p:cNvSpPr>
                <a:spLocks noChangeArrowheads="1"/>
              </p:cNvSpPr>
              <p:nvPr/>
            </p:nvSpPr>
            <p:spPr bwMode="auto">
              <a:xfrm>
                <a:off x="1312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7" name="Line 161"/>
              <p:cNvSpPr>
                <a:spLocks noChangeShapeType="1"/>
              </p:cNvSpPr>
              <p:nvPr/>
            </p:nvSpPr>
            <p:spPr bwMode="auto">
              <a:xfrm>
                <a:off x="1312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Line 162"/>
              <p:cNvSpPr>
                <a:spLocks noChangeShapeType="1"/>
              </p:cNvSpPr>
              <p:nvPr/>
            </p:nvSpPr>
            <p:spPr bwMode="auto">
              <a:xfrm>
                <a:off x="1312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" name="Rectangle 163"/>
              <p:cNvSpPr>
                <a:spLocks noChangeArrowheads="1"/>
              </p:cNvSpPr>
              <p:nvPr/>
            </p:nvSpPr>
            <p:spPr bwMode="auto">
              <a:xfrm>
                <a:off x="1316" y="1921"/>
                <a:ext cx="1149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Line 164"/>
              <p:cNvSpPr>
                <a:spLocks noChangeShapeType="1"/>
              </p:cNvSpPr>
              <p:nvPr/>
            </p:nvSpPr>
            <p:spPr bwMode="auto">
              <a:xfrm>
                <a:off x="1316" y="1921"/>
                <a:ext cx="1149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" name="Rectangle 165"/>
              <p:cNvSpPr>
                <a:spLocks noChangeArrowheads="1"/>
              </p:cNvSpPr>
              <p:nvPr/>
            </p:nvSpPr>
            <p:spPr bwMode="auto">
              <a:xfrm>
                <a:off x="2465" y="1921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Line 166"/>
              <p:cNvSpPr>
                <a:spLocks noChangeShapeType="1"/>
              </p:cNvSpPr>
              <p:nvPr/>
            </p:nvSpPr>
            <p:spPr bwMode="auto">
              <a:xfrm>
                <a:off x="2465" y="1921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Line 167"/>
              <p:cNvSpPr>
                <a:spLocks noChangeShapeType="1"/>
              </p:cNvSpPr>
              <p:nvPr/>
            </p:nvSpPr>
            <p:spPr bwMode="auto">
              <a:xfrm>
                <a:off x="2465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4" name="Rectangle 168"/>
              <p:cNvSpPr>
                <a:spLocks noChangeArrowheads="1"/>
              </p:cNvSpPr>
              <p:nvPr/>
            </p:nvSpPr>
            <p:spPr bwMode="auto">
              <a:xfrm>
                <a:off x="2468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Line 169"/>
              <p:cNvSpPr>
                <a:spLocks noChangeShapeType="1"/>
              </p:cNvSpPr>
              <p:nvPr/>
            </p:nvSpPr>
            <p:spPr bwMode="auto">
              <a:xfrm>
                <a:off x="2468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Line 170"/>
              <p:cNvSpPr>
                <a:spLocks noChangeShapeType="1"/>
              </p:cNvSpPr>
              <p:nvPr/>
            </p:nvSpPr>
            <p:spPr bwMode="auto">
              <a:xfrm>
                <a:off x="2468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Rectangle 171"/>
              <p:cNvSpPr>
                <a:spLocks noChangeArrowheads="1"/>
              </p:cNvSpPr>
              <p:nvPr/>
            </p:nvSpPr>
            <p:spPr bwMode="auto">
              <a:xfrm>
                <a:off x="2472" y="1921"/>
                <a:ext cx="708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Line 172"/>
              <p:cNvSpPr>
                <a:spLocks noChangeShapeType="1"/>
              </p:cNvSpPr>
              <p:nvPr/>
            </p:nvSpPr>
            <p:spPr bwMode="auto">
              <a:xfrm>
                <a:off x="2472" y="1921"/>
                <a:ext cx="708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Rectangle 173"/>
              <p:cNvSpPr>
                <a:spLocks noChangeArrowheads="1"/>
              </p:cNvSpPr>
              <p:nvPr/>
            </p:nvSpPr>
            <p:spPr bwMode="auto">
              <a:xfrm>
                <a:off x="3180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0" name="Line 174"/>
              <p:cNvSpPr>
                <a:spLocks noChangeShapeType="1"/>
              </p:cNvSpPr>
              <p:nvPr/>
            </p:nvSpPr>
            <p:spPr bwMode="auto">
              <a:xfrm>
                <a:off x="3180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Line 175"/>
              <p:cNvSpPr>
                <a:spLocks noChangeShapeType="1"/>
              </p:cNvSpPr>
              <p:nvPr/>
            </p:nvSpPr>
            <p:spPr bwMode="auto">
              <a:xfrm>
                <a:off x="3180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Rectangle 176"/>
              <p:cNvSpPr>
                <a:spLocks noChangeArrowheads="1"/>
              </p:cNvSpPr>
              <p:nvPr/>
            </p:nvSpPr>
            <p:spPr bwMode="auto">
              <a:xfrm>
                <a:off x="3184" y="1921"/>
                <a:ext cx="646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Line 177"/>
              <p:cNvSpPr>
                <a:spLocks noChangeShapeType="1"/>
              </p:cNvSpPr>
              <p:nvPr/>
            </p:nvSpPr>
            <p:spPr bwMode="auto">
              <a:xfrm>
                <a:off x="3184" y="1921"/>
                <a:ext cx="646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Rectangle 178"/>
              <p:cNvSpPr>
                <a:spLocks noChangeArrowheads="1"/>
              </p:cNvSpPr>
              <p:nvPr/>
            </p:nvSpPr>
            <p:spPr bwMode="auto">
              <a:xfrm>
                <a:off x="3830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Line 179"/>
              <p:cNvSpPr>
                <a:spLocks noChangeShapeType="1"/>
              </p:cNvSpPr>
              <p:nvPr/>
            </p:nvSpPr>
            <p:spPr bwMode="auto">
              <a:xfrm>
                <a:off x="3830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" name="Line 180"/>
              <p:cNvSpPr>
                <a:spLocks noChangeShapeType="1"/>
              </p:cNvSpPr>
              <p:nvPr/>
            </p:nvSpPr>
            <p:spPr bwMode="auto">
              <a:xfrm>
                <a:off x="3830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Rectangle 181"/>
              <p:cNvSpPr>
                <a:spLocks noChangeArrowheads="1"/>
              </p:cNvSpPr>
              <p:nvPr/>
            </p:nvSpPr>
            <p:spPr bwMode="auto">
              <a:xfrm>
                <a:off x="3834" y="1921"/>
                <a:ext cx="708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Line 182"/>
              <p:cNvSpPr>
                <a:spLocks noChangeShapeType="1"/>
              </p:cNvSpPr>
              <p:nvPr/>
            </p:nvSpPr>
            <p:spPr bwMode="auto">
              <a:xfrm>
                <a:off x="3834" y="1921"/>
                <a:ext cx="708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" name="Rectangle 183"/>
              <p:cNvSpPr>
                <a:spLocks noChangeArrowheads="1"/>
              </p:cNvSpPr>
              <p:nvPr/>
            </p:nvSpPr>
            <p:spPr bwMode="auto">
              <a:xfrm>
                <a:off x="4542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Line 184"/>
              <p:cNvSpPr>
                <a:spLocks noChangeShapeType="1"/>
              </p:cNvSpPr>
              <p:nvPr/>
            </p:nvSpPr>
            <p:spPr bwMode="auto">
              <a:xfrm>
                <a:off x="4542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Line 185"/>
              <p:cNvSpPr>
                <a:spLocks noChangeShapeType="1"/>
              </p:cNvSpPr>
              <p:nvPr/>
            </p:nvSpPr>
            <p:spPr bwMode="auto">
              <a:xfrm>
                <a:off x="4542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" name="Rectangle 186"/>
              <p:cNvSpPr>
                <a:spLocks noChangeArrowheads="1"/>
              </p:cNvSpPr>
              <p:nvPr/>
            </p:nvSpPr>
            <p:spPr bwMode="auto">
              <a:xfrm>
                <a:off x="4546" y="1921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3" name="Line 187"/>
              <p:cNvSpPr>
                <a:spLocks noChangeShapeType="1"/>
              </p:cNvSpPr>
              <p:nvPr/>
            </p:nvSpPr>
            <p:spPr bwMode="auto">
              <a:xfrm>
                <a:off x="4546" y="1921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Line 188"/>
              <p:cNvSpPr>
                <a:spLocks noChangeShapeType="1"/>
              </p:cNvSpPr>
              <p:nvPr/>
            </p:nvSpPr>
            <p:spPr bwMode="auto">
              <a:xfrm>
                <a:off x="4546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Rectangle 189"/>
              <p:cNvSpPr>
                <a:spLocks noChangeArrowheads="1"/>
              </p:cNvSpPr>
              <p:nvPr/>
            </p:nvSpPr>
            <p:spPr bwMode="auto">
              <a:xfrm>
                <a:off x="4549" y="1921"/>
                <a:ext cx="651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6" name="Line 190"/>
              <p:cNvSpPr>
                <a:spLocks noChangeShapeType="1"/>
              </p:cNvSpPr>
              <p:nvPr/>
            </p:nvSpPr>
            <p:spPr bwMode="auto">
              <a:xfrm>
                <a:off x="4549" y="1921"/>
                <a:ext cx="651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Rectangle 191"/>
              <p:cNvSpPr>
                <a:spLocks noChangeArrowheads="1"/>
              </p:cNvSpPr>
              <p:nvPr/>
            </p:nvSpPr>
            <p:spPr bwMode="auto">
              <a:xfrm>
                <a:off x="5200" y="1921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8" name="Line 192"/>
              <p:cNvSpPr>
                <a:spLocks noChangeShapeType="1"/>
              </p:cNvSpPr>
              <p:nvPr/>
            </p:nvSpPr>
            <p:spPr bwMode="auto">
              <a:xfrm>
                <a:off x="5200" y="1921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9" name="Line 193"/>
              <p:cNvSpPr>
                <a:spLocks noChangeShapeType="1"/>
              </p:cNvSpPr>
              <p:nvPr/>
            </p:nvSpPr>
            <p:spPr bwMode="auto">
              <a:xfrm>
                <a:off x="5200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" name="Rectangle 194"/>
              <p:cNvSpPr>
                <a:spLocks noChangeArrowheads="1"/>
              </p:cNvSpPr>
              <p:nvPr/>
            </p:nvSpPr>
            <p:spPr bwMode="auto">
              <a:xfrm>
                <a:off x="5203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1" name="Line 195"/>
              <p:cNvSpPr>
                <a:spLocks noChangeShapeType="1"/>
              </p:cNvSpPr>
              <p:nvPr/>
            </p:nvSpPr>
            <p:spPr bwMode="auto">
              <a:xfrm>
                <a:off x="5203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" name="Line 196"/>
              <p:cNvSpPr>
                <a:spLocks noChangeShapeType="1"/>
              </p:cNvSpPr>
              <p:nvPr/>
            </p:nvSpPr>
            <p:spPr bwMode="auto">
              <a:xfrm>
                <a:off x="5203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3" name="Rectangle 197"/>
              <p:cNvSpPr>
                <a:spLocks noChangeArrowheads="1"/>
              </p:cNvSpPr>
              <p:nvPr/>
            </p:nvSpPr>
            <p:spPr bwMode="auto">
              <a:xfrm>
                <a:off x="5203" y="1921"/>
                <a:ext cx="4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4" name="Line 198"/>
              <p:cNvSpPr>
                <a:spLocks noChangeShapeType="1"/>
              </p:cNvSpPr>
              <p:nvPr/>
            </p:nvSpPr>
            <p:spPr bwMode="auto">
              <a:xfrm>
                <a:off x="5203" y="1921"/>
                <a:ext cx="4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" name="Line 199"/>
              <p:cNvSpPr>
                <a:spLocks noChangeShapeType="1"/>
              </p:cNvSpPr>
              <p:nvPr/>
            </p:nvSpPr>
            <p:spPr bwMode="auto">
              <a:xfrm>
                <a:off x="5203" y="1921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" name="Rectangle 200"/>
              <p:cNvSpPr>
                <a:spLocks noChangeArrowheads="1"/>
              </p:cNvSpPr>
              <p:nvPr/>
            </p:nvSpPr>
            <p:spPr bwMode="auto">
              <a:xfrm>
                <a:off x="431" y="1924"/>
                <a:ext cx="3" cy="187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7" name="Line 201"/>
              <p:cNvSpPr>
                <a:spLocks noChangeShapeType="1"/>
              </p:cNvSpPr>
              <p:nvPr/>
            </p:nvSpPr>
            <p:spPr bwMode="auto">
              <a:xfrm>
                <a:off x="431" y="1924"/>
                <a:ext cx="0" cy="187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Rectangle 202"/>
              <p:cNvSpPr>
                <a:spLocks noChangeArrowheads="1"/>
              </p:cNvSpPr>
              <p:nvPr/>
            </p:nvSpPr>
            <p:spPr bwMode="auto">
              <a:xfrm>
                <a:off x="431" y="3796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49" name="Line 203"/>
              <p:cNvSpPr>
                <a:spLocks noChangeShapeType="1"/>
              </p:cNvSpPr>
              <p:nvPr/>
            </p:nvSpPr>
            <p:spPr bwMode="auto">
              <a:xfrm>
                <a:off x="431" y="3796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" name="Line 204"/>
              <p:cNvSpPr>
                <a:spLocks noChangeShapeType="1"/>
              </p:cNvSpPr>
              <p:nvPr/>
            </p:nvSpPr>
            <p:spPr bwMode="auto">
              <a:xfrm>
                <a:off x="431" y="3796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" name="Rectangle 205"/>
              <p:cNvSpPr>
                <a:spLocks noChangeArrowheads="1"/>
              </p:cNvSpPr>
              <p:nvPr/>
            </p:nvSpPr>
            <p:spPr bwMode="auto">
              <a:xfrm>
                <a:off x="431" y="3796"/>
                <a:ext cx="3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52" name="Line 206"/>
              <p:cNvSpPr>
                <a:spLocks noChangeShapeType="1"/>
              </p:cNvSpPr>
              <p:nvPr/>
            </p:nvSpPr>
            <p:spPr bwMode="auto">
              <a:xfrm>
                <a:off x="431" y="3796"/>
                <a:ext cx="3" cy="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" name="Line 207"/>
              <p:cNvSpPr>
                <a:spLocks noChangeShapeType="1"/>
              </p:cNvSpPr>
              <p:nvPr/>
            </p:nvSpPr>
            <p:spPr bwMode="auto">
              <a:xfrm>
                <a:off x="431" y="3796"/>
                <a:ext cx="0" cy="3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4" name="Rectangle 208"/>
              <p:cNvSpPr>
                <a:spLocks noChangeArrowheads="1"/>
              </p:cNvSpPr>
              <p:nvPr/>
            </p:nvSpPr>
            <p:spPr bwMode="auto">
              <a:xfrm>
                <a:off x="434" y="3796"/>
                <a:ext cx="878" cy="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Line 210"/>
            <p:cNvSpPr>
              <a:spLocks noChangeShapeType="1"/>
            </p:cNvSpPr>
            <p:nvPr/>
          </p:nvSpPr>
          <p:spPr bwMode="auto">
            <a:xfrm>
              <a:off x="434" y="3796"/>
              <a:ext cx="87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211"/>
            <p:cNvSpPr>
              <a:spLocks noChangeArrowheads="1"/>
            </p:cNvSpPr>
            <p:nvPr/>
          </p:nvSpPr>
          <p:spPr bwMode="auto">
            <a:xfrm>
              <a:off x="1312" y="1924"/>
              <a:ext cx="4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Line 212"/>
            <p:cNvSpPr>
              <a:spLocks noChangeShapeType="1"/>
            </p:cNvSpPr>
            <p:nvPr/>
          </p:nvSpPr>
          <p:spPr bwMode="auto">
            <a:xfrm>
              <a:off x="1312" y="1924"/>
              <a:ext cx="0" cy="18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213"/>
            <p:cNvSpPr>
              <a:spLocks noChangeArrowheads="1"/>
            </p:cNvSpPr>
            <p:nvPr/>
          </p:nvSpPr>
          <p:spPr bwMode="auto">
            <a:xfrm>
              <a:off x="1312" y="3796"/>
              <a:ext cx="4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Line 214"/>
            <p:cNvSpPr>
              <a:spLocks noChangeShapeType="1"/>
            </p:cNvSpPr>
            <p:nvPr/>
          </p:nvSpPr>
          <p:spPr bwMode="auto">
            <a:xfrm>
              <a:off x="1312" y="3796"/>
              <a:ext cx="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15"/>
            <p:cNvSpPr>
              <a:spLocks noChangeShapeType="1"/>
            </p:cNvSpPr>
            <p:nvPr/>
          </p:nvSpPr>
          <p:spPr bwMode="auto">
            <a:xfrm>
              <a:off x="1312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216"/>
            <p:cNvSpPr>
              <a:spLocks noChangeArrowheads="1"/>
            </p:cNvSpPr>
            <p:nvPr/>
          </p:nvSpPr>
          <p:spPr bwMode="auto">
            <a:xfrm>
              <a:off x="1316" y="3796"/>
              <a:ext cx="115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Line 217"/>
            <p:cNvSpPr>
              <a:spLocks noChangeShapeType="1"/>
            </p:cNvSpPr>
            <p:nvPr/>
          </p:nvSpPr>
          <p:spPr bwMode="auto">
            <a:xfrm>
              <a:off x="1316" y="3796"/>
              <a:ext cx="115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218"/>
            <p:cNvSpPr>
              <a:spLocks noChangeArrowheads="1"/>
            </p:cNvSpPr>
            <p:nvPr/>
          </p:nvSpPr>
          <p:spPr bwMode="auto">
            <a:xfrm>
              <a:off x="2468" y="1924"/>
              <a:ext cx="4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Line 219"/>
            <p:cNvSpPr>
              <a:spLocks noChangeShapeType="1"/>
            </p:cNvSpPr>
            <p:nvPr/>
          </p:nvSpPr>
          <p:spPr bwMode="auto">
            <a:xfrm>
              <a:off x="2468" y="1208"/>
              <a:ext cx="0" cy="258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20"/>
            <p:cNvSpPr>
              <a:spLocks noChangeArrowheads="1"/>
            </p:cNvSpPr>
            <p:nvPr/>
          </p:nvSpPr>
          <p:spPr bwMode="auto">
            <a:xfrm>
              <a:off x="2468" y="3796"/>
              <a:ext cx="4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Line 221"/>
            <p:cNvSpPr>
              <a:spLocks noChangeShapeType="1"/>
            </p:cNvSpPr>
            <p:nvPr/>
          </p:nvSpPr>
          <p:spPr bwMode="auto">
            <a:xfrm>
              <a:off x="2468" y="3796"/>
              <a:ext cx="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22"/>
            <p:cNvSpPr>
              <a:spLocks noChangeShapeType="1"/>
            </p:cNvSpPr>
            <p:nvPr/>
          </p:nvSpPr>
          <p:spPr bwMode="auto">
            <a:xfrm>
              <a:off x="2468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23"/>
            <p:cNvSpPr>
              <a:spLocks noChangeArrowheads="1"/>
            </p:cNvSpPr>
            <p:nvPr/>
          </p:nvSpPr>
          <p:spPr bwMode="auto">
            <a:xfrm>
              <a:off x="2472" y="3796"/>
              <a:ext cx="708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Line 224"/>
            <p:cNvSpPr>
              <a:spLocks noChangeShapeType="1"/>
            </p:cNvSpPr>
            <p:nvPr/>
          </p:nvSpPr>
          <p:spPr bwMode="auto">
            <a:xfrm>
              <a:off x="2472" y="3796"/>
              <a:ext cx="708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5"/>
            <p:cNvSpPr>
              <a:spLocks noChangeArrowheads="1"/>
            </p:cNvSpPr>
            <p:nvPr/>
          </p:nvSpPr>
          <p:spPr bwMode="auto">
            <a:xfrm>
              <a:off x="3180" y="1924"/>
              <a:ext cx="4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Line 226"/>
            <p:cNvSpPr>
              <a:spLocks noChangeShapeType="1"/>
            </p:cNvSpPr>
            <p:nvPr/>
          </p:nvSpPr>
          <p:spPr bwMode="auto">
            <a:xfrm>
              <a:off x="3180" y="1924"/>
              <a:ext cx="0" cy="18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27"/>
            <p:cNvSpPr>
              <a:spLocks noChangeArrowheads="1"/>
            </p:cNvSpPr>
            <p:nvPr/>
          </p:nvSpPr>
          <p:spPr bwMode="auto">
            <a:xfrm>
              <a:off x="3180" y="3796"/>
              <a:ext cx="4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Line 228"/>
            <p:cNvSpPr>
              <a:spLocks noChangeShapeType="1"/>
            </p:cNvSpPr>
            <p:nvPr/>
          </p:nvSpPr>
          <p:spPr bwMode="auto">
            <a:xfrm>
              <a:off x="3180" y="3796"/>
              <a:ext cx="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29"/>
            <p:cNvSpPr>
              <a:spLocks noChangeShapeType="1"/>
            </p:cNvSpPr>
            <p:nvPr/>
          </p:nvSpPr>
          <p:spPr bwMode="auto">
            <a:xfrm>
              <a:off x="3180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30"/>
            <p:cNvSpPr>
              <a:spLocks noChangeArrowheads="1"/>
            </p:cNvSpPr>
            <p:nvPr/>
          </p:nvSpPr>
          <p:spPr bwMode="auto">
            <a:xfrm>
              <a:off x="3184" y="3796"/>
              <a:ext cx="646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Line 231"/>
            <p:cNvSpPr>
              <a:spLocks noChangeShapeType="1"/>
            </p:cNvSpPr>
            <p:nvPr/>
          </p:nvSpPr>
          <p:spPr bwMode="auto">
            <a:xfrm>
              <a:off x="3184" y="3796"/>
              <a:ext cx="64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32"/>
            <p:cNvSpPr>
              <a:spLocks noChangeArrowheads="1"/>
            </p:cNvSpPr>
            <p:nvPr/>
          </p:nvSpPr>
          <p:spPr bwMode="auto">
            <a:xfrm>
              <a:off x="3830" y="1924"/>
              <a:ext cx="4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Line 233"/>
            <p:cNvSpPr>
              <a:spLocks noChangeShapeType="1"/>
            </p:cNvSpPr>
            <p:nvPr/>
          </p:nvSpPr>
          <p:spPr bwMode="auto">
            <a:xfrm>
              <a:off x="3830" y="1924"/>
              <a:ext cx="0" cy="18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34"/>
            <p:cNvSpPr>
              <a:spLocks noChangeArrowheads="1"/>
            </p:cNvSpPr>
            <p:nvPr/>
          </p:nvSpPr>
          <p:spPr bwMode="auto">
            <a:xfrm>
              <a:off x="3830" y="3796"/>
              <a:ext cx="4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Line 235"/>
            <p:cNvSpPr>
              <a:spLocks noChangeShapeType="1"/>
            </p:cNvSpPr>
            <p:nvPr/>
          </p:nvSpPr>
          <p:spPr bwMode="auto">
            <a:xfrm>
              <a:off x="3830" y="3796"/>
              <a:ext cx="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236"/>
            <p:cNvSpPr>
              <a:spLocks noChangeShapeType="1"/>
            </p:cNvSpPr>
            <p:nvPr/>
          </p:nvSpPr>
          <p:spPr bwMode="auto">
            <a:xfrm>
              <a:off x="3830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237"/>
            <p:cNvSpPr>
              <a:spLocks noChangeArrowheads="1"/>
            </p:cNvSpPr>
            <p:nvPr/>
          </p:nvSpPr>
          <p:spPr bwMode="auto">
            <a:xfrm>
              <a:off x="3834" y="3796"/>
              <a:ext cx="71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Line 238"/>
            <p:cNvSpPr>
              <a:spLocks noChangeShapeType="1"/>
            </p:cNvSpPr>
            <p:nvPr/>
          </p:nvSpPr>
          <p:spPr bwMode="auto">
            <a:xfrm>
              <a:off x="3834" y="3796"/>
              <a:ext cx="71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239"/>
            <p:cNvSpPr>
              <a:spLocks noChangeArrowheads="1"/>
            </p:cNvSpPr>
            <p:nvPr/>
          </p:nvSpPr>
          <p:spPr bwMode="auto">
            <a:xfrm>
              <a:off x="4546" y="1924"/>
              <a:ext cx="3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Line 240"/>
            <p:cNvSpPr>
              <a:spLocks noChangeShapeType="1"/>
            </p:cNvSpPr>
            <p:nvPr/>
          </p:nvSpPr>
          <p:spPr bwMode="auto">
            <a:xfrm>
              <a:off x="4546" y="1924"/>
              <a:ext cx="0" cy="18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241"/>
            <p:cNvSpPr>
              <a:spLocks noChangeArrowheads="1"/>
            </p:cNvSpPr>
            <p:nvPr/>
          </p:nvSpPr>
          <p:spPr bwMode="auto">
            <a:xfrm>
              <a:off x="4546" y="3796"/>
              <a:ext cx="3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Line 242"/>
            <p:cNvSpPr>
              <a:spLocks noChangeShapeType="1"/>
            </p:cNvSpPr>
            <p:nvPr/>
          </p:nvSpPr>
          <p:spPr bwMode="auto">
            <a:xfrm>
              <a:off x="4546" y="3796"/>
              <a:ext cx="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43"/>
            <p:cNvSpPr>
              <a:spLocks noChangeShapeType="1"/>
            </p:cNvSpPr>
            <p:nvPr/>
          </p:nvSpPr>
          <p:spPr bwMode="auto">
            <a:xfrm>
              <a:off x="4546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244"/>
            <p:cNvSpPr>
              <a:spLocks noChangeArrowheads="1"/>
            </p:cNvSpPr>
            <p:nvPr/>
          </p:nvSpPr>
          <p:spPr bwMode="auto">
            <a:xfrm>
              <a:off x="4549" y="3796"/>
              <a:ext cx="651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Line 245"/>
            <p:cNvSpPr>
              <a:spLocks noChangeShapeType="1"/>
            </p:cNvSpPr>
            <p:nvPr/>
          </p:nvSpPr>
          <p:spPr bwMode="auto">
            <a:xfrm>
              <a:off x="4549" y="3796"/>
              <a:ext cx="65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46"/>
            <p:cNvSpPr>
              <a:spLocks noChangeArrowheads="1"/>
            </p:cNvSpPr>
            <p:nvPr/>
          </p:nvSpPr>
          <p:spPr bwMode="auto">
            <a:xfrm>
              <a:off x="5200" y="1924"/>
              <a:ext cx="3" cy="187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Line 247"/>
            <p:cNvSpPr>
              <a:spLocks noChangeShapeType="1"/>
            </p:cNvSpPr>
            <p:nvPr/>
          </p:nvSpPr>
          <p:spPr bwMode="auto">
            <a:xfrm>
              <a:off x="5200" y="1924"/>
              <a:ext cx="0" cy="187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248"/>
            <p:cNvSpPr>
              <a:spLocks noChangeArrowheads="1"/>
            </p:cNvSpPr>
            <p:nvPr/>
          </p:nvSpPr>
          <p:spPr bwMode="auto">
            <a:xfrm>
              <a:off x="5200" y="3796"/>
              <a:ext cx="3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Line 249"/>
            <p:cNvSpPr>
              <a:spLocks noChangeShapeType="1"/>
            </p:cNvSpPr>
            <p:nvPr/>
          </p:nvSpPr>
          <p:spPr bwMode="auto">
            <a:xfrm>
              <a:off x="5200" y="3796"/>
              <a:ext cx="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50"/>
            <p:cNvSpPr>
              <a:spLocks noChangeShapeType="1"/>
            </p:cNvSpPr>
            <p:nvPr/>
          </p:nvSpPr>
          <p:spPr bwMode="auto">
            <a:xfrm>
              <a:off x="5200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251"/>
            <p:cNvSpPr>
              <a:spLocks noChangeArrowheads="1"/>
            </p:cNvSpPr>
            <p:nvPr/>
          </p:nvSpPr>
          <p:spPr bwMode="auto">
            <a:xfrm>
              <a:off x="5200" y="3796"/>
              <a:ext cx="3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Line 252"/>
            <p:cNvSpPr>
              <a:spLocks noChangeShapeType="1"/>
            </p:cNvSpPr>
            <p:nvPr/>
          </p:nvSpPr>
          <p:spPr bwMode="auto">
            <a:xfrm>
              <a:off x="5200" y="3796"/>
              <a:ext cx="3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53"/>
            <p:cNvSpPr>
              <a:spLocks noChangeShapeType="1"/>
            </p:cNvSpPr>
            <p:nvPr/>
          </p:nvSpPr>
          <p:spPr bwMode="auto">
            <a:xfrm>
              <a:off x="5200" y="3796"/>
              <a:ext cx="0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81292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补码运算 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[23]</a:t>
            </a:r>
            <a:r>
              <a:rPr lang="zh-CN" altLang="en-US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0001 0111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[-11]</a:t>
            </a:r>
            <a:r>
              <a:rPr lang="zh-CN" altLang="en-US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1111 0101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，用二进制运算如下：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0 0 0 1 0 1 1 1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+ 1 1 1 1 0 1 0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0 0 0 0 1 1 0 0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位机中，最高位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的进位已超出计算机字长的范围，丢失，由上面运算可知：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[23]</a:t>
            </a:r>
            <a:r>
              <a:rPr lang="zh-CN" altLang="en-US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[-11]</a:t>
            </a:r>
            <a:r>
              <a:rPr lang="zh-CN" altLang="en-US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0000 1100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由此可见，在不考虑最高位产生进位的情况下，作减法运算与补码相加的结果完全相同。</a:t>
            </a:r>
          </a:p>
        </p:txBody>
      </p:sp>
      <p:sp>
        <p:nvSpPr>
          <p:cNvPr id="256" name="Line 6"/>
          <p:cNvSpPr>
            <a:spLocks noChangeShapeType="1"/>
          </p:cNvSpPr>
          <p:nvPr/>
        </p:nvSpPr>
        <p:spPr bwMode="auto">
          <a:xfrm>
            <a:off x="971550" y="3990975"/>
            <a:ext cx="2182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120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补码运算 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[-5]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1111 1011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[-6]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=1111 1010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用二进制运算如下：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1 1 1 1 1 0 1 1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+  1 1 1 1 1 0 1 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1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1 1 1 1 0 1 0 1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[-5]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+[-6]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补＝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 1011+1111 1010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= 1 1 1 1 0 1 0 1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对补码运算的结果仍为补码。本例所求和数符号位为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，即和为负数的补码。</a:t>
            </a:r>
          </a:p>
        </p:txBody>
      </p:sp>
      <p:sp>
        <p:nvSpPr>
          <p:cNvPr id="256" name="Line 6"/>
          <p:cNvSpPr>
            <a:spLocks noChangeShapeType="1"/>
          </p:cNvSpPr>
          <p:nvPr/>
        </p:nvSpPr>
        <p:spPr bwMode="auto">
          <a:xfrm>
            <a:off x="657225" y="4467225"/>
            <a:ext cx="2182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896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补码运算 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 –10=64+(-10)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对两数求补码：   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[64]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=0100 0000      [-10]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=1111 0110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(2)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做加法：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0100 0000+1111 0110 = 0011 0110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(3)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求真值。由于是正数，可直接求：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(0011 0110)</a:t>
            </a:r>
            <a:r>
              <a:rPr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=54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80045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二进制数的编码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计算机中有符号数补码与无符号数的加减运算方法相同：</a:t>
            </a:r>
            <a:b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加法直接相加，减法变补相加。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68288" y="3117850"/>
            <a:ext cx="8624886" cy="322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None/>
            </a:pP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</a:t>
            </a: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机器数	   无符号数   	              补码</a:t>
            </a:r>
            <a:endParaRPr lang="zh-CN" altLang="zh-CN" sz="2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10010110	 	150		   -106		 </a:t>
            </a:r>
            <a:r>
              <a:rPr lang="en-US" altLang="zh-CN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00001010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</a:t>
            </a:r>
            <a:r>
              <a:rPr lang="en-US" altLang="zh-CN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 10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	</a:t>
            </a:r>
            <a:r>
              <a:rPr lang="en-US" altLang="zh-CN" sz="2400" u="sng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 +10</a:t>
            </a:r>
            <a:r>
              <a:rPr lang="en-US" altLang="zh-CN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	10100000  		160		   -96							 </a:t>
            </a:r>
          </a:p>
          <a:p>
            <a:pPr eaLnBrk="1" hangingPunct="1">
              <a:lnSpc>
                <a:spcPct val="130000"/>
              </a:lnSpc>
              <a:buFontTx/>
              <a:buNone/>
            </a:pPr>
            <a:r>
              <a:rPr lang="zh-CN" altLang="en-US" sz="2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但无符号数与补码的运算是否溢出的判断方法不同</a:t>
            </a:r>
          </a:p>
        </p:txBody>
      </p:sp>
    </p:spTree>
    <p:extLst>
      <p:ext uri="{BB962C8B-B14F-4D97-AF65-F5344CB8AC3E}">
        <p14:creationId xmlns:p14="http://schemas.microsoft.com/office/powerpoint/2010/main" val="23784681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超出范围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无符号数溢出判断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最高位是否产生进位</a:t>
            </a: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或借位</a:t>
            </a:r>
            <a:b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位无符号数表示范围：</a:t>
            </a:r>
            <a:r>
              <a:rPr lang="en-US" altLang="zh-CN" sz="24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u="sng">
                <a:latin typeface="微软雅黑" panose="020B0503020204020204" pitchFamily="34" charset="-122"/>
                <a:ea typeface="微软雅黑" panose="020B0503020204020204" pitchFamily="34" charset="-122"/>
              </a:rPr>
              <a:t>255</a:t>
            </a:r>
            <a:endParaRPr lang="zh-CN" altLang="en-US" sz="24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sp>
        <p:nvSpPr>
          <p:cNvPr id="11" name="Rectangle 5"/>
          <p:cNvSpPr txBox="1">
            <a:spLocks noChangeArrowheads="1"/>
          </p:cNvSpPr>
          <p:nvPr/>
        </p:nvSpPr>
        <p:spPr bwMode="auto">
          <a:xfrm>
            <a:off x="253801" y="3095625"/>
            <a:ext cx="8639373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X=74=4AH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Y=216=D8H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，求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X+Y=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X-Y=</a:t>
            </a:r>
            <a:r>
              <a:rPr kumimoji="1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01001010 	       74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01001010	     74</a:t>
            </a: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240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+ 11011000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40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+ 216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kumimoji="1" lang="en-US" altLang="zh-CN" sz="2400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+  00101000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kumimoji="1" lang="en-US" altLang="zh-CN" sz="240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- 216</a:t>
            </a: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1</a:t>
            </a:r>
            <a:r>
              <a:rPr kumimoji="1" lang="en-US" altLang="zh-CN" sz="240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00100010	     290          0</a:t>
            </a:r>
            <a:r>
              <a:rPr lang="en-US" altLang="zh-CN" sz="2400" kern="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01110010	 </a:t>
            </a:r>
            <a:r>
              <a:rPr kumimoji="1" lang="en-US" altLang="zh-CN" sz="24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- 142</a:t>
            </a: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2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187325" algn="just" defTabSz="914400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计算机用</a:t>
            </a:r>
            <a:r>
              <a:rPr lang="zh-CN" altLang="en-US" sz="2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进位标志位</a:t>
            </a:r>
            <a:r>
              <a:rPr lang="en-US" altLang="zh-CN" sz="2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来判断</a:t>
            </a:r>
            <a:r>
              <a:rPr lang="zh-CN" altLang="en-US" sz="22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是否溢出：</a:t>
            </a:r>
            <a:b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数据加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减最高位产生进位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借位时，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Cy=1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；否则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Cy=0</a:t>
            </a:r>
            <a:r>
              <a:rPr lang="zh-CN" altLang="en-US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6450496" y="4790663"/>
            <a:ext cx="2442678" cy="626165"/>
          </a:xfrm>
          <a:prstGeom prst="wedgeRectCallout">
            <a:avLst>
              <a:gd name="adj1" fmla="val -30243"/>
              <a:gd name="adj2" fmla="val -117064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补码运算，结果仍未补码，求补获得真值</a:t>
            </a:r>
          </a:p>
        </p:txBody>
      </p:sp>
    </p:spTree>
    <p:extLst>
      <p:ext uri="{BB962C8B-B14F-4D97-AF65-F5344CB8AC3E}">
        <p14:creationId xmlns:p14="http://schemas.microsoft.com/office/powerpoint/2010/main" val="4657348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超出范围</a:t>
            </a:r>
            <a:r>
              <a:rPr lang="en-US" altLang="zh-CN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有符号数补码溢出判断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同号数相加或异号数相减时，可能产生溢出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例：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X1=+45</a:t>
            </a: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Y1=+46</a:t>
            </a: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X2=+90</a:t>
            </a: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Y2=+107</a:t>
            </a: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 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X1+Y1</a:t>
            </a:r>
            <a:r>
              <a:rPr lang="zh-CN" altLang="es-E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s-E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X2+Y2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68013" y="3439120"/>
            <a:ext cx="8625161" cy="222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185738" indent="-185738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[X1]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=2DH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[Y1]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=2EH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[X2]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=5AH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[Y2]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=6BH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00101101	  [+45]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01011010    [+ 90]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	 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 00101110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  [+46]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+ 01101011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[+107]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	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01011011	  [+91]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11000101     [-58 ]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endParaRPr kumimoji="1" lang="en-US" altLang="zh-CN" sz="2000" b="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正确，无溢出	                        结果变负，</a:t>
            </a:r>
            <a:r>
              <a:rPr kumimoji="1"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有溢出</a:t>
            </a:r>
            <a:endParaRPr kumimoji="1" lang="zh-CN" altLang="en-US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02735" y="5607609"/>
            <a:ext cx="5138529" cy="81253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正数相加：同时无进位 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kumimoji="1"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=Cy</a:t>
            </a:r>
            <a:r>
              <a:rPr kumimoji="1"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，则无溢出；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不同时有进位  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kumimoji="1"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≠ Cy</a:t>
            </a:r>
            <a:r>
              <a:rPr kumimoji="1"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则有溢出，结果出错。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2373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溢出（运算结果超出范围）的判断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有符号数补码溢出判断</a:t>
            </a:r>
            <a:endParaRPr lang="en-US" altLang="zh-CN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55" name="Rectangle 3"/>
          <p:cNvSpPr txBox="1">
            <a:spLocks noChangeArrowheads="1"/>
          </p:cNvSpPr>
          <p:nvPr/>
        </p:nvSpPr>
        <p:spPr>
          <a:xfrm>
            <a:off x="257175" y="2531425"/>
            <a:ext cx="8636000" cy="3583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62705" y="2531424"/>
            <a:ext cx="8630470" cy="413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X1=-5, Y1=-2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X2=-105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Y2=-91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，求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X1+Y1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X2+Y2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解：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11111011	   [-5]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    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10010111	   [-105]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+ 11111110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[-2]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+ 10100101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[- 91]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	 1  11111001  [-7]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00111100   [+   ]</a:t>
            </a:r>
            <a:r>
              <a:rPr kumimoji="1" lang="zh-CN" altLang="en-US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</a:t>
            </a:r>
            <a:endParaRPr kumimoji="1" lang="en-US" altLang="zh-CN" sz="2000" b="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正确，无溢出	                    结果变正，有溢出</a:t>
            </a:r>
          </a:p>
          <a:p>
            <a:pPr marL="0" indent="0" algn="just">
              <a:lnSpc>
                <a:spcPct val="110000"/>
              </a:lnSpc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endParaRPr kumimoji="1"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10000"/>
              </a:lnSpc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负数相加：同时有进位：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=Cy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，结果正确无溢出；不同时有进位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≠Cy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，结果错有溢出。</a:t>
            </a:r>
            <a:endParaRPr kumimoji="1" lang="en-US" altLang="zh-CN" sz="2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just">
              <a:lnSpc>
                <a:spcPct val="130000"/>
              </a:lnSpc>
            </a:pP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计算机用溢出标志位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来判断补码是否溢出，逻辑关系：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OV=Cy</a:t>
            </a:r>
            <a:r>
              <a:rPr kumimoji="1"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en-US" altLang="zh-CN" sz="2200" dirty="0">
                <a:latin typeface="Symbol" panose="05050102010706020507" pitchFamily="18" charset="2"/>
              </a:rPr>
              <a:t>Å 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Cy</a:t>
            </a:r>
            <a:r>
              <a:rPr kumimoji="1" lang="en-US" altLang="zh-CN" sz="22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；补码加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减产生溢出时，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OV=1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OV=0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597323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十进制数编码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十进制编码又称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，既具有二进制数的形式，以便于存储，又具有十进制数的特点，以便于进行运算和显示结果。在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码中，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二进制代码表示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十进制数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码运算：先按二进制法则计算，再进行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十进制调整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十进制调整：当计算结果有非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码或产生进位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借位时，进行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+6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调整运算。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774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十进制数编码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BCD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码运算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68014" y="2361628"/>
            <a:ext cx="8625160" cy="430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例：计算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78+69=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	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	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0111 1000		  [78]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    0110 1001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	          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[69]</a:t>
            </a: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	 </a:t>
            </a:r>
            <a:endParaRPr kumimoji="1" lang="en-US" altLang="zh-CN" sz="2000" b="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	        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1110 0001          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产生非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码和半进位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kumimoji="1" lang="en-US" altLang="zh-CN" sz="20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   0110 0110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+ 66H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	</a:t>
            </a: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   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1  0100 0111      </a:t>
            </a:r>
            <a:r>
              <a:rPr kumimoji="1" lang="zh-CN" altLang="en-US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带进位结果：</a:t>
            </a:r>
            <a:r>
              <a:rPr kumimoji="1" lang="en-US" altLang="zh-CN" sz="2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147 	</a:t>
            </a:r>
          </a:p>
        </p:txBody>
      </p:sp>
    </p:spTree>
    <p:extLst>
      <p:ext uri="{BB962C8B-B14F-4D97-AF65-F5344CB8AC3E}">
        <p14:creationId xmlns:p14="http://schemas.microsoft.com/office/powerpoint/2010/main" val="288258911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数制与编码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 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ASCII(American Standard Code for Information)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码是一种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国际标准信息交换码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，它利用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位二进制代码来表示字符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，再加上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位校验位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，故在计算机中用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位二进制数来表示一个字符，有利于对这些数据进行处理及传输。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graphicFrame>
        <p:nvGraphicFramePr>
          <p:cNvPr id="8" name="Object 3">
            <a:hlinkClick r:id="" action="ppaction://hlinkshowjump?jump=endshow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410278"/>
              </p:ext>
            </p:extLst>
          </p:nvPr>
        </p:nvGraphicFramePr>
        <p:xfrm>
          <a:off x="2869027" y="3423515"/>
          <a:ext cx="4165600" cy="3216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5667480" imgH="5108760" progId="Word.Document.8">
                  <p:embed/>
                </p:oleObj>
              </mc:Choice>
              <mc:Fallback>
                <p:oleObj name="文档" r:id="rId5" imgW="5667480" imgH="5108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027" y="3423515"/>
                        <a:ext cx="4165600" cy="3216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7200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57505" y="736608"/>
            <a:ext cx="8635669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计算机语言是实现程序设计、以便人与计算机进行信息交流的必备工具，又称程序设计语言。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计算机语言可分为三类：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又称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二进制目标代码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硬件惟一能够直接识别的语言，在设计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时就已经确定其代码的含义。 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使用人们便于记忆的符号来描述与之相应的机器语言，机器语言的每一条指令，都对应一条汇编语言的指令。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符号化的机器语言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高级语言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C51)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，是一种接近人们习惯的程序设计语言，它使用人们所熟悉的文字、符号及数学表达式来编写程序，使程序的编写和操作都显得十分方便。 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可读性强、可移植性强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821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578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程序设计的一般步骤。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确定数据结构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确定算法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编程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调试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整理源程序并总结资料。</a:t>
            </a:r>
          </a:p>
          <a:p>
            <a:pPr marL="342900" indent="-342900" algn="just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所谓算法，是为解决某一特定的问题，所给出的一系列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确切的、有限的操作步骤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。在算法设计中应遵循下面几个准则：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可执行性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确定性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3)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有穷性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 </a:t>
            </a:r>
          </a:p>
          <a:p>
            <a:pPr algn="just">
              <a:lnSpc>
                <a:spcPct val="12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</a:p>
        </p:txBody>
      </p:sp>
    </p:spTree>
    <p:extLst>
      <p:ext uri="{BB962C8B-B14F-4D97-AF65-F5344CB8AC3E}">
        <p14:creationId xmlns:p14="http://schemas.microsoft.com/office/powerpoint/2010/main" val="29898039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结构化程序设计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结构化程序设计步骤：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自顶向下，逐步求精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模块化设计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每一个模块可以独立地进行编程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﹑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除最上层外，每层功能模块可接受上层调用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的每个模块应由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种基本结构组成：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顺序结构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</a:p>
        </p:txBody>
      </p:sp>
    </p:spTree>
    <p:extLst>
      <p:ext uri="{BB962C8B-B14F-4D97-AF65-F5344CB8AC3E}">
        <p14:creationId xmlns:p14="http://schemas.microsoft.com/office/powerpoint/2010/main" val="4170918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508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结构化程序设计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顺序结构</a:t>
            </a:r>
          </a:p>
          <a:p>
            <a:pPr algn="just">
              <a:lnSpc>
                <a:spcPct val="14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程序中的语句按先后顺序逐条执行。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选择结构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在执行程序中的选择结构语句时，该语句的执行将根据不同的条件执行不同分支的语句。</a:t>
            </a:r>
            <a:endParaRPr lang="en-US" altLang="zh-CN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</a:pP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在执行程序中的循环结构语句时，该语句将根据各自的条件，对循环结构所限定的语句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即循环体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重复执行多次或零次。循环结构特点是：当条件满足时，就执行循环体，否则就退出循环结构。  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</a:p>
        </p:txBody>
      </p:sp>
    </p:spTree>
    <p:extLst>
      <p:ext uri="{BB962C8B-B14F-4D97-AF65-F5344CB8AC3E}">
        <p14:creationId xmlns:p14="http://schemas.microsoft.com/office/powerpoint/2010/main" val="2559121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7505" y="736608"/>
            <a:ext cx="86356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在设计一个单片机应用系统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时，一般来说要经过以下步骤：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① 分析问题，明确任务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② 总体设计，拟定出性能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价格比最高的方案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③ 硬件设计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④ 软件设计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⑤ 编译、仿真及调试 </a:t>
            </a: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⑥ 程序下载运行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计算机语言及程序设计</a:t>
            </a:r>
          </a:p>
        </p:txBody>
      </p:sp>
    </p:spTree>
    <p:extLst>
      <p:ext uri="{BB962C8B-B14F-4D97-AF65-F5344CB8AC3E}">
        <p14:creationId xmlns:p14="http://schemas.microsoft.com/office/powerpoint/2010/main" val="199268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3099</TotalTime>
  <Words>6103</Words>
  <Application>Microsoft Office PowerPoint</Application>
  <PresentationFormat>全屏显示(4:3)</PresentationFormat>
  <Paragraphs>646</Paragraphs>
  <Slides>58</Slides>
  <Notes>57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宋体</vt:lpstr>
      <vt:lpstr>微软雅黑</vt:lpstr>
      <vt:lpstr>Arial</vt:lpstr>
      <vt:lpstr>Calibri</vt:lpstr>
      <vt:lpstr>Calibri Light</vt:lpstr>
      <vt:lpstr>Symbol</vt:lpstr>
      <vt:lpstr>Times New Roman</vt:lpstr>
      <vt:lpstr>Wingdings</vt:lpstr>
      <vt:lpstr>Office 主题</vt:lpstr>
      <vt:lpstr>Visio</vt:lpstr>
      <vt:lpstr>Image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灿 付</cp:lastModifiedBy>
  <cp:revision>174</cp:revision>
  <dcterms:created xsi:type="dcterms:W3CDTF">2019-03-15T01:02:46Z</dcterms:created>
  <dcterms:modified xsi:type="dcterms:W3CDTF">2025-09-10T12:36:35Z</dcterms:modified>
</cp:coreProperties>
</file>