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450" r:id="rId2"/>
    <p:sldId id="465" r:id="rId3"/>
    <p:sldId id="395" r:id="rId4"/>
    <p:sldId id="491" r:id="rId5"/>
    <p:sldId id="492" r:id="rId6"/>
    <p:sldId id="267" r:id="rId7"/>
    <p:sldId id="542" r:id="rId8"/>
    <p:sldId id="466" r:id="rId9"/>
    <p:sldId id="474" r:id="rId10"/>
    <p:sldId id="494" r:id="rId11"/>
    <p:sldId id="493" r:id="rId12"/>
    <p:sldId id="488" r:id="rId13"/>
    <p:sldId id="475" r:id="rId14"/>
    <p:sldId id="490" r:id="rId15"/>
    <p:sldId id="513" r:id="rId16"/>
    <p:sldId id="495" r:id="rId17"/>
    <p:sldId id="467" r:id="rId18"/>
    <p:sldId id="476" r:id="rId19"/>
    <p:sldId id="480" r:id="rId20"/>
    <p:sldId id="477" r:id="rId21"/>
    <p:sldId id="481" r:id="rId22"/>
    <p:sldId id="478" r:id="rId23"/>
    <p:sldId id="482" r:id="rId24"/>
    <p:sldId id="479" r:id="rId25"/>
    <p:sldId id="496" r:id="rId26"/>
    <p:sldId id="497" r:id="rId27"/>
    <p:sldId id="484" r:id="rId28"/>
    <p:sldId id="468" r:id="rId29"/>
    <p:sldId id="486" r:id="rId30"/>
    <p:sldId id="498" r:id="rId31"/>
    <p:sldId id="499" r:id="rId32"/>
    <p:sldId id="506" r:id="rId33"/>
    <p:sldId id="507" r:id="rId34"/>
    <p:sldId id="509" r:id="rId35"/>
    <p:sldId id="508" r:id="rId36"/>
    <p:sldId id="510" r:id="rId37"/>
    <p:sldId id="500" r:id="rId38"/>
    <p:sldId id="501" r:id="rId39"/>
    <p:sldId id="502" r:id="rId40"/>
    <p:sldId id="511" r:id="rId41"/>
    <p:sldId id="503" r:id="rId42"/>
    <p:sldId id="512" r:id="rId43"/>
    <p:sldId id="504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5">
          <p15:clr>
            <a:srgbClr val="A4A3A4"/>
          </p15:clr>
        </p15:guide>
        <p15:guide id="2" orient="horz" pos="2205">
          <p15:clr>
            <a:srgbClr val="A4A3A4"/>
          </p15:clr>
        </p15:guide>
        <p15:guide id="3" orient="horz" pos="51">
          <p15:clr>
            <a:srgbClr val="A4A3A4"/>
          </p15:clr>
        </p15:guide>
        <p15:guide id="4" orient="horz" pos="4157">
          <p15:clr>
            <a:srgbClr val="A4A3A4"/>
          </p15:clr>
        </p15:guide>
        <p15:guide id="5" pos="158" userDrawn="1">
          <p15:clr>
            <a:srgbClr val="A4A3A4"/>
          </p15:clr>
        </p15:guide>
        <p15:guide id="6" pos="5603">
          <p15:clr>
            <a:srgbClr val="A4A3A4"/>
          </p15:clr>
        </p15:guide>
        <p15:guide id="7" orient="horz" pos="391">
          <p15:clr>
            <a:srgbClr val="A4A3A4"/>
          </p15:clr>
        </p15:guide>
        <p15:guide id="8" pos="612">
          <p15:clr>
            <a:srgbClr val="A4A3A4"/>
          </p15:clr>
        </p15:guide>
        <p15:guide id="9" orient="horz" pos="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0" autoAdjust="0"/>
    <p:restoredTop sz="91636" autoAdjust="0"/>
  </p:normalViewPr>
  <p:slideViewPr>
    <p:cSldViewPr snapToGrid="0" showGuides="1">
      <p:cViewPr varScale="1">
        <p:scale>
          <a:sx n="67" d="100"/>
          <a:sy n="67" d="100"/>
        </p:scale>
        <p:origin x="702" y="60"/>
      </p:cViewPr>
      <p:guideLst>
        <p:guide pos="2885"/>
        <p:guide orient="horz" pos="2205"/>
        <p:guide orient="horz" pos="51"/>
        <p:guide orient="horz" pos="4157"/>
        <p:guide pos="158"/>
        <p:guide pos="5603"/>
        <p:guide orient="horz" pos="391"/>
        <p:guide pos="612"/>
        <p:guide orient="horz" pos="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1003E-7D35-47D3-9E66-6CE4588D3A20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BCA56-867C-475F-9A3D-BF45B115EA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49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48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955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35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214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600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57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50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407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61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796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260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538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326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744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00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0348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521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2206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688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0366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9713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045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2441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548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18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8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308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6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4360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4792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189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4894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0226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8276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显示子程序不做要求，程序不完整。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0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2280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7582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9228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247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90358-C6B8-4813-A004-5C72FCDDCB7D}" type="datetimeFigureOut">
              <a:rPr lang="zh-CN" altLang="en-US" smtClean="0"/>
              <a:t>2022/6/9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2.tiff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tiff"/><Relationship Id="rId5" Type="http://schemas.openxmlformats.org/officeDocument/2006/relationships/image" Target="../media/image6.emf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1685442"/>
            <a:ext cx="79216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4" y="744558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51单片机的定时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endParaRPr lang="zh-CN" altLang="en-US" sz="3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1701466"/>
            <a:ext cx="7921624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  <a:endParaRPr lang="en-US" altLang="zh-CN" sz="2800" b="1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计数器内部结构及工作原理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计数器控制寄存器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、工作方式寄存器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的结构、控制作用和设置方法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种工作方式，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重点掌握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计数器初值的计算方法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计数器应用程序的编程方法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8014" y="744558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51单片机的定时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endParaRPr lang="zh-CN" altLang="en-US" sz="3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en-US" altLang="zh-CN" sz="24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定时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计数器实际上是</a:t>
            </a:r>
            <a:r>
              <a:rPr lang="zh-CN" altLang="en-US" sz="22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2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，当它对</a:t>
            </a:r>
            <a:r>
              <a:rPr lang="zh-CN" altLang="en-US" sz="2200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外部事件进行计数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时，由于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频率不固定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，此时称之为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；当它对内部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固定频率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机器周期进行计数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时，称之为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07" y="2367813"/>
            <a:ext cx="7634382" cy="403268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06084" y="6230937"/>
            <a:ext cx="454864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5-1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计数器内部结构图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91343" y="2309109"/>
            <a:ext cx="2492828" cy="2183552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060372" y="2309109"/>
            <a:ext cx="1883228" cy="2183552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019516" y="2309109"/>
            <a:ext cx="2395543" cy="2183552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992088" y="5237132"/>
            <a:ext cx="1436915" cy="9403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283528" y="5237132"/>
            <a:ext cx="1436915" cy="9403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998030" y="5237132"/>
            <a:ext cx="2035629" cy="940375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6007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由定时器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计数器内部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结构图可知，主要以下特点：</a:t>
            </a: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(MCS-52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单片机三个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的可编程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P3.4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P3.5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定时器均由两部分构成：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THx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err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TLx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T2MOD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T2CON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进行控制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功能寄存器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进行控制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P3.5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P3.4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计数脉冲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个中断源，可以向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发出中断请求。定时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增加了两个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位的寄存器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RCAP2H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RCAP2L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功能寄存器之间通过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内部总线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控制逻辑电路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连接起来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串行口的波特率发生器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000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，第六</a:t>
            </a:r>
            <a:r>
              <a:rPr lang="zh-CN" altLang="en-US" sz="2000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2000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512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定时器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：对系统晶振振荡脉冲的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分频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计数。</a:t>
            </a: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计数器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：对外部</a:t>
            </a:r>
            <a:r>
              <a:rPr lang="zh-CN" altLang="en-US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频率不固定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信号计数；</a:t>
            </a:r>
            <a:r>
              <a:rPr lang="zh-CN" altLang="en-US" sz="22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定时器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：对内部</a:t>
            </a:r>
            <a:r>
              <a:rPr lang="zh-CN" altLang="en-US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固定频率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的机器周期进行计数。</a:t>
            </a:r>
            <a:endParaRPr lang="zh-CN" altLang="en-US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：对引脚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P3.4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P3.5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的外部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脉冲信号计数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，当输入脉冲信号从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负跳变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计数器就自动加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每个机器周期的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S5P2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期间，对外部输入信号进行采样。如果在第一个周期中采样值为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，而在下一个周期采样值为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，则在紧跟着的再下一个周期的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S3P1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期间，计数值加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。由于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检测跳变沿需要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2个机器周期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24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个振荡周期，因此，外部输入的计数脉冲的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最高计数频率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f=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fosc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/24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计满溢出</a:t>
            </a:r>
            <a:r>
              <a:rPr lang="en-US" altLang="zh-CN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TF1/TF0</a:t>
            </a:r>
            <a:r>
              <a:rPr lang="zh-CN" altLang="en-US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，申请中断</a:t>
            </a:r>
            <a:r>
              <a:rPr lang="en-US" altLang="zh-CN" u="sng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u="sng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en-US" altLang="zh-CN" u="sng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计数器：对外部输入脉冲的占空比并没有限制，但为了确保输入脉冲的电平在变化之前至少</a:t>
            </a:r>
            <a:r>
              <a:rPr lang="zh-CN" altLang="en-US" sz="2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被采样一次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，则输入脉冲的高、低电平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保持时间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至少是一个完整的机器周期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738313" y="3561080"/>
            <a:ext cx="5672137" cy="903288"/>
            <a:chOff x="1538288" y="3248025"/>
            <a:chExt cx="6299201" cy="1160463"/>
          </a:xfrm>
        </p:grpSpPr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2459039" y="3930650"/>
              <a:ext cx="0" cy="4778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" name="Group 16"/>
            <p:cNvGrpSpPr/>
            <p:nvPr/>
          </p:nvGrpSpPr>
          <p:grpSpPr bwMode="auto">
            <a:xfrm>
              <a:off x="1538288" y="3589338"/>
              <a:ext cx="1874838" cy="482600"/>
              <a:chOff x="1151" y="3365"/>
              <a:chExt cx="618" cy="304"/>
            </a:xfrm>
          </p:grpSpPr>
          <p:sp>
            <p:nvSpPr>
              <p:cNvPr id="20" name="Line 9"/>
              <p:cNvSpPr>
                <a:spLocks noChangeShapeType="1"/>
              </p:cNvSpPr>
              <p:nvPr/>
            </p:nvSpPr>
            <p:spPr bwMode="auto">
              <a:xfrm>
                <a:off x="1454" y="3365"/>
                <a:ext cx="0" cy="3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10"/>
              <p:cNvSpPr>
                <a:spLocks noChangeShapeType="1"/>
              </p:cNvSpPr>
              <p:nvPr/>
            </p:nvSpPr>
            <p:spPr bwMode="auto">
              <a:xfrm>
                <a:off x="1769" y="3368"/>
                <a:ext cx="0" cy="3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12"/>
              <p:cNvSpPr>
                <a:spLocks noChangeShapeType="1"/>
              </p:cNvSpPr>
              <p:nvPr/>
            </p:nvSpPr>
            <p:spPr bwMode="auto">
              <a:xfrm rot="-5400000">
                <a:off x="1610" y="3219"/>
                <a:ext cx="0" cy="3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 rot="-5400000">
                <a:off x="1302" y="3515"/>
                <a:ext cx="0" cy="3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>
              <a:off x="4354513" y="3594100"/>
              <a:ext cx="0" cy="4778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0"/>
            <p:cNvSpPr>
              <a:spLocks noChangeShapeType="1"/>
            </p:cNvSpPr>
            <p:nvPr/>
          </p:nvSpPr>
          <p:spPr bwMode="auto">
            <a:xfrm rot="16200000">
              <a:off x="4827588" y="3144838"/>
              <a:ext cx="0" cy="912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rot="16200000">
              <a:off x="3892551" y="3614738"/>
              <a:ext cx="0" cy="912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>
              <a:off x="3417888" y="3254375"/>
              <a:ext cx="0" cy="4778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>
              <a:off x="3413126" y="3925888"/>
              <a:ext cx="0" cy="4778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4356894" y="3248025"/>
              <a:ext cx="0" cy="4778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2597151" y="4068763"/>
              <a:ext cx="6826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&gt;Tcy</a:t>
              </a:r>
            </a:p>
          </p:txBody>
        </p:sp>
        <p:sp>
          <p:nvSpPr>
            <p:cNvPr id="18" name="Text Box 31"/>
            <p:cNvSpPr txBox="1">
              <a:spLocks noChangeArrowheads="1"/>
            </p:cNvSpPr>
            <p:nvPr/>
          </p:nvSpPr>
          <p:spPr bwMode="auto">
            <a:xfrm>
              <a:off x="3544888" y="3332163"/>
              <a:ext cx="6826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&gt;Tcy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5588001" y="3617914"/>
              <a:ext cx="2249488" cy="395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 err="1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Tcy</a:t>
              </a:r>
              <a:r>
                <a:rPr lang="zh-CN" altLang="en-US" sz="20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：机器</a:t>
              </a:r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周期</a:t>
              </a:r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工作模式寄存器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特殊功能寄存器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的地址为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89H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不可位寻址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，在设置时一次写入，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TMOD=00H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格式如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5-2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所示，其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用于定时器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用于定时器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graphicFrame>
        <p:nvGraphicFramePr>
          <p:cNvPr id="8" name="Group 1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986962"/>
              </p:ext>
            </p:extLst>
          </p:nvPr>
        </p:nvGraphicFramePr>
        <p:xfrm>
          <a:off x="283963" y="3719386"/>
          <a:ext cx="8616006" cy="1741675"/>
        </p:xfrm>
        <a:graphic>
          <a:graphicData uri="http://schemas.openxmlformats.org/drawingml/2006/table">
            <a:tbl>
              <a:tblPr/>
              <a:tblGrid>
                <a:gridCol w="1228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4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4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89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4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8120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 rowSpan="2"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TMOD</a:t>
                      </a:r>
                      <a:endParaRPr kumimoji="1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89H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D7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D6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D5</a:t>
                      </a:r>
                      <a:endParaRPr kumimoji="1" lang="en-US" altLang="zh-CN" sz="5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D4</a:t>
                      </a:r>
                      <a:endParaRPr kumimoji="1" lang="en-US" altLang="zh-CN" sz="5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D3</a:t>
                      </a:r>
                      <a:endParaRPr kumimoji="1" lang="en-US" altLang="zh-CN" sz="5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D2</a:t>
                      </a:r>
                      <a:endParaRPr kumimoji="1" lang="en-US" altLang="zh-CN" sz="5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D1</a:t>
                      </a:r>
                      <a:endParaRPr kumimoji="1" lang="en-US" altLang="zh-CN" sz="5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D0</a:t>
                      </a:r>
                      <a:endParaRPr kumimoji="1" lang="en-US" altLang="zh-CN" sz="5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GATE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dirty="0"/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  <a:stretch>
                        <a:fillRect l="-294853" t="-130667" r="-647059" b="-174667"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M1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M0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GATE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dirty="0"/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  <a:stretch>
                        <a:fillRect l="-732847" t="-130667" r="-201460" b="-174667"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M1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M0</a:t>
                      </a:r>
                      <a:endParaRPr kumimoji="1" lang="en-US" altLang="zh-CN" sz="5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39">
                <a:tc gridSpan="9"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图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5-2 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定时器方式寄存器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TMOD 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计数器的工作模式寄存器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M0——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工作模式选择位。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由于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两位，可以有四种工作方式。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种工作模式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种工作模式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。选择情况如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。定时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不能工作在模式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，若设置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M1M0=11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将停止工作。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Group 3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1830335"/>
              </p:ext>
            </p:extLst>
          </p:nvPr>
        </p:nvGraphicFramePr>
        <p:xfrm>
          <a:off x="710406" y="3332917"/>
          <a:ext cx="7723188" cy="3336172"/>
        </p:xfrm>
        <a:graphic>
          <a:graphicData uri="http://schemas.openxmlformats.org/drawingml/2006/table">
            <a:tbl>
              <a:tblPr/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0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758">
                <a:tc gridSpan="4"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定时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计数器的工作模式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91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功能介绍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13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位定时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计数器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32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定时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计数器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992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自动重置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定时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计数器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7086"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定时器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TL0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位定时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计数器；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TH0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位定时器。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定时器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不工作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195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5.2.1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计数器的</a:t>
                </a:r>
                <a:r>
                  <a:rPr lang="zh-CN" altLang="en-US" sz="2400" b="1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工作模式寄存器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TMOD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定时器方式和计数器方式选择控制位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时，选择定时功能 。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时，选择计数方式。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通过引脚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T0(P3.4)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T1(P3.5)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T2(P1.0)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外部信号进行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在每个机器周期的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S5P2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期间，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采样引脚的输入电平。若前一机器周期采样值为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，下一机器周期采样值为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，则计数器增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，此后的机器周期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S3P1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期间，新的计数值装入计数器。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195268"/>
              </a:xfrm>
              <a:prstGeom prst="rect">
                <a:avLst/>
              </a:prstGeom>
              <a:blipFill rotWithShape="0">
                <a:blip r:embed="rId3"/>
                <a:stretch>
                  <a:fillRect l="-1059" r="-1059" b="-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4106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5.2.1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计数器的工作模式寄存器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TMOD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n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GATE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计数器运行控制位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800100" lvl="1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GATE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时，由外部中断引脚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400" b="0" i="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400" b="1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共同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来启动定时器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当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引脚为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高电平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TR0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置位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，启动定时器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当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400" b="0" i="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引脚为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高电平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置位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，启动定时器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marL="800100" lvl="1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GATE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zh-CN" altLang="en-US" sz="2400" b="1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仅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TR0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置位来启动定时器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4106445"/>
              </a:xfrm>
              <a:prstGeom prst="rect">
                <a:avLst/>
              </a:prstGeom>
              <a:blipFill rotWithShape="0">
                <a:blip r:embed="rId3"/>
                <a:stretch>
                  <a:fillRect l="-1059" r="-1059" b="-1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定时器控制寄存器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定时控制寄存器可以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位寻址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88H~8FH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graphicFrame>
        <p:nvGraphicFramePr>
          <p:cNvPr id="8" name="Group 6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1128445"/>
              </p:ext>
            </p:extLst>
          </p:nvPr>
        </p:nvGraphicFramePr>
        <p:xfrm>
          <a:off x="481011" y="1987778"/>
          <a:ext cx="8148637" cy="1504315"/>
        </p:xfrm>
        <a:graphic>
          <a:graphicData uri="http://schemas.openxmlformats.org/drawingml/2006/table">
            <a:tbl>
              <a:tblPr/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2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6225">
                <a:tc rowSpan="2"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TCON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88H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TF1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TR1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TF0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TR0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IE1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IT1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IE0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IT0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 gridSpan="9">
                  <a:txBody>
                    <a:bodyPr/>
                    <a:lstStyle>
                      <a:lvl1pPr marL="342900" indent="-342900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图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定时器的控制寄存器 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64301" y="3474779"/>
            <a:ext cx="86356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TR1/TR0 (TCON.6/TCON.4)—T1/T0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软件置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(TR1=1/TR0=1)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(TR1=0/TR0=0)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T1/T0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程序中用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指令“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  TR1”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，定时器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便开始计数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CLR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TR1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4615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5.2.2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定时器控制寄存器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TCON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GATE=0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时，用软件使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启动定时器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，若用软件使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清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，则停止定时器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GATE=1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时，用软件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，如果检测到引脚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或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(P3.2/P3.3)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高电平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时启动定时器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TF1/TF0—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计数器的溢出中断请求标志位</a:t>
                </a:r>
                <a:endParaRPr lang="en-US" altLang="zh-CN" sz="2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当计数器计满产生溢出时，由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硬件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TF1/TF0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响应中断后，由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硬件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TF1/TF0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清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零。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4615623"/>
              </a:xfrm>
              <a:prstGeom prst="rect">
                <a:avLst/>
              </a:prstGeom>
              <a:blipFill rotWithShape="0">
                <a:blip r:embed="rId3"/>
                <a:stretch>
                  <a:fillRect l="-1059" r="-1059" b="-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8445" y="5266055"/>
            <a:ext cx="8636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当定时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计数器计满溢出时，由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。使用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查询方式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时，此位为状态查询用，查询有效后需由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软件清零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；使用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中断方式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时，此位为中断申请标志位，进入中断服务后被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硬件自动清零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678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5.2.2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定时器控制寄存器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TCON</a:t>
                </a: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IE1/IE0—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外部中断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1/0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请求标志位</a:t>
                </a:r>
                <a:endParaRPr lang="en-US" altLang="zh-CN" sz="2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当引脚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或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上出现中断请求信号时，由硬件置位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IE1/IE0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，向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申请中断。当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响应中断后，由硬件将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IE1/IE0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清零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边沿触发方式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IT1/IT0—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外部中断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1/0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触发方式控制位。</a:t>
                </a:r>
                <a:endParaRPr lang="en-US" altLang="zh-CN" sz="2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IT1/IT0=1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，为</a:t>
                </a:r>
                <a:r>
                  <a:rPr lang="zh-CN" altLang="en-US" sz="2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边沿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触发方式，检测到下降沿，则置位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IE1/IE0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，向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申请中断，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响应中断后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IE1/IE0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硬件清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IT1/IT0=0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，为</a:t>
                </a:r>
                <a:r>
                  <a:rPr lang="zh-CN" altLang="en-US" sz="2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电平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检测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zh-CN" altLang="en-US" sz="2400" b="1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低电平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则置位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IE1/IE0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，向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申请中断，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响应中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断后由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软件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清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678799"/>
              </a:xfrm>
              <a:prstGeom prst="rect">
                <a:avLst/>
              </a:prstGeom>
              <a:blipFill rotWithShape="0">
                <a:blip r:embed="rId3"/>
                <a:stretch>
                  <a:fillRect l="-1059" r="-4658" b="-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定时器控制寄存器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T0/T1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中断申请过程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前提条件：开放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T0/T1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中断允许且启动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T0/T1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T0/T1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计满溢出，置位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TF0/TF1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，申请中断；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检测到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TF0/TF1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置位，产生指令：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  000BH/LCALL 001BH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，执行中断服务程序；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TF0/TF1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由硬件清零，以备下次中断申请；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装初值，重新开始计数。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61392" y="4348580"/>
            <a:ext cx="2656753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  EA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  ET0/ET1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TMOD,  #XXH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THx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     #XXH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TLx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      #XXH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  TR0/TR1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79731" y="4348580"/>
            <a:ext cx="281840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TF0/TF1=1  ; 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等待中断</a:t>
            </a:r>
            <a:endParaRPr lang="en-US" altLang="zh-CN" sz="2000" dirty="0" smtClean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000BH/001BH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TF0/TF1=0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en-US" altLang="zh-CN" sz="24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当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M0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时，选定模式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。模式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时的结构如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。计数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寄存器由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位组成。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位未用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16"/>
          <p:cNvSpPr>
            <a:spLocks noChangeArrowheads="1"/>
          </p:cNvSpPr>
          <p:nvPr/>
        </p:nvSpPr>
        <p:spPr bwMode="auto">
          <a:xfrm>
            <a:off x="2981325" y="6262688"/>
            <a:ext cx="3203575" cy="40011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的逻辑结构图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15" y="3376613"/>
            <a:ext cx="8638806" cy="2720994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938486" y="3636433"/>
            <a:ext cx="2173514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36114" y="3211532"/>
            <a:ext cx="3638444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29792" y="4940300"/>
            <a:ext cx="2851533" cy="115730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191473" y="3636433"/>
            <a:ext cx="1084455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20947" y="4603896"/>
            <a:ext cx="2860378" cy="243184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/>
        </p:nvSpPr>
        <p:spPr>
          <a:xfrm>
            <a:off x="3867150" y="3032694"/>
            <a:ext cx="1704975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定时方式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248276" y="5086243"/>
            <a:ext cx="1304924" cy="371603"/>
            <a:chOff x="5543551" y="5238643"/>
            <a:chExt cx="1304924" cy="371603"/>
          </a:xfrm>
        </p:grpSpPr>
        <p:sp>
          <p:nvSpPr>
            <p:cNvPr id="16" name="矩形标注 15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计数初值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448553" y="5046321"/>
            <a:ext cx="1304924" cy="371603"/>
            <a:chOff x="5534026" y="5238643"/>
            <a:chExt cx="1304924" cy="371603"/>
          </a:xfrm>
        </p:grpSpPr>
        <p:sp>
          <p:nvSpPr>
            <p:cNvPr id="21" name="矩形标注 20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534026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溢出中断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111778" y="5829564"/>
            <a:ext cx="1304924" cy="371603"/>
            <a:chOff x="5543551" y="5238643"/>
            <a:chExt cx="1304924" cy="371603"/>
          </a:xfrm>
        </p:grpSpPr>
        <p:sp>
          <p:nvSpPr>
            <p:cNvPr id="24" name="矩形标注 23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运行控制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4" name="矩形标注 3"/>
          <p:cNvSpPr/>
          <p:nvPr/>
        </p:nvSpPr>
        <p:spPr>
          <a:xfrm>
            <a:off x="1024164" y="5989426"/>
            <a:ext cx="1564543" cy="397154"/>
          </a:xfrm>
          <a:prstGeom prst="wedgeRectCallout">
            <a:avLst>
              <a:gd name="adj1" fmla="val -42797"/>
              <a:gd name="adj2" fmla="val -92512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手动控制启动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710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5.3.1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工作模式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zh-CN" altLang="en-US" sz="2400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工作于计数方式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。计数脉冲由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P3.4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引脚输入。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时工作于定时方式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。计数脉冲为内部脉冲，</a:t>
                </a:r>
                <a:r>
                  <a:rPr lang="zh-CN" altLang="en-US" sz="2400" b="1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其周期是一个机器周期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en-US" altLang="zh-CN" sz="2000" b="1" u="sng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000" b="1" u="sng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</a:t>
                </a:r>
                <a:r>
                  <a:rPr lang="en-US" altLang="zh-CN" sz="2000" b="1" u="sng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b="1" u="sng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次，一个机器周期</a:t>
                </a:r>
                <a:r>
                  <a:rPr lang="en-US" altLang="zh-CN" sz="2000" b="1" u="sng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sz="24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TL0</a:t>
                </a:r>
                <a:r>
                  <a:rPr lang="zh-CN" altLang="en-US" sz="24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的低</a:t>
                </a:r>
                <a:r>
                  <a:rPr lang="en-US" altLang="zh-CN" sz="24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位溢出后向</a:t>
                </a:r>
                <a:r>
                  <a:rPr lang="en-US" altLang="zh-CN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TH0</a:t>
                </a:r>
                <a:r>
                  <a:rPr lang="zh-CN" altLang="en-US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进位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溢出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后将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TF0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置位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，并向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申请中断。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定时器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时，其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计算公式如下：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t=(2</a:t>
                </a:r>
                <a:r>
                  <a:rPr lang="en-US" altLang="zh-CN" sz="2400" baseline="30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-T0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初值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)×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振荡周期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×12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定时时间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为：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baseline="30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×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振荡周期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×12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计数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初值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初值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2</a:t>
                </a:r>
                <a:r>
                  <a:rPr lang="en-US" altLang="zh-CN" sz="2400" baseline="30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-t×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振荡频率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/12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710281"/>
              </a:xfrm>
              <a:prstGeom prst="rect">
                <a:avLst/>
              </a:prstGeom>
              <a:blipFill rotWithShape="0">
                <a:blip r:embed="rId3"/>
                <a:stretch>
                  <a:fillRect l="-1059" r="-1059" b="-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2347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5.3.1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工作模式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TMOD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M1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M0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时，选择模式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，结构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图所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示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。计数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寄存器由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组成，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位和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位构成。</a:t>
                </a:r>
                <a:r>
                  <a:rPr lang="zh-CN" altLang="en-US" sz="2400" dirty="0">
                    <a:solidFill>
                      <a:srgbClr val="0000FF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工作于计数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时工作于定时方式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2347309"/>
              </a:xfrm>
              <a:prstGeom prst="rect">
                <a:avLst/>
              </a:prstGeom>
              <a:blipFill rotWithShape="0">
                <a:blip r:embed="rId3"/>
                <a:stretch>
                  <a:fillRect l="-1059" r="-1059"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60" y="3389529"/>
            <a:ext cx="8622313" cy="2717700"/>
          </a:xfrm>
          <a:prstGeom prst="rect">
            <a:avLst/>
          </a:prstGeom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2981325" y="6262688"/>
            <a:ext cx="3203575" cy="40011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逻辑结构图</a:t>
            </a:r>
          </a:p>
        </p:txBody>
      </p:sp>
      <p:sp>
        <p:nvSpPr>
          <p:cNvPr id="14" name="矩形 13"/>
          <p:cNvSpPr/>
          <p:nvPr/>
        </p:nvSpPr>
        <p:spPr>
          <a:xfrm>
            <a:off x="4767036" y="3674533"/>
            <a:ext cx="2173514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6114" y="3249632"/>
            <a:ext cx="3638444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9792" y="4978400"/>
            <a:ext cx="2851533" cy="115730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0947" y="4641996"/>
            <a:ext cx="2860378" cy="243184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标注 17"/>
          <p:cNvSpPr/>
          <p:nvPr/>
        </p:nvSpPr>
        <p:spPr>
          <a:xfrm>
            <a:off x="3867150" y="3070794"/>
            <a:ext cx="1704975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定时方式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76826" y="5124343"/>
            <a:ext cx="1304924" cy="371603"/>
            <a:chOff x="5543551" y="5238643"/>
            <a:chExt cx="1304924" cy="371603"/>
          </a:xfrm>
        </p:grpSpPr>
        <p:sp>
          <p:nvSpPr>
            <p:cNvPr id="20" name="矩形标注 19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计数初值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111778" y="5867664"/>
            <a:ext cx="1304924" cy="371603"/>
            <a:chOff x="5543551" y="5238643"/>
            <a:chExt cx="1304924" cy="371603"/>
          </a:xfrm>
        </p:grpSpPr>
        <p:sp>
          <p:nvSpPr>
            <p:cNvPr id="23" name="矩形标注 22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运行控制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7048598" y="3674533"/>
            <a:ext cx="1084455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305678" y="5084421"/>
            <a:ext cx="1304924" cy="371603"/>
            <a:chOff x="5534026" y="5238643"/>
            <a:chExt cx="1304924" cy="371603"/>
          </a:xfrm>
        </p:grpSpPr>
        <p:sp>
          <p:nvSpPr>
            <p:cNvPr id="27" name="矩形标注 26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534026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溢出中断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用于存放计数初值的高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用于存放计数初值的低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位。当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计数到最大值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到最大值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再次加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，溢出使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，引起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溢出中断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定时时间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为：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t=(2</a:t>
            </a:r>
            <a:r>
              <a:rPr lang="en-US" altLang="zh-CN" sz="2400" baseline="30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-T0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)×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振荡周期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T0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2400" baseline="30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振荡频率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当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，选定模式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，结构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初值寄存器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用，用于保存初值。当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定时、计数到最大值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再次加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，引起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定时器中断，同时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的初值送到寄存器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。模式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时，定时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初值能够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自动重装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72" y="3302467"/>
            <a:ext cx="8663528" cy="2982830"/>
          </a:xfrm>
          <a:prstGeom prst="rect">
            <a:avLst/>
          </a:prstGeom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2981325" y="6262688"/>
            <a:ext cx="3203575" cy="40011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逻辑结构图</a:t>
            </a:r>
          </a:p>
        </p:txBody>
      </p:sp>
      <p:sp>
        <p:nvSpPr>
          <p:cNvPr id="14" name="矩形 13"/>
          <p:cNvSpPr/>
          <p:nvPr/>
        </p:nvSpPr>
        <p:spPr>
          <a:xfrm>
            <a:off x="5372100" y="3674533"/>
            <a:ext cx="1649075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6114" y="3249632"/>
            <a:ext cx="3638444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9792" y="4978400"/>
            <a:ext cx="2953412" cy="115730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0947" y="4641996"/>
            <a:ext cx="2860378" cy="243184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标注 17"/>
          <p:cNvSpPr/>
          <p:nvPr/>
        </p:nvSpPr>
        <p:spPr>
          <a:xfrm>
            <a:off x="3867150" y="3251769"/>
            <a:ext cx="1704975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定时方式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419851" y="5124343"/>
            <a:ext cx="1304924" cy="371603"/>
            <a:chOff x="5543551" y="5238643"/>
            <a:chExt cx="1304924" cy="371603"/>
          </a:xfrm>
        </p:grpSpPr>
        <p:sp>
          <p:nvSpPr>
            <p:cNvPr id="20" name="矩形标注 19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计数初值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159403" y="5867664"/>
            <a:ext cx="1304924" cy="371603"/>
            <a:chOff x="5543551" y="5238643"/>
            <a:chExt cx="1304924" cy="371603"/>
          </a:xfrm>
        </p:grpSpPr>
        <p:sp>
          <p:nvSpPr>
            <p:cNvPr id="23" name="矩形标注 22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运行控制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7143848" y="3674533"/>
            <a:ext cx="1084455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715253" y="5122521"/>
            <a:ext cx="1304924" cy="371603"/>
            <a:chOff x="5534026" y="5238643"/>
            <a:chExt cx="1304924" cy="371603"/>
          </a:xfrm>
        </p:grpSpPr>
        <p:sp>
          <p:nvSpPr>
            <p:cNvPr id="27" name="矩形标注 26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534026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溢出中断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5853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的特点：</a:t>
            </a:r>
            <a:endParaRPr lang="en-US" altLang="zh-CN" sz="2400" dirty="0" smtClean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模式把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TL0(TL1)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成一个可以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自动重装载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位定时器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程序初始化时，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由软件赋予相同的初值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定时工作方式时，定时时间为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t=(2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-TH0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振荡周期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计数工作方式时，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计数长度最大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为：</a:t>
            </a:r>
            <a:r>
              <a:rPr lang="en-US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en-US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=256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脉冲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模式可省去软件中重装常数的语句，并可产生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相当精确的定时时间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，适合于作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串行口波特率发生器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just">
              <a:lnSpc>
                <a:spcPct val="13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TMOD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时，选定模式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just">
              <a:lnSpc>
                <a:spcPct val="13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：其中，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为一个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独立的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为另一个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独立的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位定时器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。模式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结构如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16" y="2696931"/>
            <a:ext cx="8649580" cy="3843439"/>
          </a:xfrm>
          <a:prstGeom prst="rect">
            <a:avLst/>
          </a:prstGeom>
        </p:spPr>
      </p:pic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2981325" y="6348413"/>
            <a:ext cx="3203575" cy="40011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逻辑结构图</a:t>
            </a:r>
          </a:p>
        </p:txBody>
      </p:sp>
      <p:sp>
        <p:nvSpPr>
          <p:cNvPr id="16" name="矩形 15"/>
          <p:cNvSpPr/>
          <p:nvPr/>
        </p:nvSpPr>
        <p:spPr>
          <a:xfrm>
            <a:off x="136114" y="2563832"/>
            <a:ext cx="3638444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9792" y="4254500"/>
            <a:ext cx="2953412" cy="115730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20947" y="3956196"/>
            <a:ext cx="2860378" cy="243184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标注 18"/>
          <p:cNvSpPr/>
          <p:nvPr/>
        </p:nvSpPr>
        <p:spPr>
          <a:xfrm>
            <a:off x="3867150" y="2565969"/>
            <a:ext cx="1704975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定时方式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159403" y="5143764"/>
            <a:ext cx="1304924" cy="371603"/>
            <a:chOff x="5543551" y="5238643"/>
            <a:chExt cx="1304924" cy="371603"/>
          </a:xfrm>
        </p:grpSpPr>
        <p:sp>
          <p:nvSpPr>
            <p:cNvPr id="21" name="矩形标注 20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运行控制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5172076" y="2998258"/>
            <a:ext cx="1562100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6219826" y="4448068"/>
            <a:ext cx="1304924" cy="371603"/>
            <a:chOff x="5543551" y="5238643"/>
            <a:chExt cx="1304924" cy="371603"/>
          </a:xfrm>
        </p:grpSpPr>
        <p:sp>
          <p:nvSpPr>
            <p:cNvPr id="25" name="矩形标注 24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计数初值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6943823" y="2998258"/>
            <a:ext cx="1084455" cy="1303867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515228" y="4446246"/>
            <a:ext cx="1304924" cy="371603"/>
            <a:chOff x="5534026" y="5238643"/>
            <a:chExt cx="1304924" cy="371603"/>
          </a:xfrm>
        </p:grpSpPr>
        <p:sp>
          <p:nvSpPr>
            <p:cNvPr id="29" name="矩形标注 28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534026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溢出中断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6724845" y="4988560"/>
            <a:ext cx="1568160" cy="1303867"/>
          </a:xfrm>
          <a:prstGeom prst="rect">
            <a:avLst/>
          </a:prstGeom>
          <a:solidFill>
            <a:srgbClr val="FFFF00">
              <a:alpha val="20000"/>
            </a:srgbClr>
          </a:solidFill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29792" y="5933729"/>
            <a:ext cx="2237842" cy="486410"/>
          </a:xfrm>
          <a:prstGeom prst="rect">
            <a:avLst/>
          </a:prstGeom>
          <a:solidFill>
            <a:srgbClr val="FFFF00">
              <a:alpha val="20000"/>
            </a:srgbClr>
          </a:solidFill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3" grpId="0" animBg="1"/>
      <p:bldP spid="27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979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5.3.1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工作模式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模式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特点：</a:t>
                </a:r>
                <a:endParaRPr lang="en-US" altLang="zh-CN" sz="2400" dirty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TL0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用原</a:t>
                </a:r>
                <a:r>
                  <a:rPr lang="en-US" altLang="zh-CN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的各控制位、引脚和中断源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smtClean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000" smtClean="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0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00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GATE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TF0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T0(P3.4)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引脚、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00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00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  <m:r>
                      <a:rPr lang="zh-CN" altLang="en-US" sz="2000" i="1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(P3.2)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引脚。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除</a:t>
                </a:r>
                <a:r>
                  <a:rPr lang="zh-CN" altLang="en-US" sz="2000" b="1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仅用</a:t>
                </a:r>
                <a:r>
                  <a:rPr lang="en-US" altLang="zh-CN" sz="2000" b="1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000" b="1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位寄存器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外，其功能和操作与模式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0(13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、模式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1(16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完全相同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也可工作在定时器方式或计数器方式。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只可用作简单的</a:t>
                </a:r>
                <a:r>
                  <a:rPr lang="zh-CN" altLang="en-US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内部定时功能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占用了定时器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控制位</a:t>
                </a:r>
                <a:r>
                  <a:rPr lang="en-US" altLang="zh-CN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中断标志位</a:t>
                </a:r>
                <a:r>
                  <a:rPr lang="en-US" altLang="zh-CN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TF1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，启动和关闭</a:t>
                </a:r>
                <a:r>
                  <a:rPr lang="zh-CN" altLang="en-US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仅受</a:t>
                </a:r>
                <a:r>
                  <a:rPr lang="en-US" altLang="zh-CN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定时器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无工作模式</a:t>
                </a:r>
                <a:r>
                  <a:rPr lang="en-US" altLang="zh-CN" sz="2000" b="1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的状态，若将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设置为模式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立即停止计数，即保持原有的计数值，作用</a:t>
                </a:r>
                <a:r>
                  <a:rPr lang="zh-CN" altLang="en-US" sz="2000" u="sng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相当于使</a:t>
                </a:r>
                <a:r>
                  <a:rPr lang="en-US" altLang="zh-CN" sz="2000" u="sng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TR1=0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，封锁与门，断开计数开关。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定时器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工作在模式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sz="2000" b="1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仍可设置为模式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0~2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en-US" altLang="zh-CN" sz="2000" u="sng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000" u="sng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如图所示</a:t>
                </a:r>
                <a:r>
                  <a:rPr lang="en-US" altLang="zh-CN" sz="2000" u="sng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endPara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979457"/>
              </a:xfrm>
              <a:prstGeom prst="rect">
                <a:avLst/>
              </a:prstGeom>
              <a:blipFill rotWithShape="0">
                <a:blip r:embed="rId3"/>
                <a:stretch>
                  <a:fillRect l="-1059" r="-3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962" y="1488332"/>
            <a:ext cx="5465009" cy="4752273"/>
          </a:xfrm>
          <a:prstGeom prst="rect">
            <a:avLst/>
          </a:prstGeom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2476500" y="6262688"/>
            <a:ext cx="4133850" cy="40011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逻辑结构框图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35493" y="1458152"/>
            <a:ext cx="3224055" cy="1023792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标注 9"/>
          <p:cNvSpPr/>
          <p:nvPr/>
        </p:nvSpPr>
        <p:spPr>
          <a:xfrm>
            <a:off x="5052141" y="1096395"/>
            <a:ext cx="1704975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定时方式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35493" y="2781130"/>
            <a:ext cx="3224055" cy="1023792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标注 11"/>
          <p:cNvSpPr/>
          <p:nvPr/>
        </p:nvSpPr>
        <p:spPr>
          <a:xfrm>
            <a:off x="5052141" y="2419373"/>
            <a:ext cx="1704975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定时方式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35493" y="4214380"/>
            <a:ext cx="3224055" cy="1023792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标注 13"/>
          <p:cNvSpPr/>
          <p:nvPr/>
        </p:nvSpPr>
        <p:spPr>
          <a:xfrm>
            <a:off x="5052141" y="3852623"/>
            <a:ext cx="1704975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定时方式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108041" y="4396640"/>
            <a:ext cx="1414057" cy="1874145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643398" y="5333712"/>
            <a:ext cx="1304924" cy="371603"/>
            <a:chOff x="5543551" y="5238643"/>
            <a:chExt cx="1304924" cy="371603"/>
          </a:xfrm>
        </p:grpSpPr>
        <p:sp>
          <p:nvSpPr>
            <p:cNvPr id="17" name="矩形标注 16"/>
            <p:cNvSpPr/>
            <p:nvPr/>
          </p:nvSpPr>
          <p:spPr>
            <a:xfrm flipV="1">
              <a:off x="5572126" y="5238643"/>
              <a:ext cx="1219200" cy="331681"/>
            </a:xfrm>
            <a:prstGeom prst="wedgeRectCallout">
              <a:avLst>
                <a:gd name="adj1" fmla="val -56968"/>
                <a:gd name="adj2" fmla="val 10270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543551" y="5240914"/>
              <a:ext cx="1304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计数初值</a:t>
              </a:r>
              <a:endPara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5765255" y="1746391"/>
            <a:ext cx="845096" cy="557041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标注 22"/>
          <p:cNvSpPr/>
          <p:nvPr/>
        </p:nvSpPr>
        <p:spPr>
          <a:xfrm>
            <a:off x="6766821" y="1452034"/>
            <a:ext cx="1144178" cy="331681"/>
          </a:xfrm>
          <a:prstGeom prst="wedgeRectCallout">
            <a:avLst>
              <a:gd name="adj1" fmla="val -56968"/>
              <a:gd name="adj2" fmla="val 10270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溢出中断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787230" y="1953920"/>
            <a:ext cx="504635" cy="3016432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标注 23"/>
          <p:cNvSpPr/>
          <p:nvPr/>
        </p:nvSpPr>
        <p:spPr>
          <a:xfrm>
            <a:off x="7748996" y="2305474"/>
            <a:ext cx="1144178" cy="1328715"/>
          </a:xfrm>
          <a:prstGeom prst="wedgeRectCallout">
            <a:avLst>
              <a:gd name="adj1" fmla="val -88619"/>
              <a:gd name="adj2" fmla="val 31160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输出送入串行口或用于不需要的场合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标注 24"/>
              <p:cNvSpPr/>
              <p:nvPr/>
            </p:nvSpPr>
            <p:spPr>
              <a:xfrm>
                <a:off x="261759" y="5499552"/>
                <a:ext cx="3521541" cy="605392"/>
              </a:xfrm>
              <a:prstGeom prst="wedgeRectCallout">
                <a:avLst>
                  <a:gd name="adj1" fmla="val 53250"/>
                  <a:gd name="adj2" fmla="val -143172"/>
                </a:avLst>
              </a:pr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仅用</a:t>
                </a:r>
                <a:r>
                  <a:rPr lang="en-US" altLang="zh-CN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控制位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mtClean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</m:oMath>
                </a14:m>
                <a:r>
                  <a:rPr lang="zh-CN" altLang="en-US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切换其定时器或计数器工作方式就可使</a:t>
                </a:r>
                <a:r>
                  <a:rPr lang="en-US" altLang="zh-CN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运行</a:t>
                </a:r>
                <a:endPara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矩形标注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59" y="5499552"/>
                <a:ext cx="3521541" cy="605392"/>
              </a:xfrm>
              <a:prstGeom prst="wedgeRectCallout">
                <a:avLst>
                  <a:gd name="adj1" fmla="val 53250"/>
                  <a:gd name="adj2" fmla="val -143172"/>
                </a:avLst>
              </a:prstGeom>
              <a:blipFill rotWithShape="0">
                <a:blip r:embed="rId7"/>
                <a:stretch>
                  <a:fillRect l="-165" b="-9596"/>
                </a:stretch>
              </a:blipFill>
              <a:ln w="1905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3" grpId="0" animBg="1"/>
      <p:bldP spid="22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4563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5.3.1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工作模式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TF1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占用，计数器开关已被接通，此时，仅用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控制位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C</m:t>
                    </m:r>
                    <m:r>
                      <m:rPr>
                        <m:nor/>
                      </m:rPr>
                      <a:rPr lang="zh-CN" altLang="en-US" sz="2400">
                        <a:solidFill>
                          <a:srgbClr val="FF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/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solidFill>
                              <a:srgbClr val="FF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切换其定时器或计数器工作方式就可</a:t>
                </a:r>
                <a:r>
                  <a:rPr lang="zh-CN" altLang="en-US" sz="2400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</a:t>
                </a:r>
                <a:r>
                  <a:rPr lang="en-US" altLang="zh-CN" sz="2400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 smtClean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运行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寄存器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(8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位、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位、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溢出时，只能将输出送入串行口或用于不需要中断的场合。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一般情况下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，当定时器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用作串行口波特率发生器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模式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时，定时器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才设置为工作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模式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。此时，常把定时器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设置为模式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，用作</a:t>
                </a:r>
                <a:r>
                  <a:rPr lang="zh-CN" altLang="en-US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波特率发生器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2000" u="sng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4563301"/>
              </a:xfrm>
              <a:prstGeom prst="rect">
                <a:avLst/>
              </a:prstGeom>
              <a:blipFill rotWithShape="0">
                <a:blip r:embed="rId3"/>
                <a:stretch>
                  <a:fillRect l="-1059" r="-4587" b="-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计数器概述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计数器的控制</a:t>
            </a:r>
            <a:endParaRPr lang="en-US" altLang="zh-CN" sz="24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计数器的工作模式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利用定时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计数器每隔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控制产生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宽度为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个机器周期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负脉冲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输出，设时钟频率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8014" y="2346035"/>
            <a:ext cx="430398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ORG     0000H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AJMP   MAIN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ORG     000BH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AJMP   T0INT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ORG     0100H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TMOD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TH0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0E0H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TL0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IE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TR0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LOOP: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SJMP   LOOP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89714" y="2306268"/>
            <a:ext cx="410346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ORG     0200H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T0INT: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  P1.0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SETB    P1.0 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TH0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0E0H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   TL0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RETI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237389" y="4753420"/>
            <a:ext cx="3668486" cy="1877437"/>
          </a:xfrm>
          <a:prstGeom prst="rect">
            <a:avLst/>
          </a:prstGeom>
          <a:noFill/>
          <a:ln w="19050" algn="ctr">
            <a:solidFill>
              <a:schemeClr val="tx1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计数次数：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</a:p>
          <a:p>
            <a:pPr>
              <a:spcBef>
                <a:spcPct val="200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计数初值：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8192-1000=7192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7192D=1110,0000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1,1000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=0E0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TH0=0E0H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TL0=18H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利用定时器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的方波，由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输出。假设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不进行其他工作，则可采用查询方式进行控制，设晶振时钟频率为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595571" y="2335875"/>
            <a:ext cx="4303986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ORG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TMOD,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#01H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TH0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0B1H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TL0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0E0H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TR0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LOOP: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TF0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$</a:t>
            </a:r>
            <a:endParaRPr lang="en-US" altLang="zh-CN" sz="20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 TF0</a:t>
            </a:r>
            <a:endParaRPr lang="en-US" altLang="zh-CN" sz="20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TH0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0B1H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TL0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0E0H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CPL      P1.0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 LOOP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END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59311" y="2327784"/>
            <a:ext cx="4303986" cy="4023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问题分析：</a:t>
            </a:r>
            <a:endParaRPr lang="en-US" altLang="zh-CN" sz="2000" dirty="0" smtClean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25Hz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，周期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40ms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，定时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20ms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，计数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工作模式：</a:t>
            </a:r>
            <a:endParaRPr lang="en-US" altLang="zh-CN" sz="2000" dirty="0" smtClean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最大定时：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8.192ms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最大定时：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65.536ms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最大定时：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0.256ms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选择工作模式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0"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计数初值：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45536(0B1E0H)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利用定时器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的工作模式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对外部信号计数。要求每计满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次，将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069058" y="2421938"/>
            <a:ext cx="4816762" cy="400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ORG    001BH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CPL      P1.0</a:t>
            </a:r>
          </a:p>
          <a:p>
            <a:pPr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RETI</a:t>
            </a:r>
          </a:p>
          <a:p>
            <a:pPr>
              <a:spcBef>
                <a:spcPct val="200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TMOD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60H</a:t>
            </a:r>
          </a:p>
          <a:p>
            <a:pPr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TL1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9CH</a:t>
            </a:r>
          </a:p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MOV  </a:t>
            </a:r>
            <a:r>
              <a:rPr lang="en-US" altLang="zh-CN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TH1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9CH</a:t>
            </a:r>
          </a:p>
          <a:p>
            <a:pPr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MOV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IE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88H</a:t>
            </a:r>
          </a:p>
          <a:p>
            <a:pPr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SETB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TR1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HERE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SJMP    HERE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68014" y="2421938"/>
            <a:ext cx="3423835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问题分析：</a:t>
            </a:r>
            <a:endParaRPr lang="en-US" altLang="zh-CN" sz="2000" dirty="0" smtClean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计数次数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计数初值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156(9CH)</a:t>
            </a: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TH1=TL1=9CH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工作模式：</a:t>
            </a:r>
            <a:endParaRPr lang="en-US" altLang="zh-CN" sz="2000" dirty="0" smtClean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lvl="2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计数工作模式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不用，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的低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位可任取，但不能使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进入工作模式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95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：设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单片机的振荡频率为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12MHz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，用定时器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编程实现从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输出周期为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500μs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输出周期为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500μs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的方波。定时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250μs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，定时结束对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模式选择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当系统时钟频率为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12MHz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，机器周期为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1µs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，定时器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可以选择模式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、模式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和模式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。模式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最大的定时时间为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256μs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，满足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250μs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的定时要求，选择模式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(256-X)×1µs=250µs       X=6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TH0=TL0=6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615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buClr>
                <a:srgbClr val="FF0000"/>
              </a:buClr>
            </a:pP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中断处理方式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reg52.h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包含特殊功能寄存器库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sbit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P1_0=P1^0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进行位定义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main( )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TMOD=0x02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       //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做定时器，工作在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TL0=0x06;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TH0=0x06;        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设置定时器的初值</a:t>
            </a: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ET0=1;		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EA=1;                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TR0=1;		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启动定时器</a:t>
            </a: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while(1);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等待中断 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    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time0_int(void)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interrupt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						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P1_0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=~P1_0;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//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取反，输出方波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	   		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buClr>
                <a:srgbClr val="FF0000"/>
              </a:buClr>
            </a:pPr>
            <a:r>
              <a: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中断处理方式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ORG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LJMP	MAIN 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000BH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中断处理程序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	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RETI	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ORG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0030H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主程序	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9795"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02H	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	MOV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06H	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06H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SETB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；允许定时器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	EA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；允许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；启动定时器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SJMP 	$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；等待中断</a:t>
            </a:r>
          </a:p>
          <a:p>
            <a:pPr lvl="3"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buClr>
                <a:srgbClr val="FF0000"/>
              </a:buClr>
            </a:pP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查询处理方式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 &lt;reg52.h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包含特殊功能寄存器库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sbit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P1_0=P1^0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进行位定义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main( )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TMOD=0x02;          //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做定时器，工作在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TL0=0x06;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TH0=0x06;         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设置定时器的初值</a:t>
            </a: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TR0=1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		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//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启动定时器</a:t>
            </a:r>
          </a:p>
          <a:p>
            <a:pPr lvl="3" algn="just"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while(1) </a:t>
            </a:r>
          </a:p>
          <a:p>
            <a:pPr lvl="4" algn="just"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lvl="4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while(!TF0);</a:t>
            </a:r>
          </a:p>
          <a:p>
            <a:pPr lvl="4" algn="just"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TF0=0;</a:t>
            </a:r>
          </a:p>
          <a:p>
            <a:pPr lvl="4" algn="just"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P1_0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=~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P1_0;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取反，输出方波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algn="just"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		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buClr>
                <a:srgbClr val="FF0000"/>
              </a:buClr>
            </a:pPr>
            <a:r>
              <a: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查询处理方式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buClr>
                <a:srgbClr val="FF0000"/>
              </a:buClr>
            </a:pP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TMOD, #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02H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；主程序</a:t>
            </a: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TL0,      #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06H</a:t>
            </a: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TH0,     #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06H</a:t>
            </a: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SETB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TR0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LOOP: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TF0,      $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查询计数溢出</a:t>
            </a: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CPL	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	SJMP	LOOP</a:t>
            </a: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END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假设一个用户系统中已使用了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两个外部中断源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，并设置定时器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在工作模式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，作串行口波特率发生器，现要求再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增加一个外部中断源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，并由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输出一个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5kHz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T=200μs)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</a:t>
            </a:r>
            <a:r>
              <a:rPr lang="en-US" altLang="zh-CN" sz="2000" i="1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osc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50824" y="3016595"/>
            <a:ext cx="4321175" cy="2614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TL0,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TH0,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MOV  TL1,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BAUD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MOV  TH1,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BAUD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TMOD,  #27H</a:t>
            </a: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MOV  TCON,   #55H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 IE,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#9FH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580594" y="3016595"/>
            <a:ext cx="435975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TL0INT:   MOV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TL0,  #0FFH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 /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     TR1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RETI</a:t>
            </a:r>
          </a:p>
          <a:p>
            <a:pPr>
              <a:spcBef>
                <a:spcPct val="20000"/>
              </a:spcBef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TH0INT:  MOV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TH0,  #206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RETI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5.4.5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计数器的综合应用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设时钟频率为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，设计利用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1s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3050" y="2147033"/>
            <a:ext cx="435975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 ORG   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		 LJMP   MAIN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</a:t>
            </a:r>
            <a:r>
              <a:rPr lang="en-US" altLang="zh-CN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000BH</a:t>
            </a: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AJMP  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ORG   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1000H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 </a:t>
            </a:r>
            <a:r>
              <a:rPr lang="en-US" altLang="zh-CN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SP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60H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B,          #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0AH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TMOD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TL0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B0H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TH0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#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3CH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    ET0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571999" y="2147033"/>
            <a:ext cx="4321175" cy="3681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   SETB    EA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   SETB    TR0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   </a:t>
            </a:r>
            <a:r>
              <a:rPr lang="en-US" altLang="zh-CN" sz="22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 $</a:t>
            </a: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SERVER:  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TL0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0B0H</a:t>
            </a: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MOV    TH0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#3CH</a:t>
            </a:r>
            <a:endParaRPr lang="en-US" altLang="zh-CN" sz="2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   </a:t>
            </a:r>
            <a:r>
              <a:rPr lang="en-US" altLang="zh-CN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B</a:t>
            </a:r>
            <a:r>
              <a:rPr lang="en-US" altLang="zh-CN" sz="22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LOOP</a:t>
            </a:r>
            <a:endParaRPr lang="en-US" altLang="zh-CN" sz="22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   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  TR0</a:t>
            </a:r>
            <a:endParaRPr lang="en-US" altLang="zh-CN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LOOP:  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RETI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END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545848" y="5899540"/>
            <a:ext cx="2167516" cy="70173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Rn,       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direct,  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2890" y="2382520"/>
            <a:ext cx="861187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MOV   TMOD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09H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MOV   TL0,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MOV   TH0,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WAIT1: 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        P3.2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WAIT1    ;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变低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 TR0                       ;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，等待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变高，启动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WAIT2: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      P3.2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WAIT2    ; INT0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变高，启动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，开始计数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WAIT3: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         P3.2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WAIT3    ; INT0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变低，暂停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，保留计数值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  TR0</a:t>
            </a:r>
          </a:p>
          <a:p>
            <a:pPr>
              <a:spcBef>
                <a:spcPct val="20000"/>
              </a:spcBef>
            </a:pPr>
            <a:endParaRPr lang="zh-CN" altLang="en-US" sz="2000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将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送出显示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endParaRPr lang="en-US" altLang="zh-CN" sz="20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1607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5.4.5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计数器的综合应用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例题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门控制位测试引脚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00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00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上的出现的正脉冲的宽度，并以机器周期数的形式显示在显示器上。</a:t>
                </a:r>
                <a:endPara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1607171"/>
              </a:xfrm>
              <a:prstGeom prst="rect">
                <a:avLst/>
              </a:prstGeom>
              <a:blipFill rotWithShape="0">
                <a:blip r:embed="rId3"/>
                <a:stretch>
                  <a:fillRect l="-1059" r="-706" b="-2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5.4.5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计数器的综合应用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设时钟频率为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，设计利用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引脚产生周期为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、占空比为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的方波信号的程序。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3050" y="2555823"/>
            <a:ext cx="43597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ORG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AJMP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ORG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000BH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AJMP  T0INT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ORG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0030H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MOV   TMOD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TH0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3CH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TL0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IE,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    TR0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R7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0AH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632325" y="2555875"/>
            <a:ext cx="4251325" cy="3353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SJMP   $</a:t>
            </a:r>
          </a:p>
          <a:p>
            <a:pPr>
              <a:spcBef>
                <a:spcPct val="2000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T0INT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TH0,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3CH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TL0,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DJNZ   R7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NEXT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      P1.0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R7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0AH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NEXT: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RETI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5.4.5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计数器的综合应用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口输出控制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发光二极管，编程设计一个双灯循环点亮控制流水灯，实现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灯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从低位到高位两两循环点亮，间隔时间为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973" y="2441862"/>
            <a:ext cx="5938734" cy="38452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5.4.5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计数器的综合应用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】(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3050" y="1814143"/>
            <a:ext cx="435975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	ORG    0000H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AJMP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ORG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000BH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AJMP   IV1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TMOD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TH0,  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#0BH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TL0,  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0DCH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IE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  R4,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  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  P1,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 TR0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SJMP    $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590485" y="2555823"/>
            <a:ext cx="430269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IV1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 TH0,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0BH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MOV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TL0,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0DCH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DJNZ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R4,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R4,   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A</a:t>
            </a:r>
            <a:endParaRPr lang="en-US" altLang="zh-CN" sz="20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RL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A</a:t>
            </a:r>
            <a:endParaRPr lang="en-US" altLang="zh-CN" sz="20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MOV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P1,   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0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END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5.4.5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计数器的综合应用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】(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计数器应用实例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3050" y="1814143"/>
            <a:ext cx="4308950" cy="4608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ORG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MAIN: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TMOD,   #01H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TH0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MOV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TL0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0DCH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MOV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R4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MOV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#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MOV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P1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A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SETB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TR0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CHX: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JBC      TF0,          ZR</a:t>
            </a:r>
            <a:endParaRPr lang="en-US" altLang="zh-CN" sz="20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SJMP   CHX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580890" y="1855470"/>
            <a:ext cx="4276725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ZR: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TH0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MOV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TL0,    #0DCH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DJNZ    R4,     CHX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R4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RL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RL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MOV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P1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A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JMP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CHX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END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5efed123-b19a-4c2f-a92e-3d29daa72f2b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34eb9c60-d340-49e1-b827-825401756a1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d9f21ab0-939d-48f8-ab69-7249145558e8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902</TotalTime>
  <Words>3636</Words>
  <Application>Microsoft Office PowerPoint</Application>
  <PresentationFormat>全屏显示(4:3)</PresentationFormat>
  <Paragraphs>562</Paragraphs>
  <Slides>43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GXH</dc:creator>
  <cp:lastModifiedBy>Administrator</cp:lastModifiedBy>
  <cp:revision>473</cp:revision>
  <dcterms:created xsi:type="dcterms:W3CDTF">2019-03-15T01:02:00Z</dcterms:created>
  <dcterms:modified xsi:type="dcterms:W3CDTF">2022-06-09T08:13:04Z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