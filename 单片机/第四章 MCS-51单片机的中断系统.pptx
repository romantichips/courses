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450" r:id="rId2"/>
    <p:sldId id="465" r:id="rId3"/>
    <p:sldId id="395" r:id="rId4"/>
    <p:sldId id="267" r:id="rId5"/>
    <p:sldId id="396" r:id="rId6"/>
    <p:sldId id="397" r:id="rId7"/>
    <p:sldId id="407" r:id="rId8"/>
    <p:sldId id="443" r:id="rId9"/>
    <p:sldId id="398" r:id="rId10"/>
    <p:sldId id="471" r:id="rId11"/>
    <p:sldId id="406" r:id="rId12"/>
    <p:sldId id="410" r:id="rId13"/>
    <p:sldId id="466" r:id="rId14"/>
    <p:sldId id="411" r:id="rId15"/>
    <p:sldId id="409" r:id="rId16"/>
    <p:sldId id="412" r:id="rId17"/>
    <p:sldId id="467" r:id="rId18"/>
    <p:sldId id="399" r:id="rId19"/>
    <p:sldId id="413" r:id="rId20"/>
    <p:sldId id="414" r:id="rId21"/>
    <p:sldId id="415" r:id="rId22"/>
    <p:sldId id="416" r:id="rId23"/>
    <p:sldId id="400" r:id="rId24"/>
    <p:sldId id="444" r:id="rId25"/>
    <p:sldId id="401" r:id="rId26"/>
    <p:sldId id="417" r:id="rId27"/>
    <p:sldId id="418" r:id="rId28"/>
    <p:sldId id="452" r:id="rId29"/>
    <p:sldId id="453" r:id="rId30"/>
    <p:sldId id="470" r:id="rId31"/>
    <p:sldId id="451" r:id="rId32"/>
    <p:sldId id="454" r:id="rId33"/>
    <p:sldId id="445" r:id="rId34"/>
    <p:sldId id="421" r:id="rId35"/>
    <p:sldId id="422" r:id="rId36"/>
    <p:sldId id="446" r:id="rId37"/>
    <p:sldId id="423" r:id="rId38"/>
    <p:sldId id="424" r:id="rId39"/>
    <p:sldId id="425" r:id="rId40"/>
    <p:sldId id="427" r:id="rId41"/>
    <p:sldId id="428" r:id="rId42"/>
    <p:sldId id="447" r:id="rId43"/>
    <p:sldId id="426" r:id="rId44"/>
    <p:sldId id="459" r:id="rId45"/>
    <p:sldId id="460" r:id="rId46"/>
    <p:sldId id="461" r:id="rId47"/>
    <p:sldId id="462" r:id="rId48"/>
    <p:sldId id="463" r:id="rId49"/>
    <p:sldId id="464" r:id="rId50"/>
    <p:sldId id="458" r:id="rId51"/>
    <p:sldId id="429" r:id="rId52"/>
    <p:sldId id="430" r:id="rId53"/>
    <p:sldId id="431" r:id="rId54"/>
    <p:sldId id="432" r:id="rId55"/>
    <p:sldId id="469" r:id="rId56"/>
    <p:sldId id="448" r:id="rId57"/>
    <p:sldId id="433" r:id="rId58"/>
    <p:sldId id="434" r:id="rId59"/>
    <p:sldId id="435" r:id="rId60"/>
    <p:sldId id="436" r:id="rId61"/>
    <p:sldId id="437" r:id="rId62"/>
    <p:sldId id="468" r:id="rId63"/>
    <p:sldId id="438" r:id="rId64"/>
    <p:sldId id="439" r:id="rId65"/>
    <p:sldId id="440" r:id="rId66"/>
    <p:sldId id="441" r:id="rId6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orient="horz" pos="51">
          <p15:clr>
            <a:srgbClr val="A4A3A4"/>
          </p15:clr>
        </p15:guide>
        <p15:guide id="3" orient="horz" pos="4264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pos="2882">
          <p15:clr>
            <a:srgbClr val="A4A3A4"/>
          </p15:clr>
        </p15:guide>
        <p15:guide id="6" pos="162">
          <p15:clr>
            <a:srgbClr val="A4A3A4"/>
          </p15:clr>
        </p15:guide>
        <p15:guide id="7" pos="5603">
          <p15:clr>
            <a:srgbClr val="A4A3A4"/>
          </p15:clr>
        </p15:guide>
        <p15:guide id="8" pos="6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179" autoAdjust="0"/>
  </p:normalViewPr>
  <p:slideViewPr>
    <p:cSldViewPr snapToGrid="0" showGuides="1">
      <p:cViewPr varScale="1">
        <p:scale>
          <a:sx n="67" d="100"/>
          <a:sy n="67" d="100"/>
        </p:scale>
        <p:origin x="594" y="78"/>
      </p:cViewPr>
      <p:guideLst>
        <p:guide orient="horz" pos="2183"/>
        <p:guide orient="horz" pos="51"/>
        <p:guide orient="horz" pos="4264"/>
        <p:guide orient="horz" pos="391"/>
        <p:guide pos="2882"/>
        <p:guide pos="162"/>
        <p:guide pos="5603"/>
        <p:guide pos="6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DA3C6568-CF85-4B1B-9999-051A52EA0DC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2560AAC3-774E-4DF2-BF54-60803D0AB65A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7210719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635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14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840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8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r>
              <a:rPr lang="zh-CN" altLang="en-US"/>
              <a:t>断点保护、现场保护</a:t>
            </a: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009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76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540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398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699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8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359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99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59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r>
              <a:rPr lang="zh-CN" altLang="en-US" b="0" dirty="0"/>
              <a:t>软件判断</a:t>
            </a:r>
            <a:r>
              <a:rPr lang="en-US" altLang="zh-CN" b="0" dirty="0"/>
              <a:t>RI</a:t>
            </a:r>
            <a:r>
              <a:rPr lang="zh-CN" altLang="en-US" b="0" dirty="0"/>
              <a:t>、</a:t>
            </a:r>
            <a:r>
              <a:rPr lang="en-US" altLang="zh-CN" b="0" dirty="0"/>
              <a:t>TI</a:t>
            </a:r>
            <a:r>
              <a:rPr lang="zh-CN" altLang="en-US" b="0" dirty="0"/>
              <a:t>请求标志位</a:t>
            </a: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31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9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18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42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19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042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096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20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249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301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67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971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710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11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045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222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195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427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7458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632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28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086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837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83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29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969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30051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0052" name="灯片编号占位符 3"/>
          <p:cNvSpPr>
            <a:spLocks noGrp="1"/>
          </p:cNvSpPr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30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43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8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252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553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0411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758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758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326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7065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372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7270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27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38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243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7475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39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652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7680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40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3037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7885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88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985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8192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691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8397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9494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8601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3531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8806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6575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011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7460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216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48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8537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421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42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7118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625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62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50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5906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9830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83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933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0035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035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9287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0240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240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0095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0445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4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184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28003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8004" name="灯片编号占位符 3"/>
          <p:cNvSpPr>
            <a:spLocks noGrp="1"/>
          </p:cNvSpPr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1266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0752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75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57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6426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0957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95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58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23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161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16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59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0607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366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60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093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571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571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61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1837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7762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77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62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943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19810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98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944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21858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18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64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6199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23906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39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65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8807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25954" name="备注占位符 2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595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66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72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 fontAlgn="base"/>
            <a:r>
              <a:rPr lang="zh-CN" altLang="en-US" strike="noStrike" noProof="0" smtClean="0"/>
              <a:t>单击图标添加图片</a:t>
            </a:r>
            <a:endParaRPr lang="en-US" strike="noStrike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D66633BC-E5E6-4455-9451-C2FCF8419F10}" type="datetimeFigureOut">
              <a:rPr lang="zh-CN" altLang="en-US" strike="noStrike" noProof="1">
                <a:latin typeface="+mn-lt"/>
                <a:ea typeface="+mn-ea"/>
                <a:cs typeface="+mn-cs"/>
              </a:rPr>
              <a:t>2022/5/25</a:t>
            </a:fld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auto">
              <a:defRPr/>
            </a:pPr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auto">
              <a:defRPr/>
            </a:pPr>
            <a:fld id="{3650572A-2B93-449D-8D56-0AE79C4D0457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2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4" Type="http://schemas.openxmlformats.org/officeDocument/2006/relationships/image" Target="../media/image2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4" Type="http://schemas.openxmlformats.org/officeDocument/2006/relationships/image" Target="../media/image2.tif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if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tif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tiff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文本框 5"/>
          <p:cNvSpPr txBox="1"/>
          <p:nvPr/>
        </p:nvSpPr>
        <p:spPr>
          <a:xfrm>
            <a:off x="971550" y="1685925"/>
            <a:ext cx="7921625" cy="461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sp>
        <p:nvSpPr>
          <p:cNvPr id="3074" name="文本框 6"/>
          <p:cNvSpPr txBox="1"/>
          <p:nvPr/>
        </p:nvSpPr>
        <p:spPr>
          <a:xfrm>
            <a:off x="268288" y="744538"/>
            <a:ext cx="8624887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MCS-51单片机的中断系统</a:t>
            </a:r>
          </a:p>
        </p:txBody>
      </p:sp>
      <p:pic>
        <p:nvPicPr>
          <p:cNvPr id="307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701800"/>
            <a:ext cx="7921625" cy="461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 5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个中断源及其中断入口地址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的结构、控制和设置方法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中断优先控制的方法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中断应用程序的编程方法</a:t>
            </a:r>
          </a:p>
        </p:txBody>
      </p:sp>
      <p:sp>
        <p:nvSpPr>
          <p:cNvPr id="5122" name="文本框 6"/>
          <p:cNvSpPr txBox="1"/>
          <p:nvPr/>
        </p:nvSpPr>
        <p:spPr>
          <a:xfrm>
            <a:off x="268288" y="744538"/>
            <a:ext cx="8624887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MCS-51单片机的中断系统</a:t>
            </a:r>
          </a:p>
        </p:txBody>
      </p:sp>
      <p:pic>
        <p:nvPicPr>
          <p:cNvPr id="512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717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4467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思考：</a:t>
            </a:r>
            <a:endParaRPr lang="en-US" altLang="zh-CN" sz="2400" b="1" noProof="1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l"/>
            </a:pP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快速</a:t>
            </a:r>
            <a:r>
              <a:rPr lang="en-US" altLang="zh-CN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与慢速外设如何进行信息交换？</a:t>
            </a:r>
            <a:endParaRPr lang="en-US" altLang="zh-CN" sz="20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l"/>
            </a:pP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单片机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如何实时处理随机突发事件？</a:t>
            </a:r>
            <a:endParaRPr lang="en-US" altLang="zh-CN" sz="20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FF"/>
              </a:buClr>
              <a:buFont typeface="Wingdings" panose="05000000000000000000" pitchFamily="2" charset="2"/>
              <a:buChar char="l"/>
            </a:pP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为什么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要在计算机系统中引入中断技术？</a:t>
            </a:r>
            <a:endParaRPr lang="en-US" altLang="zh-CN" sz="20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lang="en-US" altLang="zh-CN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与外围设备交换信息时，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存在①</a:t>
            </a:r>
            <a:r>
              <a:rPr lang="zh-CN" altLang="en-US" sz="2000" noProof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</a:t>
            </a:r>
            <a:r>
              <a:rPr lang="en-US" altLang="zh-CN" sz="20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与慢速外围设备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矛盾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②系统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内部也会发生一些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随机事件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，为此，计算机系统通常采用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中断技术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000" noProof="1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技术不仅可以</a:t>
            </a:r>
            <a:r>
              <a:rPr lang="zh-CN" altLang="en-US" sz="20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实时处理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控制现场的随机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突发事件，而且解决了</a:t>
            </a:r>
            <a:r>
              <a:rPr lang="en-US" altLang="zh-CN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外围设备间</a:t>
            </a:r>
            <a:r>
              <a:rPr lang="zh-CN" altLang="en-US" sz="20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速度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匹配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r>
              <a:rPr lang="zh-CN" altLang="en-US" sz="2000" noProof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，极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大地提高了计算机的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工作效率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。因此，中断系统在计算机控制系统中得到广泛的应用。</a:t>
            </a:r>
            <a:endParaRPr lang="zh-CN" altLang="en-US" sz="20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n"/>
            </a:pP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中断技术的</a:t>
            </a:r>
            <a:r>
              <a:rPr lang="zh-CN" altLang="en-US" sz="2000" b="1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优点</a:t>
            </a: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lang="zh-CN" altLang="en-US" sz="20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zh-CN" altLang="en-US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实现分时操作、具有实时处理能力、具有故障处理能力</a:t>
            </a:r>
            <a:r>
              <a:rPr lang="en-US" altLang="zh-CN" sz="20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lang="en-US" altLang="zh-CN" sz="240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lang="zh-CN" altLang="en-US" sz="2400" noProof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4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</p:txBody>
      </p:sp>
      <p:pic>
        <p:nvPicPr>
          <p:cNvPr id="819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1"/>
          <p:cNvSpPr txBox="1"/>
          <p:nvPr/>
        </p:nvSpPr>
        <p:spPr>
          <a:xfrm>
            <a:off x="257175" y="736600"/>
            <a:ext cx="8636000" cy="392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中断及中断源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正在执行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某一段程序的过程中，如果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发生了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紧急事件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，要求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正在运行的程序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处理这个紧急事件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，待处理完后再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回到原来被停止执行程序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的间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原来被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打断的程序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的过程。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实现这种功能的机构称为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，产生中断的请求源叫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2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</p:txBody>
      </p:sp>
      <p:pic>
        <p:nvPicPr>
          <p:cNvPr id="1024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263" y="4097338"/>
            <a:ext cx="1616075" cy="2655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5" name="矩形 3"/>
          <p:cNvSpPr/>
          <p:nvPr/>
        </p:nvSpPr>
        <p:spPr>
          <a:xfrm>
            <a:off x="2436813" y="5789613"/>
            <a:ext cx="2722562" cy="498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4-1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中断结构示意图</a:t>
            </a:r>
          </a:p>
        </p:txBody>
      </p:sp>
      <p:pic>
        <p:nvPicPr>
          <p:cNvPr id="10246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文本框 1"/>
          <p:cNvSpPr txBox="1"/>
          <p:nvPr/>
        </p:nvSpPr>
        <p:spPr>
          <a:xfrm>
            <a:off x="257175" y="736600"/>
            <a:ext cx="8636000" cy="3378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中断嵌套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正在处理一个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低优先级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中断请求的时候，如果发生一个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高优先级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的中断请求，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暂停正在处理中断源的处理程序，转而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处理高优先级的中断请求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，待处理完之后，再回到原来正在处理的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低优先级中断程序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，这种高优先级中断源打断低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优先级中断源的中断处理称为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中断嵌套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0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</p:txBody>
      </p:sp>
      <p:pic>
        <p:nvPicPr>
          <p:cNvPr id="1229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1"/>
          <p:cNvSpPr txBox="1"/>
          <p:nvPr/>
        </p:nvSpPr>
        <p:spPr>
          <a:xfrm>
            <a:off x="257175" y="736600"/>
            <a:ext cx="86360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中断嵌套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单片机内部有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个中断源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，提供</a:t>
            </a:r>
            <a:r>
              <a:rPr lang="zh-CN" altLang="en-US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，能实现</a:t>
            </a:r>
            <a:r>
              <a:rPr lang="zh-CN" altLang="en-US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两级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中断嵌套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的高低都可以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通过编程来设定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8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</p:txBody>
      </p:sp>
      <p:pic>
        <p:nvPicPr>
          <p:cNvPr id="1433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188" y="2925763"/>
            <a:ext cx="3086100" cy="3313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1" name="矩形 3"/>
          <p:cNvSpPr/>
          <p:nvPr/>
        </p:nvSpPr>
        <p:spPr>
          <a:xfrm>
            <a:off x="3338513" y="6200775"/>
            <a:ext cx="2466975" cy="5000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4-2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中断嵌套流程</a:t>
            </a:r>
          </a:p>
        </p:txBody>
      </p:sp>
      <p:pic>
        <p:nvPicPr>
          <p:cNvPr id="14342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6386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88" y="1417638"/>
            <a:ext cx="8636000" cy="442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文本框 1"/>
          <p:cNvSpPr txBox="1"/>
          <p:nvPr/>
        </p:nvSpPr>
        <p:spPr>
          <a:xfrm>
            <a:off x="257175" y="736600"/>
            <a:ext cx="8636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MCS-52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系列单片机的中断系统如图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4-3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</a:p>
        </p:txBody>
      </p:sp>
      <p:sp>
        <p:nvSpPr>
          <p:cNvPr id="1741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17412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矩形 9"/>
          <p:cNvSpPr/>
          <p:nvPr/>
        </p:nvSpPr>
        <p:spPr>
          <a:xfrm>
            <a:off x="2206609" y="5921375"/>
            <a:ext cx="4730782" cy="55399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4-3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MCS-52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单片机的中断系统图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68288" y="1955800"/>
            <a:ext cx="773113" cy="331470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7" name="文本框 6"/>
          <p:cNvSpPr txBox="1"/>
          <p:nvPr/>
        </p:nvSpPr>
        <p:spPr>
          <a:xfrm>
            <a:off x="215900" y="5414963"/>
            <a:ext cx="8778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1138238" y="1958975"/>
            <a:ext cx="774700" cy="331470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12" name="文本框 11"/>
          <p:cNvSpPr txBox="1"/>
          <p:nvPr/>
        </p:nvSpPr>
        <p:spPr>
          <a:xfrm>
            <a:off x="1087438" y="5418138"/>
            <a:ext cx="1338262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外部中断触</a:t>
            </a:r>
            <a:endParaRPr lang="en-US" altLang="zh-CN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发方式选择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2865438" y="1624013"/>
            <a:ext cx="773113" cy="357505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14" name="文本框 13"/>
          <p:cNvSpPr txBox="1"/>
          <p:nvPr/>
        </p:nvSpPr>
        <p:spPr>
          <a:xfrm>
            <a:off x="2813050" y="5418138"/>
            <a:ext cx="877888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</a:t>
            </a:r>
            <a:endParaRPr lang="en-US" altLang="zh-CN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求标志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994150" y="1624013"/>
            <a:ext cx="1268413" cy="357505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16" name="文本框 15"/>
          <p:cNvSpPr txBox="1"/>
          <p:nvPr/>
        </p:nvSpPr>
        <p:spPr>
          <a:xfrm>
            <a:off x="4078288" y="56197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中断允许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397500" y="1627188"/>
            <a:ext cx="1077913" cy="357505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20" name="文本框 19"/>
          <p:cNvSpPr txBox="1"/>
          <p:nvPr/>
        </p:nvSpPr>
        <p:spPr>
          <a:xfrm>
            <a:off x="5237163" y="5613400"/>
            <a:ext cx="13398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</a:t>
            </a:r>
          </a:p>
        </p:txBody>
      </p:sp>
      <p:pic>
        <p:nvPicPr>
          <p:cNvPr id="17424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4.2.1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中断源和中断请求标志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MCS-51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系列单片机有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个中断源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和其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相应的控制寄存器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中断源</a:t>
                </a:r>
                <a:endParaRPr lang="en-US" altLang="zh-CN" sz="2400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MSC-51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系列单片机的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个中断源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，包括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外部中断源和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内部中断源。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个外部中断源是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; 3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个内部中断源是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中断、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定时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计数器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中断、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串行口的发送和接收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(TI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RI)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 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外部中断请求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有两种触发方式，即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电平触发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方式和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边沿触发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方式。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MSC-51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系列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单片机对每一个中断源都对应一个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中断请求标志位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，通过设置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SFR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TCON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SCON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实现。</a:t>
                </a: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1059" r="-4658" b="-1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9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中断源和中断请求标志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TCON</a:t>
            </a: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</a:t>
            </a:r>
            <a:endParaRPr lang="en-US" altLang="zh-CN" sz="2400" noProof="1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TCON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400" noProof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en-US" altLang="zh-CN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T1)</a:t>
            </a:r>
            <a:r>
              <a:rPr lang="zh-CN" altLang="en-US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400" u="sng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，同时也用来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锁存</a:t>
            </a:r>
            <a:r>
              <a:rPr lang="en-US" altLang="zh-CN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溢出中断请求</a:t>
            </a:r>
            <a:r>
              <a:rPr lang="zh-CN" altLang="en-US" sz="2400" u="sng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标志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外部中断请求</a:t>
            </a:r>
            <a:r>
              <a:rPr lang="zh-CN" altLang="en-US" sz="2400" u="sng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标志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 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TCON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寄存器中与中断有关的位如图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4-4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所示。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6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2150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2336800" y="5695950"/>
            <a:ext cx="4470400" cy="5000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4-4 TCON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寄存器中与中断有关的位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4"/>
          <p:cNvGrpSpPr/>
          <p:nvPr/>
        </p:nvGrpSpPr>
        <p:grpSpPr>
          <a:xfrm>
            <a:off x="563563" y="4210050"/>
            <a:ext cx="8001000" cy="1379538"/>
            <a:chOff x="144" y="2483"/>
            <a:chExt cx="5040" cy="869"/>
          </a:xfrm>
        </p:grpSpPr>
        <p:sp>
          <p:nvSpPr>
            <p:cNvPr id="21510" name="Rectangle 5"/>
            <p:cNvSpPr/>
            <p:nvPr/>
          </p:nvSpPr>
          <p:spPr>
            <a:xfrm>
              <a:off x="960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TF1</a:t>
              </a:r>
            </a:p>
          </p:txBody>
        </p:sp>
        <p:sp>
          <p:nvSpPr>
            <p:cNvPr id="21511" name="Rectangle 6"/>
            <p:cNvSpPr/>
            <p:nvPr/>
          </p:nvSpPr>
          <p:spPr>
            <a:xfrm>
              <a:off x="1488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12" name="Rectangle 7"/>
            <p:cNvSpPr/>
            <p:nvPr/>
          </p:nvSpPr>
          <p:spPr>
            <a:xfrm>
              <a:off x="2016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TF0</a:t>
              </a:r>
            </a:p>
          </p:txBody>
        </p:sp>
        <p:sp>
          <p:nvSpPr>
            <p:cNvPr id="21513" name="Rectangle 8"/>
            <p:cNvSpPr/>
            <p:nvPr/>
          </p:nvSpPr>
          <p:spPr>
            <a:xfrm>
              <a:off x="2544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14" name="Rectangle 9"/>
            <p:cNvSpPr/>
            <p:nvPr/>
          </p:nvSpPr>
          <p:spPr>
            <a:xfrm>
              <a:off x="3072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IE1</a:t>
              </a:r>
            </a:p>
          </p:txBody>
        </p:sp>
        <p:sp>
          <p:nvSpPr>
            <p:cNvPr id="21515" name="Rectangle 10"/>
            <p:cNvSpPr/>
            <p:nvPr/>
          </p:nvSpPr>
          <p:spPr>
            <a:xfrm>
              <a:off x="3600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IT1</a:t>
              </a:r>
            </a:p>
          </p:txBody>
        </p:sp>
        <p:sp>
          <p:nvSpPr>
            <p:cNvPr id="21516" name="Rectangle 11"/>
            <p:cNvSpPr/>
            <p:nvPr/>
          </p:nvSpPr>
          <p:spPr>
            <a:xfrm>
              <a:off x="4128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IE0</a:t>
              </a:r>
            </a:p>
          </p:txBody>
        </p:sp>
        <p:sp>
          <p:nvSpPr>
            <p:cNvPr id="21517" name="Rectangle 12"/>
            <p:cNvSpPr/>
            <p:nvPr/>
          </p:nvSpPr>
          <p:spPr>
            <a:xfrm>
              <a:off x="4656" y="2819"/>
              <a:ext cx="528" cy="52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IT0</a:t>
              </a:r>
            </a:p>
          </p:txBody>
        </p:sp>
        <p:sp>
          <p:nvSpPr>
            <p:cNvPr id="21518" name="Text Box 13"/>
            <p:cNvSpPr txBox="1"/>
            <p:nvPr/>
          </p:nvSpPr>
          <p:spPr>
            <a:xfrm>
              <a:off x="144" y="2867"/>
              <a:ext cx="720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 dirty="0">
                  <a:solidFill>
                    <a:srgbClr val="66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TCON</a:t>
              </a:r>
            </a:p>
            <a:p>
              <a:r>
                <a:rPr lang="en-US" altLang="zh-CN" sz="2200" dirty="0" smtClean="0">
                  <a:solidFill>
                    <a:srgbClr val="66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200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88H</a:t>
              </a:r>
              <a:r>
                <a:rPr lang="en-US" altLang="zh-CN" sz="2200" dirty="0" smtClean="0">
                  <a:solidFill>
                    <a:srgbClr val="66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19" name="Text Box 14"/>
            <p:cNvSpPr txBox="1"/>
            <p:nvPr/>
          </p:nvSpPr>
          <p:spPr>
            <a:xfrm>
              <a:off x="1008" y="2483"/>
              <a:ext cx="4146" cy="27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>
                  <a:solidFill>
                    <a:srgbClr val="66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8FH   8EH   8DH    8CH   8BH   8AH   89H    88H</a:t>
              </a:r>
              <a:endPara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2720975" y="4943475"/>
            <a:ext cx="755650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TR1</a:t>
            </a:r>
          </a:p>
        </p:txBody>
      </p:sp>
      <p:sp>
        <p:nvSpPr>
          <p:cNvPr id="21" name="矩形 20"/>
          <p:cNvSpPr/>
          <p:nvPr/>
        </p:nvSpPr>
        <p:spPr>
          <a:xfrm>
            <a:off x="4414838" y="4943475"/>
            <a:ext cx="754062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TR0</a:t>
            </a:r>
          </a:p>
        </p:txBody>
      </p:sp>
      <p:pic>
        <p:nvPicPr>
          <p:cNvPr id="215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761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中断源和中断请求标志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各控制的定义：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：定时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溢出中断请求标志位。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 Full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当启动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计数后，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从初值开始加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，计数器最高位产生溢出时，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，并向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发出中断请求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响应中断时，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将自动对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：定时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溢出中断请求标志位。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类同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：外部中断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(P3.3)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中断请求标志。 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Interrupt  Enable 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当检测到外部中断引脚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上存在有效的中断请求信号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硬件使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响应中断请求时，由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</a:t>
            </a: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</a:t>
            </a:r>
            <a:r>
              <a:rPr lang="zh-CN" altLang="en-US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4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2355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2560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7615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中断源和中断请求标志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各控制的定义：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：外部中断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(P3.2)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中断请求标志，其含义与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类同。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：外部中断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中断触发方式控制位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Interrupt Trigger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IT1=0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程控为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电平触发方式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在每一个机器周期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S5P2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外部中断请求引脚的输入电平。若外部中断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；若为高电平，则使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IT1=1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程控为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边沿触发方式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在每一个机器周期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S5P2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外部中断请求引脚的输入电平。如果在相继的两个机器周期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过程中，一个机器周期采样到外部中断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请求引脚为高电平，接着的下一个机器周期采样到为低电平，则使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。直到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响应该中断时，才由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2765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257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中断源和中断请求标志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各控制的定义：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：外部中断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中断触发方式控制位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。其含义与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类同。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：定时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的运行控制位，通过软件置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后，定时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计数器才开始工作，在系统复位时清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20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0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000" u="sng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：定时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的运行控制位，其含义与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类同。</a:t>
            </a:r>
          </a:p>
          <a:p>
            <a:pPr algn="just">
              <a:lnSpc>
                <a:spcPct val="150000"/>
              </a:lnSpc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为了保证检测的可靠性，低电平或高电平的宽度至少要保持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一个机器周期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个时钟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振荡周期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以上。</a:t>
            </a:r>
          </a:p>
        </p:txBody>
      </p:sp>
      <p:pic>
        <p:nvPicPr>
          <p:cNvPr id="2765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中断源和中断请求标志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SCON</a:t>
            </a: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</a:t>
            </a:r>
            <a:endParaRPr lang="en-US" altLang="zh-CN" sz="2400" noProof="1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SCON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lang="zh-CN" altLang="en-US" sz="24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串行口控制寄存器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，其中的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低两位用作串行口中断请求标志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 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SCON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的格式如图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4-5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所示。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8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2969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矩形 2"/>
          <p:cNvSpPr/>
          <p:nvPr/>
        </p:nvSpPr>
        <p:spPr>
          <a:xfrm>
            <a:off x="3360738" y="5254625"/>
            <a:ext cx="2428875" cy="5000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4-5 SCON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的格式</a:t>
            </a:r>
          </a:p>
        </p:txBody>
      </p:sp>
      <p:grpSp>
        <p:nvGrpSpPr>
          <p:cNvPr id="29701" name="Group 4"/>
          <p:cNvGrpSpPr/>
          <p:nvPr/>
        </p:nvGrpSpPr>
        <p:grpSpPr>
          <a:xfrm>
            <a:off x="577850" y="3751263"/>
            <a:ext cx="8001000" cy="1379537"/>
            <a:chOff x="144" y="2211"/>
            <a:chExt cx="5040" cy="869"/>
          </a:xfrm>
        </p:grpSpPr>
        <p:sp>
          <p:nvSpPr>
            <p:cNvPr id="29702" name="Rectangle 5"/>
            <p:cNvSpPr/>
            <p:nvPr/>
          </p:nvSpPr>
          <p:spPr>
            <a:xfrm>
              <a:off x="960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3" name="Rectangle 6"/>
            <p:cNvSpPr/>
            <p:nvPr/>
          </p:nvSpPr>
          <p:spPr>
            <a:xfrm>
              <a:off x="1488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4" name="Rectangle 7"/>
            <p:cNvSpPr/>
            <p:nvPr/>
          </p:nvSpPr>
          <p:spPr>
            <a:xfrm>
              <a:off x="2016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5" name="Rectangle 8"/>
            <p:cNvSpPr/>
            <p:nvPr/>
          </p:nvSpPr>
          <p:spPr>
            <a:xfrm>
              <a:off x="2544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6" name="Rectangle 9"/>
            <p:cNvSpPr/>
            <p:nvPr/>
          </p:nvSpPr>
          <p:spPr>
            <a:xfrm>
              <a:off x="3072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7" name="Rectangle 10"/>
            <p:cNvSpPr/>
            <p:nvPr/>
          </p:nvSpPr>
          <p:spPr>
            <a:xfrm>
              <a:off x="3600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08" name="Rectangle 11"/>
            <p:cNvSpPr/>
            <p:nvPr/>
          </p:nvSpPr>
          <p:spPr>
            <a:xfrm>
              <a:off x="4128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TI</a:t>
              </a:r>
            </a:p>
          </p:txBody>
        </p:sp>
        <p:sp>
          <p:nvSpPr>
            <p:cNvPr id="29709" name="Rectangle 12"/>
            <p:cNvSpPr/>
            <p:nvPr/>
          </p:nvSpPr>
          <p:spPr>
            <a:xfrm>
              <a:off x="4656" y="2547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RI</a:t>
              </a:r>
            </a:p>
          </p:txBody>
        </p:sp>
        <p:sp>
          <p:nvSpPr>
            <p:cNvPr id="29710" name="Text Box 13"/>
            <p:cNvSpPr txBox="1"/>
            <p:nvPr/>
          </p:nvSpPr>
          <p:spPr>
            <a:xfrm>
              <a:off x="144" y="2595"/>
              <a:ext cx="730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SCON</a:t>
              </a:r>
            </a:p>
            <a:p>
              <a:r>
                <a:rPr lang="en-US" altLang="zh-CN" sz="2200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200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98H</a:t>
              </a:r>
              <a:r>
                <a:rPr lang="en-US" altLang="zh-CN" sz="2200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11" name="Text Box 14"/>
            <p:cNvSpPr txBox="1"/>
            <p:nvPr/>
          </p:nvSpPr>
          <p:spPr>
            <a:xfrm>
              <a:off x="912" y="2211"/>
              <a:ext cx="425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9FH    9EH   9DH    9CH   9BH   9AH    99H    98H</a:t>
              </a:r>
            </a:p>
          </p:txBody>
        </p:sp>
      </p:grpSp>
      <p:sp>
        <p:nvSpPr>
          <p:cNvPr id="29712" name="Rectangle 11"/>
          <p:cNvSpPr/>
          <p:nvPr/>
        </p:nvSpPr>
        <p:spPr>
          <a:xfrm>
            <a:off x="1873250" y="4281488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SM0</a:t>
            </a:r>
          </a:p>
        </p:txBody>
      </p:sp>
      <p:sp>
        <p:nvSpPr>
          <p:cNvPr id="29713" name="Rectangle 11"/>
          <p:cNvSpPr/>
          <p:nvPr/>
        </p:nvSpPr>
        <p:spPr>
          <a:xfrm>
            <a:off x="2709863" y="4281488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SM1</a:t>
            </a:r>
          </a:p>
        </p:txBody>
      </p:sp>
      <p:sp>
        <p:nvSpPr>
          <p:cNvPr id="29714" name="Rectangle 11"/>
          <p:cNvSpPr/>
          <p:nvPr/>
        </p:nvSpPr>
        <p:spPr>
          <a:xfrm>
            <a:off x="3544888" y="4281488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SM2</a:t>
            </a:r>
          </a:p>
        </p:txBody>
      </p:sp>
      <p:sp>
        <p:nvSpPr>
          <p:cNvPr id="29715" name="Rectangle 11"/>
          <p:cNvSpPr/>
          <p:nvPr/>
        </p:nvSpPr>
        <p:spPr>
          <a:xfrm>
            <a:off x="4387850" y="4281488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</a:t>
            </a:r>
          </a:p>
        </p:txBody>
      </p:sp>
      <p:sp>
        <p:nvSpPr>
          <p:cNvPr id="29716" name="Rectangle 11"/>
          <p:cNvSpPr/>
          <p:nvPr/>
        </p:nvSpPr>
        <p:spPr>
          <a:xfrm>
            <a:off x="5227638" y="4284663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TB8</a:t>
            </a:r>
          </a:p>
        </p:txBody>
      </p:sp>
      <p:sp>
        <p:nvSpPr>
          <p:cNvPr id="29717" name="Rectangle 11"/>
          <p:cNvSpPr/>
          <p:nvPr/>
        </p:nvSpPr>
        <p:spPr>
          <a:xfrm>
            <a:off x="6067425" y="4284663"/>
            <a:ext cx="8382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20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RB8</a:t>
            </a:r>
          </a:p>
        </p:txBody>
      </p:sp>
      <p:pic>
        <p:nvPicPr>
          <p:cNvPr id="29718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591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中断源和中断请求标志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240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各控制位的含义：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串行口发送中断请求标志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en-US" altLang="zh-CN" sz="240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Transmit    Interrupt</a:t>
            </a:r>
          </a:p>
          <a:p>
            <a:pPr algn="just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将一个数据写入发送缓冲器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SBUF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时，就启动发送。每发送完一帧串行数据后，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硬件置位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响应中断时，并不清除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，必须在中断服务程序中由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软件对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串行口接收中断请求标志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  Interrupt</a:t>
            </a:r>
          </a:p>
          <a:p>
            <a:pPr algn="just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在串行口允许接收时，每接收完一个串行帧，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硬件置位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。同样，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响应中断时不会清除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，必须在中断服务程序中由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软件对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746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3174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中断源和中断请求标志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SCON</a:t>
            </a: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寄存器</a:t>
            </a:r>
            <a:endParaRPr lang="en-US" altLang="zh-CN" sz="2400" noProof="1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各控制位的含义：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SM0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SM1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：串行口工作方式选择位。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SM2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：多机通信控制位。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：允许接收控制位。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TB8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：方式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和方式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中发送数据的第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位，可以由软件定义。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RB8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：方式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和方式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中接收数据的第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lang="zh-CN" altLang="en-US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4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3379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文本框 1"/>
          <p:cNvSpPr txBox="1"/>
          <p:nvPr/>
        </p:nvSpPr>
        <p:spPr>
          <a:xfrm>
            <a:off x="257175" y="736600"/>
            <a:ext cx="8636000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中断允许控制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单片机中断系统中，中断的允许或禁止是由片内的中断允许寄存器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控制的。 其格式如图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4-6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2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3584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矩形 19"/>
          <p:cNvSpPr/>
          <p:nvPr/>
        </p:nvSpPr>
        <p:spPr>
          <a:xfrm>
            <a:off x="2720975" y="3636963"/>
            <a:ext cx="3709988" cy="554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4-6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中断允许寄存器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的格式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4000" y="4089400"/>
            <a:ext cx="8636000" cy="256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中断允许寄存器</a:t>
            </a: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各位含义：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中断允许总控制位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，屏蔽所有的中断请求；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开放中断。对各中断源的中断请求是否</a:t>
            </a:r>
            <a:r>
              <a:rPr lang="zh-CN" altLang="en-US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允许，还要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取决于各中断源的中断允许控制位的</a:t>
            </a:r>
            <a:r>
              <a:rPr lang="zh-CN" altLang="en-US" sz="24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状态，即</a:t>
            </a:r>
            <a:r>
              <a:rPr lang="zh-CN" altLang="en-US" sz="24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级控制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95453" y="2543176"/>
            <a:ext cx="7916735" cy="1124413"/>
            <a:chOff x="823959" y="2542399"/>
            <a:chExt cx="7917912" cy="1125090"/>
          </a:xfrm>
        </p:grpSpPr>
        <p:grpSp>
          <p:nvGrpSpPr>
            <p:cNvPr id="35847" name="Group 4"/>
            <p:cNvGrpSpPr/>
            <p:nvPr/>
          </p:nvGrpSpPr>
          <p:grpSpPr>
            <a:xfrm>
              <a:off x="1985471" y="2542399"/>
              <a:ext cx="6756400" cy="1020763"/>
              <a:chOff x="960" y="1536"/>
              <a:chExt cx="4256" cy="864"/>
            </a:xfrm>
          </p:grpSpPr>
          <p:sp>
            <p:nvSpPr>
              <p:cNvPr id="35848" name="Rectangle 5"/>
              <p:cNvSpPr/>
              <p:nvPr/>
            </p:nvSpPr>
            <p:spPr>
              <a:xfrm>
                <a:off x="960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EA</a:t>
                </a:r>
              </a:p>
            </p:txBody>
          </p:sp>
          <p:sp>
            <p:nvSpPr>
              <p:cNvPr id="35849" name="Rectangle 6"/>
              <p:cNvSpPr/>
              <p:nvPr/>
            </p:nvSpPr>
            <p:spPr>
              <a:xfrm>
                <a:off x="1488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50" name="Rectangle 7"/>
              <p:cNvSpPr/>
              <p:nvPr/>
            </p:nvSpPr>
            <p:spPr>
              <a:xfrm>
                <a:off x="2016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solidFill>
                      <a:srgbClr val="00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ET2</a:t>
                </a:r>
              </a:p>
            </p:txBody>
          </p:sp>
          <p:sp>
            <p:nvSpPr>
              <p:cNvPr id="35851" name="Rectangle 8"/>
              <p:cNvSpPr/>
              <p:nvPr/>
            </p:nvSpPr>
            <p:spPr>
              <a:xfrm>
                <a:off x="2544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ES</a:t>
                </a:r>
              </a:p>
            </p:txBody>
          </p:sp>
          <p:sp>
            <p:nvSpPr>
              <p:cNvPr id="35852" name="Rectangle 9"/>
              <p:cNvSpPr/>
              <p:nvPr/>
            </p:nvSpPr>
            <p:spPr>
              <a:xfrm>
                <a:off x="3072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ET1</a:t>
                </a:r>
              </a:p>
            </p:txBody>
          </p:sp>
          <p:sp>
            <p:nvSpPr>
              <p:cNvPr id="35853" name="Rectangle 10"/>
              <p:cNvSpPr/>
              <p:nvPr/>
            </p:nvSpPr>
            <p:spPr>
              <a:xfrm>
                <a:off x="3600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EX1</a:t>
                </a:r>
              </a:p>
            </p:txBody>
          </p:sp>
          <p:sp>
            <p:nvSpPr>
              <p:cNvPr id="35854" name="Rectangle 11"/>
              <p:cNvSpPr/>
              <p:nvPr/>
            </p:nvSpPr>
            <p:spPr>
              <a:xfrm>
                <a:off x="4128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ET0</a:t>
                </a:r>
              </a:p>
            </p:txBody>
          </p:sp>
          <p:sp>
            <p:nvSpPr>
              <p:cNvPr id="35855" name="Rectangle 12"/>
              <p:cNvSpPr/>
              <p:nvPr/>
            </p:nvSpPr>
            <p:spPr>
              <a:xfrm>
                <a:off x="4656" y="1872"/>
                <a:ext cx="528" cy="52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EX0</a:t>
                </a:r>
              </a:p>
            </p:txBody>
          </p:sp>
          <p:sp>
            <p:nvSpPr>
              <p:cNvPr id="35856" name="Text Box 13"/>
              <p:cNvSpPr txBox="1"/>
              <p:nvPr/>
            </p:nvSpPr>
            <p:spPr>
              <a:xfrm>
                <a:off x="1008" y="1536"/>
                <a:ext cx="420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20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AFH   AEH   ADH   ACH   ABH  AAH    A9H   A8H</a:t>
                </a:r>
                <a:endPara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5857" name="Text Box 13"/>
            <p:cNvSpPr txBox="1"/>
            <p:nvPr/>
          </p:nvSpPr>
          <p:spPr>
            <a:xfrm>
              <a:off x="823959" y="2897585"/>
              <a:ext cx="955852" cy="769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</a:t>
              </a:r>
            </a:p>
            <a:p>
              <a:pPr algn="ctr"/>
              <a:r>
                <a:rPr lang="en-US" altLang="zh-CN" sz="2200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200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A8H</a:t>
              </a:r>
              <a:r>
                <a:rPr lang="en-US" altLang="zh-CN" sz="2200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5858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中断允许控制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中断允许寄存器</a:t>
            </a: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各位含义：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ES—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串行口中断允许位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Enable Serial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ES=0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，禁止串行口中断；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ES=1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，允许串行口中断。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ET1—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的溢出中断允许位。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Enable Timer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ET1=0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，禁止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ET1=1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EX1—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的溢出中断允许位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Enable External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EX1=0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，禁止外部中断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EX1=1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890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3789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970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中断允许控制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中断允许寄存器</a:t>
            </a: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各位含义：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ET0—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的溢出中断允许位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ET0=0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，禁止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中断；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ET0=1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EX0—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的溢出中断允许位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EX0=0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，禁止外部中断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EX0=1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8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3993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文本框 1"/>
          <p:cNvSpPr txBox="1"/>
          <p:nvPr/>
        </p:nvSpPr>
        <p:spPr>
          <a:xfrm>
            <a:off x="257175" y="736600"/>
            <a:ext cx="8636000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中断优先级控制 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Interrupt Priority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系列单片机的中断优先级是由中断优先级寄存器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控制的。其格式如图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4-7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</a:p>
        </p:txBody>
      </p:sp>
      <p:sp>
        <p:nvSpPr>
          <p:cNvPr id="41986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4198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" name="Group 4"/>
          <p:cNvGrpSpPr/>
          <p:nvPr/>
        </p:nvGrpSpPr>
        <p:grpSpPr>
          <a:xfrm>
            <a:off x="546100" y="2640013"/>
            <a:ext cx="8001000" cy="1379537"/>
            <a:chOff x="144" y="1536"/>
            <a:chExt cx="5040" cy="869"/>
          </a:xfrm>
        </p:grpSpPr>
        <p:sp>
          <p:nvSpPr>
            <p:cNvPr id="41989" name="Rectangle 5"/>
            <p:cNvSpPr/>
            <p:nvPr/>
          </p:nvSpPr>
          <p:spPr>
            <a:xfrm>
              <a:off x="960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90" name="Rectangle 6"/>
            <p:cNvSpPr/>
            <p:nvPr/>
          </p:nvSpPr>
          <p:spPr>
            <a:xfrm>
              <a:off x="1488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91" name="Rectangle 7"/>
            <p:cNvSpPr/>
            <p:nvPr/>
          </p:nvSpPr>
          <p:spPr>
            <a:xfrm>
              <a:off x="2016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PT2</a:t>
              </a:r>
            </a:p>
          </p:txBody>
        </p:sp>
        <p:sp>
          <p:nvSpPr>
            <p:cNvPr id="41992" name="Rectangle 8"/>
            <p:cNvSpPr/>
            <p:nvPr/>
          </p:nvSpPr>
          <p:spPr>
            <a:xfrm>
              <a:off x="2544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PS</a:t>
              </a:r>
            </a:p>
          </p:txBody>
        </p:sp>
        <p:sp>
          <p:nvSpPr>
            <p:cNvPr id="41993" name="Rectangle 9"/>
            <p:cNvSpPr/>
            <p:nvPr/>
          </p:nvSpPr>
          <p:spPr>
            <a:xfrm>
              <a:off x="3072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PT1</a:t>
              </a:r>
            </a:p>
          </p:txBody>
        </p:sp>
        <p:sp>
          <p:nvSpPr>
            <p:cNvPr id="41994" name="Rectangle 10"/>
            <p:cNvSpPr/>
            <p:nvPr/>
          </p:nvSpPr>
          <p:spPr>
            <a:xfrm>
              <a:off x="3600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PX1</a:t>
              </a:r>
            </a:p>
          </p:txBody>
        </p:sp>
        <p:sp>
          <p:nvSpPr>
            <p:cNvPr id="41995" name="Rectangle 11"/>
            <p:cNvSpPr/>
            <p:nvPr/>
          </p:nvSpPr>
          <p:spPr>
            <a:xfrm>
              <a:off x="4128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PT0</a:t>
              </a:r>
            </a:p>
          </p:txBody>
        </p:sp>
        <p:sp>
          <p:nvSpPr>
            <p:cNvPr id="41996" name="Rectangle 12"/>
            <p:cNvSpPr/>
            <p:nvPr/>
          </p:nvSpPr>
          <p:spPr>
            <a:xfrm>
              <a:off x="4656" y="1872"/>
              <a:ext cx="528" cy="5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200">
                  <a:latin typeface="微软雅黑" panose="020B0503020204020204" pitchFamily="34" charset="-122"/>
                  <a:ea typeface="微软雅黑" panose="020B0503020204020204" pitchFamily="34" charset="-122"/>
                </a:rPr>
                <a:t>PX0</a:t>
              </a:r>
            </a:p>
          </p:txBody>
        </p:sp>
        <p:sp>
          <p:nvSpPr>
            <p:cNvPr id="41997" name="Text Box 13"/>
            <p:cNvSpPr txBox="1"/>
            <p:nvPr/>
          </p:nvSpPr>
          <p:spPr>
            <a:xfrm>
              <a:off x="144" y="1920"/>
              <a:ext cx="593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 dirty="0">
                  <a:solidFill>
                    <a:srgbClr val="99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IP</a:t>
              </a:r>
            </a:p>
            <a:p>
              <a:r>
                <a:rPr lang="en-US" altLang="zh-CN" sz="2200" dirty="0" smtClean="0">
                  <a:solidFill>
                    <a:srgbClr val="99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200" dirty="0" smtClean="0">
                  <a:solidFill>
                    <a:srgbClr val="FF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B8H</a:t>
              </a:r>
              <a:r>
                <a:rPr lang="en-US" altLang="zh-CN" sz="2200" dirty="0" smtClean="0">
                  <a:solidFill>
                    <a:srgbClr val="99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98" name="Text Box 14"/>
            <p:cNvSpPr txBox="1"/>
            <p:nvPr/>
          </p:nvSpPr>
          <p:spPr>
            <a:xfrm>
              <a:off x="1008" y="1536"/>
              <a:ext cx="414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20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</a:t>
              </a:r>
              <a:r>
                <a:rPr lang="en-US" altLang="zh-CN" sz="2200">
                  <a:solidFill>
                    <a:srgbClr val="99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BDH   BCH   BBH   BAH   B9H   B8H</a:t>
              </a:r>
              <a:endPara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2968625" y="4171950"/>
            <a:ext cx="3213100" cy="554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4-7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的格式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4000" y="4781550"/>
            <a:ext cx="8636000" cy="1606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</a:t>
            </a: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各位含义：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PS—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串行口中断优先级控制位。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PS=1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，串行口为高优先级中断；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PS=0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，串行口为低优先级中断。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001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4.2.3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中断优先级控制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</a:t>
            </a:r>
            <a:r>
              <a:rPr lang="en-US" altLang="zh-CN" sz="24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各位含义：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PT1—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中断优先级控制位。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PT1=1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为高优先级中断；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PT1=0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为低优先级中断。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PX1—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中断优先级控制位。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PX1=1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为高优先级中断；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PX1=0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为低优先级中断。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PT0—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中断优先级控制位。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PT0=1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为高优先级中断；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PT0=0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为低优先级中断。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PX0—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中断优先级控制位。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PX0=1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为高优先级中断；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PX0=0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，外部中断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为低优先级中断。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34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4403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2640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中断优先级控制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MSC-51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单片机中的中断系统，应遵循以下基本准则：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低优先级中断可被高优先级中断请求所中断，高优先级中断不能被低优先级中断请求所中断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同级中断请求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不能打断已经执行的同级中断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2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</p:txBody>
      </p:sp>
      <p:pic>
        <p:nvPicPr>
          <p:cNvPr id="4608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7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598" y="3465513"/>
            <a:ext cx="4169153" cy="2863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4813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4915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5584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系列单片机的中断响应过程可分为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三个阶段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主要有以下几点：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有中断源发出中断请求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中断总允许为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EA=1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开中断；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请求中断的中断源的中断允许位为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每个机器周期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S5P2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期间，会自动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各个中断源的中断申请信号，并锁存到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中相应位。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下一个机器周期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S6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期间，会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各个中断申请标志位，若查到某标志位被置位，将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中断机制，进入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915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5120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在下列任何一种情况存在时，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中断请求将被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正在处理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同级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高一级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的中断；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执行当前指令的最后一个周期，要保证把当前的一条指令执行完才会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指令需要多个机器周期才能执行</a:t>
            </a:r>
            <a:r>
              <a:rPr lang="zh-CN" altLang="en-US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当前正在执行的指令是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寄存器进行访问的指令，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执行指令后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至少再执行一条指令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才会响应中断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0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5325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668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从中断请求发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生到中断请求被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响应，准备去执行中断服务程序，此过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断响应过程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。中断响应过程一般包括如下几个阶段：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、中断采样</a:t>
            </a: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中断采样主要是针对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外部中断请求信号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进行的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。由于内部中断请求都发生在芯片内部，可以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直接查询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特殊寄存器。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在每个机器周期的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S5P2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期间，各中断标志采样相应的中断源，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位相应标志。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、中断查询</a:t>
            </a: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查询到某中断标志为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，则按优先级的高低进行处理，即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89C52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的中断请求都汇集在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T2CON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SCON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三个特殊功能寄存器中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则在下一机器周期的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S6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期间按优先级的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顺序查询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各中断标志。</a:t>
            </a:r>
          </a:p>
        </p:txBody>
      </p:sp>
      <p:pic>
        <p:nvPicPr>
          <p:cNvPr id="5325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5529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7246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先查询高级中断，再查询低级中断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。同级中断按内部中断优先级序列查询。如果查询到有中断标志位为“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，则表明有中断请求发生，接着从相邻的下一个机器周期的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开始进行中断响应。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由于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中断请求是随机发生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无法预先得知，因此中断查询要在指令执行的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每个机器周期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中不停地重复执行。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、中断响应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响应中断后，由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自动生成长调用指令“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，其格式为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  addr16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就是各中断源的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中断矢量地址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一般有两部分构成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：首先，将程序计数器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压入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先低位地址，后高位地址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堆栈指针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。其次，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将对应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中断源的中断矢量地址装入程序计数器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，去执行中断服务程序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530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5734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7" name="文本框 1"/>
          <p:cNvSpPr txBox="1"/>
          <p:nvPr/>
        </p:nvSpPr>
        <p:spPr>
          <a:xfrm>
            <a:off x="257175" y="736600"/>
            <a:ext cx="8636000" cy="5723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注意：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中断服务程序的放置。各中断矢量区仅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个字节。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通常是在中断矢量区中安排一条无条件转移指令，以转到真正的中断服务程序的起始地址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。中断服务程序的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最后一条指令必须是中断返回指令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清零优先级控制位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以开放同级别中断请求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en-US" altLang="zh-CN" sz="2000" dirty="0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若要在执行当前中断程序时禁止更高优先级中断源中断，要先用软件关闭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中断，或禁止更高级中断源的中断，而在中断返回前再开放中断。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在保护现场和恢复现场时，为了不使现场数据受到破坏或者造成混乱，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一般规定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在保护现场和恢复现场时，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不响应新的中断请求。这就要求在编写中断服务程序时，注意在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保护现场之前要关中断，在恢复现场之后开中断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7382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12902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9028" name="文本框 1"/>
          <p:cNvSpPr txBox="1"/>
          <p:nvPr/>
        </p:nvSpPr>
        <p:spPr>
          <a:xfrm>
            <a:off x="257175" y="736600"/>
            <a:ext cx="86360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中断矢量地址：</a:t>
            </a:r>
          </a:p>
        </p:txBody>
      </p:sp>
      <p:pic>
        <p:nvPicPr>
          <p:cNvPr id="129029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25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92614438"/>
                  </p:ext>
                </p:extLst>
              </p:nvPr>
            </p:nvGraphicFramePr>
            <p:xfrm>
              <a:off x="728953" y="2621098"/>
              <a:ext cx="7705918" cy="2888339"/>
            </p:xfrm>
            <a:graphic>
              <a:graphicData uri="http://schemas.openxmlformats.org/drawingml/2006/table">
                <a:tbl>
                  <a:tblPr/>
                  <a:tblGrid>
                    <a:gridCol w="27327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580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5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2489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中断源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对应引脚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中断矢量地址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14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外部中断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0--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sz="2000">
                                      <a:solidFill>
                                        <a:srgbClr val="FF0000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INT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000">
                                      <a:solidFill>
                                        <a:srgbClr val="FF0000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e>
                              </m:acc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oMath>
                          </a14:m>
                          <a:endParaRPr kumimoji="1" lang="en-US" altLang="zh-CN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P3.2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0003H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537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T0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000BH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288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外部中断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1--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sz="2000">
                                      <a:solidFill>
                                        <a:srgbClr val="FF0000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INT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000" b="0" i="0" smtClean="0">
                                      <a:solidFill>
                                        <a:srgbClr val="FF0000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kumimoji="1" lang="en-US" altLang="zh-CN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0013H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5111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001BH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006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串行口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RXD/TXD</a:t>
                          </a:r>
                          <a:endParaRPr kumimoji="1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P3.0/P3.1</a:t>
                          </a:r>
                          <a:endParaRPr kumimoji="1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0023H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9491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P1.0 (89C52)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002BH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25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92614438"/>
                  </p:ext>
                </p:extLst>
              </p:nvPr>
            </p:nvGraphicFramePr>
            <p:xfrm>
              <a:off x="728953" y="2621098"/>
              <a:ext cx="7705918" cy="2888339"/>
            </p:xfrm>
            <a:graphic>
              <a:graphicData uri="http://schemas.openxmlformats.org/drawingml/2006/table">
                <a:tbl>
                  <a:tblPr/>
                  <a:tblGrid>
                    <a:gridCol w="2732702"/>
                    <a:gridCol w="2258008"/>
                    <a:gridCol w="2715208"/>
                  </a:tblGrid>
                  <a:tr h="39624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中断源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对应引脚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中断矢量地址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4210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5"/>
                          <a:stretch>
                            <a:fillRect l="-445" t="-101449" r="-182851" b="-5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P3.2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0003H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T0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000BH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42288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5"/>
                          <a:stretch>
                            <a:fillRect l="-445" t="-297101" r="-182851" b="-3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0013H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001BH 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串行口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RXD/TXD</a:t>
                          </a:r>
                          <a:endParaRPr kumimoji="1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P3.0/P3.1</a:t>
                          </a:r>
                          <a:endParaRPr kumimoji="1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0023H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459491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定时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r>
                            <a:rPr kumimoji="1" lang="zh-CN" altLang="en-US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计数器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2--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P1.0 </a:t>
                          </a: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(89C52)</a:t>
                          </a:r>
                          <a:endParaRPr kumimoji="1" lang="en-US" altLang="zh-CN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kumimoji="1"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kumimoji="1"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1" lang="en-US" altLang="zh-CN" sz="20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002BH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5939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56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4.3.2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中断处理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从执行中断处理程序第一条指令开始到返回指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这个过程称为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中断处理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。中断处理一般包括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处理中断源的请求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恢复现场</a:t>
            </a:r>
            <a:r>
              <a:rPr lang="zh-CN" altLang="en-US" sz="2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三部分内容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保护现场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：若主程序和中断处理程序都用到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其他专用寄存器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，则在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进入中断处理程序后，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为不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破坏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原来存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在上述寄存器中的内容，首先对上述寄存器中的内容进行保护，这个过程称为</a:t>
            </a:r>
            <a:r>
              <a:rPr lang="zh-CN" altLang="en-US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保护现场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恢复现场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：在中断结束，执行</a:t>
            </a: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之前应恢复其原来内容，称为</a:t>
            </a:r>
            <a:r>
              <a:rPr lang="zh-CN" altLang="en-US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恢复现场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939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MCS-51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中断响应的过程</a:t>
            </a:r>
          </a:p>
        </p:txBody>
      </p:sp>
      <p:pic>
        <p:nvPicPr>
          <p:cNvPr id="6144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4473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4.3.3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中断返回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中断返回是指执行完中断处理程序的最后指令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返回到断点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，继续执行原来的程序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RETI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指令的功能包括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两个方面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。首先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清零优先级控制位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以开放同级别中断请求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其次，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从堆栈区把断点地址取出，送回到程序计数器</a:t>
            </a:r>
            <a:r>
              <a:rPr lang="en-US" altLang="zh-CN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。因此，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不能用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指令代替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RET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指令为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的最后一条指令。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RETI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中断子程序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的最后一条指令。</a:t>
            </a:r>
          </a:p>
        </p:txBody>
      </p:sp>
      <p:pic>
        <p:nvPicPr>
          <p:cNvPr id="6144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6349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中断响应的时间</a:t>
            </a:r>
          </a:p>
        </p:txBody>
      </p:sp>
      <p:pic>
        <p:nvPicPr>
          <p:cNvPr id="6451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5" name="文本框 1"/>
          <p:cNvSpPr txBox="1"/>
          <p:nvPr/>
        </p:nvSpPr>
        <p:spPr>
          <a:xfrm>
            <a:off x="257175" y="736600"/>
            <a:ext cx="8636000" cy="556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当单片机应用于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实时控制系统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时，往往非常在意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中断的响应时间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，比如出现故障后，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在多长时间里能够响应和处理。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一般来说，在</a:t>
            </a:r>
            <a:r>
              <a:rPr lang="zh-CN" altLang="en-US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单级中断系统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中，中断的响应时间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单级中断系统，外部中断响应时间：</a:t>
            </a:r>
            <a:r>
              <a:rPr lang="en-US" altLang="zh-CN" sz="2400" b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3~8</a:t>
            </a:r>
            <a:r>
              <a:rPr lang="zh-CN" altLang="en-US" sz="2400" b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一般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中断请求标志位查询占</a:t>
            </a:r>
            <a:r>
              <a:rPr lang="en-US" altLang="zh-CN" sz="2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如果这个机器周期又恰好是指令的最后一个机器周期。在这个机器周期结束后，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将响应中断，产生硬件长调用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指令。执行这条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长调用指令需要</a:t>
            </a:r>
            <a:r>
              <a:rPr lang="en-US" altLang="zh-CN" sz="2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。这样，中断响应时间为</a:t>
            </a:r>
            <a:r>
              <a:rPr lang="en-US" altLang="zh-CN" sz="2400" b="1" u="sng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u="sng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51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中断响应的时间</a:t>
            </a:r>
          </a:p>
        </p:txBody>
      </p:sp>
      <p:pic>
        <p:nvPicPr>
          <p:cNvPr id="6656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如果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正在执行的是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中断系统规定把这几条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指令执行完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，必须再继续执行一条指令后才能响应中断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。而这条指令恰好是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或除法指令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DIV)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。加上执行长调用指令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，则需要</a:t>
            </a:r>
            <a:r>
              <a:rPr lang="en-US" altLang="zh-CN" sz="2400" b="1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u="sng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u="sng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个机器周期</a:t>
            </a:r>
            <a:r>
              <a:rPr lang="en-US" altLang="zh-CN" sz="2400" u="sng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=2+4+2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如果中断请求被前面所列三个条件之一所阻止，不能产生硬件长调用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指令，那么所需的响应时间就更长。因此，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对于实时性要求高的系统，应该考虑中断响应的时间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6656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6861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</p:txBody>
      </p:sp>
      <p:pic>
        <p:nvPicPr>
          <p:cNvPr id="6963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81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中断源提出中断申请，在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响应此中断请求后，该中断源的中断请求在中断返回之前应当撤除，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以免引起重复中断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，被再次响应。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个中断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源中断请求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撤除的方法不同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计数器溢出中断请求的撤除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响应后，其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中断请求标志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自动复位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串行口中断请求的撤除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串行口中断响应后，其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中断请求标志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不能由硬件自动复位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，必须由用户在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的适当位置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撤除。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例如：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TI/RI  </a:t>
            </a: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; 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撤除发送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接收中断请求标志。</a:t>
            </a:r>
          </a:p>
        </p:txBody>
      </p:sp>
      <p:pic>
        <p:nvPicPr>
          <p:cNvPr id="6963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</p:txBody>
      </p:sp>
      <p:pic>
        <p:nvPicPr>
          <p:cNvPr id="7168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684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57505" y="736608"/>
                <a:ext cx="8635669" cy="3796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4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请求的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撤除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边沿触发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方式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dirty="0" err="1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ITx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</a:t>
                </a:r>
                <a:r>
                  <a:rPr lang="zh-CN" altLang="en-US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x=0</a:t>
                </a:r>
                <a:r>
                  <a:rPr lang="zh-CN" altLang="en-US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在响应中断后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自动清除相应的中断申请标志位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触发方式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在响应中断后其中断请求标志位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IE0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IE1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是随外部引脚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的电平而发生变化，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无法直接控制，需要在引脚处外加硬件电路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</a:t>
                </a:r>
                <a:r>
                  <a:rPr lang="zh-CN" altLang="en-US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使其及时撤销外部中断请求。 </a:t>
                </a: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3796937"/>
              </a:xfrm>
              <a:prstGeom prst="rect">
                <a:avLst/>
              </a:prstGeom>
              <a:blipFill>
                <a:blip r:embed="rId6"/>
                <a:stretch>
                  <a:fillRect l="-1059" r="-1059" b="-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</p:txBody>
      </p:sp>
      <p:pic>
        <p:nvPicPr>
          <p:cNvPr id="7373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1127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外部中断请求的撤除</a:t>
            </a:r>
            <a:endParaRPr lang="en-US" altLang="zh-CN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外部低电平中断的撤除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732" name="组合 2"/>
          <p:cNvGrpSpPr/>
          <p:nvPr/>
        </p:nvGrpSpPr>
        <p:grpSpPr>
          <a:xfrm>
            <a:off x="1060450" y="1906588"/>
            <a:ext cx="6364288" cy="1890712"/>
            <a:chOff x="1219200" y="1862023"/>
            <a:chExt cx="6363629" cy="1890713"/>
          </a:xfrm>
        </p:grpSpPr>
        <p:sp>
          <p:nvSpPr>
            <p:cNvPr id="73733" name="Rectangle 15"/>
            <p:cNvSpPr/>
            <p:nvPr/>
          </p:nvSpPr>
          <p:spPr>
            <a:xfrm>
              <a:off x="3348038" y="1927111"/>
              <a:ext cx="838200" cy="1219200"/>
            </a:xfrm>
            <a:prstGeom prst="rect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73734" name="AutoShape 16"/>
            <p:cNvSpPr/>
            <p:nvPr/>
          </p:nvSpPr>
          <p:spPr>
            <a:xfrm rot="10800000">
              <a:off x="1219200" y="1862023"/>
              <a:ext cx="1066800" cy="1600200"/>
            </a:xfrm>
            <a:prstGeom prst="flowChartDocument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73735" name="Line 17"/>
            <p:cNvSpPr/>
            <p:nvPr/>
          </p:nvSpPr>
          <p:spPr>
            <a:xfrm flipH="1">
              <a:off x="2286000" y="2228736"/>
              <a:ext cx="1066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36" name="Line 18"/>
            <p:cNvSpPr/>
            <p:nvPr/>
          </p:nvSpPr>
          <p:spPr>
            <a:xfrm>
              <a:off x="2293938" y="2895486"/>
              <a:ext cx="985837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37" name="Line 19"/>
            <p:cNvSpPr/>
            <p:nvPr/>
          </p:nvSpPr>
          <p:spPr>
            <a:xfrm>
              <a:off x="4191000" y="2228736"/>
              <a:ext cx="685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38" name="Line 20"/>
            <p:cNvSpPr/>
            <p:nvPr/>
          </p:nvSpPr>
          <p:spPr>
            <a:xfrm>
              <a:off x="4876800" y="2228736"/>
              <a:ext cx="0" cy="1524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39" name="Line 21"/>
            <p:cNvSpPr/>
            <p:nvPr/>
          </p:nvSpPr>
          <p:spPr>
            <a:xfrm>
              <a:off x="4762500" y="2381136"/>
              <a:ext cx="228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0" name="Line 22"/>
            <p:cNvSpPr/>
            <p:nvPr/>
          </p:nvSpPr>
          <p:spPr>
            <a:xfrm>
              <a:off x="4800600" y="2457336"/>
              <a:ext cx="152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1" name="Line 23"/>
            <p:cNvSpPr/>
            <p:nvPr/>
          </p:nvSpPr>
          <p:spPr>
            <a:xfrm>
              <a:off x="4838700" y="2533536"/>
              <a:ext cx="76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2" name="Rectangle 24"/>
            <p:cNvSpPr/>
            <p:nvPr/>
          </p:nvSpPr>
          <p:spPr>
            <a:xfrm>
              <a:off x="5295900" y="2685936"/>
              <a:ext cx="228600" cy="457200"/>
            </a:xfrm>
            <a:prstGeom prst="rect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73743" name="AutoShape 25"/>
            <p:cNvSpPr/>
            <p:nvPr/>
          </p:nvSpPr>
          <p:spPr>
            <a:xfrm>
              <a:off x="5207000" y="2863736"/>
              <a:ext cx="76200" cy="76200"/>
            </a:xfrm>
            <a:prstGeom prst="flowChartConnector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73744" name="Line 26"/>
            <p:cNvSpPr/>
            <p:nvPr/>
          </p:nvSpPr>
          <p:spPr>
            <a:xfrm>
              <a:off x="4203700" y="2901836"/>
              <a:ext cx="990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5" name="Line 27"/>
            <p:cNvSpPr/>
            <p:nvPr/>
          </p:nvSpPr>
          <p:spPr>
            <a:xfrm>
              <a:off x="5537200" y="2914536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46" name="Text Box 28"/>
            <p:cNvSpPr txBox="1"/>
            <p:nvPr/>
          </p:nvSpPr>
          <p:spPr>
            <a:xfrm>
              <a:off x="1600200" y="2014423"/>
              <a:ext cx="762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INTx</a:t>
              </a:r>
            </a:p>
          </p:txBody>
        </p:sp>
        <p:sp>
          <p:nvSpPr>
            <p:cNvPr id="73747" name="Text Box 29"/>
            <p:cNvSpPr txBox="1"/>
            <p:nvPr/>
          </p:nvSpPr>
          <p:spPr>
            <a:xfrm>
              <a:off x="1600200" y="2673236"/>
              <a:ext cx="8382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P1.0</a:t>
              </a:r>
            </a:p>
          </p:txBody>
        </p:sp>
        <p:sp>
          <p:nvSpPr>
            <p:cNvPr id="73748" name="Text Box 30"/>
            <p:cNvSpPr txBox="1"/>
            <p:nvPr/>
          </p:nvSpPr>
          <p:spPr>
            <a:xfrm>
              <a:off x="3657600" y="2711336"/>
              <a:ext cx="6858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sp>
          <p:nvSpPr>
            <p:cNvPr id="73749" name="Text Box 31"/>
            <p:cNvSpPr txBox="1"/>
            <p:nvPr/>
          </p:nvSpPr>
          <p:spPr>
            <a:xfrm>
              <a:off x="3314700" y="2743086"/>
              <a:ext cx="381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73750" name="Text Box 32"/>
            <p:cNvSpPr txBox="1"/>
            <p:nvPr/>
          </p:nvSpPr>
          <p:spPr>
            <a:xfrm>
              <a:off x="3352800" y="2014423"/>
              <a:ext cx="381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73751" name="Text Box 33"/>
            <p:cNvSpPr txBox="1"/>
            <p:nvPr/>
          </p:nvSpPr>
          <p:spPr>
            <a:xfrm>
              <a:off x="3898900" y="2014423"/>
              <a:ext cx="381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73752" name="Text Box 34"/>
            <p:cNvSpPr txBox="1"/>
            <p:nvPr/>
          </p:nvSpPr>
          <p:spPr>
            <a:xfrm>
              <a:off x="5940425" y="2583289"/>
              <a:ext cx="1642404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外来中断申请</a:t>
              </a:r>
              <a:r>
                <a:rPr lang="zh-CN" altLang="en-US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信号</a:t>
              </a:r>
              <a:r>
                <a:rPr lang="en-US" altLang="zh-CN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低电平</a:t>
              </a:r>
              <a:r>
                <a:rPr lang="en-US" altLang="zh-CN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3753" name="Line 35"/>
            <p:cNvSpPr/>
            <p:nvPr/>
          </p:nvSpPr>
          <p:spPr>
            <a:xfrm>
              <a:off x="1752600" y="2090623"/>
              <a:ext cx="381000" cy="0"/>
            </a:xfrm>
            <a:prstGeom prst="line">
              <a:avLst/>
            </a:prstGeom>
            <a:ln w="9525" cap="sq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54" name="Line 36"/>
            <p:cNvSpPr/>
            <p:nvPr/>
          </p:nvSpPr>
          <p:spPr>
            <a:xfrm>
              <a:off x="3416300" y="2800236"/>
              <a:ext cx="152400" cy="0"/>
            </a:xfrm>
            <a:prstGeom prst="line">
              <a:avLst/>
            </a:prstGeom>
            <a:ln w="9525" cap="sq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55" name="Text Box 37"/>
            <p:cNvSpPr txBox="1"/>
            <p:nvPr/>
          </p:nvSpPr>
          <p:spPr>
            <a:xfrm>
              <a:off x="1276350" y="2376373"/>
              <a:ext cx="12192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MCS-51</a:t>
              </a:r>
            </a:p>
          </p:txBody>
        </p:sp>
        <p:sp>
          <p:nvSpPr>
            <p:cNvPr id="73756" name="Text Box 39"/>
            <p:cNvSpPr txBox="1"/>
            <p:nvPr/>
          </p:nvSpPr>
          <p:spPr>
            <a:xfrm>
              <a:off x="2916238" y="3233623"/>
              <a:ext cx="1981200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S=0 </a:t>
              </a:r>
              <a:r>
                <a:rPr lang="zh-CN" altLang="en-US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 </a:t>
              </a:r>
              <a:r>
                <a:rPr lang="en-US" altLang="zh-CN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Q=1</a:t>
              </a:r>
            </a:p>
          </p:txBody>
        </p:sp>
        <p:sp>
          <p:nvSpPr>
            <p:cNvPr id="73757" name="Line 40"/>
            <p:cNvSpPr/>
            <p:nvPr/>
          </p:nvSpPr>
          <p:spPr>
            <a:xfrm>
              <a:off x="4343400" y="2990736"/>
              <a:ext cx="76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58" name="Line 41"/>
            <p:cNvSpPr/>
            <p:nvPr/>
          </p:nvSpPr>
          <p:spPr>
            <a:xfrm>
              <a:off x="4419600" y="2990736"/>
              <a:ext cx="76200" cy="3048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triangl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59" name="Line 42"/>
            <p:cNvSpPr/>
            <p:nvPr/>
          </p:nvSpPr>
          <p:spPr>
            <a:xfrm>
              <a:off x="4495800" y="3295536"/>
              <a:ext cx="152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60" name="Line 43"/>
            <p:cNvSpPr/>
            <p:nvPr/>
          </p:nvSpPr>
          <p:spPr>
            <a:xfrm>
              <a:off x="3143250" y="3271723"/>
              <a:ext cx="152400" cy="0"/>
            </a:xfrm>
            <a:prstGeom prst="line">
              <a:avLst/>
            </a:prstGeom>
            <a:ln w="9525" cap="sq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61" name="Line 45"/>
            <p:cNvSpPr/>
            <p:nvPr/>
          </p:nvSpPr>
          <p:spPr>
            <a:xfrm>
              <a:off x="1743075" y="2098561"/>
              <a:ext cx="43180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62" name="AutoShape 46"/>
            <p:cNvSpPr/>
            <p:nvPr/>
          </p:nvSpPr>
          <p:spPr>
            <a:xfrm>
              <a:off x="3271838" y="2870086"/>
              <a:ext cx="76200" cy="76200"/>
            </a:xfrm>
            <a:prstGeom prst="flowChartConnector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257175" y="3836988"/>
            <a:ext cx="86360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0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外来的低电平→反相→</a:t>
            </a:r>
            <a:r>
              <a:rPr lang="en-US" altLang="zh-CN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CLK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端产生上跳沿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端的“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0”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打到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端→申请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en-US" sz="2000" noProof="1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电平触发</a:t>
            </a:r>
            <a:r>
              <a:rPr lang="zh-CN" altLang="en-US" sz="2000" noProof="1" smtClean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0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0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中断响应后对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P1.0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送“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0”→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令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端变为“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1”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0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指令：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ANL P1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#0FEH </a:t>
            </a:r>
            <a:r>
              <a:rPr lang="en-US" altLang="zh-CN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(=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CLR </a:t>
            </a:r>
            <a:r>
              <a:rPr lang="en-US" altLang="zh-CN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P1.0)</a:t>
            </a:r>
            <a:r>
              <a:rPr lang="zh-CN" altLang="en-US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令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端置“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1”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000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en-US" altLang="zh-CN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中断返回前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ORL P1, #01H 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(= 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SETB 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P1.0)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令</a:t>
            </a:r>
            <a:r>
              <a:rPr lang="en-US" altLang="zh-CN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端置“</a:t>
            </a:r>
            <a:r>
              <a:rPr lang="en-US" altLang="zh-CN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1”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以免下次中断来时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端不能变“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”(</a:t>
            </a:r>
            <a:r>
              <a:rPr lang="en-US" altLang="zh-CN" sz="20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为“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”，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为“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0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0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764" name="文本框 39"/>
          <p:cNvSpPr txBox="1"/>
          <p:nvPr/>
        </p:nvSpPr>
        <p:spPr>
          <a:xfrm>
            <a:off x="7607300" y="2084388"/>
            <a:ext cx="12954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2400" baseline="300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=D</a:t>
            </a:r>
            <a:endParaRPr lang="zh-CN" altLang="en-US" sz="240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765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</p:txBody>
      </p:sp>
      <p:pic>
        <p:nvPicPr>
          <p:cNvPr id="7577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7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513" y="90488"/>
            <a:ext cx="1871662" cy="5397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5781" name="组合 3"/>
          <p:cNvGrpSpPr/>
          <p:nvPr/>
        </p:nvGrpSpPr>
        <p:grpSpPr>
          <a:xfrm>
            <a:off x="1035050" y="3176588"/>
            <a:ext cx="7054850" cy="3132137"/>
            <a:chOff x="1403350" y="3176588"/>
            <a:chExt cx="7054850" cy="3132137"/>
          </a:xfrm>
        </p:grpSpPr>
        <p:sp>
          <p:nvSpPr>
            <p:cNvPr id="75782" name="AutoShape 9"/>
            <p:cNvSpPr/>
            <p:nvPr/>
          </p:nvSpPr>
          <p:spPr>
            <a:xfrm rot="10678324">
              <a:off x="57912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783" name="Line 10"/>
            <p:cNvSpPr/>
            <p:nvPr/>
          </p:nvSpPr>
          <p:spPr>
            <a:xfrm>
              <a:off x="57912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84" name="Line 11"/>
            <p:cNvSpPr/>
            <p:nvPr/>
          </p:nvSpPr>
          <p:spPr>
            <a:xfrm flipV="1">
              <a:off x="60007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85" name="Line 12"/>
            <p:cNvSpPr/>
            <p:nvPr/>
          </p:nvSpPr>
          <p:spPr>
            <a:xfrm flipV="1">
              <a:off x="60007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86" name="Line 13"/>
            <p:cNvSpPr/>
            <p:nvPr/>
          </p:nvSpPr>
          <p:spPr>
            <a:xfrm flipV="1">
              <a:off x="61722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87" name="Line 14"/>
            <p:cNvSpPr/>
            <p:nvPr/>
          </p:nvSpPr>
          <p:spPr>
            <a:xfrm flipV="1">
              <a:off x="61722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88" name="AutoShape 15"/>
            <p:cNvSpPr/>
            <p:nvPr/>
          </p:nvSpPr>
          <p:spPr>
            <a:xfrm rot="10678324">
              <a:off x="64770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789" name="Line 16"/>
            <p:cNvSpPr/>
            <p:nvPr/>
          </p:nvSpPr>
          <p:spPr>
            <a:xfrm>
              <a:off x="64770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0" name="Line 17"/>
            <p:cNvSpPr/>
            <p:nvPr/>
          </p:nvSpPr>
          <p:spPr>
            <a:xfrm flipV="1">
              <a:off x="66865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1" name="Line 18"/>
            <p:cNvSpPr/>
            <p:nvPr/>
          </p:nvSpPr>
          <p:spPr>
            <a:xfrm flipV="1">
              <a:off x="66865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2" name="Line 19"/>
            <p:cNvSpPr/>
            <p:nvPr/>
          </p:nvSpPr>
          <p:spPr>
            <a:xfrm flipV="1">
              <a:off x="68580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3" name="Line 20"/>
            <p:cNvSpPr/>
            <p:nvPr/>
          </p:nvSpPr>
          <p:spPr>
            <a:xfrm flipV="1">
              <a:off x="68580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4" name="AutoShape 21"/>
            <p:cNvSpPr/>
            <p:nvPr/>
          </p:nvSpPr>
          <p:spPr>
            <a:xfrm rot="10678324">
              <a:off x="71628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795" name="Line 22"/>
            <p:cNvSpPr/>
            <p:nvPr/>
          </p:nvSpPr>
          <p:spPr>
            <a:xfrm>
              <a:off x="71628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6" name="Line 23"/>
            <p:cNvSpPr/>
            <p:nvPr/>
          </p:nvSpPr>
          <p:spPr>
            <a:xfrm flipV="1">
              <a:off x="73723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7" name="Line 24"/>
            <p:cNvSpPr/>
            <p:nvPr/>
          </p:nvSpPr>
          <p:spPr>
            <a:xfrm flipV="1">
              <a:off x="73723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8" name="Line 25"/>
            <p:cNvSpPr/>
            <p:nvPr/>
          </p:nvSpPr>
          <p:spPr>
            <a:xfrm flipV="1">
              <a:off x="75438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799" name="Line 26"/>
            <p:cNvSpPr/>
            <p:nvPr/>
          </p:nvSpPr>
          <p:spPr>
            <a:xfrm flipV="1">
              <a:off x="75438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0" name="AutoShape 27"/>
            <p:cNvSpPr/>
            <p:nvPr/>
          </p:nvSpPr>
          <p:spPr>
            <a:xfrm rot="10678324">
              <a:off x="78486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01" name="Line 28"/>
            <p:cNvSpPr/>
            <p:nvPr/>
          </p:nvSpPr>
          <p:spPr>
            <a:xfrm>
              <a:off x="78486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2" name="Line 29"/>
            <p:cNvSpPr/>
            <p:nvPr/>
          </p:nvSpPr>
          <p:spPr>
            <a:xfrm flipV="1">
              <a:off x="80581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3" name="Line 30"/>
            <p:cNvSpPr/>
            <p:nvPr/>
          </p:nvSpPr>
          <p:spPr>
            <a:xfrm flipV="1">
              <a:off x="80581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4" name="Line 31"/>
            <p:cNvSpPr/>
            <p:nvPr/>
          </p:nvSpPr>
          <p:spPr>
            <a:xfrm flipV="1">
              <a:off x="82296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5" name="Line 32"/>
            <p:cNvSpPr/>
            <p:nvPr/>
          </p:nvSpPr>
          <p:spPr>
            <a:xfrm flipV="1">
              <a:off x="82296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6" name="AutoShape 33"/>
            <p:cNvSpPr/>
            <p:nvPr/>
          </p:nvSpPr>
          <p:spPr>
            <a:xfrm rot="10678324">
              <a:off x="30480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07" name="Line 34"/>
            <p:cNvSpPr/>
            <p:nvPr/>
          </p:nvSpPr>
          <p:spPr>
            <a:xfrm>
              <a:off x="30480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8" name="Line 35"/>
            <p:cNvSpPr/>
            <p:nvPr/>
          </p:nvSpPr>
          <p:spPr>
            <a:xfrm flipV="1">
              <a:off x="32575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09" name="Line 36"/>
            <p:cNvSpPr/>
            <p:nvPr/>
          </p:nvSpPr>
          <p:spPr>
            <a:xfrm flipV="1">
              <a:off x="32575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0" name="Line 37"/>
            <p:cNvSpPr/>
            <p:nvPr/>
          </p:nvSpPr>
          <p:spPr>
            <a:xfrm flipV="1">
              <a:off x="34290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1" name="Line 38"/>
            <p:cNvSpPr/>
            <p:nvPr/>
          </p:nvSpPr>
          <p:spPr>
            <a:xfrm flipV="1">
              <a:off x="34290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2" name="AutoShape 39"/>
            <p:cNvSpPr/>
            <p:nvPr/>
          </p:nvSpPr>
          <p:spPr>
            <a:xfrm rot="10678324">
              <a:off x="37338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13" name="Line 40"/>
            <p:cNvSpPr/>
            <p:nvPr/>
          </p:nvSpPr>
          <p:spPr>
            <a:xfrm>
              <a:off x="37338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4" name="Line 41"/>
            <p:cNvSpPr/>
            <p:nvPr/>
          </p:nvSpPr>
          <p:spPr>
            <a:xfrm flipV="1">
              <a:off x="39433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5" name="Line 42"/>
            <p:cNvSpPr/>
            <p:nvPr/>
          </p:nvSpPr>
          <p:spPr>
            <a:xfrm flipV="1">
              <a:off x="39433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6" name="Line 43"/>
            <p:cNvSpPr/>
            <p:nvPr/>
          </p:nvSpPr>
          <p:spPr>
            <a:xfrm flipV="1">
              <a:off x="41148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7" name="Line 44"/>
            <p:cNvSpPr/>
            <p:nvPr/>
          </p:nvSpPr>
          <p:spPr>
            <a:xfrm flipV="1">
              <a:off x="41148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18" name="AutoShape 45"/>
            <p:cNvSpPr/>
            <p:nvPr/>
          </p:nvSpPr>
          <p:spPr>
            <a:xfrm rot="10678324">
              <a:off x="44196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19" name="Line 46"/>
            <p:cNvSpPr/>
            <p:nvPr/>
          </p:nvSpPr>
          <p:spPr>
            <a:xfrm>
              <a:off x="44196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0" name="Line 47"/>
            <p:cNvSpPr/>
            <p:nvPr/>
          </p:nvSpPr>
          <p:spPr>
            <a:xfrm flipV="1">
              <a:off x="46291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1" name="Line 48"/>
            <p:cNvSpPr/>
            <p:nvPr/>
          </p:nvSpPr>
          <p:spPr>
            <a:xfrm flipV="1">
              <a:off x="46291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2" name="Line 49"/>
            <p:cNvSpPr/>
            <p:nvPr/>
          </p:nvSpPr>
          <p:spPr>
            <a:xfrm flipV="1">
              <a:off x="48006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3" name="Line 50"/>
            <p:cNvSpPr/>
            <p:nvPr/>
          </p:nvSpPr>
          <p:spPr>
            <a:xfrm flipV="1">
              <a:off x="48006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4" name="AutoShape 51"/>
            <p:cNvSpPr/>
            <p:nvPr/>
          </p:nvSpPr>
          <p:spPr>
            <a:xfrm rot="10678324">
              <a:off x="5105400" y="4556125"/>
              <a:ext cx="381000" cy="228600"/>
            </a:xfrm>
            <a:prstGeom prst="triangle">
              <a:avLst>
                <a:gd name="adj" fmla="val 50000"/>
              </a:avLst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25" name="Line 52"/>
            <p:cNvSpPr/>
            <p:nvPr/>
          </p:nvSpPr>
          <p:spPr>
            <a:xfrm>
              <a:off x="5105400" y="4784725"/>
              <a:ext cx="381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6" name="Line 53"/>
            <p:cNvSpPr/>
            <p:nvPr/>
          </p:nvSpPr>
          <p:spPr>
            <a:xfrm flipV="1">
              <a:off x="5314950" y="41751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7" name="Line 54"/>
            <p:cNvSpPr/>
            <p:nvPr/>
          </p:nvSpPr>
          <p:spPr>
            <a:xfrm flipV="1">
              <a:off x="5314950" y="478472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8" name="Line 55"/>
            <p:cNvSpPr/>
            <p:nvPr/>
          </p:nvSpPr>
          <p:spPr>
            <a:xfrm flipV="1">
              <a:off x="5486400" y="44037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29" name="Line 56"/>
            <p:cNvSpPr/>
            <p:nvPr/>
          </p:nvSpPr>
          <p:spPr>
            <a:xfrm flipV="1">
              <a:off x="5486400" y="4556125"/>
              <a:ext cx="22860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0" name="Line 57"/>
            <p:cNvSpPr/>
            <p:nvPr/>
          </p:nvSpPr>
          <p:spPr>
            <a:xfrm>
              <a:off x="3276600" y="5165725"/>
              <a:ext cx="4800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1" name="Rectangle 58"/>
            <p:cNvSpPr/>
            <p:nvPr/>
          </p:nvSpPr>
          <p:spPr>
            <a:xfrm>
              <a:off x="5638800" y="5394325"/>
              <a:ext cx="152400" cy="457200"/>
            </a:xfrm>
            <a:prstGeom prst="rect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32" name="Line 59"/>
            <p:cNvSpPr/>
            <p:nvPr/>
          </p:nvSpPr>
          <p:spPr>
            <a:xfrm flipV="1">
              <a:off x="5715000" y="5165725"/>
              <a:ext cx="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3" name="Line 60"/>
            <p:cNvSpPr/>
            <p:nvPr/>
          </p:nvSpPr>
          <p:spPr>
            <a:xfrm flipV="1">
              <a:off x="5715000" y="5851525"/>
              <a:ext cx="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4" name="Line 61"/>
            <p:cNvSpPr/>
            <p:nvPr/>
          </p:nvSpPr>
          <p:spPr>
            <a:xfrm>
              <a:off x="5562600" y="6080125"/>
              <a:ext cx="304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5" name="Line 62"/>
            <p:cNvSpPr/>
            <p:nvPr/>
          </p:nvSpPr>
          <p:spPr>
            <a:xfrm>
              <a:off x="5600700" y="6156325"/>
              <a:ext cx="228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6" name="Line 63"/>
            <p:cNvSpPr/>
            <p:nvPr/>
          </p:nvSpPr>
          <p:spPr>
            <a:xfrm>
              <a:off x="5638800" y="6232525"/>
              <a:ext cx="152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7" name="Line 64"/>
            <p:cNvSpPr/>
            <p:nvPr/>
          </p:nvSpPr>
          <p:spPr>
            <a:xfrm>
              <a:off x="5676900" y="6308725"/>
              <a:ext cx="76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38" name="AutoShape 65"/>
            <p:cNvSpPr/>
            <p:nvPr/>
          </p:nvSpPr>
          <p:spPr>
            <a:xfrm>
              <a:off x="45910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39" name="AutoShape 66"/>
            <p:cNvSpPr/>
            <p:nvPr/>
          </p:nvSpPr>
          <p:spPr>
            <a:xfrm>
              <a:off x="39052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0" name="AutoShape 67"/>
            <p:cNvSpPr/>
            <p:nvPr/>
          </p:nvSpPr>
          <p:spPr>
            <a:xfrm>
              <a:off x="52768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1" name="AutoShape 68"/>
            <p:cNvSpPr/>
            <p:nvPr/>
          </p:nvSpPr>
          <p:spPr>
            <a:xfrm>
              <a:off x="567690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2" name="AutoShape 69"/>
            <p:cNvSpPr/>
            <p:nvPr/>
          </p:nvSpPr>
          <p:spPr>
            <a:xfrm>
              <a:off x="59626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3" name="AutoShape 70"/>
            <p:cNvSpPr/>
            <p:nvPr/>
          </p:nvSpPr>
          <p:spPr>
            <a:xfrm>
              <a:off x="66484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4" name="AutoShape 71"/>
            <p:cNvSpPr/>
            <p:nvPr/>
          </p:nvSpPr>
          <p:spPr>
            <a:xfrm>
              <a:off x="7334250" y="5127625"/>
              <a:ext cx="76200" cy="76200"/>
            </a:xfrm>
            <a:prstGeom prst="flowChartConnector">
              <a:avLst/>
            </a:prstGeom>
            <a:solidFill>
              <a:srgbClr val="00FFFF"/>
            </a:solidFill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5" name="AutoShape 72"/>
            <p:cNvSpPr/>
            <p:nvPr/>
          </p:nvSpPr>
          <p:spPr>
            <a:xfrm>
              <a:off x="1403350" y="3184525"/>
              <a:ext cx="1162050" cy="3048000"/>
            </a:xfrm>
            <a:prstGeom prst="flowChartDocument">
              <a:avLst/>
            </a:prstGeom>
            <a:noFill/>
            <a:ln w="38100" cap="sq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846" name="Line 73"/>
            <p:cNvSpPr/>
            <p:nvPr/>
          </p:nvSpPr>
          <p:spPr>
            <a:xfrm>
              <a:off x="2565400" y="3336925"/>
              <a:ext cx="5486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47" name="Line 74"/>
            <p:cNvSpPr/>
            <p:nvPr/>
          </p:nvSpPr>
          <p:spPr>
            <a:xfrm>
              <a:off x="8058150" y="3336925"/>
              <a:ext cx="0" cy="8382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48" name="Line 75"/>
            <p:cNvSpPr/>
            <p:nvPr/>
          </p:nvSpPr>
          <p:spPr>
            <a:xfrm flipV="1">
              <a:off x="7372350" y="3413125"/>
              <a:ext cx="0" cy="762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49" name="Line 76"/>
            <p:cNvSpPr/>
            <p:nvPr/>
          </p:nvSpPr>
          <p:spPr>
            <a:xfrm flipH="1">
              <a:off x="2571750" y="3413125"/>
              <a:ext cx="4800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0" name="Line 77"/>
            <p:cNvSpPr/>
            <p:nvPr/>
          </p:nvSpPr>
          <p:spPr>
            <a:xfrm flipV="1">
              <a:off x="6686550" y="3489325"/>
              <a:ext cx="0" cy="762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1" name="Line 78"/>
            <p:cNvSpPr/>
            <p:nvPr/>
          </p:nvSpPr>
          <p:spPr>
            <a:xfrm flipH="1">
              <a:off x="2571750" y="3489325"/>
              <a:ext cx="4114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2" name="Line 79"/>
            <p:cNvSpPr/>
            <p:nvPr/>
          </p:nvSpPr>
          <p:spPr>
            <a:xfrm flipV="1">
              <a:off x="6000750" y="3565525"/>
              <a:ext cx="0" cy="6858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3" name="Line 80"/>
            <p:cNvSpPr/>
            <p:nvPr/>
          </p:nvSpPr>
          <p:spPr>
            <a:xfrm flipH="1">
              <a:off x="2565400" y="3565525"/>
              <a:ext cx="34290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4" name="Line 81"/>
            <p:cNvSpPr/>
            <p:nvPr/>
          </p:nvSpPr>
          <p:spPr>
            <a:xfrm flipV="1">
              <a:off x="5314950" y="3660775"/>
              <a:ext cx="0" cy="5334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5" name="Line 82"/>
            <p:cNvSpPr/>
            <p:nvPr/>
          </p:nvSpPr>
          <p:spPr>
            <a:xfrm flipH="1">
              <a:off x="2571750" y="3641725"/>
              <a:ext cx="2743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6" name="Line 83"/>
            <p:cNvSpPr/>
            <p:nvPr/>
          </p:nvSpPr>
          <p:spPr>
            <a:xfrm flipV="1">
              <a:off x="4629150" y="3736975"/>
              <a:ext cx="0" cy="4572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7" name="Line 84"/>
            <p:cNvSpPr/>
            <p:nvPr/>
          </p:nvSpPr>
          <p:spPr>
            <a:xfrm flipH="1">
              <a:off x="2571750" y="3717925"/>
              <a:ext cx="2057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8" name="Line 85"/>
            <p:cNvSpPr/>
            <p:nvPr/>
          </p:nvSpPr>
          <p:spPr>
            <a:xfrm flipV="1">
              <a:off x="3943350" y="3813175"/>
              <a:ext cx="0" cy="3810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59" name="Line 86"/>
            <p:cNvSpPr/>
            <p:nvPr/>
          </p:nvSpPr>
          <p:spPr>
            <a:xfrm flipH="1">
              <a:off x="2571750" y="3794125"/>
              <a:ext cx="1371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0" name="Line 87"/>
            <p:cNvSpPr/>
            <p:nvPr/>
          </p:nvSpPr>
          <p:spPr>
            <a:xfrm flipV="1">
              <a:off x="3257550" y="3870325"/>
              <a:ext cx="0" cy="3048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1" name="Line 88"/>
            <p:cNvSpPr/>
            <p:nvPr/>
          </p:nvSpPr>
          <p:spPr>
            <a:xfrm flipH="1">
              <a:off x="2571750" y="3870325"/>
              <a:ext cx="685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2" name="Line 89"/>
            <p:cNvSpPr/>
            <p:nvPr/>
          </p:nvSpPr>
          <p:spPr>
            <a:xfrm>
              <a:off x="2565400" y="5470525"/>
              <a:ext cx="457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3" name="Line 90"/>
            <p:cNvSpPr/>
            <p:nvPr/>
          </p:nvSpPr>
          <p:spPr>
            <a:xfrm>
              <a:off x="3276600" y="5470525"/>
              <a:ext cx="457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4" name="Line 91"/>
            <p:cNvSpPr/>
            <p:nvPr/>
          </p:nvSpPr>
          <p:spPr>
            <a:xfrm>
              <a:off x="3733800" y="5470525"/>
              <a:ext cx="0" cy="4572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5" name="Line 92"/>
            <p:cNvSpPr/>
            <p:nvPr/>
          </p:nvSpPr>
          <p:spPr>
            <a:xfrm>
              <a:off x="2997200" y="5394325"/>
              <a:ext cx="304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6" name="Line 93"/>
            <p:cNvSpPr/>
            <p:nvPr/>
          </p:nvSpPr>
          <p:spPr>
            <a:xfrm>
              <a:off x="3149600" y="5286375"/>
              <a:ext cx="0" cy="762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7" name="Text Box 94"/>
            <p:cNvSpPr txBox="1"/>
            <p:nvPr/>
          </p:nvSpPr>
          <p:spPr>
            <a:xfrm>
              <a:off x="1692275" y="3176588"/>
              <a:ext cx="835025" cy="8540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P1.0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P1.7</a:t>
              </a:r>
            </a:p>
          </p:txBody>
        </p:sp>
        <p:sp>
          <p:nvSpPr>
            <p:cNvPr id="75868" name="Line 96"/>
            <p:cNvSpPr/>
            <p:nvPr/>
          </p:nvSpPr>
          <p:spPr>
            <a:xfrm>
              <a:off x="1981200" y="5318125"/>
              <a:ext cx="393700" cy="0"/>
            </a:xfrm>
            <a:prstGeom prst="line">
              <a:avLst/>
            </a:prstGeom>
            <a:ln w="9525" cap="sq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69" name="Line 97"/>
            <p:cNvSpPr/>
            <p:nvPr/>
          </p:nvSpPr>
          <p:spPr>
            <a:xfrm flipV="1">
              <a:off x="3733800" y="5851525"/>
              <a:ext cx="0" cy="22860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70" name="Line 98"/>
            <p:cNvSpPr/>
            <p:nvPr/>
          </p:nvSpPr>
          <p:spPr>
            <a:xfrm>
              <a:off x="3581400" y="6080125"/>
              <a:ext cx="3048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71" name="Line 99"/>
            <p:cNvSpPr/>
            <p:nvPr/>
          </p:nvSpPr>
          <p:spPr>
            <a:xfrm>
              <a:off x="3619500" y="6156325"/>
              <a:ext cx="2286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72" name="Line 100"/>
            <p:cNvSpPr/>
            <p:nvPr/>
          </p:nvSpPr>
          <p:spPr>
            <a:xfrm>
              <a:off x="3657600" y="6232525"/>
              <a:ext cx="1524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73" name="Line 101"/>
            <p:cNvSpPr/>
            <p:nvPr/>
          </p:nvSpPr>
          <p:spPr>
            <a:xfrm>
              <a:off x="3695700" y="6308725"/>
              <a:ext cx="76200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5874" name="Text Box 102"/>
            <p:cNvSpPr txBox="1"/>
            <p:nvPr/>
          </p:nvSpPr>
          <p:spPr>
            <a:xfrm>
              <a:off x="5940425" y="5373688"/>
              <a:ext cx="11430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300 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</a:t>
              </a:r>
              <a:endPara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875" name="矩形 2"/>
          <p:cNvSpPr>
            <a:spLocks noRot="1" noChangeAspect="1" noEditPoints="1" noTextEdit="1"/>
          </p:cNvSpPr>
          <p:nvPr/>
        </p:nvSpPr>
        <p:spPr>
          <a:xfrm>
            <a:off x="1327150" y="5194300"/>
            <a:ext cx="879475" cy="42545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/>
              <p:cNvSpPr txBox="1"/>
              <p:nvPr/>
            </p:nvSpPr>
            <p:spPr>
              <a:xfrm>
                <a:off x="257505" y="736608"/>
                <a:ext cx="8635669" cy="2202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例题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通过外部中断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中断服务中将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寄存器里的内容左环移一位。已知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(B)=01H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，要求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采用边沿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触发，低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优先级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4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引脚接一个按钮开关到地，每按一下按钮就申请一次中断，中断服务则是：依次点亮八盏灯中的一盏。 </a:t>
                </a:r>
              </a:p>
            </p:txBody>
          </p:sp>
        </mc:Choice>
        <mc:Fallback xmlns="">
          <p:sp>
            <p:nvSpPr>
              <p:cNvPr id="102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2202398"/>
              </a:xfrm>
              <a:prstGeom prst="rect">
                <a:avLst/>
              </a:prstGeom>
              <a:blipFill rotWithShape="0">
                <a:blip r:embed="rId7"/>
                <a:stretch>
                  <a:fillRect l="-1059" r="-1059" b="-3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</p:txBody>
      </p:sp>
      <p:pic>
        <p:nvPicPr>
          <p:cNvPr id="7782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27" name="文本框 1"/>
          <p:cNvSpPr txBox="1"/>
          <p:nvPr/>
        </p:nvSpPr>
        <p:spPr>
          <a:xfrm>
            <a:off x="257175" y="736600"/>
            <a:ext cx="8636000" cy="600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2" algn="just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ORG       0000H           </a:t>
            </a:r>
          </a:p>
          <a:p>
            <a:pPr lvl="2" algn="just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LJMP      MAIN</a:t>
            </a:r>
          </a:p>
          <a:p>
            <a:pPr lvl="2" algn="just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ORG       0013H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；中断矢量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LJMP      INT</a:t>
            </a:r>
          </a:p>
          <a:p>
            <a:pPr lvl="2" algn="just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  EA 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；开总中断允许“开关”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  EX1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；开分中断允许“开关” 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   PX1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en-US" altLang="zh-CN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可不要此</a:t>
            </a:r>
            <a:r>
              <a:rPr lang="zh-CN" altLang="en-US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</a:t>
            </a:r>
            <a:r>
              <a:rPr lang="en-US" altLang="zh-CN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  IT1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；边沿触发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B, #01H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赋初值</a:t>
            </a:r>
          </a:p>
          <a:p>
            <a:pPr lvl="2" algn="just"/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  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原地等待中断申请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 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；自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寄存器中取数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           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；左环移一次   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 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；存回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B,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备下次取用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 P1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；输出到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  <a:p>
            <a:pPr lvl="2" algn="just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；中断返回</a:t>
            </a:r>
          </a:p>
        </p:txBody>
      </p:sp>
      <p:pic>
        <p:nvPicPr>
          <p:cNvPr id="7782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7987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8089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4745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一、中断程序安排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、主程序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单片机复位后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(PC)=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。主程序只分配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0000H-0002H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个单元。程序空间远远不够。解决方法：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单元设置一条长跳转指令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LJMP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，跳向主程序的入口处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。而真正的主程序可以安排在程序存储器其他位置。</a:t>
            </a: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、中断服务程序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每个中断服务程序在固定的位置，由系统分配相邻的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用于存储中断处理程序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中断矢量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90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8294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7" name="文本框 1"/>
          <p:cNvSpPr txBox="1"/>
          <p:nvPr/>
        </p:nvSpPr>
        <p:spPr>
          <a:xfrm>
            <a:off x="257175" y="736600"/>
            <a:ext cx="8636000" cy="5715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一、中断程序安排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如果程序空间不够，可参照主程序的方法进行设置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常见程序格式如下：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0000H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LJMP	MAIN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	 	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0003H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LJMP	INT_0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…	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ORG	 0030H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MAIN: 		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…	       	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主程序区，进行初始化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	$     	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等待中断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INT_0: 		 	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服务子程序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RETI</a:t>
            </a:r>
          </a:p>
        </p:txBody>
      </p:sp>
      <p:pic>
        <p:nvPicPr>
          <p:cNvPr id="8294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8499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410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二、中断初始化步骤</a:t>
            </a:r>
            <a:endParaRPr lang="zh-CN" altLang="en-US" sz="2400" b="1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89C52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单片机中，共有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个中断源，中断的初始化主要是对由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个特殊功能寄存器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T2CON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SCON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进行设置。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初始化包含以下几个方面：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中断服务程序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入口</a:t>
            </a:r>
            <a:r>
              <a:rPr lang="zh-CN" altLang="en-US" sz="2400" noProof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设定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某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一中断源</a:t>
            </a: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中断请求允许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与禁止，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外部中断请求，需进行触发</a:t>
            </a: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方式设定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TCON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中断源优先</a:t>
            </a:r>
            <a:r>
              <a:rPr lang="zh-CN" altLang="en-US" sz="2400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级别设定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</a:t>
            </a:r>
            <a:r>
              <a:rPr lang="en-US" altLang="zh-CN" sz="24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89C52</a:t>
            </a:r>
            <a:r>
              <a:rPr lang="zh-CN" altLang="en-US" sz="24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</a:t>
            </a:r>
            <a:r>
              <a:rPr lang="zh-CN" altLang="en-US" sz="24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初始化部分应放在主程序中。</a:t>
            </a:r>
            <a:endParaRPr lang="zh-CN" altLang="en-US" sz="2400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99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8704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041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三、中断服务程序流程设计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结束到中断请求后，在条件满足的情况下，响应中断并转到对应的中断服务程序入口处执行 。中断程序主要由如下所示几部分组成：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、保护现场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中断响应过程后，系统将断点进行保护。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断点压入堆栈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，再将中断服务程序的入口地址送入程序计数器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保护在保护现场程序前，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保护现场程序的位置在</a:t>
            </a:r>
            <a:r>
              <a:rPr lang="zh-CN" altLang="en-US" sz="2400" dirty="0" smtClean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中断服务程序前面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8704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8909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259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三、中断服务程序流程设计</a:t>
            </a: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2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、关中断和开中断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89C52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允许中断嵌套，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为避免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在保护现场或恢复现场时，由于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响应其它中断请求，而使现场破坏，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一般规定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，在保护和恢复现场时，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不响应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外界中断请求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，即关中断。因此，在编写程序时，</a:t>
            </a:r>
            <a:r>
              <a:rPr lang="zh-CN" altLang="en-US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应在保护现场和恢复现场之前，关闭</a:t>
            </a:r>
            <a:r>
              <a:rPr lang="en-US" altLang="zh-CN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；在保护现场和恢复现场之后，再根据需要使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开中断。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3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、中断请求撤除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响应某中断请求后，在中断返回前，应该撤消该中断请求。中断请求撤除方法如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节所述。</a:t>
            </a:r>
          </a:p>
        </p:txBody>
      </p:sp>
      <p:pic>
        <p:nvPicPr>
          <p:cNvPr id="8909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charRg st="37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charRg st="3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charRg st="3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03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charRg st="203" end="2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charRg st="203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charRg st="203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9113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59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三、中断服务程序流程设计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4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、中断源的识别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串行口中断：接收中断请求标志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和发送中断请求标志位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共用中断矢量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(0023H)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一个中断允许位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和中断优先级选择位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定时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：中断请求标志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EXF2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，共用一个中断矢量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(002BH)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合用一个中断允许位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和中断优先级选择位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在中断服务程序中要用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查询语句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区分是哪种中断引起的中断请求，清除其中断请求标志。    </a:t>
            </a:r>
          </a:p>
        </p:txBody>
      </p:sp>
      <p:pic>
        <p:nvPicPr>
          <p:cNvPr id="91140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charRg st="36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charRg st="3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charRg st="3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09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charRg st="109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charRg st="109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charRg st="109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83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charRg st="183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charRg st="183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charRg st="183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9318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595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三、中断服务程序流程设计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5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、恢复现场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在结束中断服务程序返回断点处前要恢复现场。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、中断返回</a:t>
            </a:r>
            <a:endParaRPr lang="en-US" altLang="zh-CN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执行到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指令时，将当前栈顶内容弹出到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，恢复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断点。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恢复断点也是由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电路自动实现的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中断服务程序最后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，不能为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思考：中断服务程序和子程序的区别？</a:t>
            </a:r>
          </a:p>
        </p:txBody>
      </p:sp>
      <p:pic>
        <p:nvPicPr>
          <p:cNvPr id="9318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9523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57505" y="736608"/>
                <a:ext cx="8635669" cy="5863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4.6.1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单步操作的中断实现</a:t>
                </a:r>
                <a:endPara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中断系统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的一个重要特性即</a:t>
                </a:r>
                <a:r>
                  <a:rPr lang="zh-CN" altLang="en-US" sz="2400" u="sng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中断请求只有在一条指令执行完之后才会再次得到响应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，并且正在响应中断时，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同级中断将被屏蔽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，利用这个特点即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可实现单步操作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例如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，把外部中断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设置为电平触发方式。在某一中断服务程序的末尾加上以下几条指令：</a:t>
                </a:r>
              </a:p>
              <a:p>
                <a:pPr lvl="2" algn="just">
                  <a:lnSpc>
                    <a:spcPct val="140000"/>
                  </a:lnSpc>
                </a:pP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JNB	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P3.2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$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在变高前原地等待</a:t>
                </a:r>
              </a:p>
              <a:p>
                <a:pPr lvl="2" algn="just">
                  <a:lnSpc>
                    <a:spcPct val="140000"/>
                  </a:lnSpc>
                </a:pP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JB	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P3.2</a:t>
                </a:r>
                <a:r>
                  <a:rPr lang="en-US" altLang="zh-CN" sz="2400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sz="2400" dirty="0" smtClean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$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在变低前原地等待</a:t>
                </a:r>
              </a:p>
              <a:p>
                <a:pPr lvl="2" algn="just">
                  <a:lnSpc>
                    <a:spcPct val="140000"/>
                  </a:lnSpc>
                </a:pPr>
                <a:r>
                  <a:rPr lang="en-US" altLang="zh-CN" sz="2400" b="1" u="sng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RETI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		; 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返回并执行一条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</a:t>
                </a:r>
                <a:endPara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lvl="2" algn="just">
                  <a:lnSpc>
                    <a:spcPct val="140000"/>
                  </a:lnSpc>
                  <a:spcBef>
                    <a:spcPts val="1000"/>
                  </a:spcBef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sz="2000" dirty="0" smtClean="0">
                    <a:solidFill>
                      <a:srgbClr val="99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rgbClr val="99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rgbClr val="99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000">
                            <a:solidFill>
                              <a:srgbClr val="99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srgbClr val="99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引脚每出现一个正脉冲，主程序就执行一条指令，实现单步操作，正脉冲的高电平持续时间不低于</a:t>
                </a:r>
                <a:r>
                  <a:rPr lang="en-US" altLang="zh-CN" sz="2000" dirty="0" smtClean="0">
                    <a:solidFill>
                      <a:srgbClr val="99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 smtClean="0">
                    <a:solidFill>
                      <a:srgbClr val="99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个机器周期。</a:t>
                </a:r>
                <a:endParaRPr lang="en-US" altLang="zh-CN" sz="2000" dirty="0" smtClean="0">
                  <a:solidFill>
                    <a:srgbClr val="99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863913"/>
              </a:xfrm>
              <a:prstGeom prst="rect">
                <a:avLst/>
              </a:prstGeom>
              <a:blipFill>
                <a:blip r:embed="rId6"/>
                <a:stretch>
                  <a:fillRect l="-1059" r="-1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9728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3" name="文本框 1"/>
          <p:cNvSpPr txBox="1"/>
          <p:nvPr/>
        </p:nvSpPr>
        <p:spPr>
          <a:xfrm>
            <a:off x="257175" y="727075"/>
            <a:ext cx="8636000" cy="55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4.6.1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单步操作的中断实现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284" name="Rectangle 4"/>
          <p:cNvSpPr/>
          <p:nvPr/>
        </p:nvSpPr>
        <p:spPr>
          <a:xfrm>
            <a:off x="255588" y="1427163"/>
            <a:ext cx="2736850" cy="4448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AJMP  0030H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    0003H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AJMP  TRAP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    0030H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   EA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   EX0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SETB    IE0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P1,  #0;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#1;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#2;</a:t>
            </a:r>
          </a:p>
        </p:txBody>
      </p:sp>
      <p:sp>
        <p:nvSpPr>
          <p:cNvPr id="97285" name="Rectangle 5"/>
          <p:cNvSpPr/>
          <p:nvPr/>
        </p:nvSpPr>
        <p:spPr>
          <a:xfrm>
            <a:off x="3219450" y="1462088"/>
            <a:ext cx="2736850" cy="2233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#3;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#4;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#5;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#6;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MOV   P1,  #7;</a:t>
            </a:r>
          </a:p>
        </p:txBody>
      </p:sp>
      <p:pic>
        <p:nvPicPr>
          <p:cNvPr id="9728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919538"/>
            <a:ext cx="5013325" cy="278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7" name="Rectangle 5"/>
          <p:cNvSpPr/>
          <p:nvPr/>
        </p:nvSpPr>
        <p:spPr>
          <a:xfrm>
            <a:off x="6162675" y="1427163"/>
            <a:ext cx="2736850" cy="17894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TRAP: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 P3.2, $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JB    P3.2, $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 b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</a:p>
        </p:txBody>
      </p:sp>
      <p:pic>
        <p:nvPicPr>
          <p:cNvPr id="97288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9933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927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4.6.2 </a:t>
            </a:r>
            <a:r>
              <a:rPr lang="zh-CN" altLang="en-US" sz="2400" b="1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外部中断源的扩展</a:t>
            </a:r>
            <a:endParaRPr lang="en-US" altLang="zh-CN" sz="2400" b="1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利用定时器扩展外部中断源</a:t>
            </a:r>
            <a:endParaRPr lang="zh-CN" altLang="en-US" sz="24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把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8051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的两个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r>
              <a:rPr lang="en-US" altLang="zh-CN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r>
              <a:rPr lang="en-US" altLang="zh-CN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(T0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T1)</a:t>
            </a:r>
            <a:r>
              <a:rPr lang="zh-CN" altLang="en-US" sz="2000" noProof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</a:t>
            </a:r>
            <a:r>
              <a:rPr lang="zh-CN" altLang="en-US" sz="20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为计数器方式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，每当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P3.4(T0)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或</a:t>
            </a:r>
            <a:r>
              <a:rPr lang="en-US" altLang="zh-CN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P3.5(T1)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引脚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上发生负跳变时，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的计数器加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。利用这个特性，可以把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P3.4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P3.5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引脚作为外部中断请求源，而</a:t>
            </a:r>
            <a:r>
              <a:rPr lang="zh-CN" altLang="en-US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定时器的溢出中断作为外部中断请求标志</a:t>
            </a:r>
            <a:r>
              <a:rPr lang="zh-CN" altLang="en-US" sz="2000" noProof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sz="20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例如，设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为模式</a:t>
            </a:r>
            <a:r>
              <a:rPr lang="en-US" altLang="zh-CN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外部计数方式，时间常数为</a:t>
            </a:r>
            <a:r>
              <a:rPr lang="en-US" altLang="zh-CN" sz="2000" noProof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0FFH</a:t>
            </a:r>
            <a:r>
              <a:rPr lang="zh-CN" altLang="en-US" sz="20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，允许中断。其初始化程序为：</a:t>
            </a:r>
            <a:endParaRPr lang="zh-CN" altLang="en-US" sz="20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 	TMOD,  #06H	  ; 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为模式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，计数器方式工作</a:t>
            </a:r>
            <a:endParaRPr lang="zh-CN" altLang="en-US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 	TL0,      #0FFH	  ; 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时间常数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0FFH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分别送入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TL0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TH0</a:t>
            </a:r>
            <a:endParaRPr lang="en-US" altLang="zh-CN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 	TH0,     #0FFH</a:t>
            </a:r>
            <a:endParaRPr lang="en-US" altLang="zh-CN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	IE,         #82H	  ; 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允许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</a:t>
            </a:r>
            <a:endParaRPr lang="zh-CN" altLang="en-US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SETB	TR0		  ; 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软件启动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T0</a:t>
            </a: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</a:t>
            </a:r>
            <a:endParaRPr lang="zh-CN" altLang="en-US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</a:t>
            </a:r>
            <a:r>
              <a:rPr lang="en-US" altLang="zh-CN" sz="2000" strike="noStrike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 </a:t>
            </a:r>
            <a:endParaRPr lang="en-US" altLang="zh-CN" sz="2000" strike="noStrike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933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10137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1380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918324"/>
              </p:ext>
            </p:extLst>
          </p:nvPr>
        </p:nvGraphicFramePr>
        <p:xfrm>
          <a:off x="2494126" y="3639227"/>
          <a:ext cx="4162425" cy="2665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Visio" r:id="rId5" imgW="6210275" imgH="3981314" progId="Visio.Drawing.11">
                  <p:embed/>
                </p:oleObj>
              </mc:Choice>
              <mc:Fallback>
                <p:oleObj name="Visio" r:id="rId5" imgW="6210275" imgH="3981314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4126" y="3639227"/>
                        <a:ext cx="4162425" cy="266531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381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57505" y="736608"/>
                <a:ext cx="8635669" cy="2845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4.6.2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外部中断源的扩展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4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加查询方式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利用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MCS-51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单片机的两条外部中断输入线中的任何一条，</a:t>
                </a:r>
                <a:r>
                  <a:rPr lang="zh-CN" altLang="en-US" sz="2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通过“与”的关系连接多个外部中断源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，无论哪个外部装置提出中断请求，都会使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0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电平发生变化，究竟是哪个外部装置造成中断，</a:t>
                </a:r>
                <a:r>
                  <a:rPr lang="zh-CN" altLang="en-US" sz="2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可以通过查询相应</a:t>
                </a:r>
                <a:r>
                  <a:rPr lang="en-US" altLang="zh-CN" sz="2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</a:t>
                </a:r>
                <a:r>
                  <a:rPr lang="zh-CN" altLang="en-US" sz="2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口引脚的逻辑电平获知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，具体电路如图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4-8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所示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2845779"/>
              </a:xfrm>
              <a:prstGeom prst="rect">
                <a:avLst/>
              </a:prstGeom>
              <a:blipFill rotWithShape="0">
                <a:blip r:embed="rId9"/>
                <a:stretch>
                  <a:fillRect l="-1059" r="-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10342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861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外部中断源的扩展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中断加查询方式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这四个中断源的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优先级由软件排定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。下面是有关程序，中断优先级按装置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由高到低顺序排列。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  0003H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LJMP 	  INT0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INT0: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  PSW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  ACC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	  P1.7,   DV1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	  P1.6,   DV2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	  P1.5,   DV3</a:t>
            </a:r>
          </a:p>
          <a:p>
            <a:pPr lvl="4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         p1.4,   DV4 </a:t>
            </a:r>
          </a:p>
        </p:txBody>
      </p:sp>
      <p:pic>
        <p:nvPicPr>
          <p:cNvPr id="10342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</p:txBody>
      </p:sp>
      <p:pic>
        <p:nvPicPr>
          <p:cNvPr id="12697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48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外部中断源的扩展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中断加查询方式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GB:   POP     ACC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POP     PSW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RETI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DV1:  ……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GB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DV2:  ……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GB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DV3:  ……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GB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DV4:  ……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GB</a:t>
            </a:r>
          </a:p>
        </p:txBody>
      </p:sp>
      <p:pic>
        <p:nvPicPr>
          <p:cNvPr id="126981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文本框 2"/>
          <p:cNvSpPr txBox="1"/>
          <p:nvPr/>
        </p:nvSpPr>
        <p:spPr>
          <a:xfrm>
            <a:off x="971550" y="1809750"/>
            <a:ext cx="7921625" cy="3970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中断系统结构及中断控制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MCS-51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中断响应过程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中断响应后中断请求的撤除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 </a:t>
            </a:r>
            <a:r>
              <a:rPr lang="zh-CN" altLang="en-US" sz="24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中断系统应用实例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0547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47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0649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500" name="文本框 2"/>
          <p:cNvSpPr txBox="1"/>
          <p:nvPr/>
        </p:nvSpPr>
        <p:spPr>
          <a:xfrm>
            <a:off x="261938" y="2390775"/>
            <a:ext cx="4253865" cy="40786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0000H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AJMP  MAIN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ORG    0003H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AJMP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IP0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ORG    0030H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 MOV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SP,       #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IT0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SETB    EA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SETB    EX0</a:t>
            </a:r>
          </a:p>
        </p:txBody>
      </p:sp>
      <p:sp>
        <p:nvSpPr>
          <p:cNvPr id="106501" name="文本框 9"/>
          <p:cNvSpPr txBox="1"/>
          <p:nvPr/>
        </p:nvSpPr>
        <p:spPr>
          <a:xfrm>
            <a:off x="5094288" y="2390775"/>
            <a:ext cx="3802644" cy="230832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MOV    R7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#00H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LP:     ACALL DISP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AJMP   LP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IP0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      R7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RETI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502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57505" y="736608"/>
                <a:ext cx="8635669" cy="1685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en-US" altLang="zh-CN" sz="24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24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4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设计一个程序，能够实时显示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引脚上出现负跳变信号的累计数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设此数小于</a:t>
                </a: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255)</a:t>
                </a: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程序如下：</a:t>
                </a: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1685333"/>
              </a:xfrm>
              <a:prstGeom prst="rect">
                <a:avLst/>
              </a:prstGeom>
              <a:blipFill>
                <a:blip r:embed="rId5"/>
                <a:stretch>
                  <a:fillRect l="-1059" r="-1059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0854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47" name="文本框 10"/>
          <p:cNvSpPr txBox="1"/>
          <p:nvPr/>
        </p:nvSpPr>
        <p:spPr>
          <a:xfrm>
            <a:off x="2659063" y="512763"/>
            <a:ext cx="4483100" cy="62976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ORG     0000H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MAIN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 0003H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AJMP   IP0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ORG     0030H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MAIN:  MOV 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SP,         #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   IT0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SETB     EA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SETB     EX0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MOV 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R7,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 $</a:t>
            </a:r>
          </a:p>
          <a:p>
            <a:pPr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IP0: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      R7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ACALL  DISP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0854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1059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5" name="文本框 1"/>
          <p:cNvSpPr txBox="1"/>
          <p:nvPr/>
        </p:nvSpPr>
        <p:spPr>
          <a:xfrm>
            <a:off x="257175" y="736600"/>
            <a:ext cx="8636000" cy="151426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的状态，把这个状态送到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P1.7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为高电平，指示灯亮；当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为低电平时，指示灯不亮。要求用中断控制这一输入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输出过程，每请求中断一次，完成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一次读写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0596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330450"/>
            <a:ext cx="6464300" cy="397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1264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3" name="文本框 1"/>
          <p:cNvSpPr txBox="1"/>
          <p:nvPr/>
        </p:nvSpPr>
        <p:spPr>
          <a:xfrm>
            <a:off x="268288" y="736600"/>
            <a:ext cx="7370762" cy="58464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0000H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AJMP	MAIN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转到主程序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0003H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矢量地址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	INT_0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转往中断服务子程序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0050H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MAIN: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IT0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选择边沿触发方式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	EX0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 中断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	EA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开中断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HERE:	SJMP 	HERE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踏步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ORG	0200H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中断程序入口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INT_0:	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A,         #0FFH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P1,      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设输入态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A,         P1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读开关状态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	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P1.7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P1,        A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驱动二极管发光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	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中断返回</a:t>
            </a:r>
          </a:p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3263" y="4894263"/>
            <a:ext cx="1839912" cy="830262"/>
          </a:xfrm>
          <a:prstGeom prst="rect">
            <a:avLst/>
          </a:prstGeom>
          <a:solidFill>
            <a:srgbClr val="F8CBAD"/>
          </a:solidFill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P1.7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pic>
        <p:nvPicPr>
          <p:cNvPr id="112645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1469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691" name="文本框 9"/>
          <p:cNvSpPr txBox="1"/>
          <p:nvPr/>
        </p:nvSpPr>
        <p:spPr>
          <a:xfrm>
            <a:off x="257175" y="736600"/>
            <a:ext cx="8636000" cy="56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中断优先级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proteus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469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775" y="1674813"/>
            <a:ext cx="6099175" cy="4371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693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1673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739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38" y="2513013"/>
            <a:ext cx="7426325" cy="3813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741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57505" y="736608"/>
                <a:ext cx="8635669" cy="1591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en-US" altLang="zh-CN" sz="22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22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200" dirty="0" smtClean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单片机的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口接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LED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LED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闪烁。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2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zh-CN" altLang="en-US" sz="22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中断的功能是使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口的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LED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做一个灯的左移右移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次。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CN" altLang="en-US" sz="22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INT</m:t>
                        </m:r>
                        <m:r>
                          <m:rPr>
                            <m:nor/>
                          </m:rPr>
                          <a:rPr lang="en-US" altLang="zh-CN" sz="2200" b="0" i="0" smtClean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</m:e>
                    </m:acc>
                  </m:oMath>
                </a14:m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2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高优先级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的功能是使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口的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LED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做两个灯的左移右移</a:t>
                </a:r>
                <a:r>
                  <a:rPr lang="en-US" altLang="zh-CN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2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次。</a:t>
                </a:r>
                <a:endPara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1591333"/>
              </a:xfrm>
              <a:prstGeom prst="rect">
                <a:avLst/>
              </a:prstGeom>
              <a:blipFill>
                <a:blip r:embed="rId6"/>
                <a:stretch>
                  <a:fillRect l="-917" r="-847"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1878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787" name="文本框 9"/>
          <p:cNvSpPr txBox="1"/>
          <p:nvPr/>
        </p:nvSpPr>
        <p:spPr>
          <a:xfrm>
            <a:off x="257175" y="736600"/>
            <a:ext cx="8636000" cy="56311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ORG	0000H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AJMP	START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跳到主程序起始地址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	0003H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中断矢量地址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	EXT0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转到 子程序起始地址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	0013H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中断矢量地址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	EXT1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转到 子程序起始地址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START: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IE,   #10000101B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允许、中断、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开中断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IP,   #00000100B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为高优先级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TCON,  #00H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为电平触发方式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SP,  #70H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设定堆栈指针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A,   #00H	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				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LOOP:	MOV 	P1,  A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闪烁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ACALL	DELAY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CPL	A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反相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全亮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	LOOP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重复循环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EXT0:	</a:t>
            </a:r>
            <a:r>
              <a:rPr lang="en-US" altLang="zh-CN" sz="20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ACC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PSW</a:t>
            </a:r>
          </a:p>
        </p:txBody>
      </p:sp>
      <p:pic>
        <p:nvPicPr>
          <p:cNvPr id="11878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2083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0835" name="文本框 9"/>
          <p:cNvSpPr txBox="1"/>
          <p:nvPr/>
        </p:nvSpPr>
        <p:spPr>
          <a:xfrm>
            <a:off x="257175" y="736600"/>
            <a:ext cx="8636000" cy="5940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SETB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RS0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设定工作寄存器组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		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CLR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RS1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R3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LOOP1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左移初值，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1111B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设定左移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LOOP2: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RLC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左移一位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ACALL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DELAY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DJNZ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LOOP2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LOOP3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RRC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右移一位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ACALL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DELAY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DJNZ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LOOP3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R3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LOOP1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，外部中断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en-US" altLang="zh-CN" sz="20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PSW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恢复现场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en-US" altLang="zh-CN" sz="2000" dirty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 smtClean="0">
                <a:solidFill>
                  <a:srgbClr val="99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</a:t>
            </a:r>
            <a:endParaRPr lang="en-US" altLang="zh-CN" sz="2000" dirty="0">
              <a:solidFill>
                <a:srgbClr val="99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RETI			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中断返回</a:t>
            </a:r>
          </a:p>
        </p:txBody>
      </p:sp>
      <p:pic>
        <p:nvPicPr>
          <p:cNvPr id="12083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2288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3" name="文本框 9"/>
          <p:cNvSpPr txBox="1"/>
          <p:nvPr/>
        </p:nvSpPr>
        <p:spPr>
          <a:xfrm>
            <a:off x="257175" y="736600"/>
            <a:ext cx="8636000" cy="5324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EXT1: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ACC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PSW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SETB 	RS1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设定工作寄存器组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CLR	RS0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R3,   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#03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LOOP4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:MOV    A,    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#0FCH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左移初值，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 1100B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R2,   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#06H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设定左移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LOOP5:	RL	A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左移一位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P1,    A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ACALL	DELAY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R2,    LOOP5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R2,   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#06H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LOOP6:	RR	A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右移一位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P1,     A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ACALL	DELAY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R2,    LOOP6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	R3,    LOOP4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，外部中断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pic>
        <p:nvPicPr>
          <p:cNvPr id="12288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文本框 5"/>
          <p:cNvSpPr txBox="1"/>
          <p:nvPr/>
        </p:nvSpPr>
        <p:spPr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中断程序举例</a:t>
            </a:r>
          </a:p>
        </p:txBody>
      </p:sp>
      <p:pic>
        <p:nvPicPr>
          <p:cNvPr id="12493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31" name="文本框 9"/>
          <p:cNvSpPr txBox="1"/>
          <p:nvPr/>
        </p:nvSpPr>
        <p:spPr>
          <a:xfrm>
            <a:off x="257175" y="736600"/>
            <a:ext cx="8636000" cy="3478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	PSW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恢复现场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	ACC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中断返回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DELAY:	MOV 	R5,     #20	; 0.2s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D1:	MOV 	R6,     #20	; 10ms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D2:	MOV 	R7,     #248	; 0.5ms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R7,     $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R6,     D2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R5,     D1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RET</a:t>
            </a: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		END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493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5491</Words>
  <Application>Microsoft Office PowerPoint</Application>
  <PresentationFormat>全屏显示(4:3)</PresentationFormat>
  <Paragraphs>689</Paragraphs>
  <Slides>66</Slides>
  <Notes>59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黑体</vt:lpstr>
      <vt:lpstr>宋体</vt:lpstr>
      <vt:lpstr>微软雅黑</vt:lpstr>
      <vt:lpstr>Arial</vt:lpstr>
      <vt:lpstr>Calibri</vt:lpstr>
      <vt:lpstr>Calibri Light</vt:lpstr>
      <vt:lpstr>Cambria Math</vt:lpstr>
      <vt:lpstr>Symbol</vt:lpstr>
      <vt:lpstr>Wingdings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AHU</cp:lastModifiedBy>
  <cp:revision>430</cp:revision>
  <dcterms:created xsi:type="dcterms:W3CDTF">2019-03-15T01:02:00Z</dcterms:created>
  <dcterms:modified xsi:type="dcterms:W3CDTF">2022-05-25T00:20:06Z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