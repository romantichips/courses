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tiff" ContentType="image/tif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3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sldIdLst>
    <p:sldId id="450" r:id="rId2"/>
    <p:sldId id="465" r:id="rId3"/>
    <p:sldId id="395" r:id="rId4"/>
    <p:sldId id="491" r:id="rId5"/>
    <p:sldId id="499" r:id="rId6"/>
    <p:sldId id="500" r:id="rId7"/>
    <p:sldId id="494" r:id="rId8"/>
    <p:sldId id="501" r:id="rId9"/>
    <p:sldId id="502" r:id="rId10"/>
    <p:sldId id="503" r:id="rId11"/>
    <p:sldId id="504" r:id="rId12"/>
    <p:sldId id="505" r:id="rId13"/>
    <p:sldId id="510" r:id="rId14"/>
    <p:sldId id="506" r:id="rId15"/>
    <p:sldId id="507" r:id="rId16"/>
    <p:sldId id="495" r:id="rId17"/>
    <p:sldId id="508" r:id="rId18"/>
    <p:sldId id="509" r:id="rId19"/>
    <p:sldId id="511" r:id="rId20"/>
    <p:sldId id="512" r:id="rId21"/>
    <p:sldId id="513" r:id="rId22"/>
    <p:sldId id="514" r:id="rId23"/>
    <p:sldId id="515" r:id="rId24"/>
    <p:sldId id="516" r:id="rId25"/>
    <p:sldId id="531" r:id="rId26"/>
    <p:sldId id="588" r:id="rId27"/>
    <p:sldId id="589" r:id="rId28"/>
    <p:sldId id="586" r:id="rId29"/>
    <p:sldId id="517" r:id="rId30"/>
    <p:sldId id="518" r:id="rId31"/>
    <p:sldId id="519" r:id="rId32"/>
    <p:sldId id="522" r:id="rId33"/>
    <p:sldId id="520" r:id="rId34"/>
    <p:sldId id="521" r:id="rId35"/>
    <p:sldId id="538" r:id="rId36"/>
    <p:sldId id="524" r:id="rId37"/>
    <p:sldId id="525" r:id="rId38"/>
    <p:sldId id="526" r:id="rId39"/>
    <p:sldId id="527" r:id="rId40"/>
    <p:sldId id="528" r:id="rId41"/>
    <p:sldId id="529" r:id="rId42"/>
    <p:sldId id="530" r:id="rId43"/>
    <p:sldId id="532" r:id="rId44"/>
    <p:sldId id="496" r:id="rId45"/>
    <p:sldId id="533" r:id="rId46"/>
    <p:sldId id="534" r:id="rId47"/>
    <p:sldId id="540" r:id="rId48"/>
    <p:sldId id="542" r:id="rId49"/>
    <p:sldId id="543" r:id="rId50"/>
    <p:sldId id="544" r:id="rId51"/>
    <p:sldId id="535" r:id="rId52"/>
    <p:sldId id="545" r:id="rId53"/>
    <p:sldId id="561" r:id="rId54"/>
    <p:sldId id="565" r:id="rId55"/>
    <p:sldId id="562" r:id="rId56"/>
    <p:sldId id="563" r:id="rId57"/>
    <p:sldId id="564" r:id="rId58"/>
    <p:sldId id="536" r:id="rId59"/>
    <p:sldId id="551" r:id="rId60"/>
    <p:sldId id="554" r:id="rId61"/>
    <p:sldId id="555" r:id="rId62"/>
    <p:sldId id="556" r:id="rId63"/>
    <p:sldId id="557" r:id="rId64"/>
    <p:sldId id="559" r:id="rId65"/>
    <p:sldId id="560" r:id="rId66"/>
    <p:sldId id="537" r:id="rId67"/>
    <p:sldId id="639" r:id="rId68"/>
    <p:sldId id="553" r:id="rId69"/>
    <p:sldId id="497" r:id="rId70"/>
    <p:sldId id="647" r:id="rId71"/>
    <p:sldId id="547" r:id="rId72"/>
    <p:sldId id="549" r:id="rId73"/>
    <p:sldId id="566" r:id="rId74"/>
    <p:sldId id="548" r:id="rId75"/>
    <p:sldId id="550" r:id="rId7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4">
          <p15:clr>
            <a:srgbClr val="A4A3A4"/>
          </p15:clr>
        </p15:guide>
        <p15:guide id="2" orient="horz" pos="2226">
          <p15:clr>
            <a:srgbClr val="A4A3A4"/>
          </p15:clr>
        </p15:guide>
        <p15:guide id="3" orient="horz" pos="50">
          <p15:clr>
            <a:srgbClr val="A4A3A4"/>
          </p15:clr>
        </p15:guide>
        <p15:guide id="4" orient="horz" pos="4150">
          <p15:clr>
            <a:srgbClr val="A4A3A4"/>
          </p15:clr>
        </p15:guide>
        <p15:guide id="5" pos="160">
          <p15:clr>
            <a:srgbClr val="A4A3A4"/>
          </p15:clr>
        </p15:guide>
        <p15:guide id="6" pos="5603">
          <p15:clr>
            <a:srgbClr val="A4A3A4"/>
          </p15:clr>
        </p15:guide>
        <p15:guide id="7" orient="horz" pos="390">
          <p15:clr>
            <a:srgbClr val="A4A3A4"/>
          </p15:clr>
        </p15:guide>
        <p15:guide id="8" pos="612">
          <p15:clr>
            <a:srgbClr val="A4A3A4"/>
          </p15:clr>
        </p15:guide>
        <p15:guide id="9" orient="horz" pos="35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5" autoAdjust="0"/>
    <p:restoredTop sz="94464" autoAdjust="0"/>
  </p:normalViewPr>
  <p:slideViewPr>
    <p:cSldViewPr snapToGrid="0" showGuides="1">
      <p:cViewPr varScale="1">
        <p:scale>
          <a:sx n="71" d="100"/>
          <a:sy n="71" d="100"/>
        </p:scale>
        <p:origin x="666" y="60"/>
      </p:cViewPr>
      <p:guideLst>
        <p:guide pos="2884"/>
        <p:guide orient="horz" pos="2226"/>
        <p:guide orient="horz" pos="50"/>
        <p:guide orient="horz" pos="4150"/>
        <p:guide pos="160"/>
        <p:guide pos="5603"/>
        <p:guide orient="horz" pos="390"/>
        <p:guide pos="612"/>
        <p:guide orient="horz" pos="35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1003E-7D35-47D3-9E66-6CE4588D3A20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BCA56-867C-475F-9A3D-BF45B115EA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5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945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545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461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432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63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1. </a:t>
            </a:r>
            <a:r>
              <a:rPr lang="zh-CN" altLang="en-US" b="0" dirty="0"/>
              <a:t>由于数据是在传输线上定时的，并且每一个设备有其自己的时钟，很可能在通信中两台设备间出现了小小的不同步。因此停止位不仅仅是表示传输的结束，并且提供计算机校正时钟同步的机会。适用于停止位的位数越多，不同时钟同步的容忍程度越大，但是数据传输率同时也越慢。 </a:t>
            </a:r>
          </a:p>
          <a:p>
            <a:r>
              <a:rPr lang="en-US" altLang="zh-CN" b="0" dirty="0"/>
              <a:t>2. </a:t>
            </a:r>
            <a:r>
              <a:rPr lang="zh-CN" altLang="en-US" b="0" dirty="0"/>
              <a:t>较长的停止位是让</a:t>
            </a:r>
            <a:r>
              <a:rPr lang="zh-CN" altLang="en-US" b="0" dirty="0" smtClean="0"/>
              <a:t>接收方</a:t>
            </a:r>
            <a:r>
              <a:rPr lang="zh-CN" altLang="en-US" b="0" dirty="0"/>
              <a:t>有足够的时间处理收到的数据，同时允许</a:t>
            </a:r>
            <a:r>
              <a:rPr lang="zh-CN" altLang="en-US" b="0" dirty="0" smtClean="0"/>
              <a:t>接收方</a:t>
            </a:r>
            <a:r>
              <a:rPr lang="zh-CN" altLang="en-US" b="0" dirty="0"/>
              <a:t>可以准备好再次</a:t>
            </a:r>
            <a:r>
              <a:rPr lang="zh-CN" altLang="en-US" b="0" dirty="0" smtClean="0"/>
              <a:t>接收新</a:t>
            </a:r>
            <a:r>
              <a:rPr lang="zh-CN" altLang="en-US" b="0" dirty="0"/>
              <a:t>的数据，当</a:t>
            </a:r>
            <a:r>
              <a:rPr lang="zh-CN" altLang="en-US" b="0" dirty="0" smtClean="0"/>
              <a:t>接收方</a:t>
            </a:r>
            <a:r>
              <a:rPr lang="zh-CN" altLang="en-US" b="0" dirty="0"/>
              <a:t>的速度足够快时，停止位的长度可以减小。可以一定程度上减少波特率误差的积累。</a:t>
            </a:r>
          </a:p>
          <a:p>
            <a:r>
              <a:rPr lang="en-US" altLang="zh-CN" b="0" dirty="0"/>
              <a:t>3. </a:t>
            </a:r>
            <a:r>
              <a:rPr lang="zh-CN" altLang="en-US" b="0" dirty="0"/>
              <a:t>相当于中间插入了一段</a:t>
            </a:r>
            <a:r>
              <a:rPr lang="zh-CN" altLang="en-US" b="0" dirty="0" smtClean="0"/>
              <a:t>空闲状态</a:t>
            </a:r>
            <a:r>
              <a:rPr lang="en-US" altLang="zh-CN" b="0" dirty="0" smtClean="0"/>
              <a:t>(</a:t>
            </a:r>
            <a:r>
              <a:rPr lang="zh-CN" altLang="en-US" b="0" dirty="0" smtClean="0"/>
              <a:t>0</a:t>
            </a:r>
            <a:r>
              <a:rPr lang="zh-CN" altLang="en-US" b="0" dirty="0"/>
              <a:t>.5</a:t>
            </a:r>
            <a:r>
              <a:rPr lang="zh-CN" altLang="en-US" b="0" dirty="0" smtClean="0"/>
              <a:t>bit</a:t>
            </a:r>
            <a:r>
              <a:rPr lang="en-US" altLang="zh-CN" b="0" dirty="0" smtClean="0"/>
              <a:t>)</a:t>
            </a:r>
            <a:r>
              <a:rPr lang="zh-CN" altLang="en-US" b="0" dirty="0" smtClean="0"/>
              <a:t>，</a:t>
            </a:r>
            <a:r>
              <a:rPr lang="zh-CN" altLang="en-US" b="0" dirty="0"/>
              <a:t>下个byte又会重新同步了。有的系统只用半</a:t>
            </a:r>
            <a:r>
              <a:rPr lang="zh-CN" altLang="en-US" b="0" dirty="0" smtClean="0"/>
              <a:t>位</a:t>
            </a:r>
            <a:r>
              <a:rPr lang="en-US" altLang="zh-CN" b="0" dirty="0" smtClean="0"/>
              <a:t>(</a:t>
            </a:r>
            <a:r>
              <a:rPr lang="zh-CN" altLang="en-US" b="0" dirty="0" smtClean="0"/>
              <a:t>0</a:t>
            </a:r>
            <a:r>
              <a:rPr lang="zh-CN" altLang="en-US" b="0" dirty="0"/>
              <a:t>.5</a:t>
            </a:r>
            <a:r>
              <a:rPr lang="zh-CN" altLang="en-US" b="0" dirty="0" smtClean="0"/>
              <a:t>bit</a:t>
            </a:r>
            <a:r>
              <a:rPr lang="en-US" altLang="zh-CN" b="0" dirty="0" smtClean="0"/>
              <a:t>)</a:t>
            </a:r>
            <a:r>
              <a:rPr lang="zh-CN" altLang="en-US" b="0" dirty="0" smtClean="0"/>
              <a:t>的停止位。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692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异步通信由于要在每个数据前后附加起始位、停止位，每发送一个字符约有</a:t>
            </a:r>
            <a:r>
              <a:rPr lang="en-US" altLang="zh-CN" b="0" dirty="0"/>
              <a:t>20%</a:t>
            </a:r>
            <a:r>
              <a:rPr lang="zh-CN" altLang="en-US" b="0" dirty="0"/>
              <a:t>的附加数据，占用了传输时间，降低了传送效率。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170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异步通信技术较为简单，应用范围广；同步通信传输速率高，适用于高速率、大容量的数据通信，但硬件复杂。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139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4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02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315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11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346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346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273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044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055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232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832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7930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方式</a:t>
            </a:r>
            <a:r>
              <a:rPr lang="en-US" altLang="zh-CN" b="0" dirty="0"/>
              <a:t>2</a:t>
            </a:r>
            <a:r>
              <a:rPr lang="zh-CN" altLang="en-US" b="0" dirty="0"/>
              <a:t>或方式</a:t>
            </a:r>
            <a:r>
              <a:rPr lang="en-US" altLang="zh-CN" b="0" dirty="0"/>
              <a:t>3</a:t>
            </a:r>
            <a:r>
              <a:rPr lang="zh-CN" altLang="en-US" b="0" dirty="0"/>
              <a:t>中，若</a:t>
            </a:r>
            <a:r>
              <a:rPr lang="en-US" altLang="zh-CN" b="0" dirty="0"/>
              <a:t>SM2=0</a:t>
            </a:r>
            <a:r>
              <a:rPr lang="zh-CN" altLang="en-US" b="0" dirty="0"/>
              <a:t>，从机确定与主机通信，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从机可接收主机发送的所有信息，不论收到的第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位数据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RB8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，都会置位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RI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。如果主机向从机发送数据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命令时，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TB8=0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，从机接收到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RB8=0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；如果主机要结束与从机通信，需要发送地址帧，将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TB8=1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，从机接收到</a:t>
            </a:r>
            <a:r>
              <a:rPr lang="en-US" altLang="zh-CN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RB8=1</a:t>
            </a:r>
            <a:r>
              <a:rPr lang="zh-CN" altLang="en-US" b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786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412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986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279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773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主</a:t>
            </a:r>
            <a:r>
              <a:rPr lang="en-US" altLang="zh-CN" b="0" dirty="0"/>
              <a:t>-</a:t>
            </a:r>
            <a:r>
              <a:rPr lang="zh-CN" altLang="en-US" b="0" dirty="0"/>
              <a:t>从机通信完毕后，从机置位</a:t>
            </a:r>
            <a:r>
              <a:rPr lang="en-US" altLang="zh-CN" b="0" dirty="0"/>
              <a:t>SM2</a:t>
            </a:r>
            <a:r>
              <a:rPr lang="zh-CN" altLang="en-US" b="0" dirty="0"/>
              <a:t>，返回接收地址帧的</a:t>
            </a:r>
            <a:r>
              <a:rPr lang="zh-CN" altLang="en-US" b="0" dirty="0" smtClean="0"/>
              <a:t>状态</a:t>
            </a:r>
            <a:r>
              <a:rPr lang="en-US" altLang="zh-CN" b="0" dirty="0" smtClean="0"/>
              <a:t>(</a:t>
            </a:r>
            <a:r>
              <a:rPr lang="zh-CN" altLang="en-US" b="0" dirty="0" smtClean="0"/>
              <a:t>复位状态</a:t>
            </a:r>
            <a:r>
              <a:rPr lang="en-US" altLang="zh-CN" b="0" dirty="0" smtClean="0"/>
              <a:t>)</a:t>
            </a:r>
            <a:r>
              <a:rPr lang="zh-CN" altLang="en-US" b="0" dirty="0" smtClean="0"/>
              <a:t>，</a:t>
            </a:r>
            <a:r>
              <a:rPr lang="zh-CN" altLang="en-US" b="0" dirty="0"/>
              <a:t>当主机需要改为与其他从机进行通信时，可再发出地址帧来呼叫其他从机。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6334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4477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137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5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528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47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9963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5639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1360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7302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0118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023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8317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5967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8951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1429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8881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6491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8848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1953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5705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7058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6657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0899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354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00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6762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9064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1357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1135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008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1631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14874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0885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4796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8748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1106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8759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6311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71214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9126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0232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2075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82541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90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90358-C6B8-4813-A004-5C72FCDDCB7D}" type="datetimeFigureOut">
              <a:rPr lang="zh-CN" altLang="en-US" smtClean="0"/>
              <a:t>2022/6/15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tiff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tif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notesSlide" Target="../notesSlides/notesSlide34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png"/><Relationship Id="rId9" Type="http://schemas.openxmlformats.org/officeDocument/2006/relationships/image" Target="../media/image2.tif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.png"/><Relationship Id="rId9" Type="http://schemas.openxmlformats.org/officeDocument/2006/relationships/image" Target="../media/image2.tif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package" Target="../embeddings/Microsoft_Visio___1.vsdx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.tif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2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1685442"/>
            <a:ext cx="79216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MCS-51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4" y="744558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单片机串行口及应用</a:t>
            </a:r>
            <a:endParaRPr lang="zh-CN" altLang="en-US" sz="3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1701466"/>
            <a:ext cx="792162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  <a:endParaRPr lang="en-US" altLang="zh-CN" sz="2800" b="1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串行通信基本概念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 algn="just">
              <a:lnSpc>
                <a:spcPct val="150000"/>
              </a:lnSpc>
              <a:buAutoNum type="arabicPeriod" startAt="2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串行口的结构特点及控制方法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 algn="just">
              <a:lnSpc>
                <a:spcPct val="150000"/>
              </a:lnSpc>
              <a:buAutoNum type="arabicPeriod" startAt="2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串行口特殊功能寄存器的应用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设计典型的串行通讯程序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学习重点和难点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工作方式选择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波特率计算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68014" y="744558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单片机串行口及应用</a:t>
            </a:r>
            <a:endParaRPr lang="zh-CN" altLang="en-US" sz="3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通信的基本概念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MCS-51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通信：计算机与外界的信息交换称为通信。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与外围设备的基本通信方式：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并行通信：数据的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串行通信：数据的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1079" y="2265407"/>
            <a:ext cx="8170409" cy="1884363"/>
            <a:chOff x="539750" y="2377622"/>
            <a:chExt cx="8170409" cy="1884363"/>
          </a:xfrm>
        </p:grpSpPr>
        <p:grpSp>
          <p:nvGrpSpPr>
            <p:cNvPr id="7" name="Group 7"/>
            <p:cNvGrpSpPr/>
            <p:nvPr/>
          </p:nvGrpSpPr>
          <p:grpSpPr bwMode="auto">
            <a:xfrm>
              <a:off x="1619250" y="2593522"/>
              <a:ext cx="936625" cy="1512888"/>
              <a:chOff x="1020" y="1434"/>
              <a:chExt cx="590" cy="953"/>
            </a:xfrm>
          </p:grpSpPr>
          <p:sp>
            <p:nvSpPr>
              <p:cNvPr id="8" name="Line 8"/>
              <p:cNvSpPr>
                <a:spLocks noChangeShapeType="1"/>
              </p:cNvSpPr>
              <p:nvPr/>
            </p:nvSpPr>
            <p:spPr bwMode="auto">
              <a:xfrm>
                <a:off x="1020" y="1434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1020" y="1570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>
                <a:off x="1020" y="1706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1020" y="1843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1020" y="1979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1020" y="2115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1020" y="2251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5"/>
              <p:cNvSpPr>
                <a:spLocks noChangeShapeType="1"/>
              </p:cNvSpPr>
              <p:nvPr/>
            </p:nvSpPr>
            <p:spPr bwMode="auto">
              <a:xfrm>
                <a:off x="1020" y="2387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 bwMode="auto">
            <a:xfrm>
              <a:off x="2843213" y="2522085"/>
              <a:ext cx="360362" cy="1657350"/>
              <a:chOff x="1791" y="1389"/>
              <a:chExt cx="227" cy="1044"/>
            </a:xfrm>
          </p:grpSpPr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1791" y="1389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1791" y="1525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1791" y="1661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1791" y="1797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1791" y="1933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1791" y="2069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Rectangle 23"/>
              <p:cNvSpPr>
                <a:spLocks noChangeArrowheads="1"/>
              </p:cNvSpPr>
              <p:nvPr/>
            </p:nvSpPr>
            <p:spPr bwMode="auto">
              <a:xfrm>
                <a:off x="1791" y="2205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1791" y="2342"/>
                <a:ext cx="227" cy="9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 bwMode="auto">
            <a:xfrm>
              <a:off x="539750" y="2377622"/>
              <a:ext cx="863600" cy="1884363"/>
              <a:chOff x="340" y="1298"/>
              <a:chExt cx="544" cy="1187"/>
            </a:xfrm>
          </p:grpSpPr>
          <p:sp>
            <p:nvSpPr>
              <p:cNvPr id="27" name="Rectangle 26"/>
              <p:cNvSpPr>
                <a:spLocks noChangeArrowheads="1"/>
              </p:cNvSpPr>
              <p:nvPr/>
            </p:nvSpPr>
            <p:spPr bwMode="auto">
              <a:xfrm>
                <a:off x="657" y="1389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657" y="1525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Rectangle 28"/>
              <p:cNvSpPr>
                <a:spLocks noChangeArrowheads="1"/>
              </p:cNvSpPr>
              <p:nvPr/>
            </p:nvSpPr>
            <p:spPr bwMode="auto">
              <a:xfrm>
                <a:off x="657" y="1661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Rectangle 29"/>
              <p:cNvSpPr>
                <a:spLocks noChangeArrowheads="1"/>
              </p:cNvSpPr>
              <p:nvPr/>
            </p:nvSpPr>
            <p:spPr bwMode="auto">
              <a:xfrm>
                <a:off x="657" y="1797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Rectangle 30"/>
              <p:cNvSpPr>
                <a:spLocks noChangeArrowheads="1"/>
              </p:cNvSpPr>
              <p:nvPr/>
            </p:nvSpPr>
            <p:spPr bwMode="auto">
              <a:xfrm>
                <a:off x="657" y="1933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Rectangle 31"/>
              <p:cNvSpPr>
                <a:spLocks noChangeArrowheads="1"/>
              </p:cNvSpPr>
              <p:nvPr/>
            </p:nvSpPr>
            <p:spPr bwMode="auto">
              <a:xfrm>
                <a:off x="657" y="2069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Rectangle 32"/>
              <p:cNvSpPr>
                <a:spLocks noChangeArrowheads="1"/>
              </p:cNvSpPr>
              <p:nvPr/>
            </p:nvSpPr>
            <p:spPr bwMode="auto">
              <a:xfrm>
                <a:off x="657" y="2205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Rectangle 33"/>
              <p:cNvSpPr>
                <a:spLocks noChangeArrowheads="1"/>
              </p:cNvSpPr>
              <p:nvPr/>
            </p:nvSpPr>
            <p:spPr bwMode="auto">
              <a:xfrm>
                <a:off x="657" y="2342"/>
                <a:ext cx="227" cy="9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Text Box 34"/>
              <p:cNvSpPr txBox="1">
                <a:spLocks noChangeArrowheads="1"/>
              </p:cNvSpPr>
              <p:nvPr/>
            </p:nvSpPr>
            <p:spPr bwMode="auto">
              <a:xfrm>
                <a:off x="340" y="1298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D0</a:t>
                </a:r>
              </a:p>
            </p:txBody>
          </p:sp>
          <p:sp>
            <p:nvSpPr>
              <p:cNvPr id="36" name="Text Box 35"/>
              <p:cNvSpPr txBox="1">
                <a:spLocks noChangeArrowheads="1"/>
              </p:cNvSpPr>
              <p:nvPr/>
            </p:nvSpPr>
            <p:spPr bwMode="auto">
              <a:xfrm>
                <a:off x="340" y="1434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D1</a:t>
                </a:r>
              </a:p>
            </p:txBody>
          </p:sp>
          <p:sp>
            <p:nvSpPr>
              <p:cNvPr id="37" name="Text Box 36"/>
              <p:cNvSpPr txBox="1">
                <a:spLocks noChangeArrowheads="1"/>
              </p:cNvSpPr>
              <p:nvPr/>
            </p:nvSpPr>
            <p:spPr bwMode="auto">
              <a:xfrm>
                <a:off x="340" y="1570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D2</a:t>
                </a:r>
              </a:p>
            </p:txBody>
          </p:sp>
          <p:sp>
            <p:nvSpPr>
              <p:cNvPr id="38" name="Text Box 37"/>
              <p:cNvSpPr txBox="1">
                <a:spLocks noChangeArrowheads="1"/>
              </p:cNvSpPr>
              <p:nvPr/>
            </p:nvSpPr>
            <p:spPr bwMode="auto">
              <a:xfrm>
                <a:off x="340" y="1710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D3</a:t>
                </a:r>
              </a:p>
            </p:txBody>
          </p:sp>
          <p:sp>
            <p:nvSpPr>
              <p:cNvPr id="39" name="Text Box 38"/>
              <p:cNvSpPr txBox="1">
                <a:spLocks noChangeArrowheads="1"/>
              </p:cNvSpPr>
              <p:nvPr/>
            </p:nvSpPr>
            <p:spPr bwMode="auto">
              <a:xfrm>
                <a:off x="340" y="1846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D4</a:t>
                </a:r>
              </a:p>
            </p:txBody>
          </p:sp>
          <p:sp>
            <p:nvSpPr>
              <p:cNvPr id="40" name="Text Box 39"/>
              <p:cNvSpPr txBox="1">
                <a:spLocks noChangeArrowheads="1"/>
              </p:cNvSpPr>
              <p:nvPr/>
            </p:nvSpPr>
            <p:spPr bwMode="auto">
              <a:xfrm>
                <a:off x="340" y="1982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D5</a:t>
                </a:r>
              </a:p>
            </p:txBody>
          </p:sp>
          <p:sp>
            <p:nvSpPr>
              <p:cNvPr id="41" name="Text Box 40"/>
              <p:cNvSpPr txBox="1">
                <a:spLocks noChangeArrowheads="1"/>
              </p:cNvSpPr>
              <p:nvPr/>
            </p:nvSpPr>
            <p:spPr bwMode="auto">
              <a:xfrm>
                <a:off x="340" y="2254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D7</a:t>
                </a:r>
              </a:p>
            </p:txBody>
          </p:sp>
          <p:sp>
            <p:nvSpPr>
              <p:cNvPr id="42" name="Text Box 41"/>
              <p:cNvSpPr txBox="1">
                <a:spLocks noChangeArrowheads="1"/>
              </p:cNvSpPr>
              <p:nvPr/>
            </p:nvSpPr>
            <p:spPr bwMode="auto">
              <a:xfrm>
                <a:off x="340" y="2118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1800" b="1">
                    <a:ea typeface="宋体" panose="02010600030101010101" pitchFamily="2" charset="-122"/>
                  </a:rPr>
                  <a:t>D6</a:t>
                </a:r>
              </a:p>
            </p:txBody>
          </p:sp>
        </p:grp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4246109" y="2507442"/>
              <a:ext cx="4464050" cy="16927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ü"/>
              </a:pP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特点：速度快、效率高，需</a:t>
              </a:r>
              <a:r>
                <a:rPr kumimoji="1"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</a:t>
              </a:r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根</a:t>
              </a:r>
              <a:r>
                <a:rPr kumimoji="1"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数据传输线；</a:t>
              </a:r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适用于距离短，速度快的</a:t>
              </a:r>
              <a:r>
                <a:rPr kumimoji="1"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应用。</a:t>
              </a:r>
              <a:endParaRPr kumimoji="1"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ü"/>
              </a:pPr>
              <a:r>
                <a:rPr kumimoji="1"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应用：系统总线</a:t>
              </a:r>
              <a:r>
                <a:rPr kumimoji="1"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5" name="图片 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grpSp>
        <p:nvGrpSpPr>
          <p:cNvPr id="76" name="组合 75"/>
          <p:cNvGrpSpPr/>
          <p:nvPr/>
        </p:nvGrpSpPr>
        <p:grpSpPr>
          <a:xfrm>
            <a:off x="481965" y="4612640"/>
            <a:ext cx="8310880" cy="1954893"/>
            <a:chOff x="539750" y="4810809"/>
            <a:chExt cx="8521473" cy="2224778"/>
          </a:xfrm>
        </p:grpSpPr>
        <p:sp>
          <p:nvSpPr>
            <p:cNvPr id="73" name="Text Box 71"/>
            <p:cNvSpPr txBox="1">
              <a:spLocks noChangeArrowheads="1"/>
            </p:cNvSpPr>
            <p:nvPr/>
          </p:nvSpPr>
          <p:spPr bwMode="auto">
            <a:xfrm>
              <a:off x="4235223" y="5110406"/>
              <a:ext cx="4826000" cy="1925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ü"/>
              </a:pP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特点：速率较慢，只需要一根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(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单工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半双工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)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或一对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(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全双工</a:t>
              </a: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)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数据线；抗干扰性好，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适合于长距离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传输。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ü"/>
              </a:pPr>
              <a:r>
                <a:rPr kumimoji="1"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应用：串行通信口</a:t>
              </a:r>
              <a:r>
                <a:rPr kumimoji="1"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39750" y="4810809"/>
              <a:ext cx="5472113" cy="1936749"/>
              <a:chOff x="539750" y="4810809"/>
              <a:chExt cx="5472113" cy="1936749"/>
            </a:xfrm>
          </p:grpSpPr>
          <p:grpSp>
            <p:nvGrpSpPr>
              <p:cNvPr id="47" name="Group 45"/>
              <p:cNvGrpSpPr/>
              <p:nvPr/>
            </p:nvGrpSpPr>
            <p:grpSpPr bwMode="auto">
              <a:xfrm>
                <a:off x="539750" y="4810809"/>
                <a:ext cx="863600" cy="1936749"/>
                <a:chOff x="340" y="2841"/>
                <a:chExt cx="544" cy="1220"/>
              </a:xfrm>
            </p:grpSpPr>
            <p:sp>
              <p:nvSpPr>
                <p:cNvPr id="48" name="Rectangle 46"/>
                <p:cNvSpPr>
                  <a:spLocks noChangeArrowheads="1"/>
                </p:cNvSpPr>
                <p:nvPr/>
              </p:nvSpPr>
              <p:spPr bwMode="auto">
                <a:xfrm>
                  <a:off x="657" y="2932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Rectangle 47"/>
                <p:cNvSpPr>
                  <a:spLocks noChangeArrowheads="1"/>
                </p:cNvSpPr>
                <p:nvPr/>
              </p:nvSpPr>
              <p:spPr bwMode="auto">
                <a:xfrm>
                  <a:off x="657" y="3068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Rectangle 48"/>
                <p:cNvSpPr>
                  <a:spLocks noChangeArrowheads="1"/>
                </p:cNvSpPr>
                <p:nvPr/>
              </p:nvSpPr>
              <p:spPr bwMode="auto">
                <a:xfrm>
                  <a:off x="657" y="3204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Rectangle 49"/>
                <p:cNvSpPr>
                  <a:spLocks noChangeArrowheads="1"/>
                </p:cNvSpPr>
                <p:nvPr/>
              </p:nvSpPr>
              <p:spPr bwMode="auto">
                <a:xfrm>
                  <a:off x="657" y="3340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Rectangle 50"/>
                <p:cNvSpPr>
                  <a:spLocks noChangeArrowheads="1"/>
                </p:cNvSpPr>
                <p:nvPr/>
              </p:nvSpPr>
              <p:spPr bwMode="auto">
                <a:xfrm>
                  <a:off x="657" y="3476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Rectangle 51"/>
                <p:cNvSpPr>
                  <a:spLocks noChangeArrowheads="1"/>
                </p:cNvSpPr>
                <p:nvPr/>
              </p:nvSpPr>
              <p:spPr bwMode="auto">
                <a:xfrm>
                  <a:off x="657" y="3612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52"/>
                <p:cNvSpPr>
                  <a:spLocks noChangeArrowheads="1"/>
                </p:cNvSpPr>
                <p:nvPr/>
              </p:nvSpPr>
              <p:spPr bwMode="auto">
                <a:xfrm>
                  <a:off x="657" y="3748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Rectangle 53"/>
                <p:cNvSpPr>
                  <a:spLocks noChangeArrowheads="1"/>
                </p:cNvSpPr>
                <p:nvPr/>
              </p:nvSpPr>
              <p:spPr bwMode="auto">
                <a:xfrm>
                  <a:off x="657" y="3885"/>
                  <a:ext cx="227" cy="91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340" y="2841"/>
                  <a:ext cx="363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>
                      <a:ea typeface="宋体" panose="02010600030101010101" pitchFamily="2" charset="-122"/>
                    </a:rPr>
                    <a:t>D0</a:t>
                  </a:r>
                </a:p>
              </p:txBody>
            </p:sp>
            <p:sp>
              <p:nvSpPr>
                <p:cNvPr id="57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40" y="2977"/>
                  <a:ext cx="363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 dirty="0">
                      <a:ea typeface="宋体" panose="02010600030101010101" pitchFamily="2" charset="-122"/>
                    </a:rPr>
                    <a:t>D1</a:t>
                  </a:r>
                </a:p>
              </p:txBody>
            </p:sp>
            <p:sp>
              <p:nvSpPr>
                <p:cNvPr id="58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40" y="3113"/>
                  <a:ext cx="363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>
                      <a:ea typeface="宋体" panose="02010600030101010101" pitchFamily="2" charset="-122"/>
                    </a:rPr>
                    <a:t>D2</a:t>
                  </a:r>
                </a:p>
              </p:txBody>
            </p:sp>
            <p:sp>
              <p:nvSpPr>
                <p:cNvPr id="59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340" y="3253"/>
                  <a:ext cx="363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>
                      <a:ea typeface="宋体" panose="02010600030101010101" pitchFamily="2" charset="-122"/>
                    </a:rPr>
                    <a:t>D3</a:t>
                  </a:r>
                </a:p>
              </p:txBody>
            </p:sp>
            <p:sp>
              <p:nvSpPr>
                <p:cNvPr id="60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40" y="3389"/>
                  <a:ext cx="363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>
                      <a:ea typeface="宋体" panose="02010600030101010101" pitchFamily="2" charset="-122"/>
                    </a:rPr>
                    <a:t>D4</a:t>
                  </a:r>
                </a:p>
              </p:txBody>
            </p:sp>
            <p:sp>
              <p:nvSpPr>
                <p:cNvPr id="61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340" y="3525"/>
                  <a:ext cx="363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>
                      <a:ea typeface="宋体" panose="02010600030101010101" pitchFamily="2" charset="-122"/>
                    </a:rPr>
                    <a:t>D5</a:t>
                  </a:r>
                </a:p>
              </p:txBody>
            </p:sp>
            <p:sp>
              <p:nvSpPr>
                <p:cNvPr id="6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340" y="3797"/>
                  <a:ext cx="363" cy="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>
                      <a:ea typeface="宋体" panose="02010600030101010101" pitchFamily="2" charset="-122"/>
                    </a:rPr>
                    <a:t>D7</a:t>
                  </a:r>
                </a:p>
              </p:txBody>
            </p:sp>
            <p:sp>
              <p:nvSpPr>
                <p:cNvPr id="6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340" y="3684"/>
                  <a:ext cx="363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1800" b="1">
                      <a:ea typeface="宋体" panose="02010600030101010101" pitchFamily="2" charset="-122"/>
                    </a:rPr>
                    <a:t>D6</a:t>
                  </a:r>
                </a:p>
              </p:txBody>
            </p:sp>
          </p:grpSp>
          <p:sp>
            <p:nvSpPr>
              <p:cNvPr id="64" name="Line 62"/>
              <p:cNvSpPr>
                <a:spLocks noChangeShapeType="1"/>
              </p:cNvSpPr>
              <p:nvPr/>
            </p:nvSpPr>
            <p:spPr bwMode="auto">
              <a:xfrm>
                <a:off x="1547813" y="5004485"/>
                <a:ext cx="9366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Rectangle 63"/>
              <p:cNvSpPr>
                <a:spLocks noChangeArrowheads="1"/>
              </p:cNvSpPr>
              <p:nvPr/>
            </p:nvSpPr>
            <p:spPr bwMode="auto">
              <a:xfrm>
                <a:off x="5651500" y="4933047"/>
                <a:ext cx="360363" cy="144463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Rectangle 64"/>
              <p:cNvSpPr>
                <a:spLocks noChangeArrowheads="1"/>
              </p:cNvSpPr>
              <p:nvPr/>
            </p:nvSpPr>
            <p:spPr bwMode="auto">
              <a:xfrm>
                <a:off x="5219700" y="4933047"/>
                <a:ext cx="360363" cy="144463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Rectangle 65"/>
              <p:cNvSpPr>
                <a:spLocks noChangeArrowheads="1"/>
              </p:cNvSpPr>
              <p:nvPr/>
            </p:nvSpPr>
            <p:spPr bwMode="auto">
              <a:xfrm>
                <a:off x="4787900" y="4933047"/>
                <a:ext cx="360363" cy="144463"/>
              </a:xfrm>
              <a:prstGeom prst="rect">
                <a:avLst/>
              </a:prstGeom>
              <a:solidFill>
                <a:srgbClr val="00CC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Rectangle 66"/>
              <p:cNvSpPr>
                <a:spLocks noChangeArrowheads="1"/>
              </p:cNvSpPr>
              <p:nvPr/>
            </p:nvSpPr>
            <p:spPr bwMode="auto">
              <a:xfrm>
                <a:off x="4356100" y="4933047"/>
                <a:ext cx="360363" cy="144463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Rectangle 67"/>
              <p:cNvSpPr>
                <a:spLocks noChangeArrowheads="1"/>
              </p:cNvSpPr>
              <p:nvPr/>
            </p:nvSpPr>
            <p:spPr bwMode="auto">
              <a:xfrm>
                <a:off x="3924300" y="4933047"/>
                <a:ext cx="360363" cy="144463"/>
              </a:xfrm>
              <a:prstGeom prst="rect">
                <a:avLst/>
              </a:prstGeom>
              <a:solidFill>
                <a:srgbClr val="33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Rectangle 68"/>
              <p:cNvSpPr>
                <a:spLocks noChangeArrowheads="1"/>
              </p:cNvSpPr>
              <p:nvPr/>
            </p:nvSpPr>
            <p:spPr bwMode="auto">
              <a:xfrm>
                <a:off x="3492500" y="4933047"/>
                <a:ext cx="360363" cy="144463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Rectangle 69"/>
              <p:cNvSpPr>
                <a:spLocks noChangeArrowheads="1"/>
              </p:cNvSpPr>
              <p:nvPr/>
            </p:nvSpPr>
            <p:spPr bwMode="auto">
              <a:xfrm>
                <a:off x="3059113" y="4933047"/>
                <a:ext cx="360362" cy="144463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Rectangle 70"/>
              <p:cNvSpPr>
                <a:spLocks noChangeArrowheads="1"/>
              </p:cNvSpPr>
              <p:nvPr/>
            </p:nvSpPr>
            <p:spPr bwMode="auto">
              <a:xfrm>
                <a:off x="2627313" y="4933047"/>
                <a:ext cx="360362" cy="144463"/>
              </a:xfrm>
              <a:prstGeom prst="rect">
                <a:avLst/>
              </a:prstGeom>
              <a:solidFill>
                <a:srgbClr val="0033CC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05" y="736608"/>
            <a:ext cx="86356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并行通信与串行通信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990600" y="2133600"/>
            <a:ext cx="2743200" cy="2819400"/>
            <a:chOff x="990600" y="2133600"/>
            <a:chExt cx="2743200" cy="2819400"/>
          </a:xfrm>
        </p:grpSpPr>
        <p:sp>
          <p:nvSpPr>
            <p:cNvPr id="74" name="Rectangle 4"/>
            <p:cNvSpPr>
              <a:spLocks noChangeArrowheads="1"/>
            </p:cNvSpPr>
            <p:nvPr/>
          </p:nvSpPr>
          <p:spPr bwMode="auto">
            <a:xfrm>
              <a:off x="990600" y="2133600"/>
              <a:ext cx="1066800" cy="2819400"/>
            </a:xfrm>
            <a:prstGeom prst="rect">
              <a:avLst/>
            </a:prstGeom>
            <a:solidFill>
              <a:srgbClr val="B2B2B2"/>
            </a:solidFill>
            <a:ln w="38100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51单片机</a:t>
              </a:r>
            </a:p>
          </p:txBody>
        </p:sp>
        <p:grpSp>
          <p:nvGrpSpPr>
            <p:cNvPr id="76" name="Group 46"/>
            <p:cNvGrpSpPr/>
            <p:nvPr/>
          </p:nvGrpSpPr>
          <p:grpSpPr bwMode="auto">
            <a:xfrm>
              <a:off x="1447800" y="2195513"/>
              <a:ext cx="685800" cy="2009775"/>
              <a:chOff x="912" y="1383"/>
              <a:chExt cx="432" cy="1266"/>
            </a:xfrm>
          </p:grpSpPr>
          <p:sp>
            <p:nvSpPr>
              <p:cNvPr id="77" name="Text Box 5"/>
              <p:cNvSpPr txBox="1">
                <a:spLocks noChangeArrowheads="1"/>
              </p:cNvSpPr>
              <p:nvPr/>
            </p:nvSpPr>
            <p:spPr bwMode="auto">
              <a:xfrm>
                <a:off x="912" y="1383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P1.0</a:t>
                </a:r>
              </a:p>
            </p:txBody>
          </p:sp>
          <p:sp>
            <p:nvSpPr>
              <p:cNvPr id="78" name="Text Box 6"/>
              <p:cNvSpPr txBox="1">
                <a:spLocks noChangeArrowheads="1"/>
              </p:cNvSpPr>
              <p:nvPr/>
            </p:nvSpPr>
            <p:spPr bwMode="auto">
              <a:xfrm>
                <a:off x="912" y="1536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P1.1</a:t>
                </a:r>
              </a:p>
            </p:txBody>
          </p:sp>
          <p:sp>
            <p:nvSpPr>
              <p:cNvPr id="79" name="Text Box 7"/>
              <p:cNvSpPr txBox="1">
                <a:spLocks noChangeArrowheads="1"/>
              </p:cNvSpPr>
              <p:nvPr/>
            </p:nvSpPr>
            <p:spPr bwMode="auto">
              <a:xfrm>
                <a:off x="912" y="1680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P1.2</a:t>
                </a:r>
              </a:p>
            </p:txBody>
          </p:sp>
          <p:sp>
            <p:nvSpPr>
              <p:cNvPr id="80" name="Text Box 8"/>
              <p:cNvSpPr txBox="1">
                <a:spLocks noChangeArrowheads="1"/>
              </p:cNvSpPr>
              <p:nvPr/>
            </p:nvSpPr>
            <p:spPr bwMode="auto">
              <a:xfrm>
                <a:off x="912" y="1833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P1.3</a:t>
                </a:r>
              </a:p>
            </p:txBody>
          </p:sp>
          <p:sp>
            <p:nvSpPr>
              <p:cNvPr id="81" name="Text Box 9"/>
              <p:cNvSpPr txBox="1">
                <a:spLocks noChangeArrowheads="1"/>
              </p:cNvSpPr>
              <p:nvPr/>
            </p:nvSpPr>
            <p:spPr bwMode="auto">
              <a:xfrm>
                <a:off x="912" y="196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P1.4</a:t>
                </a:r>
              </a:p>
            </p:txBody>
          </p:sp>
          <p:sp>
            <p:nvSpPr>
              <p:cNvPr id="82" name="Text Box 10"/>
              <p:cNvSpPr txBox="1">
                <a:spLocks noChangeArrowheads="1"/>
              </p:cNvSpPr>
              <p:nvPr/>
            </p:nvSpPr>
            <p:spPr bwMode="auto">
              <a:xfrm>
                <a:off x="912" y="2121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P1.5</a:t>
                </a:r>
              </a:p>
            </p:txBody>
          </p:sp>
          <p:sp>
            <p:nvSpPr>
              <p:cNvPr id="83" name="Text Box 11"/>
              <p:cNvSpPr txBox="1">
                <a:spLocks noChangeArrowheads="1"/>
              </p:cNvSpPr>
              <p:nvPr/>
            </p:nvSpPr>
            <p:spPr bwMode="auto">
              <a:xfrm>
                <a:off x="912" y="2265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P1.6</a:t>
                </a:r>
              </a:p>
            </p:txBody>
          </p:sp>
          <p:sp>
            <p:nvSpPr>
              <p:cNvPr id="84" name="Text Box 12"/>
              <p:cNvSpPr txBox="1">
                <a:spLocks noChangeArrowheads="1"/>
              </p:cNvSpPr>
              <p:nvPr/>
            </p:nvSpPr>
            <p:spPr bwMode="auto">
              <a:xfrm>
                <a:off x="912" y="241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2ECF6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P1.7</a:t>
                </a:r>
              </a:p>
            </p:txBody>
          </p:sp>
        </p:grpSp>
        <p:sp>
          <p:nvSpPr>
            <p:cNvPr id="85" name="Rectangle 14"/>
            <p:cNvSpPr>
              <a:spLocks noChangeArrowheads="1"/>
            </p:cNvSpPr>
            <p:nvPr/>
          </p:nvSpPr>
          <p:spPr bwMode="auto">
            <a:xfrm>
              <a:off x="2895600" y="2209800"/>
              <a:ext cx="838200" cy="2514600"/>
            </a:xfrm>
            <a:prstGeom prst="rect">
              <a:avLst/>
            </a:prstGeom>
            <a:solidFill>
              <a:srgbClr val="E2ECF6"/>
            </a:solidFill>
            <a:ln w="38100">
              <a:solidFill>
                <a:schemeClr val="accent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外设</a:t>
              </a:r>
              <a:endParaRPr lang="en-US" altLang="zh-CN" sz="1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15"/>
            <p:cNvSpPr>
              <a:spLocks noChangeShapeType="1"/>
            </p:cNvSpPr>
            <p:nvPr/>
          </p:nvSpPr>
          <p:spPr bwMode="auto">
            <a:xfrm>
              <a:off x="2057400" y="23622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16"/>
            <p:cNvSpPr>
              <a:spLocks noChangeShapeType="1"/>
            </p:cNvSpPr>
            <p:nvPr/>
          </p:nvSpPr>
          <p:spPr bwMode="auto">
            <a:xfrm>
              <a:off x="2057400" y="25908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17"/>
            <p:cNvSpPr>
              <a:spLocks noChangeShapeType="1"/>
            </p:cNvSpPr>
            <p:nvPr/>
          </p:nvSpPr>
          <p:spPr bwMode="auto">
            <a:xfrm>
              <a:off x="2057400" y="28194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18"/>
            <p:cNvSpPr>
              <a:spLocks noChangeShapeType="1"/>
            </p:cNvSpPr>
            <p:nvPr/>
          </p:nvSpPr>
          <p:spPr bwMode="auto">
            <a:xfrm>
              <a:off x="2057400" y="30480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19"/>
            <p:cNvSpPr>
              <a:spLocks noChangeShapeType="1"/>
            </p:cNvSpPr>
            <p:nvPr/>
          </p:nvSpPr>
          <p:spPr bwMode="auto">
            <a:xfrm>
              <a:off x="2057400" y="32766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20"/>
            <p:cNvSpPr>
              <a:spLocks noChangeShapeType="1"/>
            </p:cNvSpPr>
            <p:nvPr/>
          </p:nvSpPr>
          <p:spPr bwMode="auto">
            <a:xfrm>
              <a:off x="2057400" y="35052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21"/>
            <p:cNvSpPr>
              <a:spLocks noChangeShapeType="1"/>
            </p:cNvSpPr>
            <p:nvPr/>
          </p:nvSpPr>
          <p:spPr bwMode="auto">
            <a:xfrm>
              <a:off x="2057400" y="37338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Line 22"/>
            <p:cNvSpPr>
              <a:spLocks noChangeShapeType="1"/>
            </p:cNvSpPr>
            <p:nvPr/>
          </p:nvSpPr>
          <p:spPr bwMode="auto">
            <a:xfrm>
              <a:off x="2057400" y="3962400"/>
              <a:ext cx="838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270500" y="2209800"/>
            <a:ext cx="3124200" cy="2819400"/>
            <a:chOff x="5257800" y="2057400"/>
            <a:chExt cx="3124200" cy="2819400"/>
          </a:xfrm>
        </p:grpSpPr>
        <p:sp>
          <p:nvSpPr>
            <p:cNvPr id="94" name="Rectangle 25"/>
            <p:cNvSpPr>
              <a:spLocks noChangeArrowheads="1"/>
            </p:cNvSpPr>
            <p:nvPr/>
          </p:nvSpPr>
          <p:spPr bwMode="auto">
            <a:xfrm>
              <a:off x="5257800" y="2057400"/>
              <a:ext cx="1066800" cy="2819400"/>
            </a:xfrm>
            <a:prstGeom prst="rect">
              <a:avLst/>
            </a:prstGeom>
            <a:solidFill>
              <a:srgbClr val="B2B2B2"/>
            </a:solidFill>
            <a:ln w="38100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lang="zh-CN" alt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8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51单片机</a:t>
              </a:r>
            </a:p>
          </p:txBody>
        </p:sp>
        <p:sp>
          <p:nvSpPr>
            <p:cNvPr id="95" name="Rectangle 26"/>
            <p:cNvSpPr>
              <a:spLocks noChangeArrowheads="1"/>
            </p:cNvSpPr>
            <p:nvPr/>
          </p:nvSpPr>
          <p:spPr bwMode="auto">
            <a:xfrm>
              <a:off x="7543800" y="2057400"/>
              <a:ext cx="838200" cy="2514600"/>
            </a:xfrm>
            <a:prstGeom prst="rect">
              <a:avLst/>
            </a:prstGeom>
            <a:solidFill>
              <a:srgbClr val="E2ECF6"/>
            </a:solidFill>
            <a:ln w="38100">
              <a:solidFill>
                <a:schemeClr val="accent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外设</a:t>
              </a:r>
              <a:endParaRPr lang="en-US" altLang="zh-CN" sz="1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Text Box 27"/>
            <p:cNvSpPr txBox="1">
              <a:spLocks noChangeArrowheads="1"/>
            </p:cNvSpPr>
            <p:nvPr/>
          </p:nvSpPr>
          <p:spPr bwMode="auto">
            <a:xfrm>
              <a:off x="5638800" y="2209800"/>
              <a:ext cx="762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2ECF6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RXD</a:t>
              </a:r>
            </a:p>
          </p:txBody>
        </p:sp>
        <p:sp>
          <p:nvSpPr>
            <p:cNvPr id="97" name="Text Box 28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762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2ECF6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TXD</a:t>
              </a:r>
            </a:p>
          </p:txBody>
        </p:sp>
        <p:sp>
          <p:nvSpPr>
            <p:cNvPr id="98" name="Text Box 29"/>
            <p:cNvSpPr txBox="1">
              <a:spLocks noChangeArrowheads="1"/>
            </p:cNvSpPr>
            <p:nvPr/>
          </p:nvSpPr>
          <p:spPr bwMode="auto">
            <a:xfrm>
              <a:off x="7543800" y="2209800"/>
              <a:ext cx="762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2ECF6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RXD</a:t>
              </a:r>
            </a:p>
          </p:txBody>
        </p:sp>
        <p:sp>
          <p:nvSpPr>
            <p:cNvPr id="99" name="Text Box 30"/>
            <p:cNvSpPr txBox="1">
              <a:spLocks noChangeArrowheads="1"/>
            </p:cNvSpPr>
            <p:nvPr/>
          </p:nvSpPr>
          <p:spPr bwMode="auto">
            <a:xfrm>
              <a:off x="7543800" y="2590800"/>
              <a:ext cx="762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2ECF6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TXD</a:t>
              </a:r>
            </a:p>
          </p:txBody>
        </p:sp>
        <p:sp>
          <p:nvSpPr>
            <p:cNvPr id="100" name="Text Box 31"/>
            <p:cNvSpPr txBox="1">
              <a:spLocks noChangeArrowheads="1"/>
            </p:cNvSpPr>
            <p:nvPr/>
          </p:nvSpPr>
          <p:spPr bwMode="auto">
            <a:xfrm>
              <a:off x="5638800" y="4191000"/>
              <a:ext cx="762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2ECF6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GND</a:t>
              </a:r>
            </a:p>
          </p:txBody>
        </p:sp>
        <p:sp>
          <p:nvSpPr>
            <p:cNvPr id="101" name="Text Box 32"/>
            <p:cNvSpPr txBox="1">
              <a:spLocks noChangeArrowheads="1"/>
            </p:cNvSpPr>
            <p:nvPr/>
          </p:nvSpPr>
          <p:spPr bwMode="auto">
            <a:xfrm>
              <a:off x="7543800" y="4191000"/>
              <a:ext cx="762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2ECF6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GND</a:t>
              </a:r>
            </a:p>
          </p:txBody>
        </p:sp>
        <p:grpSp>
          <p:nvGrpSpPr>
            <p:cNvPr id="102" name="Group 47"/>
            <p:cNvGrpSpPr/>
            <p:nvPr/>
          </p:nvGrpSpPr>
          <p:grpSpPr bwMode="auto">
            <a:xfrm>
              <a:off x="6324600" y="2362200"/>
              <a:ext cx="1219200" cy="381000"/>
              <a:chOff x="3984" y="1488"/>
              <a:chExt cx="768" cy="240"/>
            </a:xfrm>
          </p:grpSpPr>
          <p:sp>
            <p:nvSpPr>
              <p:cNvPr id="103" name="Line 35"/>
              <p:cNvSpPr>
                <a:spLocks noChangeShapeType="1"/>
              </p:cNvSpPr>
              <p:nvPr/>
            </p:nvSpPr>
            <p:spPr bwMode="auto">
              <a:xfrm>
                <a:off x="3984" y="1488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Line 36"/>
              <p:cNvSpPr>
                <a:spLocks noChangeShapeType="1"/>
              </p:cNvSpPr>
              <p:nvPr/>
            </p:nvSpPr>
            <p:spPr bwMode="auto">
              <a:xfrm>
                <a:off x="4464" y="1728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38"/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192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48"/>
            <p:cNvGrpSpPr/>
            <p:nvPr/>
          </p:nvGrpSpPr>
          <p:grpSpPr bwMode="auto">
            <a:xfrm>
              <a:off x="6324600" y="2362200"/>
              <a:ext cx="1219200" cy="381000"/>
              <a:chOff x="3984" y="1488"/>
              <a:chExt cx="768" cy="240"/>
            </a:xfrm>
          </p:grpSpPr>
          <p:sp>
            <p:nvSpPr>
              <p:cNvPr id="107" name="Line 34"/>
              <p:cNvSpPr>
                <a:spLocks noChangeShapeType="1"/>
              </p:cNvSpPr>
              <p:nvPr/>
            </p:nvSpPr>
            <p:spPr bwMode="auto">
              <a:xfrm>
                <a:off x="3984" y="1728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Line 37"/>
              <p:cNvSpPr>
                <a:spLocks noChangeShapeType="1"/>
              </p:cNvSpPr>
              <p:nvPr/>
            </p:nvSpPr>
            <p:spPr bwMode="auto">
              <a:xfrm>
                <a:off x="4464" y="1488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39"/>
              <p:cNvSpPr>
                <a:spLocks noChangeShapeType="1"/>
              </p:cNvSpPr>
              <p:nvPr/>
            </p:nvSpPr>
            <p:spPr bwMode="auto">
              <a:xfrm flipV="1">
                <a:off x="4272" y="1488"/>
                <a:ext cx="192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0" name="Group 49"/>
            <p:cNvGrpSpPr/>
            <p:nvPr/>
          </p:nvGrpSpPr>
          <p:grpSpPr bwMode="auto">
            <a:xfrm>
              <a:off x="6324600" y="4343400"/>
              <a:ext cx="1219200" cy="152400"/>
              <a:chOff x="3984" y="2736"/>
              <a:chExt cx="768" cy="96"/>
            </a:xfrm>
          </p:grpSpPr>
          <p:sp>
            <p:nvSpPr>
              <p:cNvPr id="111" name="Line 41"/>
              <p:cNvSpPr>
                <a:spLocks noChangeShapeType="1"/>
              </p:cNvSpPr>
              <p:nvPr/>
            </p:nvSpPr>
            <p:spPr bwMode="auto">
              <a:xfrm>
                <a:off x="3984" y="2736"/>
                <a:ext cx="76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Line 42"/>
              <p:cNvSpPr>
                <a:spLocks noChangeShapeType="1"/>
              </p:cNvSpPr>
              <p:nvPr/>
            </p:nvSpPr>
            <p:spPr bwMode="auto">
              <a:xfrm>
                <a:off x="4368" y="2736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Line 43"/>
              <p:cNvSpPr>
                <a:spLocks noChangeShapeType="1"/>
              </p:cNvSpPr>
              <p:nvPr/>
            </p:nvSpPr>
            <p:spPr bwMode="auto">
              <a:xfrm>
                <a:off x="4272" y="2832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14" name="Text Box 23"/>
          <p:cNvSpPr txBox="1">
            <a:spLocks noChangeArrowheads="1"/>
          </p:cNvSpPr>
          <p:nvPr/>
        </p:nvSpPr>
        <p:spPr bwMode="auto">
          <a:xfrm>
            <a:off x="1714500" y="5257800"/>
            <a:ext cx="1524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CF6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并行通信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Text Box 44"/>
          <p:cNvSpPr txBox="1">
            <a:spLocks noChangeArrowheads="1"/>
          </p:cNvSpPr>
          <p:nvPr/>
        </p:nvSpPr>
        <p:spPr bwMode="auto">
          <a:xfrm>
            <a:off x="6184900" y="5257800"/>
            <a:ext cx="1524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CF6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串行通信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异步通信和同步通信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通信有两种基本通信方式：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同步通信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通常以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或字节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单位组成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5" name="组合 254"/>
          <p:cNvGrpSpPr/>
          <p:nvPr/>
        </p:nvGrpSpPr>
        <p:grpSpPr>
          <a:xfrm>
            <a:off x="2340765" y="2471114"/>
            <a:ext cx="5873767" cy="1758185"/>
            <a:chOff x="9746907" y="1742253"/>
            <a:chExt cx="5873767" cy="1758185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10440712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V="1">
              <a:off x="10700673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V="1">
              <a:off x="10440712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10440712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10704116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10964078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10704116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0967521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V="1">
              <a:off x="11227482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 flipV="1">
              <a:off x="11487444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11229205" y="3500438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11492609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V="1">
              <a:off x="11752571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11492609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11752571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V="1">
              <a:off x="12012532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1752571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2015975" y="3159884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 flipV="1">
              <a:off x="12274215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12015975" y="3500438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12277658" y="3159884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 flipV="1">
              <a:off x="12535898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12277658" y="3500438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12541063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 flipV="1">
              <a:off x="12801024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12541063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12802746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 flipV="1">
              <a:off x="13062707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>
              <a:off x="12802746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13066150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 flipV="1">
              <a:off x="13326112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13066150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13327833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 flipV="1">
              <a:off x="13587795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>
              <a:off x="13327833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13591239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 flipV="1">
              <a:off x="13851200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13591239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>
              <a:off x="13851200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 flipV="1">
              <a:off x="14111162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 flipV="1">
              <a:off x="14372845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14114605" y="3500438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14376288" y="3159884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 flipV="1">
              <a:off x="14634528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14376288" y="3500438"/>
              <a:ext cx="25824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0"/>
            <p:cNvSpPr>
              <a:spLocks noChangeShapeType="1"/>
            </p:cNvSpPr>
            <p:nvPr/>
          </p:nvSpPr>
          <p:spPr bwMode="auto">
            <a:xfrm>
              <a:off x="14639692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 flipV="1">
              <a:off x="14899654" y="3159884"/>
              <a:ext cx="0" cy="340554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52"/>
            <p:cNvSpPr>
              <a:spLocks noChangeShapeType="1"/>
            </p:cNvSpPr>
            <p:nvPr/>
          </p:nvSpPr>
          <p:spPr bwMode="auto">
            <a:xfrm>
              <a:off x="14639692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10476867" y="3209097"/>
              <a:ext cx="190758" cy="16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D7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10735107" y="3215002"/>
              <a:ext cx="227626" cy="16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0/1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11038106" y="3215002"/>
              <a:ext cx="75342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11296346" y="3215002"/>
              <a:ext cx="86561" cy="1692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13348493" y="3209097"/>
              <a:ext cx="198772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D7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13094557" y="3209097"/>
              <a:ext cx="198772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D6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12847511" y="3211065"/>
              <a:ext cx="198772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12590991" y="3222876"/>
              <a:ext cx="179536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12318980" y="3209097"/>
              <a:ext cx="198772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12047825" y="3224845"/>
              <a:ext cx="179536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11787002" y="3228782"/>
              <a:ext cx="179536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Rectangle 64"/>
            <p:cNvSpPr>
              <a:spLocks noChangeArrowheads="1"/>
            </p:cNvSpPr>
            <p:nvPr/>
          </p:nvSpPr>
          <p:spPr bwMode="auto">
            <a:xfrm>
              <a:off x="11524460" y="3216971"/>
              <a:ext cx="198772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D0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13605224" y="3211065"/>
              <a:ext cx="24045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0/1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13939004" y="3220908"/>
              <a:ext cx="78548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000" b="1" i="0" u="none" strike="noStrike" cap="none" normalizeH="0" baseline="0" dirty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14200687" y="3207128"/>
              <a:ext cx="83356" cy="16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Rectangle 68"/>
            <p:cNvSpPr>
              <a:spLocks noChangeArrowheads="1"/>
            </p:cNvSpPr>
            <p:nvPr/>
          </p:nvSpPr>
          <p:spPr bwMode="auto">
            <a:xfrm>
              <a:off x="14682732" y="3222876"/>
              <a:ext cx="173124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14405557" y="3211065"/>
              <a:ext cx="190758" cy="16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D0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10729941" y="225633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奇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10729941" y="2557517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偶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10729941" y="2856732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10993345" y="225633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停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10993345" y="2557517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止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10993345" y="2856732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11267080" y="225633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起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11267080" y="2557517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始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11267080" y="2856732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13599846" y="225633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奇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13599846" y="2557517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偶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81"/>
            <p:cNvSpPr>
              <a:spLocks noChangeArrowheads="1"/>
            </p:cNvSpPr>
            <p:nvPr/>
          </p:nvSpPr>
          <p:spPr bwMode="auto">
            <a:xfrm>
              <a:off x="13599846" y="2856732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82"/>
            <p:cNvSpPr>
              <a:spLocks noChangeArrowheads="1"/>
            </p:cNvSpPr>
            <p:nvPr/>
          </p:nvSpPr>
          <p:spPr bwMode="auto">
            <a:xfrm>
              <a:off x="13873581" y="225633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停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83"/>
            <p:cNvSpPr>
              <a:spLocks noChangeArrowheads="1"/>
            </p:cNvSpPr>
            <p:nvPr/>
          </p:nvSpPr>
          <p:spPr bwMode="auto">
            <a:xfrm>
              <a:off x="13873581" y="2557517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止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13873581" y="2856732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85"/>
            <p:cNvSpPr>
              <a:spLocks noChangeArrowheads="1"/>
            </p:cNvSpPr>
            <p:nvPr/>
          </p:nvSpPr>
          <p:spPr bwMode="auto">
            <a:xfrm>
              <a:off x="14136985" y="2256333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起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Rectangle 86"/>
            <p:cNvSpPr>
              <a:spLocks noChangeArrowheads="1"/>
            </p:cNvSpPr>
            <p:nvPr/>
          </p:nvSpPr>
          <p:spPr bwMode="auto">
            <a:xfrm>
              <a:off x="14136985" y="2557517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始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14136985" y="2856732"/>
              <a:ext cx="19236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88"/>
            <p:cNvSpPr>
              <a:spLocks noEditPoints="1"/>
            </p:cNvSpPr>
            <p:nvPr/>
          </p:nvSpPr>
          <p:spPr bwMode="auto">
            <a:xfrm>
              <a:off x="11487444" y="2772086"/>
              <a:ext cx="2100351" cy="421263"/>
            </a:xfrm>
            <a:custGeom>
              <a:avLst/>
              <a:gdLst>
                <a:gd name="T0" fmla="*/ 0 w 1220"/>
                <a:gd name="T1" fmla="*/ 0 h 214"/>
                <a:gd name="T2" fmla="*/ 0 w 1220"/>
                <a:gd name="T3" fmla="*/ 214 h 214"/>
                <a:gd name="T4" fmla="*/ 0 w 1220"/>
                <a:gd name="T5" fmla="*/ 0 h 214"/>
                <a:gd name="T6" fmla="*/ 1220 w 1220"/>
                <a:gd name="T7" fmla="*/ 0 h 214"/>
                <a:gd name="T8" fmla="*/ 1220 w 1220"/>
                <a:gd name="T9" fmla="*/ 214 h 214"/>
                <a:gd name="T10" fmla="*/ 1220 w 1220"/>
                <a:gd name="T11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0" h="214">
                  <a:moveTo>
                    <a:pt x="0" y="0"/>
                  </a:moveTo>
                  <a:lnTo>
                    <a:pt x="0" y="214"/>
                  </a:lnTo>
                  <a:lnTo>
                    <a:pt x="0" y="0"/>
                  </a:lnTo>
                  <a:close/>
                  <a:moveTo>
                    <a:pt x="1220" y="0"/>
                  </a:moveTo>
                  <a:lnTo>
                    <a:pt x="1220" y="214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89"/>
            <p:cNvSpPr/>
            <p:nvPr/>
          </p:nvSpPr>
          <p:spPr bwMode="auto">
            <a:xfrm>
              <a:off x="11487444" y="2772086"/>
              <a:ext cx="0" cy="421263"/>
            </a:xfrm>
            <a:custGeom>
              <a:avLst/>
              <a:gdLst>
                <a:gd name="T0" fmla="*/ 0 h 214"/>
                <a:gd name="T1" fmla="*/ 214 h 214"/>
                <a:gd name="T2" fmla="*/ 0 h 21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14">
                  <a:moveTo>
                    <a:pt x="0" y="0"/>
                  </a:moveTo>
                  <a:lnTo>
                    <a:pt x="0" y="2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0"/>
            <p:cNvSpPr/>
            <p:nvPr/>
          </p:nvSpPr>
          <p:spPr bwMode="auto">
            <a:xfrm>
              <a:off x="13587795" y="2772086"/>
              <a:ext cx="0" cy="421263"/>
            </a:xfrm>
            <a:custGeom>
              <a:avLst/>
              <a:gdLst>
                <a:gd name="T0" fmla="*/ 0 h 214"/>
                <a:gd name="T1" fmla="*/ 214 h 214"/>
                <a:gd name="T2" fmla="*/ 0 h 21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14">
                  <a:moveTo>
                    <a:pt x="0" y="0"/>
                  </a:moveTo>
                  <a:lnTo>
                    <a:pt x="0" y="2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91"/>
            <p:cNvSpPr>
              <a:spLocks noEditPoints="1"/>
            </p:cNvSpPr>
            <p:nvPr/>
          </p:nvSpPr>
          <p:spPr bwMode="auto">
            <a:xfrm>
              <a:off x="11594184" y="2931536"/>
              <a:ext cx="1886873" cy="0"/>
            </a:xfrm>
            <a:custGeom>
              <a:avLst/>
              <a:gdLst>
                <a:gd name="T0" fmla="*/ 548 w 1096"/>
                <a:gd name="T1" fmla="*/ 0 w 1096"/>
                <a:gd name="T2" fmla="*/ 548 w 1096"/>
                <a:gd name="T3" fmla="*/ 1096 w 109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96">
                  <a:moveTo>
                    <a:pt x="548" y="0"/>
                  </a:moveTo>
                  <a:lnTo>
                    <a:pt x="0" y="0"/>
                  </a:lnTo>
                  <a:moveTo>
                    <a:pt x="548" y="0"/>
                  </a:moveTo>
                  <a:lnTo>
                    <a:pt x="1096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92"/>
            <p:cNvSpPr/>
            <p:nvPr/>
          </p:nvSpPr>
          <p:spPr bwMode="auto">
            <a:xfrm>
              <a:off x="11487444" y="2882323"/>
              <a:ext cx="115348" cy="100395"/>
            </a:xfrm>
            <a:custGeom>
              <a:avLst/>
              <a:gdLst>
                <a:gd name="T0" fmla="*/ 67 w 67"/>
                <a:gd name="T1" fmla="*/ 51 h 51"/>
                <a:gd name="T2" fmla="*/ 0 w 67"/>
                <a:gd name="T3" fmla="*/ 25 h 51"/>
                <a:gd name="T4" fmla="*/ 67 w 67"/>
                <a:gd name="T5" fmla="*/ 0 h 51"/>
                <a:gd name="T6" fmla="*/ 67 w 67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67" y="51"/>
                  </a:moveTo>
                  <a:lnTo>
                    <a:pt x="0" y="25"/>
                  </a:lnTo>
                  <a:lnTo>
                    <a:pt x="67" y="0"/>
                  </a:lnTo>
                  <a:lnTo>
                    <a:pt x="67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93"/>
            <p:cNvSpPr/>
            <p:nvPr/>
          </p:nvSpPr>
          <p:spPr bwMode="auto">
            <a:xfrm>
              <a:off x="13472448" y="2882323"/>
              <a:ext cx="115348" cy="100395"/>
            </a:xfrm>
            <a:custGeom>
              <a:avLst/>
              <a:gdLst>
                <a:gd name="T0" fmla="*/ 0 w 67"/>
                <a:gd name="T1" fmla="*/ 0 h 51"/>
                <a:gd name="T2" fmla="*/ 67 w 67"/>
                <a:gd name="T3" fmla="*/ 25 h 51"/>
                <a:gd name="T4" fmla="*/ 0 w 67"/>
                <a:gd name="T5" fmla="*/ 51 h 51"/>
                <a:gd name="T6" fmla="*/ 0 w 67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0" y="0"/>
                  </a:moveTo>
                  <a:lnTo>
                    <a:pt x="67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95"/>
            <p:cNvSpPr>
              <a:spLocks noChangeArrowheads="1"/>
            </p:cNvSpPr>
            <p:nvPr/>
          </p:nvSpPr>
          <p:spPr bwMode="auto">
            <a:xfrm>
              <a:off x="12332907" y="2662576"/>
              <a:ext cx="68929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位数据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96"/>
            <p:cNvSpPr>
              <a:spLocks noEditPoints="1"/>
            </p:cNvSpPr>
            <p:nvPr/>
          </p:nvSpPr>
          <p:spPr bwMode="auto">
            <a:xfrm>
              <a:off x="11227482" y="1919717"/>
              <a:ext cx="2883679" cy="1273632"/>
            </a:xfrm>
            <a:custGeom>
              <a:avLst/>
              <a:gdLst>
                <a:gd name="T0" fmla="*/ 0 w 1675"/>
                <a:gd name="T1" fmla="*/ 0 h 647"/>
                <a:gd name="T2" fmla="*/ 0 w 1675"/>
                <a:gd name="T3" fmla="*/ 647 h 647"/>
                <a:gd name="T4" fmla="*/ 0 w 1675"/>
                <a:gd name="T5" fmla="*/ 0 h 647"/>
                <a:gd name="T6" fmla="*/ 1675 w 1675"/>
                <a:gd name="T7" fmla="*/ 0 h 647"/>
                <a:gd name="T8" fmla="*/ 1675 w 1675"/>
                <a:gd name="T9" fmla="*/ 647 h 647"/>
                <a:gd name="T10" fmla="*/ 1675 w 1675"/>
                <a:gd name="T11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75" h="647">
                  <a:moveTo>
                    <a:pt x="0" y="0"/>
                  </a:moveTo>
                  <a:lnTo>
                    <a:pt x="0" y="647"/>
                  </a:lnTo>
                  <a:lnTo>
                    <a:pt x="0" y="0"/>
                  </a:lnTo>
                  <a:close/>
                  <a:moveTo>
                    <a:pt x="1675" y="0"/>
                  </a:moveTo>
                  <a:lnTo>
                    <a:pt x="1675" y="647"/>
                  </a:lnTo>
                  <a:lnTo>
                    <a:pt x="16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97"/>
            <p:cNvSpPr/>
            <p:nvPr/>
          </p:nvSpPr>
          <p:spPr bwMode="auto">
            <a:xfrm>
              <a:off x="11227482" y="1919717"/>
              <a:ext cx="0" cy="1273632"/>
            </a:xfrm>
            <a:custGeom>
              <a:avLst/>
              <a:gdLst>
                <a:gd name="T0" fmla="*/ 0 h 647"/>
                <a:gd name="T1" fmla="*/ 647 h 647"/>
                <a:gd name="T2" fmla="*/ 0 h 64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647">
                  <a:moveTo>
                    <a:pt x="0" y="0"/>
                  </a:moveTo>
                  <a:lnTo>
                    <a:pt x="0" y="6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98"/>
            <p:cNvSpPr/>
            <p:nvPr/>
          </p:nvSpPr>
          <p:spPr bwMode="auto">
            <a:xfrm>
              <a:off x="14111162" y="1919717"/>
              <a:ext cx="0" cy="1273632"/>
            </a:xfrm>
            <a:custGeom>
              <a:avLst/>
              <a:gdLst>
                <a:gd name="T0" fmla="*/ 0 h 647"/>
                <a:gd name="T1" fmla="*/ 647 h 647"/>
                <a:gd name="T2" fmla="*/ 0 h 64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647">
                  <a:moveTo>
                    <a:pt x="0" y="0"/>
                  </a:moveTo>
                  <a:lnTo>
                    <a:pt x="0" y="6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99"/>
            <p:cNvSpPr>
              <a:spLocks noEditPoints="1"/>
            </p:cNvSpPr>
            <p:nvPr/>
          </p:nvSpPr>
          <p:spPr bwMode="auto">
            <a:xfrm>
              <a:off x="11332500" y="2079167"/>
              <a:ext cx="2671922" cy="0"/>
            </a:xfrm>
            <a:custGeom>
              <a:avLst/>
              <a:gdLst>
                <a:gd name="T0" fmla="*/ 776 w 1552"/>
                <a:gd name="T1" fmla="*/ 0 w 1552"/>
                <a:gd name="T2" fmla="*/ 776 w 1552"/>
                <a:gd name="T3" fmla="*/ 1552 w 15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52">
                  <a:moveTo>
                    <a:pt x="776" y="0"/>
                  </a:moveTo>
                  <a:lnTo>
                    <a:pt x="0" y="0"/>
                  </a:lnTo>
                  <a:moveTo>
                    <a:pt x="776" y="0"/>
                  </a:moveTo>
                  <a:lnTo>
                    <a:pt x="155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00"/>
            <p:cNvSpPr/>
            <p:nvPr/>
          </p:nvSpPr>
          <p:spPr bwMode="auto">
            <a:xfrm>
              <a:off x="11227482" y="2029954"/>
              <a:ext cx="115348" cy="100395"/>
            </a:xfrm>
            <a:custGeom>
              <a:avLst/>
              <a:gdLst>
                <a:gd name="T0" fmla="*/ 67 w 67"/>
                <a:gd name="T1" fmla="*/ 51 h 51"/>
                <a:gd name="T2" fmla="*/ 0 w 67"/>
                <a:gd name="T3" fmla="*/ 25 h 51"/>
                <a:gd name="T4" fmla="*/ 67 w 67"/>
                <a:gd name="T5" fmla="*/ 0 h 51"/>
                <a:gd name="T6" fmla="*/ 67 w 67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67" y="51"/>
                  </a:moveTo>
                  <a:lnTo>
                    <a:pt x="0" y="25"/>
                  </a:lnTo>
                  <a:lnTo>
                    <a:pt x="67" y="0"/>
                  </a:lnTo>
                  <a:lnTo>
                    <a:pt x="67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01"/>
            <p:cNvSpPr/>
            <p:nvPr/>
          </p:nvSpPr>
          <p:spPr bwMode="auto">
            <a:xfrm>
              <a:off x="13994093" y="2029954"/>
              <a:ext cx="117069" cy="100395"/>
            </a:xfrm>
            <a:custGeom>
              <a:avLst/>
              <a:gdLst>
                <a:gd name="T0" fmla="*/ 0 w 68"/>
                <a:gd name="T1" fmla="*/ 0 h 51"/>
                <a:gd name="T2" fmla="*/ 68 w 68"/>
                <a:gd name="T3" fmla="*/ 25 h 51"/>
                <a:gd name="T4" fmla="*/ 0 w 68"/>
                <a:gd name="T5" fmla="*/ 51 h 51"/>
                <a:gd name="T6" fmla="*/ 0 w 68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51">
                  <a:moveTo>
                    <a:pt x="0" y="0"/>
                  </a:moveTo>
                  <a:lnTo>
                    <a:pt x="68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Rectangle 104"/>
            <p:cNvSpPr>
              <a:spLocks noChangeArrowheads="1"/>
            </p:cNvSpPr>
            <p:nvPr/>
          </p:nvSpPr>
          <p:spPr bwMode="auto">
            <a:xfrm>
              <a:off x="12247917" y="1742253"/>
              <a:ext cx="1171547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个字符帧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Line 105"/>
            <p:cNvSpPr>
              <a:spLocks noChangeShapeType="1"/>
            </p:cNvSpPr>
            <p:nvPr/>
          </p:nvSpPr>
          <p:spPr bwMode="auto">
            <a:xfrm flipH="1">
              <a:off x="10483751" y="2079167"/>
              <a:ext cx="63871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106"/>
            <p:cNvSpPr/>
            <p:nvPr/>
          </p:nvSpPr>
          <p:spPr bwMode="auto">
            <a:xfrm>
              <a:off x="11112136" y="2029954"/>
              <a:ext cx="115348" cy="100395"/>
            </a:xfrm>
            <a:custGeom>
              <a:avLst/>
              <a:gdLst>
                <a:gd name="T0" fmla="*/ 0 w 67"/>
                <a:gd name="T1" fmla="*/ 0 h 51"/>
                <a:gd name="T2" fmla="*/ 67 w 67"/>
                <a:gd name="T3" fmla="*/ 25 h 51"/>
                <a:gd name="T4" fmla="*/ 0 w 67"/>
                <a:gd name="T5" fmla="*/ 51 h 51"/>
                <a:gd name="T6" fmla="*/ 0 w 67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0" y="0"/>
                  </a:moveTo>
                  <a:lnTo>
                    <a:pt x="67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07"/>
            <p:cNvSpPr>
              <a:spLocks noChangeShapeType="1"/>
            </p:cNvSpPr>
            <p:nvPr/>
          </p:nvSpPr>
          <p:spPr bwMode="auto">
            <a:xfrm flipH="1">
              <a:off x="14219622" y="2079167"/>
              <a:ext cx="63699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108"/>
            <p:cNvSpPr/>
            <p:nvPr/>
          </p:nvSpPr>
          <p:spPr bwMode="auto">
            <a:xfrm>
              <a:off x="14114605" y="2029954"/>
              <a:ext cx="115348" cy="100395"/>
            </a:xfrm>
            <a:custGeom>
              <a:avLst/>
              <a:gdLst>
                <a:gd name="T0" fmla="*/ 67 w 67"/>
                <a:gd name="T1" fmla="*/ 51 h 51"/>
                <a:gd name="T2" fmla="*/ 0 w 67"/>
                <a:gd name="T3" fmla="*/ 25 h 51"/>
                <a:gd name="T4" fmla="*/ 67 w 67"/>
                <a:gd name="T5" fmla="*/ 0 h 51"/>
                <a:gd name="T6" fmla="*/ 67 w 67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67" y="51"/>
                  </a:moveTo>
                  <a:lnTo>
                    <a:pt x="0" y="25"/>
                  </a:lnTo>
                  <a:lnTo>
                    <a:pt x="67" y="0"/>
                  </a:lnTo>
                  <a:lnTo>
                    <a:pt x="67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113"/>
            <p:cNvSpPr>
              <a:spLocks noChangeArrowheads="1"/>
            </p:cNvSpPr>
            <p:nvPr/>
          </p:nvSpPr>
          <p:spPr bwMode="auto">
            <a:xfrm>
              <a:off x="9746907" y="1756330"/>
              <a:ext cx="127599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kumimoji="0" lang="en-US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n-1</a:t>
              </a:r>
              <a:r>
                <a:rPr kumimoji="0" lang="zh-CN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个字符帧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113"/>
            <p:cNvSpPr>
              <a:spLocks noChangeArrowheads="1"/>
            </p:cNvSpPr>
            <p:nvPr/>
          </p:nvSpPr>
          <p:spPr bwMode="auto">
            <a:xfrm>
              <a:off x="14285372" y="1742652"/>
              <a:ext cx="133530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kumimoji="0" lang="en-US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n+1</a:t>
              </a:r>
              <a:r>
                <a:rPr kumimoji="0" lang="zh-CN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个字符帧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Line 12"/>
            <p:cNvSpPr>
              <a:spLocks noChangeShapeType="1"/>
            </p:cNvSpPr>
            <p:nvPr/>
          </p:nvSpPr>
          <p:spPr bwMode="auto">
            <a:xfrm>
              <a:off x="10960637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Line 12"/>
            <p:cNvSpPr>
              <a:spLocks noChangeShapeType="1"/>
            </p:cNvSpPr>
            <p:nvPr/>
          </p:nvSpPr>
          <p:spPr bwMode="auto">
            <a:xfrm>
              <a:off x="11227482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Line 12"/>
            <p:cNvSpPr>
              <a:spLocks noChangeShapeType="1"/>
            </p:cNvSpPr>
            <p:nvPr/>
          </p:nvSpPr>
          <p:spPr bwMode="auto">
            <a:xfrm>
              <a:off x="13859808" y="3500438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Line 12"/>
            <p:cNvSpPr>
              <a:spLocks noChangeShapeType="1"/>
            </p:cNvSpPr>
            <p:nvPr/>
          </p:nvSpPr>
          <p:spPr bwMode="auto">
            <a:xfrm>
              <a:off x="14112883" y="3159884"/>
              <a:ext cx="259962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0" name="组合 249"/>
          <p:cNvGrpSpPr/>
          <p:nvPr/>
        </p:nvGrpSpPr>
        <p:grpSpPr>
          <a:xfrm>
            <a:off x="2336587" y="4456627"/>
            <a:ext cx="6489109" cy="1782495"/>
            <a:chOff x="1194052" y="4252545"/>
            <a:chExt cx="5983658" cy="1437483"/>
          </a:xfrm>
        </p:grpSpPr>
        <p:sp>
          <p:nvSpPr>
            <p:cNvPr id="124" name="Line 122"/>
            <p:cNvSpPr>
              <a:spLocks noChangeShapeType="1"/>
            </p:cNvSpPr>
            <p:nvPr/>
          </p:nvSpPr>
          <p:spPr bwMode="auto">
            <a:xfrm flipV="1">
              <a:off x="2307869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23"/>
            <p:cNvSpPr>
              <a:spLocks noChangeShapeType="1"/>
            </p:cNvSpPr>
            <p:nvPr/>
          </p:nvSpPr>
          <p:spPr bwMode="auto">
            <a:xfrm>
              <a:off x="2311044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24"/>
            <p:cNvSpPr>
              <a:spLocks noChangeShapeType="1"/>
            </p:cNvSpPr>
            <p:nvPr/>
          </p:nvSpPr>
          <p:spPr bwMode="auto">
            <a:xfrm flipV="1">
              <a:off x="2550756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25"/>
            <p:cNvSpPr>
              <a:spLocks noChangeShapeType="1"/>
            </p:cNvSpPr>
            <p:nvPr/>
          </p:nvSpPr>
          <p:spPr bwMode="auto">
            <a:xfrm flipV="1">
              <a:off x="2790469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126"/>
            <p:cNvSpPr>
              <a:spLocks noChangeShapeType="1"/>
            </p:cNvSpPr>
            <p:nvPr/>
          </p:nvSpPr>
          <p:spPr bwMode="auto">
            <a:xfrm>
              <a:off x="2552344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127"/>
            <p:cNvSpPr>
              <a:spLocks noChangeShapeType="1"/>
            </p:cNvSpPr>
            <p:nvPr/>
          </p:nvSpPr>
          <p:spPr bwMode="auto">
            <a:xfrm>
              <a:off x="2795231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Line 128"/>
            <p:cNvSpPr>
              <a:spLocks noChangeShapeType="1"/>
            </p:cNvSpPr>
            <p:nvPr/>
          </p:nvSpPr>
          <p:spPr bwMode="auto">
            <a:xfrm flipV="1">
              <a:off x="3034944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Line 129"/>
            <p:cNvSpPr>
              <a:spLocks noChangeShapeType="1"/>
            </p:cNvSpPr>
            <p:nvPr/>
          </p:nvSpPr>
          <p:spPr bwMode="auto">
            <a:xfrm>
              <a:off x="2795231" y="5690028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130"/>
            <p:cNvSpPr>
              <a:spLocks noChangeShapeType="1"/>
            </p:cNvSpPr>
            <p:nvPr/>
          </p:nvSpPr>
          <p:spPr bwMode="auto">
            <a:xfrm>
              <a:off x="3034944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131"/>
            <p:cNvSpPr>
              <a:spLocks noChangeShapeType="1"/>
            </p:cNvSpPr>
            <p:nvPr/>
          </p:nvSpPr>
          <p:spPr bwMode="auto">
            <a:xfrm flipV="1">
              <a:off x="3274656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132"/>
            <p:cNvSpPr>
              <a:spLocks noChangeShapeType="1"/>
            </p:cNvSpPr>
            <p:nvPr/>
          </p:nvSpPr>
          <p:spPr bwMode="auto">
            <a:xfrm>
              <a:off x="3034944" y="5690028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133"/>
            <p:cNvSpPr>
              <a:spLocks noChangeShapeType="1"/>
            </p:cNvSpPr>
            <p:nvPr/>
          </p:nvSpPr>
          <p:spPr bwMode="auto">
            <a:xfrm>
              <a:off x="3277831" y="5413803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34"/>
            <p:cNvSpPr>
              <a:spLocks noChangeShapeType="1"/>
            </p:cNvSpPr>
            <p:nvPr/>
          </p:nvSpPr>
          <p:spPr bwMode="auto">
            <a:xfrm flipV="1">
              <a:off x="3515956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35"/>
            <p:cNvSpPr>
              <a:spLocks noChangeShapeType="1"/>
            </p:cNvSpPr>
            <p:nvPr/>
          </p:nvSpPr>
          <p:spPr bwMode="auto">
            <a:xfrm>
              <a:off x="3277831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36"/>
            <p:cNvSpPr>
              <a:spLocks noChangeShapeType="1"/>
            </p:cNvSpPr>
            <p:nvPr/>
          </p:nvSpPr>
          <p:spPr bwMode="auto">
            <a:xfrm>
              <a:off x="3519131" y="5413803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37"/>
            <p:cNvSpPr>
              <a:spLocks noChangeShapeType="1"/>
            </p:cNvSpPr>
            <p:nvPr/>
          </p:nvSpPr>
          <p:spPr bwMode="auto">
            <a:xfrm flipV="1">
              <a:off x="3757256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38"/>
            <p:cNvSpPr>
              <a:spLocks noChangeShapeType="1"/>
            </p:cNvSpPr>
            <p:nvPr/>
          </p:nvSpPr>
          <p:spPr bwMode="auto">
            <a:xfrm>
              <a:off x="3519131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39"/>
            <p:cNvSpPr>
              <a:spLocks noChangeShapeType="1"/>
            </p:cNvSpPr>
            <p:nvPr/>
          </p:nvSpPr>
          <p:spPr bwMode="auto">
            <a:xfrm>
              <a:off x="3762019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140"/>
            <p:cNvSpPr>
              <a:spLocks noChangeShapeType="1"/>
            </p:cNvSpPr>
            <p:nvPr/>
          </p:nvSpPr>
          <p:spPr bwMode="auto">
            <a:xfrm flipV="1">
              <a:off x="4001731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Line 141"/>
            <p:cNvSpPr>
              <a:spLocks noChangeShapeType="1"/>
            </p:cNvSpPr>
            <p:nvPr/>
          </p:nvSpPr>
          <p:spPr bwMode="auto">
            <a:xfrm>
              <a:off x="3762019" y="5690028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142"/>
            <p:cNvSpPr>
              <a:spLocks noChangeShapeType="1"/>
            </p:cNvSpPr>
            <p:nvPr/>
          </p:nvSpPr>
          <p:spPr bwMode="auto">
            <a:xfrm>
              <a:off x="4003319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143"/>
            <p:cNvSpPr>
              <a:spLocks noChangeShapeType="1"/>
            </p:cNvSpPr>
            <p:nvPr/>
          </p:nvSpPr>
          <p:spPr bwMode="auto">
            <a:xfrm flipV="1">
              <a:off x="4243031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144"/>
            <p:cNvSpPr>
              <a:spLocks noChangeShapeType="1"/>
            </p:cNvSpPr>
            <p:nvPr/>
          </p:nvSpPr>
          <p:spPr bwMode="auto">
            <a:xfrm>
              <a:off x="4003319" y="5690028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145"/>
            <p:cNvSpPr>
              <a:spLocks noChangeShapeType="1"/>
            </p:cNvSpPr>
            <p:nvPr/>
          </p:nvSpPr>
          <p:spPr bwMode="auto">
            <a:xfrm>
              <a:off x="4246206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146"/>
            <p:cNvSpPr>
              <a:spLocks noChangeShapeType="1"/>
            </p:cNvSpPr>
            <p:nvPr/>
          </p:nvSpPr>
          <p:spPr bwMode="auto">
            <a:xfrm flipV="1">
              <a:off x="4485919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147"/>
            <p:cNvSpPr>
              <a:spLocks noChangeShapeType="1"/>
            </p:cNvSpPr>
            <p:nvPr/>
          </p:nvSpPr>
          <p:spPr bwMode="auto">
            <a:xfrm>
              <a:off x="4246206" y="5690028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148"/>
            <p:cNvSpPr>
              <a:spLocks noChangeShapeType="1"/>
            </p:cNvSpPr>
            <p:nvPr/>
          </p:nvSpPr>
          <p:spPr bwMode="auto">
            <a:xfrm>
              <a:off x="4487506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149"/>
            <p:cNvSpPr>
              <a:spLocks noChangeShapeType="1"/>
            </p:cNvSpPr>
            <p:nvPr/>
          </p:nvSpPr>
          <p:spPr bwMode="auto">
            <a:xfrm flipV="1">
              <a:off x="4727219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150"/>
            <p:cNvSpPr>
              <a:spLocks noChangeShapeType="1"/>
            </p:cNvSpPr>
            <p:nvPr/>
          </p:nvSpPr>
          <p:spPr bwMode="auto">
            <a:xfrm>
              <a:off x="4487506" y="5690028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151"/>
            <p:cNvSpPr>
              <a:spLocks noChangeShapeType="1"/>
            </p:cNvSpPr>
            <p:nvPr/>
          </p:nvSpPr>
          <p:spPr bwMode="auto">
            <a:xfrm>
              <a:off x="4730394" y="5413803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152"/>
            <p:cNvSpPr>
              <a:spLocks noChangeShapeType="1"/>
            </p:cNvSpPr>
            <p:nvPr/>
          </p:nvSpPr>
          <p:spPr bwMode="auto">
            <a:xfrm flipV="1">
              <a:off x="4970106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153"/>
            <p:cNvSpPr>
              <a:spLocks noChangeShapeType="1"/>
            </p:cNvSpPr>
            <p:nvPr/>
          </p:nvSpPr>
          <p:spPr bwMode="auto">
            <a:xfrm>
              <a:off x="4730394" y="5690028"/>
              <a:ext cx="2397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154"/>
            <p:cNvSpPr>
              <a:spLocks noChangeShapeType="1"/>
            </p:cNvSpPr>
            <p:nvPr/>
          </p:nvSpPr>
          <p:spPr bwMode="auto">
            <a:xfrm>
              <a:off x="4970106" y="5413803"/>
              <a:ext cx="8493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155"/>
            <p:cNvSpPr>
              <a:spLocks noChangeShapeType="1"/>
            </p:cNvSpPr>
            <p:nvPr/>
          </p:nvSpPr>
          <p:spPr bwMode="auto">
            <a:xfrm flipV="1">
              <a:off x="6065481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156"/>
            <p:cNvSpPr>
              <a:spLocks noChangeShapeType="1"/>
            </p:cNvSpPr>
            <p:nvPr/>
          </p:nvSpPr>
          <p:spPr bwMode="auto">
            <a:xfrm>
              <a:off x="5827356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157"/>
            <p:cNvSpPr>
              <a:spLocks noChangeShapeType="1"/>
            </p:cNvSpPr>
            <p:nvPr/>
          </p:nvSpPr>
          <p:spPr bwMode="auto">
            <a:xfrm>
              <a:off x="6068656" y="5413803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158"/>
            <p:cNvSpPr>
              <a:spLocks noChangeShapeType="1"/>
            </p:cNvSpPr>
            <p:nvPr/>
          </p:nvSpPr>
          <p:spPr bwMode="auto">
            <a:xfrm>
              <a:off x="6068656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Rectangle 159"/>
            <p:cNvSpPr>
              <a:spLocks noChangeArrowheads="1"/>
            </p:cNvSpPr>
            <p:nvPr/>
          </p:nvSpPr>
          <p:spPr bwMode="auto">
            <a:xfrm>
              <a:off x="2385657" y="5456667"/>
              <a:ext cx="76863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Rectangle 160"/>
            <p:cNvSpPr>
              <a:spLocks noChangeArrowheads="1"/>
            </p:cNvSpPr>
            <p:nvPr/>
          </p:nvSpPr>
          <p:spPr bwMode="auto">
            <a:xfrm>
              <a:off x="2638071" y="5453498"/>
              <a:ext cx="7981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Rectangle 161"/>
            <p:cNvSpPr>
              <a:spLocks noChangeArrowheads="1"/>
            </p:cNvSpPr>
            <p:nvPr/>
          </p:nvSpPr>
          <p:spPr bwMode="auto">
            <a:xfrm>
              <a:off x="4525608" y="5458256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D7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Rectangle 162"/>
            <p:cNvSpPr>
              <a:spLocks noChangeArrowheads="1"/>
            </p:cNvSpPr>
            <p:nvPr/>
          </p:nvSpPr>
          <p:spPr bwMode="auto">
            <a:xfrm>
              <a:off x="4277959" y="5453495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D6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Rectangle 163"/>
            <p:cNvSpPr>
              <a:spLocks noChangeArrowheads="1"/>
            </p:cNvSpPr>
            <p:nvPr/>
          </p:nvSpPr>
          <p:spPr bwMode="auto">
            <a:xfrm>
              <a:off x="4025545" y="5453497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Rectangle 164"/>
            <p:cNvSpPr>
              <a:spLocks noChangeArrowheads="1"/>
            </p:cNvSpPr>
            <p:nvPr/>
          </p:nvSpPr>
          <p:spPr bwMode="auto">
            <a:xfrm>
              <a:off x="3789007" y="5453494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Rectangle 165"/>
            <p:cNvSpPr>
              <a:spLocks noChangeArrowheads="1"/>
            </p:cNvSpPr>
            <p:nvPr/>
          </p:nvSpPr>
          <p:spPr bwMode="auto">
            <a:xfrm>
              <a:off x="3539770" y="5453493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Rectangle 166"/>
            <p:cNvSpPr>
              <a:spLocks noChangeArrowheads="1"/>
            </p:cNvSpPr>
            <p:nvPr/>
          </p:nvSpPr>
          <p:spPr bwMode="auto">
            <a:xfrm>
              <a:off x="3314344" y="5453494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Rectangle 167"/>
            <p:cNvSpPr>
              <a:spLocks noChangeArrowheads="1"/>
            </p:cNvSpPr>
            <p:nvPr/>
          </p:nvSpPr>
          <p:spPr bwMode="auto">
            <a:xfrm>
              <a:off x="3071457" y="5453499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Rectangle 168"/>
            <p:cNvSpPr>
              <a:spLocks noChangeArrowheads="1"/>
            </p:cNvSpPr>
            <p:nvPr/>
          </p:nvSpPr>
          <p:spPr bwMode="auto">
            <a:xfrm>
              <a:off x="2830156" y="5458258"/>
              <a:ext cx="18328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D0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Rectangle 169"/>
            <p:cNvSpPr>
              <a:spLocks noChangeArrowheads="1"/>
            </p:cNvSpPr>
            <p:nvPr/>
          </p:nvSpPr>
          <p:spPr bwMode="auto">
            <a:xfrm>
              <a:off x="4760555" y="5463023"/>
              <a:ext cx="221721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0/1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Rectangle 170"/>
            <p:cNvSpPr>
              <a:spLocks noChangeArrowheads="1"/>
            </p:cNvSpPr>
            <p:nvPr/>
          </p:nvSpPr>
          <p:spPr bwMode="auto">
            <a:xfrm>
              <a:off x="5065356" y="5456672"/>
              <a:ext cx="7981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Rectangle 171"/>
            <p:cNvSpPr>
              <a:spLocks noChangeArrowheads="1"/>
            </p:cNvSpPr>
            <p:nvPr/>
          </p:nvSpPr>
          <p:spPr bwMode="auto">
            <a:xfrm>
              <a:off x="5887681" y="5458260"/>
              <a:ext cx="76863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Rectangle 172"/>
            <p:cNvSpPr>
              <a:spLocks noChangeArrowheads="1"/>
            </p:cNvSpPr>
            <p:nvPr/>
          </p:nvSpPr>
          <p:spPr bwMode="auto">
            <a:xfrm>
              <a:off x="6087706" y="5458261"/>
              <a:ext cx="17589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D0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Rectangle 173"/>
            <p:cNvSpPr>
              <a:spLocks noChangeArrowheads="1"/>
            </p:cNvSpPr>
            <p:nvPr/>
          </p:nvSpPr>
          <p:spPr bwMode="auto">
            <a:xfrm>
              <a:off x="2334856" y="4693078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空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Rectangle 174"/>
            <p:cNvSpPr>
              <a:spLocks noChangeArrowheads="1"/>
            </p:cNvSpPr>
            <p:nvPr/>
          </p:nvSpPr>
          <p:spPr bwMode="auto">
            <a:xfrm>
              <a:off x="2334856" y="4923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闲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Rectangle 175"/>
            <p:cNvSpPr>
              <a:spLocks noChangeArrowheads="1"/>
            </p:cNvSpPr>
            <p:nvPr/>
          </p:nvSpPr>
          <p:spPr bwMode="auto">
            <a:xfrm>
              <a:off x="2334856" y="5177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176"/>
            <p:cNvSpPr>
              <a:spLocks noChangeArrowheads="1"/>
            </p:cNvSpPr>
            <p:nvPr/>
          </p:nvSpPr>
          <p:spPr bwMode="auto">
            <a:xfrm>
              <a:off x="2587269" y="4693078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起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177"/>
            <p:cNvSpPr>
              <a:spLocks noChangeArrowheads="1"/>
            </p:cNvSpPr>
            <p:nvPr/>
          </p:nvSpPr>
          <p:spPr bwMode="auto">
            <a:xfrm>
              <a:off x="2587269" y="4923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始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178"/>
            <p:cNvSpPr>
              <a:spLocks noChangeArrowheads="1"/>
            </p:cNvSpPr>
            <p:nvPr/>
          </p:nvSpPr>
          <p:spPr bwMode="auto">
            <a:xfrm>
              <a:off x="2587269" y="5177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179"/>
            <p:cNvSpPr>
              <a:spLocks noChangeArrowheads="1"/>
            </p:cNvSpPr>
            <p:nvPr/>
          </p:nvSpPr>
          <p:spPr bwMode="auto">
            <a:xfrm>
              <a:off x="4738331" y="4693078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奇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180"/>
            <p:cNvSpPr>
              <a:spLocks noChangeArrowheads="1"/>
            </p:cNvSpPr>
            <p:nvPr/>
          </p:nvSpPr>
          <p:spPr bwMode="auto">
            <a:xfrm>
              <a:off x="4738331" y="4923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偶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181"/>
            <p:cNvSpPr>
              <a:spLocks noChangeArrowheads="1"/>
            </p:cNvSpPr>
            <p:nvPr/>
          </p:nvSpPr>
          <p:spPr bwMode="auto">
            <a:xfrm>
              <a:off x="4738331" y="5177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smtClean="0">
                  <a:ln>
                    <a:noFill/>
                  </a:ln>
                  <a:solidFill>
                    <a:srgbClr val="00B0F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182"/>
            <p:cNvSpPr>
              <a:spLocks noChangeArrowheads="1"/>
            </p:cNvSpPr>
            <p:nvPr/>
          </p:nvSpPr>
          <p:spPr bwMode="auto">
            <a:xfrm>
              <a:off x="4990744" y="4693078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停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183"/>
            <p:cNvSpPr>
              <a:spLocks noChangeArrowheads="1"/>
            </p:cNvSpPr>
            <p:nvPr/>
          </p:nvSpPr>
          <p:spPr bwMode="auto">
            <a:xfrm>
              <a:off x="4990744" y="4923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止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184"/>
            <p:cNvSpPr>
              <a:spLocks noChangeArrowheads="1"/>
            </p:cNvSpPr>
            <p:nvPr/>
          </p:nvSpPr>
          <p:spPr bwMode="auto">
            <a:xfrm>
              <a:off x="4990744" y="5177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smtClean="0">
                  <a:ln>
                    <a:noFill/>
                  </a:ln>
                  <a:solidFill>
                    <a:srgbClr val="00B05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185"/>
            <p:cNvSpPr>
              <a:spLocks noChangeArrowheads="1"/>
            </p:cNvSpPr>
            <p:nvPr/>
          </p:nvSpPr>
          <p:spPr bwMode="auto">
            <a:xfrm>
              <a:off x="5233631" y="4693078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FF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空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Rectangle 186"/>
            <p:cNvSpPr>
              <a:spLocks noChangeArrowheads="1"/>
            </p:cNvSpPr>
            <p:nvPr/>
          </p:nvSpPr>
          <p:spPr bwMode="auto">
            <a:xfrm>
              <a:off x="5233631" y="4923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FF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闲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Rectangle 187"/>
            <p:cNvSpPr>
              <a:spLocks noChangeArrowheads="1"/>
            </p:cNvSpPr>
            <p:nvPr/>
          </p:nvSpPr>
          <p:spPr bwMode="auto">
            <a:xfrm>
              <a:off x="5233631" y="5177265"/>
              <a:ext cx="177377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 smtClean="0">
                  <a:ln>
                    <a:noFill/>
                  </a:ln>
                  <a:solidFill>
                    <a:srgbClr val="FF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FF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188"/>
            <p:cNvSpPr>
              <a:spLocks noEditPoints="1"/>
            </p:cNvSpPr>
            <p:nvPr/>
          </p:nvSpPr>
          <p:spPr bwMode="auto">
            <a:xfrm>
              <a:off x="2790469" y="5102653"/>
              <a:ext cx="1936750" cy="339725"/>
            </a:xfrm>
            <a:custGeom>
              <a:avLst/>
              <a:gdLst>
                <a:gd name="T0" fmla="*/ 0 w 1220"/>
                <a:gd name="T1" fmla="*/ 0 h 214"/>
                <a:gd name="T2" fmla="*/ 0 w 1220"/>
                <a:gd name="T3" fmla="*/ 214 h 214"/>
                <a:gd name="T4" fmla="*/ 0 w 1220"/>
                <a:gd name="T5" fmla="*/ 0 h 214"/>
                <a:gd name="T6" fmla="*/ 1220 w 1220"/>
                <a:gd name="T7" fmla="*/ 0 h 214"/>
                <a:gd name="T8" fmla="*/ 1220 w 1220"/>
                <a:gd name="T9" fmla="*/ 214 h 214"/>
                <a:gd name="T10" fmla="*/ 1220 w 1220"/>
                <a:gd name="T11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0" h="214">
                  <a:moveTo>
                    <a:pt x="0" y="0"/>
                  </a:moveTo>
                  <a:lnTo>
                    <a:pt x="0" y="214"/>
                  </a:lnTo>
                  <a:lnTo>
                    <a:pt x="0" y="0"/>
                  </a:lnTo>
                  <a:close/>
                  <a:moveTo>
                    <a:pt x="1220" y="0"/>
                  </a:moveTo>
                  <a:lnTo>
                    <a:pt x="1220" y="214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189"/>
            <p:cNvSpPr/>
            <p:nvPr/>
          </p:nvSpPr>
          <p:spPr bwMode="auto">
            <a:xfrm>
              <a:off x="2790469" y="5102653"/>
              <a:ext cx="0" cy="339725"/>
            </a:xfrm>
            <a:custGeom>
              <a:avLst/>
              <a:gdLst>
                <a:gd name="T0" fmla="*/ 0 h 214"/>
                <a:gd name="T1" fmla="*/ 214 h 214"/>
                <a:gd name="T2" fmla="*/ 0 h 21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14">
                  <a:moveTo>
                    <a:pt x="0" y="0"/>
                  </a:moveTo>
                  <a:lnTo>
                    <a:pt x="0" y="2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190"/>
            <p:cNvSpPr/>
            <p:nvPr/>
          </p:nvSpPr>
          <p:spPr bwMode="auto">
            <a:xfrm>
              <a:off x="4727219" y="5102653"/>
              <a:ext cx="0" cy="339725"/>
            </a:xfrm>
            <a:custGeom>
              <a:avLst/>
              <a:gdLst>
                <a:gd name="T0" fmla="*/ 0 h 214"/>
                <a:gd name="T1" fmla="*/ 214 h 214"/>
                <a:gd name="T2" fmla="*/ 0 h 21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14">
                  <a:moveTo>
                    <a:pt x="0" y="0"/>
                  </a:moveTo>
                  <a:lnTo>
                    <a:pt x="0" y="2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191"/>
            <p:cNvSpPr>
              <a:spLocks noEditPoints="1"/>
            </p:cNvSpPr>
            <p:nvPr/>
          </p:nvSpPr>
          <p:spPr bwMode="auto">
            <a:xfrm>
              <a:off x="2888894" y="5231240"/>
              <a:ext cx="1739900" cy="0"/>
            </a:xfrm>
            <a:custGeom>
              <a:avLst/>
              <a:gdLst>
                <a:gd name="T0" fmla="*/ 548 w 1096"/>
                <a:gd name="T1" fmla="*/ 0 w 1096"/>
                <a:gd name="T2" fmla="*/ 548 w 1096"/>
                <a:gd name="T3" fmla="*/ 1096 w 109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96">
                  <a:moveTo>
                    <a:pt x="548" y="0"/>
                  </a:moveTo>
                  <a:lnTo>
                    <a:pt x="0" y="0"/>
                  </a:lnTo>
                  <a:moveTo>
                    <a:pt x="548" y="0"/>
                  </a:moveTo>
                  <a:lnTo>
                    <a:pt x="1096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192"/>
            <p:cNvSpPr/>
            <p:nvPr/>
          </p:nvSpPr>
          <p:spPr bwMode="auto">
            <a:xfrm>
              <a:off x="2790469" y="5189965"/>
              <a:ext cx="106363" cy="82550"/>
            </a:xfrm>
            <a:custGeom>
              <a:avLst/>
              <a:gdLst>
                <a:gd name="T0" fmla="*/ 67 w 67"/>
                <a:gd name="T1" fmla="*/ 52 h 52"/>
                <a:gd name="T2" fmla="*/ 0 w 67"/>
                <a:gd name="T3" fmla="*/ 26 h 52"/>
                <a:gd name="T4" fmla="*/ 67 w 67"/>
                <a:gd name="T5" fmla="*/ 0 h 52"/>
                <a:gd name="T6" fmla="*/ 67 w 67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2">
                  <a:moveTo>
                    <a:pt x="67" y="52"/>
                  </a:moveTo>
                  <a:lnTo>
                    <a:pt x="0" y="26"/>
                  </a:lnTo>
                  <a:lnTo>
                    <a:pt x="67" y="0"/>
                  </a:lnTo>
                  <a:lnTo>
                    <a:pt x="67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193"/>
            <p:cNvSpPr/>
            <p:nvPr/>
          </p:nvSpPr>
          <p:spPr bwMode="auto">
            <a:xfrm>
              <a:off x="4620856" y="5189965"/>
              <a:ext cx="106363" cy="82550"/>
            </a:xfrm>
            <a:custGeom>
              <a:avLst/>
              <a:gdLst>
                <a:gd name="T0" fmla="*/ 0 w 67"/>
                <a:gd name="T1" fmla="*/ 0 h 52"/>
                <a:gd name="T2" fmla="*/ 67 w 67"/>
                <a:gd name="T3" fmla="*/ 26 h 52"/>
                <a:gd name="T4" fmla="*/ 0 w 67"/>
                <a:gd name="T5" fmla="*/ 52 h 52"/>
                <a:gd name="T6" fmla="*/ 0 w 67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2">
                  <a:moveTo>
                    <a:pt x="0" y="0"/>
                  </a:moveTo>
                  <a:lnTo>
                    <a:pt x="67" y="26"/>
                  </a:lnTo>
                  <a:lnTo>
                    <a:pt x="0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Rectangle 195"/>
            <p:cNvSpPr>
              <a:spLocks noChangeArrowheads="1"/>
            </p:cNvSpPr>
            <p:nvPr/>
          </p:nvSpPr>
          <p:spPr bwMode="auto">
            <a:xfrm>
              <a:off x="3558910" y="5021808"/>
              <a:ext cx="635601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位数据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196"/>
            <p:cNvSpPr>
              <a:spLocks noEditPoints="1"/>
            </p:cNvSpPr>
            <p:nvPr/>
          </p:nvSpPr>
          <p:spPr bwMode="auto">
            <a:xfrm>
              <a:off x="2550756" y="4413677"/>
              <a:ext cx="2657475" cy="1028701"/>
            </a:xfrm>
            <a:custGeom>
              <a:avLst/>
              <a:gdLst>
                <a:gd name="T0" fmla="*/ 0 w 1674"/>
                <a:gd name="T1" fmla="*/ 0 h 648"/>
                <a:gd name="T2" fmla="*/ 0 w 1674"/>
                <a:gd name="T3" fmla="*/ 648 h 648"/>
                <a:gd name="T4" fmla="*/ 0 w 1674"/>
                <a:gd name="T5" fmla="*/ 0 h 648"/>
                <a:gd name="T6" fmla="*/ 1674 w 1674"/>
                <a:gd name="T7" fmla="*/ 0 h 648"/>
                <a:gd name="T8" fmla="*/ 1674 w 1674"/>
                <a:gd name="T9" fmla="*/ 624 h 648"/>
                <a:gd name="T10" fmla="*/ 1674 w 1674"/>
                <a:gd name="T11" fmla="*/ 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74" h="648">
                  <a:moveTo>
                    <a:pt x="0" y="0"/>
                  </a:moveTo>
                  <a:lnTo>
                    <a:pt x="0" y="648"/>
                  </a:lnTo>
                  <a:lnTo>
                    <a:pt x="0" y="0"/>
                  </a:lnTo>
                  <a:close/>
                  <a:moveTo>
                    <a:pt x="1674" y="0"/>
                  </a:moveTo>
                  <a:lnTo>
                    <a:pt x="1674" y="624"/>
                  </a:lnTo>
                  <a:lnTo>
                    <a:pt x="1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197"/>
            <p:cNvSpPr/>
            <p:nvPr/>
          </p:nvSpPr>
          <p:spPr bwMode="auto">
            <a:xfrm>
              <a:off x="2550756" y="4413677"/>
              <a:ext cx="0" cy="1028701"/>
            </a:xfrm>
            <a:custGeom>
              <a:avLst/>
              <a:gdLst>
                <a:gd name="T0" fmla="*/ 0 h 648"/>
                <a:gd name="T1" fmla="*/ 648 h 648"/>
                <a:gd name="T2" fmla="*/ 0 h 648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648">
                  <a:moveTo>
                    <a:pt x="0" y="0"/>
                  </a:moveTo>
                  <a:lnTo>
                    <a:pt x="0" y="64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198"/>
            <p:cNvSpPr/>
            <p:nvPr/>
          </p:nvSpPr>
          <p:spPr bwMode="auto">
            <a:xfrm>
              <a:off x="5208231" y="4413677"/>
              <a:ext cx="0" cy="990601"/>
            </a:xfrm>
            <a:custGeom>
              <a:avLst/>
              <a:gdLst>
                <a:gd name="T0" fmla="*/ 0 h 624"/>
                <a:gd name="T1" fmla="*/ 624 h 624"/>
                <a:gd name="T2" fmla="*/ 0 h 62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624">
                  <a:moveTo>
                    <a:pt x="0" y="0"/>
                  </a:moveTo>
                  <a:lnTo>
                    <a:pt x="0" y="62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199"/>
            <p:cNvSpPr>
              <a:spLocks noEditPoints="1"/>
            </p:cNvSpPr>
            <p:nvPr/>
          </p:nvSpPr>
          <p:spPr bwMode="auto">
            <a:xfrm>
              <a:off x="2647594" y="4543852"/>
              <a:ext cx="2463800" cy="0"/>
            </a:xfrm>
            <a:custGeom>
              <a:avLst/>
              <a:gdLst>
                <a:gd name="T0" fmla="*/ 776 w 1552"/>
                <a:gd name="T1" fmla="*/ 0 w 1552"/>
                <a:gd name="T2" fmla="*/ 776 w 1552"/>
                <a:gd name="T3" fmla="*/ 1552 w 15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52">
                  <a:moveTo>
                    <a:pt x="776" y="0"/>
                  </a:moveTo>
                  <a:lnTo>
                    <a:pt x="0" y="0"/>
                  </a:lnTo>
                  <a:moveTo>
                    <a:pt x="776" y="0"/>
                  </a:moveTo>
                  <a:lnTo>
                    <a:pt x="155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200"/>
            <p:cNvSpPr/>
            <p:nvPr/>
          </p:nvSpPr>
          <p:spPr bwMode="auto">
            <a:xfrm>
              <a:off x="2550756" y="4502577"/>
              <a:ext cx="106363" cy="80963"/>
            </a:xfrm>
            <a:custGeom>
              <a:avLst/>
              <a:gdLst>
                <a:gd name="T0" fmla="*/ 67 w 67"/>
                <a:gd name="T1" fmla="*/ 51 h 51"/>
                <a:gd name="T2" fmla="*/ 0 w 67"/>
                <a:gd name="T3" fmla="*/ 26 h 51"/>
                <a:gd name="T4" fmla="*/ 67 w 67"/>
                <a:gd name="T5" fmla="*/ 0 h 51"/>
                <a:gd name="T6" fmla="*/ 67 w 67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67" y="51"/>
                  </a:moveTo>
                  <a:lnTo>
                    <a:pt x="0" y="26"/>
                  </a:lnTo>
                  <a:lnTo>
                    <a:pt x="67" y="0"/>
                  </a:lnTo>
                  <a:lnTo>
                    <a:pt x="67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201"/>
            <p:cNvSpPr/>
            <p:nvPr/>
          </p:nvSpPr>
          <p:spPr bwMode="auto">
            <a:xfrm>
              <a:off x="5101869" y="4502577"/>
              <a:ext cx="106363" cy="80963"/>
            </a:xfrm>
            <a:custGeom>
              <a:avLst/>
              <a:gdLst>
                <a:gd name="T0" fmla="*/ 0 w 67"/>
                <a:gd name="T1" fmla="*/ 0 h 51"/>
                <a:gd name="T2" fmla="*/ 67 w 67"/>
                <a:gd name="T3" fmla="*/ 26 h 51"/>
                <a:gd name="T4" fmla="*/ 0 w 67"/>
                <a:gd name="T5" fmla="*/ 51 h 51"/>
                <a:gd name="T6" fmla="*/ 0 w 67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0" y="0"/>
                  </a:moveTo>
                  <a:lnTo>
                    <a:pt x="67" y="26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Line 205"/>
            <p:cNvSpPr>
              <a:spLocks noChangeShapeType="1"/>
            </p:cNvSpPr>
            <p:nvPr/>
          </p:nvSpPr>
          <p:spPr bwMode="auto">
            <a:xfrm flipH="1">
              <a:off x="1864956" y="4543852"/>
              <a:ext cx="58896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206"/>
            <p:cNvSpPr/>
            <p:nvPr/>
          </p:nvSpPr>
          <p:spPr bwMode="auto">
            <a:xfrm>
              <a:off x="2444394" y="4502577"/>
              <a:ext cx="106363" cy="80963"/>
            </a:xfrm>
            <a:custGeom>
              <a:avLst/>
              <a:gdLst>
                <a:gd name="T0" fmla="*/ 0 w 67"/>
                <a:gd name="T1" fmla="*/ 0 h 51"/>
                <a:gd name="T2" fmla="*/ 67 w 67"/>
                <a:gd name="T3" fmla="*/ 26 h 51"/>
                <a:gd name="T4" fmla="*/ 0 w 67"/>
                <a:gd name="T5" fmla="*/ 51 h 51"/>
                <a:gd name="T6" fmla="*/ 0 w 67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51">
                  <a:moveTo>
                    <a:pt x="0" y="0"/>
                  </a:moveTo>
                  <a:lnTo>
                    <a:pt x="67" y="26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207"/>
            <p:cNvSpPr>
              <a:spLocks noChangeShapeType="1"/>
            </p:cNvSpPr>
            <p:nvPr/>
          </p:nvSpPr>
          <p:spPr bwMode="auto">
            <a:xfrm flipH="1">
              <a:off x="5921019" y="4543852"/>
              <a:ext cx="58737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208"/>
            <p:cNvSpPr/>
            <p:nvPr/>
          </p:nvSpPr>
          <p:spPr bwMode="auto">
            <a:xfrm>
              <a:off x="5824181" y="4502577"/>
              <a:ext cx="104775" cy="80963"/>
            </a:xfrm>
            <a:custGeom>
              <a:avLst/>
              <a:gdLst>
                <a:gd name="T0" fmla="*/ 66 w 66"/>
                <a:gd name="T1" fmla="*/ 51 h 51"/>
                <a:gd name="T2" fmla="*/ 0 w 66"/>
                <a:gd name="T3" fmla="*/ 26 h 51"/>
                <a:gd name="T4" fmla="*/ 66 w 66"/>
                <a:gd name="T5" fmla="*/ 0 h 51"/>
                <a:gd name="T6" fmla="*/ 66 w 66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51">
                  <a:moveTo>
                    <a:pt x="66" y="51"/>
                  </a:moveTo>
                  <a:lnTo>
                    <a:pt x="0" y="26"/>
                  </a:lnTo>
                  <a:lnTo>
                    <a:pt x="66" y="0"/>
                  </a:lnTo>
                  <a:lnTo>
                    <a:pt x="66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222"/>
            <p:cNvSpPr>
              <a:spLocks noChangeShapeType="1"/>
            </p:cNvSpPr>
            <p:nvPr/>
          </p:nvSpPr>
          <p:spPr bwMode="auto">
            <a:xfrm flipV="1">
              <a:off x="5822594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Rectangle 223"/>
            <p:cNvSpPr>
              <a:spLocks noChangeArrowheads="1"/>
            </p:cNvSpPr>
            <p:nvPr/>
          </p:nvSpPr>
          <p:spPr bwMode="auto">
            <a:xfrm>
              <a:off x="5286019" y="5456674"/>
              <a:ext cx="7981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FF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Rectangle 224"/>
            <p:cNvSpPr>
              <a:spLocks noChangeArrowheads="1"/>
            </p:cNvSpPr>
            <p:nvPr/>
          </p:nvSpPr>
          <p:spPr bwMode="auto">
            <a:xfrm>
              <a:off x="5465406" y="5461435"/>
              <a:ext cx="7981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FF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Rectangle 225"/>
            <p:cNvSpPr>
              <a:spLocks noChangeArrowheads="1"/>
            </p:cNvSpPr>
            <p:nvPr/>
          </p:nvSpPr>
          <p:spPr bwMode="auto">
            <a:xfrm>
              <a:off x="5665431" y="5456667"/>
              <a:ext cx="79819" cy="1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100" b="1" i="0" u="none" strike="noStrike" cap="none" normalizeH="0" baseline="0" dirty="0" smtClean="0">
                  <a:ln>
                    <a:noFill/>
                  </a:ln>
                  <a:solidFill>
                    <a:srgbClr val="FF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Line 226"/>
            <p:cNvSpPr>
              <a:spLocks noChangeShapeType="1"/>
            </p:cNvSpPr>
            <p:nvPr/>
          </p:nvSpPr>
          <p:spPr bwMode="auto">
            <a:xfrm flipV="1">
              <a:off x="5819419" y="4391452"/>
              <a:ext cx="0" cy="1022351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Rectangle 113"/>
            <p:cNvSpPr>
              <a:spLocks noChangeArrowheads="1"/>
            </p:cNvSpPr>
            <p:nvPr/>
          </p:nvSpPr>
          <p:spPr bwMode="auto">
            <a:xfrm>
              <a:off x="1194052" y="4252545"/>
              <a:ext cx="1176600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kumimoji="0" lang="en-US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n-1</a:t>
              </a:r>
              <a:r>
                <a:rPr kumimoji="0" lang="zh-CN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个字符帧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4" name="Rectangle 104"/>
            <p:cNvSpPr>
              <a:spLocks noChangeArrowheads="1"/>
            </p:cNvSpPr>
            <p:nvPr/>
          </p:nvSpPr>
          <p:spPr bwMode="auto">
            <a:xfrm>
              <a:off x="3347286" y="4271184"/>
              <a:ext cx="1080293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kumimoji="0" lang="en-US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kumimoji="0" lang="zh-CN" altLang="zh-CN" sz="15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个字符帧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Rectangle 113"/>
            <p:cNvSpPr>
              <a:spLocks noChangeArrowheads="1"/>
            </p:cNvSpPr>
            <p:nvPr/>
          </p:nvSpPr>
          <p:spPr bwMode="auto">
            <a:xfrm>
              <a:off x="5946418" y="4252545"/>
              <a:ext cx="1231292" cy="18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kumimoji="0" lang="en-US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n+1</a:t>
              </a:r>
              <a:r>
                <a:rPr kumimoji="0" lang="zh-CN" altLang="zh-CN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个字符帧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Line 126"/>
            <p:cNvSpPr>
              <a:spLocks noChangeShapeType="1"/>
            </p:cNvSpPr>
            <p:nvPr/>
          </p:nvSpPr>
          <p:spPr bwMode="auto">
            <a:xfrm>
              <a:off x="2544409" y="5413803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Line 126"/>
            <p:cNvSpPr>
              <a:spLocks noChangeShapeType="1"/>
            </p:cNvSpPr>
            <p:nvPr/>
          </p:nvSpPr>
          <p:spPr bwMode="auto">
            <a:xfrm>
              <a:off x="2304696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Line 126"/>
            <p:cNvSpPr>
              <a:spLocks noChangeShapeType="1"/>
            </p:cNvSpPr>
            <p:nvPr/>
          </p:nvSpPr>
          <p:spPr bwMode="auto">
            <a:xfrm>
              <a:off x="4972925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Line 126"/>
            <p:cNvSpPr>
              <a:spLocks noChangeShapeType="1"/>
            </p:cNvSpPr>
            <p:nvPr/>
          </p:nvSpPr>
          <p:spPr bwMode="auto">
            <a:xfrm>
              <a:off x="5200294" y="5690028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Line 126"/>
            <p:cNvSpPr>
              <a:spLocks noChangeShapeType="1"/>
            </p:cNvSpPr>
            <p:nvPr/>
          </p:nvSpPr>
          <p:spPr bwMode="auto">
            <a:xfrm>
              <a:off x="5438419" y="5690028"/>
              <a:ext cx="388937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Line 152"/>
            <p:cNvSpPr>
              <a:spLocks noChangeShapeType="1"/>
            </p:cNvSpPr>
            <p:nvPr/>
          </p:nvSpPr>
          <p:spPr bwMode="auto">
            <a:xfrm flipV="1">
              <a:off x="5206287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Line 152"/>
            <p:cNvSpPr>
              <a:spLocks noChangeShapeType="1"/>
            </p:cNvSpPr>
            <p:nvPr/>
          </p:nvSpPr>
          <p:spPr bwMode="auto">
            <a:xfrm flipV="1">
              <a:off x="5399962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Line 152"/>
            <p:cNvSpPr>
              <a:spLocks noChangeShapeType="1"/>
            </p:cNvSpPr>
            <p:nvPr/>
          </p:nvSpPr>
          <p:spPr bwMode="auto">
            <a:xfrm flipV="1">
              <a:off x="5576531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Line 152"/>
            <p:cNvSpPr>
              <a:spLocks noChangeShapeType="1"/>
            </p:cNvSpPr>
            <p:nvPr/>
          </p:nvSpPr>
          <p:spPr bwMode="auto">
            <a:xfrm flipV="1">
              <a:off x="6306781" y="5413803"/>
              <a:ext cx="0" cy="27622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Line 126"/>
            <p:cNvSpPr>
              <a:spLocks noChangeShapeType="1"/>
            </p:cNvSpPr>
            <p:nvPr/>
          </p:nvSpPr>
          <p:spPr bwMode="auto">
            <a:xfrm>
              <a:off x="5833352" y="5413803"/>
              <a:ext cx="2381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2" name="Rectangle 6"/>
          <p:cNvSpPr>
            <a:spLocks noChangeArrowheads="1"/>
          </p:cNvSpPr>
          <p:nvPr/>
        </p:nvSpPr>
        <p:spPr bwMode="auto">
          <a:xfrm>
            <a:off x="2760040" y="6330105"/>
            <a:ext cx="36121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异步通信的字符帧格式</a:t>
            </a:r>
          </a:p>
        </p:txBody>
      </p:sp>
      <p:sp>
        <p:nvSpPr>
          <p:cNvPr id="253" name="Rectangle 6"/>
          <p:cNvSpPr>
            <a:spLocks noChangeArrowheads="1"/>
          </p:cNvSpPr>
          <p:nvPr/>
        </p:nvSpPr>
        <p:spPr bwMode="auto">
          <a:xfrm>
            <a:off x="473075" y="3066415"/>
            <a:ext cx="168846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fontAlgn="auto">
              <a:spcBef>
                <a:spcPts val="0"/>
              </a:spcBef>
              <a:buFontTx/>
              <a:buNone/>
            </a:pPr>
            <a:r>
              <a:rPr lang="zh-CN" altLang="en-US" sz="1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无空闲字符帧，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字符连续</a:t>
            </a:r>
          </a:p>
        </p:txBody>
      </p:sp>
      <p:sp>
        <p:nvSpPr>
          <p:cNvPr id="254" name="Rectangle 6"/>
          <p:cNvSpPr>
            <a:spLocks noChangeArrowheads="1"/>
          </p:cNvSpPr>
          <p:nvPr/>
        </p:nvSpPr>
        <p:spPr bwMode="auto">
          <a:xfrm>
            <a:off x="476250" y="4958080"/>
            <a:ext cx="168529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fontAlgn="auto">
              <a:spcBef>
                <a:spcPts val="0"/>
              </a:spcBef>
              <a:buFontTx/>
              <a:buNone/>
            </a:pPr>
            <a:r>
              <a:rPr lang="zh-CN" altLang="en-US" sz="1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有空闲字符帧，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字符不连续</a:t>
            </a:r>
          </a:p>
        </p:txBody>
      </p:sp>
      <p:pic>
        <p:nvPicPr>
          <p:cNvPr id="219" name="图片 2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7505" y="736608"/>
            <a:ext cx="8635669" cy="584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6.1.1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和同步通信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帧数据包括以下几个部分：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位于数据帧开头，占一位，始终为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低电平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，标志传送数据的开始，用于向接收设备表示发送端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开始发送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一帧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要传送的字符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或字节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紧跟在起始位之后，用户根据情况可取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位或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，若所传数据为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字符，则常取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位，由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低位到高位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依次传送。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奇偶校验位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位于数据位之后，仅占一位，用于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串行发送数据的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正确性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，可根据需要采用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奇校验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偶检验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位于数据帧末尾，占一位、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一位半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或两位，为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，用于向接收端表示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一帧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数据已发送完毕。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为使收发双方有一定的操作间隙，可依据需要在相邻数据帧间插入若干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，空闲位为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，表示线路处于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等待状态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7505" y="736608"/>
            <a:ext cx="8635669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6.1.1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和同步通信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异步通信的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主要特点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传输线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为高电平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，当接收端检测到传输线上发送的低电平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时表示数据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发送开始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，接收端接收到数据帧中的停止位表示数据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发送完毕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端和接收端可由</a:t>
            </a:r>
            <a:r>
              <a:rPr lang="zh-CN" altLang="en-US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各自的</a:t>
            </a:r>
            <a:r>
              <a:rPr lang="zh-CN" altLang="en-US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  <a:r>
              <a:rPr lang="zh-CN" altLang="en-US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的发送和接收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，两个时钟彼此独立，互不同步。【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事先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约定：字符格式、波特率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需要传送同步脉冲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，字符帧的长度不受限制，对硬件要求低，较适用于数据传送量不很大，传输速率不高的远距离通信场合。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在线路上的传送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不连续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，传送时，字符间隔不固定，各个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字符可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以是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以是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传送，取决于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或约定。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每帧数据都有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传输数据的</a:t>
            </a:r>
            <a:r>
              <a:rPr lang="zh-CN" altLang="en-US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效率受到限制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50~9600bit/s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异步通信和同步通信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通信有两种基本通信方式：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同步通信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同步通信：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通信双方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使用同一时钟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Rectangle 6"/>
          <p:cNvSpPr>
            <a:spLocks noChangeArrowheads="1"/>
          </p:cNvSpPr>
          <p:nvPr/>
        </p:nvSpPr>
        <p:spPr bwMode="auto">
          <a:xfrm>
            <a:off x="2760040" y="4145067"/>
            <a:ext cx="36121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6-2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同步传送的数据格式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4010" y="2459990"/>
            <a:ext cx="8473440" cy="1652305"/>
            <a:chOff x="206376" y="2488749"/>
            <a:chExt cx="8750300" cy="1805367"/>
          </a:xfrm>
        </p:grpSpPr>
        <p:sp>
          <p:nvSpPr>
            <p:cNvPr id="220" name="Line 19"/>
            <p:cNvSpPr>
              <a:spLocks noChangeShapeType="1"/>
            </p:cNvSpPr>
            <p:nvPr/>
          </p:nvSpPr>
          <p:spPr bwMode="auto">
            <a:xfrm flipH="1">
              <a:off x="1541299" y="3634924"/>
              <a:ext cx="0" cy="6492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20"/>
            <p:cNvSpPr>
              <a:spLocks noChangeShapeType="1"/>
            </p:cNvSpPr>
            <p:nvPr/>
          </p:nvSpPr>
          <p:spPr bwMode="auto">
            <a:xfrm>
              <a:off x="5322293" y="3634924"/>
              <a:ext cx="0" cy="5762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Line 21"/>
            <p:cNvSpPr>
              <a:spLocks noChangeShapeType="1"/>
            </p:cNvSpPr>
            <p:nvPr/>
          </p:nvSpPr>
          <p:spPr bwMode="auto">
            <a:xfrm flipH="1">
              <a:off x="1541299" y="3928611"/>
              <a:ext cx="10509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Line 22"/>
            <p:cNvSpPr>
              <a:spLocks noChangeShapeType="1"/>
            </p:cNvSpPr>
            <p:nvPr/>
          </p:nvSpPr>
          <p:spPr bwMode="auto">
            <a:xfrm flipH="1">
              <a:off x="4271331" y="3928611"/>
              <a:ext cx="10509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Text Box 23"/>
            <p:cNvSpPr txBox="1">
              <a:spLocks noChangeArrowheads="1"/>
            </p:cNvSpPr>
            <p:nvPr/>
          </p:nvSpPr>
          <p:spPr bwMode="auto">
            <a:xfrm>
              <a:off x="2940844" y="3858395"/>
              <a:ext cx="1080673" cy="4357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zh-CN" altLang="en-US" sz="2000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数据块</a:t>
              </a:r>
              <a:endPara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0" name="Group 24"/>
            <p:cNvGrpSpPr/>
            <p:nvPr/>
          </p:nvGrpSpPr>
          <p:grpSpPr bwMode="auto">
            <a:xfrm>
              <a:off x="206376" y="3136449"/>
              <a:ext cx="1401283" cy="503238"/>
              <a:chOff x="113" y="1615"/>
              <a:chExt cx="908" cy="317"/>
            </a:xfrm>
          </p:grpSpPr>
          <p:sp>
            <p:nvSpPr>
              <p:cNvPr id="231" name="Rectangle 25"/>
              <p:cNvSpPr>
                <a:spLocks noChangeArrowheads="1"/>
              </p:cNvSpPr>
              <p:nvPr/>
            </p:nvSpPr>
            <p:spPr bwMode="auto">
              <a:xfrm>
                <a:off x="159" y="1615"/>
                <a:ext cx="816" cy="31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Text Box 26"/>
              <p:cNvSpPr txBox="1">
                <a:spLocks noChangeArrowheads="1"/>
              </p:cNvSpPr>
              <p:nvPr/>
            </p:nvSpPr>
            <p:spPr bwMode="auto">
              <a:xfrm>
                <a:off x="113" y="1651"/>
                <a:ext cx="908" cy="2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同步字符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6" name="Group 27"/>
            <p:cNvGrpSpPr/>
            <p:nvPr/>
          </p:nvGrpSpPr>
          <p:grpSpPr bwMode="auto">
            <a:xfrm>
              <a:off x="7555393" y="3166612"/>
              <a:ext cx="1401283" cy="503237"/>
              <a:chOff x="4875" y="1633"/>
              <a:chExt cx="908" cy="317"/>
            </a:xfrm>
          </p:grpSpPr>
          <p:sp>
            <p:nvSpPr>
              <p:cNvPr id="257" name="Rectangle 28"/>
              <p:cNvSpPr>
                <a:spLocks noChangeArrowheads="1"/>
              </p:cNvSpPr>
              <p:nvPr/>
            </p:nvSpPr>
            <p:spPr bwMode="auto">
              <a:xfrm>
                <a:off x="4876" y="1633"/>
                <a:ext cx="816" cy="31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Text Box 29"/>
              <p:cNvSpPr txBox="1">
                <a:spLocks noChangeArrowheads="1"/>
              </p:cNvSpPr>
              <p:nvPr/>
            </p:nvSpPr>
            <p:spPr bwMode="auto">
              <a:xfrm>
                <a:off x="4875" y="1663"/>
                <a:ext cx="908" cy="2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同步字符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9" name="Group 52"/>
            <p:cNvGrpSpPr/>
            <p:nvPr/>
          </p:nvGrpSpPr>
          <p:grpSpPr bwMode="auto">
            <a:xfrm>
              <a:off x="1536669" y="2890391"/>
              <a:ext cx="6159162" cy="1100138"/>
              <a:chOff x="952" y="1615"/>
              <a:chExt cx="3991" cy="693"/>
            </a:xfrm>
          </p:grpSpPr>
          <p:grpSp>
            <p:nvGrpSpPr>
              <p:cNvPr id="260" name="Group 51"/>
              <p:cNvGrpSpPr/>
              <p:nvPr/>
            </p:nvGrpSpPr>
            <p:grpSpPr bwMode="auto">
              <a:xfrm>
                <a:off x="952" y="1770"/>
                <a:ext cx="3901" cy="538"/>
                <a:chOff x="952" y="1770"/>
                <a:chExt cx="3901" cy="538"/>
              </a:xfrm>
            </p:grpSpPr>
            <p:sp>
              <p:nvSpPr>
                <p:cNvPr id="264" name="Rectangle 31"/>
                <p:cNvSpPr>
                  <a:spLocks noChangeArrowheads="1"/>
                </p:cNvSpPr>
                <p:nvPr/>
              </p:nvSpPr>
              <p:spPr bwMode="auto">
                <a:xfrm>
                  <a:off x="3402" y="1770"/>
                  <a:ext cx="1451" cy="317"/>
                </a:xfrm>
                <a:prstGeom prst="rect">
                  <a:avLst/>
                </a:prstGeom>
                <a:solidFill>
                  <a:srgbClr val="CCFF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5" name="Rectangle 5"/>
                <p:cNvSpPr>
                  <a:spLocks noChangeArrowheads="1"/>
                </p:cNvSpPr>
                <p:nvPr/>
              </p:nvSpPr>
              <p:spPr bwMode="auto">
                <a:xfrm>
                  <a:off x="952" y="1770"/>
                  <a:ext cx="2450" cy="317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B2B2B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7" name="Line 7"/>
                <p:cNvSpPr>
                  <a:spLocks noChangeShapeType="1"/>
                </p:cNvSpPr>
                <p:nvPr/>
              </p:nvSpPr>
              <p:spPr bwMode="auto">
                <a:xfrm>
                  <a:off x="1451" y="177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952" y="1822"/>
                  <a:ext cx="545" cy="4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B2B2B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marL="342900" indent="-3429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 sz="2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</a:t>
                  </a:r>
                  <a:r>
                    <a:rPr lang="en-US" altLang="zh-CN" sz="2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  <p:sp>
              <p:nvSpPr>
                <p:cNvPr id="2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451" y="1817"/>
                  <a:ext cx="545" cy="4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marL="342900" indent="-3429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 sz="2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</a:t>
                  </a:r>
                  <a:r>
                    <a:rPr lang="en-US" altLang="zh-CN" sz="2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</a:p>
              </p:txBody>
            </p:sp>
            <p:sp>
              <p:nvSpPr>
                <p:cNvPr id="270" name="Line 10"/>
                <p:cNvSpPr>
                  <a:spLocks noChangeShapeType="1"/>
                </p:cNvSpPr>
                <p:nvPr/>
              </p:nvSpPr>
              <p:spPr bwMode="auto">
                <a:xfrm>
                  <a:off x="1950" y="177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50" y="1815"/>
                  <a:ext cx="545" cy="3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marL="342900" indent="-3429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 sz="2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</a:t>
                  </a:r>
                  <a:r>
                    <a:rPr lang="en-US" altLang="zh-CN" sz="2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</a:p>
              </p:txBody>
            </p:sp>
            <p:sp>
              <p:nvSpPr>
                <p:cNvPr id="272" name="Line 12"/>
                <p:cNvSpPr>
                  <a:spLocks noChangeShapeType="1"/>
                </p:cNvSpPr>
                <p:nvPr/>
              </p:nvSpPr>
              <p:spPr bwMode="auto">
                <a:xfrm>
                  <a:off x="2449" y="177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879" y="1829"/>
                  <a:ext cx="587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 marL="342900" indent="-3429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 sz="20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</a:t>
                  </a:r>
                  <a:r>
                    <a:rPr lang="en-US" altLang="zh-CN" sz="20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n</a:t>
                  </a:r>
                  <a:endPara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4" name="Line 15"/>
                <p:cNvSpPr>
                  <a:spLocks noChangeShapeType="1"/>
                </p:cNvSpPr>
                <p:nvPr/>
              </p:nvSpPr>
              <p:spPr bwMode="auto">
                <a:xfrm>
                  <a:off x="2903" y="177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5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494" y="1770"/>
                  <a:ext cx="408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marL="342900" indent="-3429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None/>
                  </a:pPr>
                  <a:r>
                    <a:rPr lang="en-US" altLang="zh-CN" sz="2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…</a:t>
                  </a:r>
                </a:p>
              </p:txBody>
            </p:sp>
            <p:sp>
              <p:nvSpPr>
                <p:cNvPr id="276" name="Line 32"/>
                <p:cNvSpPr>
                  <a:spLocks noChangeShapeType="1"/>
                </p:cNvSpPr>
                <p:nvPr/>
              </p:nvSpPr>
              <p:spPr bwMode="auto">
                <a:xfrm>
                  <a:off x="4127" y="177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7" name="Line 35"/>
                <p:cNvSpPr>
                  <a:spLocks noChangeShapeType="1"/>
                </p:cNvSpPr>
                <p:nvPr/>
              </p:nvSpPr>
              <p:spPr bwMode="auto">
                <a:xfrm>
                  <a:off x="4853" y="1770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61" name="Text Box 33"/>
              <p:cNvSpPr txBox="1">
                <a:spLocks noChangeArrowheads="1"/>
              </p:cNvSpPr>
              <p:nvPr/>
            </p:nvSpPr>
            <p:spPr bwMode="auto">
              <a:xfrm>
                <a:off x="3356" y="1727"/>
                <a:ext cx="86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校验字符</a:t>
                </a:r>
              </a:p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CRC</a:t>
                </a:r>
              </a:p>
            </p:txBody>
          </p:sp>
          <p:sp>
            <p:nvSpPr>
              <p:cNvPr id="262" name="Line 14"/>
              <p:cNvSpPr>
                <a:spLocks noChangeShapeType="1"/>
              </p:cNvSpPr>
              <p:nvPr/>
            </p:nvSpPr>
            <p:spPr bwMode="auto">
              <a:xfrm>
                <a:off x="3402" y="1615"/>
                <a:ext cx="0" cy="31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Text Box 34"/>
              <p:cNvSpPr txBox="1">
                <a:spLocks noChangeArrowheads="1"/>
              </p:cNvSpPr>
              <p:nvPr/>
            </p:nvSpPr>
            <p:spPr bwMode="auto">
              <a:xfrm>
                <a:off x="4082" y="1729"/>
                <a:ext cx="86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校验字符</a:t>
                </a:r>
              </a:p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CRC</a:t>
                </a:r>
              </a:p>
            </p:txBody>
          </p:sp>
        </p:grpSp>
        <p:sp>
          <p:nvSpPr>
            <p:cNvPr id="283" name="Line 38"/>
            <p:cNvSpPr>
              <a:spLocks noChangeShapeType="1"/>
            </p:cNvSpPr>
            <p:nvPr/>
          </p:nvSpPr>
          <p:spPr bwMode="auto">
            <a:xfrm flipH="1">
              <a:off x="275823" y="2488749"/>
              <a:ext cx="0" cy="649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39"/>
            <p:cNvSpPr>
              <a:spLocks noChangeShapeType="1"/>
            </p:cNvSpPr>
            <p:nvPr/>
          </p:nvSpPr>
          <p:spPr bwMode="auto">
            <a:xfrm flipH="1">
              <a:off x="275823" y="2776087"/>
              <a:ext cx="2801022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Line 41"/>
            <p:cNvSpPr>
              <a:spLocks noChangeShapeType="1"/>
            </p:cNvSpPr>
            <p:nvPr/>
          </p:nvSpPr>
          <p:spPr bwMode="auto">
            <a:xfrm>
              <a:off x="7558480" y="2560187"/>
              <a:ext cx="0" cy="5762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Line 42"/>
            <p:cNvSpPr>
              <a:spLocks noChangeShapeType="1"/>
            </p:cNvSpPr>
            <p:nvPr/>
          </p:nvSpPr>
          <p:spPr bwMode="auto">
            <a:xfrm flipH="1" flipV="1">
              <a:off x="5317662" y="2776087"/>
              <a:ext cx="2240818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Text Box 43"/>
            <p:cNvSpPr txBox="1">
              <a:spLocks noChangeArrowheads="1"/>
            </p:cNvSpPr>
            <p:nvPr/>
          </p:nvSpPr>
          <p:spPr bwMode="auto">
            <a:xfrm>
              <a:off x="3594719" y="2488749"/>
              <a:ext cx="1330293" cy="4357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信息帧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Line 7"/>
            <p:cNvSpPr>
              <a:spLocks noChangeShapeType="1"/>
            </p:cNvSpPr>
            <p:nvPr/>
          </p:nvSpPr>
          <p:spPr bwMode="auto">
            <a:xfrm>
              <a:off x="1539755" y="3131689"/>
              <a:ext cx="0" cy="50323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7" name="Rectangle 6"/>
          <p:cNvSpPr>
            <a:spLocks noChangeArrowheads="1"/>
          </p:cNvSpPr>
          <p:nvPr/>
        </p:nvSpPr>
        <p:spPr bwMode="auto">
          <a:xfrm>
            <a:off x="258394" y="4512321"/>
            <a:ext cx="8634781" cy="193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3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同步字符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：传送数据前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，采用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个或两个传送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字符作为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起始标志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：包含同步字符，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数据块，校验字符。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数据块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：无起始位和停止位，</a:t>
            </a:r>
            <a:r>
              <a:rPr lang="zh-CN" altLang="en-US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数据块内部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数据与数据之间没有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间隔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，连续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发送；若发送的</a:t>
            </a:r>
            <a:r>
              <a:rPr lang="zh-CN" altLang="en-US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数据块之间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有间隔，则发送同步字符填充。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串行通信的制式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按数据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传送方向，串行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通信分为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单工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半双工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全双工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单工制式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允许数据向一个方向传送，即一方只能发送，另一方只能接收。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只需要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一根传输线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半双工制式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允许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数据双向传送，但由于只需要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一根传输线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，在同一时刻只能一方发送，另一方接收。 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全双工制式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允许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数据同时双向传送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，可收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发同时进行。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两根传输线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串行通信的制式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按数据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传送方向，串行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通信分为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单工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半双工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全双工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175" y="89853"/>
            <a:ext cx="1872000" cy="541049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60040" y="6229699"/>
            <a:ext cx="36121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6-3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串行通信方式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" y="2024995"/>
            <a:ext cx="7894320" cy="4116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波特率和发送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接收时钟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通信的数据是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传送，</a:t>
            </a:r>
            <a:r>
              <a:rPr lang="zh-CN" altLang="en-US" sz="24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每秒</a:t>
            </a:r>
            <a:r>
              <a:rPr lang="zh-CN" altLang="en-US" sz="2400" u="sng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传送二进制</a:t>
            </a:r>
            <a:r>
              <a:rPr lang="zh-CN" altLang="en-US" sz="24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比特数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bps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(bit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second)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波特率是串行通信的重要指标，用于衡量数据传输的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。标准波特率系列为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115200bit/s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接收端和发送端的波特率分别设置，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必须保持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波特率和发送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接收时钟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传送的速率为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秒，而每个字符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又包含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位二进制数，计算波特率大小和每位传送时间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=120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×10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=1200bps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每一位的传送时间为波特率的倒数：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T=1/1200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0.833ms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51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波特率和发送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接收时钟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接收时钟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二进制数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据序列在串行传送过程中以数字信号的形式出现，无论发送或是接收，都必须有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时钟信号对传送的数据进行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数据发送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在发送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移位寄存器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中的数据串行移位移出；</a:t>
            </a:r>
            <a:r>
              <a:rPr lang="zh-CN" altLang="en-US" sz="2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接收数据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在接收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  <a:r>
              <a:rPr lang="zh-CN" altLang="en-US" sz="2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对数据位采样。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buClr>
                <a:srgbClr val="FF0000"/>
              </a:buClr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为保证数据传输无误，发送、接收时钟频率应大于或等于波特率，两者的关系为：发送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接收时钟频率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=n×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波特率因子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同步传输方式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异步传输方式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，通常取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n=16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奇偶校验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远距离串行通信时，容易受到噪声干扰，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为保证通信质量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，需要对传输的数据进行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奇偶校验法，发送时在每个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或字节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附加一位校验位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，这个校验位可以是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，以便使校验位和所发送的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或字节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的个数为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奇数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奇校验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，或为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偶数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偶校验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奇偶校验是对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或字节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，只能提供最低级的错误检测，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通常只用于</a:t>
            </a:r>
            <a:r>
              <a:rPr lang="zh-CN" altLang="en-US" sz="2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</a:t>
            </a:r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MCS-51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通用异步接收和发送器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niversal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synchronous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eceive and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ransmit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，其基本组成为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串并转换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：完成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格式信息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的插入和滤除及错误校验。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MCS-51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有一个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全双工串行异步通信接口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，通过软件编程，可作通用异步接收和发送器用，构成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系统，也可外接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移位寄存器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后扩展为并行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主要特征：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可编程全双工异步串行通信接口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种工作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多种波特率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接收、发送数据均可工作在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方式或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串行口的结构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通用异步接收和发送器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，通过引脚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(P3.0 )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(P3.1)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与外界进行通信。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3" descr="7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4" t="2654" r="4633" b="12180"/>
          <a:stretch>
            <a:fillRect/>
          </a:stretch>
        </p:blipFill>
        <p:spPr bwMode="auto">
          <a:xfrm>
            <a:off x="477300" y="2364860"/>
            <a:ext cx="8204478" cy="38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60040" y="6229699"/>
            <a:ext cx="40929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6-5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串行口内容结构简化示意图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399" y="3537022"/>
            <a:ext cx="733531" cy="1758461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847629" y="2783394"/>
            <a:ext cx="1176926" cy="1436914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847629" y="4605101"/>
            <a:ext cx="1176926" cy="1436914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234302" y="3585405"/>
            <a:ext cx="2784660" cy="1700030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237409" y="5439747"/>
            <a:ext cx="2784660" cy="613908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串行口的结构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可同时发送和接收数据，两个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一个地址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99H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来区别：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SBUF,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时：每</a:t>
            </a:r>
            <a:r>
              <a:rPr lang="zh-CN" altLang="en-US" sz="2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帧，硬件自动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置位串行口发送中断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TI=1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，向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申请中断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，请求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发送下一个数据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CPU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A,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时：每</a:t>
            </a:r>
            <a:r>
              <a:rPr lang="zh-CN" altLang="en-US" sz="2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完一帧，硬件自动置位串行口接收中断标志位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RI=1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，向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，请求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接收这一数据。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串行口的结构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串行口内部有两个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物理上相互独立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数据缓冲器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，一个用于发送数据，一个用于接收数据。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发送数据，无论是否采用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中断方式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工作，每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发送一个数据都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RI/TI 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，以备下一次收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为避免前后两帧数据重叠，接收器是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双缓冲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串行口相关的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 (SCON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PCON)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串行口是一个可编程接口，涉及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特殊功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en-US" altLang="zh-CN" sz="2400" b="1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PCON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，可控制串行口的工作方式和波特率。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串行口控制寄存器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：串行数据通信的方式、接收和发送控制以及串行口的状态标志都由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控制和指示。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PCON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：控制串行口工作于方式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串行口控制寄存器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Group 9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38142" y="1986230"/>
          <a:ext cx="6281894" cy="1048378"/>
        </p:xfrm>
        <a:graphic>
          <a:graphicData uri="http://schemas.openxmlformats.org/drawingml/2006/table">
            <a:tbl>
              <a:tblPr/>
              <a:tblGrid>
                <a:gridCol w="805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53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48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8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50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D7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D6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D5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D3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3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SM0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SM1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REN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RB8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80632" y="2094920"/>
            <a:ext cx="1063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98H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Group 352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9460637"/>
              </p:ext>
            </p:extLst>
          </p:nvPr>
        </p:nvGraphicFramePr>
        <p:xfrm>
          <a:off x="478415" y="3959896"/>
          <a:ext cx="8229600" cy="2431859"/>
        </p:xfrm>
        <a:graphic>
          <a:graphicData uri="http://schemas.openxmlformats.org/drawingml/2006/table">
            <a:tbl>
              <a:tblPr/>
              <a:tblGrid>
                <a:gridCol w="73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5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7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SM0</a:t>
                      </a:r>
                    </a:p>
                  </a:txBody>
                  <a:tcPr marL="0" marR="0" marT="46800" marB="468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SM1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工作方式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功能说明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波特率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46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46800" marB="468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同步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移位寄存器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fosc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/12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46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46800" marB="468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位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异步通信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可变，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T1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T0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提供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46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46800" marB="468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位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UART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、可多机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fosc/64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fosc/32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46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46800" marB="4680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位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UART 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、可多机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可变，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T1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T0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提供</a:t>
                      </a:r>
                    </a:p>
                  </a:txBody>
                  <a:tcPr marL="0" marR="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58394" y="3072896"/>
            <a:ext cx="8634781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SM0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：串行口工作方式选择位，用于设定串行口的工作方式。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72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：多机通信控制位。</a:t>
            </a:r>
            <a:r>
              <a:rPr lang="zh-CN" altLang="en-US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方式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可用于多机通信，在这两种</a:t>
            </a: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lang="en-US" altLang="zh-CN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从式多机通信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从机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接收控制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，从机可接收</a:t>
            </a: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地址帧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，若接收到的第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RB8=1(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地址帧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置位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；当接收到的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RB8=0(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不置位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，并且将接收到的前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位数据丢弃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，从机可接收所有信息，</a:t>
            </a:r>
            <a:r>
              <a:rPr lang="zh-CN" altLang="en-US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不论收到的第</a:t>
            </a:r>
            <a:r>
              <a:rPr lang="en-US" altLang="zh-CN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</a:t>
            </a:r>
            <a:r>
              <a:rPr lang="en-US" altLang="zh-CN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RB8</a:t>
            </a:r>
            <a:r>
              <a:rPr lang="zh-CN" altLang="en-US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200" b="1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b="1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</a:t>
            </a:r>
            <a:r>
              <a:rPr lang="en-US" altLang="zh-CN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200" b="1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b="1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地址帧</a:t>
            </a:r>
            <a:r>
              <a:rPr lang="en-US" altLang="zh-CN" sz="2200" u="heavy" dirty="0" smtClean="0">
                <a:solidFill>
                  <a:prstClr val="black"/>
                </a:solidFill>
                <a:uFill>
                  <a:solidFill>
                    <a:srgbClr val="FF00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，都置位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，接收的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r>
              <a:rPr lang="zh-CN" altLang="en-US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在方式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中，若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，只有当接收的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停止位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时才能置位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在方式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中，必须使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：允许接收控制位。若使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REN=1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，则允许串行口接收数据；若使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REN=0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，则禁止串行口接收数据。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175" y="89853"/>
            <a:ext cx="1872000" cy="5410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98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发送数据的第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，可有软件定义。</a:t>
            </a:r>
            <a:r>
              <a:rPr lang="zh-CN" altLang="en-US" sz="2000" u="sng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单机通信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中该位可作为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奇偶校验位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；在</a:t>
            </a:r>
            <a:r>
              <a:rPr lang="zh-CN" altLang="en-US" sz="2000" u="sng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中，该位可用作发送</a:t>
            </a:r>
            <a:r>
              <a:rPr lang="zh-CN" altLang="en-US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地址帧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(TB8=1)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(TB8=0)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标志位。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或方式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中，该位不用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中接收数据的第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位。在方式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中，将接收到的数据的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放入该位。</a:t>
            </a:r>
            <a:r>
              <a:rPr lang="zh-CN" altLang="en-US" sz="2000" u="sng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单机通信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中该位可作为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奇偶校验位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；在</a:t>
            </a:r>
            <a:r>
              <a:rPr lang="zh-CN" altLang="en-US" sz="2000" u="sng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多机通信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中，可以是约定的</a:t>
            </a:r>
            <a:r>
              <a:rPr lang="zh-CN" altLang="en-US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地址/数据标志位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在方式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是已接收到的停止位。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中，该位不用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发送中断标志位。在方式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串行发送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位结束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或其他方式开始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串行发送停止位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时由硬件置位，在开始发送前必须由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软件清零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串行口中断被响应后，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不会被硬件自动清零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接收中断标志位。在方式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位结束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时或在其他方式下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接收到停止位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由硬件置位。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软件清零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是属同一中断源，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不清楚是发送还是接收产生的中断请求，所以，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在全双工通信时，必须由</a:t>
            </a:r>
            <a:r>
              <a:rPr lang="zh-CN" altLang="en-US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来判别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单片机多机通信技术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1.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多机通信接口设计：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单片机构成的多机系统常采用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总线型主从式结构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，即主机发送的信息可被各从机接收，而从机发送的信息只能由主机接收，从机与从机之间不能相互直接通信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根据主机与各从机之间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的远近，抗干扰性等要求，可选择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RS-422A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RS-485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传输，采用不同的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通信标准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时，还需要进行相应的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电平转换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，有时还需要对信号进行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光电隔离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单片机多机通信技术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2.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多机通信原理：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多机通信的实现主要靠主、从机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正确设置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多机通信控制位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和发送、接收的第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。当主机给从机发送信息时，要根据发送信息的性质来设置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，发送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地址帧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，发送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数据或命令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。当从机的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时，该从机只接收地址帧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(RB8=1)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，对数据帧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(RB8=0)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将不予理睬。而当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时，该从机接收所有发来的信息。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多机通信过程：</a:t>
            </a:r>
            <a:endParaRPr lang="zh-CN" altLang="en-US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(1)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令所有从机的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，处于直接收地址帧的状态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从机复位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(2)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主机发送一帧地址信息，其中包括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位地址，第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(TB8)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，表示发送的是地址；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单片机多机通信技术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多机通信过程：</a:t>
            </a:r>
            <a:endParaRPr lang="zh-CN" altLang="en-US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(3) </a:t>
            </a:r>
            <a:r>
              <a:rPr 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从机接收到地址帧后，各自中断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，把接收到的地址与其本机地址进行比较，地址相符的从机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，准备接收主机发来的数据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命令；地址不相符的从机仍保持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，对主机发来的数据帧不予理睬，直到主机发来新的地址帧；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(4)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与被寻址的从机通信，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命令，第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(TB8)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被寻址的从机因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，可以接收主机发送的所有数据，当从机接收数据结束时，置位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，返回接收地址帧状态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复位状态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当主机需要改为与其他从机通信时，可再发送地址帧寻址其他从机。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多机通信实现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化工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作：</a:t>
            </a:r>
            <a:endParaRPr lang="zh-CN" altLang="en-US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、必须工作在方式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或者方式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、主机用第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位数据作为地址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数据的识别位；</a:t>
            </a: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、从机：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，处于接收地址帧的状态。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工作流程：</a:t>
            </a: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、主机发某一从机地址给所有从机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、所有从机接收信息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TB8=1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，送入各自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、从机地址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主机所发地址，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SM2=0(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应答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；否则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、主机发数据，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；只有目的从机接收数据；</a:t>
            </a:r>
          </a:p>
          <a:p>
            <a:pPr lvl="2"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、主机发送地址，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；重新寻址从机。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串行口控制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电源控制寄存器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0632" y="2094920"/>
            <a:ext cx="1063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PCON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87H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58394" y="3072896"/>
            <a:ext cx="8634781" cy="363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SMOD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波特率倍率控制位。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SMOD=1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时，波特率加倍。单片机复位时，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SMOD=0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只有此位与串行口有关</a:t>
            </a:r>
            <a:r>
              <a:rPr lang="en-US" altLang="zh-CN" sz="2000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GF0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GF1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：通用标志位。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：掉电控制位。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PD=1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进入掉电方式。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空闲控制位。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IDL=1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进入空闲方式。当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同时为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时，先进入掉电控制方式。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Group 4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47461" y="2070654"/>
          <a:ext cx="6172200" cy="839153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D7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D6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D5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D3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SMOD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GF1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GF0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IDL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串行口有方式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四种工作方式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，用户可根据实际需要进行选用。方式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扩展并行输入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输出口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方式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zh-CN" altLang="en-US" sz="22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移位寄存器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输出方式，常用于</a:t>
            </a:r>
            <a:r>
              <a:rPr lang="zh-CN" altLang="en-US" sz="2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扩展并行</a:t>
            </a:r>
            <a:r>
              <a:rPr lang="en-US" altLang="zh-CN" sz="2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串行数据通过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数据端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en-US" altLang="zh-CN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输出同步移位脉冲，作为外围设备的</a:t>
            </a:r>
            <a:r>
              <a:rPr lang="zh-CN" altLang="en-US" sz="2200" b="1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zh-CN" altLang="en-US" sz="22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。【</a:t>
            </a:r>
            <a:r>
              <a:rPr lang="zh-CN" altLang="en-US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半双工模式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只收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，无起始位、奇偶校验位及停止位，低位在前、高位在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波特率固定为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fosc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/12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启动发送：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TI=0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、写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SUBF     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启动接收：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RI=0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REN=1  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4794" y="3589927"/>
          <a:ext cx="8628379" cy="2727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Visio" r:id="rId5" imgW="4086225" imgH="1300480" progId="Visio.Drawing.11">
                  <p:embed/>
                </p:oleObj>
              </mc:Choice>
              <mc:Fallback>
                <p:oleObj name="Visio" r:id="rId5" imgW="4086225" imgH="1300480" progId="Visio.Drawing.11">
                  <p:embed/>
                  <p:pic>
                    <p:nvPicPr>
                      <p:cNvPr id="0" name="图片 4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4" y="3589927"/>
                        <a:ext cx="8628379" cy="27277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340610" y="6339205"/>
            <a:ext cx="449770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6-6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输出时序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发送：下降沿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2363470" y="5033645"/>
            <a:ext cx="5410200" cy="377825"/>
            <a:chOff x="3722" y="7927"/>
            <a:chExt cx="8520" cy="595"/>
          </a:xfrm>
        </p:grpSpPr>
        <p:sp>
          <p:nvSpPr>
            <p:cNvPr id="3" name="上箭头 2"/>
            <p:cNvSpPr/>
            <p:nvPr/>
          </p:nvSpPr>
          <p:spPr>
            <a:xfrm rot="10800000">
              <a:off x="12062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上箭头 12"/>
            <p:cNvSpPr/>
            <p:nvPr/>
          </p:nvSpPr>
          <p:spPr>
            <a:xfrm rot="10800000">
              <a:off x="10882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上箭头 13"/>
            <p:cNvSpPr/>
            <p:nvPr/>
          </p:nvSpPr>
          <p:spPr>
            <a:xfrm rot="10800000">
              <a:off x="9677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上箭头 14"/>
            <p:cNvSpPr/>
            <p:nvPr/>
          </p:nvSpPr>
          <p:spPr>
            <a:xfrm rot="10800000">
              <a:off x="8487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上箭头 15"/>
            <p:cNvSpPr/>
            <p:nvPr/>
          </p:nvSpPr>
          <p:spPr>
            <a:xfrm rot="10800000">
              <a:off x="7287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上箭头 16"/>
            <p:cNvSpPr/>
            <p:nvPr/>
          </p:nvSpPr>
          <p:spPr>
            <a:xfrm rot="10800000">
              <a:off x="6102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上箭头 17"/>
            <p:cNvSpPr/>
            <p:nvPr/>
          </p:nvSpPr>
          <p:spPr>
            <a:xfrm rot="10800000">
              <a:off x="4902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上箭头 18"/>
            <p:cNvSpPr/>
            <p:nvPr/>
          </p:nvSpPr>
          <p:spPr>
            <a:xfrm rot="10800000">
              <a:off x="3722" y="7927"/>
              <a:ext cx="180" cy="595"/>
            </a:xfrm>
            <a:prstGeom prst="upArrow">
              <a:avLst>
                <a:gd name="adj1" fmla="val 0"/>
                <a:gd name="adj2" fmla="val 122222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176780" y="5404485"/>
            <a:ext cx="47929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6-7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输入时序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接收：上升沿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266080" y="2220000"/>
          <a:ext cx="8627093" cy="2988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8" name="Visio" r:id="rId5" imgW="4086225" imgH="1428750" progId="Visio.Drawing.6">
                  <p:embed/>
                </p:oleObj>
              </mc:Choice>
              <mc:Fallback>
                <p:oleObj name="Visio" r:id="rId5" imgW="4086225" imgH="1428750" progId="Visio.Drawing.6">
                  <p:embed/>
                  <p:pic>
                    <p:nvPicPr>
                      <p:cNvPr id="0" name="图片 5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80" y="2220000"/>
                        <a:ext cx="8627093" cy="2988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7" name="上箭头 6"/>
          <p:cNvSpPr/>
          <p:nvPr/>
        </p:nvSpPr>
        <p:spPr>
          <a:xfrm>
            <a:off x="2744470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上箭头 12"/>
          <p:cNvSpPr/>
          <p:nvPr/>
        </p:nvSpPr>
        <p:spPr>
          <a:xfrm>
            <a:off x="3493770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>
            <a:off x="4258945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上箭头 14"/>
          <p:cNvSpPr/>
          <p:nvPr/>
        </p:nvSpPr>
        <p:spPr>
          <a:xfrm>
            <a:off x="5014595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上箭头 15"/>
          <p:cNvSpPr/>
          <p:nvPr/>
        </p:nvSpPr>
        <p:spPr>
          <a:xfrm>
            <a:off x="5776595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上箭头 16"/>
          <p:cNvSpPr/>
          <p:nvPr/>
        </p:nvSpPr>
        <p:spPr>
          <a:xfrm>
            <a:off x="6529070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上箭头 17"/>
          <p:cNvSpPr/>
          <p:nvPr/>
        </p:nvSpPr>
        <p:spPr>
          <a:xfrm>
            <a:off x="7291070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上箭头 18"/>
          <p:cNvSpPr/>
          <p:nvPr/>
        </p:nvSpPr>
        <p:spPr>
          <a:xfrm>
            <a:off x="8040370" y="4853305"/>
            <a:ext cx="114300" cy="377825"/>
          </a:xfrm>
          <a:prstGeom prst="upArrow">
            <a:avLst>
              <a:gd name="adj1" fmla="val 0"/>
              <a:gd name="adj2" fmla="val 122222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1542802" y="1667699"/>
            <a:ext cx="49244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</a:p>
          <a:p>
            <a:pPr eaLnBrk="1" hangingPunct="1"/>
            <a:r>
              <a:rPr lang="zh-CN" altLang="en-US" sz="2400" b="0" dirty="0" smtClean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zh-CN" altLang="en-US" sz="2400" b="0" dirty="0">
              <a:solidFill>
                <a:srgbClr val="0000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1542801" y="4233490"/>
            <a:ext cx="49244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</a:t>
            </a:r>
          </a:p>
          <a:p>
            <a:pPr eaLnBrk="1" hangingPunct="1"/>
            <a:r>
              <a:rPr lang="zh-CN" altLang="en-US" sz="2400" b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588" y="1411391"/>
            <a:ext cx="5893287" cy="23301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588" y="3929373"/>
            <a:ext cx="5893287" cy="27795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方式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为波特率可变的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方式，由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端发送数据，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端接收数据。收发一帧数据的格式为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位起始位、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位数据位、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位停止位，共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40495" y="3326791"/>
          <a:ext cx="8658787" cy="2369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5" name="Visio" r:id="rId5" imgW="3914775" imgH="1214755" progId="Visio.Drawing.6">
                  <p:embed/>
                </p:oleObj>
              </mc:Choice>
              <mc:Fallback>
                <p:oleObj name="Visio" r:id="rId5" imgW="3914775" imgH="1214755" progId="Visio.Drawing.6">
                  <p:embed/>
                  <p:pic>
                    <p:nvPicPr>
                      <p:cNvPr id="0" name="图片 10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95" y="3326791"/>
                        <a:ext cx="8658787" cy="23691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016951" y="5887218"/>
            <a:ext cx="30885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6-8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数据帧格式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发送过程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数据写入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指令时，就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启动发送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过程。当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发送完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一帧数据时，由硬件将发送中断标志位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接收过程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：当用软件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时，接收器开始对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引脚进行采样，采样脉冲频率是所选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波特率的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。当检测到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引脚上出现从“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”到“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”的跳变时，就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接收器接收数据。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当一帧数据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接收完毕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后，必须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同时满足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以下两个条件：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RI=0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接收到的停止位为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，这次接收才真正有效而不丢失，即将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位数据送入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，停止位送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。同时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置位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，向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发送中断请求，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应及时读出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的数据，否则，接收到的数据将会被下一帧数据所覆盖。</a:t>
            </a: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253801" y="1927968"/>
          <a:ext cx="8609623" cy="170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0" name="Visio" r:id="rId5" imgW="4672330" imgH="957580" progId="Visio.Drawing.6">
                  <p:embed/>
                </p:oleObj>
              </mc:Choice>
              <mc:Fallback>
                <p:oleObj name="Visio" r:id="rId5" imgW="4672330" imgH="957580" progId="Visio.Drawing.6">
                  <p:embed/>
                  <p:pic>
                    <p:nvPicPr>
                      <p:cNvPr id="0" name="图片 73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01" y="1927968"/>
                        <a:ext cx="8609623" cy="1706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47558" y="4442003"/>
          <a:ext cx="8645617" cy="173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" name="Visio" r:id="rId7" imgW="4700905" imgH="957580" progId="Visio.Drawing.6">
                  <p:embed/>
                </p:oleObj>
              </mc:Choice>
              <mc:Fallback>
                <p:oleObj name="Visio" r:id="rId7" imgW="4700905" imgH="957580" progId="Visio.Drawing.6">
                  <p:embed/>
                  <p:pic>
                    <p:nvPicPr>
                      <p:cNvPr id="0" name="图片 73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558" y="4442003"/>
                        <a:ext cx="8645617" cy="1737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141760" y="6229703"/>
            <a:ext cx="28714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6-10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输入时序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121727" y="3725043"/>
            <a:ext cx="28714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6-9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输出时序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方式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位异步通信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，操作方式完全一样，只有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波特率不同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，适用于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。收发一帧数据为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起始位、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位数据位、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位可编程的第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(D8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：用于奇偶校验或地址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数据选择，发送时为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，接收时送入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RB8)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停止位。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271395" y="3722414"/>
          <a:ext cx="8627060" cy="2512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Visio" r:id="rId5" imgW="4215130" imgH="1243330" progId="Visio.Drawing.11">
                  <p:embed/>
                </p:oleObj>
              </mc:Choice>
              <mc:Fallback>
                <p:oleObj name="Visio" r:id="rId5" imgW="4215130" imgH="1243330" progId="Visio.Drawing.11">
                  <p:embed/>
                  <p:pic>
                    <p:nvPicPr>
                      <p:cNvPr id="0" name="图片 8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95" y="3722414"/>
                        <a:ext cx="8627060" cy="2512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454976" y="6230118"/>
            <a:ext cx="42506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6-11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的数据帧格式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40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712223" y="6232465"/>
            <a:ext cx="37575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6-13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输入时序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753980" y="3725043"/>
            <a:ext cx="38182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6-12 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输出时序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268014" y="1983822"/>
          <a:ext cx="8603210" cy="162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8" name="Visio" r:id="rId5" imgW="5057775" imgH="957580" progId="Visio.Drawing.6">
                  <p:embed/>
                </p:oleObj>
              </mc:Choice>
              <mc:Fallback>
                <p:oleObj name="Visio" r:id="rId5" imgW="5057775" imgH="957580" progId="Visio.Drawing.6">
                  <p:embed/>
                  <p:pic>
                    <p:nvPicPr>
                      <p:cNvPr id="0" name="图片 93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14" y="1983822"/>
                        <a:ext cx="8603210" cy="162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273260" y="4402423"/>
          <a:ext cx="8597964" cy="1671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9" name="Visio" r:id="rId7" imgW="4986655" imgH="986155" progId="Visio.Drawing.6">
                  <p:embed/>
                </p:oleObj>
              </mc:Choice>
              <mc:Fallback>
                <p:oleObj name="Visio" r:id="rId7" imgW="4986655" imgH="986155" progId="Visio.Drawing.6">
                  <p:embed/>
                  <p:pic>
                    <p:nvPicPr>
                      <p:cNvPr id="0" name="图片 93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60" y="4402423"/>
                        <a:ext cx="8597964" cy="1671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串行口的工作方式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：发送前，根据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由软件设置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，然后执行发送数据写入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指令，即可启动发送过程。串行口能自动把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取出并装入到第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(D8)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。发送完一帧数据时，由硬件置位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接收过程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：当用软件使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时，允许接收。接收器开始采样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引脚上的信号，检测和接收数据的方法与方式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相似。当接收到第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位数据送入接收移位寄存器后，若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同时满足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以下两个条件：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RI=0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接收到的第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RB8=1(SM2=1)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则这次接收有效而不丢失，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位数据装入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位数据装入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，并由硬件置位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，向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发送中断请求，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应及时读出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的数据，否则，接收到的数据将会被下一帧数据所覆盖。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波特率的设置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的波特率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固定。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的波特率由定时器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决定。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增强型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单片机，也可使用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作波特率发生器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的波特率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为同步移位寄存器方式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振荡频率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1/12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SMOD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位影响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 err="1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fosc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波特率的设置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的波特率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串行口的波特率可由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PCON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SMOD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的波特率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两种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fosc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/64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fosc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/32)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异步通信，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可多机通信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SMOD=0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，波特率为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fosc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/64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lvl="3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SMOD=1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，波特率为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fosc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/32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即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2400" baseline="30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SMOD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×fosc/64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606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6.2.4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波特率的设置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和方式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的波特率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串行口的波特率由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的溢出率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SMOD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值同时决定。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作波特率发生器时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T2</a:t>
                </a:r>
                <a:r>
                  <a:rPr lang="zh-CN" altLang="en-US" sz="2400" dirty="0" smtClean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略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dirty="0" smtClean="0">
                          <a:solidFill>
                            <a:srgbClr val="FF00FF"/>
                          </a:solidFill>
                          <a:latin typeface="Cambria Math"/>
                          <a:ea typeface="华文中宋" pitchFamily="2" charset="-122"/>
                        </a:rPr>
                        <m:t>方式</m:t>
                      </m:r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华文中宋" pitchFamily="2" charset="-122"/>
                        </a:rPr>
                        <m:t>1</m:t>
                      </m:r>
                      <m:r>
                        <a:rPr lang="zh-CN" altLang="en-US" sz="2400" b="0" i="1" dirty="0">
                          <a:solidFill>
                            <a:srgbClr val="FF00FF"/>
                          </a:solidFill>
                          <a:latin typeface="Cambria Math"/>
                          <a:ea typeface="华文中宋" pitchFamily="2" charset="-122"/>
                        </a:rPr>
                        <m:t>、</m:t>
                      </m:r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华文中宋" pitchFamily="2" charset="-122"/>
                        </a:rPr>
                        <m:t>3</m:t>
                      </m:r>
                      <m:r>
                        <a:rPr lang="zh-CN" altLang="en-US" sz="2400" b="0" i="1" dirty="0">
                          <a:solidFill>
                            <a:srgbClr val="FF00FF"/>
                          </a:solidFill>
                          <a:latin typeface="Cambria Math"/>
                          <a:ea typeface="华文中宋" pitchFamily="2" charset="-122"/>
                        </a:rPr>
                        <m:t>波特率</m:t>
                      </m:r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华文中宋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华文中宋" pitchFamily="2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华文中宋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华文中宋" pitchFamily="2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华文中宋" pitchFamily="2" charset="-122"/>
                                </a:rPr>
                                <m:t>𝑆𝑀𝑂𝐷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dirty="0">
                              <a:solidFill>
                                <a:srgbClr val="FF00FF"/>
                              </a:solidFill>
                              <a:latin typeface="Cambria Math"/>
                              <a:ea typeface="华文中宋" pitchFamily="2" charset="-122"/>
                            </a:rPr>
                            <m:t>32</m:t>
                          </m:r>
                        </m:den>
                      </m:f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Cambria Math"/>
                        </a:rPr>
                        <m:t>1溢出率</m:t>
                      </m:r>
                    </m:oMath>
                  </m:oMathPara>
                </a14:m>
                <a:endParaRPr lang="en-US" altLang="zh-CN" sz="2400" dirty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dirty="0" smtClean="0">
                          <a:solidFill>
                            <a:srgbClr val="FF00FF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Cambria Math"/>
                                </a:rPr>
                                <m:t>𝑆𝑀𝑂𝐷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dirty="0">
                              <a:solidFill>
                                <a:srgbClr val="FF00FF"/>
                              </a:solidFill>
                              <a:latin typeface="Cambria Math"/>
                              <a:ea typeface="Cambria Math"/>
                            </a:rPr>
                            <m:t>32</m:t>
                          </m:r>
                        </m:den>
                      </m:f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Cambria Math"/>
                                </a:rPr>
                                <m:t>𝑜𝑠𝑐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dirty="0">
                              <a:solidFill>
                                <a:srgbClr val="FF00FF"/>
                              </a:solidFill>
                              <a:latin typeface="Cambria Math"/>
                              <a:ea typeface="Cambria Math"/>
                            </a:rPr>
                            <m:t>12</m:t>
                          </m:r>
                        </m:den>
                      </m:f>
                      <m:r>
                        <a:rPr lang="en-US" altLang="zh-CN" sz="2400" b="0" i="1" dirty="0">
                          <a:solidFill>
                            <a:srgbClr val="FF00FF"/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i="1" dirty="0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dirty="0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400" b="0" i="1" dirty="0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CN" sz="2400" b="0" i="1" dirty="0">
                                  <a:solidFill>
                                    <a:srgbClr val="FF00FF"/>
                                  </a:solidFill>
                                  <a:latin typeface="Cambria Math"/>
                                  <a:ea typeface="Cambria Math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式中，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时分别为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(8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位定时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-TL0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位定时器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-TH0)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计数初值 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606278"/>
              </a:xfrm>
              <a:prstGeom prst="rect">
                <a:avLst/>
              </a:prstGeom>
              <a:blipFill rotWithShape="0">
                <a:blip r:embed="rId4"/>
                <a:stretch>
                  <a:fillRect l="-1059" b="-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波特率的设置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4"/>
          <p:cNvSpPr txBox="1">
            <a:spLocks noChangeArrowheads="1"/>
          </p:cNvSpPr>
          <p:nvPr/>
        </p:nvSpPr>
        <p:spPr bwMode="auto">
          <a:xfrm>
            <a:off x="3126695" y="1266333"/>
            <a:ext cx="28641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CF6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一览表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2"/>
          <p:cNvGrpSpPr/>
          <p:nvPr/>
        </p:nvGrpSpPr>
        <p:grpSpPr bwMode="auto">
          <a:xfrm>
            <a:off x="250825" y="1771161"/>
            <a:ext cx="8642350" cy="4577440"/>
            <a:chOff x="144" y="572"/>
            <a:chExt cx="5503" cy="3130"/>
          </a:xfrm>
        </p:grpSpPr>
        <p:grpSp>
          <p:nvGrpSpPr>
            <p:cNvPr id="11" name="Group 3"/>
            <p:cNvGrpSpPr/>
            <p:nvPr/>
          </p:nvGrpSpPr>
          <p:grpSpPr bwMode="auto">
            <a:xfrm>
              <a:off x="148" y="574"/>
              <a:ext cx="684" cy="563"/>
              <a:chOff x="0" y="384"/>
              <a:chExt cx="464" cy="864"/>
            </a:xfrm>
          </p:grpSpPr>
          <p:sp>
            <p:nvSpPr>
              <p:cNvPr id="349" name="Rectangle 4"/>
              <p:cNvSpPr>
                <a:spLocks noChangeArrowheads="1"/>
              </p:cNvSpPr>
              <p:nvPr/>
            </p:nvSpPr>
            <p:spPr bwMode="auto">
              <a:xfrm>
                <a:off x="11" y="384"/>
                <a:ext cx="442" cy="8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zh-CN" altLang="en-US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波特率</a:t>
                </a:r>
              </a:p>
              <a:p>
                <a:pPr algn="ctr">
                  <a:defRPr/>
                </a:pPr>
                <a:r>
                  <a:rPr lang="en-US" altLang="zh-CN" sz="16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</a:t>
                </a:r>
                <a:endPara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0" name="Rectangle 5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464" cy="86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" name="Group 6"/>
            <p:cNvGrpSpPr/>
            <p:nvPr/>
          </p:nvGrpSpPr>
          <p:grpSpPr bwMode="auto">
            <a:xfrm>
              <a:off x="832" y="574"/>
              <a:ext cx="1478" cy="250"/>
              <a:chOff x="464" y="384"/>
              <a:chExt cx="1139" cy="384"/>
            </a:xfrm>
          </p:grpSpPr>
          <p:sp>
            <p:nvSpPr>
              <p:cNvPr id="347" name="Rectangle 7"/>
              <p:cNvSpPr>
                <a:spLocks noChangeArrowheads="1"/>
              </p:cNvSpPr>
              <p:nvPr/>
            </p:nvSpPr>
            <p:spPr bwMode="auto">
              <a:xfrm>
                <a:off x="475" y="384"/>
                <a:ext cx="112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 dirty="0" err="1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  <a:r>
                  <a:rPr lang="en-US" altLang="zh-CN" sz="2000" baseline="-30000" dirty="0" err="1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osc</a:t>
                </a:r>
                <a:r>
                  <a:rPr lang="en-US" altLang="zh-CN" sz="2000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=6MHz</a:t>
                </a:r>
                <a:endParaRPr lang="en-US" altLang="zh-CN" sz="20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Rectangle 8"/>
              <p:cNvSpPr>
                <a:spLocks noChangeArrowheads="1"/>
              </p:cNvSpPr>
              <p:nvPr/>
            </p:nvSpPr>
            <p:spPr bwMode="auto">
              <a:xfrm>
                <a:off x="464" y="384"/>
                <a:ext cx="113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Group 9"/>
            <p:cNvGrpSpPr/>
            <p:nvPr/>
          </p:nvGrpSpPr>
          <p:grpSpPr bwMode="auto">
            <a:xfrm>
              <a:off x="2310" y="574"/>
              <a:ext cx="1841" cy="250"/>
              <a:chOff x="1607" y="384"/>
              <a:chExt cx="1111" cy="384"/>
            </a:xfrm>
          </p:grpSpPr>
          <p:sp>
            <p:nvSpPr>
              <p:cNvPr id="345" name="Rectangle 10"/>
              <p:cNvSpPr>
                <a:spLocks noChangeArrowheads="1"/>
              </p:cNvSpPr>
              <p:nvPr/>
            </p:nvSpPr>
            <p:spPr bwMode="auto">
              <a:xfrm>
                <a:off x="1634" y="384"/>
                <a:ext cx="107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 dirty="0" err="1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  <a:r>
                  <a:rPr lang="en-US" altLang="zh-CN" sz="2000" baseline="-30000" dirty="0" err="1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osc</a:t>
                </a:r>
                <a:r>
                  <a:rPr lang="en-US" altLang="zh-CN" sz="2000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=12MHz </a:t>
                </a:r>
                <a:endParaRPr lang="en-US" altLang="zh-CN" sz="20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Rectangle 11"/>
              <p:cNvSpPr>
                <a:spLocks noChangeArrowheads="1"/>
              </p:cNvSpPr>
              <p:nvPr/>
            </p:nvSpPr>
            <p:spPr bwMode="auto">
              <a:xfrm>
                <a:off x="1607" y="384"/>
                <a:ext cx="1111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2"/>
            <p:cNvGrpSpPr/>
            <p:nvPr/>
          </p:nvGrpSpPr>
          <p:grpSpPr bwMode="auto">
            <a:xfrm>
              <a:off x="4156" y="574"/>
              <a:ext cx="1487" cy="250"/>
              <a:chOff x="2718" y="384"/>
              <a:chExt cx="1008" cy="384"/>
            </a:xfrm>
          </p:grpSpPr>
          <p:sp>
            <p:nvSpPr>
              <p:cNvPr id="343" name="Rectangle 13"/>
              <p:cNvSpPr>
                <a:spLocks noChangeArrowheads="1"/>
              </p:cNvSpPr>
              <p:nvPr/>
            </p:nvSpPr>
            <p:spPr bwMode="auto">
              <a:xfrm>
                <a:off x="2729" y="384"/>
                <a:ext cx="98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 b="1" dirty="0" err="1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  <a:r>
                  <a:rPr lang="en-US" altLang="zh-CN" sz="2000" b="1" baseline="-30000" dirty="0" err="1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osc</a:t>
                </a:r>
                <a:r>
                  <a:rPr lang="en-US" altLang="zh-CN" sz="2000" b="1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=11.059MHz</a:t>
                </a:r>
                <a:endPara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Rectangle 14"/>
              <p:cNvSpPr>
                <a:spLocks noChangeArrowheads="1"/>
              </p:cNvSpPr>
              <p:nvPr/>
            </p:nvSpPr>
            <p:spPr bwMode="auto">
              <a:xfrm>
                <a:off x="2718" y="384"/>
                <a:ext cx="100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 bwMode="auto">
            <a:xfrm>
              <a:off x="832" y="824"/>
              <a:ext cx="496" cy="313"/>
              <a:chOff x="464" y="768"/>
              <a:chExt cx="336" cy="480"/>
            </a:xfrm>
          </p:grpSpPr>
          <p:sp>
            <p:nvSpPr>
              <p:cNvPr id="341" name="Rectangle 16"/>
              <p:cNvSpPr>
                <a:spLocks noChangeArrowheads="1"/>
              </p:cNvSpPr>
              <p:nvPr/>
            </p:nvSpPr>
            <p:spPr bwMode="auto">
              <a:xfrm>
                <a:off x="475" y="768"/>
                <a:ext cx="314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1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SMOD</a:t>
                </a:r>
              </a:p>
            </p:txBody>
          </p:sp>
          <p:sp>
            <p:nvSpPr>
              <p:cNvPr id="342" name="Rectangle 17"/>
              <p:cNvSpPr>
                <a:spLocks noChangeArrowheads="1"/>
              </p:cNvSpPr>
              <p:nvPr/>
            </p:nvSpPr>
            <p:spPr bwMode="auto">
              <a:xfrm>
                <a:off x="464" y="768"/>
                <a:ext cx="336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Group 18"/>
            <p:cNvGrpSpPr/>
            <p:nvPr/>
          </p:nvGrpSpPr>
          <p:grpSpPr bwMode="auto">
            <a:xfrm>
              <a:off x="1328" y="824"/>
              <a:ext cx="495" cy="313"/>
              <a:chOff x="800" y="768"/>
              <a:chExt cx="336" cy="480"/>
            </a:xfrm>
          </p:grpSpPr>
          <p:sp>
            <p:nvSpPr>
              <p:cNvPr id="339" name="Rectangle 19"/>
              <p:cNvSpPr>
                <a:spLocks noChangeArrowheads="1"/>
              </p:cNvSpPr>
              <p:nvPr/>
            </p:nvSpPr>
            <p:spPr bwMode="auto">
              <a:xfrm>
                <a:off x="811" y="768"/>
                <a:ext cx="314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18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T1</a:t>
                </a:r>
                <a:r>
                  <a:rPr lang="zh-CN" altLang="en-US" sz="18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</a:p>
            </p:txBody>
          </p:sp>
          <p:sp>
            <p:nvSpPr>
              <p:cNvPr id="340" name="Rectangle 20"/>
              <p:cNvSpPr>
                <a:spLocks noChangeArrowheads="1"/>
              </p:cNvSpPr>
              <p:nvPr/>
            </p:nvSpPr>
            <p:spPr bwMode="auto">
              <a:xfrm>
                <a:off x="800" y="768"/>
                <a:ext cx="336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21"/>
            <p:cNvGrpSpPr/>
            <p:nvPr/>
          </p:nvGrpSpPr>
          <p:grpSpPr bwMode="auto">
            <a:xfrm>
              <a:off x="1823" y="824"/>
              <a:ext cx="487" cy="313"/>
              <a:chOff x="1136" y="768"/>
              <a:chExt cx="330" cy="480"/>
            </a:xfrm>
          </p:grpSpPr>
          <p:sp>
            <p:nvSpPr>
              <p:cNvPr id="337" name="Rectangle 22"/>
              <p:cNvSpPr>
                <a:spLocks noChangeArrowheads="1"/>
              </p:cNvSpPr>
              <p:nvPr/>
            </p:nvSpPr>
            <p:spPr bwMode="auto">
              <a:xfrm>
                <a:off x="1147" y="768"/>
                <a:ext cx="308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zh-CN" altLang="en-US" sz="20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初值</a:t>
                </a:r>
              </a:p>
            </p:txBody>
          </p:sp>
          <p:sp>
            <p:nvSpPr>
              <p:cNvPr id="338" name="Rectangle 23"/>
              <p:cNvSpPr>
                <a:spLocks noChangeArrowheads="1"/>
              </p:cNvSpPr>
              <p:nvPr/>
            </p:nvSpPr>
            <p:spPr bwMode="auto">
              <a:xfrm>
                <a:off x="1136" y="768"/>
                <a:ext cx="330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24"/>
            <p:cNvGrpSpPr/>
            <p:nvPr/>
          </p:nvGrpSpPr>
          <p:grpSpPr bwMode="auto">
            <a:xfrm>
              <a:off x="2310" y="824"/>
              <a:ext cx="463" cy="313"/>
              <a:chOff x="1466" y="768"/>
              <a:chExt cx="314" cy="480"/>
            </a:xfrm>
          </p:grpSpPr>
          <p:sp>
            <p:nvSpPr>
              <p:cNvPr id="335" name="Rectangle 25"/>
              <p:cNvSpPr>
                <a:spLocks noChangeArrowheads="1"/>
              </p:cNvSpPr>
              <p:nvPr/>
            </p:nvSpPr>
            <p:spPr bwMode="auto">
              <a:xfrm>
                <a:off x="1477" y="768"/>
                <a:ext cx="292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1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SMOD</a:t>
                </a:r>
              </a:p>
            </p:txBody>
          </p:sp>
          <p:sp>
            <p:nvSpPr>
              <p:cNvPr id="336" name="Rectangle 26"/>
              <p:cNvSpPr>
                <a:spLocks noChangeArrowheads="1"/>
              </p:cNvSpPr>
              <p:nvPr/>
            </p:nvSpPr>
            <p:spPr bwMode="auto">
              <a:xfrm>
                <a:off x="1466" y="768"/>
                <a:ext cx="314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" name="Group 27"/>
            <p:cNvGrpSpPr/>
            <p:nvPr/>
          </p:nvGrpSpPr>
          <p:grpSpPr bwMode="auto">
            <a:xfrm>
              <a:off x="2773" y="824"/>
              <a:ext cx="692" cy="313"/>
              <a:chOff x="1780" y="768"/>
              <a:chExt cx="469" cy="480"/>
            </a:xfrm>
          </p:grpSpPr>
          <p:sp>
            <p:nvSpPr>
              <p:cNvPr id="333" name="Rectangle 28"/>
              <p:cNvSpPr>
                <a:spLocks noChangeArrowheads="1"/>
              </p:cNvSpPr>
              <p:nvPr/>
            </p:nvSpPr>
            <p:spPr bwMode="auto">
              <a:xfrm>
                <a:off x="1791" y="768"/>
                <a:ext cx="447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en-US" altLang="zh-CN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</a:p>
            </p:txBody>
          </p:sp>
          <p:sp>
            <p:nvSpPr>
              <p:cNvPr id="334" name="Rectangle 29"/>
              <p:cNvSpPr>
                <a:spLocks noChangeArrowheads="1"/>
              </p:cNvSpPr>
              <p:nvPr/>
            </p:nvSpPr>
            <p:spPr bwMode="auto">
              <a:xfrm>
                <a:off x="1780" y="768"/>
                <a:ext cx="469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" name="Group 30"/>
            <p:cNvGrpSpPr/>
            <p:nvPr/>
          </p:nvGrpSpPr>
          <p:grpSpPr bwMode="auto">
            <a:xfrm>
              <a:off x="3465" y="824"/>
              <a:ext cx="691" cy="313"/>
              <a:chOff x="2249" y="768"/>
              <a:chExt cx="469" cy="480"/>
            </a:xfrm>
          </p:grpSpPr>
          <p:sp>
            <p:nvSpPr>
              <p:cNvPr id="331" name="Rectangle 31"/>
              <p:cNvSpPr>
                <a:spLocks noChangeArrowheads="1"/>
              </p:cNvSpPr>
              <p:nvPr/>
            </p:nvSpPr>
            <p:spPr bwMode="auto">
              <a:xfrm>
                <a:off x="2260" y="768"/>
                <a:ext cx="447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zh-CN" altLang="en-US" sz="20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初值</a:t>
                </a:r>
              </a:p>
            </p:txBody>
          </p:sp>
          <p:sp>
            <p:nvSpPr>
              <p:cNvPr id="332" name="Rectangle 32"/>
              <p:cNvSpPr>
                <a:spLocks noChangeArrowheads="1"/>
              </p:cNvSpPr>
              <p:nvPr/>
            </p:nvSpPr>
            <p:spPr bwMode="auto">
              <a:xfrm>
                <a:off x="2249" y="768"/>
                <a:ext cx="469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33"/>
            <p:cNvGrpSpPr/>
            <p:nvPr/>
          </p:nvGrpSpPr>
          <p:grpSpPr bwMode="auto">
            <a:xfrm>
              <a:off x="4156" y="824"/>
              <a:ext cx="440" cy="313"/>
              <a:chOff x="2718" y="768"/>
              <a:chExt cx="298" cy="480"/>
            </a:xfrm>
          </p:grpSpPr>
          <p:sp>
            <p:nvSpPr>
              <p:cNvPr id="329" name="Rectangle 34"/>
              <p:cNvSpPr>
                <a:spLocks noChangeArrowheads="1"/>
              </p:cNvSpPr>
              <p:nvPr/>
            </p:nvSpPr>
            <p:spPr bwMode="auto">
              <a:xfrm>
                <a:off x="2729" y="768"/>
                <a:ext cx="276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1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SMOD</a:t>
                </a:r>
              </a:p>
            </p:txBody>
          </p:sp>
          <p:sp>
            <p:nvSpPr>
              <p:cNvPr id="330" name="Rectangle 35"/>
              <p:cNvSpPr>
                <a:spLocks noChangeArrowheads="1"/>
              </p:cNvSpPr>
              <p:nvPr/>
            </p:nvSpPr>
            <p:spPr bwMode="auto">
              <a:xfrm>
                <a:off x="2718" y="768"/>
                <a:ext cx="298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Group 36"/>
            <p:cNvGrpSpPr/>
            <p:nvPr/>
          </p:nvGrpSpPr>
          <p:grpSpPr bwMode="auto">
            <a:xfrm>
              <a:off x="4596" y="824"/>
              <a:ext cx="494" cy="313"/>
              <a:chOff x="3016" y="768"/>
              <a:chExt cx="335" cy="480"/>
            </a:xfrm>
          </p:grpSpPr>
          <p:sp>
            <p:nvSpPr>
              <p:cNvPr id="327" name="Rectangle 37"/>
              <p:cNvSpPr>
                <a:spLocks noChangeArrowheads="1"/>
              </p:cNvSpPr>
              <p:nvPr/>
            </p:nvSpPr>
            <p:spPr bwMode="auto">
              <a:xfrm>
                <a:off x="3027" y="768"/>
                <a:ext cx="313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18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en-US" altLang="zh-CN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8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</a:p>
            </p:txBody>
          </p:sp>
          <p:sp>
            <p:nvSpPr>
              <p:cNvPr id="328" name="Rectangle 38"/>
              <p:cNvSpPr>
                <a:spLocks noChangeArrowheads="1"/>
              </p:cNvSpPr>
              <p:nvPr/>
            </p:nvSpPr>
            <p:spPr bwMode="auto">
              <a:xfrm>
                <a:off x="3016" y="768"/>
                <a:ext cx="335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" name="Group 39"/>
            <p:cNvGrpSpPr/>
            <p:nvPr/>
          </p:nvGrpSpPr>
          <p:grpSpPr bwMode="auto">
            <a:xfrm>
              <a:off x="5090" y="824"/>
              <a:ext cx="553" cy="313"/>
              <a:chOff x="3351" y="768"/>
              <a:chExt cx="375" cy="480"/>
            </a:xfrm>
          </p:grpSpPr>
          <p:sp>
            <p:nvSpPr>
              <p:cNvPr id="325" name="Rectangle 40"/>
              <p:cNvSpPr>
                <a:spLocks noChangeArrowheads="1"/>
              </p:cNvSpPr>
              <p:nvPr/>
            </p:nvSpPr>
            <p:spPr bwMode="auto">
              <a:xfrm>
                <a:off x="3362" y="768"/>
                <a:ext cx="353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zh-CN" altLang="en-US" sz="20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初值</a:t>
                </a:r>
              </a:p>
            </p:txBody>
          </p:sp>
          <p:sp>
            <p:nvSpPr>
              <p:cNvPr id="326" name="Rectangle 41"/>
              <p:cNvSpPr>
                <a:spLocks noChangeArrowheads="1"/>
              </p:cNvSpPr>
              <p:nvPr/>
            </p:nvSpPr>
            <p:spPr bwMode="auto">
              <a:xfrm>
                <a:off x="3351" y="768"/>
                <a:ext cx="375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42"/>
            <p:cNvGrpSpPr/>
            <p:nvPr/>
          </p:nvGrpSpPr>
          <p:grpSpPr bwMode="auto">
            <a:xfrm>
              <a:off x="148" y="1137"/>
              <a:ext cx="684" cy="250"/>
              <a:chOff x="0" y="1248"/>
              <a:chExt cx="464" cy="384"/>
            </a:xfrm>
          </p:grpSpPr>
          <p:sp>
            <p:nvSpPr>
              <p:cNvPr id="323" name="Rectangle 43"/>
              <p:cNvSpPr>
                <a:spLocks noChangeArrowheads="1"/>
              </p:cNvSpPr>
              <p:nvPr/>
            </p:nvSpPr>
            <p:spPr bwMode="auto">
              <a:xfrm>
                <a:off x="11" y="1248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62.5k</a:t>
                </a:r>
              </a:p>
            </p:txBody>
          </p:sp>
          <p:sp>
            <p:nvSpPr>
              <p:cNvPr id="324" name="Rectangle 44"/>
              <p:cNvSpPr>
                <a:spLocks noChangeArrowheads="1"/>
              </p:cNvSpPr>
              <p:nvPr/>
            </p:nvSpPr>
            <p:spPr bwMode="auto">
              <a:xfrm>
                <a:off x="0" y="1248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" name="Group 45"/>
            <p:cNvGrpSpPr/>
            <p:nvPr/>
          </p:nvGrpSpPr>
          <p:grpSpPr bwMode="auto">
            <a:xfrm>
              <a:off x="832" y="1137"/>
              <a:ext cx="496" cy="250"/>
              <a:chOff x="464" y="1248"/>
              <a:chExt cx="336" cy="384"/>
            </a:xfrm>
          </p:grpSpPr>
          <p:sp>
            <p:nvSpPr>
              <p:cNvPr id="321" name="Rectangle 46"/>
              <p:cNvSpPr>
                <a:spLocks noChangeArrowheads="1"/>
              </p:cNvSpPr>
              <p:nvPr/>
            </p:nvSpPr>
            <p:spPr bwMode="auto">
              <a:xfrm>
                <a:off x="475" y="1248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2" name="Rectangle 47"/>
              <p:cNvSpPr>
                <a:spLocks noChangeArrowheads="1"/>
              </p:cNvSpPr>
              <p:nvPr/>
            </p:nvSpPr>
            <p:spPr bwMode="auto">
              <a:xfrm>
                <a:off x="464" y="1248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" name="Group 48"/>
            <p:cNvGrpSpPr/>
            <p:nvPr/>
          </p:nvGrpSpPr>
          <p:grpSpPr bwMode="auto">
            <a:xfrm>
              <a:off x="1328" y="1137"/>
              <a:ext cx="495" cy="250"/>
              <a:chOff x="800" y="1248"/>
              <a:chExt cx="336" cy="384"/>
            </a:xfrm>
          </p:grpSpPr>
          <p:sp>
            <p:nvSpPr>
              <p:cNvPr id="319" name="Rectangle 49"/>
              <p:cNvSpPr>
                <a:spLocks noChangeArrowheads="1"/>
              </p:cNvSpPr>
              <p:nvPr/>
            </p:nvSpPr>
            <p:spPr bwMode="auto">
              <a:xfrm>
                <a:off x="811" y="1248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0" name="Rectangle 50"/>
              <p:cNvSpPr>
                <a:spLocks noChangeArrowheads="1"/>
              </p:cNvSpPr>
              <p:nvPr/>
            </p:nvSpPr>
            <p:spPr bwMode="auto">
              <a:xfrm>
                <a:off x="800" y="1248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51"/>
            <p:cNvGrpSpPr/>
            <p:nvPr/>
          </p:nvGrpSpPr>
          <p:grpSpPr bwMode="auto">
            <a:xfrm>
              <a:off x="1823" y="1137"/>
              <a:ext cx="487" cy="250"/>
              <a:chOff x="1136" y="1248"/>
              <a:chExt cx="330" cy="384"/>
            </a:xfrm>
          </p:grpSpPr>
          <p:sp>
            <p:nvSpPr>
              <p:cNvPr id="317" name="Rectangle 52"/>
              <p:cNvSpPr>
                <a:spLocks noChangeArrowheads="1"/>
              </p:cNvSpPr>
              <p:nvPr/>
            </p:nvSpPr>
            <p:spPr bwMode="auto">
              <a:xfrm>
                <a:off x="1147" y="1248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Rectangle 53"/>
              <p:cNvSpPr>
                <a:spLocks noChangeArrowheads="1"/>
              </p:cNvSpPr>
              <p:nvPr/>
            </p:nvSpPr>
            <p:spPr bwMode="auto">
              <a:xfrm>
                <a:off x="1136" y="1248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" name="Group 54"/>
            <p:cNvGrpSpPr/>
            <p:nvPr/>
          </p:nvGrpSpPr>
          <p:grpSpPr bwMode="auto">
            <a:xfrm>
              <a:off x="2310" y="1137"/>
              <a:ext cx="463" cy="250"/>
              <a:chOff x="1466" y="1248"/>
              <a:chExt cx="314" cy="384"/>
            </a:xfrm>
          </p:grpSpPr>
          <p:sp>
            <p:nvSpPr>
              <p:cNvPr id="315" name="Rectangle 55"/>
              <p:cNvSpPr>
                <a:spLocks noChangeArrowheads="1"/>
              </p:cNvSpPr>
              <p:nvPr/>
            </p:nvSpPr>
            <p:spPr bwMode="auto">
              <a:xfrm>
                <a:off x="1477" y="1248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316" name="Rectangle 56"/>
              <p:cNvSpPr>
                <a:spLocks noChangeArrowheads="1"/>
              </p:cNvSpPr>
              <p:nvPr/>
            </p:nvSpPr>
            <p:spPr bwMode="auto">
              <a:xfrm>
                <a:off x="1466" y="1248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" name="Group 57"/>
            <p:cNvGrpSpPr/>
            <p:nvPr/>
          </p:nvGrpSpPr>
          <p:grpSpPr bwMode="auto">
            <a:xfrm>
              <a:off x="2773" y="1137"/>
              <a:ext cx="692" cy="250"/>
              <a:chOff x="1780" y="1248"/>
              <a:chExt cx="469" cy="384"/>
            </a:xfrm>
          </p:grpSpPr>
          <p:sp>
            <p:nvSpPr>
              <p:cNvPr id="313" name="Rectangle 58"/>
              <p:cNvSpPr>
                <a:spLocks noChangeArrowheads="1"/>
              </p:cNvSpPr>
              <p:nvPr/>
            </p:nvSpPr>
            <p:spPr bwMode="auto">
              <a:xfrm>
                <a:off x="1791" y="1248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314" name="Rectangle 59"/>
              <p:cNvSpPr>
                <a:spLocks noChangeArrowheads="1"/>
              </p:cNvSpPr>
              <p:nvPr/>
            </p:nvSpPr>
            <p:spPr bwMode="auto">
              <a:xfrm>
                <a:off x="1780" y="1248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60"/>
            <p:cNvGrpSpPr/>
            <p:nvPr/>
          </p:nvGrpSpPr>
          <p:grpSpPr bwMode="auto">
            <a:xfrm>
              <a:off x="3465" y="1137"/>
              <a:ext cx="691" cy="250"/>
              <a:chOff x="2249" y="1248"/>
              <a:chExt cx="469" cy="384"/>
            </a:xfrm>
          </p:grpSpPr>
          <p:sp>
            <p:nvSpPr>
              <p:cNvPr id="311" name="Rectangle 61"/>
              <p:cNvSpPr>
                <a:spLocks noChangeArrowheads="1"/>
              </p:cNvSpPr>
              <p:nvPr/>
            </p:nvSpPr>
            <p:spPr bwMode="auto">
              <a:xfrm>
                <a:off x="2260" y="1248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FFH</a:t>
                </a:r>
              </a:p>
            </p:txBody>
          </p:sp>
          <p:sp>
            <p:nvSpPr>
              <p:cNvPr id="312" name="Rectangle 62"/>
              <p:cNvSpPr>
                <a:spLocks noChangeArrowheads="1"/>
              </p:cNvSpPr>
              <p:nvPr/>
            </p:nvSpPr>
            <p:spPr bwMode="auto">
              <a:xfrm>
                <a:off x="2249" y="1248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1" name="Group 63"/>
            <p:cNvGrpSpPr/>
            <p:nvPr/>
          </p:nvGrpSpPr>
          <p:grpSpPr bwMode="auto">
            <a:xfrm>
              <a:off x="4156" y="1137"/>
              <a:ext cx="440" cy="250"/>
              <a:chOff x="2718" y="1248"/>
              <a:chExt cx="298" cy="384"/>
            </a:xfrm>
          </p:grpSpPr>
          <p:sp>
            <p:nvSpPr>
              <p:cNvPr id="309" name="Rectangle 64"/>
              <p:cNvSpPr>
                <a:spLocks noChangeArrowheads="1"/>
              </p:cNvSpPr>
              <p:nvPr/>
            </p:nvSpPr>
            <p:spPr bwMode="auto">
              <a:xfrm>
                <a:off x="2729" y="1248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0" name="Rectangle 65"/>
              <p:cNvSpPr>
                <a:spLocks noChangeArrowheads="1"/>
              </p:cNvSpPr>
              <p:nvPr/>
            </p:nvSpPr>
            <p:spPr bwMode="auto">
              <a:xfrm>
                <a:off x="2718" y="1248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" name="Group 66"/>
            <p:cNvGrpSpPr/>
            <p:nvPr/>
          </p:nvGrpSpPr>
          <p:grpSpPr bwMode="auto">
            <a:xfrm>
              <a:off x="4596" y="1137"/>
              <a:ext cx="494" cy="250"/>
              <a:chOff x="3016" y="1248"/>
              <a:chExt cx="335" cy="384"/>
            </a:xfrm>
          </p:grpSpPr>
          <p:sp>
            <p:nvSpPr>
              <p:cNvPr id="307" name="Rectangle 67"/>
              <p:cNvSpPr>
                <a:spLocks noChangeArrowheads="1"/>
              </p:cNvSpPr>
              <p:nvPr/>
            </p:nvSpPr>
            <p:spPr bwMode="auto">
              <a:xfrm>
                <a:off x="3027" y="1248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Rectangle 68"/>
              <p:cNvSpPr>
                <a:spLocks noChangeArrowheads="1"/>
              </p:cNvSpPr>
              <p:nvPr/>
            </p:nvSpPr>
            <p:spPr bwMode="auto">
              <a:xfrm>
                <a:off x="3016" y="1248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69"/>
            <p:cNvGrpSpPr/>
            <p:nvPr/>
          </p:nvGrpSpPr>
          <p:grpSpPr bwMode="auto">
            <a:xfrm>
              <a:off x="5090" y="1137"/>
              <a:ext cx="553" cy="250"/>
              <a:chOff x="3351" y="1248"/>
              <a:chExt cx="375" cy="384"/>
            </a:xfrm>
          </p:grpSpPr>
          <p:sp>
            <p:nvSpPr>
              <p:cNvPr id="305" name="Rectangle 70"/>
              <p:cNvSpPr>
                <a:spLocks noChangeArrowheads="1"/>
              </p:cNvSpPr>
              <p:nvPr/>
            </p:nvSpPr>
            <p:spPr bwMode="auto">
              <a:xfrm>
                <a:off x="3362" y="1248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Rectangle 71"/>
              <p:cNvSpPr>
                <a:spLocks noChangeArrowheads="1"/>
              </p:cNvSpPr>
              <p:nvPr/>
            </p:nvSpPr>
            <p:spPr bwMode="auto">
              <a:xfrm>
                <a:off x="3351" y="1248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4" name="Group 72"/>
            <p:cNvGrpSpPr/>
            <p:nvPr/>
          </p:nvGrpSpPr>
          <p:grpSpPr bwMode="auto">
            <a:xfrm>
              <a:off x="148" y="1387"/>
              <a:ext cx="684" cy="250"/>
              <a:chOff x="0" y="1632"/>
              <a:chExt cx="464" cy="384"/>
            </a:xfrm>
          </p:grpSpPr>
          <p:sp>
            <p:nvSpPr>
              <p:cNvPr id="303" name="Rectangle 73"/>
              <p:cNvSpPr>
                <a:spLocks noChangeArrowheads="1"/>
              </p:cNvSpPr>
              <p:nvPr/>
            </p:nvSpPr>
            <p:spPr bwMode="auto">
              <a:xfrm>
                <a:off x="11" y="1632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19.2k</a:t>
                </a:r>
              </a:p>
            </p:txBody>
          </p:sp>
          <p:sp>
            <p:nvSpPr>
              <p:cNvPr id="304" name="Rectangle 74"/>
              <p:cNvSpPr>
                <a:spLocks noChangeArrowheads="1"/>
              </p:cNvSpPr>
              <p:nvPr/>
            </p:nvSpPr>
            <p:spPr bwMode="auto">
              <a:xfrm>
                <a:off x="0" y="1632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Group 75"/>
            <p:cNvGrpSpPr/>
            <p:nvPr/>
          </p:nvGrpSpPr>
          <p:grpSpPr bwMode="auto">
            <a:xfrm>
              <a:off x="832" y="1387"/>
              <a:ext cx="496" cy="250"/>
              <a:chOff x="464" y="1632"/>
              <a:chExt cx="336" cy="384"/>
            </a:xfrm>
          </p:grpSpPr>
          <p:sp>
            <p:nvSpPr>
              <p:cNvPr id="301" name="Rectangle 76"/>
              <p:cNvSpPr>
                <a:spLocks noChangeArrowheads="1"/>
              </p:cNvSpPr>
              <p:nvPr/>
            </p:nvSpPr>
            <p:spPr bwMode="auto">
              <a:xfrm>
                <a:off x="475" y="1632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2" name="Rectangle 77"/>
              <p:cNvSpPr>
                <a:spLocks noChangeArrowheads="1"/>
              </p:cNvSpPr>
              <p:nvPr/>
            </p:nvSpPr>
            <p:spPr bwMode="auto">
              <a:xfrm>
                <a:off x="464" y="1632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78"/>
            <p:cNvGrpSpPr/>
            <p:nvPr/>
          </p:nvGrpSpPr>
          <p:grpSpPr bwMode="auto">
            <a:xfrm>
              <a:off x="1328" y="1387"/>
              <a:ext cx="495" cy="250"/>
              <a:chOff x="800" y="1632"/>
              <a:chExt cx="336" cy="384"/>
            </a:xfrm>
          </p:grpSpPr>
          <p:sp>
            <p:nvSpPr>
              <p:cNvPr id="299" name="Rectangle 79"/>
              <p:cNvSpPr>
                <a:spLocks noChangeArrowheads="1"/>
              </p:cNvSpPr>
              <p:nvPr/>
            </p:nvSpPr>
            <p:spPr bwMode="auto">
              <a:xfrm>
                <a:off x="811" y="1632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Rectangle 80"/>
              <p:cNvSpPr>
                <a:spLocks noChangeArrowheads="1"/>
              </p:cNvSpPr>
              <p:nvPr/>
            </p:nvSpPr>
            <p:spPr bwMode="auto">
              <a:xfrm>
                <a:off x="800" y="1632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7" name="Group 81"/>
            <p:cNvGrpSpPr/>
            <p:nvPr/>
          </p:nvGrpSpPr>
          <p:grpSpPr bwMode="auto">
            <a:xfrm>
              <a:off x="1823" y="1387"/>
              <a:ext cx="487" cy="250"/>
              <a:chOff x="1136" y="1632"/>
              <a:chExt cx="330" cy="384"/>
            </a:xfrm>
          </p:grpSpPr>
          <p:sp>
            <p:nvSpPr>
              <p:cNvPr id="297" name="Rectangle 82"/>
              <p:cNvSpPr>
                <a:spLocks noChangeArrowheads="1"/>
              </p:cNvSpPr>
              <p:nvPr/>
            </p:nvSpPr>
            <p:spPr bwMode="auto">
              <a:xfrm>
                <a:off x="1147" y="1632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8" name="Rectangle 83"/>
              <p:cNvSpPr>
                <a:spLocks noChangeArrowheads="1"/>
              </p:cNvSpPr>
              <p:nvPr/>
            </p:nvSpPr>
            <p:spPr bwMode="auto">
              <a:xfrm>
                <a:off x="1136" y="1632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8" name="Group 84"/>
            <p:cNvGrpSpPr/>
            <p:nvPr/>
          </p:nvGrpSpPr>
          <p:grpSpPr bwMode="auto">
            <a:xfrm>
              <a:off x="2310" y="1387"/>
              <a:ext cx="463" cy="250"/>
              <a:chOff x="1466" y="1632"/>
              <a:chExt cx="314" cy="384"/>
            </a:xfrm>
          </p:grpSpPr>
          <p:sp>
            <p:nvSpPr>
              <p:cNvPr id="295" name="Rectangle 85"/>
              <p:cNvSpPr>
                <a:spLocks noChangeArrowheads="1"/>
              </p:cNvSpPr>
              <p:nvPr/>
            </p:nvSpPr>
            <p:spPr bwMode="auto">
              <a:xfrm>
                <a:off x="1477" y="1632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Rectangle 86"/>
              <p:cNvSpPr>
                <a:spLocks noChangeArrowheads="1"/>
              </p:cNvSpPr>
              <p:nvPr/>
            </p:nvSpPr>
            <p:spPr bwMode="auto">
              <a:xfrm>
                <a:off x="1466" y="1632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87"/>
            <p:cNvGrpSpPr/>
            <p:nvPr/>
          </p:nvGrpSpPr>
          <p:grpSpPr bwMode="auto">
            <a:xfrm>
              <a:off x="2773" y="1387"/>
              <a:ext cx="692" cy="250"/>
              <a:chOff x="1780" y="1632"/>
              <a:chExt cx="469" cy="384"/>
            </a:xfrm>
          </p:grpSpPr>
          <p:sp>
            <p:nvSpPr>
              <p:cNvPr id="293" name="Rectangle 88"/>
              <p:cNvSpPr>
                <a:spLocks noChangeArrowheads="1"/>
              </p:cNvSpPr>
              <p:nvPr/>
            </p:nvSpPr>
            <p:spPr bwMode="auto">
              <a:xfrm>
                <a:off x="1791" y="1632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4" name="Rectangle 89"/>
              <p:cNvSpPr>
                <a:spLocks noChangeArrowheads="1"/>
              </p:cNvSpPr>
              <p:nvPr/>
            </p:nvSpPr>
            <p:spPr bwMode="auto">
              <a:xfrm>
                <a:off x="1780" y="1632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Group 90"/>
            <p:cNvGrpSpPr/>
            <p:nvPr/>
          </p:nvGrpSpPr>
          <p:grpSpPr bwMode="auto">
            <a:xfrm>
              <a:off x="3465" y="1387"/>
              <a:ext cx="691" cy="250"/>
              <a:chOff x="2249" y="1632"/>
              <a:chExt cx="469" cy="384"/>
            </a:xfrm>
          </p:grpSpPr>
          <p:sp>
            <p:nvSpPr>
              <p:cNvPr id="291" name="Rectangle 91"/>
              <p:cNvSpPr>
                <a:spLocks noChangeArrowheads="1"/>
              </p:cNvSpPr>
              <p:nvPr/>
            </p:nvSpPr>
            <p:spPr bwMode="auto">
              <a:xfrm>
                <a:off x="2260" y="1632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Rectangle 92"/>
              <p:cNvSpPr>
                <a:spLocks noChangeArrowheads="1"/>
              </p:cNvSpPr>
              <p:nvPr/>
            </p:nvSpPr>
            <p:spPr bwMode="auto">
              <a:xfrm>
                <a:off x="2249" y="1632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Group 93"/>
            <p:cNvGrpSpPr/>
            <p:nvPr/>
          </p:nvGrpSpPr>
          <p:grpSpPr bwMode="auto">
            <a:xfrm>
              <a:off x="4156" y="1387"/>
              <a:ext cx="440" cy="250"/>
              <a:chOff x="2718" y="1632"/>
              <a:chExt cx="298" cy="384"/>
            </a:xfrm>
          </p:grpSpPr>
          <p:sp>
            <p:nvSpPr>
              <p:cNvPr id="289" name="Rectangle 94"/>
              <p:cNvSpPr>
                <a:spLocks noChangeArrowheads="1"/>
              </p:cNvSpPr>
              <p:nvPr/>
            </p:nvSpPr>
            <p:spPr bwMode="auto">
              <a:xfrm>
                <a:off x="2729" y="1632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290" name="Rectangle 95"/>
              <p:cNvSpPr>
                <a:spLocks noChangeArrowheads="1"/>
              </p:cNvSpPr>
              <p:nvPr/>
            </p:nvSpPr>
            <p:spPr bwMode="auto">
              <a:xfrm>
                <a:off x="2718" y="1632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96"/>
            <p:cNvGrpSpPr/>
            <p:nvPr/>
          </p:nvGrpSpPr>
          <p:grpSpPr bwMode="auto">
            <a:xfrm>
              <a:off x="4596" y="1387"/>
              <a:ext cx="494" cy="250"/>
              <a:chOff x="3016" y="1632"/>
              <a:chExt cx="335" cy="384"/>
            </a:xfrm>
          </p:grpSpPr>
          <p:sp>
            <p:nvSpPr>
              <p:cNvPr id="287" name="Rectangle 97"/>
              <p:cNvSpPr>
                <a:spLocks noChangeArrowheads="1"/>
              </p:cNvSpPr>
              <p:nvPr/>
            </p:nvSpPr>
            <p:spPr bwMode="auto">
              <a:xfrm>
                <a:off x="3027" y="1632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88" name="Rectangle 98"/>
              <p:cNvSpPr>
                <a:spLocks noChangeArrowheads="1"/>
              </p:cNvSpPr>
              <p:nvPr/>
            </p:nvSpPr>
            <p:spPr bwMode="auto">
              <a:xfrm>
                <a:off x="3016" y="1632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Group 99"/>
            <p:cNvGrpSpPr/>
            <p:nvPr/>
          </p:nvGrpSpPr>
          <p:grpSpPr bwMode="auto">
            <a:xfrm>
              <a:off x="5090" y="1387"/>
              <a:ext cx="553" cy="250"/>
              <a:chOff x="3351" y="1632"/>
              <a:chExt cx="375" cy="384"/>
            </a:xfrm>
          </p:grpSpPr>
          <p:sp>
            <p:nvSpPr>
              <p:cNvPr id="285" name="Rectangle 100"/>
              <p:cNvSpPr>
                <a:spLocks noChangeArrowheads="1"/>
              </p:cNvSpPr>
              <p:nvPr/>
            </p:nvSpPr>
            <p:spPr bwMode="auto">
              <a:xfrm>
                <a:off x="3362" y="1632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FDH</a:t>
                </a:r>
              </a:p>
            </p:txBody>
          </p:sp>
          <p:sp>
            <p:nvSpPr>
              <p:cNvPr id="286" name="Rectangle 101"/>
              <p:cNvSpPr>
                <a:spLocks noChangeArrowheads="1"/>
              </p:cNvSpPr>
              <p:nvPr/>
            </p:nvSpPr>
            <p:spPr bwMode="auto">
              <a:xfrm>
                <a:off x="3351" y="1632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4" name="Group 102"/>
            <p:cNvGrpSpPr/>
            <p:nvPr/>
          </p:nvGrpSpPr>
          <p:grpSpPr bwMode="auto">
            <a:xfrm>
              <a:off x="148" y="1637"/>
              <a:ext cx="684" cy="250"/>
              <a:chOff x="0" y="2016"/>
              <a:chExt cx="464" cy="384"/>
            </a:xfrm>
          </p:grpSpPr>
          <p:sp>
            <p:nvSpPr>
              <p:cNvPr id="283" name="Rectangle 103"/>
              <p:cNvSpPr>
                <a:spLocks noChangeArrowheads="1"/>
              </p:cNvSpPr>
              <p:nvPr/>
            </p:nvSpPr>
            <p:spPr bwMode="auto">
              <a:xfrm>
                <a:off x="11" y="2016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9.6k</a:t>
                </a:r>
              </a:p>
            </p:txBody>
          </p:sp>
          <p:sp>
            <p:nvSpPr>
              <p:cNvPr id="284" name="Rectangle 104"/>
              <p:cNvSpPr>
                <a:spLocks noChangeArrowheads="1"/>
              </p:cNvSpPr>
              <p:nvPr/>
            </p:nvSpPr>
            <p:spPr bwMode="auto">
              <a:xfrm>
                <a:off x="0" y="2016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105"/>
            <p:cNvGrpSpPr/>
            <p:nvPr/>
          </p:nvGrpSpPr>
          <p:grpSpPr bwMode="auto">
            <a:xfrm>
              <a:off x="832" y="1637"/>
              <a:ext cx="496" cy="250"/>
              <a:chOff x="464" y="2016"/>
              <a:chExt cx="336" cy="384"/>
            </a:xfrm>
          </p:grpSpPr>
          <p:sp>
            <p:nvSpPr>
              <p:cNvPr id="281" name="Rectangle 106"/>
              <p:cNvSpPr>
                <a:spLocks noChangeArrowheads="1"/>
              </p:cNvSpPr>
              <p:nvPr/>
            </p:nvSpPr>
            <p:spPr bwMode="auto">
              <a:xfrm>
                <a:off x="475" y="2016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2" name="Rectangle 107"/>
              <p:cNvSpPr>
                <a:spLocks noChangeArrowheads="1"/>
              </p:cNvSpPr>
              <p:nvPr/>
            </p:nvSpPr>
            <p:spPr bwMode="auto">
              <a:xfrm>
                <a:off x="464" y="2016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" name="Group 108"/>
            <p:cNvGrpSpPr/>
            <p:nvPr/>
          </p:nvGrpSpPr>
          <p:grpSpPr bwMode="auto">
            <a:xfrm>
              <a:off x="1328" y="1637"/>
              <a:ext cx="495" cy="250"/>
              <a:chOff x="800" y="2016"/>
              <a:chExt cx="336" cy="384"/>
            </a:xfrm>
          </p:grpSpPr>
          <p:sp>
            <p:nvSpPr>
              <p:cNvPr id="279" name="Rectangle 109"/>
              <p:cNvSpPr>
                <a:spLocks noChangeArrowheads="1"/>
              </p:cNvSpPr>
              <p:nvPr/>
            </p:nvSpPr>
            <p:spPr bwMode="auto">
              <a:xfrm>
                <a:off x="811" y="2016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Rectangle 110"/>
              <p:cNvSpPr>
                <a:spLocks noChangeArrowheads="1"/>
              </p:cNvSpPr>
              <p:nvPr/>
            </p:nvSpPr>
            <p:spPr bwMode="auto">
              <a:xfrm>
                <a:off x="800" y="2016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Group 111"/>
            <p:cNvGrpSpPr/>
            <p:nvPr/>
          </p:nvGrpSpPr>
          <p:grpSpPr bwMode="auto">
            <a:xfrm>
              <a:off x="1823" y="1637"/>
              <a:ext cx="487" cy="250"/>
              <a:chOff x="1136" y="2016"/>
              <a:chExt cx="330" cy="384"/>
            </a:xfrm>
          </p:grpSpPr>
          <p:sp>
            <p:nvSpPr>
              <p:cNvPr id="277" name="Rectangle 112"/>
              <p:cNvSpPr>
                <a:spLocks noChangeArrowheads="1"/>
              </p:cNvSpPr>
              <p:nvPr/>
            </p:nvSpPr>
            <p:spPr bwMode="auto">
              <a:xfrm>
                <a:off x="1147" y="2016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Rectangle 113"/>
              <p:cNvSpPr>
                <a:spLocks noChangeArrowheads="1"/>
              </p:cNvSpPr>
              <p:nvPr/>
            </p:nvSpPr>
            <p:spPr bwMode="auto">
              <a:xfrm>
                <a:off x="1136" y="2016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114"/>
            <p:cNvGrpSpPr/>
            <p:nvPr/>
          </p:nvGrpSpPr>
          <p:grpSpPr bwMode="auto">
            <a:xfrm>
              <a:off x="2310" y="1637"/>
              <a:ext cx="463" cy="250"/>
              <a:chOff x="1466" y="2016"/>
              <a:chExt cx="314" cy="384"/>
            </a:xfrm>
          </p:grpSpPr>
          <p:sp>
            <p:nvSpPr>
              <p:cNvPr id="275" name="Rectangle 115"/>
              <p:cNvSpPr>
                <a:spLocks noChangeArrowheads="1"/>
              </p:cNvSpPr>
              <p:nvPr/>
            </p:nvSpPr>
            <p:spPr bwMode="auto">
              <a:xfrm>
                <a:off x="1477" y="2016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Rectangle 116"/>
              <p:cNvSpPr>
                <a:spLocks noChangeArrowheads="1"/>
              </p:cNvSpPr>
              <p:nvPr/>
            </p:nvSpPr>
            <p:spPr bwMode="auto">
              <a:xfrm>
                <a:off x="1466" y="2016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9" name="Group 117"/>
            <p:cNvGrpSpPr/>
            <p:nvPr/>
          </p:nvGrpSpPr>
          <p:grpSpPr bwMode="auto">
            <a:xfrm>
              <a:off x="2773" y="1637"/>
              <a:ext cx="692" cy="250"/>
              <a:chOff x="1780" y="2016"/>
              <a:chExt cx="469" cy="384"/>
            </a:xfrm>
          </p:grpSpPr>
          <p:sp>
            <p:nvSpPr>
              <p:cNvPr id="273" name="Rectangle 118"/>
              <p:cNvSpPr>
                <a:spLocks noChangeArrowheads="1"/>
              </p:cNvSpPr>
              <p:nvPr/>
            </p:nvSpPr>
            <p:spPr bwMode="auto">
              <a:xfrm>
                <a:off x="1791" y="2016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Rectangle 119"/>
              <p:cNvSpPr>
                <a:spLocks noChangeArrowheads="1"/>
              </p:cNvSpPr>
              <p:nvPr/>
            </p:nvSpPr>
            <p:spPr bwMode="auto">
              <a:xfrm>
                <a:off x="1780" y="2016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0" name="Group 120"/>
            <p:cNvGrpSpPr/>
            <p:nvPr/>
          </p:nvGrpSpPr>
          <p:grpSpPr bwMode="auto">
            <a:xfrm>
              <a:off x="3465" y="1637"/>
              <a:ext cx="691" cy="250"/>
              <a:chOff x="2249" y="2016"/>
              <a:chExt cx="469" cy="384"/>
            </a:xfrm>
          </p:grpSpPr>
          <p:sp>
            <p:nvSpPr>
              <p:cNvPr id="271" name="Rectangle 121"/>
              <p:cNvSpPr>
                <a:spLocks noChangeArrowheads="1"/>
              </p:cNvSpPr>
              <p:nvPr/>
            </p:nvSpPr>
            <p:spPr bwMode="auto">
              <a:xfrm>
                <a:off x="2260" y="2016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Rectangle 122"/>
              <p:cNvSpPr>
                <a:spLocks noChangeArrowheads="1"/>
              </p:cNvSpPr>
              <p:nvPr/>
            </p:nvSpPr>
            <p:spPr bwMode="auto">
              <a:xfrm>
                <a:off x="2249" y="2016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123"/>
            <p:cNvGrpSpPr/>
            <p:nvPr/>
          </p:nvGrpSpPr>
          <p:grpSpPr bwMode="auto">
            <a:xfrm>
              <a:off x="4156" y="1637"/>
              <a:ext cx="440" cy="250"/>
              <a:chOff x="2718" y="2016"/>
              <a:chExt cx="298" cy="384"/>
            </a:xfrm>
          </p:grpSpPr>
          <p:sp>
            <p:nvSpPr>
              <p:cNvPr id="269" name="Rectangle 124"/>
              <p:cNvSpPr>
                <a:spLocks noChangeArrowheads="1"/>
              </p:cNvSpPr>
              <p:nvPr/>
            </p:nvSpPr>
            <p:spPr bwMode="auto">
              <a:xfrm>
                <a:off x="2729" y="2016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270" name="Rectangle 125"/>
              <p:cNvSpPr>
                <a:spLocks noChangeArrowheads="1"/>
              </p:cNvSpPr>
              <p:nvPr/>
            </p:nvSpPr>
            <p:spPr bwMode="auto">
              <a:xfrm>
                <a:off x="2718" y="2016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Group 126"/>
            <p:cNvGrpSpPr/>
            <p:nvPr/>
          </p:nvGrpSpPr>
          <p:grpSpPr bwMode="auto">
            <a:xfrm>
              <a:off x="4596" y="1637"/>
              <a:ext cx="494" cy="250"/>
              <a:chOff x="3016" y="2016"/>
              <a:chExt cx="335" cy="384"/>
            </a:xfrm>
          </p:grpSpPr>
          <p:sp>
            <p:nvSpPr>
              <p:cNvPr id="267" name="Rectangle 127"/>
              <p:cNvSpPr>
                <a:spLocks noChangeArrowheads="1"/>
              </p:cNvSpPr>
              <p:nvPr/>
            </p:nvSpPr>
            <p:spPr bwMode="auto">
              <a:xfrm>
                <a:off x="3027" y="2016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68" name="Rectangle 128"/>
              <p:cNvSpPr>
                <a:spLocks noChangeArrowheads="1"/>
              </p:cNvSpPr>
              <p:nvPr/>
            </p:nvSpPr>
            <p:spPr bwMode="auto">
              <a:xfrm>
                <a:off x="3016" y="2016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3" name="Group 129"/>
            <p:cNvGrpSpPr/>
            <p:nvPr/>
          </p:nvGrpSpPr>
          <p:grpSpPr bwMode="auto">
            <a:xfrm>
              <a:off x="5090" y="1637"/>
              <a:ext cx="553" cy="250"/>
              <a:chOff x="3351" y="2016"/>
              <a:chExt cx="375" cy="384"/>
            </a:xfrm>
          </p:grpSpPr>
          <p:sp>
            <p:nvSpPr>
              <p:cNvPr id="265" name="Rectangle 130"/>
              <p:cNvSpPr>
                <a:spLocks noChangeArrowheads="1"/>
              </p:cNvSpPr>
              <p:nvPr/>
            </p:nvSpPr>
            <p:spPr bwMode="auto">
              <a:xfrm>
                <a:off x="3362" y="2016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FDH</a:t>
                </a:r>
              </a:p>
            </p:txBody>
          </p:sp>
          <p:sp>
            <p:nvSpPr>
              <p:cNvPr id="266" name="Rectangle 131"/>
              <p:cNvSpPr>
                <a:spLocks noChangeArrowheads="1"/>
              </p:cNvSpPr>
              <p:nvPr/>
            </p:nvSpPr>
            <p:spPr bwMode="auto">
              <a:xfrm>
                <a:off x="3351" y="2016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132"/>
            <p:cNvGrpSpPr/>
            <p:nvPr/>
          </p:nvGrpSpPr>
          <p:grpSpPr bwMode="auto">
            <a:xfrm>
              <a:off x="148" y="1887"/>
              <a:ext cx="684" cy="250"/>
              <a:chOff x="0" y="2400"/>
              <a:chExt cx="464" cy="384"/>
            </a:xfrm>
          </p:grpSpPr>
          <p:sp>
            <p:nvSpPr>
              <p:cNvPr id="263" name="Rectangle 133"/>
              <p:cNvSpPr>
                <a:spLocks noChangeArrowheads="1"/>
              </p:cNvSpPr>
              <p:nvPr/>
            </p:nvSpPr>
            <p:spPr bwMode="auto">
              <a:xfrm>
                <a:off x="11" y="2400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4.8k</a:t>
                </a:r>
              </a:p>
            </p:txBody>
          </p:sp>
          <p:sp>
            <p:nvSpPr>
              <p:cNvPr id="264" name="Rectangle 134"/>
              <p:cNvSpPr>
                <a:spLocks noChangeArrowheads="1"/>
              </p:cNvSpPr>
              <p:nvPr/>
            </p:nvSpPr>
            <p:spPr bwMode="auto">
              <a:xfrm>
                <a:off x="0" y="2400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5" name="Group 135"/>
            <p:cNvGrpSpPr/>
            <p:nvPr/>
          </p:nvGrpSpPr>
          <p:grpSpPr bwMode="auto">
            <a:xfrm>
              <a:off x="832" y="1887"/>
              <a:ext cx="496" cy="250"/>
              <a:chOff x="464" y="2400"/>
              <a:chExt cx="336" cy="384"/>
            </a:xfrm>
          </p:grpSpPr>
          <p:sp>
            <p:nvSpPr>
              <p:cNvPr id="261" name="Rectangle 136"/>
              <p:cNvSpPr>
                <a:spLocks noChangeArrowheads="1"/>
              </p:cNvSpPr>
              <p:nvPr/>
            </p:nvSpPr>
            <p:spPr bwMode="auto">
              <a:xfrm>
                <a:off x="475" y="2400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Rectangle 137"/>
              <p:cNvSpPr>
                <a:spLocks noChangeArrowheads="1"/>
              </p:cNvSpPr>
              <p:nvPr/>
            </p:nvSpPr>
            <p:spPr bwMode="auto">
              <a:xfrm>
                <a:off x="464" y="2400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Group 138"/>
            <p:cNvGrpSpPr/>
            <p:nvPr/>
          </p:nvGrpSpPr>
          <p:grpSpPr bwMode="auto">
            <a:xfrm>
              <a:off x="1328" y="1887"/>
              <a:ext cx="495" cy="250"/>
              <a:chOff x="800" y="2400"/>
              <a:chExt cx="336" cy="384"/>
            </a:xfrm>
          </p:grpSpPr>
          <p:sp>
            <p:nvSpPr>
              <p:cNvPr id="259" name="Rectangle 139"/>
              <p:cNvSpPr>
                <a:spLocks noChangeArrowheads="1"/>
              </p:cNvSpPr>
              <p:nvPr/>
            </p:nvSpPr>
            <p:spPr bwMode="auto">
              <a:xfrm>
                <a:off x="811" y="2400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Rectangle 140"/>
              <p:cNvSpPr>
                <a:spLocks noChangeArrowheads="1"/>
              </p:cNvSpPr>
              <p:nvPr/>
            </p:nvSpPr>
            <p:spPr bwMode="auto">
              <a:xfrm>
                <a:off x="800" y="2400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141"/>
            <p:cNvGrpSpPr/>
            <p:nvPr/>
          </p:nvGrpSpPr>
          <p:grpSpPr bwMode="auto">
            <a:xfrm>
              <a:off x="1823" y="1887"/>
              <a:ext cx="487" cy="250"/>
              <a:chOff x="1136" y="2400"/>
              <a:chExt cx="330" cy="384"/>
            </a:xfrm>
          </p:grpSpPr>
          <p:sp>
            <p:nvSpPr>
              <p:cNvPr id="257" name="Rectangle 142"/>
              <p:cNvSpPr>
                <a:spLocks noChangeArrowheads="1"/>
              </p:cNvSpPr>
              <p:nvPr/>
            </p:nvSpPr>
            <p:spPr bwMode="auto">
              <a:xfrm>
                <a:off x="1147" y="2400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</a:t>
                </a:r>
              </a:p>
              <a:p>
                <a:pPr algn="ctr">
                  <a:defRPr/>
                </a:pP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Rectangle 143"/>
              <p:cNvSpPr>
                <a:spLocks noChangeArrowheads="1"/>
              </p:cNvSpPr>
              <p:nvPr/>
            </p:nvSpPr>
            <p:spPr bwMode="auto">
              <a:xfrm>
                <a:off x="1136" y="2400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8" name="Group 144"/>
            <p:cNvGrpSpPr/>
            <p:nvPr/>
          </p:nvGrpSpPr>
          <p:grpSpPr bwMode="auto">
            <a:xfrm>
              <a:off x="2310" y="1887"/>
              <a:ext cx="463" cy="250"/>
              <a:chOff x="1466" y="2400"/>
              <a:chExt cx="314" cy="384"/>
            </a:xfrm>
          </p:grpSpPr>
          <p:sp>
            <p:nvSpPr>
              <p:cNvPr id="255" name="Rectangle 145"/>
              <p:cNvSpPr>
                <a:spLocks noChangeArrowheads="1"/>
              </p:cNvSpPr>
              <p:nvPr/>
            </p:nvSpPr>
            <p:spPr bwMode="auto">
              <a:xfrm>
                <a:off x="1477" y="2400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256" name="Rectangle 146"/>
              <p:cNvSpPr>
                <a:spLocks noChangeArrowheads="1"/>
              </p:cNvSpPr>
              <p:nvPr/>
            </p:nvSpPr>
            <p:spPr bwMode="auto">
              <a:xfrm>
                <a:off x="1466" y="2400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9" name="Group 147"/>
            <p:cNvGrpSpPr/>
            <p:nvPr/>
          </p:nvGrpSpPr>
          <p:grpSpPr bwMode="auto">
            <a:xfrm>
              <a:off x="2773" y="1887"/>
              <a:ext cx="692" cy="250"/>
              <a:chOff x="1780" y="2400"/>
              <a:chExt cx="469" cy="384"/>
            </a:xfrm>
          </p:grpSpPr>
          <p:sp>
            <p:nvSpPr>
              <p:cNvPr id="253" name="Rectangle 148"/>
              <p:cNvSpPr>
                <a:spLocks noChangeArrowheads="1"/>
              </p:cNvSpPr>
              <p:nvPr/>
            </p:nvSpPr>
            <p:spPr bwMode="auto">
              <a:xfrm>
                <a:off x="1791" y="2400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54" name="Rectangle 149"/>
              <p:cNvSpPr>
                <a:spLocks noChangeArrowheads="1"/>
              </p:cNvSpPr>
              <p:nvPr/>
            </p:nvSpPr>
            <p:spPr bwMode="auto">
              <a:xfrm>
                <a:off x="1780" y="2400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150"/>
            <p:cNvGrpSpPr/>
            <p:nvPr/>
          </p:nvGrpSpPr>
          <p:grpSpPr bwMode="auto">
            <a:xfrm>
              <a:off x="3465" y="1887"/>
              <a:ext cx="691" cy="250"/>
              <a:chOff x="2249" y="2400"/>
              <a:chExt cx="469" cy="384"/>
            </a:xfrm>
          </p:grpSpPr>
          <p:sp>
            <p:nvSpPr>
              <p:cNvPr id="251" name="Rectangle 151"/>
              <p:cNvSpPr>
                <a:spLocks noChangeArrowheads="1"/>
              </p:cNvSpPr>
              <p:nvPr/>
            </p:nvSpPr>
            <p:spPr bwMode="auto">
              <a:xfrm>
                <a:off x="2260" y="2400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F3H</a:t>
                </a:r>
              </a:p>
            </p:txBody>
          </p:sp>
          <p:sp>
            <p:nvSpPr>
              <p:cNvPr id="252" name="Rectangle 152"/>
              <p:cNvSpPr>
                <a:spLocks noChangeArrowheads="1"/>
              </p:cNvSpPr>
              <p:nvPr/>
            </p:nvSpPr>
            <p:spPr bwMode="auto">
              <a:xfrm>
                <a:off x="2249" y="2400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Group 153"/>
            <p:cNvGrpSpPr/>
            <p:nvPr/>
          </p:nvGrpSpPr>
          <p:grpSpPr bwMode="auto">
            <a:xfrm>
              <a:off x="4156" y="1887"/>
              <a:ext cx="440" cy="250"/>
              <a:chOff x="2718" y="2400"/>
              <a:chExt cx="298" cy="384"/>
            </a:xfrm>
          </p:grpSpPr>
          <p:sp>
            <p:nvSpPr>
              <p:cNvPr id="249" name="Rectangle 154"/>
              <p:cNvSpPr>
                <a:spLocks noChangeArrowheads="1"/>
              </p:cNvSpPr>
              <p:nvPr/>
            </p:nvSpPr>
            <p:spPr bwMode="auto">
              <a:xfrm>
                <a:off x="2729" y="2400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250" name="Rectangle 155"/>
              <p:cNvSpPr>
                <a:spLocks noChangeArrowheads="1"/>
              </p:cNvSpPr>
              <p:nvPr/>
            </p:nvSpPr>
            <p:spPr bwMode="auto">
              <a:xfrm>
                <a:off x="2718" y="2400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2" name="Group 156"/>
            <p:cNvGrpSpPr/>
            <p:nvPr/>
          </p:nvGrpSpPr>
          <p:grpSpPr bwMode="auto">
            <a:xfrm>
              <a:off x="4596" y="1887"/>
              <a:ext cx="494" cy="250"/>
              <a:chOff x="3016" y="2400"/>
              <a:chExt cx="335" cy="384"/>
            </a:xfrm>
          </p:grpSpPr>
          <p:sp>
            <p:nvSpPr>
              <p:cNvPr id="247" name="Rectangle 157"/>
              <p:cNvSpPr>
                <a:spLocks noChangeArrowheads="1"/>
              </p:cNvSpPr>
              <p:nvPr/>
            </p:nvSpPr>
            <p:spPr bwMode="auto">
              <a:xfrm>
                <a:off x="3027" y="2400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48" name="Rectangle 158"/>
              <p:cNvSpPr>
                <a:spLocks noChangeArrowheads="1"/>
              </p:cNvSpPr>
              <p:nvPr/>
            </p:nvSpPr>
            <p:spPr bwMode="auto">
              <a:xfrm>
                <a:off x="3016" y="2400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159"/>
            <p:cNvGrpSpPr/>
            <p:nvPr/>
          </p:nvGrpSpPr>
          <p:grpSpPr bwMode="auto">
            <a:xfrm>
              <a:off x="5090" y="1887"/>
              <a:ext cx="553" cy="250"/>
              <a:chOff x="3351" y="2400"/>
              <a:chExt cx="375" cy="384"/>
            </a:xfrm>
          </p:grpSpPr>
          <p:sp>
            <p:nvSpPr>
              <p:cNvPr id="245" name="Rectangle 160"/>
              <p:cNvSpPr>
                <a:spLocks noChangeArrowheads="1"/>
              </p:cNvSpPr>
              <p:nvPr/>
            </p:nvSpPr>
            <p:spPr bwMode="auto">
              <a:xfrm>
                <a:off x="3362" y="2400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FAH</a:t>
                </a:r>
              </a:p>
            </p:txBody>
          </p:sp>
          <p:sp>
            <p:nvSpPr>
              <p:cNvPr id="246" name="Rectangle 161"/>
              <p:cNvSpPr>
                <a:spLocks noChangeArrowheads="1"/>
              </p:cNvSpPr>
              <p:nvPr/>
            </p:nvSpPr>
            <p:spPr bwMode="auto">
              <a:xfrm>
                <a:off x="3351" y="2400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" name="Group 162"/>
            <p:cNvGrpSpPr/>
            <p:nvPr/>
          </p:nvGrpSpPr>
          <p:grpSpPr bwMode="auto">
            <a:xfrm>
              <a:off x="148" y="2137"/>
              <a:ext cx="684" cy="250"/>
              <a:chOff x="0" y="2784"/>
              <a:chExt cx="464" cy="384"/>
            </a:xfrm>
          </p:grpSpPr>
          <p:sp>
            <p:nvSpPr>
              <p:cNvPr id="243" name="Rectangle 163"/>
              <p:cNvSpPr>
                <a:spLocks noChangeArrowheads="1"/>
              </p:cNvSpPr>
              <p:nvPr/>
            </p:nvSpPr>
            <p:spPr bwMode="auto">
              <a:xfrm>
                <a:off x="11" y="2784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2.4k</a:t>
                </a:r>
              </a:p>
            </p:txBody>
          </p:sp>
          <p:sp>
            <p:nvSpPr>
              <p:cNvPr id="244" name="Rectangle 164"/>
              <p:cNvSpPr>
                <a:spLocks noChangeArrowheads="1"/>
              </p:cNvSpPr>
              <p:nvPr/>
            </p:nvSpPr>
            <p:spPr bwMode="auto">
              <a:xfrm>
                <a:off x="0" y="2784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" name="Group 165"/>
            <p:cNvGrpSpPr/>
            <p:nvPr/>
          </p:nvGrpSpPr>
          <p:grpSpPr bwMode="auto">
            <a:xfrm>
              <a:off x="832" y="2137"/>
              <a:ext cx="496" cy="250"/>
              <a:chOff x="464" y="2784"/>
              <a:chExt cx="336" cy="384"/>
            </a:xfrm>
          </p:grpSpPr>
          <p:sp>
            <p:nvSpPr>
              <p:cNvPr id="241" name="Rectangle 166"/>
              <p:cNvSpPr>
                <a:spLocks noChangeArrowheads="1"/>
              </p:cNvSpPr>
              <p:nvPr/>
            </p:nvSpPr>
            <p:spPr bwMode="auto">
              <a:xfrm>
                <a:off x="475" y="2784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242" name="Rectangle 167"/>
              <p:cNvSpPr>
                <a:spLocks noChangeArrowheads="1"/>
              </p:cNvSpPr>
              <p:nvPr/>
            </p:nvSpPr>
            <p:spPr bwMode="auto">
              <a:xfrm>
                <a:off x="464" y="2784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168"/>
            <p:cNvGrpSpPr/>
            <p:nvPr/>
          </p:nvGrpSpPr>
          <p:grpSpPr bwMode="auto">
            <a:xfrm>
              <a:off x="1328" y="2137"/>
              <a:ext cx="495" cy="250"/>
              <a:chOff x="800" y="2784"/>
              <a:chExt cx="336" cy="384"/>
            </a:xfrm>
          </p:grpSpPr>
          <p:sp>
            <p:nvSpPr>
              <p:cNvPr id="239" name="Rectangle 169"/>
              <p:cNvSpPr>
                <a:spLocks noChangeArrowheads="1"/>
              </p:cNvSpPr>
              <p:nvPr/>
            </p:nvSpPr>
            <p:spPr bwMode="auto">
              <a:xfrm>
                <a:off x="811" y="2784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40" name="Rectangle 170"/>
              <p:cNvSpPr>
                <a:spLocks noChangeArrowheads="1"/>
              </p:cNvSpPr>
              <p:nvPr/>
            </p:nvSpPr>
            <p:spPr bwMode="auto">
              <a:xfrm>
                <a:off x="800" y="2784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" name="Group 171"/>
            <p:cNvGrpSpPr/>
            <p:nvPr/>
          </p:nvGrpSpPr>
          <p:grpSpPr bwMode="auto">
            <a:xfrm>
              <a:off x="1823" y="2137"/>
              <a:ext cx="487" cy="250"/>
              <a:chOff x="1136" y="2784"/>
              <a:chExt cx="330" cy="384"/>
            </a:xfrm>
          </p:grpSpPr>
          <p:sp>
            <p:nvSpPr>
              <p:cNvPr id="237" name="Rectangle 172"/>
              <p:cNvSpPr>
                <a:spLocks noChangeArrowheads="1"/>
              </p:cNvSpPr>
              <p:nvPr/>
            </p:nvSpPr>
            <p:spPr bwMode="auto">
              <a:xfrm>
                <a:off x="1147" y="2784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F3H</a:t>
                </a:r>
              </a:p>
            </p:txBody>
          </p:sp>
          <p:sp>
            <p:nvSpPr>
              <p:cNvPr id="238" name="Rectangle 173"/>
              <p:cNvSpPr>
                <a:spLocks noChangeArrowheads="1"/>
              </p:cNvSpPr>
              <p:nvPr/>
            </p:nvSpPr>
            <p:spPr bwMode="auto">
              <a:xfrm>
                <a:off x="1136" y="2784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8" name="Group 174"/>
            <p:cNvGrpSpPr/>
            <p:nvPr/>
          </p:nvGrpSpPr>
          <p:grpSpPr bwMode="auto">
            <a:xfrm>
              <a:off x="2310" y="2137"/>
              <a:ext cx="463" cy="250"/>
              <a:chOff x="1466" y="2784"/>
              <a:chExt cx="314" cy="384"/>
            </a:xfrm>
          </p:grpSpPr>
          <p:sp>
            <p:nvSpPr>
              <p:cNvPr id="235" name="Rectangle 175"/>
              <p:cNvSpPr>
                <a:spLocks noChangeArrowheads="1"/>
              </p:cNvSpPr>
              <p:nvPr/>
            </p:nvSpPr>
            <p:spPr bwMode="auto">
              <a:xfrm>
                <a:off x="1477" y="2784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Rectangle 176"/>
              <p:cNvSpPr>
                <a:spLocks noChangeArrowheads="1"/>
              </p:cNvSpPr>
              <p:nvPr/>
            </p:nvSpPr>
            <p:spPr bwMode="auto">
              <a:xfrm>
                <a:off x="1466" y="2784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177"/>
            <p:cNvGrpSpPr/>
            <p:nvPr/>
          </p:nvGrpSpPr>
          <p:grpSpPr bwMode="auto">
            <a:xfrm>
              <a:off x="2773" y="2137"/>
              <a:ext cx="692" cy="250"/>
              <a:chOff x="1780" y="2784"/>
              <a:chExt cx="469" cy="384"/>
            </a:xfrm>
          </p:grpSpPr>
          <p:sp>
            <p:nvSpPr>
              <p:cNvPr id="233" name="Rectangle 178"/>
              <p:cNvSpPr>
                <a:spLocks noChangeArrowheads="1"/>
              </p:cNvSpPr>
              <p:nvPr/>
            </p:nvSpPr>
            <p:spPr bwMode="auto">
              <a:xfrm>
                <a:off x="1791" y="2784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34" name="Rectangle 179"/>
              <p:cNvSpPr>
                <a:spLocks noChangeArrowheads="1"/>
              </p:cNvSpPr>
              <p:nvPr/>
            </p:nvSpPr>
            <p:spPr bwMode="auto">
              <a:xfrm>
                <a:off x="1780" y="2784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Group 180"/>
            <p:cNvGrpSpPr/>
            <p:nvPr/>
          </p:nvGrpSpPr>
          <p:grpSpPr bwMode="auto">
            <a:xfrm>
              <a:off x="3465" y="2137"/>
              <a:ext cx="691" cy="250"/>
              <a:chOff x="2249" y="2784"/>
              <a:chExt cx="469" cy="384"/>
            </a:xfrm>
          </p:grpSpPr>
          <p:sp>
            <p:nvSpPr>
              <p:cNvPr id="231" name="Rectangle 181"/>
              <p:cNvSpPr>
                <a:spLocks noChangeArrowheads="1"/>
              </p:cNvSpPr>
              <p:nvPr/>
            </p:nvSpPr>
            <p:spPr bwMode="auto">
              <a:xfrm>
                <a:off x="2260" y="2784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F3H</a:t>
                </a:r>
              </a:p>
            </p:txBody>
          </p:sp>
          <p:sp>
            <p:nvSpPr>
              <p:cNvPr id="232" name="Rectangle 182"/>
              <p:cNvSpPr>
                <a:spLocks noChangeArrowheads="1"/>
              </p:cNvSpPr>
              <p:nvPr/>
            </p:nvSpPr>
            <p:spPr bwMode="auto">
              <a:xfrm>
                <a:off x="2249" y="2784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1" name="Group 183"/>
            <p:cNvGrpSpPr/>
            <p:nvPr/>
          </p:nvGrpSpPr>
          <p:grpSpPr bwMode="auto">
            <a:xfrm>
              <a:off x="4156" y="2137"/>
              <a:ext cx="440" cy="250"/>
              <a:chOff x="2718" y="2784"/>
              <a:chExt cx="298" cy="384"/>
            </a:xfrm>
          </p:grpSpPr>
          <p:sp>
            <p:nvSpPr>
              <p:cNvPr id="229" name="Rectangle 184"/>
              <p:cNvSpPr>
                <a:spLocks noChangeArrowheads="1"/>
              </p:cNvSpPr>
              <p:nvPr/>
            </p:nvSpPr>
            <p:spPr bwMode="auto">
              <a:xfrm>
                <a:off x="2729" y="2784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230" name="Rectangle 185"/>
              <p:cNvSpPr>
                <a:spLocks noChangeArrowheads="1"/>
              </p:cNvSpPr>
              <p:nvPr/>
            </p:nvSpPr>
            <p:spPr bwMode="auto">
              <a:xfrm>
                <a:off x="2718" y="2784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186"/>
            <p:cNvGrpSpPr/>
            <p:nvPr/>
          </p:nvGrpSpPr>
          <p:grpSpPr bwMode="auto">
            <a:xfrm>
              <a:off x="4596" y="2137"/>
              <a:ext cx="494" cy="250"/>
              <a:chOff x="3016" y="2784"/>
              <a:chExt cx="335" cy="384"/>
            </a:xfrm>
          </p:grpSpPr>
          <p:sp>
            <p:nvSpPr>
              <p:cNvPr id="227" name="Rectangle 187"/>
              <p:cNvSpPr>
                <a:spLocks noChangeArrowheads="1"/>
              </p:cNvSpPr>
              <p:nvPr/>
            </p:nvSpPr>
            <p:spPr bwMode="auto">
              <a:xfrm>
                <a:off x="3027" y="2784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28" name="Rectangle 188"/>
              <p:cNvSpPr>
                <a:spLocks noChangeArrowheads="1"/>
              </p:cNvSpPr>
              <p:nvPr/>
            </p:nvSpPr>
            <p:spPr bwMode="auto">
              <a:xfrm>
                <a:off x="3016" y="2784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Group 189"/>
            <p:cNvGrpSpPr/>
            <p:nvPr/>
          </p:nvGrpSpPr>
          <p:grpSpPr bwMode="auto">
            <a:xfrm>
              <a:off x="5090" y="2137"/>
              <a:ext cx="553" cy="250"/>
              <a:chOff x="3351" y="2784"/>
              <a:chExt cx="375" cy="384"/>
            </a:xfrm>
          </p:grpSpPr>
          <p:sp>
            <p:nvSpPr>
              <p:cNvPr id="225" name="Rectangle 190"/>
              <p:cNvSpPr>
                <a:spLocks noChangeArrowheads="1"/>
              </p:cNvSpPr>
              <p:nvPr/>
            </p:nvSpPr>
            <p:spPr bwMode="auto">
              <a:xfrm>
                <a:off x="3362" y="2784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F4H</a:t>
                </a:r>
              </a:p>
            </p:txBody>
          </p:sp>
          <p:sp>
            <p:nvSpPr>
              <p:cNvPr id="226" name="Rectangle 191"/>
              <p:cNvSpPr>
                <a:spLocks noChangeArrowheads="1"/>
              </p:cNvSpPr>
              <p:nvPr/>
            </p:nvSpPr>
            <p:spPr bwMode="auto">
              <a:xfrm>
                <a:off x="3351" y="2784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Group 192"/>
            <p:cNvGrpSpPr/>
            <p:nvPr/>
          </p:nvGrpSpPr>
          <p:grpSpPr bwMode="auto">
            <a:xfrm>
              <a:off x="148" y="2387"/>
              <a:ext cx="684" cy="250"/>
              <a:chOff x="0" y="3168"/>
              <a:chExt cx="464" cy="384"/>
            </a:xfrm>
          </p:grpSpPr>
          <p:sp>
            <p:nvSpPr>
              <p:cNvPr id="223" name="Rectangle 193"/>
              <p:cNvSpPr>
                <a:spLocks noChangeArrowheads="1"/>
              </p:cNvSpPr>
              <p:nvPr/>
            </p:nvSpPr>
            <p:spPr bwMode="auto">
              <a:xfrm>
                <a:off x="11" y="3168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1.2k</a:t>
                </a:r>
              </a:p>
            </p:txBody>
          </p:sp>
          <p:sp>
            <p:nvSpPr>
              <p:cNvPr id="224" name="Rectangle 194"/>
              <p:cNvSpPr>
                <a:spLocks noChangeArrowheads="1"/>
              </p:cNvSpPr>
              <p:nvPr/>
            </p:nvSpPr>
            <p:spPr bwMode="auto">
              <a:xfrm>
                <a:off x="0" y="3168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195"/>
            <p:cNvGrpSpPr/>
            <p:nvPr/>
          </p:nvGrpSpPr>
          <p:grpSpPr bwMode="auto">
            <a:xfrm>
              <a:off x="832" y="2387"/>
              <a:ext cx="496" cy="250"/>
              <a:chOff x="464" y="3168"/>
              <a:chExt cx="336" cy="384"/>
            </a:xfrm>
          </p:grpSpPr>
          <p:sp>
            <p:nvSpPr>
              <p:cNvPr id="221" name="Rectangle 196"/>
              <p:cNvSpPr>
                <a:spLocks noChangeArrowheads="1"/>
              </p:cNvSpPr>
              <p:nvPr/>
            </p:nvSpPr>
            <p:spPr bwMode="auto">
              <a:xfrm>
                <a:off x="475" y="3168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222" name="Rectangle 197"/>
              <p:cNvSpPr>
                <a:spLocks noChangeArrowheads="1"/>
              </p:cNvSpPr>
              <p:nvPr/>
            </p:nvSpPr>
            <p:spPr bwMode="auto">
              <a:xfrm>
                <a:off x="464" y="3168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6" name="Group 198"/>
            <p:cNvGrpSpPr/>
            <p:nvPr/>
          </p:nvGrpSpPr>
          <p:grpSpPr bwMode="auto">
            <a:xfrm>
              <a:off x="1328" y="2387"/>
              <a:ext cx="495" cy="250"/>
              <a:chOff x="800" y="3168"/>
              <a:chExt cx="336" cy="384"/>
            </a:xfrm>
          </p:grpSpPr>
          <p:sp>
            <p:nvSpPr>
              <p:cNvPr id="219" name="Rectangle 199"/>
              <p:cNvSpPr>
                <a:spLocks noChangeArrowheads="1"/>
              </p:cNvSpPr>
              <p:nvPr/>
            </p:nvSpPr>
            <p:spPr bwMode="auto">
              <a:xfrm>
                <a:off x="811" y="3168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20" name="Rectangle 200"/>
              <p:cNvSpPr>
                <a:spLocks noChangeArrowheads="1"/>
              </p:cNvSpPr>
              <p:nvPr/>
            </p:nvSpPr>
            <p:spPr bwMode="auto">
              <a:xfrm>
                <a:off x="800" y="3168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7" name="Group 201"/>
            <p:cNvGrpSpPr/>
            <p:nvPr/>
          </p:nvGrpSpPr>
          <p:grpSpPr bwMode="auto">
            <a:xfrm>
              <a:off x="1823" y="2387"/>
              <a:ext cx="487" cy="250"/>
              <a:chOff x="1136" y="3168"/>
              <a:chExt cx="330" cy="384"/>
            </a:xfrm>
          </p:grpSpPr>
          <p:sp>
            <p:nvSpPr>
              <p:cNvPr id="217" name="Rectangle 202"/>
              <p:cNvSpPr>
                <a:spLocks noChangeArrowheads="1"/>
              </p:cNvSpPr>
              <p:nvPr/>
            </p:nvSpPr>
            <p:spPr bwMode="auto">
              <a:xfrm>
                <a:off x="1147" y="3168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E6H</a:t>
                </a:r>
              </a:p>
            </p:txBody>
          </p:sp>
          <p:sp>
            <p:nvSpPr>
              <p:cNvPr id="218" name="Rectangle 203"/>
              <p:cNvSpPr>
                <a:spLocks noChangeArrowheads="1"/>
              </p:cNvSpPr>
              <p:nvPr/>
            </p:nvSpPr>
            <p:spPr bwMode="auto">
              <a:xfrm>
                <a:off x="1136" y="3168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8" name="Group 204"/>
            <p:cNvGrpSpPr/>
            <p:nvPr/>
          </p:nvGrpSpPr>
          <p:grpSpPr bwMode="auto">
            <a:xfrm>
              <a:off x="2310" y="2387"/>
              <a:ext cx="463" cy="250"/>
              <a:chOff x="1466" y="3168"/>
              <a:chExt cx="314" cy="384"/>
            </a:xfrm>
          </p:grpSpPr>
          <p:sp>
            <p:nvSpPr>
              <p:cNvPr id="215" name="Rectangle 205"/>
              <p:cNvSpPr>
                <a:spLocks noChangeArrowheads="1"/>
              </p:cNvSpPr>
              <p:nvPr/>
            </p:nvSpPr>
            <p:spPr bwMode="auto">
              <a:xfrm>
                <a:off x="1477" y="3168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216" name="Rectangle 206"/>
              <p:cNvSpPr>
                <a:spLocks noChangeArrowheads="1"/>
              </p:cNvSpPr>
              <p:nvPr/>
            </p:nvSpPr>
            <p:spPr bwMode="auto">
              <a:xfrm>
                <a:off x="1466" y="3168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207"/>
            <p:cNvGrpSpPr/>
            <p:nvPr/>
          </p:nvGrpSpPr>
          <p:grpSpPr bwMode="auto">
            <a:xfrm>
              <a:off x="2773" y="2387"/>
              <a:ext cx="692" cy="250"/>
              <a:chOff x="1780" y="3168"/>
              <a:chExt cx="469" cy="384"/>
            </a:xfrm>
          </p:grpSpPr>
          <p:sp>
            <p:nvSpPr>
              <p:cNvPr id="213" name="Rectangle 208"/>
              <p:cNvSpPr>
                <a:spLocks noChangeArrowheads="1"/>
              </p:cNvSpPr>
              <p:nvPr/>
            </p:nvSpPr>
            <p:spPr bwMode="auto">
              <a:xfrm>
                <a:off x="1791" y="3168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14" name="Rectangle 209"/>
              <p:cNvSpPr>
                <a:spLocks noChangeArrowheads="1"/>
              </p:cNvSpPr>
              <p:nvPr/>
            </p:nvSpPr>
            <p:spPr bwMode="auto">
              <a:xfrm>
                <a:off x="1780" y="3168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0" name="Group 210"/>
            <p:cNvGrpSpPr/>
            <p:nvPr/>
          </p:nvGrpSpPr>
          <p:grpSpPr bwMode="auto">
            <a:xfrm>
              <a:off x="3465" y="2387"/>
              <a:ext cx="691" cy="250"/>
              <a:chOff x="2249" y="3168"/>
              <a:chExt cx="469" cy="384"/>
            </a:xfrm>
          </p:grpSpPr>
          <p:sp>
            <p:nvSpPr>
              <p:cNvPr id="211" name="Rectangle 211"/>
              <p:cNvSpPr>
                <a:spLocks noChangeArrowheads="1"/>
              </p:cNvSpPr>
              <p:nvPr/>
            </p:nvSpPr>
            <p:spPr bwMode="auto">
              <a:xfrm>
                <a:off x="2260" y="3168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E6H</a:t>
                </a:r>
              </a:p>
            </p:txBody>
          </p:sp>
          <p:sp>
            <p:nvSpPr>
              <p:cNvPr id="212" name="Rectangle 212"/>
              <p:cNvSpPr>
                <a:spLocks noChangeArrowheads="1"/>
              </p:cNvSpPr>
              <p:nvPr/>
            </p:nvSpPr>
            <p:spPr bwMode="auto">
              <a:xfrm>
                <a:off x="2249" y="3168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213"/>
            <p:cNvGrpSpPr/>
            <p:nvPr/>
          </p:nvGrpSpPr>
          <p:grpSpPr bwMode="auto">
            <a:xfrm>
              <a:off x="4156" y="2387"/>
              <a:ext cx="440" cy="250"/>
              <a:chOff x="2718" y="3168"/>
              <a:chExt cx="298" cy="384"/>
            </a:xfrm>
          </p:grpSpPr>
          <p:sp>
            <p:nvSpPr>
              <p:cNvPr id="209" name="Rectangle 214"/>
              <p:cNvSpPr>
                <a:spLocks noChangeArrowheads="1"/>
              </p:cNvSpPr>
              <p:nvPr/>
            </p:nvSpPr>
            <p:spPr bwMode="auto">
              <a:xfrm>
                <a:off x="2729" y="3168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210" name="Rectangle 215"/>
              <p:cNvSpPr>
                <a:spLocks noChangeArrowheads="1"/>
              </p:cNvSpPr>
              <p:nvPr/>
            </p:nvSpPr>
            <p:spPr bwMode="auto">
              <a:xfrm>
                <a:off x="2718" y="3168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216"/>
            <p:cNvGrpSpPr/>
            <p:nvPr/>
          </p:nvGrpSpPr>
          <p:grpSpPr bwMode="auto">
            <a:xfrm>
              <a:off x="4596" y="2387"/>
              <a:ext cx="494" cy="250"/>
              <a:chOff x="3016" y="3168"/>
              <a:chExt cx="335" cy="384"/>
            </a:xfrm>
          </p:grpSpPr>
          <p:sp>
            <p:nvSpPr>
              <p:cNvPr id="207" name="Rectangle 217"/>
              <p:cNvSpPr>
                <a:spLocks noChangeArrowheads="1"/>
              </p:cNvSpPr>
              <p:nvPr/>
            </p:nvSpPr>
            <p:spPr bwMode="auto">
              <a:xfrm>
                <a:off x="3027" y="3168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08" name="Rectangle 218"/>
              <p:cNvSpPr>
                <a:spLocks noChangeArrowheads="1"/>
              </p:cNvSpPr>
              <p:nvPr/>
            </p:nvSpPr>
            <p:spPr bwMode="auto">
              <a:xfrm>
                <a:off x="3016" y="3168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3" name="Group 219"/>
            <p:cNvGrpSpPr/>
            <p:nvPr/>
          </p:nvGrpSpPr>
          <p:grpSpPr bwMode="auto">
            <a:xfrm>
              <a:off x="5090" y="2387"/>
              <a:ext cx="553" cy="250"/>
              <a:chOff x="3351" y="3168"/>
              <a:chExt cx="375" cy="384"/>
            </a:xfrm>
          </p:grpSpPr>
          <p:sp>
            <p:nvSpPr>
              <p:cNvPr id="205" name="Rectangle 220"/>
              <p:cNvSpPr>
                <a:spLocks noChangeArrowheads="1"/>
              </p:cNvSpPr>
              <p:nvPr/>
            </p:nvSpPr>
            <p:spPr bwMode="auto">
              <a:xfrm>
                <a:off x="3362" y="3168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E8H</a:t>
                </a:r>
              </a:p>
            </p:txBody>
          </p:sp>
          <p:sp>
            <p:nvSpPr>
              <p:cNvPr id="206" name="Rectangle 221"/>
              <p:cNvSpPr>
                <a:spLocks noChangeArrowheads="1"/>
              </p:cNvSpPr>
              <p:nvPr/>
            </p:nvSpPr>
            <p:spPr bwMode="auto">
              <a:xfrm>
                <a:off x="3351" y="3168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" name="Group 222"/>
            <p:cNvGrpSpPr/>
            <p:nvPr/>
          </p:nvGrpSpPr>
          <p:grpSpPr bwMode="auto">
            <a:xfrm>
              <a:off x="148" y="2637"/>
              <a:ext cx="684" cy="250"/>
              <a:chOff x="0" y="3552"/>
              <a:chExt cx="464" cy="384"/>
            </a:xfrm>
          </p:grpSpPr>
          <p:sp>
            <p:nvSpPr>
              <p:cNvPr id="203" name="Rectangle 223"/>
              <p:cNvSpPr>
                <a:spLocks noChangeArrowheads="1"/>
              </p:cNvSpPr>
              <p:nvPr/>
            </p:nvSpPr>
            <p:spPr bwMode="auto">
              <a:xfrm>
                <a:off x="11" y="3552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600</a:t>
                </a:r>
              </a:p>
            </p:txBody>
          </p:sp>
          <p:sp>
            <p:nvSpPr>
              <p:cNvPr id="204" name="Rectangle 224"/>
              <p:cNvSpPr>
                <a:spLocks noChangeArrowheads="1"/>
              </p:cNvSpPr>
              <p:nvPr/>
            </p:nvSpPr>
            <p:spPr bwMode="auto">
              <a:xfrm>
                <a:off x="0" y="3552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225"/>
            <p:cNvGrpSpPr/>
            <p:nvPr/>
          </p:nvGrpSpPr>
          <p:grpSpPr bwMode="auto">
            <a:xfrm>
              <a:off x="832" y="2637"/>
              <a:ext cx="496" cy="250"/>
              <a:chOff x="464" y="3552"/>
              <a:chExt cx="336" cy="384"/>
            </a:xfrm>
          </p:grpSpPr>
          <p:sp>
            <p:nvSpPr>
              <p:cNvPr id="201" name="Rectangle 226"/>
              <p:cNvSpPr>
                <a:spLocks noChangeArrowheads="1"/>
              </p:cNvSpPr>
              <p:nvPr/>
            </p:nvSpPr>
            <p:spPr bwMode="auto">
              <a:xfrm>
                <a:off x="475" y="3552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202" name="Rectangle 227"/>
              <p:cNvSpPr>
                <a:spLocks noChangeArrowheads="1"/>
              </p:cNvSpPr>
              <p:nvPr/>
            </p:nvSpPr>
            <p:spPr bwMode="auto">
              <a:xfrm>
                <a:off x="464" y="3552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Group 228"/>
            <p:cNvGrpSpPr/>
            <p:nvPr/>
          </p:nvGrpSpPr>
          <p:grpSpPr bwMode="auto">
            <a:xfrm>
              <a:off x="1328" y="2637"/>
              <a:ext cx="495" cy="250"/>
              <a:chOff x="800" y="3552"/>
              <a:chExt cx="336" cy="384"/>
            </a:xfrm>
          </p:grpSpPr>
          <p:sp>
            <p:nvSpPr>
              <p:cNvPr id="199" name="Rectangle 229"/>
              <p:cNvSpPr>
                <a:spLocks noChangeArrowheads="1"/>
              </p:cNvSpPr>
              <p:nvPr/>
            </p:nvSpPr>
            <p:spPr bwMode="auto">
              <a:xfrm>
                <a:off x="811" y="3552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200" name="Rectangle 230"/>
              <p:cNvSpPr>
                <a:spLocks noChangeArrowheads="1"/>
              </p:cNvSpPr>
              <p:nvPr/>
            </p:nvSpPr>
            <p:spPr bwMode="auto">
              <a:xfrm>
                <a:off x="800" y="3552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231"/>
            <p:cNvGrpSpPr/>
            <p:nvPr/>
          </p:nvGrpSpPr>
          <p:grpSpPr bwMode="auto">
            <a:xfrm>
              <a:off x="1823" y="2637"/>
              <a:ext cx="487" cy="250"/>
              <a:chOff x="1136" y="3552"/>
              <a:chExt cx="330" cy="384"/>
            </a:xfrm>
          </p:grpSpPr>
          <p:sp>
            <p:nvSpPr>
              <p:cNvPr id="197" name="Rectangle 232"/>
              <p:cNvSpPr>
                <a:spLocks noChangeArrowheads="1"/>
              </p:cNvSpPr>
              <p:nvPr/>
            </p:nvSpPr>
            <p:spPr bwMode="auto">
              <a:xfrm>
                <a:off x="1147" y="3552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CCH</a:t>
                </a:r>
              </a:p>
            </p:txBody>
          </p:sp>
          <p:sp>
            <p:nvSpPr>
              <p:cNvPr id="198" name="Rectangle 233"/>
              <p:cNvSpPr>
                <a:spLocks noChangeArrowheads="1"/>
              </p:cNvSpPr>
              <p:nvPr/>
            </p:nvSpPr>
            <p:spPr bwMode="auto">
              <a:xfrm>
                <a:off x="1136" y="3552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234"/>
            <p:cNvGrpSpPr/>
            <p:nvPr/>
          </p:nvGrpSpPr>
          <p:grpSpPr bwMode="auto">
            <a:xfrm>
              <a:off x="2310" y="2637"/>
              <a:ext cx="463" cy="250"/>
              <a:chOff x="1466" y="3552"/>
              <a:chExt cx="314" cy="384"/>
            </a:xfrm>
          </p:grpSpPr>
          <p:sp>
            <p:nvSpPr>
              <p:cNvPr id="195" name="Rectangle 235"/>
              <p:cNvSpPr>
                <a:spLocks noChangeArrowheads="1"/>
              </p:cNvSpPr>
              <p:nvPr/>
            </p:nvSpPr>
            <p:spPr bwMode="auto">
              <a:xfrm>
                <a:off x="1477" y="3552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96" name="Rectangle 236"/>
              <p:cNvSpPr>
                <a:spLocks noChangeArrowheads="1"/>
              </p:cNvSpPr>
              <p:nvPr/>
            </p:nvSpPr>
            <p:spPr bwMode="auto">
              <a:xfrm>
                <a:off x="1466" y="3552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9" name="Group 237"/>
            <p:cNvGrpSpPr/>
            <p:nvPr/>
          </p:nvGrpSpPr>
          <p:grpSpPr bwMode="auto">
            <a:xfrm>
              <a:off x="2773" y="2637"/>
              <a:ext cx="692" cy="250"/>
              <a:chOff x="1780" y="3552"/>
              <a:chExt cx="469" cy="384"/>
            </a:xfrm>
          </p:grpSpPr>
          <p:sp>
            <p:nvSpPr>
              <p:cNvPr id="193" name="Rectangle 238"/>
              <p:cNvSpPr>
                <a:spLocks noChangeArrowheads="1"/>
              </p:cNvSpPr>
              <p:nvPr/>
            </p:nvSpPr>
            <p:spPr bwMode="auto">
              <a:xfrm>
                <a:off x="1791" y="3552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94" name="Rectangle 239"/>
              <p:cNvSpPr>
                <a:spLocks noChangeArrowheads="1"/>
              </p:cNvSpPr>
              <p:nvPr/>
            </p:nvSpPr>
            <p:spPr bwMode="auto">
              <a:xfrm>
                <a:off x="1780" y="3552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240"/>
            <p:cNvGrpSpPr/>
            <p:nvPr/>
          </p:nvGrpSpPr>
          <p:grpSpPr bwMode="auto">
            <a:xfrm>
              <a:off x="3465" y="2637"/>
              <a:ext cx="691" cy="250"/>
              <a:chOff x="2249" y="3552"/>
              <a:chExt cx="469" cy="384"/>
            </a:xfrm>
          </p:grpSpPr>
          <p:sp>
            <p:nvSpPr>
              <p:cNvPr id="191" name="Rectangle 241"/>
              <p:cNvSpPr>
                <a:spLocks noChangeArrowheads="1"/>
              </p:cNvSpPr>
              <p:nvPr/>
            </p:nvSpPr>
            <p:spPr bwMode="auto">
              <a:xfrm>
                <a:off x="2260" y="3552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CCH</a:t>
                </a:r>
              </a:p>
            </p:txBody>
          </p:sp>
          <p:sp>
            <p:nvSpPr>
              <p:cNvPr id="192" name="Rectangle 242"/>
              <p:cNvSpPr>
                <a:spLocks noChangeArrowheads="1"/>
              </p:cNvSpPr>
              <p:nvPr/>
            </p:nvSpPr>
            <p:spPr bwMode="auto">
              <a:xfrm>
                <a:off x="2249" y="3552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243"/>
            <p:cNvGrpSpPr/>
            <p:nvPr/>
          </p:nvGrpSpPr>
          <p:grpSpPr bwMode="auto">
            <a:xfrm>
              <a:off x="4156" y="2637"/>
              <a:ext cx="440" cy="250"/>
              <a:chOff x="2718" y="3552"/>
              <a:chExt cx="298" cy="384"/>
            </a:xfrm>
          </p:grpSpPr>
          <p:sp>
            <p:nvSpPr>
              <p:cNvPr id="189" name="Rectangle 244"/>
              <p:cNvSpPr>
                <a:spLocks noChangeArrowheads="1"/>
              </p:cNvSpPr>
              <p:nvPr/>
            </p:nvSpPr>
            <p:spPr bwMode="auto">
              <a:xfrm>
                <a:off x="2729" y="3552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90" name="Rectangle 245"/>
              <p:cNvSpPr>
                <a:spLocks noChangeArrowheads="1"/>
              </p:cNvSpPr>
              <p:nvPr/>
            </p:nvSpPr>
            <p:spPr bwMode="auto">
              <a:xfrm>
                <a:off x="2718" y="3552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2" name="Group 246"/>
            <p:cNvGrpSpPr/>
            <p:nvPr/>
          </p:nvGrpSpPr>
          <p:grpSpPr bwMode="auto">
            <a:xfrm>
              <a:off x="4596" y="2637"/>
              <a:ext cx="494" cy="250"/>
              <a:chOff x="3016" y="3552"/>
              <a:chExt cx="335" cy="384"/>
            </a:xfrm>
          </p:grpSpPr>
          <p:sp>
            <p:nvSpPr>
              <p:cNvPr id="187" name="Rectangle 247"/>
              <p:cNvSpPr>
                <a:spLocks noChangeArrowheads="1"/>
              </p:cNvSpPr>
              <p:nvPr/>
            </p:nvSpPr>
            <p:spPr bwMode="auto">
              <a:xfrm>
                <a:off x="3027" y="3552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88" name="Rectangle 248"/>
              <p:cNvSpPr>
                <a:spLocks noChangeArrowheads="1"/>
              </p:cNvSpPr>
              <p:nvPr/>
            </p:nvSpPr>
            <p:spPr bwMode="auto">
              <a:xfrm>
                <a:off x="3016" y="3552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3" name="Group 249"/>
            <p:cNvGrpSpPr/>
            <p:nvPr/>
          </p:nvGrpSpPr>
          <p:grpSpPr bwMode="auto">
            <a:xfrm>
              <a:off x="5090" y="2637"/>
              <a:ext cx="553" cy="250"/>
              <a:chOff x="3351" y="3552"/>
              <a:chExt cx="375" cy="384"/>
            </a:xfrm>
          </p:grpSpPr>
          <p:sp>
            <p:nvSpPr>
              <p:cNvPr id="185" name="Rectangle 250"/>
              <p:cNvSpPr>
                <a:spLocks noChangeArrowheads="1"/>
              </p:cNvSpPr>
              <p:nvPr/>
            </p:nvSpPr>
            <p:spPr bwMode="auto">
              <a:xfrm>
                <a:off x="3362" y="3552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D0H</a:t>
                </a:r>
              </a:p>
            </p:txBody>
          </p:sp>
          <p:sp>
            <p:nvSpPr>
              <p:cNvPr id="186" name="Rectangle 251"/>
              <p:cNvSpPr>
                <a:spLocks noChangeArrowheads="1"/>
              </p:cNvSpPr>
              <p:nvPr/>
            </p:nvSpPr>
            <p:spPr bwMode="auto">
              <a:xfrm>
                <a:off x="3351" y="3552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252"/>
            <p:cNvGrpSpPr/>
            <p:nvPr/>
          </p:nvGrpSpPr>
          <p:grpSpPr bwMode="auto">
            <a:xfrm>
              <a:off x="148" y="2887"/>
              <a:ext cx="684" cy="250"/>
              <a:chOff x="0" y="3936"/>
              <a:chExt cx="464" cy="384"/>
            </a:xfrm>
          </p:grpSpPr>
          <p:sp>
            <p:nvSpPr>
              <p:cNvPr id="183" name="Rectangle 253"/>
              <p:cNvSpPr>
                <a:spLocks noChangeArrowheads="1"/>
              </p:cNvSpPr>
              <p:nvPr/>
            </p:nvSpPr>
            <p:spPr bwMode="auto">
              <a:xfrm>
                <a:off x="11" y="3936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300</a:t>
                </a:r>
              </a:p>
            </p:txBody>
          </p:sp>
          <p:sp>
            <p:nvSpPr>
              <p:cNvPr id="184" name="Rectangle 254"/>
              <p:cNvSpPr>
                <a:spLocks noChangeArrowheads="1"/>
              </p:cNvSpPr>
              <p:nvPr/>
            </p:nvSpPr>
            <p:spPr bwMode="auto">
              <a:xfrm>
                <a:off x="0" y="3936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5" name="Group 255"/>
            <p:cNvGrpSpPr/>
            <p:nvPr/>
          </p:nvGrpSpPr>
          <p:grpSpPr bwMode="auto">
            <a:xfrm>
              <a:off x="832" y="2887"/>
              <a:ext cx="496" cy="250"/>
              <a:chOff x="464" y="3936"/>
              <a:chExt cx="336" cy="384"/>
            </a:xfrm>
          </p:grpSpPr>
          <p:sp>
            <p:nvSpPr>
              <p:cNvPr id="181" name="Rectangle 256"/>
              <p:cNvSpPr>
                <a:spLocks noChangeArrowheads="1"/>
              </p:cNvSpPr>
              <p:nvPr/>
            </p:nvSpPr>
            <p:spPr bwMode="auto">
              <a:xfrm>
                <a:off x="475" y="3936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82" name="Rectangle 257"/>
              <p:cNvSpPr>
                <a:spLocks noChangeArrowheads="1"/>
              </p:cNvSpPr>
              <p:nvPr/>
            </p:nvSpPr>
            <p:spPr bwMode="auto">
              <a:xfrm>
                <a:off x="464" y="3936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Group 258"/>
            <p:cNvGrpSpPr/>
            <p:nvPr/>
          </p:nvGrpSpPr>
          <p:grpSpPr bwMode="auto">
            <a:xfrm>
              <a:off x="1328" y="2887"/>
              <a:ext cx="495" cy="250"/>
              <a:chOff x="800" y="3936"/>
              <a:chExt cx="336" cy="384"/>
            </a:xfrm>
          </p:grpSpPr>
          <p:sp>
            <p:nvSpPr>
              <p:cNvPr id="179" name="Rectangle 259"/>
              <p:cNvSpPr>
                <a:spLocks noChangeArrowheads="1"/>
              </p:cNvSpPr>
              <p:nvPr/>
            </p:nvSpPr>
            <p:spPr bwMode="auto">
              <a:xfrm>
                <a:off x="811" y="3936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80" name="Rectangle 260"/>
              <p:cNvSpPr>
                <a:spLocks noChangeArrowheads="1"/>
              </p:cNvSpPr>
              <p:nvPr/>
            </p:nvSpPr>
            <p:spPr bwMode="auto">
              <a:xfrm>
                <a:off x="800" y="3936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261"/>
            <p:cNvGrpSpPr/>
            <p:nvPr/>
          </p:nvGrpSpPr>
          <p:grpSpPr bwMode="auto">
            <a:xfrm>
              <a:off x="1823" y="2887"/>
              <a:ext cx="487" cy="250"/>
              <a:chOff x="1136" y="3936"/>
              <a:chExt cx="330" cy="384"/>
            </a:xfrm>
          </p:grpSpPr>
          <p:sp>
            <p:nvSpPr>
              <p:cNvPr id="177" name="Rectangle 262"/>
              <p:cNvSpPr>
                <a:spLocks noChangeArrowheads="1"/>
              </p:cNvSpPr>
              <p:nvPr/>
            </p:nvSpPr>
            <p:spPr bwMode="auto">
              <a:xfrm>
                <a:off x="1147" y="3936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CCH</a:t>
                </a:r>
              </a:p>
            </p:txBody>
          </p:sp>
          <p:sp>
            <p:nvSpPr>
              <p:cNvPr id="178" name="Rectangle 263"/>
              <p:cNvSpPr>
                <a:spLocks noChangeArrowheads="1"/>
              </p:cNvSpPr>
              <p:nvPr/>
            </p:nvSpPr>
            <p:spPr bwMode="auto">
              <a:xfrm>
                <a:off x="1136" y="3936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264"/>
            <p:cNvGrpSpPr/>
            <p:nvPr/>
          </p:nvGrpSpPr>
          <p:grpSpPr bwMode="auto">
            <a:xfrm>
              <a:off x="2310" y="2887"/>
              <a:ext cx="463" cy="250"/>
              <a:chOff x="1466" y="3936"/>
              <a:chExt cx="314" cy="384"/>
            </a:xfrm>
          </p:grpSpPr>
          <p:sp>
            <p:nvSpPr>
              <p:cNvPr id="175" name="Rectangle 265"/>
              <p:cNvSpPr>
                <a:spLocks noChangeArrowheads="1"/>
              </p:cNvSpPr>
              <p:nvPr/>
            </p:nvSpPr>
            <p:spPr bwMode="auto">
              <a:xfrm>
                <a:off x="1477" y="3936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76" name="Rectangle 266"/>
              <p:cNvSpPr>
                <a:spLocks noChangeArrowheads="1"/>
              </p:cNvSpPr>
              <p:nvPr/>
            </p:nvSpPr>
            <p:spPr bwMode="auto">
              <a:xfrm>
                <a:off x="1466" y="3936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267"/>
            <p:cNvGrpSpPr/>
            <p:nvPr/>
          </p:nvGrpSpPr>
          <p:grpSpPr bwMode="auto">
            <a:xfrm>
              <a:off x="2773" y="2887"/>
              <a:ext cx="692" cy="250"/>
              <a:chOff x="1780" y="3936"/>
              <a:chExt cx="469" cy="384"/>
            </a:xfrm>
          </p:grpSpPr>
          <p:sp>
            <p:nvSpPr>
              <p:cNvPr id="173" name="Rectangle 268"/>
              <p:cNvSpPr>
                <a:spLocks noChangeArrowheads="1"/>
              </p:cNvSpPr>
              <p:nvPr/>
            </p:nvSpPr>
            <p:spPr bwMode="auto">
              <a:xfrm>
                <a:off x="1791" y="3936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74" name="Rectangle 269"/>
              <p:cNvSpPr>
                <a:spLocks noChangeArrowheads="1"/>
              </p:cNvSpPr>
              <p:nvPr/>
            </p:nvSpPr>
            <p:spPr bwMode="auto">
              <a:xfrm>
                <a:off x="1780" y="3936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270"/>
            <p:cNvGrpSpPr/>
            <p:nvPr/>
          </p:nvGrpSpPr>
          <p:grpSpPr bwMode="auto">
            <a:xfrm>
              <a:off x="3465" y="2887"/>
              <a:ext cx="691" cy="250"/>
              <a:chOff x="2249" y="3936"/>
              <a:chExt cx="469" cy="384"/>
            </a:xfrm>
          </p:grpSpPr>
          <p:sp>
            <p:nvSpPr>
              <p:cNvPr id="171" name="Rectangle 271"/>
              <p:cNvSpPr>
                <a:spLocks noChangeArrowheads="1"/>
              </p:cNvSpPr>
              <p:nvPr/>
            </p:nvSpPr>
            <p:spPr bwMode="auto">
              <a:xfrm>
                <a:off x="2260" y="3936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98H</a:t>
                </a:r>
              </a:p>
            </p:txBody>
          </p:sp>
          <p:sp>
            <p:nvSpPr>
              <p:cNvPr id="172" name="Rectangle 272"/>
              <p:cNvSpPr>
                <a:spLocks noChangeArrowheads="1"/>
              </p:cNvSpPr>
              <p:nvPr/>
            </p:nvSpPr>
            <p:spPr bwMode="auto">
              <a:xfrm>
                <a:off x="2249" y="3936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1" name="Group 273"/>
            <p:cNvGrpSpPr/>
            <p:nvPr/>
          </p:nvGrpSpPr>
          <p:grpSpPr bwMode="auto">
            <a:xfrm>
              <a:off x="4156" y="2887"/>
              <a:ext cx="440" cy="250"/>
              <a:chOff x="2718" y="3936"/>
              <a:chExt cx="298" cy="384"/>
            </a:xfrm>
          </p:grpSpPr>
          <p:sp>
            <p:nvSpPr>
              <p:cNvPr id="169" name="Rectangle 274"/>
              <p:cNvSpPr>
                <a:spLocks noChangeArrowheads="1"/>
              </p:cNvSpPr>
              <p:nvPr/>
            </p:nvSpPr>
            <p:spPr bwMode="auto">
              <a:xfrm>
                <a:off x="2729" y="3936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70" name="Rectangle 275"/>
              <p:cNvSpPr>
                <a:spLocks noChangeArrowheads="1"/>
              </p:cNvSpPr>
              <p:nvPr/>
            </p:nvSpPr>
            <p:spPr bwMode="auto">
              <a:xfrm>
                <a:off x="2718" y="3936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276"/>
            <p:cNvGrpSpPr/>
            <p:nvPr/>
          </p:nvGrpSpPr>
          <p:grpSpPr bwMode="auto">
            <a:xfrm>
              <a:off x="4596" y="2887"/>
              <a:ext cx="494" cy="250"/>
              <a:chOff x="3016" y="3936"/>
              <a:chExt cx="335" cy="384"/>
            </a:xfrm>
          </p:grpSpPr>
          <p:sp>
            <p:nvSpPr>
              <p:cNvPr id="167" name="Rectangle 277"/>
              <p:cNvSpPr>
                <a:spLocks noChangeArrowheads="1"/>
              </p:cNvSpPr>
              <p:nvPr/>
            </p:nvSpPr>
            <p:spPr bwMode="auto">
              <a:xfrm>
                <a:off x="3027" y="3936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68" name="Rectangle 278"/>
              <p:cNvSpPr>
                <a:spLocks noChangeArrowheads="1"/>
              </p:cNvSpPr>
              <p:nvPr/>
            </p:nvSpPr>
            <p:spPr bwMode="auto">
              <a:xfrm>
                <a:off x="3016" y="3936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279"/>
            <p:cNvGrpSpPr/>
            <p:nvPr/>
          </p:nvGrpSpPr>
          <p:grpSpPr bwMode="auto">
            <a:xfrm>
              <a:off x="5090" y="2887"/>
              <a:ext cx="553" cy="250"/>
              <a:chOff x="3351" y="3936"/>
              <a:chExt cx="375" cy="384"/>
            </a:xfrm>
          </p:grpSpPr>
          <p:sp>
            <p:nvSpPr>
              <p:cNvPr id="165" name="Rectangle 280"/>
              <p:cNvSpPr>
                <a:spLocks noChangeArrowheads="1"/>
              </p:cNvSpPr>
              <p:nvPr/>
            </p:nvSpPr>
            <p:spPr bwMode="auto">
              <a:xfrm>
                <a:off x="3362" y="3936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A0H</a:t>
                </a:r>
              </a:p>
            </p:txBody>
          </p:sp>
          <p:sp>
            <p:nvSpPr>
              <p:cNvPr id="166" name="Rectangle 281"/>
              <p:cNvSpPr>
                <a:spLocks noChangeArrowheads="1"/>
              </p:cNvSpPr>
              <p:nvPr/>
            </p:nvSpPr>
            <p:spPr bwMode="auto">
              <a:xfrm>
                <a:off x="3351" y="3936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4" name="Group 282"/>
            <p:cNvGrpSpPr/>
            <p:nvPr/>
          </p:nvGrpSpPr>
          <p:grpSpPr bwMode="auto">
            <a:xfrm>
              <a:off x="148" y="3137"/>
              <a:ext cx="684" cy="250"/>
              <a:chOff x="0" y="4320"/>
              <a:chExt cx="464" cy="384"/>
            </a:xfrm>
          </p:grpSpPr>
          <p:sp>
            <p:nvSpPr>
              <p:cNvPr id="163" name="Rectangle 283"/>
              <p:cNvSpPr>
                <a:spLocks noChangeArrowheads="1"/>
              </p:cNvSpPr>
              <p:nvPr/>
            </p:nvSpPr>
            <p:spPr bwMode="auto">
              <a:xfrm>
                <a:off x="11" y="4320"/>
                <a:ext cx="44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137. 5</a:t>
                </a:r>
              </a:p>
            </p:txBody>
          </p:sp>
          <p:sp>
            <p:nvSpPr>
              <p:cNvPr id="164" name="Rectangle 284"/>
              <p:cNvSpPr>
                <a:spLocks noChangeArrowheads="1"/>
              </p:cNvSpPr>
              <p:nvPr/>
            </p:nvSpPr>
            <p:spPr bwMode="auto">
              <a:xfrm>
                <a:off x="0" y="4320"/>
                <a:ext cx="46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5" name="Group 285"/>
            <p:cNvGrpSpPr/>
            <p:nvPr/>
          </p:nvGrpSpPr>
          <p:grpSpPr bwMode="auto">
            <a:xfrm>
              <a:off x="832" y="3137"/>
              <a:ext cx="496" cy="250"/>
              <a:chOff x="464" y="4320"/>
              <a:chExt cx="336" cy="384"/>
            </a:xfrm>
          </p:grpSpPr>
          <p:sp>
            <p:nvSpPr>
              <p:cNvPr id="161" name="Rectangle 286"/>
              <p:cNvSpPr>
                <a:spLocks noChangeArrowheads="1"/>
              </p:cNvSpPr>
              <p:nvPr/>
            </p:nvSpPr>
            <p:spPr bwMode="auto">
              <a:xfrm>
                <a:off x="475" y="4320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162" name="Rectangle 287"/>
              <p:cNvSpPr>
                <a:spLocks noChangeArrowheads="1"/>
              </p:cNvSpPr>
              <p:nvPr/>
            </p:nvSpPr>
            <p:spPr bwMode="auto">
              <a:xfrm>
                <a:off x="464" y="4320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288"/>
            <p:cNvGrpSpPr/>
            <p:nvPr/>
          </p:nvGrpSpPr>
          <p:grpSpPr bwMode="auto">
            <a:xfrm>
              <a:off x="1328" y="3137"/>
              <a:ext cx="495" cy="250"/>
              <a:chOff x="800" y="4320"/>
              <a:chExt cx="336" cy="384"/>
            </a:xfrm>
          </p:grpSpPr>
          <p:sp>
            <p:nvSpPr>
              <p:cNvPr id="159" name="Rectangle 289"/>
              <p:cNvSpPr>
                <a:spLocks noChangeArrowheads="1"/>
              </p:cNvSpPr>
              <p:nvPr/>
            </p:nvSpPr>
            <p:spPr bwMode="auto">
              <a:xfrm>
                <a:off x="811" y="4320"/>
                <a:ext cx="31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60" name="Rectangle 290"/>
              <p:cNvSpPr>
                <a:spLocks noChangeArrowheads="1"/>
              </p:cNvSpPr>
              <p:nvPr/>
            </p:nvSpPr>
            <p:spPr bwMode="auto">
              <a:xfrm>
                <a:off x="800" y="4320"/>
                <a:ext cx="33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7" name="Group 291"/>
            <p:cNvGrpSpPr/>
            <p:nvPr/>
          </p:nvGrpSpPr>
          <p:grpSpPr bwMode="auto">
            <a:xfrm>
              <a:off x="1823" y="3137"/>
              <a:ext cx="487" cy="250"/>
              <a:chOff x="1136" y="4320"/>
              <a:chExt cx="330" cy="384"/>
            </a:xfrm>
          </p:grpSpPr>
          <p:sp>
            <p:nvSpPr>
              <p:cNvPr id="157" name="Rectangle 292"/>
              <p:cNvSpPr>
                <a:spLocks noChangeArrowheads="1"/>
              </p:cNvSpPr>
              <p:nvPr/>
            </p:nvSpPr>
            <p:spPr bwMode="auto">
              <a:xfrm>
                <a:off x="1147" y="4320"/>
                <a:ext cx="308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1DH</a:t>
                </a:r>
              </a:p>
            </p:txBody>
          </p:sp>
          <p:sp>
            <p:nvSpPr>
              <p:cNvPr id="158" name="Rectangle 293"/>
              <p:cNvSpPr>
                <a:spLocks noChangeArrowheads="1"/>
              </p:cNvSpPr>
              <p:nvPr/>
            </p:nvSpPr>
            <p:spPr bwMode="auto">
              <a:xfrm>
                <a:off x="1136" y="4320"/>
                <a:ext cx="330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Group 294"/>
            <p:cNvGrpSpPr/>
            <p:nvPr/>
          </p:nvGrpSpPr>
          <p:grpSpPr bwMode="auto">
            <a:xfrm>
              <a:off x="2310" y="3137"/>
              <a:ext cx="463" cy="250"/>
              <a:chOff x="1466" y="4320"/>
              <a:chExt cx="314" cy="384"/>
            </a:xfrm>
          </p:grpSpPr>
          <p:sp>
            <p:nvSpPr>
              <p:cNvPr id="155" name="Rectangle 295"/>
              <p:cNvSpPr>
                <a:spLocks noChangeArrowheads="1"/>
              </p:cNvSpPr>
              <p:nvPr/>
            </p:nvSpPr>
            <p:spPr bwMode="auto">
              <a:xfrm>
                <a:off x="1477" y="4320"/>
                <a:ext cx="292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56" name="Rectangle 296"/>
              <p:cNvSpPr>
                <a:spLocks noChangeArrowheads="1"/>
              </p:cNvSpPr>
              <p:nvPr/>
            </p:nvSpPr>
            <p:spPr bwMode="auto">
              <a:xfrm>
                <a:off x="1466" y="4320"/>
                <a:ext cx="31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297"/>
            <p:cNvGrpSpPr/>
            <p:nvPr/>
          </p:nvGrpSpPr>
          <p:grpSpPr bwMode="auto">
            <a:xfrm>
              <a:off x="2773" y="3137"/>
              <a:ext cx="692" cy="250"/>
              <a:chOff x="1780" y="4320"/>
              <a:chExt cx="469" cy="384"/>
            </a:xfrm>
          </p:grpSpPr>
          <p:sp>
            <p:nvSpPr>
              <p:cNvPr id="153" name="Rectangle 298"/>
              <p:cNvSpPr>
                <a:spLocks noChangeArrowheads="1"/>
              </p:cNvSpPr>
              <p:nvPr/>
            </p:nvSpPr>
            <p:spPr bwMode="auto">
              <a:xfrm>
                <a:off x="1791" y="4320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54" name="Rectangle 299"/>
              <p:cNvSpPr>
                <a:spLocks noChangeArrowheads="1"/>
              </p:cNvSpPr>
              <p:nvPr/>
            </p:nvSpPr>
            <p:spPr bwMode="auto">
              <a:xfrm>
                <a:off x="1780" y="4320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0" name="Group 300"/>
            <p:cNvGrpSpPr/>
            <p:nvPr/>
          </p:nvGrpSpPr>
          <p:grpSpPr bwMode="auto">
            <a:xfrm>
              <a:off x="3465" y="3137"/>
              <a:ext cx="691" cy="250"/>
              <a:chOff x="2249" y="4320"/>
              <a:chExt cx="469" cy="384"/>
            </a:xfrm>
          </p:grpSpPr>
          <p:sp>
            <p:nvSpPr>
              <p:cNvPr id="151" name="Rectangle 301"/>
              <p:cNvSpPr>
                <a:spLocks noChangeArrowheads="1"/>
              </p:cNvSpPr>
              <p:nvPr/>
            </p:nvSpPr>
            <p:spPr bwMode="auto">
              <a:xfrm>
                <a:off x="2260" y="4320"/>
                <a:ext cx="447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1DH</a:t>
                </a:r>
              </a:p>
            </p:txBody>
          </p:sp>
          <p:sp>
            <p:nvSpPr>
              <p:cNvPr id="152" name="Rectangle 302"/>
              <p:cNvSpPr>
                <a:spLocks noChangeArrowheads="1"/>
              </p:cNvSpPr>
              <p:nvPr/>
            </p:nvSpPr>
            <p:spPr bwMode="auto">
              <a:xfrm>
                <a:off x="2249" y="4320"/>
                <a:ext cx="469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Group 303"/>
            <p:cNvGrpSpPr/>
            <p:nvPr/>
          </p:nvGrpSpPr>
          <p:grpSpPr bwMode="auto">
            <a:xfrm>
              <a:off x="4156" y="3137"/>
              <a:ext cx="440" cy="250"/>
              <a:chOff x="2718" y="4320"/>
              <a:chExt cx="298" cy="384"/>
            </a:xfrm>
          </p:grpSpPr>
          <p:sp>
            <p:nvSpPr>
              <p:cNvPr id="149" name="Rectangle 304"/>
              <p:cNvSpPr>
                <a:spLocks noChangeArrowheads="1"/>
              </p:cNvSpPr>
              <p:nvPr/>
            </p:nvSpPr>
            <p:spPr bwMode="auto">
              <a:xfrm>
                <a:off x="2729" y="4320"/>
                <a:ext cx="2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50" name="Rectangle 305"/>
              <p:cNvSpPr>
                <a:spLocks noChangeArrowheads="1"/>
              </p:cNvSpPr>
              <p:nvPr/>
            </p:nvSpPr>
            <p:spPr bwMode="auto">
              <a:xfrm>
                <a:off x="2718" y="4320"/>
                <a:ext cx="29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306"/>
            <p:cNvGrpSpPr/>
            <p:nvPr/>
          </p:nvGrpSpPr>
          <p:grpSpPr bwMode="auto">
            <a:xfrm>
              <a:off x="4596" y="3137"/>
              <a:ext cx="494" cy="250"/>
              <a:chOff x="3016" y="4320"/>
              <a:chExt cx="335" cy="384"/>
            </a:xfrm>
          </p:grpSpPr>
          <p:sp>
            <p:nvSpPr>
              <p:cNvPr id="147" name="Rectangle 307"/>
              <p:cNvSpPr>
                <a:spLocks noChangeArrowheads="1"/>
              </p:cNvSpPr>
              <p:nvPr/>
            </p:nvSpPr>
            <p:spPr bwMode="auto">
              <a:xfrm>
                <a:off x="3027" y="4320"/>
                <a:ext cx="31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48" name="Rectangle 308"/>
              <p:cNvSpPr>
                <a:spLocks noChangeArrowheads="1"/>
              </p:cNvSpPr>
              <p:nvPr/>
            </p:nvSpPr>
            <p:spPr bwMode="auto">
              <a:xfrm>
                <a:off x="3016" y="4320"/>
                <a:ext cx="33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3" name="Group 309"/>
            <p:cNvGrpSpPr/>
            <p:nvPr/>
          </p:nvGrpSpPr>
          <p:grpSpPr bwMode="auto">
            <a:xfrm>
              <a:off x="5090" y="3137"/>
              <a:ext cx="553" cy="250"/>
              <a:chOff x="3351" y="4320"/>
              <a:chExt cx="375" cy="384"/>
            </a:xfrm>
          </p:grpSpPr>
          <p:sp>
            <p:nvSpPr>
              <p:cNvPr id="145" name="Rectangle 310"/>
              <p:cNvSpPr>
                <a:spLocks noChangeArrowheads="1"/>
              </p:cNvSpPr>
              <p:nvPr/>
            </p:nvSpPr>
            <p:spPr bwMode="auto">
              <a:xfrm>
                <a:off x="3362" y="4320"/>
                <a:ext cx="353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2EH</a:t>
                </a:r>
              </a:p>
            </p:txBody>
          </p:sp>
          <p:sp>
            <p:nvSpPr>
              <p:cNvPr id="146" name="Rectangle 311"/>
              <p:cNvSpPr>
                <a:spLocks noChangeArrowheads="1"/>
              </p:cNvSpPr>
              <p:nvPr/>
            </p:nvSpPr>
            <p:spPr bwMode="auto">
              <a:xfrm>
                <a:off x="3351" y="4320"/>
                <a:ext cx="375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312"/>
            <p:cNvGrpSpPr/>
            <p:nvPr/>
          </p:nvGrpSpPr>
          <p:grpSpPr bwMode="auto">
            <a:xfrm>
              <a:off x="148" y="3387"/>
              <a:ext cx="684" cy="313"/>
              <a:chOff x="0" y="4704"/>
              <a:chExt cx="464" cy="480"/>
            </a:xfrm>
          </p:grpSpPr>
          <p:sp>
            <p:nvSpPr>
              <p:cNvPr id="143" name="Rectangle 313"/>
              <p:cNvSpPr>
                <a:spLocks noChangeArrowheads="1"/>
              </p:cNvSpPr>
              <p:nvPr/>
            </p:nvSpPr>
            <p:spPr bwMode="auto">
              <a:xfrm>
                <a:off x="11" y="4704"/>
                <a:ext cx="442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</a:p>
            </p:txBody>
          </p:sp>
          <p:sp>
            <p:nvSpPr>
              <p:cNvPr id="144" name="Rectangle 314"/>
              <p:cNvSpPr>
                <a:spLocks noChangeArrowheads="1"/>
              </p:cNvSpPr>
              <p:nvPr/>
            </p:nvSpPr>
            <p:spPr bwMode="auto">
              <a:xfrm>
                <a:off x="0" y="4704"/>
                <a:ext cx="464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315"/>
            <p:cNvGrpSpPr/>
            <p:nvPr/>
          </p:nvGrpSpPr>
          <p:grpSpPr bwMode="auto">
            <a:xfrm>
              <a:off x="832" y="3387"/>
              <a:ext cx="496" cy="313"/>
              <a:chOff x="464" y="4704"/>
              <a:chExt cx="336" cy="480"/>
            </a:xfrm>
          </p:grpSpPr>
          <p:sp>
            <p:nvSpPr>
              <p:cNvPr id="141" name="Rectangle 316"/>
              <p:cNvSpPr>
                <a:spLocks noChangeArrowheads="1"/>
              </p:cNvSpPr>
              <p:nvPr/>
            </p:nvSpPr>
            <p:spPr bwMode="auto">
              <a:xfrm>
                <a:off x="475" y="4704"/>
                <a:ext cx="314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42" name="Rectangle 317"/>
              <p:cNvSpPr>
                <a:spLocks noChangeArrowheads="1"/>
              </p:cNvSpPr>
              <p:nvPr/>
            </p:nvSpPr>
            <p:spPr bwMode="auto">
              <a:xfrm>
                <a:off x="464" y="4704"/>
                <a:ext cx="336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Group 318"/>
            <p:cNvGrpSpPr/>
            <p:nvPr/>
          </p:nvGrpSpPr>
          <p:grpSpPr bwMode="auto">
            <a:xfrm>
              <a:off x="1328" y="3387"/>
              <a:ext cx="495" cy="313"/>
              <a:chOff x="800" y="4704"/>
              <a:chExt cx="336" cy="480"/>
            </a:xfrm>
          </p:grpSpPr>
          <p:sp>
            <p:nvSpPr>
              <p:cNvPr id="139" name="Rectangle 319"/>
              <p:cNvSpPr>
                <a:spLocks noChangeArrowheads="1"/>
              </p:cNvSpPr>
              <p:nvPr/>
            </p:nvSpPr>
            <p:spPr bwMode="auto">
              <a:xfrm>
                <a:off x="811" y="4704"/>
                <a:ext cx="314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40" name="Rectangle 320"/>
              <p:cNvSpPr>
                <a:spLocks noChangeArrowheads="1"/>
              </p:cNvSpPr>
              <p:nvPr/>
            </p:nvSpPr>
            <p:spPr bwMode="auto">
              <a:xfrm>
                <a:off x="800" y="4704"/>
                <a:ext cx="336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Group 321"/>
            <p:cNvGrpSpPr/>
            <p:nvPr/>
          </p:nvGrpSpPr>
          <p:grpSpPr bwMode="auto">
            <a:xfrm>
              <a:off x="1823" y="3387"/>
              <a:ext cx="487" cy="313"/>
              <a:chOff x="1136" y="4704"/>
              <a:chExt cx="330" cy="480"/>
            </a:xfrm>
          </p:grpSpPr>
          <p:sp>
            <p:nvSpPr>
              <p:cNvPr id="137" name="Rectangle 322"/>
              <p:cNvSpPr>
                <a:spLocks noChangeArrowheads="1"/>
              </p:cNvSpPr>
              <p:nvPr/>
            </p:nvSpPr>
            <p:spPr bwMode="auto">
              <a:xfrm>
                <a:off x="1147" y="4704"/>
                <a:ext cx="308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72H</a:t>
                </a:r>
              </a:p>
            </p:txBody>
          </p:sp>
          <p:sp>
            <p:nvSpPr>
              <p:cNvPr id="138" name="Rectangle 323"/>
              <p:cNvSpPr>
                <a:spLocks noChangeArrowheads="1"/>
              </p:cNvSpPr>
              <p:nvPr/>
            </p:nvSpPr>
            <p:spPr bwMode="auto">
              <a:xfrm>
                <a:off x="1136" y="4704"/>
                <a:ext cx="330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324"/>
            <p:cNvGrpSpPr/>
            <p:nvPr/>
          </p:nvGrpSpPr>
          <p:grpSpPr bwMode="auto">
            <a:xfrm>
              <a:off x="2310" y="3387"/>
              <a:ext cx="463" cy="313"/>
              <a:chOff x="1466" y="4704"/>
              <a:chExt cx="314" cy="480"/>
            </a:xfrm>
          </p:grpSpPr>
          <p:sp>
            <p:nvSpPr>
              <p:cNvPr id="135" name="Rectangle 325"/>
              <p:cNvSpPr>
                <a:spLocks noChangeArrowheads="1"/>
              </p:cNvSpPr>
              <p:nvPr/>
            </p:nvSpPr>
            <p:spPr bwMode="auto">
              <a:xfrm>
                <a:off x="1477" y="4704"/>
                <a:ext cx="292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36" name="Rectangle 326"/>
              <p:cNvSpPr>
                <a:spLocks noChangeArrowheads="1"/>
              </p:cNvSpPr>
              <p:nvPr/>
            </p:nvSpPr>
            <p:spPr bwMode="auto">
              <a:xfrm>
                <a:off x="1466" y="4704"/>
                <a:ext cx="314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9" name="Group 327"/>
            <p:cNvGrpSpPr/>
            <p:nvPr/>
          </p:nvGrpSpPr>
          <p:grpSpPr bwMode="auto">
            <a:xfrm>
              <a:off x="2773" y="3387"/>
              <a:ext cx="692" cy="313"/>
              <a:chOff x="1780" y="4704"/>
              <a:chExt cx="469" cy="480"/>
            </a:xfrm>
          </p:grpSpPr>
          <p:sp>
            <p:nvSpPr>
              <p:cNvPr id="133" name="Rectangle 328"/>
              <p:cNvSpPr>
                <a:spLocks noChangeArrowheads="1"/>
              </p:cNvSpPr>
              <p:nvPr/>
            </p:nvSpPr>
            <p:spPr bwMode="auto">
              <a:xfrm>
                <a:off x="1791" y="4704"/>
                <a:ext cx="447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134" name="Rectangle 329"/>
              <p:cNvSpPr>
                <a:spLocks noChangeArrowheads="1"/>
              </p:cNvSpPr>
              <p:nvPr/>
            </p:nvSpPr>
            <p:spPr bwMode="auto">
              <a:xfrm>
                <a:off x="1780" y="4704"/>
                <a:ext cx="469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0" name="Group 330"/>
            <p:cNvGrpSpPr/>
            <p:nvPr/>
          </p:nvGrpSpPr>
          <p:grpSpPr bwMode="auto">
            <a:xfrm>
              <a:off x="3465" y="3387"/>
              <a:ext cx="691" cy="313"/>
              <a:chOff x="2249" y="4704"/>
              <a:chExt cx="469" cy="480"/>
            </a:xfrm>
          </p:grpSpPr>
          <p:sp>
            <p:nvSpPr>
              <p:cNvPr id="131" name="Rectangle 331"/>
              <p:cNvSpPr>
                <a:spLocks noChangeArrowheads="1"/>
              </p:cNvSpPr>
              <p:nvPr/>
            </p:nvSpPr>
            <p:spPr bwMode="auto">
              <a:xfrm>
                <a:off x="2260" y="4704"/>
                <a:ext cx="447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FEEBH</a:t>
                </a:r>
              </a:p>
            </p:txBody>
          </p:sp>
          <p:sp>
            <p:nvSpPr>
              <p:cNvPr id="132" name="Rectangle 332"/>
              <p:cNvSpPr>
                <a:spLocks noChangeArrowheads="1"/>
              </p:cNvSpPr>
              <p:nvPr/>
            </p:nvSpPr>
            <p:spPr bwMode="auto">
              <a:xfrm>
                <a:off x="2249" y="4704"/>
                <a:ext cx="469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333"/>
            <p:cNvGrpSpPr/>
            <p:nvPr/>
          </p:nvGrpSpPr>
          <p:grpSpPr bwMode="auto">
            <a:xfrm>
              <a:off x="4156" y="3387"/>
              <a:ext cx="440" cy="313"/>
              <a:chOff x="2718" y="4704"/>
              <a:chExt cx="298" cy="480"/>
            </a:xfrm>
          </p:grpSpPr>
          <p:sp>
            <p:nvSpPr>
              <p:cNvPr id="129" name="Rectangle 334"/>
              <p:cNvSpPr>
                <a:spLocks noChangeArrowheads="1"/>
              </p:cNvSpPr>
              <p:nvPr/>
            </p:nvSpPr>
            <p:spPr bwMode="auto">
              <a:xfrm>
                <a:off x="2729" y="4704"/>
                <a:ext cx="276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30" name="Rectangle 335"/>
              <p:cNvSpPr>
                <a:spLocks noChangeArrowheads="1"/>
              </p:cNvSpPr>
              <p:nvPr/>
            </p:nvSpPr>
            <p:spPr bwMode="auto">
              <a:xfrm>
                <a:off x="2718" y="4704"/>
                <a:ext cx="298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2" name="Group 336"/>
            <p:cNvGrpSpPr/>
            <p:nvPr/>
          </p:nvGrpSpPr>
          <p:grpSpPr bwMode="auto">
            <a:xfrm>
              <a:off x="4596" y="3387"/>
              <a:ext cx="494" cy="313"/>
              <a:chOff x="3016" y="4704"/>
              <a:chExt cx="335" cy="480"/>
            </a:xfrm>
          </p:grpSpPr>
          <p:sp>
            <p:nvSpPr>
              <p:cNvPr id="127" name="Rectangle 337"/>
              <p:cNvSpPr>
                <a:spLocks noChangeArrowheads="1"/>
              </p:cNvSpPr>
              <p:nvPr/>
            </p:nvSpPr>
            <p:spPr bwMode="auto">
              <a:xfrm>
                <a:off x="3027" y="4704"/>
                <a:ext cx="313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128" name="Rectangle 338"/>
              <p:cNvSpPr>
                <a:spLocks noChangeArrowheads="1"/>
              </p:cNvSpPr>
              <p:nvPr/>
            </p:nvSpPr>
            <p:spPr bwMode="auto">
              <a:xfrm>
                <a:off x="3016" y="4704"/>
                <a:ext cx="335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3" name="Group 339"/>
            <p:cNvGrpSpPr/>
            <p:nvPr/>
          </p:nvGrpSpPr>
          <p:grpSpPr bwMode="auto">
            <a:xfrm>
              <a:off x="5090" y="3387"/>
              <a:ext cx="553" cy="313"/>
              <a:chOff x="3351" y="4704"/>
              <a:chExt cx="375" cy="480"/>
            </a:xfrm>
          </p:grpSpPr>
          <p:sp>
            <p:nvSpPr>
              <p:cNvPr id="125" name="Rectangle 340"/>
              <p:cNvSpPr>
                <a:spLocks noChangeArrowheads="1"/>
              </p:cNvSpPr>
              <p:nvPr/>
            </p:nvSpPr>
            <p:spPr bwMode="auto">
              <a:xfrm>
                <a:off x="3362" y="4704"/>
                <a:ext cx="353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pPr algn="ctr" eaLnBrk="1" hangingPunct="1">
                  <a:defRPr/>
                </a:pPr>
                <a:r>
                  <a:rPr lang="en-US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FEFFH</a:t>
                </a:r>
              </a:p>
            </p:txBody>
          </p:sp>
          <p:sp>
            <p:nvSpPr>
              <p:cNvPr id="126" name="Rectangle 341"/>
              <p:cNvSpPr>
                <a:spLocks noChangeArrowheads="1"/>
              </p:cNvSpPr>
              <p:nvPr/>
            </p:nvSpPr>
            <p:spPr bwMode="auto">
              <a:xfrm>
                <a:off x="3351" y="4704"/>
                <a:ext cx="375" cy="4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4" name="Rectangle 342"/>
            <p:cNvSpPr>
              <a:spLocks noChangeArrowheads="1"/>
            </p:cNvSpPr>
            <p:nvPr/>
          </p:nvSpPr>
          <p:spPr bwMode="auto">
            <a:xfrm>
              <a:off x="144" y="572"/>
              <a:ext cx="5503" cy="3130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51" name="图片 35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MCS-51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串行口基本编程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992187" y="1900332"/>
            <a:ext cx="4256087" cy="1923956"/>
          </a:xfrm>
          <a:prstGeom prst="rect">
            <a:avLst/>
          </a:prstGeom>
          <a:solidFill>
            <a:srgbClr val="F8F8F8"/>
          </a:solidFill>
          <a:ln w="76200" algn="ctr">
            <a:solidFill>
              <a:srgbClr val="CCEC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en-US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(1) </a:t>
            </a:r>
            <a:r>
              <a:rPr lang="zh-CN" altLang="en-US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串口</a:t>
            </a:r>
            <a:r>
              <a:rPr lang="zh-CN" altLang="en-US" sz="2400" dirty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工作模式初始化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en-US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(2) </a:t>
            </a:r>
            <a:r>
              <a:rPr lang="zh-CN" altLang="en-US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波特率</a:t>
            </a:r>
            <a:r>
              <a:rPr lang="zh-CN" altLang="en-US" sz="2400" dirty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参数设置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zh-CN" altLang="en-US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en-US" altLang="zh-CN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(3) </a:t>
            </a:r>
            <a:r>
              <a:rPr lang="zh-CN" altLang="en-US" sz="2400" dirty="0" smtClean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中断</a:t>
            </a:r>
            <a:r>
              <a:rPr lang="zh-CN" altLang="en-US" sz="2400" dirty="0">
                <a:ln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初始化</a:t>
            </a:r>
            <a:endParaRPr lang="en-US" altLang="zh-CN" sz="2400" dirty="0">
              <a:ln>
                <a:solidFill>
                  <a:schemeClr val="tx1"/>
                </a:solidFill>
              </a:ln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042988" y="1978025"/>
            <a:ext cx="5413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CF6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初始化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992188" y="4149725"/>
            <a:ext cx="4256086" cy="1784350"/>
          </a:xfrm>
          <a:prstGeom prst="rect">
            <a:avLst/>
          </a:prstGeom>
          <a:solidFill>
            <a:srgbClr val="F8F8F8"/>
          </a:solidFill>
          <a:ln w="76200" algn="ctr">
            <a:solidFill>
              <a:srgbClr val="CCECFF"/>
            </a:solidFill>
            <a:miter lim="800000"/>
          </a:ln>
          <a:effectLst>
            <a:outerShdw dist="35921" dir="2700000" algn="ctr" rotWithShape="0">
              <a:schemeClr val="bg1"/>
            </a:outerShdw>
          </a:effectLst>
          <a:extLst/>
        </p:spPr>
        <p:txBody>
          <a:bodyPr wrap="none" anchor="ctr"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(1)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查询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控制方式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(2)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中断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控制方式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042988" y="4256088"/>
            <a:ext cx="541337" cy="156966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E2ECF6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数据传送</a:t>
            </a:r>
            <a:endParaRPr lang="en-US" altLang="zh-CN" sz="2400" dirty="0">
              <a:solidFill>
                <a:srgbClr val="FF66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6000750" y="1385801"/>
            <a:ext cx="2495550" cy="657225"/>
          </a:xfrm>
          <a:prstGeom prst="wedgeRectCallout">
            <a:avLst>
              <a:gd name="adj1" fmla="val -88427"/>
              <a:gd name="adj2" fmla="val 10742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</a:p>
        </p:txBody>
      </p:sp>
      <p:sp>
        <p:nvSpPr>
          <p:cNvPr id="18" name="矩形标注 17"/>
          <p:cNvSpPr/>
          <p:nvPr/>
        </p:nvSpPr>
        <p:spPr>
          <a:xfrm>
            <a:off x="6029325" y="2312260"/>
            <a:ext cx="2495550" cy="1602515"/>
          </a:xfrm>
          <a:prstGeom prst="wedgeRectCallout">
            <a:avLst>
              <a:gd name="adj1" fmla="val -110183"/>
              <a:gd name="adj2" fmla="val -9722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TMOD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TH1/TL1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SMOD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</a:p>
        </p:txBody>
      </p:sp>
      <p:sp>
        <p:nvSpPr>
          <p:cNvPr id="19" name="矩形标注 18"/>
          <p:cNvSpPr/>
          <p:nvPr/>
        </p:nvSpPr>
        <p:spPr>
          <a:xfrm>
            <a:off x="6029325" y="4051300"/>
            <a:ext cx="2495550" cy="657225"/>
          </a:xfrm>
          <a:prstGeom prst="wedgeRectCallout">
            <a:avLst>
              <a:gd name="adj1" fmla="val -134610"/>
              <a:gd name="adj2" fmla="val -133152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IE/IP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 animBg="1"/>
      <p:bldP spid="16" grpId="0"/>
      <p:bldP spid="4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串行口方式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串行口方式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为同步操作，外接串入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并出或并入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串出器件，可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口扩展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扩展并行输出口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外接串行输入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并行输出同步移位寄存器，如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74LS164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CD4094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扩展并行输入口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外接并行输入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串行输出同步移位寄存器，如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74LS165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74HC165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CD4014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串行口方式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6-2】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8051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串行口外接一片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CD4094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，扩展为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位并行输出口，并行口的每一位接一个发光二极管，要求发光二极管从右到左以一定速度轮流点亮，并不断循环。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846733"/>
              </p:ext>
            </p:extLst>
          </p:nvPr>
        </p:nvGraphicFramePr>
        <p:xfrm>
          <a:off x="1399818" y="2979763"/>
          <a:ext cx="6389142" cy="262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Visio" r:id="rId6" imgW="3200576" imgH="1314489" progId="Visio.Drawing.15">
                  <p:embed/>
                </p:oleObj>
              </mc:Choice>
              <mc:Fallback>
                <p:oleObj name="Visio" r:id="rId6" imgW="3200576" imgH="1314489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9818" y="2979763"/>
                        <a:ext cx="6389142" cy="2624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串行口方式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程序代码如下：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4635" y="1918335"/>
            <a:ext cx="429514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ORG    0000H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LJMP   MAIN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ORG    0023H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LJMP   SBS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	ORG    2000H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SCON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#00H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SETB  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A,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01H	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P1.0       ; 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控制端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SBUF, 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	SJMP	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SBS:	SETB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ACALL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DELY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72000" y="1918564"/>
            <a:ext cx="4310399" cy="4808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TI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	SBUF, 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RETI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DELY:	MOV 	R2,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05H	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DELY0:	MOV 	R3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#0C8H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DELY1:	MOV 	R4,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0F8H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NOP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DELY2:	DJNZ	R4,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DELY2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DJNZ 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R3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DELY1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DJNZ 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R2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DELY0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RET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串行口方式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6-3】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8051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串行口外接一片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CD4014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，扩展为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位并行输入口，输入数据由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位开关提供；另一个开关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提供联络信号，当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时，表示要求输入数据，编写程序将输入的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位开关量存入片内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6248" y="2690089"/>
            <a:ext cx="7908152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ORG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STAR:	MOV 	SCON,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10H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WT1: 	JB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P1.1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WT1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等待开关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闭合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	P1.0	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/=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CD4014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并行输入数据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NOP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/=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CD4014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开始串行输出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WT2: 	JNB	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WT2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等待接收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接收完毕，清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 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SBUF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读输入数据到累加器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30H,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存入内存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串行口方式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6-4】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位移位寄存器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74HC165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扩展两个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位并行输入口。编程从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位扩展口读入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20B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的数据，并将它们转存到内部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50H~63H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54897" y="2269629"/>
            <a:ext cx="661275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ORG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2000H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STAR:	MOV 	R2,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0AH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设置读入数据组数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R0,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设置片内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地址指针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RECV: 	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               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允许并行置入数据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P1.0         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允许串行移位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R1,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#02H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设置每组字节数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10H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设置串行口工作方式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WAIT: 	</a:t>
            </a:r>
            <a:r>
              <a:rPr lang="en-US" altLang="zh-CN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	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WAIT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等待接收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接收完毕，清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A,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SBUF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读输入数据到累加器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    @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存入内存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INC       R0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R1, 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WAIT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是否接收完一组数据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R2, </a:t>
            </a:r>
            <a:r>
              <a:rPr lang="en-US" altLang="zh-CN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RECV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是否接收完全部字节数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SJMP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串行口在其他方式下的应用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单片机串行口工作在方式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时，都用于异步通信，其主要差别是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字符帧格式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不同。单片机发送或接收数据可以采用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中断方式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串行口在其他方式下的应用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6-5】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编写一个发送程序，将片内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20H~2FH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串行发送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。设单片机的主频为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，串行口为工作方式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作为奇偶校验位。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2120333"/>
            <a:ext cx="862516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ORG     2000H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SEND: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SCON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设串行口为方式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PCON,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#80H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SMOD=1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MOV    R0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首地址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20H→R0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MOV    R2,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数据个数→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LOOP:       MOV    A,           @R0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取数据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  C,           PSW.0	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P→Cy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TB8,       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奇偶标志→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SBUF,     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发送数据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WAIT:	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JBC	     TI,          CNTN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若一帧数据发完，则跳转并清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AJMP    WAIT	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TI=1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CNTN:	     INC	      R0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R2,        LOOP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数据未发送完，继续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串行口在其他方式下的应用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6-6】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编写一个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程序，将接收到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16B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存入片内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20H~2FH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单元。设单片机的主频为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11.059MHz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，串行口为工作方式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，接收时进行奇偶校验。波特率为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2400bps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，如果传输出错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，正确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34135" y="2877820"/>
            <a:ext cx="649414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ORG     0023H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AJMP	SREV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ORG	2000H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RECV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TMOD,	#20H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TL1,	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#0F4H  ; </a:t>
            </a:r>
            <a:r>
              <a:rPr lang="zh-CN" altLang="en-US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2400bps</a:t>
            </a:r>
            <a:endParaRPr lang="en-US" altLang="zh-CN" sz="20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TH1,	</a:t>
            </a:r>
            <a:r>
              <a:rPr lang="en-US" altLang="zh-CN" sz="20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#0F4H</a:t>
            </a:r>
            <a:endParaRPr lang="en-US" altLang="zh-CN" sz="20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	TR1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SCON,	#0D0H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PCON,	#00H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串行口在其他方式下的应用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298079"/>
            <a:ext cx="4303987" cy="529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MOV	R1,	#20H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	R2,	#16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	ES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SETB	EA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LOOP:	SJMP	LOOP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中断服务子程序：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ORG	0200H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SREV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CLR	RI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A,	SBUF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	PSW.0,	PZE0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	RB8,	ERR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SJMP	RIGHT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72000" y="1328651"/>
            <a:ext cx="43039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PZE0:	JB	RB8,	ERR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RIGHT:	</a:t>
            </a:r>
            <a:r>
              <a:rPr lang="en-US" altLang="zh-CN" sz="20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@R1,	A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R1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	R2,	FANH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F0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ES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FANH:	RETI</a:t>
            </a:r>
          </a:p>
          <a:p>
            <a:pPr>
              <a:lnSpc>
                <a:spcPct val="13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ERR:	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REN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ES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EA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	F0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串行口在其他方式下的应用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6-7】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8051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串行口按全双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方式收发数据。要求将内部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RAM30H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单元开始的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出去，同时将接收到的数据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到内部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RAM50H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单元开始的数据缓冲区。要求传送的波特率为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2400bit/s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fosc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=6MHz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2822079"/>
            <a:ext cx="8625161" cy="368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ORG	0000H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LJMP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MAIN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ORG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2000H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MAIN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TMOD, #20H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设为模式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TL1,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0FAH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TH1,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0FAH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置定时器初值，波特率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2400bps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	TR1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SCON, #50H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将串行口设置为方式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REN=1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PCON, #00H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SMOD=0</a:t>
            </a: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MOV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R0,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30H	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发送数据区首地址→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串行口在其他方式下的应用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421904"/>
            <a:ext cx="8625161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R1,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接收数据区首地址→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R2,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置发送数据个数→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SETB 	ES					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SETB 	EA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开中断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A,   @R0;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      SUBF,   A;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	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LOOP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SJMP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LOOP     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等待中断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服务子程序：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ORG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0023H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AJMP	SBS1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转至中断服务程序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ORG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0200H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SBS1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JNB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SEND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，为发送中断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ACALL	SIN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，为接收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20000"/>
              </a:lnSpc>
            </a:pP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SJMP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NEXT</a:t>
            </a:r>
          </a:p>
          <a:p>
            <a:pPr lvl="0" fontAlgn="auto">
              <a:lnSpc>
                <a:spcPct val="120000"/>
              </a:lnSpc>
            </a:pP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SEND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ACALL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SOUT		 ;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调用发送子程序</a:t>
            </a:r>
          </a:p>
          <a:p>
            <a:pPr lvl="0" fontAlgn="auto">
              <a:lnSpc>
                <a:spcPct val="120000"/>
              </a:lnSpc>
            </a:pP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NEXT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串行口在其他方式下的应用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421904"/>
            <a:ext cx="8625161" cy="5073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子程序：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SOUT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清发送中断标志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DJNZ 	R2,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LOOP1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数据未发送完，继续发送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	RR1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发送完返回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LOOP1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@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取发送数据到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SBUF,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发送数据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指向下一个数据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RR1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2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子程序：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SIN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清接收中断标志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A,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SBUF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读接收数据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@R1,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存入数据缓冲区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指向下一个存储单元</a:t>
            </a:r>
          </a:p>
          <a:p>
            <a:pPr fontAlgn="auto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pPr fontAlgn="auto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双机通信也称为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点对点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异步串行通信。当两个单片机应用系统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相距很近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时，可将其串行口直接相连实现双机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机通信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中，通信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双方处于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平等地位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，无需识别地址，串行口工作方式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均可实现双机间全双工异步串行通信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要保持通信的可靠性，还需在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收发数据前规定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，包括数据帧格式、差错校验与处理、波特率设置等。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  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6-8】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编制甲机发送乙机接收的双机通信程序。</a:t>
            </a:r>
            <a:endParaRPr lang="en-US" altLang="zh-CN" sz="20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879104"/>
            <a:ext cx="8625161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甲机发送子程序：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ORG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R0,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首地址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50H→R0</a:t>
            </a: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R1,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数据个数→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CLR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SETDATA:	MOV    @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	A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INC      A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INC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DJNZ    R1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       SETDATA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R0,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;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50H→R0</a:t>
            </a: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R1,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数据个数→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</a:p>
          <a:p>
            <a:pPr fontAlgn="auto">
              <a:lnSpc>
                <a:spcPct val="11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SEND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MOV 	TMOD,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设为模式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fontAlgn="auto">
              <a:lnSpc>
                <a:spcPct val="11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TL1,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0FAH		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400133"/>
            <a:ext cx="862516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MOV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TH1,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#0FAH   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置定时器初值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	TR1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SCON, #50H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设串行口为方式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PCON, #00H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; SMOD=0</a:t>
            </a: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TLLS:   		MOV 	SBUF, 	#0AAH	   ;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发送请求接收信号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WFS1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JBC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RYD1    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等待发送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   WFS1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RYD1: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JBC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RYD2    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等待乙机回答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   RYD1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RYD2: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MOV    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SBUF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接收应答信号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XRL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0BBH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JNZ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TLLS               	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乙机未准备好，继续联络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SDD1: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MOV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R0, #50H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首地址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50H→R0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R1, #10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数据个数→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R2, #00H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清校验和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400133"/>
            <a:ext cx="862516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SDD2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MOV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SBUF,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@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发送一个数据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A,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ADD 	A,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@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求校验和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R2,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保存校验和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  	R0 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WFS2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JBC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SDD3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等待发送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   WFS2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SDD3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DJNZ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R1,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SDD2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数据块是否发送完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SBUF,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发送校验和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WFS3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JBC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RYD3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SJMP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WFS3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RYD3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JBC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RYD4    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等待乙机回答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	RYD3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RYD4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MOV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A,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SBUF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JNZ  	SDD1               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回答出错则重发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   SEND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364754"/>
            <a:ext cx="86251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机接收子程序：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ORG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LJMP    RECV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ORG     0023H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LJMP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SEND_INT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ORG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2000H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RECV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MOV 	TMOD,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设为模式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TL1,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0FAH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TH1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0FAH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置定时器初值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	TR1	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SCON,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50H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设串行口为方式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PCON,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SMOD=0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DPTR,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2000H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首地址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2000H→DPTR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R1,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#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		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数据个数→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317129"/>
            <a:ext cx="86251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40H,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清校验和寄存器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	7FH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SETB 	7EH	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标志位初始置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SETB 	ES           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允许接收中断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	EA	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开中断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LOOP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	SJMP 	LOOP	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等待中断</a:t>
            </a:r>
          </a:p>
          <a:p>
            <a:pPr>
              <a:lnSpc>
                <a:spcPct val="12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SEND_INT:	CLR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EA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	 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中断服务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子程序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CLR  	RI          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清中断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JB   	7FH,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RCMD  		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是请求接收信号吗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JB   	7EH,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DATA1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是数据块吗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A,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SBUF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接收校验和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CJNE 	A,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40H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ERR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判断发送是否正确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A,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SBUF,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正确，发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317129"/>
            <a:ext cx="8625161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WFS1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JNB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WFS1       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等待发送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CLR  	TI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SJMP 	RETN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ERR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MOV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A,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0FFH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SBUF,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出错，发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WFS2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JNB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WFS2       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等待发送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CLR  	TI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SJMP 	AGAN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RCMD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SBUF         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接收甲机请求信号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XRL 	A,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0AAH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JZ   	TYDX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SJMP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RETN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TYDX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MOV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0BBH 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发送应答信号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0BBH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WFS3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JNB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WFS3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等待发送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CLR  	TI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CLR  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7FH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6.3.3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3" y="1317129"/>
            <a:ext cx="8625161" cy="5460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SJMP 	RETN</a:t>
            </a:r>
          </a:p>
          <a:p>
            <a:pPr>
              <a:lnSpc>
                <a:spcPct val="114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DATA1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MOV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SBUF         	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接收数据</a:t>
            </a:r>
          </a:p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MOVX 	@DPTR,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INC  	DPTR</a:t>
            </a:r>
          </a:p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ADD 	A,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40H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求校验和</a:t>
            </a:r>
          </a:p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40H,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保存校验和</a:t>
            </a:r>
          </a:p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DJNZ 	R1,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RETN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CLR  	7EH           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数据接收完后清数据标志位</a:t>
            </a:r>
          </a:p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 	RETN</a:t>
            </a:r>
          </a:p>
          <a:p>
            <a:pPr>
              <a:lnSpc>
                <a:spcPct val="114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AGAN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SETB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7FH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SETB 	7EH	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恢复标志位</a:t>
            </a:r>
          </a:p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DPTR,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2000H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首地址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2000H→DPTR</a:t>
            </a:r>
          </a:p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R1,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数据个数→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</a:p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40H,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#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清校验和寄存器</a:t>
            </a:r>
          </a:p>
          <a:p>
            <a:pPr>
              <a:lnSpc>
                <a:spcPct val="114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RETN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 SETB 	EA	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开中断</a:t>
            </a:r>
          </a:p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</a:p>
          <a:p>
            <a:pPr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47980" y="736608"/>
            <a:ext cx="8635669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  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系列单片机串行口方式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可用于多机通信。多机通信常采用一台主机和多台从机组成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主从式多机系统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，主机与各从机之间能实现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全双工通信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，而各从机之间不能直接通信，只能经过主机才能实现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多机通信原理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多机通信的实现主要靠主、从机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正确设置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多机通信控制位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和发送、接收的第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位数据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RB8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当主机给从机发送信息时，要根据发送信息的性质来设置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TB8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，发送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地址帧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TB8=1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，发送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数据或命令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TB8=0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当从机的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SM2=1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时，该从机只接收地址帧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(RB8=1)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，对数据帧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(RB8=0)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将不予理睬。而当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SM2=0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时，该从机接收所有发来的信息。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47980" y="736608"/>
            <a:ext cx="8635669" cy="540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  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多机通信过程</a:t>
            </a:r>
            <a:endParaRPr lang="zh-CN" altLang="en-US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令所有从机的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SM2=1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，处于直接收地址帧的状态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从机复位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(2) 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主机发送一帧地址信息，其中包括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位地址，第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(TB8)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，表示发送的是地址；</a:t>
            </a: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(3) </a:t>
            </a:r>
            <a:r>
              <a:rPr 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从机接收到地址帧后，各自中断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，把接收到的地址与其本机地址进行比较，地址相符的从机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SM2=0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，准备接收主机发来的数据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命令；地址不相符的从机仍保持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SM2=1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，对主机发来的数据帧不予理睬，直到主机发来新的地址帧；</a:t>
            </a:r>
            <a:endParaRPr lang="zh-CN" altLang="en-US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(4) 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主机与被寻址的从机通信，发送</a:t>
            </a:r>
            <a:r>
              <a:rPr 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命令，第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(TB8)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(5) 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被寻址的从机因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SM2=0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，可以接收主机发送的所有数据，当从机接收数据结束时，置位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SM2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，返回接收地址帧状态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复位状态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(6) 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当主机需要改为与其他从机通信时，可再发送地址帧寻址其他从机。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8489" y="728663"/>
            <a:ext cx="863566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6.3.4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多机通信实例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en-US" altLang="zh-CN" sz="20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串行通信的基本概念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MCS-51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单片机串行口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串行口的应用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aphicFrame>
        <p:nvGraphicFramePr>
          <p:cNvPr id="2" name="对象 1"/>
          <p:cNvGraphicFramePr/>
          <p:nvPr/>
        </p:nvGraphicFramePr>
        <p:xfrm>
          <a:off x="2548255" y="1133475"/>
          <a:ext cx="4060825" cy="221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r:id="rId5" imgW="2375535" imgH="1524000" progId="Visio.Drawing.11">
                  <p:embed/>
                </p:oleObj>
              </mc:Choice>
              <mc:Fallback>
                <p:oleObj r:id="rId5" imgW="2375535" imgH="152400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8255" y="1133475"/>
                        <a:ext cx="4060825" cy="221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1615440" y="3699510"/>
          <a:ext cx="5912485" cy="2671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r:id="rId7" imgW="4321175" imgH="1711960" progId="Visio.Drawing.11">
                  <p:embed/>
                </p:oleObj>
              </mc:Choice>
              <mc:Fallback>
                <p:oleObj r:id="rId7" imgW="4321175" imgH="1711960" progId="Visio.Drawing.11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5440" y="3699510"/>
                        <a:ext cx="5912485" cy="2671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6.4.1 RS-232C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总线标准及接口电路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是使用最早、在异步串行通信中应用最广的总线标准。它由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美国电子工业协会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(EIA)1962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年公布，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1969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年最后修订而成。其中，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是英文“推荐标准”的缩写，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是标识号，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表示修改次数。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总线标准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短距离或带调制解调器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的通信场合，设备之间的通信距离不大于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时，可以用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电缆直接连接；对于距离大于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以上的长距离通信，需要采用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调制解调器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才能实现。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传输速率最大为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20Kbps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【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标准总线为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条信号线，采用一个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脚的连接器，一般使用标准的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芯插头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DB-25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负逻辑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，即逻辑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用－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～－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表示，逻辑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表示。因此，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电平直接相连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6.4.1 RS-232C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总线标准及接口电路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接口电路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——MAX232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MAX232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MAXIM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公司生产的包含两路接收器和驱动器的专用集成电路，用于完成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电平与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电平转换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MAX232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内部有一个电源电压变换器，可以把输入的＋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电压变换成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输出电平所需的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±10V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电压。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aphicFrame>
        <p:nvGraphicFramePr>
          <p:cNvPr id="3" name="对象 2"/>
          <p:cNvGraphicFramePr/>
          <p:nvPr/>
        </p:nvGraphicFramePr>
        <p:xfrm>
          <a:off x="1066800" y="3534410"/>
          <a:ext cx="7027545" cy="2713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6" imgW="6642735" imgH="2590800" progId="Visio.Drawing.11">
                  <p:embed/>
                </p:oleObj>
              </mc:Choice>
              <mc:Fallback>
                <p:oleObj r:id="rId6" imgW="6642735" imgH="2590800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6800" y="3534410"/>
                        <a:ext cx="7027545" cy="2713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6.4.1 RS-232C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总线标准及接口电路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操作说明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1’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，单片机回复‘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a’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2’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，单片机回复‘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k’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其他字符，单片机回复‘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’;PC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F’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，单片机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回复 “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Connect...”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89" y="2489052"/>
            <a:ext cx="8314011" cy="41435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6.4.2 RS-422/485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总线标准及接口电路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RS-422/485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总线标准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差分接收、差分发送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工作方式，不需要数字地线。它使用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双绞线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传输信号，根据两条传输线之间的电位差值来决定逻辑状态。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接口电路采用高输入阻抗接收器和比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RS-232C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驱动能力更强的发送驱动器，可以在相同的传输线上连接多个接收节点，所以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支持点对多的双向通信。 【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工控机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RS-485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的变型。它是多发送器的电路标准，允许双绞线上一个发送器驱动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个负载设备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，负载设备可以是被动发送器、接收器或收发器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RS-422/485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最大传输距离为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，最大传输速率为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10Mbps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6.4.2 RS-422/485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总线标准及接口电路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RS-422/485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接口电路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4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MAX485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MAX485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是用于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RS-422/485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差分平衡收发器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MAXIM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公司生产。芯片内部包含一个驱动器和一个接收器，适用于半双工通信。其主要特性如下：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传输线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上可连接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个收发器；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驱动过载保护；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传输速率为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2.5Mbps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共模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输入电压范围为－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7V~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工作电流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范围为：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120µA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500µA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(6)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供电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电源：＋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常用串行通信总线标准及接口电路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253ae243-bdd0-4751-99ff-5b437600b9ee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5fe39f20-253b-4228-9398-a5c1af2bf82b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46f3c4a5-2cb7-44fa-af54-516b3de736ad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6769</Words>
  <Application>Microsoft Office PowerPoint</Application>
  <PresentationFormat>全屏显示(4:3)</PresentationFormat>
  <Paragraphs>1051</Paragraphs>
  <Slides>75</Slides>
  <Notes>70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75</vt:i4>
      </vt:variant>
    </vt:vector>
  </HeadingPairs>
  <TitlesOfParts>
    <vt:vector size="87" baseType="lpstr">
      <vt:lpstr>华文中宋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Visio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GXH</dc:creator>
  <cp:lastModifiedBy>AHU</cp:lastModifiedBy>
  <cp:revision>605</cp:revision>
  <dcterms:created xsi:type="dcterms:W3CDTF">2019-03-15T01:02:00Z</dcterms:created>
  <dcterms:modified xsi:type="dcterms:W3CDTF">2022-06-15T00:19:06Z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