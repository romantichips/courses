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2"/>
  </p:handoutMasterIdLst>
  <p:sldIdLst>
    <p:sldId id="256" r:id="rId3"/>
    <p:sldId id="969" r:id="rId5"/>
    <p:sldId id="970" r:id="rId6"/>
    <p:sldId id="971" r:id="rId7"/>
    <p:sldId id="981" r:id="rId8"/>
    <p:sldId id="983" r:id="rId9"/>
    <p:sldId id="988" r:id="rId10"/>
    <p:sldId id="1016" r:id="rId11"/>
    <p:sldId id="1020" r:id="rId12"/>
    <p:sldId id="1051" r:id="rId13"/>
    <p:sldId id="1052" r:id="rId14"/>
    <p:sldId id="1067" r:id="rId15"/>
    <p:sldId id="1071" r:id="rId16"/>
    <p:sldId id="1073" r:id="rId17"/>
    <p:sldId id="1074" r:id="rId18"/>
    <p:sldId id="1075" r:id="rId19"/>
    <p:sldId id="1076" r:id="rId20"/>
    <p:sldId id="1088" r:id="rId21"/>
    <p:sldId id="1096" r:id="rId22"/>
    <p:sldId id="1098" r:id="rId23"/>
    <p:sldId id="1099" r:id="rId24"/>
    <p:sldId id="1101" r:id="rId25"/>
    <p:sldId id="1104" r:id="rId26"/>
    <p:sldId id="1106" r:id="rId27"/>
    <p:sldId id="1108" r:id="rId28"/>
    <p:sldId id="1112" r:id="rId29"/>
    <p:sldId id="1113" r:id="rId30"/>
    <p:sldId id="1131" r:id="rId31"/>
    <p:sldId id="1132" r:id="rId32"/>
    <p:sldId id="1169" r:id="rId33"/>
    <p:sldId id="1174" r:id="rId34"/>
    <p:sldId id="1186" r:id="rId35"/>
    <p:sldId id="1196" r:id="rId36"/>
    <p:sldId id="1198" r:id="rId37"/>
    <p:sldId id="1200" r:id="rId38"/>
    <p:sldId id="1202" r:id="rId39"/>
    <p:sldId id="1215" r:id="rId40"/>
    <p:sldId id="1216" r:id="rId41"/>
    <p:sldId id="1218" r:id="rId42"/>
    <p:sldId id="1219" r:id="rId43"/>
    <p:sldId id="1220" r:id="rId44"/>
    <p:sldId id="1221" r:id="rId45"/>
    <p:sldId id="1222" r:id="rId46"/>
    <p:sldId id="1224" r:id="rId47"/>
    <p:sldId id="1225" r:id="rId48"/>
    <p:sldId id="1226" r:id="rId49"/>
    <p:sldId id="1227" r:id="rId50"/>
    <p:sldId id="1228" r:id="rId51"/>
    <p:sldId id="1229" r:id="rId52"/>
    <p:sldId id="1230" r:id="rId53"/>
    <p:sldId id="1231" r:id="rId54"/>
    <p:sldId id="1234" r:id="rId55"/>
    <p:sldId id="1235" r:id="rId56"/>
    <p:sldId id="1237" r:id="rId57"/>
    <p:sldId id="1238" r:id="rId58"/>
    <p:sldId id="1239" r:id="rId59"/>
    <p:sldId id="1240" r:id="rId60"/>
    <p:sldId id="1242" r:id="rId61"/>
    <p:sldId id="1247" r:id="rId62"/>
    <p:sldId id="1249" r:id="rId63"/>
    <p:sldId id="1251" r:id="rId64"/>
    <p:sldId id="1253" r:id="rId65"/>
    <p:sldId id="1254" r:id="rId66"/>
    <p:sldId id="1255" r:id="rId67"/>
    <p:sldId id="1257" r:id="rId68"/>
    <p:sldId id="1258" r:id="rId69"/>
    <p:sldId id="1261" r:id="rId70"/>
    <p:sldId id="1262" r:id="rId71"/>
    <p:sldId id="1263" r:id="rId72"/>
    <p:sldId id="1264" r:id="rId73"/>
    <p:sldId id="1265" r:id="rId74"/>
    <p:sldId id="1266" r:id="rId75"/>
    <p:sldId id="1267" r:id="rId76"/>
    <p:sldId id="1268" r:id="rId77"/>
    <p:sldId id="1297" r:id="rId78"/>
    <p:sldId id="1299" r:id="rId79"/>
    <p:sldId id="1301" r:id="rId80"/>
    <p:sldId id="1306" r:id="rId81"/>
    <p:sldId id="1315" r:id="rId82"/>
    <p:sldId id="1316" r:id="rId83"/>
    <p:sldId id="1322" r:id="rId84"/>
    <p:sldId id="1330" r:id="rId85"/>
    <p:sldId id="1332" r:id="rId86"/>
    <p:sldId id="1334" r:id="rId87"/>
    <p:sldId id="1336" r:id="rId88"/>
    <p:sldId id="1340" r:id="rId89"/>
    <p:sldId id="1341" r:id="rId90"/>
    <p:sldId id="1343" r:id="rId91"/>
    <p:sldId id="1344" r:id="rId92"/>
    <p:sldId id="1346" r:id="rId93"/>
    <p:sldId id="1347" r:id="rId94"/>
    <p:sldId id="1350" r:id="rId95"/>
    <p:sldId id="1351" r:id="rId96"/>
    <p:sldId id="1352" r:id="rId97"/>
    <p:sldId id="1353" r:id="rId98"/>
    <p:sldId id="1354" r:id="rId99"/>
    <p:sldId id="1358" r:id="rId100"/>
    <p:sldId id="1368" r:id="rId101"/>
  </p:sldIdLst>
  <p:sldSz cx="9144000" cy="6858000" type="screen4x3"/>
  <p:notesSz cx="6834505" cy="9979025"/>
  <p:custDataLst>
    <p:tags r:id="rId10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爱玲" initials="张" lastIdx="1" clrIdx="0"/>
  <p:cmAuthor id="2" name="Maksim Skorobogatiy" initials="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3"/>
    <p:restoredTop sz="94660"/>
  </p:normalViewPr>
  <p:slideViewPr>
    <p:cSldViewPr showGuides="1">
      <p:cViewPr varScale="1">
        <p:scale>
          <a:sx n="94" d="100"/>
          <a:sy n="94" d="100"/>
        </p:scale>
        <p:origin x="1556" y="68"/>
      </p:cViewPr>
      <p:guideLst>
        <p:guide orient="horz" pos="2161"/>
        <p:guide pos="2880"/>
      </p:guideLst>
    </p:cSldViewPr>
  </p:slideViewPr>
  <p:outlineViewPr>
    <p:cViewPr>
      <p:scale>
        <a:sx n="33" d="100"/>
        <a:sy n="33" d="100"/>
      </p:scale>
      <p:origin x="0" y="-40536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-206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7" Type="http://schemas.openxmlformats.org/officeDocument/2006/relationships/tags" Target="tags/tag3.xml"/><Relationship Id="rId106" Type="http://schemas.openxmlformats.org/officeDocument/2006/relationships/commentAuthors" Target="commentAuthors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.emf"/><Relationship Id="rId8" Type="http://schemas.openxmlformats.org/officeDocument/2006/relationships/image" Target="../media/image39.emf"/><Relationship Id="rId7" Type="http://schemas.openxmlformats.org/officeDocument/2006/relationships/image" Target="../media/image38.emf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3" Type="http://schemas.openxmlformats.org/officeDocument/2006/relationships/image" Target="../media/image44.emf"/><Relationship Id="rId12" Type="http://schemas.openxmlformats.org/officeDocument/2006/relationships/image" Target="../media/image43.emf"/><Relationship Id="rId11" Type="http://schemas.openxmlformats.org/officeDocument/2006/relationships/image" Target="../media/image42.emf"/><Relationship Id="rId10" Type="http://schemas.openxmlformats.org/officeDocument/2006/relationships/image" Target="../media/image41.emf"/><Relationship Id="rId1" Type="http://schemas.openxmlformats.org/officeDocument/2006/relationships/image" Target="../media/image32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emf"/><Relationship Id="rId8" Type="http://schemas.openxmlformats.org/officeDocument/2006/relationships/image" Target="../media/image52.emf"/><Relationship Id="rId7" Type="http://schemas.openxmlformats.org/officeDocument/2006/relationships/image" Target="../media/image51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2" Type="http://schemas.openxmlformats.org/officeDocument/2006/relationships/image" Target="../media/image56.emf"/><Relationship Id="rId11" Type="http://schemas.openxmlformats.org/officeDocument/2006/relationships/image" Target="../media/image55.emf"/><Relationship Id="rId10" Type="http://schemas.openxmlformats.org/officeDocument/2006/relationships/image" Target="../media/image54.emf"/><Relationship Id="rId1" Type="http://schemas.openxmlformats.org/officeDocument/2006/relationships/image" Target="../media/image45.e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66.emf"/><Relationship Id="rId8" Type="http://schemas.openxmlformats.org/officeDocument/2006/relationships/image" Target="../media/image65.emf"/><Relationship Id="rId7" Type="http://schemas.openxmlformats.org/officeDocument/2006/relationships/image" Target="../media/image64.emf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4" Type="http://schemas.openxmlformats.org/officeDocument/2006/relationships/image" Target="../media/image71.emf"/><Relationship Id="rId13" Type="http://schemas.openxmlformats.org/officeDocument/2006/relationships/image" Target="../media/image70.emf"/><Relationship Id="rId12" Type="http://schemas.openxmlformats.org/officeDocument/2006/relationships/image" Target="../media/image69.emf"/><Relationship Id="rId11" Type="http://schemas.openxmlformats.org/officeDocument/2006/relationships/image" Target="../media/image68.emf"/><Relationship Id="rId10" Type="http://schemas.openxmlformats.org/officeDocument/2006/relationships/image" Target="../media/image67.emf"/><Relationship Id="rId1" Type="http://schemas.openxmlformats.org/officeDocument/2006/relationships/image" Target="../media/image58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7" Type="http://schemas.openxmlformats.org/officeDocument/2006/relationships/image" Target="../media/image78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image" Target="../media/image8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6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3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4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43.wmf"/><Relationship Id="rId1" Type="http://schemas.openxmlformats.org/officeDocument/2006/relationships/image" Target="../media/image144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3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71913" y="0"/>
            <a:ext cx="2960688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D5BE7BA-D1EF-482D-B074-41AE090B4C24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23863" y="1247775"/>
            <a:ext cx="5986462" cy="3367088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4213" y="4802188"/>
            <a:ext cx="5467350" cy="3929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78963"/>
            <a:ext cx="2962275" cy="500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71913" y="9478963"/>
            <a:ext cx="2960688" cy="5000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7" Type="http://schemas.openxmlformats.org/officeDocument/2006/relationships/hyperlink" Target="http://www.phys.ksu.edu/perg/vqm/laserweb/Ch-10/F10s1p2.htm" TargetMode="External"/><Relationship Id="rId6" Type="http://schemas.openxmlformats.org/officeDocument/2006/relationships/hyperlink" Target="http://www.phys.ksu.edu/perg/vqm/laserweb/Glossary/Glossary.htm" TargetMode="External"/><Relationship Id="rId5" Type="http://schemas.openxmlformats.org/officeDocument/2006/relationships/hyperlink" Target="http://www.phys.ksu.edu/perg/vqm/laserweb/Ch-5/F5s1p9.htm" TargetMode="External"/><Relationship Id="rId4" Type="http://schemas.openxmlformats.org/officeDocument/2006/relationships/hyperlink" Target="http://www.phys.ksu.edu/perg/vqm/laserweb/Ch-5/F5s1p8.htm" TargetMode="External"/><Relationship Id="rId3" Type="http://schemas.openxmlformats.org/officeDocument/2006/relationships/hyperlink" Target="http://www.phys.ksu.edu/perg/vqm/laserweb/Ch-5/F5s1p7.ht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>
            <a:spLocks noGrp="1" noRot="1" noTextEdit="1"/>
          </p:cNvSpPr>
          <p:nvPr>
            <p:ph type="sldImg"/>
          </p:nvPr>
        </p:nvSpPr>
        <p:spPr>
          <a:xfrm>
            <a:off x="1171575" y="1247775"/>
            <a:ext cx="4491038" cy="3367088"/>
          </a:xfrm>
          <a:ln>
            <a:miter/>
          </a:ln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>
          <a:xfrm>
            <a:off x="684213" y="4802188"/>
            <a:ext cx="5467350" cy="3929062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页眉占位符 1"/>
          <p:cNvSpPr/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sz="1200" dirty="0">
                <a:latin typeface="Tahoma" panose="020B0604030504040204" pitchFamily="34" charset="0"/>
              </a:rPr>
              <a:t>激光原理</a:t>
            </a:r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68610" name="页脚占位符 2"/>
          <p:cNvSpPr/>
          <p:nvPr>
            <p:ph type="ftr" sz="quarte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/>
            <a:r>
              <a:rPr lang="zh-CN" altLang="en-US" sz="1200" dirty="0">
                <a:latin typeface="Tahoma" panose="020B0604030504040204" pitchFamily="34" charset="0"/>
              </a:rPr>
              <a:t>福建师范大学物光学院    陈建新</a:t>
            </a:r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68611" name="灯片编号占位符 3"/>
          <p:cNvSpPr/>
          <p:nvPr>
            <p:ph type="sldNum" sz="quarter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68612" name="幻灯片图像占位符 718849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8613" name="文本占位符 718850"/>
          <p:cNvSpPr>
            <a:spLocks noGrp="1"/>
          </p:cNvSpPr>
          <p:nvPr>
            <p:ph type="body"/>
          </p:nvPr>
        </p:nvSpPr>
        <p:spPr>
          <a:xfrm>
            <a:off x="914400" y="3300413"/>
            <a:ext cx="7315200" cy="2700337"/>
          </a:xfrm>
          <a:noFill/>
          <a:ln>
            <a:noFill/>
          </a:ln>
        </p:spPr>
        <p:txBody>
          <a:bodyPr lIns="91440" tIns="45720" rIns="91440" bIns="45720" anchor="t" anchorCtr="0"/>
          <a:p>
            <a:pPr lvl="0"/>
            <a:r>
              <a:rPr lang="en-US" altLang="zh-CN"/>
              <a:t>Certain mechanisms are responsible for broadening the </a:t>
            </a:r>
            <a:r>
              <a:rPr lang="en-US" altLang="zh-CN" dirty="0" err="1"/>
              <a:t>linewidth</a:t>
            </a:r>
            <a:r>
              <a:rPr lang="en-US" altLang="zh-CN"/>
              <a:t> of a laser: </a:t>
            </a:r>
            <a:endParaRPr lang="en-US" altLang="zh-CN"/>
          </a:p>
          <a:p>
            <a:pPr lvl="0"/>
            <a:r>
              <a:rPr lang="en-US" altLang="zh-CN"/>
              <a:t>1. </a:t>
            </a:r>
            <a:r>
              <a:rPr lang="en-US" altLang="zh-CN" b="1">
                <a:hlinkClick r:id="rId3"/>
              </a:rPr>
              <a:t>Natural broadening</a:t>
            </a:r>
            <a:r>
              <a:rPr lang="en-US" altLang="zh-CN"/>
              <a:t>. 2. </a:t>
            </a:r>
            <a:r>
              <a:rPr lang="en-US" altLang="zh-CN" b="1" u="sng">
                <a:hlinkClick r:id="rId4"/>
              </a:rPr>
              <a:t>Doppler Broadening</a:t>
            </a:r>
            <a:r>
              <a:rPr lang="en-US" altLang="zh-CN"/>
              <a:t>. </a:t>
            </a:r>
            <a:endParaRPr lang="en-US" altLang="zh-CN"/>
          </a:p>
          <a:p>
            <a:pPr lvl="0"/>
            <a:r>
              <a:rPr lang="en-US" altLang="zh-CN"/>
              <a:t>3. </a:t>
            </a:r>
            <a:r>
              <a:rPr lang="en-US" altLang="zh-CN" b="1" u="sng">
                <a:hlinkClick r:id="rId5"/>
              </a:rPr>
              <a:t>Pressure broadening</a:t>
            </a:r>
            <a:r>
              <a:rPr lang="en-US" altLang="zh-CN"/>
              <a:t>.</a:t>
            </a:r>
            <a:endParaRPr lang="en-US" altLang="zh-CN"/>
          </a:p>
          <a:p>
            <a:pPr lvl="0"/>
            <a:r>
              <a:rPr lang="en-US" altLang="zh-CN"/>
              <a:t>For many applications, especially when </a:t>
            </a:r>
            <a:r>
              <a:rPr lang="en-US" altLang="zh-CN" b="1" u="sng">
                <a:hlinkClick r:id="rId6"/>
              </a:rPr>
              <a:t>temporal coherence</a:t>
            </a:r>
            <a:r>
              <a:rPr lang="en-US" altLang="zh-CN"/>
              <a:t> is required (as explained in </a:t>
            </a:r>
            <a:r>
              <a:rPr lang="en-US" altLang="zh-CN" b="1">
                <a:hlinkClick r:id="rId7"/>
              </a:rPr>
              <a:t>chapter 10</a:t>
            </a:r>
            <a:r>
              <a:rPr lang="en-US" altLang="zh-CN"/>
              <a:t>), a </a:t>
            </a:r>
            <a:r>
              <a:rPr lang="en-US" altLang="zh-CN" b="1">
                <a:solidFill>
                  <a:srgbClr val="FF0000"/>
                </a:solidFill>
              </a:rPr>
              <a:t>small </a:t>
            </a:r>
            <a:r>
              <a:rPr lang="en-US" altLang="zh-CN" b="1" dirty="0" err="1">
                <a:solidFill>
                  <a:srgbClr val="FF0000"/>
                </a:solidFill>
              </a:rPr>
              <a:t>linewidth</a:t>
            </a:r>
            <a:r>
              <a:rPr lang="en-US" altLang="zh-CN" b="1">
                <a:solidFill>
                  <a:srgbClr val="FF0000"/>
                </a:solidFill>
              </a:rPr>
              <a:t> of the emitted laser wavelength is required</a:t>
            </a:r>
            <a:r>
              <a:rPr lang="en-US" altLang="zh-CN"/>
              <a:t>. </a:t>
            </a:r>
            <a:br>
              <a:rPr lang="en-US" altLang="zh-CN"/>
            </a:b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2457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charset="0"/>
              <a:buNone/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7695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7695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7695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85800"/>
            <a:ext cx="854075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、文本和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85800"/>
            <a:ext cx="854075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1375" y="19812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1375" y="40005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1625" y="685800"/>
            <a:ext cx="854075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04800" y="19812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1375" y="19812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04800" y="40005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1375" y="40005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、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85800"/>
            <a:ext cx="854075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1375" y="19812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1375" y="4000500"/>
            <a:ext cx="4194175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Garamond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Garamond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6858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304800" y="1981200"/>
            <a:ext cx="854075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charset="0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charset="0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charset="0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charset="0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emf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8.e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5.e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15.xml"/><Relationship Id="rId10" Type="http://schemas.openxmlformats.org/officeDocument/2006/relationships/image" Target="../media/image19.emf"/><Relationship Id="rId1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3.png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0.emf"/><Relationship Id="rId1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25.e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7.emf"/><Relationship Id="rId1" Type="http://schemas.openxmlformats.org/officeDocument/2006/relationships/oleObject" Target="../embeddings/oleObject19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wmf"/><Relationship Id="rId2" Type="http://schemas.openxmlformats.org/officeDocument/2006/relationships/oleObject" Target="../embeddings/oleObject22.bin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35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34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3.emf"/><Relationship Id="rId3" Type="http://schemas.openxmlformats.org/officeDocument/2006/relationships/oleObject" Target="../embeddings/oleObject24.bin"/><Relationship Id="rId28" Type="http://schemas.openxmlformats.org/officeDocument/2006/relationships/vmlDrawing" Target="../drawings/vmlDrawing11.v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44.emf"/><Relationship Id="rId25" Type="http://schemas.openxmlformats.org/officeDocument/2006/relationships/oleObject" Target="../embeddings/oleObject35.bin"/><Relationship Id="rId24" Type="http://schemas.openxmlformats.org/officeDocument/2006/relationships/image" Target="../media/image43.emf"/><Relationship Id="rId23" Type="http://schemas.openxmlformats.org/officeDocument/2006/relationships/oleObject" Target="../embeddings/oleObject34.bin"/><Relationship Id="rId22" Type="http://schemas.openxmlformats.org/officeDocument/2006/relationships/image" Target="../media/image42.emf"/><Relationship Id="rId21" Type="http://schemas.openxmlformats.org/officeDocument/2006/relationships/oleObject" Target="../embeddings/oleObject33.bin"/><Relationship Id="rId20" Type="http://schemas.openxmlformats.org/officeDocument/2006/relationships/image" Target="../media/image41.emf"/><Relationship Id="rId2" Type="http://schemas.openxmlformats.org/officeDocument/2006/relationships/image" Target="../media/image32.emf"/><Relationship Id="rId19" Type="http://schemas.openxmlformats.org/officeDocument/2006/relationships/oleObject" Target="../embeddings/oleObject32.bin"/><Relationship Id="rId18" Type="http://schemas.openxmlformats.org/officeDocument/2006/relationships/image" Target="../media/image40.e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9.e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38.e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37.e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36.emf"/><Relationship Id="rId1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8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7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6.emf"/><Relationship Id="rId3" Type="http://schemas.openxmlformats.org/officeDocument/2006/relationships/oleObject" Target="../embeddings/oleObject37.bin"/><Relationship Id="rId26" Type="http://schemas.openxmlformats.org/officeDocument/2006/relationships/vmlDrawing" Target="../drawings/vmlDrawing12.v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56.emf"/><Relationship Id="rId23" Type="http://schemas.openxmlformats.org/officeDocument/2006/relationships/oleObject" Target="../embeddings/oleObject47.bin"/><Relationship Id="rId22" Type="http://schemas.openxmlformats.org/officeDocument/2006/relationships/image" Target="../media/image55.emf"/><Relationship Id="rId21" Type="http://schemas.openxmlformats.org/officeDocument/2006/relationships/oleObject" Target="../embeddings/oleObject46.bin"/><Relationship Id="rId20" Type="http://schemas.openxmlformats.org/officeDocument/2006/relationships/image" Target="../media/image54.emf"/><Relationship Id="rId2" Type="http://schemas.openxmlformats.org/officeDocument/2006/relationships/image" Target="../media/image45.emf"/><Relationship Id="rId19" Type="http://schemas.openxmlformats.org/officeDocument/2006/relationships/oleObject" Target="../embeddings/oleObject45.bin"/><Relationship Id="rId18" Type="http://schemas.openxmlformats.org/officeDocument/2006/relationships/image" Target="../media/image53.e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52.e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51.e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50.e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9.emf"/><Relationship Id="rId1" Type="http://schemas.openxmlformats.org/officeDocument/2006/relationships/oleObject" Target="../embeddings/oleObject3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GIF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61.e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60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9.emf"/><Relationship Id="rId30" Type="http://schemas.openxmlformats.org/officeDocument/2006/relationships/vmlDrawing" Target="../drawings/vmlDrawing13.vml"/><Relationship Id="rId3" Type="http://schemas.openxmlformats.org/officeDocument/2006/relationships/oleObject" Target="../embeddings/oleObject49.bin"/><Relationship Id="rId29" Type="http://schemas.openxmlformats.org/officeDocument/2006/relationships/slideLayout" Target="../slideLayouts/slideLayout13.xml"/><Relationship Id="rId28" Type="http://schemas.openxmlformats.org/officeDocument/2006/relationships/image" Target="../media/image71.emf"/><Relationship Id="rId27" Type="http://schemas.openxmlformats.org/officeDocument/2006/relationships/oleObject" Target="../embeddings/oleObject61.bin"/><Relationship Id="rId26" Type="http://schemas.openxmlformats.org/officeDocument/2006/relationships/image" Target="../media/image70.emf"/><Relationship Id="rId25" Type="http://schemas.openxmlformats.org/officeDocument/2006/relationships/oleObject" Target="../embeddings/oleObject60.bin"/><Relationship Id="rId24" Type="http://schemas.openxmlformats.org/officeDocument/2006/relationships/image" Target="../media/image69.emf"/><Relationship Id="rId23" Type="http://schemas.openxmlformats.org/officeDocument/2006/relationships/oleObject" Target="../embeddings/oleObject59.bin"/><Relationship Id="rId22" Type="http://schemas.openxmlformats.org/officeDocument/2006/relationships/image" Target="../media/image68.emf"/><Relationship Id="rId21" Type="http://schemas.openxmlformats.org/officeDocument/2006/relationships/oleObject" Target="../embeddings/oleObject58.bin"/><Relationship Id="rId20" Type="http://schemas.openxmlformats.org/officeDocument/2006/relationships/image" Target="../media/image67.emf"/><Relationship Id="rId2" Type="http://schemas.openxmlformats.org/officeDocument/2006/relationships/image" Target="../media/image58.emf"/><Relationship Id="rId19" Type="http://schemas.openxmlformats.org/officeDocument/2006/relationships/oleObject" Target="../embeddings/oleObject57.bin"/><Relationship Id="rId18" Type="http://schemas.openxmlformats.org/officeDocument/2006/relationships/image" Target="../media/image66.emf"/><Relationship Id="rId17" Type="http://schemas.openxmlformats.org/officeDocument/2006/relationships/oleObject" Target="../embeddings/oleObject56.bin"/><Relationship Id="rId16" Type="http://schemas.openxmlformats.org/officeDocument/2006/relationships/image" Target="../media/image65.emf"/><Relationship Id="rId15" Type="http://schemas.openxmlformats.org/officeDocument/2006/relationships/oleObject" Target="../embeddings/oleObject55.bin"/><Relationship Id="rId14" Type="http://schemas.openxmlformats.org/officeDocument/2006/relationships/image" Target="../media/image64.emf"/><Relationship Id="rId13" Type="http://schemas.openxmlformats.org/officeDocument/2006/relationships/oleObject" Target="../embeddings/oleObject54.bin"/><Relationship Id="rId12" Type="http://schemas.openxmlformats.org/officeDocument/2006/relationships/image" Target="../media/image63.e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62.emf"/><Relationship Id="rId1" Type="http://schemas.openxmlformats.org/officeDocument/2006/relationships/oleObject" Target="../embeddings/oleObject48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75.e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74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3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72.emf"/><Relationship Id="rId18" Type="http://schemas.openxmlformats.org/officeDocument/2006/relationships/vmlDrawing" Target="../drawings/vmlDrawing14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79.emf"/><Relationship Id="rId15" Type="http://schemas.openxmlformats.org/officeDocument/2006/relationships/oleObject" Target="../embeddings/oleObject69.bin"/><Relationship Id="rId14" Type="http://schemas.openxmlformats.org/officeDocument/2006/relationships/image" Target="../media/image78.emf"/><Relationship Id="rId13" Type="http://schemas.openxmlformats.org/officeDocument/2006/relationships/oleObject" Target="../embeddings/oleObject68.bin"/><Relationship Id="rId12" Type="http://schemas.openxmlformats.org/officeDocument/2006/relationships/image" Target="../media/image77.e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76.emf"/><Relationship Id="rId1" Type="http://schemas.openxmlformats.org/officeDocument/2006/relationships/oleObject" Target="../embeddings/oleObject62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emf"/><Relationship Id="rId2" Type="http://schemas.openxmlformats.org/officeDocument/2006/relationships/oleObject" Target="../embeddings/oleObject70.bin"/><Relationship Id="rId1" Type="http://schemas.openxmlformats.org/officeDocument/2006/relationships/slide" Target="slide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1.wmf"/><Relationship Id="rId1" Type="http://schemas.openxmlformats.org/officeDocument/2006/relationships/oleObject" Target="../embeddings/oleObject71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4.png"/><Relationship Id="rId2" Type="http://schemas.openxmlformats.org/officeDocument/2006/relationships/image" Target="../media/image83.wmf"/><Relationship Id="rId1" Type="http://schemas.openxmlformats.org/officeDocument/2006/relationships/oleObject" Target="../embeddings/oleObject72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5.wmf"/><Relationship Id="rId1" Type="http://schemas.openxmlformats.org/officeDocument/2006/relationships/oleObject" Target="../embeddings/oleObject73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6.wmf"/><Relationship Id="rId1" Type="http://schemas.openxmlformats.org/officeDocument/2006/relationships/oleObject" Target="../embeddings/oleObject74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9.png"/><Relationship Id="rId3" Type="http://schemas.openxmlformats.org/officeDocument/2006/relationships/oleObject" Target="../embeddings/oleObject76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7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oleObject" Target="../embeddings/oleObject79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90.wmf"/><Relationship Id="rId1" Type="http://schemas.openxmlformats.org/officeDocument/2006/relationships/oleObject" Target="../embeddings/oleObject77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92.wmf"/><Relationship Id="rId1" Type="http://schemas.openxmlformats.org/officeDocument/2006/relationships/oleObject" Target="../embeddings/oleObject80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5.wmf"/><Relationship Id="rId1" Type="http://schemas.openxmlformats.org/officeDocument/2006/relationships/oleObject" Target="../embeddings/oleObject83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6.wmf"/><Relationship Id="rId1" Type="http://schemas.openxmlformats.org/officeDocument/2006/relationships/oleObject" Target="../embeddings/oleObject84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97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85.bin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101.wmf"/><Relationship Id="rId1" Type="http://schemas.openxmlformats.org/officeDocument/2006/relationships/oleObject" Target="../embeddings/oleObject89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3.wmf"/><Relationship Id="rId1" Type="http://schemas.openxmlformats.org/officeDocument/2006/relationships/oleObject" Target="../embeddings/oleObject91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4.wmf"/><Relationship Id="rId1" Type="http://schemas.openxmlformats.org/officeDocument/2006/relationships/oleObject" Target="../embeddings/oleObject92.bin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94.bin"/><Relationship Id="rId3" Type="http://schemas.openxmlformats.org/officeDocument/2006/relationships/image" Target="../media/image104.wmf"/><Relationship Id="rId2" Type="http://schemas.openxmlformats.org/officeDocument/2006/relationships/oleObject" Target="../embeddings/oleObject93.bin"/><Relationship Id="rId1" Type="http://schemas.openxmlformats.org/officeDocument/2006/relationships/image" Target="../media/image105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7.wmf"/><Relationship Id="rId1" Type="http://schemas.openxmlformats.org/officeDocument/2006/relationships/oleObject" Target="../embeddings/oleObject95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108.wmf"/><Relationship Id="rId1" Type="http://schemas.openxmlformats.org/officeDocument/2006/relationships/oleObject" Target="../embeddings/oleObject96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0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2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3.jpeg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14.wmf"/><Relationship Id="rId1" Type="http://schemas.openxmlformats.org/officeDocument/2006/relationships/oleObject" Target="../embeddings/oleObject98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01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00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1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2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3.wmf"/><Relationship Id="rId1" Type="http://schemas.openxmlformats.org/officeDocument/2006/relationships/oleObject" Target="../embeddings/oleObject103.bin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24.wmf"/><Relationship Id="rId1" Type="http://schemas.openxmlformats.org/officeDocument/2006/relationships/oleObject" Target="../embeddings/oleObject104.bin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6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image" Target="../media/image126.wmf"/><Relationship Id="rId1" Type="http://schemas.openxmlformats.org/officeDocument/2006/relationships/oleObject" Target="../embeddings/oleObject106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5.3.1%20&#20809;&#36724;.swf" TargetMode="Externa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7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07.bin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30.wmf"/><Relationship Id="rId15" Type="http://schemas.openxmlformats.org/officeDocument/2006/relationships/vmlDrawing" Target="../drawings/vmlDrawing38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36.jpeg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08.bin"/></Relationships>
</file>

<file path=ppt/slides/_rels/slide8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37.wmf"/><Relationship Id="rId1" Type="http://schemas.openxmlformats.org/officeDocument/2006/relationships/oleObject" Target="../embeddings/oleObject114.bin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1.wmf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40.wmf"/><Relationship Id="rId4" Type="http://schemas.openxmlformats.org/officeDocument/2006/relationships/oleObject" Target="../embeddings/oleObject117.bin"/><Relationship Id="rId3" Type="http://schemas.openxmlformats.org/officeDocument/2006/relationships/image" Target="../media/image139.wmf"/><Relationship Id="rId2" Type="http://schemas.openxmlformats.org/officeDocument/2006/relationships/oleObject" Target="../embeddings/oleObject116.bin"/><Relationship Id="rId1" Type="http://schemas.openxmlformats.org/officeDocument/2006/relationships/slide" Target="slide15.xml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42.wmf"/><Relationship Id="rId1" Type="http://schemas.openxmlformats.org/officeDocument/2006/relationships/oleObject" Target="../embeddings/oleObject119.bin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44.wmf"/><Relationship Id="rId10" Type="http://schemas.openxmlformats.org/officeDocument/2006/relationships/vmlDrawing" Target="../drawings/vmlDrawing42.vml"/><Relationship Id="rId1" Type="http://schemas.openxmlformats.org/officeDocument/2006/relationships/oleObject" Target="../embeddings/oleObject121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7.wmf"/><Relationship Id="rId1" Type="http://schemas.openxmlformats.org/officeDocument/2006/relationships/image" Target="../media/image129.wmf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48.wmf"/><Relationship Id="rId1" Type="http://schemas.openxmlformats.org/officeDocument/2006/relationships/oleObject" Target="../embeddings/oleObject125.bin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1.bin"/><Relationship Id="rId8" Type="http://schemas.openxmlformats.org/officeDocument/2006/relationships/image" Target="../media/image153.wmf"/><Relationship Id="rId7" Type="http://schemas.openxmlformats.org/officeDocument/2006/relationships/oleObject" Target="../embeddings/oleObject130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51.wmf"/><Relationship Id="rId3" Type="http://schemas.openxmlformats.org/officeDocument/2006/relationships/oleObject" Target="../embeddings/oleObject128.bin"/><Relationship Id="rId2" Type="http://schemas.openxmlformats.org/officeDocument/2006/relationships/image" Target="../media/image150.wmf"/><Relationship Id="rId18" Type="http://schemas.openxmlformats.org/officeDocument/2006/relationships/vmlDrawing" Target="../drawings/vmlDrawing4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15" Type="http://schemas.openxmlformats.org/officeDocument/2006/relationships/oleObject" Target="../embeddings/oleObject134.bin"/><Relationship Id="rId14" Type="http://schemas.openxmlformats.org/officeDocument/2006/relationships/image" Target="../media/image156.wmf"/><Relationship Id="rId13" Type="http://schemas.openxmlformats.org/officeDocument/2006/relationships/oleObject" Target="../embeddings/oleObject133.bin"/><Relationship Id="rId12" Type="http://schemas.openxmlformats.org/officeDocument/2006/relationships/image" Target="../media/image155.wmf"/><Relationship Id="rId11" Type="http://schemas.openxmlformats.org/officeDocument/2006/relationships/oleObject" Target="../embeddings/oleObject132.bin"/><Relationship Id="rId10" Type="http://schemas.openxmlformats.org/officeDocument/2006/relationships/image" Target="../media/image154.wmf"/><Relationship Id="rId1" Type="http://schemas.openxmlformats.org/officeDocument/2006/relationships/oleObject" Target="../embeddings/oleObject127.bin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58.wmf"/><Relationship Id="rId1" Type="http://schemas.openxmlformats.org/officeDocument/2006/relationships/oleObject" Target="../embeddings/oleObject135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60.wmf"/><Relationship Id="rId1" Type="http://schemas.openxmlformats.org/officeDocument/2006/relationships/oleObject" Target="../embeddings/oleObject137.bin"/></Relationships>
</file>

<file path=ppt/slides/_rels/slide9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4.png"/><Relationship Id="rId2" Type="http://schemas.openxmlformats.org/officeDocument/2006/relationships/image" Target="../media/image163.wmf"/><Relationship Id="rId1" Type="http://schemas.openxmlformats.org/officeDocument/2006/relationships/oleObject" Target="../embeddings/oleObject140.bin"/></Relationships>
</file>

<file path=ppt/slides/_rels/slide9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6.png"/><Relationship Id="rId2" Type="http://schemas.openxmlformats.org/officeDocument/2006/relationships/image" Target="../media/image165.wmf"/><Relationship Id="rId1" Type="http://schemas.openxmlformats.org/officeDocument/2006/relationships/oleObject" Target="../embeddings/oleObject1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 noRot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dirty="0">
                <a:latin typeface="+mj-lt"/>
                <a:ea typeface="+mj-ea"/>
                <a:cs typeface="+mj-cs"/>
              </a:rPr>
              <a:t>光电子技术基础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 noRot="1"/>
          </p:cNvSpPr>
          <p:nvPr>
            <p:ph type="subTitle" idx="1"/>
          </p:nvPr>
        </p:nvSpPr>
        <p:spPr>
          <a:xfrm>
            <a:off x="3910013" y="3657600"/>
            <a:ext cx="4840288" cy="1676400"/>
          </a:xfrm>
        </p:spPr>
        <p:txBody>
          <a:bodyPr vert="horz" wrap="square" lIns="91440" tIns="45720" rIns="91440" bIns="45720" anchor="t" anchorCtr="0"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廖同庆</a:t>
            </a:r>
            <a:endParaRPr kumimoji="0" lang="en-US" altLang="zh-CN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安徽大学集成电路学院</a:t>
            </a:r>
            <a:endParaRPr kumimoji="0" lang="zh-CN" alt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5" descr="(4-41)GaAsPLaserDi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37075"/>
            <a:ext cx="3995738" cy="232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2"/>
          <p:cNvSpPr txBox="1"/>
          <p:nvPr/>
        </p:nvSpPr>
        <p:spPr>
          <a:xfrm>
            <a:off x="251460" y="2708910"/>
            <a:ext cx="8507413" cy="3322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光波是一种电磁波，电磁波是横波，其电场强度矢量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和磁场强度矢量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的振动方向都垂直于波的传播方向，并且它们之间也相互垂直。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在光波的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矢量和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矢量中，能引起感光作用和生理作用的主要是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矢量，所以把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矢量称为光矢量，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把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矢量的振动称为光振动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，并以它的振动方向代表光的振动方向。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9154" name="Object 3"/>
          <p:cNvGraphicFramePr>
            <a:graphicFrameLocks noChangeAspect="1"/>
          </p:cNvGraphicFramePr>
          <p:nvPr/>
        </p:nvGraphicFramePr>
        <p:xfrm>
          <a:off x="4515485" y="368046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5485" y="368046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Rectangle 4"/>
          <p:cNvSpPr/>
          <p:nvPr/>
        </p:nvSpPr>
        <p:spPr>
          <a:xfrm>
            <a:off x="2556193" y="620395"/>
            <a:ext cx="4319587" cy="1076325"/>
          </a:xfrm>
          <a:prstGeom prst="rect">
            <a:avLst/>
          </a:prstGeom>
          <a:gradFill rotWithShape="1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4000" b="1" dirty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4000" b="1" dirty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4000" b="1" dirty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光的偏振</a:t>
            </a:r>
            <a:endParaRPr lang="zh-CN" altLang="en-US" sz="4000" b="1" dirty="0">
              <a:solidFill>
                <a:srgbClr val="FFFF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i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Polarization of Light</a:t>
            </a:r>
            <a:endParaRPr lang="zh-CN" altLang="en-US" sz="2400" b="1" i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6" name="Rectangle 5"/>
          <p:cNvSpPr/>
          <p:nvPr/>
        </p:nvSpPr>
        <p:spPr>
          <a:xfrm>
            <a:off x="2987993" y="1843723"/>
            <a:ext cx="3398837" cy="519112"/>
          </a:xfrm>
          <a:prstGeom prst="rect">
            <a:avLst/>
          </a:prstGeom>
          <a:gradFill rotWithShape="1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一、自然光和偏振光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/>
          <p:nvPr/>
        </p:nvSpPr>
        <p:spPr>
          <a:xfrm>
            <a:off x="3420110" y="332740"/>
            <a:ext cx="3960813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4400" dirty="0">
                <a:latin typeface="Arial" panose="020B0604020202020204" pitchFamily="34" charset="0"/>
                <a:ea typeface="宋体" panose="02010600030101010101" pitchFamily="2" charset="-122"/>
              </a:rPr>
              <a:t>光的偏振</a:t>
            </a:r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78" name="Rectangle 3"/>
          <p:cNvSpPr/>
          <p:nvPr/>
        </p:nvSpPr>
        <p:spPr>
          <a:xfrm>
            <a:off x="683895" y="1484630"/>
            <a:ext cx="8168005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平面光波是横电磁波，其矢量的振动方向与光波传播方向垂直。</a:t>
            </a:r>
            <a:endParaRPr lang="zh-CN" altLang="en-US" sz="2800" dirty="0">
              <a:latin typeface="仿宋_GB2312" pitchFamily="49" charset="-122"/>
              <a:ea typeface="仿宋_GB2312" pitchFamily="49" charset="-122"/>
            </a:endParaRPr>
          </a:p>
          <a:p>
            <a:pPr eaLnBrk="0" hangingPunct="0"/>
            <a:endParaRPr lang="zh-CN" altLang="en-US" sz="2800" dirty="0">
              <a:latin typeface="仿宋_GB2312" pitchFamily="49" charset="-122"/>
              <a:ea typeface="仿宋_GB2312" pitchFamily="49" charset="-122"/>
            </a:endParaRPr>
          </a:p>
          <a:p>
            <a:pPr eaLnBrk="0" hangingPunct="0"/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       </a:t>
            </a:r>
            <a:endParaRPr lang="zh-CN" altLang="en-US" sz="2800" dirty="0">
              <a:latin typeface="仿宋_GB2312" pitchFamily="49" charset="-122"/>
              <a:ea typeface="仿宋_GB2312" pitchFamily="49" charset="-122"/>
            </a:endParaRPr>
          </a:p>
          <a:p>
            <a:pPr eaLnBrk="0" hangingPunct="0"/>
            <a:endParaRPr lang="zh-CN" altLang="en-US" sz="2800" dirty="0">
              <a:latin typeface="仿宋_GB2312" pitchFamily="49" charset="-122"/>
              <a:ea typeface="仿宋_GB2312" pitchFamily="49" charset="-122"/>
            </a:endParaRPr>
          </a:p>
          <a:p>
            <a:pPr eaLnBrk="0" hangingPunct="0"/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根据空间任一点电场 </a:t>
            </a:r>
            <a:r>
              <a:rPr lang="en-US" altLang="zh-CN" sz="2800" i="1" dirty="0">
                <a:latin typeface="仿宋_GB2312" pitchFamily="49" charset="-122"/>
                <a:ea typeface="仿宋_GB2312" pitchFamily="49" charset="-122"/>
              </a:rPr>
              <a:t>E</a:t>
            </a:r>
            <a:r>
              <a:rPr lang="en-US" altLang="zh-CN" sz="2800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的矢量末端在不同时刻的轨迹不同，其偏振态可分为：</a:t>
            </a:r>
            <a:endParaRPr lang="zh-CN" altLang="en-US" sz="2800" dirty="0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50179" name="Object 4"/>
          <p:cNvGraphicFramePr>
            <a:graphicFrameLocks noChangeAspect="1"/>
          </p:cNvGraphicFramePr>
          <p:nvPr/>
        </p:nvGraphicFramePr>
        <p:xfrm>
          <a:off x="1187450" y="5517515"/>
          <a:ext cx="3535680" cy="48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1841500" imgH="254000" progId="Equation.DSMT4">
                  <p:embed/>
                </p:oleObj>
              </mc:Choice>
              <mc:Fallback>
                <p:oleObj name="" r:id="rId1" imgW="1841500" imgH="2540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5517515"/>
                        <a:ext cx="3535680" cy="4864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Rectangle 5"/>
          <p:cNvSpPr/>
          <p:nvPr/>
        </p:nvSpPr>
        <p:spPr>
          <a:xfrm>
            <a:off x="5436235" y="4883150"/>
            <a:ext cx="1716088" cy="19177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线偏振光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椭圆偏振光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圆偏振光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AutoShape 6"/>
          <p:cNvSpPr/>
          <p:nvPr/>
        </p:nvSpPr>
        <p:spPr>
          <a:xfrm>
            <a:off x="4932363" y="5084763"/>
            <a:ext cx="358775" cy="1514475"/>
          </a:xfrm>
          <a:prstGeom prst="leftBrace">
            <a:avLst>
              <a:gd name="adj1" fmla="val 3507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0182" name="Object 7"/>
          <p:cNvGraphicFramePr>
            <a:graphicFrameLocks noChangeAspect="1"/>
          </p:cNvGraphicFramePr>
          <p:nvPr/>
        </p:nvGraphicFramePr>
        <p:xfrm>
          <a:off x="3039428" y="2449830"/>
          <a:ext cx="34559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" imgW="1905000" imgH="508000" progId="Equation.DSMT4">
                  <p:embed/>
                </p:oleObj>
              </mc:Choice>
              <mc:Fallback>
                <p:oleObj name="" r:id="rId3" imgW="1905000" imgH="5080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9428" y="2449830"/>
                        <a:ext cx="3455987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457200" y="4606925"/>
            <a:ext cx="8229600" cy="151923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线偏振光            圆偏振光        椭圆偏振光        </a:t>
            </a:r>
            <a:endParaRPr lang="zh-CN" altLang="en-US" dirty="0"/>
          </a:p>
        </p:txBody>
      </p:sp>
      <p:grpSp>
        <p:nvGrpSpPr>
          <p:cNvPr id="5" name="Group 9"/>
          <p:cNvGrpSpPr/>
          <p:nvPr/>
        </p:nvGrpSpPr>
        <p:grpSpPr>
          <a:xfrm>
            <a:off x="1127760" y="1437323"/>
            <a:ext cx="2057400" cy="2420937"/>
            <a:chOff x="576" y="2219"/>
            <a:chExt cx="1296" cy="1525"/>
          </a:xfrm>
        </p:grpSpPr>
        <p:sp>
          <p:nvSpPr>
            <p:cNvPr id="51204" name="Line 10"/>
            <p:cNvSpPr/>
            <p:nvPr/>
          </p:nvSpPr>
          <p:spPr>
            <a:xfrm>
              <a:off x="576" y="3189"/>
              <a:ext cx="105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05" name="Line 11"/>
            <p:cNvSpPr/>
            <p:nvPr/>
          </p:nvSpPr>
          <p:spPr>
            <a:xfrm flipV="1">
              <a:off x="1021" y="2297"/>
              <a:ext cx="0" cy="14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06" name="Line 12"/>
            <p:cNvSpPr/>
            <p:nvPr/>
          </p:nvSpPr>
          <p:spPr>
            <a:xfrm flipV="1">
              <a:off x="1021" y="2549"/>
              <a:ext cx="383" cy="6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07" name="Line 13"/>
            <p:cNvSpPr/>
            <p:nvPr/>
          </p:nvSpPr>
          <p:spPr>
            <a:xfrm>
              <a:off x="1389" y="2566"/>
              <a:ext cx="0" cy="62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med"/>
            </a:ln>
          </p:spPr>
        </p:sp>
        <p:sp>
          <p:nvSpPr>
            <p:cNvPr id="51208" name="Line 14"/>
            <p:cNvSpPr/>
            <p:nvPr/>
          </p:nvSpPr>
          <p:spPr>
            <a:xfrm flipH="1">
              <a:off x="1021" y="2566"/>
              <a:ext cx="38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med"/>
            </a:ln>
          </p:spPr>
        </p:sp>
        <p:sp>
          <p:nvSpPr>
            <p:cNvPr id="51209" name="Text Box 15"/>
            <p:cNvSpPr txBox="1"/>
            <p:nvPr/>
          </p:nvSpPr>
          <p:spPr>
            <a:xfrm>
              <a:off x="795" y="2448"/>
              <a:ext cx="2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b="1" i="1" dirty="0"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i="1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0" name="Text Box 16"/>
            <p:cNvSpPr txBox="1"/>
            <p:nvPr/>
          </p:nvSpPr>
          <p:spPr>
            <a:xfrm>
              <a:off x="1244" y="3168"/>
              <a:ext cx="292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b="1" i="1" dirty="0"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i="1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1" name="Text Box 17"/>
            <p:cNvSpPr txBox="1"/>
            <p:nvPr/>
          </p:nvSpPr>
          <p:spPr>
            <a:xfrm>
              <a:off x="1391" y="2400"/>
              <a:ext cx="289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b="1" i="1" dirty="0"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2" name="Text Box 18"/>
            <p:cNvSpPr txBox="1"/>
            <p:nvPr/>
          </p:nvSpPr>
          <p:spPr>
            <a:xfrm>
              <a:off x="866" y="2219"/>
              <a:ext cx="430" cy="42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i="1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3" name="Text Box 19"/>
            <p:cNvSpPr txBox="1"/>
            <p:nvPr/>
          </p:nvSpPr>
          <p:spPr>
            <a:xfrm>
              <a:off x="1634" y="3066"/>
              <a:ext cx="238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i="1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4" name="Line 20"/>
            <p:cNvSpPr/>
            <p:nvPr/>
          </p:nvSpPr>
          <p:spPr>
            <a:xfrm flipV="1">
              <a:off x="1017" y="2544"/>
              <a:ext cx="0" cy="64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15" name="Line 21"/>
            <p:cNvSpPr/>
            <p:nvPr/>
          </p:nvSpPr>
          <p:spPr>
            <a:xfrm flipV="1">
              <a:off x="1021" y="3182"/>
              <a:ext cx="399" cy="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16" name="Text Box 22"/>
            <p:cNvSpPr txBox="1"/>
            <p:nvPr/>
          </p:nvSpPr>
          <p:spPr>
            <a:xfrm>
              <a:off x="1087" y="2949"/>
              <a:ext cx="275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i="1" dirty="0"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7" name="Text Box 23"/>
            <p:cNvSpPr txBox="1"/>
            <p:nvPr/>
          </p:nvSpPr>
          <p:spPr>
            <a:xfrm>
              <a:off x="864" y="3153"/>
              <a:ext cx="265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8" name="Freeform 24"/>
            <p:cNvSpPr/>
            <p:nvPr/>
          </p:nvSpPr>
          <p:spPr>
            <a:xfrm>
              <a:off x="1082" y="3054"/>
              <a:ext cx="62" cy="135"/>
            </a:xfrm>
            <a:custGeom>
              <a:avLst/>
              <a:gdLst/>
              <a:ahLst/>
              <a:cxnLst>
                <a:cxn ang="0">
                  <a:pos x="595" y="246"/>
                </a:cxn>
                <a:cxn ang="0">
                  <a:pos x="0" y="0"/>
                </a:cxn>
              </a:cxnLst>
              <a:pathLst>
                <a:path w="20" h="100">
                  <a:moveTo>
                    <a:pt x="20" y="100"/>
                  </a:moveTo>
                  <a:cubicBezTo>
                    <a:pt x="16" y="61"/>
                    <a:pt x="13" y="23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1" name="Group 25"/>
          <p:cNvGrpSpPr/>
          <p:nvPr/>
        </p:nvGrpSpPr>
        <p:grpSpPr>
          <a:xfrm>
            <a:off x="899160" y="1265873"/>
            <a:ext cx="2286000" cy="2667000"/>
            <a:chOff x="528" y="2208"/>
            <a:chExt cx="1440" cy="1680"/>
          </a:xfrm>
        </p:grpSpPr>
        <p:sp>
          <p:nvSpPr>
            <p:cNvPr id="51220" name="Rectangle 26"/>
            <p:cNvSpPr/>
            <p:nvPr/>
          </p:nvSpPr>
          <p:spPr>
            <a:xfrm>
              <a:off x="528" y="2208"/>
              <a:ext cx="1440" cy="16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1" name="Line 27"/>
            <p:cNvSpPr/>
            <p:nvPr/>
          </p:nvSpPr>
          <p:spPr>
            <a:xfrm>
              <a:off x="672" y="3285"/>
              <a:ext cx="105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23" name="Text Box 29"/>
            <p:cNvSpPr txBox="1"/>
            <p:nvPr/>
          </p:nvSpPr>
          <p:spPr>
            <a:xfrm>
              <a:off x="891" y="2832"/>
              <a:ext cx="2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b="1" i="1" dirty="0"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i="1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4" name="Text Box 30"/>
            <p:cNvSpPr txBox="1"/>
            <p:nvPr/>
          </p:nvSpPr>
          <p:spPr>
            <a:xfrm>
              <a:off x="1200" y="3264"/>
              <a:ext cx="292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b="1" i="1" dirty="0"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i="1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5" name="Text Box 31"/>
            <p:cNvSpPr txBox="1"/>
            <p:nvPr/>
          </p:nvSpPr>
          <p:spPr>
            <a:xfrm>
              <a:off x="1296" y="2748"/>
              <a:ext cx="289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b="1" i="1" dirty="0"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6" name="Text Box 32"/>
            <p:cNvSpPr txBox="1"/>
            <p:nvPr/>
          </p:nvSpPr>
          <p:spPr>
            <a:xfrm>
              <a:off x="962" y="2315"/>
              <a:ext cx="430" cy="42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i="1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7" name="Text Box 33"/>
            <p:cNvSpPr txBox="1"/>
            <p:nvPr/>
          </p:nvSpPr>
          <p:spPr>
            <a:xfrm>
              <a:off x="1730" y="3162"/>
              <a:ext cx="238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i="1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228" name="Group 34"/>
            <p:cNvGrpSpPr/>
            <p:nvPr/>
          </p:nvGrpSpPr>
          <p:grpSpPr>
            <a:xfrm>
              <a:off x="1113" y="2928"/>
              <a:ext cx="231" cy="359"/>
              <a:chOff x="1113" y="2640"/>
              <a:chExt cx="403" cy="647"/>
            </a:xfrm>
          </p:grpSpPr>
          <p:sp>
            <p:nvSpPr>
              <p:cNvPr id="51229" name="Line 35"/>
              <p:cNvSpPr/>
              <p:nvPr/>
            </p:nvSpPr>
            <p:spPr>
              <a:xfrm flipV="1">
                <a:off x="1117" y="2645"/>
                <a:ext cx="383" cy="64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51230" name="Line 36"/>
              <p:cNvSpPr/>
              <p:nvPr/>
            </p:nvSpPr>
            <p:spPr>
              <a:xfrm>
                <a:off x="1485" y="2662"/>
                <a:ext cx="0" cy="62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med"/>
              </a:ln>
            </p:spPr>
          </p:sp>
          <p:sp>
            <p:nvSpPr>
              <p:cNvPr id="51231" name="Line 37"/>
              <p:cNvSpPr/>
              <p:nvPr/>
            </p:nvSpPr>
            <p:spPr>
              <a:xfrm flipH="1">
                <a:off x="1117" y="2662"/>
                <a:ext cx="38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med"/>
              </a:ln>
            </p:spPr>
          </p:sp>
          <p:sp>
            <p:nvSpPr>
              <p:cNvPr id="51232" name="Line 38"/>
              <p:cNvSpPr/>
              <p:nvPr/>
            </p:nvSpPr>
            <p:spPr>
              <a:xfrm flipV="1">
                <a:off x="1113" y="2640"/>
                <a:ext cx="0" cy="647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51233" name="Line 39"/>
              <p:cNvSpPr/>
              <p:nvPr/>
            </p:nvSpPr>
            <p:spPr>
              <a:xfrm flipV="1">
                <a:off x="1117" y="3278"/>
                <a:ext cx="399" cy="7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</p:grpSp>
        <p:sp>
          <p:nvSpPr>
            <p:cNvPr id="51234" name="Text Box 40"/>
            <p:cNvSpPr txBox="1"/>
            <p:nvPr/>
          </p:nvSpPr>
          <p:spPr>
            <a:xfrm>
              <a:off x="1152" y="3045"/>
              <a:ext cx="275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i="1" dirty="0"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i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5" name="Text Box 41"/>
            <p:cNvSpPr txBox="1"/>
            <p:nvPr/>
          </p:nvSpPr>
          <p:spPr>
            <a:xfrm>
              <a:off x="960" y="3249"/>
              <a:ext cx="265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6" name="Freeform 42"/>
            <p:cNvSpPr/>
            <p:nvPr/>
          </p:nvSpPr>
          <p:spPr>
            <a:xfrm>
              <a:off x="1178" y="3150"/>
              <a:ext cx="62" cy="135"/>
            </a:xfrm>
            <a:custGeom>
              <a:avLst/>
              <a:gdLst/>
              <a:ahLst/>
              <a:cxnLst>
                <a:cxn ang="0">
                  <a:pos x="595" y="246"/>
                </a:cxn>
                <a:cxn ang="0">
                  <a:pos x="0" y="0"/>
                </a:cxn>
              </a:cxnLst>
              <a:pathLst>
                <a:path w="20" h="100">
                  <a:moveTo>
                    <a:pt x="20" y="100"/>
                  </a:moveTo>
                  <a:cubicBezTo>
                    <a:pt x="16" y="61"/>
                    <a:pt x="13" y="23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1237" name="Rectangle 44"/>
          <p:cNvSpPr/>
          <p:nvPr/>
        </p:nvSpPr>
        <p:spPr>
          <a:xfrm>
            <a:off x="816293" y="1318895"/>
            <a:ext cx="2286000" cy="2667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38" name="Line 46"/>
          <p:cNvSpPr/>
          <p:nvPr/>
        </p:nvSpPr>
        <p:spPr>
          <a:xfrm>
            <a:off x="973773" y="3002598"/>
            <a:ext cx="167957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51239" name="Line 47"/>
          <p:cNvSpPr/>
          <p:nvPr/>
        </p:nvSpPr>
        <p:spPr>
          <a:xfrm flipV="1">
            <a:off x="1680210" y="1586548"/>
            <a:ext cx="0" cy="22971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51240" name="Text Box 49"/>
          <p:cNvSpPr txBox="1"/>
          <p:nvPr/>
        </p:nvSpPr>
        <p:spPr>
          <a:xfrm>
            <a:off x="2185035" y="3021648"/>
            <a:ext cx="463550" cy="4810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i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i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1" name="Text Box 51"/>
          <p:cNvSpPr txBox="1"/>
          <p:nvPr/>
        </p:nvSpPr>
        <p:spPr>
          <a:xfrm>
            <a:off x="1434148" y="1462723"/>
            <a:ext cx="682625" cy="668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2" name="Text Box 52"/>
          <p:cNvSpPr txBox="1"/>
          <p:nvPr/>
        </p:nvSpPr>
        <p:spPr>
          <a:xfrm>
            <a:off x="2653348" y="2807335"/>
            <a:ext cx="377825" cy="466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3" name="Text Box 60"/>
          <p:cNvSpPr txBox="1"/>
          <p:nvPr/>
        </p:nvSpPr>
        <p:spPr>
          <a:xfrm>
            <a:off x="1630998" y="2697798"/>
            <a:ext cx="420687" cy="4810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4" name="Text Box 48"/>
          <p:cNvSpPr txBox="1"/>
          <p:nvPr/>
        </p:nvSpPr>
        <p:spPr>
          <a:xfrm>
            <a:off x="1608773" y="1724660"/>
            <a:ext cx="414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i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i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5" name="Text Box 50"/>
          <p:cNvSpPr txBox="1"/>
          <p:nvPr/>
        </p:nvSpPr>
        <p:spPr>
          <a:xfrm>
            <a:off x="2545398" y="1942148"/>
            <a:ext cx="458787" cy="438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="1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6" name="Line 54"/>
          <p:cNvSpPr/>
          <p:nvPr/>
        </p:nvSpPr>
        <p:spPr>
          <a:xfrm rot="-10800000" flipH="1">
            <a:off x="1702435" y="2162810"/>
            <a:ext cx="822325" cy="855663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51247" name="Line 55"/>
          <p:cNvSpPr/>
          <p:nvPr/>
        </p:nvSpPr>
        <p:spPr>
          <a:xfrm rot="10800000" flipH="1" flipV="1">
            <a:off x="2493010" y="2188210"/>
            <a:ext cx="0" cy="83185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sm" len="med"/>
          </a:ln>
        </p:spPr>
      </p:sp>
      <p:sp>
        <p:nvSpPr>
          <p:cNvPr id="51248" name="Line 56"/>
          <p:cNvSpPr/>
          <p:nvPr/>
        </p:nvSpPr>
        <p:spPr>
          <a:xfrm rot="-10800000" flipV="1">
            <a:off x="1702435" y="2188210"/>
            <a:ext cx="8223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sm" len="med"/>
          </a:ln>
        </p:spPr>
      </p:sp>
      <p:sp>
        <p:nvSpPr>
          <p:cNvPr id="51249" name="Line 57"/>
          <p:cNvSpPr/>
          <p:nvPr/>
        </p:nvSpPr>
        <p:spPr>
          <a:xfrm rot="-10800000" flipH="1">
            <a:off x="1694498" y="2156460"/>
            <a:ext cx="0" cy="865188"/>
          </a:xfrm>
          <a:prstGeom prst="line">
            <a:avLst/>
          </a:prstGeom>
          <a:ln w="28575" cap="flat" cmpd="sng">
            <a:solidFill>
              <a:srgbClr val="3333FF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51250" name="Line 58"/>
          <p:cNvSpPr/>
          <p:nvPr/>
        </p:nvSpPr>
        <p:spPr>
          <a:xfrm rot="-10800000" flipH="1">
            <a:off x="1702435" y="3012123"/>
            <a:ext cx="857250" cy="9525"/>
          </a:xfrm>
          <a:prstGeom prst="line">
            <a:avLst/>
          </a:prstGeom>
          <a:ln w="28575" cap="flat" cmpd="sng">
            <a:solidFill>
              <a:srgbClr val="3333FF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51251" name="Text Box 59"/>
          <p:cNvSpPr txBox="1"/>
          <p:nvPr/>
        </p:nvSpPr>
        <p:spPr>
          <a:xfrm>
            <a:off x="2040573" y="2516823"/>
            <a:ext cx="436562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en-US" altLang="zh-CN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52" name="Freeform 61"/>
          <p:cNvSpPr/>
          <p:nvPr/>
        </p:nvSpPr>
        <p:spPr>
          <a:xfrm rot="-10368930" flipH="1" flipV="1">
            <a:off x="1962785" y="2731135"/>
            <a:ext cx="215900" cy="2889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0"/>
              </a:cxn>
            </a:cxnLst>
            <a:pathLst>
              <a:path w="20" h="100">
                <a:moveTo>
                  <a:pt x="20" y="100"/>
                </a:moveTo>
                <a:cubicBezTo>
                  <a:pt x="16" y="61"/>
                  <a:pt x="13" y="23"/>
                  <a:pt x="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med"/>
          </a:ln>
        </p:spPr>
        <p:txBody>
          <a:bodyPr/>
          <a:p>
            <a:endParaRPr lang="zh-CN" altLang="en-US"/>
          </a:p>
        </p:txBody>
      </p:sp>
      <p:grpSp>
        <p:nvGrpSpPr>
          <p:cNvPr id="55" name="Group 16"/>
          <p:cNvGrpSpPr/>
          <p:nvPr/>
        </p:nvGrpSpPr>
        <p:grpSpPr>
          <a:xfrm>
            <a:off x="3471863" y="1700213"/>
            <a:ext cx="2684462" cy="2355850"/>
            <a:chOff x="929" y="1637"/>
            <a:chExt cx="1691" cy="1484"/>
          </a:xfrm>
        </p:grpSpPr>
        <p:sp>
          <p:nvSpPr>
            <p:cNvPr id="51254" name="Line 17"/>
            <p:cNvSpPr/>
            <p:nvPr/>
          </p:nvSpPr>
          <p:spPr>
            <a:xfrm>
              <a:off x="929" y="2466"/>
              <a:ext cx="141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55" name="Line 18"/>
            <p:cNvSpPr/>
            <p:nvPr/>
          </p:nvSpPr>
          <p:spPr>
            <a:xfrm flipV="1">
              <a:off x="1595" y="1708"/>
              <a:ext cx="0" cy="14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56" name="Line 19"/>
            <p:cNvSpPr/>
            <p:nvPr/>
          </p:nvSpPr>
          <p:spPr>
            <a:xfrm flipV="1">
              <a:off x="1602" y="2034"/>
              <a:ext cx="282" cy="43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57" name="Line 20"/>
            <p:cNvSpPr/>
            <p:nvPr/>
          </p:nvSpPr>
          <p:spPr>
            <a:xfrm>
              <a:off x="1866" y="2047"/>
              <a:ext cx="0" cy="4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med"/>
            </a:ln>
          </p:spPr>
        </p:sp>
        <p:sp>
          <p:nvSpPr>
            <p:cNvPr id="51258" name="Line 21"/>
            <p:cNvSpPr/>
            <p:nvPr/>
          </p:nvSpPr>
          <p:spPr>
            <a:xfrm flipH="1">
              <a:off x="1595" y="2047"/>
              <a:ext cx="28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med"/>
            </a:ln>
          </p:spPr>
        </p:sp>
        <p:sp>
          <p:nvSpPr>
            <p:cNvPr id="51259" name="Text Box 22"/>
            <p:cNvSpPr txBox="1"/>
            <p:nvPr/>
          </p:nvSpPr>
          <p:spPr>
            <a:xfrm>
              <a:off x="1344" y="1968"/>
              <a:ext cx="316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0" name="Text Box 23"/>
            <p:cNvSpPr txBox="1"/>
            <p:nvPr/>
          </p:nvSpPr>
          <p:spPr>
            <a:xfrm>
              <a:off x="1717" y="2453"/>
              <a:ext cx="316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1" name="Text Box 24"/>
            <p:cNvSpPr txBox="1"/>
            <p:nvPr/>
          </p:nvSpPr>
          <p:spPr>
            <a:xfrm>
              <a:off x="1813" y="1869"/>
              <a:ext cx="317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2" name="Text Box 25"/>
            <p:cNvSpPr txBox="1"/>
            <p:nvPr/>
          </p:nvSpPr>
          <p:spPr>
            <a:xfrm>
              <a:off x="1412" y="1637"/>
              <a:ext cx="316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3" name="Text Box 26"/>
            <p:cNvSpPr txBox="1"/>
            <p:nvPr/>
          </p:nvSpPr>
          <p:spPr>
            <a:xfrm>
              <a:off x="2304" y="2352"/>
              <a:ext cx="31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4" name="Line 27"/>
            <p:cNvSpPr/>
            <p:nvPr/>
          </p:nvSpPr>
          <p:spPr>
            <a:xfrm flipV="1">
              <a:off x="1595" y="2036"/>
              <a:ext cx="0" cy="441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65" name="Line 28"/>
            <p:cNvSpPr/>
            <p:nvPr/>
          </p:nvSpPr>
          <p:spPr>
            <a:xfrm flipV="1">
              <a:off x="1595" y="2466"/>
              <a:ext cx="294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66" name="Text Box 29"/>
            <p:cNvSpPr txBox="1"/>
            <p:nvPr/>
          </p:nvSpPr>
          <p:spPr>
            <a:xfrm>
              <a:off x="1652" y="2261"/>
              <a:ext cx="316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7" name="Text Box 30"/>
            <p:cNvSpPr txBox="1"/>
            <p:nvPr/>
          </p:nvSpPr>
          <p:spPr>
            <a:xfrm>
              <a:off x="1426" y="2409"/>
              <a:ext cx="316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68" name="Freeform 31"/>
            <p:cNvSpPr/>
            <p:nvPr/>
          </p:nvSpPr>
          <p:spPr>
            <a:xfrm>
              <a:off x="1668" y="2352"/>
              <a:ext cx="53" cy="114"/>
            </a:xfrm>
            <a:custGeom>
              <a:avLst/>
              <a:gdLst/>
              <a:ahLst/>
              <a:cxnLst>
                <a:cxn ang="0">
                  <a:pos x="371" y="148"/>
                </a:cxn>
                <a:cxn ang="0">
                  <a:pos x="0" y="0"/>
                </a:cxn>
              </a:cxnLst>
              <a:pathLst>
                <a:path w="20" h="100">
                  <a:moveTo>
                    <a:pt x="20" y="100"/>
                  </a:moveTo>
                  <a:cubicBezTo>
                    <a:pt x="16" y="61"/>
                    <a:pt x="13" y="23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69" name="Oval 32"/>
            <p:cNvSpPr/>
            <p:nvPr/>
          </p:nvSpPr>
          <p:spPr>
            <a:xfrm>
              <a:off x="1098" y="1968"/>
              <a:ext cx="1005" cy="1006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med"/>
            </a:ln>
          </p:spPr>
          <p:txBody>
            <a:bodyPr anchor="t" anchorCtr="0"/>
            <a:p>
              <a:pPr algn="just" eaLnBrk="0" hangingPunct="0"/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" name="Group 9"/>
          <p:cNvGrpSpPr/>
          <p:nvPr/>
        </p:nvGrpSpPr>
        <p:grpSpPr>
          <a:xfrm>
            <a:off x="6162675" y="1476375"/>
            <a:ext cx="2667000" cy="2700338"/>
            <a:chOff x="384" y="2208"/>
            <a:chExt cx="1680" cy="1701"/>
          </a:xfrm>
        </p:grpSpPr>
        <p:sp>
          <p:nvSpPr>
            <p:cNvPr id="51271" name="Text Box 10"/>
            <p:cNvSpPr txBox="1"/>
            <p:nvPr/>
          </p:nvSpPr>
          <p:spPr>
            <a:xfrm>
              <a:off x="1464" y="2594"/>
              <a:ext cx="471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72" name="Text Box 11"/>
            <p:cNvSpPr txBox="1"/>
            <p:nvPr/>
          </p:nvSpPr>
          <p:spPr>
            <a:xfrm>
              <a:off x="666" y="2512"/>
              <a:ext cx="471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endPara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73" name="Text Box 12"/>
            <p:cNvSpPr txBox="1"/>
            <p:nvPr/>
          </p:nvSpPr>
          <p:spPr>
            <a:xfrm>
              <a:off x="384" y="2608"/>
              <a:ext cx="34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endPara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74" name="Text Box 13"/>
            <p:cNvSpPr txBox="1"/>
            <p:nvPr/>
          </p:nvSpPr>
          <p:spPr>
            <a:xfrm>
              <a:off x="1520" y="2316"/>
              <a:ext cx="386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endPara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75" name="Line 14"/>
            <p:cNvSpPr/>
            <p:nvPr/>
          </p:nvSpPr>
          <p:spPr>
            <a:xfrm>
              <a:off x="445" y="3144"/>
              <a:ext cx="136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76" name="Line 15"/>
            <p:cNvSpPr/>
            <p:nvPr/>
          </p:nvSpPr>
          <p:spPr>
            <a:xfrm flipV="1">
              <a:off x="1059" y="2363"/>
              <a:ext cx="0" cy="14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77" name="Oval 16"/>
            <p:cNvSpPr/>
            <p:nvPr/>
          </p:nvSpPr>
          <p:spPr>
            <a:xfrm rot="-3216127">
              <a:off x="461" y="2861"/>
              <a:ext cx="1190" cy="565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med"/>
            </a:ln>
          </p:spPr>
          <p:txBody>
            <a:bodyPr anchor="t" anchorCtr="0"/>
            <a:p>
              <a:pPr algn="just" eaLnBrk="0" hangingPunct="0"/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78" name="Line 17"/>
            <p:cNvSpPr/>
            <p:nvPr/>
          </p:nvSpPr>
          <p:spPr>
            <a:xfrm rot="-3306385">
              <a:off x="264" y="3058"/>
              <a:ext cx="1680" cy="1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79" name="Line 18"/>
            <p:cNvSpPr/>
            <p:nvPr/>
          </p:nvSpPr>
          <p:spPr>
            <a:xfrm rot="-3216127" flipV="1">
              <a:off x="1053" y="2513"/>
              <a:ext cx="10" cy="125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80" name="Line 19"/>
            <p:cNvSpPr/>
            <p:nvPr/>
          </p:nvSpPr>
          <p:spPr>
            <a:xfrm flipV="1">
              <a:off x="1059" y="2640"/>
              <a:ext cx="141" cy="50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81" name="Freeform 20"/>
            <p:cNvSpPr/>
            <p:nvPr/>
          </p:nvSpPr>
          <p:spPr>
            <a:xfrm>
              <a:off x="1157" y="3039"/>
              <a:ext cx="43" cy="105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4" y="16"/>
                </a:cxn>
                <a:cxn ang="0">
                  <a:pos x="0" y="0"/>
                </a:cxn>
              </a:cxnLst>
              <a:pathLst>
                <a:path w="70" h="180">
                  <a:moveTo>
                    <a:pt x="60" y="180"/>
                  </a:moveTo>
                  <a:cubicBezTo>
                    <a:pt x="65" y="145"/>
                    <a:pt x="70" y="110"/>
                    <a:pt x="60" y="80"/>
                  </a:cubicBezTo>
                  <a:cubicBezTo>
                    <a:pt x="50" y="50"/>
                    <a:pt x="25" y="2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82" name="Text Box 21"/>
            <p:cNvSpPr txBox="1"/>
            <p:nvPr/>
          </p:nvSpPr>
          <p:spPr>
            <a:xfrm>
              <a:off x="1145" y="2948"/>
              <a:ext cx="295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83" name="Text Box 22"/>
            <p:cNvSpPr txBox="1"/>
            <p:nvPr/>
          </p:nvSpPr>
          <p:spPr>
            <a:xfrm>
              <a:off x="838" y="2258"/>
              <a:ext cx="295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84" name="Text Box 23"/>
            <p:cNvSpPr txBox="1"/>
            <p:nvPr/>
          </p:nvSpPr>
          <p:spPr>
            <a:xfrm>
              <a:off x="1770" y="3044"/>
              <a:ext cx="294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85" name="Line 24"/>
            <p:cNvSpPr/>
            <p:nvPr/>
          </p:nvSpPr>
          <p:spPr>
            <a:xfrm rot="148447" flipV="1">
              <a:off x="1066" y="2638"/>
              <a:ext cx="326" cy="511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86" name="Line 25"/>
            <p:cNvSpPr/>
            <p:nvPr/>
          </p:nvSpPr>
          <p:spPr>
            <a:xfrm flipH="1" flipV="1">
              <a:off x="813" y="2969"/>
              <a:ext cx="246" cy="175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287" name="Text Box 26"/>
            <p:cNvSpPr txBox="1"/>
            <p:nvPr/>
          </p:nvSpPr>
          <p:spPr>
            <a:xfrm>
              <a:off x="1098" y="2448"/>
              <a:ext cx="294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88" name="Text Box 27"/>
            <p:cNvSpPr txBox="1"/>
            <p:nvPr/>
          </p:nvSpPr>
          <p:spPr>
            <a:xfrm>
              <a:off x="1536" y="2208"/>
              <a:ext cx="288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'</a:t>
              </a:r>
              <a:endPara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289" name="Text Box 28"/>
            <p:cNvSpPr txBox="1"/>
            <p:nvPr/>
          </p:nvSpPr>
          <p:spPr>
            <a:xfrm>
              <a:off x="384" y="2544"/>
              <a:ext cx="288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'</a:t>
              </a:r>
              <a:endPara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290" name="Text Box 29"/>
            <p:cNvSpPr txBox="1"/>
            <p:nvPr/>
          </p:nvSpPr>
          <p:spPr>
            <a:xfrm>
              <a:off x="522" y="2805"/>
              <a:ext cx="480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 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291" name="Text Box 30"/>
            <p:cNvSpPr txBox="1"/>
            <p:nvPr/>
          </p:nvSpPr>
          <p:spPr>
            <a:xfrm>
              <a:off x="1446" y="2562"/>
              <a:ext cx="480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 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17"/>
          <p:cNvSpPr/>
          <p:nvPr/>
        </p:nvSpPr>
        <p:spPr>
          <a:xfrm>
            <a:off x="2051368" y="332740"/>
            <a:ext cx="5546725" cy="701675"/>
          </a:xfrm>
          <a:prstGeom prst="rect">
            <a:avLst/>
          </a:prstGeom>
          <a:gradFill rotWithShape="1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4000" b="1" dirty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二、</a:t>
            </a:r>
            <a:r>
              <a:rPr lang="zh-CN" altLang="en-US" sz="3600" b="1" dirty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偏振光的产生和检验</a:t>
            </a:r>
            <a:endParaRPr lang="zh-CN" altLang="en-US" sz="3600" b="1" dirty="0">
              <a:solidFill>
                <a:srgbClr val="FFFF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6" name="Rectangle 20"/>
          <p:cNvSpPr/>
          <p:nvPr/>
        </p:nvSpPr>
        <p:spPr>
          <a:xfrm>
            <a:off x="808038" y="1412558"/>
            <a:ext cx="561657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、偏振光（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Polarizer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的产生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7" name="Rectangle 21"/>
          <p:cNvSpPr/>
          <p:nvPr/>
        </p:nvSpPr>
        <p:spPr>
          <a:xfrm>
            <a:off x="1907223" y="5517515"/>
            <a:ext cx="30241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几种起偏器的原理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9959" name="Group 23"/>
          <p:cNvGrpSpPr/>
          <p:nvPr/>
        </p:nvGrpSpPr>
        <p:grpSpPr>
          <a:xfrm>
            <a:off x="34925" y="2204720"/>
            <a:ext cx="9144000" cy="3457575"/>
            <a:chOff x="0" y="1842"/>
            <a:chExt cx="5760" cy="2178"/>
          </a:xfrm>
        </p:grpSpPr>
        <p:sp>
          <p:nvSpPr>
            <p:cNvPr id="65541" name="Rectangle 2"/>
            <p:cNvSpPr/>
            <p:nvPr/>
          </p:nvSpPr>
          <p:spPr>
            <a:xfrm>
              <a:off x="0" y="1842"/>
              <a:ext cx="5760" cy="16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20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自然光通过某些装置后会变成偏振光，获得偏振的过程为起偏。能够把自然光变成偏振光的装置称为起偏器。光能够透过起偏器的振动方向称为起偏器的透振方向，用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42" name="Line 22"/>
            <p:cNvSpPr/>
            <p:nvPr/>
          </p:nvSpPr>
          <p:spPr>
            <a:xfrm>
              <a:off x="204" y="3612"/>
              <a:ext cx="0" cy="408"/>
            </a:xfrm>
            <a:prstGeom prst="line">
              <a:avLst/>
            </a:prstGeom>
            <a:ln w="57150" cap="flat" cmpd="sng">
              <a:solidFill>
                <a:srgbClr val="0020E2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</p:grpSp>
      <p:sp>
        <p:nvSpPr>
          <p:cNvPr id="39960" name="Text Box 24"/>
          <p:cNvSpPr txBox="1"/>
          <p:nvPr/>
        </p:nvSpPr>
        <p:spPr>
          <a:xfrm>
            <a:off x="735648" y="5104765"/>
            <a:ext cx="14605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6" grpId="0"/>
      <p:bldP spid="39957" grpId="0"/>
      <p:bldP spid="399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Text Box 2"/>
          <p:cNvSpPr txBox="1"/>
          <p:nvPr/>
        </p:nvSpPr>
        <p:spPr>
          <a:xfrm>
            <a:off x="1187450" y="404813"/>
            <a:ext cx="6840538" cy="769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4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lang="zh-CN" altLang="en-US" sz="4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布儒斯特角入射的情况</a:t>
            </a:r>
            <a:endParaRPr lang="zh-CN" altLang="en-US" sz="4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86" name="Text Box 3"/>
          <p:cNvSpPr txBox="1"/>
          <p:nvPr/>
        </p:nvSpPr>
        <p:spPr>
          <a:xfrm>
            <a:off x="539750" y="3500438"/>
            <a:ext cx="5761038" cy="1816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8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两光偏振状态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反射光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--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完全偏振光（垂直振动）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折射光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--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部分偏振光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87" name="Text Box 4"/>
          <p:cNvSpPr txBox="1"/>
          <p:nvPr/>
        </p:nvSpPr>
        <p:spPr>
          <a:xfrm>
            <a:off x="611505" y="5589270"/>
            <a:ext cx="47440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反射光线与折射光线垂直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88" name="Text Box 5"/>
          <p:cNvSpPr txBox="1"/>
          <p:nvPr/>
        </p:nvSpPr>
        <p:spPr>
          <a:xfrm>
            <a:off x="4139883" y="2407920"/>
            <a:ext cx="40671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800" dirty="0">
                <a:solidFill>
                  <a:srgbClr val="FF5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5050"/>
                </a:solidFill>
                <a:latin typeface="楷体_GB2312" pitchFamily="49" charset="-122"/>
                <a:ea typeface="楷体_GB2312" pitchFamily="49" charset="-122"/>
              </a:rPr>
              <a:t>起偏角</a:t>
            </a:r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sz="2800" dirty="0">
                <a:solidFill>
                  <a:srgbClr val="FF5050"/>
                </a:solidFill>
                <a:latin typeface="楷体_GB2312" pitchFamily="49" charset="-122"/>
                <a:ea typeface="楷体_GB2312" pitchFamily="49" charset="-122"/>
              </a:rPr>
              <a:t>布儒斯特角 </a:t>
            </a:r>
            <a:r>
              <a:rPr lang="en-US" altLang="zh-CN" sz="2800" dirty="0">
                <a:solidFill>
                  <a:srgbClr val="FF5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800" dirty="0">
              <a:solidFill>
                <a:srgbClr val="FF505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7589" name="Object 6"/>
          <p:cNvGraphicFramePr>
            <a:graphicFrameLocks noChangeAspect="1"/>
          </p:cNvGraphicFramePr>
          <p:nvPr/>
        </p:nvGraphicFramePr>
        <p:xfrm>
          <a:off x="2123123" y="2133918"/>
          <a:ext cx="1600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711200" imgH="431800" progId="Equation.3">
                  <p:embed/>
                </p:oleObj>
              </mc:Choice>
              <mc:Fallback>
                <p:oleObj name="" r:id="rId1" imgW="711200" imgH="4318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3123" y="2133918"/>
                        <a:ext cx="16002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Text Box 7"/>
          <p:cNvSpPr txBox="1"/>
          <p:nvPr/>
        </p:nvSpPr>
        <p:spPr>
          <a:xfrm>
            <a:off x="899478" y="1340803"/>
            <a:ext cx="2667000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入射角满足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6759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573463"/>
            <a:ext cx="3276600" cy="31242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5777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3850" y="549275"/>
            <a:ext cx="8496300" cy="5310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body" sz="half" idx="1"/>
          </p:nvPr>
        </p:nvSpPr>
        <p:spPr>
          <a:xfrm>
            <a:off x="0" y="0"/>
            <a:ext cx="678180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sz="2800" dirty="0"/>
              <a:t>光的独立传播原理及干涉</a:t>
            </a:r>
            <a:endParaRPr lang="zh-CN" altLang="en-US" sz="2800" dirty="0"/>
          </a:p>
        </p:txBody>
      </p:sp>
      <p:sp>
        <p:nvSpPr>
          <p:cNvPr id="48131" name="Text Box 3"/>
          <p:cNvSpPr txBox="1"/>
          <p:nvPr/>
        </p:nvSpPr>
        <p:spPr>
          <a:xfrm>
            <a:off x="866775" y="685800"/>
            <a:ext cx="62788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波动的三个特性</a:t>
            </a: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独立性，叠加性，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相干性</a:t>
            </a:r>
            <a:endParaRPr lang="zh-CN" altLang="en-US" sz="240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2" name="Text Box 4"/>
          <p:cNvSpPr txBox="1"/>
          <p:nvPr/>
        </p:nvSpPr>
        <p:spPr>
          <a:xfrm>
            <a:off x="827405" y="1268730"/>
            <a:ext cx="1962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独立性原理</a:t>
            </a:r>
            <a:endParaRPr lang="zh-CN" altLang="en-US" sz="240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Text Box 5"/>
          <p:cNvSpPr txBox="1"/>
          <p:nvPr/>
        </p:nvSpPr>
        <p:spPr>
          <a:xfrm>
            <a:off x="971550" y="3860800"/>
            <a:ext cx="135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 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叠加性</a:t>
            </a:r>
            <a:endParaRPr lang="zh-CN" altLang="en-US" sz="240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4" name="Text Box 6"/>
          <p:cNvSpPr txBox="1"/>
          <p:nvPr/>
        </p:nvSpPr>
        <p:spPr>
          <a:xfrm>
            <a:off x="721995" y="4364990"/>
            <a:ext cx="8107680" cy="1753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在波的独立传播定律成立的前提下，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当两列或多列波同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时存在时，在它们的</a:t>
            </a:r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交叠区域内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每点的振动是各列波单独在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该点产生的振动的合成，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这就是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波的叠加原理。</a:t>
            </a:r>
            <a:endParaRPr lang="zh-CN" altLang="en-US" sz="240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5" name="Text Box 7"/>
          <p:cNvSpPr txBox="1"/>
          <p:nvPr/>
        </p:nvSpPr>
        <p:spPr>
          <a:xfrm>
            <a:off x="417195" y="1701165"/>
            <a:ext cx="8412480" cy="1753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当两列光波在空间交叠时，它们各自的传播互不干扰，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各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自独立地按照自己原来的传播方向继续前进，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彼此不受影响。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这就是波的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独立传播定律</a:t>
            </a:r>
            <a:endParaRPr lang="zh-CN" altLang="en-US" sz="240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uild="p"/>
      <p:bldP spid="48131" grpId="0"/>
      <p:bldP spid="48132" grpId="0"/>
      <p:bldP spid="48133" grpId="0"/>
      <p:bldP spid="48134" grpId="0"/>
      <p:bldP spid="481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Rectangle 3"/>
          <p:cNvSpPr/>
          <p:nvPr/>
        </p:nvSpPr>
        <p:spPr>
          <a:xfrm>
            <a:off x="2914968" y="476568"/>
            <a:ext cx="33115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2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（一）光的干涉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026" name="Rectangle 4"/>
          <p:cNvSpPr/>
          <p:nvPr/>
        </p:nvSpPr>
        <p:spPr>
          <a:xfrm>
            <a:off x="683578" y="1628775"/>
            <a:ext cx="7848600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光的波动性主要标志之一：两列波叠加后产生干涉现象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9027" name="Rectangle 5"/>
          <p:cNvSpPr/>
          <p:nvPr/>
        </p:nvSpPr>
        <p:spPr>
          <a:xfrm>
            <a:off x="683578" y="2925763"/>
            <a:ext cx="4827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光的干涉本质：光强重新分配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9028" name="Rectangle 6"/>
          <p:cNvSpPr/>
          <p:nvPr/>
        </p:nvSpPr>
        <p:spPr>
          <a:xfrm>
            <a:off x="683578" y="3717925"/>
            <a:ext cx="7705725" cy="16303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当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频率相同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振动方向相同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或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具有固定位相差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的光波相遇时，在相遇的区域内就会产生光的干涉现象。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9029" name="Rectangle 8"/>
          <p:cNvSpPr/>
          <p:nvPr/>
        </p:nvSpPr>
        <p:spPr>
          <a:xfrm>
            <a:off x="670878" y="5661025"/>
            <a:ext cx="80479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800" b="1" dirty="0">
                <a:latin typeface="Times New Roman" panose="02020603050405020304" pitchFamily="18" charset="0"/>
                <a:ea typeface="仿宋_GB2312" pitchFamily="49" charset="-122"/>
              </a:rPr>
              <a:t>相干的条件：同频率、同偏振、有固定的相位差。</a:t>
            </a:r>
            <a:endParaRPr lang="zh-CN" altLang="en-US" sz="2800" b="1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title"/>
          </p:nvPr>
        </p:nvSpPr>
        <p:spPr>
          <a:xfrm>
            <a:off x="395605" y="1916430"/>
            <a:ext cx="8229600" cy="792163"/>
          </a:xfrm>
          <a:solidFill>
            <a:srgbClr val="FFFFFF"/>
          </a:solidFill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4400" dirty="0">
                <a:solidFill>
                  <a:schemeClr val="tx1"/>
                </a:solidFill>
              </a:rPr>
              <a:t>第三章  光和物质的相互作用</a:t>
            </a:r>
            <a:endParaRPr lang="zh-CN" altLang="en-US" sz="3600" b="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" name="Rectangle 3"/>
          <p:cNvSpPr>
            <a:spLocks noGrp="1"/>
          </p:cNvSpPr>
          <p:nvPr>
            <p:ph idx="1"/>
          </p:nvPr>
        </p:nvSpPr>
        <p:spPr>
          <a:xfrm>
            <a:off x="468313" y="2492375"/>
            <a:ext cx="8229600" cy="3765550"/>
          </a:xfrm>
        </p:spPr>
        <p:txBody>
          <a:bodyPr vert="horz" wrap="square" lIns="91320" tIns="45660" rIns="91320" bIns="4566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idx="1"/>
          </p:nvPr>
        </p:nvSpPr>
        <p:spPr>
          <a:xfrm>
            <a:off x="179070" y="692785"/>
            <a:ext cx="8771890" cy="5828030"/>
          </a:xfrm>
        </p:spPr>
        <p:txBody>
          <a:bodyPr vert="horz" wrap="square" lIns="91320" tIns="45660" rIns="91320" bIns="45660" anchor="t" anchorCtr="0"/>
          <a:p>
            <a:pPr eaLnBrk="1" hangingPunct="1"/>
            <a:r>
              <a:rPr lang="zh-CN" altLang="en-US" dirty="0"/>
              <a:t>激光器的物理基础是光频电磁场与物质的相互作用（特别是共振相互作用）</a:t>
            </a:r>
            <a:endParaRPr lang="zh-CN" altLang="en-US" dirty="0"/>
          </a:p>
          <a:p>
            <a:pPr eaLnBrk="1" hangingPunct="1"/>
            <a:r>
              <a:rPr lang="zh-CN" altLang="en-US" dirty="0"/>
              <a:t>对</a:t>
            </a:r>
            <a:r>
              <a:rPr lang="zh-CN" altLang="en-US" dirty="0">
                <a:solidFill>
                  <a:srgbClr val="FF0000"/>
                </a:solidFill>
              </a:rPr>
              <a:t>大多数激光器</a:t>
            </a:r>
            <a:r>
              <a:rPr lang="zh-CN" altLang="en-US" dirty="0"/>
              <a:t>，指</a:t>
            </a:r>
            <a:r>
              <a:rPr lang="zh-CN" altLang="en-US" dirty="0">
                <a:solidFill>
                  <a:srgbClr val="FF0000"/>
                </a:solidFill>
              </a:rPr>
              <a:t>光</a:t>
            </a:r>
            <a:r>
              <a:rPr lang="zh-CN" altLang="en-US" dirty="0"/>
              <a:t>与组成物质的原子（或离子、分子）内的</a:t>
            </a:r>
            <a:r>
              <a:rPr lang="zh-CN" altLang="en-US" dirty="0">
                <a:solidFill>
                  <a:srgbClr val="FF0000"/>
                </a:solidFill>
              </a:rPr>
              <a:t>电子</a:t>
            </a:r>
            <a:r>
              <a:rPr lang="zh-CN" altLang="en-US" dirty="0"/>
              <a:t>之间的</a:t>
            </a:r>
            <a:r>
              <a:rPr lang="zh-CN" altLang="en-US" dirty="0">
                <a:solidFill>
                  <a:srgbClr val="FF0000"/>
                </a:solidFill>
              </a:rPr>
              <a:t>共振</a:t>
            </a:r>
            <a:r>
              <a:rPr lang="zh-CN" altLang="en-US" dirty="0"/>
              <a:t>相互作用。</a:t>
            </a:r>
            <a:endParaRPr lang="zh-CN" altLang="en-US" dirty="0"/>
          </a:p>
          <a:p>
            <a:pPr eaLnBrk="1" hangingPunct="1"/>
            <a:r>
              <a:rPr lang="zh-CN" altLang="en-US" dirty="0">
                <a:sym typeface="+mn-ea"/>
              </a:rPr>
              <a:t>激光器的严格理论是建立在量子电动力学基础上的量子理论，它在原则上可以描述激光器的全部特性。</a:t>
            </a:r>
            <a:endParaRPr lang="zh-CN" altLang="en-US" dirty="0"/>
          </a:p>
          <a:p>
            <a:pPr eaLnBrk="1" hangingPunct="1"/>
            <a:r>
              <a:rPr lang="zh-CN" altLang="en-US" dirty="0">
                <a:sym typeface="+mn-ea"/>
              </a:rPr>
              <a:t>用不同近似程度的理论去描述激光器的不同层次的特性，每种近似理论都揭示出激光器的某些规律，但也掩盖着某些更深层次的物理现象。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7" name="Text Box 3"/>
          <p:cNvSpPr txBox="1"/>
          <p:nvPr/>
        </p:nvSpPr>
        <p:spPr>
          <a:xfrm>
            <a:off x="179070" y="1196023"/>
            <a:ext cx="8893175" cy="54082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1916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年，爱因斯坦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关于辐射的量子理论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概念：自发辐射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(spontaneous emission)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 受激辐射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(stimulated emission)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光量子与物质相互作用，产生自发辐射、受激吸收与受激辐射三种跃迁。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共振相互作用过程：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光波频率等于原子谐振频率，原子中电子的本征状态改变的</a:t>
            </a:r>
            <a:r>
              <a:rPr lang="zh-CN" altLang="en-US" sz="2400" b="1" dirty="0">
                <a:sym typeface="+mn-ea"/>
              </a:rPr>
              <a:t>过程。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非谐振相互作用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引起散射等物理现象，导致光传播中折射率等变化。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88" name="Text Box 4"/>
          <p:cNvSpPr txBox="1"/>
          <p:nvPr/>
        </p:nvSpPr>
        <p:spPr>
          <a:xfrm>
            <a:off x="467043" y="548640"/>
            <a:ext cx="226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三种跃迁过程</a:t>
            </a:r>
            <a:endParaRPr lang="zh-CN" altLang="en-US" sz="2400" b="1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6"/>
          <p:cNvSpPr/>
          <p:nvPr/>
        </p:nvSpPr>
        <p:spPr>
          <a:xfrm>
            <a:off x="2298700" y="5281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Rectangle 7"/>
          <p:cNvSpPr/>
          <p:nvPr/>
        </p:nvSpPr>
        <p:spPr>
          <a:xfrm>
            <a:off x="6340475" y="5281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Rectangle 8"/>
          <p:cNvSpPr/>
          <p:nvPr/>
        </p:nvSpPr>
        <p:spPr>
          <a:xfrm>
            <a:off x="7820025" y="5270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AutoShape 10">
            <a:hlinkClick r:id="" action="ppaction://hlinkshowjump?jump=previousslide"/>
          </p:cNvPr>
          <p:cNvSpPr/>
          <p:nvPr/>
        </p:nvSpPr>
        <p:spPr>
          <a:xfrm>
            <a:off x="6227763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0" name="AutoShape 11">
            <a:hlinkClick r:id="" action="ppaction://hlinkshowjump?jump=nextslide"/>
          </p:cNvPr>
          <p:cNvSpPr/>
          <p:nvPr/>
        </p:nvSpPr>
        <p:spPr>
          <a:xfrm>
            <a:off x="6840538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1" name="AutoShape 12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44387" grpId="0"/>
      <p:bldP spid="1443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67360" y="476885"/>
            <a:ext cx="8229600" cy="2087245"/>
          </a:xfrm>
        </p:spPr>
        <p:txBody>
          <a:bodyPr vert="horz" wrap="square" lIns="91320" tIns="45660" rIns="91320" bIns="4566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自发辐射、受激辐射和受激吸收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物质辐射光和吸收光的过程是与原子能级跃迁联系在一起的。光和物质相互作用有三种过程：自发辐射、受激辐射和受激吸收。对多原子系统，这三种过程同时存在并紧密联系。在不同情况下，各个过程所占比例不同，普通光源中自发辐射起主要作用，在激光器的发光过程中，受激辐射起主要作用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683895" y="2853055"/>
          <a:ext cx="7962900" cy="373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5715000" imgH="2679065" progId="Word.Document.8">
                  <p:embed/>
                </p:oleObj>
              </mc:Choice>
              <mc:Fallback>
                <p:oleObj name="" r:id="rId1" imgW="5715000" imgH="2679065" progId="Word.Document.8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3895" y="2853055"/>
                        <a:ext cx="7962900" cy="3732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/>
          <p:nvPr/>
        </p:nvSpPr>
        <p:spPr>
          <a:xfrm>
            <a:off x="541338" y="2093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78" name="Rectangle 3"/>
          <p:cNvSpPr/>
          <p:nvPr/>
        </p:nvSpPr>
        <p:spPr>
          <a:xfrm>
            <a:off x="1287463" y="2840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Rectangle 6"/>
          <p:cNvSpPr/>
          <p:nvPr/>
        </p:nvSpPr>
        <p:spPr>
          <a:xfrm>
            <a:off x="3152775" y="16367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15" name="Text Box 7"/>
          <p:cNvSpPr txBox="1"/>
          <p:nvPr/>
        </p:nvSpPr>
        <p:spPr>
          <a:xfrm>
            <a:off x="684213" y="692150"/>
            <a:ext cx="27352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/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）自发辐射</a:t>
            </a:r>
            <a:endParaRPr lang="zh-CN" altLang="en-US" sz="2400" b="1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16" name="Text Box 8"/>
          <p:cNvSpPr txBox="1"/>
          <p:nvPr/>
        </p:nvSpPr>
        <p:spPr>
          <a:xfrm>
            <a:off x="468313" y="1700213"/>
            <a:ext cx="8207375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位于能级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，的原子不稳定，即使无外界光信号作用，也将在某一时刻自发跃迁到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，同时辐射出一个光子：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183" name="Rectangle 9"/>
          <p:cNvSpPr/>
          <p:nvPr/>
        </p:nvSpPr>
        <p:spPr>
          <a:xfrm>
            <a:off x="2562225" y="4211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5418" name="Object 10"/>
          <p:cNvGraphicFramePr>
            <a:graphicFrameLocks noChangeAspect="1"/>
          </p:cNvGraphicFramePr>
          <p:nvPr/>
        </p:nvGraphicFramePr>
        <p:xfrm>
          <a:off x="2411413" y="2349500"/>
          <a:ext cx="18716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" imgW="618490" imgH="139065" progId="Equation.3">
                  <p:embed/>
                </p:oleObj>
              </mc:Choice>
              <mc:Fallback>
                <p:oleObj name="" r:id="rId1" imgW="618490" imgH="13906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413" y="2349500"/>
                        <a:ext cx="1871662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5419" name="Picture 11" descr="复件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88" y="0"/>
            <a:ext cx="1743075" cy="1773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5420" name="Text Box 12"/>
          <p:cNvSpPr txBox="1"/>
          <p:nvPr/>
        </p:nvSpPr>
        <p:spPr>
          <a:xfrm>
            <a:off x="6032500" y="606425"/>
            <a:ext cx="8953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40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自发辐射</a:t>
            </a:r>
            <a:endParaRPr lang="zh-CN" altLang="en-US" sz="140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1" name="Text Box 13"/>
          <p:cNvSpPr txBox="1"/>
          <p:nvPr/>
        </p:nvSpPr>
        <p:spPr>
          <a:xfrm>
            <a:off x="395288" y="2852738"/>
            <a:ext cx="53517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式中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普朗克常数，    ：跃迁产生的光波频率。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5422" name="Object 14"/>
          <p:cNvGraphicFramePr>
            <a:graphicFrameLocks noChangeAspect="1"/>
          </p:cNvGraphicFramePr>
          <p:nvPr/>
        </p:nvGraphicFramePr>
        <p:xfrm>
          <a:off x="2794000" y="2820988"/>
          <a:ext cx="3587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4" imgW="126365" imgH="139065" progId="Equation.3">
                  <p:embed/>
                </p:oleObj>
              </mc:Choice>
              <mc:Fallback>
                <p:oleObj name="" r:id="rId4" imgW="126365" imgH="13906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94000" y="2820988"/>
                        <a:ext cx="358775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AutoShape 15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0" name="AutoShape 16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1" name="AutoShape 17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2" name="Rectangle 18"/>
          <p:cNvSpPr/>
          <p:nvPr/>
        </p:nvSpPr>
        <p:spPr>
          <a:xfrm>
            <a:off x="539115" y="1340803"/>
            <a:ext cx="6840538" cy="381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在没有光信号作用下自发地跃迁到低能态时所产生的光辐射</a:t>
            </a:r>
            <a:endParaRPr lang="zh-CN" altLang="en-US" sz="2800" b="1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7" name="Text Box 19"/>
          <p:cNvSpPr txBox="1"/>
          <p:nvPr/>
        </p:nvSpPr>
        <p:spPr>
          <a:xfrm>
            <a:off x="250825" y="3284538"/>
            <a:ext cx="5329238" cy="17519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单个原子自发辐射是随机的，具有时间不确定性；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拥有大量原子的体系单位时间内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的原子数目统计结果是可以确定的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自发跃迁几率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单位时间内自发跃迁的原子数密度与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上总原子数密度之比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5428" name="Object 20"/>
          <p:cNvGraphicFramePr>
            <a:graphicFrameLocks noGrp="1" noChangeAspect="1"/>
          </p:cNvGraphicFramePr>
          <p:nvPr>
            <p:ph sz="half" idx="2"/>
          </p:nvPr>
        </p:nvGraphicFramePr>
        <p:xfrm>
          <a:off x="3203575" y="4580890"/>
          <a:ext cx="2447925" cy="821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6" imgW="875030" imgH="321945" progId="Equation.3">
                  <p:embed/>
                </p:oleObj>
              </mc:Choice>
              <mc:Fallback>
                <p:oleObj name="" r:id="rId6" imgW="875030" imgH="321945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03575" y="4580890"/>
                        <a:ext cx="2447925" cy="82105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0" name="Text Box 22"/>
          <p:cNvSpPr txBox="1"/>
          <p:nvPr/>
        </p:nvSpPr>
        <p:spPr>
          <a:xfrm>
            <a:off x="260350" y="5373688"/>
            <a:ext cx="886269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代表每个原子在单位时间内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能级的自发辐射几率，又称</a:t>
            </a:r>
            <a:r>
              <a:rPr lang="zh-CN" altLang="en-US" sz="1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自发辐射爱因斯坦系数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431" name="Text Box 23"/>
          <p:cNvSpPr txBox="1"/>
          <p:nvPr/>
        </p:nvSpPr>
        <p:spPr>
          <a:xfrm>
            <a:off x="250825" y="5804853"/>
            <a:ext cx="897572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/>
            <a:r>
              <a:rPr lang="en-US" altLang="zh-CN" sz="1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完全由原子系统的两特定能级特性决定，与外界信号无关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一定原子的特定能级</a:t>
            </a:r>
            <a:r>
              <a:rPr lang="en-US" altLang="zh-CN" sz="1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是定值；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各原子自发跃迁中彼此无关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不同原子产生的自发辐射光的方向、位相、偏振状态无确定关系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辐射光是非相干的荧光。自发辐射是各种普通光源的发光机制。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197" name="Rectangle 24"/>
          <p:cNvSpPr/>
          <p:nvPr/>
        </p:nvSpPr>
        <p:spPr>
          <a:xfrm>
            <a:off x="5940425" y="2349500"/>
            <a:ext cx="3203575" cy="2835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defTabSz="914400">
              <a:tabLst>
                <a:tab pos="2962275" algn="l"/>
              </a:tabLst>
            </a:pP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特点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：原子之间毫无联系而且各个原子开始发光的时间参差不一。各列光波频率虽然相同，但它们之间没有固定的相位关系，偏振方向不同，传播方向也不同。自发辐射的光是非相干光。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tabLst>
                <a:tab pos="2962275" algn="l"/>
              </a:tabLst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45415" grpId="0"/>
      <p:bldP spid="145416" grpId="0"/>
      <p:bldP spid="145420" grpId="0"/>
      <p:bldP spid="145421" grpId="0"/>
      <p:bldP spid="145427" grpId="0"/>
      <p:bldP spid="145430" grpId="0"/>
      <p:bldP spid="1454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643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372225" y="4724400"/>
          <a:ext cx="32385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" imgW="147955" imgH="143510" progId="Equation.3">
                  <p:embed/>
                </p:oleObj>
              </mc:Choice>
              <mc:Fallback>
                <p:oleObj name="" r:id="rId1" imgW="147955" imgH="14351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72225" y="4724400"/>
                        <a:ext cx="323850" cy="3143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5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19475" y="3573780"/>
          <a:ext cx="1076960" cy="78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3" imgW="379095" imgH="283210" progId="Equation.3">
                  <p:embed/>
                </p:oleObj>
              </mc:Choice>
              <mc:Fallback>
                <p:oleObj name="" r:id="rId3" imgW="379095" imgH="28321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475" y="3573780"/>
                        <a:ext cx="1076960" cy="78994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6" name="Text Box 4"/>
          <p:cNvSpPr txBox="1"/>
          <p:nvPr/>
        </p:nvSpPr>
        <p:spPr>
          <a:xfrm>
            <a:off x="250825" y="1125538"/>
            <a:ext cx="50069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单位时间、单位体积内，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上减少的粒子数为：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Rectangle 5"/>
          <p:cNvSpPr/>
          <p:nvPr/>
        </p:nvSpPr>
        <p:spPr>
          <a:xfrm>
            <a:off x="3416300" y="458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6438" name="Object 6"/>
          <p:cNvGraphicFramePr>
            <a:graphicFrameLocks noChangeAspect="1"/>
          </p:cNvGraphicFramePr>
          <p:nvPr/>
        </p:nvGraphicFramePr>
        <p:xfrm>
          <a:off x="2124075" y="1557338"/>
          <a:ext cx="34559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5" imgW="1271270" imgH="321945" progId="Equation.3">
                  <p:embed/>
                </p:oleObj>
              </mc:Choice>
              <mc:Fallback>
                <p:oleObj name="" r:id="rId5" imgW="1271270" imgH="32194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4075" y="1557338"/>
                        <a:ext cx="3455988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Rectangle 7"/>
          <p:cNvSpPr/>
          <p:nvPr/>
        </p:nvSpPr>
        <p:spPr>
          <a:xfrm>
            <a:off x="3368675" y="56911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1763713" y="2420938"/>
          <a:ext cx="444341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7" imgW="1528445" imgH="283210" progId="Equation.3">
                  <p:embed/>
                </p:oleObj>
              </mc:Choice>
              <mc:Fallback>
                <p:oleObj name="" r:id="rId7" imgW="1528445" imgH="28321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713" y="2420938"/>
                        <a:ext cx="4443412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1" name="Text Box 9"/>
          <p:cNvSpPr txBox="1"/>
          <p:nvPr/>
        </p:nvSpPr>
        <p:spPr>
          <a:xfrm>
            <a:off x="827723" y="2636520"/>
            <a:ext cx="6413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于是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2" name="Text Box 10"/>
          <p:cNvSpPr txBox="1"/>
          <p:nvPr/>
        </p:nvSpPr>
        <p:spPr>
          <a:xfrm>
            <a:off x="539750" y="3144838"/>
            <a:ext cx="480123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式中，    为初时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能级上的初始原子数。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10" name="AutoShape 11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11" name="AutoShape 12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12" name="AutoShape 13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6" name="Text Box 14"/>
          <p:cNvSpPr txBox="1"/>
          <p:nvPr/>
        </p:nvSpPr>
        <p:spPr>
          <a:xfrm>
            <a:off x="827088" y="4321175"/>
            <a:ext cx="7273925" cy="17519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自发跃迁几率决定了粒子在能级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上的自发辐射寿命，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物理意义：经过</a:t>
            </a:r>
            <a:r>
              <a:rPr lang="zh-CN" altLang="en-US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1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后，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上的原子数密度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减少到初值      的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倍；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1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越大，表明原子在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上逗留时间越长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无穷大时，称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为稳态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18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较长的能态称为亚稳态。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6448" name="Object 16"/>
          <p:cNvGraphicFramePr>
            <a:graphicFrameLocks noGrp="1" noChangeAspect="1"/>
          </p:cNvGraphicFramePr>
          <p:nvPr>
            <p:ph sz="half" idx="1"/>
          </p:nvPr>
        </p:nvGraphicFramePr>
        <p:xfrm>
          <a:off x="1259523" y="3145155"/>
          <a:ext cx="409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9" imgW="147955" imgH="143510" progId="Equation.3">
                  <p:embed/>
                </p:oleObj>
              </mc:Choice>
              <mc:Fallback>
                <p:oleObj name="" r:id="rId9" imgW="147955" imgH="14351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9523" y="3145155"/>
                        <a:ext cx="409575" cy="396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Rectangle 17"/>
          <p:cNvSpPr/>
          <p:nvPr/>
        </p:nvSpPr>
        <p:spPr>
          <a:xfrm>
            <a:off x="6156325" y="765175"/>
            <a:ext cx="2786063" cy="16300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271780" eaLnBrk="0" hangingPunct="0"/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激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发态的原子数密度将随时间作指数衰减。其自发辐射的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平均寿命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等于原子数密度由起始值降到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所用时间。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46436" grpId="0"/>
      <p:bldP spid="146441" grpId="0"/>
      <p:bldP spid="146442" grpId="0"/>
      <p:bldP spid="1464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>
          <a:xfrm>
            <a:off x="539750" y="765175"/>
            <a:ext cx="8229600" cy="1371600"/>
          </a:xfrm>
          <a:solidFill>
            <a:srgbClr val="FFFFFF"/>
          </a:solidFill>
          <a:ln>
            <a:noFill/>
          </a:ln>
        </p:spPr>
        <p:txBody>
          <a:bodyPr anchor="t" anchorCtr="0"/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zh-CN" altLang="en-US" sz="2400" b="0" dirty="0">
                <a:solidFill>
                  <a:schemeClr val="tx1"/>
                </a:solidFill>
              </a:rPr>
              <a:t>受激吸收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52226" name="Rectangle 3"/>
          <p:cNvSpPr>
            <a:spLocks noGrp="1"/>
          </p:cNvSpPr>
          <p:nvPr>
            <p:ph type="body" sz="half" idx="1"/>
          </p:nvPr>
        </p:nvSpPr>
        <p:spPr>
          <a:xfrm>
            <a:off x="570865" y="2061210"/>
            <a:ext cx="8002270" cy="4034790"/>
          </a:xfrm>
        </p:spPr>
        <p:txBody>
          <a:bodyPr vert="horz" wrap="square" lIns="91320" tIns="45660" rIns="91320" bIns="45660" anchor="t" anchorCtr="0"/>
          <a:p>
            <a:pPr eaLnBrk="1" hangingPunct="1">
              <a:lnSpc>
                <a:spcPct val="120000"/>
              </a:lnSpc>
              <a:buClrTx/>
              <a:buSzTx/>
              <a:buFontTx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受激吸收几率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：由于受激吸收，单位时间从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能级跃迁到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能级的原子数密度与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能级原子数密度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的比值：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</a:pP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</a:pP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由辐射引起，不仅与粒子本身性质有关，还与辐射场能量密度        有关，即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称为爱因斯坦吸收系数，仅与粒子本身性质有关。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746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15603" y="3356928"/>
          <a:ext cx="26638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844550" imgH="300355" progId="Equation.3">
                  <p:embed/>
                </p:oleObj>
              </mc:Choice>
              <mc:Fallback>
                <p:oleObj name="" r:id="rId1" imgW="844550" imgH="300355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5603" y="3356928"/>
                        <a:ext cx="2663825" cy="9493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8316278" y="4508818"/>
          <a:ext cx="5032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3" imgW="196215" imgH="139065" progId="Equation.3">
                  <p:embed/>
                </p:oleObj>
              </mc:Choice>
              <mc:Fallback>
                <p:oleObj name="" r:id="rId3" imgW="196215" imgH="13906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6278" y="4508818"/>
                        <a:ext cx="503237" cy="3460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2987358" y="5013008"/>
          <a:ext cx="22320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5" imgW="648970" imgH="139065" progId="Equation.3">
                  <p:embed/>
                </p:oleObj>
              </mc:Choice>
              <mc:Fallback>
                <p:oleObj name="" r:id="rId5" imgW="648970" imgH="139065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7358" y="5013008"/>
                        <a:ext cx="22320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7463" name="Picture 7" descr="复件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085" y="0"/>
            <a:ext cx="1859915" cy="1951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31" name="Rectangle 8"/>
          <p:cNvSpPr/>
          <p:nvPr/>
        </p:nvSpPr>
        <p:spPr>
          <a:xfrm>
            <a:off x="538798" y="1124268"/>
            <a:ext cx="7272337" cy="3765550"/>
          </a:xfrm>
          <a:prstGeom prst="rect">
            <a:avLst/>
          </a:prstGeom>
          <a:noFill/>
          <a:ln w="9525">
            <a:noFill/>
          </a:ln>
        </p:spPr>
        <p:txBody>
          <a:bodyPr lIns="91320" tIns="45660" rIns="91320" bIns="45660" anchor="t" anchorCtr="0"/>
          <a:p>
            <a:pPr marL="34290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处于低能级的原子受到外来能量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hv=E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-E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的光照射时，处于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能级的原子完全吸收该光子而跃迁到较高能级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的过程，叫受激吸收。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8486" name="Picture 6" descr="复件 1"/>
          <p:cNvPicPr>
            <a:picLocks noChangeAspect="1"/>
          </p:cNvPicPr>
          <p:nvPr/>
        </p:nvPicPr>
        <p:blipFill>
          <a:blip r:embed="rId1"/>
          <a:srcRect b="9842"/>
          <a:stretch>
            <a:fillRect/>
          </a:stretch>
        </p:blipFill>
        <p:spPr>
          <a:xfrm>
            <a:off x="7631113" y="0"/>
            <a:ext cx="1512887" cy="1363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49" name="Rectangle 2"/>
          <p:cNvSpPr>
            <a:spLocks noGrp="1"/>
          </p:cNvSpPr>
          <p:nvPr>
            <p:ph type="title"/>
          </p:nvPr>
        </p:nvSpPr>
        <p:spPr>
          <a:xfrm>
            <a:off x="457200" y="476250"/>
            <a:ext cx="4700905" cy="687705"/>
          </a:xfrm>
          <a:solidFill>
            <a:srgbClr val="FFFFFF"/>
          </a:solidFill>
          <a:ln>
            <a:noFill/>
          </a:ln>
        </p:spPr>
        <p:txBody>
          <a:bodyPr anchor="t" anchorCtr="0"/>
          <a:p>
            <a:pPr algn="l" eaLnBrk="1" hangingPunct="1">
              <a:lnSpc>
                <a:spcPct val="8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(3) </a:t>
            </a:r>
            <a:r>
              <a:rPr lang="zh-CN" altLang="en-US" sz="2400" b="0" dirty="0">
                <a:solidFill>
                  <a:schemeClr val="tx1"/>
                </a:solidFill>
              </a:rPr>
              <a:t>受激辐射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53250" name="Rectangle 3"/>
          <p:cNvSpPr>
            <a:spLocks noGrp="1"/>
          </p:cNvSpPr>
          <p:nvPr>
            <p:ph type="body" sz="half" idx="1"/>
          </p:nvPr>
        </p:nvSpPr>
        <p:spPr>
          <a:xfrm>
            <a:off x="354330" y="980440"/>
            <a:ext cx="8435975" cy="5300663"/>
          </a:xfrm>
        </p:spPr>
        <p:txBody>
          <a:bodyPr vert="horz" wrap="square" lIns="91320" tIns="45660" rIns="91320" bIns="45660" anchor="t" anchorCtr="0"/>
          <a:p>
            <a:pPr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上原子在频率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的外界光作用下跃迁到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，同时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辐射出能量为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、且与外界光信号同一状态的光子，这两个光子再去诱发产生更多状态相同的光子。这样，在一个入射光子作用下，就可以产生大量运动状态相同的光子，这一发射过程称为受激辐射 。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受激发射几率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：在频率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 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的外界光信号作用下，单位时间内从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跃迁到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的原子数密度与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之比：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dirty="0"/>
              <a:t>不仅与原子特定能级跃迁机构性质有关，还与入射光信号的强度有关</a:t>
            </a: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dirty="0"/>
              <a:t> </a:t>
            </a: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(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：频率为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的入射光波的能量密度</a:t>
            </a:r>
            <a:endParaRPr lang="zh-CN" alt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：爱因</a:t>
            </a:r>
            <a:r>
              <a:rPr lang="zh-CN" altLang="en-US" sz="1800" dirty="0"/>
              <a:t>斯坦受激发射系数，仅与原子特定的能级跃迁结构性质有关。</a:t>
            </a:r>
            <a:endParaRPr lang="zh-CN" altLang="en-US" sz="1800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b="1" dirty="0"/>
              <a:t>外来光子能量要与能级差相等。</a:t>
            </a:r>
            <a:endParaRPr lang="zh-CN" altLang="en-US" sz="1800" b="1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/>
              <a:t>受激发射光子与外界信号光子</a:t>
            </a:r>
            <a:r>
              <a:rPr lang="zh-CN" altLang="en-US" sz="1600" b="1" dirty="0">
                <a:solidFill>
                  <a:srgbClr val="C00000"/>
                </a:solidFill>
              </a:rPr>
              <a:t>传播方向、振荡频率、偏振方向及相位</a:t>
            </a:r>
            <a:r>
              <a:rPr lang="zh-CN" altLang="en-US" sz="1600" b="1" dirty="0"/>
              <a:t>都相同</a:t>
            </a:r>
            <a:endParaRPr lang="zh-CN" altLang="en-US" sz="1600" b="1" dirty="0"/>
          </a:p>
          <a:p>
            <a:pPr eaLnBrk="1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b="1" dirty="0"/>
              <a:t>受激辐射使外来光强得到放大，经受激辐射后，特征完全相同的光子数增加。受激辐射光子与入射光子属于同一光子态，因而是相干的</a:t>
            </a:r>
            <a:endParaRPr lang="zh-CN" altLang="en-US" sz="1800" b="1" dirty="0"/>
          </a:p>
        </p:txBody>
      </p:sp>
      <p:graphicFrame>
        <p:nvGraphicFramePr>
          <p:cNvPr id="14848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03893" y="2780665"/>
          <a:ext cx="259238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2" imgW="818515" imgH="295910" progId="Equation.DSMT4">
                  <p:embed/>
                </p:oleObj>
              </mc:Choice>
              <mc:Fallback>
                <p:oleObj name="" r:id="rId2" imgW="818515" imgH="29591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03893" y="2780665"/>
                        <a:ext cx="2592387" cy="9255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04210" y="4076383"/>
          <a:ext cx="25923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4" imgW="727075" imgH="139065" progId="Equation.3">
                  <p:embed/>
                </p:oleObj>
              </mc:Choice>
              <mc:Fallback>
                <p:oleObj name="" r:id="rId4" imgW="727075" imgH="139065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04210" y="4076383"/>
                        <a:ext cx="2592388" cy="5032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标题 717825"/>
          <p:cNvSpPr>
            <a:spLocks noGrp="1"/>
          </p:cNvSpPr>
          <p:nvPr>
            <p:ph type="title"/>
          </p:nvPr>
        </p:nvSpPr>
        <p:spPr>
          <a:xfrm>
            <a:off x="971233" y="764223"/>
            <a:ext cx="7361237" cy="533400"/>
          </a:xfrm>
          <a:noFill/>
          <a:ln>
            <a:noFill/>
          </a:ln>
        </p:spPr>
        <p:txBody>
          <a:bodyPr anchor="b" anchorCtr="0"/>
          <a:p>
            <a:r>
              <a:rPr lang="zh-CN" altLang="en-US" sz="3200" dirty="0">
                <a:solidFill>
                  <a:schemeClr val="tx1"/>
                </a:solidFill>
              </a:rPr>
              <a:t>光谱线的加宽机制和类型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7586" name="矩形 717834"/>
          <p:cNvSpPr/>
          <p:nvPr/>
        </p:nvSpPr>
        <p:spPr>
          <a:xfrm>
            <a:off x="107633" y="1990725"/>
            <a:ext cx="20034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均匀加宽：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87" name="矩形 717835"/>
          <p:cNvSpPr/>
          <p:nvPr/>
        </p:nvSpPr>
        <p:spPr>
          <a:xfrm>
            <a:off x="2051368" y="1700213"/>
            <a:ext cx="6875462" cy="13220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b="1" dirty="0">
                <a:latin typeface="Tahoma" panose="020B0604030504040204" pitchFamily="34" charset="0"/>
                <a:ea typeface="幼圆" pitchFamily="49" charset="-122"/>
              </a:rPr>
              <a:t>引起加宽的物理因素对每个发光粒子都是等同的。由于均匀加宽对每个原子的辐射的影响是相同的，因此在均匀加宽的影响下，每个原子都具有相同的辐射特性，即</a:t>
            </a: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幼圆" pitchFamily="49" charset="-122"/>
              </a:rPr>
              <a:t>每个原子都以整个线型函数的形式辐射光子。</a:t>
            </a:r>
            <a:endParaRPr lang="zh-CN" altLang="en-US" sz="2000" b="1" dirty="0">
              <a:solidFill>
                <a:srgbClr val="FF0000"/>
              </a:solidFill>
              <a:latin typeface="Tahoma" panose="020B0604030504040204" pitchFamily="34" charset="0"/>
              <a:ea typeface="幼圆" pitchFamily="49" charset="-122"/>
            </a:endParaRPr>
          </a:p>
        </p:txBody>
      </p:sp>
      <p:sp>
        <p:nvSpPr>
          <p:cNvPr id="67588" name="矩形 717837"/>
          <p:cNvSpPr/>
          <p:nvPr/>
        </p:nvSpPr>
        <p:spPr>
          <a:xfrm>
            <a:off x="1203643" y="3140075"/>
            <a:ext cx="69675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自然加宽、 寿命加宽、压力加宽、热声子加宽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矩形 717838"/>
          <p:cNvSpPr/>
          <p:nvPr/>
        </p:nvSpPr>
        <p:spPr>
          <a:xfrm>
            <a:off x="2697163" y="4004945"/>
            <a:ext cx="54737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b="1" dirty="0">
                <a:latin typeface="Tahoma" panose="020B0604030504040204" pitchFamily="34" charset="0"/>
                <a:ea typeface="幼圆" pitchFamily="49" charset="-122"/>
              </a:rPr>
              <a:t>由于某种物理因素的影响，使得发光原子有不同的表观中心频率，使总的辐射谱线加宽。</a:t>
            </a:r>
            <a:endParaRPr lang="zh-CN" altLang="en-US" sz="2000" b="1" dirty="0">
              <a:latin typeface="Tahoma" panose="020B0604030504040204" pitchFamily="34" charset="0"/>
              <a:ea typeface="幼圆" pitchFamily="49" charset="-122"/>
            </a:endParaRPr>
          </a:p>
        </p:txBody>
      </p:sp>
      <p:sp>
        <p:nvSpPr>
          <p:cNvPr id="67590" name="矩形 717839"/>
          <p:cNvSpPr/>
          <p:nvPr/>
        </p:nvSpPr>
        <p:spPr>
          <a:xfrm>
            <a:off x="106680" y="4076700"/>
            <a:ext cx="24542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非均匀加宽：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1" name="矩形 717840"/>
          <p:cNvSpPr/>
          <p:nvPr/>
        </p:nvSpPr>
        <p:spPr>
          <a:xfrm>
            <a:off x="2627630" y="4940618"/>
            <a:ext cx="44640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20000"/>
              </a:spcBef>
              <a:buSzPct val="75000"/>
              <a:buFont typeface="Symbol" panose="05050102010706020507" pitchFamily="18" charset="2"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多普勒加宽、晶格缺陷加宽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2" name="矩形 717841"/>
          <p:cNvSpPr/>
          <p:nvPr/>
        </p:nvSpPr>
        <p:spPr>
          <a:xfrm>
            <a:off x="251143" y="5516563"/>
            <a:ext cx="18415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20000"/>
              </a:spcBef>
              <a:buSzPct val="75000"/>
              <a:buFont typeface="Symbol" panose="05050102010706020507" pitchFamily="18" charset="2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综合加宽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8" name="Text Box 4"/>
          <p:cNvSpPr txBox="1"/>
          <p:nvPr/>
        </p:nvSpPr>
        <p:spPr>
          <a:xfrm>
            <a:off x="179388" y="116523"/>
            <a:ext cx="8839200" cy="65506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激光振荡和光学谐振腔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激光振荡的产生：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粒子数反转分布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（必要条件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激活物质置于光学谐振腔中，对光的频率和方向进行选择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连续的光放大和激光振荡输出。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基本的</a:t>
            </a:r>
            <a:r>
              <a:rPr lang="zh-CN" altLang="en-US" sz="28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光学谐振腔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由两个反射率分别为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的平行反射镜构成，并被称为法布里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珀罗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(FabryPerot, FP)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谐振腔。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由于谐振腔内的激活物质具有粒子数反转分布，可以用它产生的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自发辐射光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作为入射光。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1638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124929"/>
          <p:cNvSpPr>
            <a:spLocks noGrp="1"/>
          </p:cNvSpPr>
          <p:nvPr>
            <p:ph type="ctrTitle"/>
          </p:nvPr>
        </p:nvSpPr>
        <p:spPr>
          <a:xfrm>
            <a:off x="685800" y="1268413"/>
            <a:ext cx="7772400" cy="1470025"/>
          </a:xfrm>
        </p:spPr>
        <p:txBody>
          <a:bodyPr vert="horz" wrap="square" lIns="91440" tIns="45720" rIns="91440" bIns="45720" anchor="ctr" anchorCtr="0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5400" b="0" i="0" u="none" strike="noStrike" kern="1200" cap="none" spc="0" normalizeH="0" baseline="0" noProof="1" dirty="0">
                <a:solidFill>
                  <a:schemeClr val="tx2"/>
                </a:solidFill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en-US" altLang="zh-CN" sz="5400" b="0" i="0" u="none" strike="noStrike" kern="1200" cap="none" spc="0" normalizeH="0" baseline="0" noProof="1" dirty="0">
                <a:solidFill>
                  <a:schemeClr val="tx2"/>
                </a:solidFill>
                <a:latin typeface="+mj-lt"/>
                <a:ea typeface="宋体" panose="02010600030101010101" pitchFamily="2" charset="-122"/>
                <a:cs typeface="+mj-cs"/>
              </a:rPr>
              <a:t>4</a:t>
            </a:r>
            <a:r>
              <a:rPr kumimoji="0" lang="zh-CN" altLang="en-US" sz="5400" b="0" i="0" u="none" strike="noStrike" kern="1200" cap="none" spc="0" normalizeH="0" baseline="0" noProof="1" dirty="0">
                <a:solidFill>
                  <a:schemeClr val="tx2"/>
                </a:solidFill>
                <a:latin typeface="+mj-lt"/>
                <a:ea typeface="宋体" panose="02010600030101010101" pitchFamily="2" charset="-122"/>
                <a:cs typeface="+mj-cs"/>
              </a:rPr>
              <a:t>章</a:t>
            </a:r>
            <a:br>
              <a:rPr lang="zh-CN" altLang="en-US" sz="4400" kern="1200" dirty="0">
                <a:latin typeface="+mj-lt"/>
                <a:ea typeface="宋体" panose="02010600030101010101" pitchFamily="2" charset="-122"/>
                <a:cs typeface="+mj-cs"/>
              </a:rPr>
            </a:br>
            <a:br>
              <a:rPr lang="zh-CN" altLang="en-US" sz="4400" kern="1200" dirty="0">
                <a:latin typeface="+mj-lt"/>
                <a:ea typeface="宋体" panose="02010600030101010101" pitchFamily="2" charset="-122"/>
                <a:cs typeface="+mj-cs"/>
              </a:rPr>
            </a:br>
            <a:r>
              <a:rPr kumimoji="0" lang="zh-CN" altLang="en-US" sz="4400" b="0" i="0" u="none" strike="noStrike" kern="1200" cap="none" spc="0" normalizeH="0" baseline="0" noProof="1" dirty="0">
                <a:solidFill>
                  <a:schemeClr val="tx2"/>
                </a:solidFill>
                <a:latin typeface="+mj-lt"/>
                <a:ea typeface="宋体" panose="02010600030101010101" pitchFamily="2" charset="-122"/>
                <a:cs typeface="+mj-cs"/>
              </a:rPr>
              <a:t> </a:t>
            </a:r>
            <a:r>
              <a:rPr kumimoji="0" lang="zh-CN" altLang="en-US" sz="6000" b="0" i="0" u="none" strike="noStrike" kern="1200" cap="none" spc="0" normalizeH="0" baseline="0" noProof="1" dirty="0">
                <a:solidFill>
                  <a:schemeClr val="accent6"/>
                </a:solidFill>
                <a:latin typeface="+mj-lt"/>
                <a:ea typeface="宋体" panose="02010600030101010101" pitchFamily="2" charset="-122"/>
                <a:cs typeface="+mj-cs"/>
              </a:rPr>
              <a:t>光源</a:t>
            </a:r>
            <a:r>
              <a:rPr kumimoji="0" lang="en-US" altLang="zh-CN" sz="6000" b="0" i="0" u="none" strike="noStrike" kern="1200" cap="none" spc="0" normalizeH="0" baseline="0" noProof="1" dirty="0">
                <a:solidFill>
                  <a:schemeClr val="accent6"/>
                </a:solidFill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6000" b="0" i="0" u="none" strike="noStrike" kern="1200" cap="none" spc="0" normalizeH="0" baseline="0" noProof="1" dirty="0">
                <a:solidFill>
                  <a:schemeClr val="accent6"/>
                </a:solidFill>
                <a:latin typeface="+mj-lt"/>
                <a:ea typeface="宋体" panose="02010600030101010101" pitchFamily="2" charset="-122"/>
                <a:cs typeface="+mj-cs"/>
              </a:rPr>
              <a:t>激光原理</a:t>
            </a:r>
            <a:endParaRPr kumimoji="0" lang="zh-CN" altLang="en-US" sz="6000" b="0" i="0" u="none" strike="noStrike" kern="1200" cap="none" spc="0" normalizeH="0" baseline="0" noProof="1" dirty="0">
              <a:solidFill>
                <a:schemeClr val="accent6"/>
              </a:solidFill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动作按钮: 后退或前一项 45057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6" name="动作按钮: 前进或下一项 45058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" name="动作按钮: 第一张 45059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8" name="标题 45060"/>
          <p:cNvSpPr>
            <a:spLocks noGrp="1"/>
          </p:cNvSpPr>
          <p:nvPr>
            <p:ph type="title"/>
          </p:nvPr>
        </p:nvSpPr>
        <p:spPr>
          <a:xfrm>
            <a:off x="261620" y="404495"/>
            <a:ext cx="8540750" cy="132715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1 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非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相干光源、相干光源与激光</a:t>
            </a:r>
            <a:br>
              <a:rPr lang="zh-CN" altLang="en-US" sz="3600" b="1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en-US" altLang="zh-CN" sz="3200" b="1" dirty="0">
                <a:solidFill>
                  <a:srgbClr val="FF330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 b="1" dirty="0">
                <a:solidFill>
                  <a:srgbClr val="FF3300"/>
                </a:solidFill>
                <a:ea typeface="宋体" panose="02010600030101010101" pitchFamily="2" charset="-122"/>
              </a:rPr>
              <a:t>激光</a:t>
            </a:r>
            <a:endParaRPr lang="zh-CN" altLang="en-US" sz="3200" b="1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文本占位符 45061"/>
          <p:cNvSpPr>
            <a:spLocks noGrp="1"/>
          </p:cNvSpPr>
          <p:nvPr>
            <p:ph idx="1"/>
          </p:nvPr>
        </p:nvSpPr>
        <p:spPr>
          <a:xfrm>
            <a:off x="261620" y="1989455"/>
            <a:ext cx="8670290" cy="3886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2800" b="1" dirty="0">
                <a:ea typeface="宋体" panose="02010600030101010101" pitchFamily="2" charset="-122"/>
              </a:rPr>
              <a:t>激光：受激辐射放大</a:t>
            </a:r>
            <a:r>
              <a:rPr lang="zh-CN" altLang="en-US" sz="2800" b="1" dirty="0">
                <a:ea typeface="宋体" panose="02010600030101010101" pitchFamily="2" charset="-122"/>
                <a:sym typeface="+mn-ea"/>
              </a:rPr>
              <a:t>光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Laser (Light Amplification by Stimulated Emission of Radiation)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单色亮度高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出射光强远大于入射光强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相位整齐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方向性好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强度高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ea typeface="宋体" panose="02010600030101010101" pitchFamily="2" charset="-122"/>
              </a:rPr>
              <a:t>为信息处理提供了稳定的载息媒介。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文本占位符 63489"/>
          <p:cNvSpPr>
            <a:spLocks noGrp="1"/>
          </p:cNvSpPr>
          <p:nvPr>
            <p:ph idx="1"/>
          </p:nvPr>
        </p:nvSpPr>
        <p:spPr>
          <a:xfrm>
            <a:off x="0" y="0"/>
            <a:ext cx="9144000" cy="836613"/>
          </a:xfrm>
        </p:spPr>
        <p:txBody>
          <a:bodyPr vert="horz" wrap="square" lIns="91440" tIns="45720" rIns="91440" bIns="45720" anchor="t" anchorCtr="0"/>
          <a:p>
            <a:pPr marL="609600" indent="-609600"/>
            <a:r>
              <a:rPr lang="zh-CN" altLang="en-US" dirty="0">
                <a:ea typeface="宋体" panose="02010600030101010101" pitchFamily="2" charset="-122"/>
              </a:rPr>
              <a:t>激光产生的条件</a:t>
            </a:r>
            <a:endParaRPr lang="zh-CN" altLang="en-US" dirty="0">
              <a:ea typeface="宋体" panose="02010600030101010101" pitchFamily="2" charset="-122"/>
            </a:endParaRPr>
          </a:p>
          <a:p>
            <a:pPr marL="609600" indent="-60960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3491" name="文本框 63490"/>
          <p:cNvSpPr txBox="1"/>
          <p:nvPr/>
        </p:nvSpPr>
        <p:spPr>
          <a:xfrm>
            <a:off x="755650" y="620078"/>
            <a:ext cx="4752975" cy="3003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必要条件：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 粒子数反转分布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 减少振荡模式数（谐振腔）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充分条件：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 起振条件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 稳定振荡条件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2" name="文本框 63491"/>
          <p:cNvSpPr txBox="1"/>
          <p:nvPr/>
        </p:nvSpPr>
        <p:spPr>
          <a:xfrm>
            <a:off x="322898" y="3356293"/>
            <a:ext cx="8488362" cy="3192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当光束通过原子或分子系统时，总是同时存在着受激发射和受激吸收两个相互对立的过程，前者使入射光强增加，后者使光束强度减弱。从爱因斯坦关系可知，一般情况下受激吸收总是远大于受激发射，绝大部分粒子数处于基态；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如果激发态的电子数远远多于基态电子数，就会使激光工作物质中受激发射占支配地位，这种状态就是所谓的工作物质“粒子反转分布”状态，又称布居数反转分布。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文本框 63492"/>
          <p:cNvSpPr txBox="1"/>
          <p:nvPr/>
        </p:nvSpPr>
        <p:spPr>
          <a:xfrm>
            <a:off x="1023938" y="393858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  <p:bldP spid="6349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文本占位符 66561"/>
          <p:cNvSpPr>
            <a:spLocks noGrp="1"/>
          </p:cNvSpPr>
          <p:nvPr>
            <p:ph idx="1"/>
          </p:nvPr>
        </p:nvSpPr>
        <p:spPr>
          <a:xfrm>
            <a:off x="0" y="0"/>
            <a:ext cx="9144000" cy="620713"/>
          </a:xfrm>
        </p:spPr>
        <p:txBody>
          <a:bodyPr vert="horz" wrap="square" lIns="91440" tIns="45720" rIns="91440" bIns="45720" anchor="t" anchorCtr="0"/>
          <a:p>
            <a:r>
              <a:rPr lang="zh-CN" altLang="en-US" sz="2800" dirty="0">
                <a:ea typeface="宋体" panose="02010600030101010101" pitchFamily="2" charset="-122"/>
              </a:rPr>
              <a:t>激光产生的必要条件</a:t>
            </a:r>
            <a:r>
              <a:rPr lang="en-US" altLang="zh-CN" sz="2800" dirty="0">
                <a:ea typeface="宋体" panose="02010600030101010101" pitchFamily="2" charset="-122"/>
              </a:rPr>
              <a:t>(1)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6563" name="文本框 66562"/>
          <p:cNvSpPr txBox="1"/>
          <p:nvPr/>
        </p:nvSpPr>
        <p:spPr>
          <a:xfrm>
            <a:off x="303213" y="712788"/>
            <a:ext cx="20637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(2)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粒子数反转分布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矩形 66563"/>
          <p:cNvSpPr/>
          <p:nvPr/>
        </p:nvSpPr>
        <p:spPr>
          <a:xfrm>
            <a:off x="2706688" y="16192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6565" name="对象 66564"/>
          <p:cNvGraphicFramePr/>
          <p:nvPr/>
        </p:nvGraphicFramePr>
        <p:xfrm>
          <a:off x="3059113" y="1412875"/>
          <a:ext cx="128905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396240" imgH="274320" progId="Equation.3">
                  <p:embed/>
                </p:oleObj>
              </mc:Choice>
              <mc:Fallback>
                <p:oleObj name="" r:id="rId1" imgW="396240" imgH="27432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1412875"/>
                        <a:ext cx="1289050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文本框 66565"/>
          <p:cNvSpPr txBox="1"/>
          <p:nvPr/>
        </p:nvSpPr>
        <p:spPr>
          <a:xfrm>
            <a:off x="323850" y="2636838"/>
            <a:ext cx="79819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，光能密度不断增加。处于反转分布状态的物质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激活介质。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6567" name="对象 66566"/>
          <p:cNvGraphicFramePr/>
          <p:nvPr/>
        </p:nvGraphicFramePr>
        <p:xfrm>
          <a:off x="539750" y="2636838"/>
          <a:ext cx="1266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474345" imgH="117475" progId="Equation.3">
                  <p:embed/>
                </p:oleObj>
              </mc:Choice>
              <mc:Fallback>
                <p:oleObj name="" r:id="rId3" imgW="474345" imgH="11747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2636838"/>
                        <a:ext cx="126682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8" name="文本框 66567"/>
          <p:cNvSpPr txBox="1"/>
          <p:nvPr/>
        </p:nvSpPr>
        <p:spPr>
          <a:xfrm>
            <a:off x="376238" y="3244850"/>
            <a:ext cx="8412480" cy="1476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粒子在能级上的分布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上多下少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。为此泵浦源将粒子从低能态抽运到高能态。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通过泵浦源的泵浦工作，可使某些具有特殊能级结构的介质发生粒子数反转分布，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形成激活介质。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泵浦源是形成激光器的物质基础之一。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9" name="文本框 66568"/>
          <p:cNvSpPr txBox="1"/>
          <p:nvPr/>
        </p:nvSpPr>
        <p:spPr>
          <a:xfrm>
            <a:off x="376238" y="4889500"/>
            <a:ext cx="8869680" cy="1476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光射入激活介质时，                    ，入射光能密度通过激活介质后被“放大”了，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故激活介质如同一个“光放大器”。这样，光的受激发射在激活介质中占了主导地位。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在工作物质中建立粒子数反转分布状态是形成激光的必要条件。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6570" name="对象 66569"/>
          <p:cNvGraphicFramePr/>
          <p:nvPr/>
        </p:nvGraphicFramePr>
        <p:xfrm>
          <a:off x="2483168" y="4962208"/>
          <a:ext cx="1266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474345" imgH="117475" progId="Equation.3">
                  <p:embed/>
                </p:oleObj>
              </mc:Choice>
              <mc:Fallback>
                <p:oleObj name="" r:id="rId5" imgW="474345" imgH="11747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3168" y="4962208"/>
                        <a:ext cx="126682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574" name="图片 66573"/>
          <p:cNvPicPr>
            <a:picLocks noChangeAspect="1"/>
          </p:cNvPicPr>
          <p:nvPr/>
        </p:nvPicPr>
        <p:blipFill>
          <a:blip r:embed="rId7">
            <a:lum bright="-23999" contrast="29999"/>
          </a:blip>
          <a:srcRect l="51428"/>
          <a:stretch>
            <a:fillRect/>
          </a:stretch>
        </p:blipFill>
        <p:spPr>
          <a:xfrm>
            <a:off x="5867400" y="0"/>
            <a:ext cx="2593975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/>
      <p:bldP spid="66566" grpId="0"/>
      <p:bldP spid="66568" grpId="0"/>
      <p:bldP spid="665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971550" y="692785"/>
          <a:ext cx="7222490" cy="535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4978400" imgH="3638550" progId="Paint.Picture">
                  <p:embed/>
                </p:oleObj>
              </mc:Choice>
              <mc:Fallback>
                <p:oleObj name="" r:id="rId2" imgW="4978400" imgH="36385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1550" y="692785"/>
                        <a:ext cx="7222490" cy="535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占位符 68609"/>
          <p:cNvSpPr>
            <a:spLocks noGrp="1"/>
          </p:cNvSpPr>
          <p:nvPr>
            <p:ph idx="1"/>
          </p:nvPr>
        </p:nvSpPr>
        <p:spPr>
          <a:xfrm>
            <a:off x="179388" y="0"/>
            <a:ext cx="9144000" cy="765175"/>
          </a:xfrm>
        </p:spPr>
        <p:txBody>
          <a:bodyPr vert="horz" wrap="square" lIns="91440" tIns="45720" rIns="91440" bIns="45720" anchor="t" anchorCtr="0"/>
          <a:p>
            <a:pPr marL="609600" indent="-609600"/>
            <a:r>
              <a:rPr lang="zh-CN" altLang="en-US" sz="2800" b="1" dirty="0">
                <a:ea typeface="宋体" panose="02010600030101010101" pitchFamily="2" charset="-122"/>
              </a:rPr>
              <a:t>激光产生的充分条件</a:t>
            </a:r>
            <a:r>
              <a:rPr lang="en-US" altLang="zh-CN" sz="2800" b="1" dirty="0">
                <a:ea typeface="宋体" panose="02010600030101010101" pitchFamily="2" charset="-122"/>
              </a:rPr>
              <a:t>(1)</a:t>
            </a:r>
            <a:r>
              <a:rPr lang="zh-CN" altLang="en-US" sz="2800" b="1" dirty="0">
                <a:ea typeface="宋体" panose="02010600030101010101" pitchFamily="2" charset="-122"/>
              </a:rPr>
              <a:t>：起振条件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8611" name="文本框 68610"/>
          <p:cNvSpPr txBox="1"/>
          <p:nvPr/>
        </p:nvSpPr>
        <p:spPr>
          <a:xfrm>
            <a:off x="158750" y="784225"/>
            <a:ext cx="26606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起振条件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阈值条件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</a:pP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2" name="文本框 68611"/>
          <p:cNvSpPr txBox="1"/>
          <p:nvPr/>
        </p:nvSpPr>
        <p:spPr>
          <a:xfrm>
            <a:off x="303213" y="1071563"/>
            <a:ext cx="8361680" cy="1476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增益：受激放大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损失：镜面透射损失（          ），镜面和腔内激活介质存在着吸收、散射等损失，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增益大于损失，光波放大。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起振：振荡阈值条件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矩形 68612"/>
          <p:cNvSpPr/>
          <p:nvPr/>
        </p:nvSpPr>
        <p:spPr>
          <a:xfrm>
            <a:off x="3632200" y="1206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14" name="对象 68613"/>
          <p:cNvGraphicFramePr/>
          <p:nvPr/>
        </p:nvGraphicFramePr>
        <p:xfrm>
          <a:off x="2643188" y="1444308"/>
          <a:ext cx="7016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248285" imgH="117475" progId="Equation.3">
                  <p:embed/>
                </p:oleObj>
              </mc:Choice>
              <mc:Fallback>
                <p:oleObj name="" r:id="rId1" imgW="248285" imgH="11747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43188" y="1444308"/>
                        <a:ext cx="70167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文本框 68614"/>
          <p:cNvSpPr txBox="1"/>
          <p:nvPr/>
        </p:nvSpPr>
        <p:spPr>
          <a:xfrm>
            <a:off x="609918" y="4274820"/>
            <a:ext cx="75107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强度     的光射入长</a:t>
            </a:r>
            <a:r>
              <a:rPr lang="en-US" altLang="zh-CN" sz="1800" i="1" dirty="0"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的谐振腔内充满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增益系数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 的激活介质，单程</a:t>
            </a:r>
            <a:r>
              <a:rPr lang="en-US" altLang="zh-CN" sz="1800" i="1" dirty="0">
                <a:latin typeface="+mj-lt"/>
                <a:ea typeface="宋体" panose="02010600030101010101" pitchFamily="2" charset="-122"/>
                <a:cs typeface="+mj-lt"/>
              </a:rPr>
              <a:t>L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后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矩形 68615"/>
          <p:cNvSpPr/>
          <p:nvPr/>
        </p:nvSpPr>
        <p:spPr>
          <a:xfrm>
            <a:off x="342900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17" name="对象 68616"/>
          <p:cNvGraphicFramePr/>
          <p:nvPr/>
        </p:nvGraphicFramePr>
        <p:xfrm>
          <a:off x="5291455" y="4274820"/>
          <a:ext cx="5667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196215" imgH="108585" progId="Equation.3">
                  <p:embed/>
                </p:oleObj>
              </mc:Choice>
              <mc:Fallback>
                <p:oleObj name="" r:id="rId3" imgW="196215" imgH="10858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91455" y="4274820"/>
                        <a:ext cx="566738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矩形 68617"/>
          <p:cNvSpPr/>
          <p:nvPr/>
        </p:nvSpPr>
        <p:spPr>
          <a:xfrm>
            <a:off x="2171700" y="2921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19" name="对象 68618"/>
          <p:cNvGraphicFramePr/>
          <p:nvPr/>
        </p:nvGraphicFramePr>
        <p:xfrm>
          <a:off x="1186180" y="4274820"/>
          <a:ext cx="2873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82550" imgH="126365" progId="Equation.3">
                  <p:embed/>
                </p:oleObj>
              </mc:Choice>
              <mc:Fallback>
                <p:oleObj name="" r:id="rId5" imgW="82550" imgH="12636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6180" y="4274820"/>
                        <a:ext cx="2873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矩形 68619"/>
          <p:cNvSpPr/>
          <p:nvPr/>
        </p:nvSpPr>
        <p:spPr>
          <a:xfrm>
            <a:off x="2870200" y="2895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22" name="对象 68621"/>
          <p:cNvGraphicFramePr/>
          <p:nvPr/>
        </p:nvGraphicFramePr>
        <p:xfrm>
          <a:off x="2438083" y="4829175"/>
          <a:ext cx="40052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1214755" imgH="126365" progId="Equation.3">
                  <p:embed/>
                </p:oleObj>
              </mc:Choice>
              <mc:Fallback>
                <p:oleObj name="" r:id="rId7" imgW="1214755" imgH="12636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8083" y="4829175"/>
                        <a:ext cx="4005262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文本框 68622"/>
          <p:cNvSpPr txBox="1"/>
          <p:nvPr/>
        </p:nvSpPr>
        <p:spPr>
          <a:xfrm>
            <a:off x="467043" y="5498783"/>
            <a:ext cx="82486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：单程增益，即光束经过激活介质一次所得的放大倍数。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8624" name="对象 68623"/>
          <p:cNvGraphicFramePr/>
          <p:nvPr/>
        </p:nvGraphicFramePr>
        <p:xfrm>
          <a:off x="538480" y="5498783"/>
          <a:ext cx="2260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9" imgW="822960" imgH="117475" progId="Equation.3">
                  <p:embed/>
                </p:oleObj>
              </mc:Choice>
              <mc:Fallback>
                <p:oleObj name="" r:id="rId9" imgW="822960" imgH="11747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8480" y="5498783"/>
                        <a:ext cx="2260600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5" name="文本框 68624"/>
          <p:cNvSpPr txBox="1"/>
          <p:nvPr/>
        </p:nvSpPr>
        <p:spPr>
          <a:xfrm>
            <a:off x="178118" y="2763520"/>
            <a:ext cx="81203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谐振腔两镜面反射率      ，    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透射率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，     ，镜面其它损耗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，      ， 则：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3" name="矩形 68625"/>
          <p:cNvSpPr/>
          <p:nvPr/>
        </p:nvSpPr>
        <p:spPr>
          <a:xfrm>
            <a:off x="3213100" y="4445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27" name="对象 68626"/>
          <p:cNvGraphicFramePr/>
          <p:nvPr/>
        </p:nvGraphicFramePr>
        <p:xfrm>
          <a:off x="2286318" y="2744470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1" imgW="91440" imgH="117475" progId="Equation.3">
                  <p:embed/>
                </p:oleObj>
              </mc:Choice>
              <mc:Fallback>
                <p:oleObj name="" r:id="rId11" imgW="91440" imgH="11747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86318" y="2744470"/>
                        <a:ext cx="355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矩形 68627"/>
          <p:cNvSpPr/>
          <p:nvPr/>
        </p:nvSpPr>
        <p:spPr>
          <a:xfrm>
            <a:off x="3721100" y="4508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29" name="对象 68628"/>
          <p:cNvGraphicFramePr/>
          <p:nvPr/>
        </p:nvGraphicFramePr>
        <p:xfrm>
          <a:off x="2789555" y="2744470"/>
          <a:ext cx="3778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3" imgW="100330" imgH="117475" progId="Equation.3">
                  <p:embed/>
                </p:oleObj>
              </mc:Choice>
              <mc:Fallback>
                <p:oleObj name="" r:id="rId13" imgW="100330" imgH="11747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89555" y="2744470"/>
                        <a:ext cx="37782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0" name="对象 68629"/>
          <p:cNvGraphicFramePr/>
          <p:nvPr/>
        </p:nvGraphicFramePr>
        <p:xfrm>
          <a:off x="3996055" y="2744470"/>
          <a:ext cx="2905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5" imgW="74295" imgH="117475" progId="Equation.3">
                  <p:embed/>
                </p:oleObj>
              </mc:Choice>
              <mc:Fallback>
                <p:oleObj name="" r:id="rId15" imgW="74295" imgH="117475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6055" y="2744470"/>
                        <a:ext cx="290513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1" name="对象 68630"/>
          <p:cNvGraphicFramePr/>
          <p:nvPr/>
        </p:nvGraphicFramePr>
        <p:xfrm>
          <a:off x="4437380" y="2744470"/>
          <a:ext cx="3127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7" imgW="82550" imgH="117475" progId="Equation.3">
                  <p:embed/>
                </p:oleObj>
              </mc:Choice>
              <mc:Fallback>
                <p:oleObj name="" r:id="rId17" imgW="82550" imgH="11747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37380" y="2744470"/>
                        <a:ext cx="312738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3" name="对象 68632"/>
          <p:cNvGraphicFramePr/>
          <p:nvPr/>
        </p:nvGraphicFramePr>
        <p:xfrm>
          <a:off x="6516370" y="2768918"/>
          <a:ext cx="31591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9" imgW="91440" imgH="117475" progId="Equation.3">
                  <p:embed/>
                </p:oleObj>
              </mc:Choice>
              <mc:Fallback>
                <p:oleObj name="" r:id="rId19" imgW="91440" imgH="11747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16370" y="2768918"/>
                        <a:ext cx="315913" cy="382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5" name="对象 68634"/>
          <p:cNvGraphicFramePr/>
          <p:nvPr/>
        </p:nvGraphicFramePr>
        <p:xfrm>
          <a:off x="7020560" y="2744470"/>
          <a:ext cx="3587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1" imgW="100330" imgH="117475" progId="Equation.3">
                  <p:embed/>
                </p:oleObj>
              </mc:Choice>
              <mc:Fallback>
                <p:oleObj name="" r:id="rId21" imgW="100330" imgH="11747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20560" y="2744470"/>
                        <a:ext cx="358775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6" name="对象 68635"/>
          <p:cNvGraphicFramePr/>
          <p:nvPr/>
        </p:nvGraphicFramePr>
        <p:xfrm>
          <a:off x="3071178" y="3195320"/>
          <a:ext cx="20320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3" imgW="631190" imgH="117475" progId="Equation.3">
                  <p:embed/>
                </p:oleObj>
              </mc:Choice>
              <mc:Fallback>
                <p:oleObj name="" r:id="rId23" imgW="631190" imgH="11747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71178" y="3195320"/>
                        <a:ext cx="2032000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4" name="矩形 68636"/>
          <p:cNvSpPr/>
          <p:nvPr/>
        </p:nvSpPr>
        <p:spPr>
          <a:xfrm>
            <a:off x="3733800" y="5499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38" name="对象 68637"/>
          <p:cNvGraphicFramePr/>
          <p:nvPr/>
        </p:nvGraphicFramePr>
        <p:xfrm>
          <a:off x="3057843" y="3755708"/>
          <a:ext cx="20875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25" imgW="666115" imgH="117475" progId="Equation.3">
                  <p:embed/>
                </p:oleObj>
              </mc:Choice>
              <mc:Fallback>
                <p:oleObj name="" r:id="rId25" imgW="666115" imgH="11747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7843" y="3755708"/>
                        <a:ext cx="2087562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6" name="动作按钮: 后退或前一项 68638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87" name="动作按钮: 前进或下一项 68639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/>
      <p:bldP spid="68612" grpId="0"/>
      <p:bldP spid="68615" grpId="0"/>
      <p:bldP spid="68623" grpId="0"/>
      <p:bldP spid="686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文本占位符 72705"/>
          <p:cNvSpPr>
            <a:spLocks noGrp="1"/>
          </p:cNvSpPr>
          <p:nvPr>
            <p:ph type="body" sz="half" idx="1"/>
          </p:nvPr>
        </p:nvSpPr>
        <p:spPr>
          <a:xfrm>
            <a:off x="468313" y="188913"/>
            <a:ext cx="8002587" cy="511175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 dirty="0">
                <a:ea typeface="宋体" panose="02010600030101010101" pitchFamily="2" charset="-122"/>
              </a:rPr>
              <a:t>激光产生的充分条件（</a:t>
            </a:r>
            <a:r>
              <a:rPr lang="en-US" altLang="zh-CN" sz="2800" dirty="0"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ea typeface="宋体" panose="02010600030101010101" pitchFamily="2" charset="-122"/>
              </a:rPr>
              <a:t>）</a:t>
            </a:r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72707" name="文本框 72706"/>
          <p:cNvSpPr txBox="1"/>
          <p:nvPr/>
        </p:nvSpPr>
        <p:spPr>
          <a:xfrm>
            <a:off x="179388" y="620713"/>
            <a:ext cx="35750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稳定振荡条件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增益饱和效应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</a:pP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08" name="文本框 72707"/>
          <p:cNvSpPr txBox="1"/>
          <p:nvPr/>
        </p:nvSpPr>
        <p:spPr>
          <a:xfrm>
            <a:off x="376238" y="1000125"/>
            <a:ext cx="6774180" cy="1753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激光往返经过激活介质，强度随传播距离</a:t>
            </a:r>
            <a:r>
              <a:rPr lang="en-US" altLang="zh-CN" sz="1800" i="1" dirty="0">
                <a:latin typeface="+mn-ea"/>
                <a:ea typeface="宋体" panose="02010600030101010101" pitchFamily="2" charset="-122"/>
                <a:cs typeface="+mn-ea"/>
              </a:rPr>
              <a:t>x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的增加呈指数上升。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无限制地增大？？？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当入射光强度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足够弱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时，增益系数与光强无关，是一个常数；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当入射光强增加到一定程度时，增益系数将随光强的增大而减小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增益饱和效应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激光器的稳定振荡条件。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矩形 72708"/>
          <p:cNvSpPr/>
          <p:nvPr/>
        </p:nvSpPr>
        <p:spPr>
          <a:xfrm>
            <a:off x="5981700" y="1968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矩形 72709"/>
          <p:cNvSpPr/>
          <p:nvPr/>
        </p:nvSpPr>
        <p:spPr>
          <a:xfrm>
            <a:off x="7302500" y="2032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11" name="对象 72710"/>
          <p:cNvGraphicFramePr/>
          <p:nvPr/>
        </p:nvGraphicFramePr>
        <p:xfrm>
          <a:off x="7092950" y="1844675"/>
          <a:ext cx="7985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283210" imgH="108585" progId="Equation.3">
                  <p:embed/>
                </p:oleObj>
              </mc:Choice>
              <mc:Fallback>
                <p:oleObj name="" r:id="rId1" imgW="283210" imgH="10858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92950" y="1844675"/>
                        <a:ext cx="798513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矩形 72711"/>
          <p:cNvSpPr/>
          <p:nvPr/>
        </p:nvSpPr>
        <p:spPr>
          <a:xfrm>
            <a:off x="1651000" y="2324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13" name="文本框 72712"/>
          <p:cNvSpPr txBox="1"/>
          <p:nvPr/>
        </p:nvSpPr>
        <p:spPr>
          <a:xfrm>
            <a:off x="879475" y="2728913"/>
            <a:ext cx="5897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设想某种工作物质在泵浦作用下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实现了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粒子数反转，即：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715" name="对象 72714"/>
          <p:cNvGraphicFramePr/>
          <p:nvPr/>
        </p:nvGraphicFramePr>
        <p:xfrm>
          <a:off x="2987358" y="3114358"/>
          <a:ext cx="25193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883920" imgH="283210" progId="Equation.3">
                  <p:embed/>
                </p:oleObj>
              </mc:Choice>
              <mc:Fallback>
                <p:oleObj name="" r:id="rId3" imgW="883920" imgH="28321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7358" y="3114358"/>
                        <a:ext cx="2519362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文本框 72715"/>
          <p:cNvSpPr txBox="1"/>
          <p:nvPr/>
        </p:nvSpPr>
        <p:spPr>
          <a:xfrm>
            <a:off x="447675" y="4041775"/>
            <a:ext cx="8516938" cy="182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外加光强致                的受激发射和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        的受激吸收，跃迁几率相等                     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由于                        ，因而                 的粒子数大于                 的粒子数，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新平衡下的反转粒子数                   ，         变小；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随着往返振荡外加光场        不断增强，       不断减小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增益减小到恰好等于损耗时，就建立了稳态的振荡，形成了稳定的激光输出。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4" name="矩形 72716"/>
          <p:cNvSpPr/>
          <p:nvPr/>
        </p:nvSpPr>
        <p:spPr>
          <a:xfrm>
            <a:off x="3203575" y="4254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18" name="对象 72717"/>
          <p:cNvGraphicFramePr/>
          <p:nvPr/>
        </p:nvGraphicFramePr>
        <p:xfrm>
          <a:off x="1691323" y="4079875"/>
          <a:ext cx="10080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5" imgW="361315" imgH="117475" progId="Equation.3">
                  <p:embed/>
                </p:oleObj>
              </mc:Choice>
              <mc:Fallback>
                <p:oleObj name="" r:id="rId5" imgW="361315" imgH="117475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1323" y="4079875"/>
                        <a:ext cx="1008062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矩形 72718"/>
          <p:cNvSpPr/>
          <p:nvPr/>
        </p:nvSpPr>
        <p:spPr>
          <a:xfrm>
            <a:off x="5626100" y="41783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20" name="对象 72719"/>
          <p:cNvGraphicFramePr/>
          <p:nvPr/>
        </p:nvGraphicFramePr>
        <p:xfrm>
          <a:off x="4067175" y="4076700"/>
          <a:ext cx="10334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7" imgW="361315" imgH="117475" progId="Equation.3">
                  <p:embed/>
                </p:oleObj>
              </mc:Choice>
              <mc:Fallback>
                <p:oleObj name="" r:id="rId7" imgW="361315" imgH="11747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4076700"/>
                        <a:ext cx="1033463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矩形 72720"/>
          <p:cNvSpPr/>
          <p:nvPr/>
        </p:nvSpPr>
        <p:spPr>
          <a:xfrm>
            <a:off x="2159000" y="4572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22" name="对象 72721"/>
          <p:cNvGraphicFramePr/>
          <p:nvPr/>
        </p:nvGraphicFramePr>
        <p:xfrm>
          <a:off x="7812405" y="4100195"/>
          <a:ext cx="11890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9" imgW="483235" imgH="117475" progId="Equation.3">
                  <p:embed/>
                </p:oleObj>
              </mc:Choice>
              <mc:Fallback>
                <p:oleObj name="" r:id="rId9" imgW="483235" imgH="11747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12405" y="4100195"/>
                        <a:ext cx="1189038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矩形 72722"/>
          <p:cNvSpPr/>
          <p:nvPr/>
        </p:nvSpPr>
        <p:spPr>
          <a:xfrm>
            <a:off x="4114800" y="4483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24" name="对象 72723"/>
          <p:cNvGraphicFramePr/>
          <p:nvPr/>
        </p:nvGraphicFramePr>
        <p:xfrm>
          <a:off x="1042988" y="4437063"/>
          <a:ext cx="13938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1" imgW="657225" imgH="117475" progId="Equation.3">
                  <p:embed/>
                </p:oleObj>
              </mc:Choice>
              <mc:Fallback>
                <p:oleObj name="" r:id="rId11" imgW="657225" imgH="11747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437063"/>
                        <a:ext cx="1393825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5" name="对象 72724"/>
          <p:cNvGraphicFramePr/>
          <p:nvPr/>
        </p:nvGraphicFramePr>
        <p:xfrm>
          <a:off x="3276600" y="4437063"/>
          <a:ext cx="10080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3" imgW="361315" imgH="117475" progId="Equation.3">
                  <p:embed/>
                </p:oleObj>
              </mc:Choice>
              <mc:Fallback>
                <p:oleObj name="" r:id="rId13" imgW="361315" imgH="117475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4437063"/>
                        <a:ext cx="1008063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6" name="对象 72725"/>
          <p:cNvGraphicFramePr/>
          <p:nvPr/>
        </p:nvGraphicFramePr>
        <p:xfrm>
          <a:off x="5651500" y="4437063"/>
          <a:ext cx="10334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5" imgW="361315" imgH="117475" progId="Equation.3">
                  <p:embed/>
                </p:oleObj>
              </mc:Choice>
              <mc:Fallback>
                <p:oleObj name="" r:id="rId15" imgW="361315" imgH="11747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0" y="4437063"/>
                        <a:ext cx="1033463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8" name="对象 72727"/>
          <p:cNvGraphicFramePr/>
          <p:nvPr/>
        </p:nvGraphicFramePr>
        <p:xfrm>
          <a:off x="3419475" y="4797425"/>
          <a:ext cx="1076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7" imgW="440055" imgH="108585" progId="Equation.3">
                  <p:embed/>
                </p:oleObj>
              </mc:Choice>
              <mc:Fallback>
                <p:oleObj name="" r:id="rId17" imgW="440055" imgH="10858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9475" y="4797425"/>
                        <a:ext cx="1076325" cy="31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0" name="对象 72729"/>
          <p:cNvGraphicFramePr/>
          <p:nvPr/>
        </p:nvGraphicFramePr>
        <p:xfrm>
          <a:off x="4427538" y="5157788"/>
          <a:ext cx="5048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9" imgW="196215" imgH="108585" progId="Equation.3">
                  <p:embed/>
                </p:oleObj>
              </mc:Choice>
              <mc:Fallback>
                <p:oleObj name="" r:id="rId19" imgW="196215" imgH="108585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5157788"/>
                        <a:ext cx="504825" cy="303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对象 72730"/>
          <p:cNvGraphicFramePr/>
          <p:nvPr/>
        </p:nvGraphicFramePr>
        <p:xfrm>
          <a:off x="2843213" y="5124133"/>
          <a:ext cx="57467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1" imgW="169545" imgH="108585" progId="Equation.3">
                  <p:embed/>
                </p:oleObj>
              </mc:Choice>
              <mc:Fallback>
                <p:oleObj name="" r:id="rId21" imgW="169545" imgH="10858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5124133"/>
                        <a:ext cx="574675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动作按钮: 后退或前一项 72731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80" name="动作按钮: 前进或下一项 72732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81" name="动作按钮: 第一张 72733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35" name="内容占位符 72734"/>
          <p:cNvGraphicFramePr>
            <a:graphicFrameLocks noGrp="1"/>
          </p:cNvGraphicFramePr>
          <p:nvPr>
            <p:ph sz="half" idx="2"/>
          </p:nvPr>
        </p:nvGraphicFramePr>
        <p:xfrm>
          <a:off x="4643755" y="4744720"/>
          <a:ext cx="6111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23" imgW="196215" imgH="108585" progId="Equation.3">
                  <p:embed/>
                </p:oleObj>
              </mc:Choice>
              <mc:Fallback>
                <p:oleObj name="" r:id="rId23" imgW="196215" imgH="108585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755" y="4744720"/>
                        <a:ext cx="611188" cy="4222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/>
      <p:bldP spid="72708" grpId="0"/>
      <p:bldP spid="72713" grpId="0"/>
      <p:bldP spid="727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文本占位符 75777"/>
          <p:cNvSpPr>
            <a:spLocks noGrp="1"/>
          </p:cNvSpPr>
          <p:nvPr>
            <p:ph idx="1"/>
          </p:nvPr>
        </p:nvSpPr>
        <p:spPr>
          <a:xfrm>
            <a:off x="0" y="0"/>
            <a:ext cx="9144000" cy="4076700"/>
          </a:xfrm>
        </p:spPr>
        <p:txBody>
          <a:bodyPr vert="horz" wrap="square" lIns="91440" tIns="45720" rIns="91440" bIns="45720" anchor="t" anchorCtr="0"/>
          <a:p>
            <a:pPr marL="609600" indent="-609600"/>
            <a:r>
              <a:rPr lang="zh-CN" altLang="en-US" dirty="0">
                <a:ea typeface="宋体" panose="02010600030101010101" pitchFamily="2" charset="-122"/>
              </a:rPr>
              <a:t>激光器的基本结构及输出</a:t>
            </a:r>
            <a:endParaRPr lang="zh-CN" altLang="en-US" dirty="0">
              <a:ea typeface="宋体" panose="02010600030101010101" pitchFamily="2" charset="-122"/>
            </a:endParaRPr>
          </a:p>
          <a:p>
            <a:pPr marL="609600" indent="-60960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5779" name="文本框 75778"/>
          <p:cNvSpPr txBox="1"/>
          <p:nvPr/>
        </p:nvSpPr>
        <p:spPr>
          <a:xfrm>
            <a:off x="179705" y="546735"/>
            <a:ext cx="277876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3.4.1</a:t>
            </a: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激光器的基本结构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</a:pP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文本框 75779"/>
          <p:cNvSpPr txBox="1"/>
          <p:nvPr/>
        </p:nvSpPr>
        <p:spPr>
          <a:xfrm>
            <a:off x="35560" y="981075"/>
            <a:ext cx="915733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激光工作物质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提供形成激光的能级结构体系，激光产生的内因；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泵浦源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提供形成激光的能量激励，激光形成的外因，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光学谐振腔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为激光器提供反馈放大机构，提高受激发射强度、方向、单色性。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5" name="动作按钮: 后退或前一项 75783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6" name="动作按钮: 前进或下一项 75784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7" name="动作按钮: 第一张 75785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2195830" y="3049270"/>
            <a:ext cx="3950970" cy="25031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/>
      <p:bldP spid="7578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文本占位符 93185"/>
          <p:cNvSpPr>
            <a:spLocks noGrp="1"/>
          </p:cNvSpPr>
          <p:nvPr>
            <p:ph type="body" sz="half" idx="1"/>
          </p:nvPr>
        </p:nvSpPr>
        <p:spPr>
          <a:xfrm>
            <a:off x="323850" y="0"/>
            <a:ext cx="4038600" cy="584200"/>
          </a:xfrm>
        </p:spPr>
        <p:txBody>
          <a:bodyPr vert="horz" wrap="square" lIns="91440" tIns="45720" rIns="91440" bIns="45720" anchor="t" anchorCtr="0"/>
          <a:p>
            <a:pPr marL="609600" indent="-609600">
              <a:buClrTx/>
              <a:buSzTx/>
              <a:buFont typeface="Arial" panose="020B0604020202020204" pitchFamily="34" charset="0"/>
            </a:pPr>
            <a:r>
              <a:rPr lang="zh-CN" altLang="en-US" sz="2800" dirty="0">
                <a:ea typeface="宋体" panose="02010600030101010101" pitchFamily="2" charset="-122"/>
              </a:rPr>
              <a:t>激光的特点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marL="609600" indent="-609600">
              <a:buClrTx/>
              <a:buSzTx/>
              <a:buFont typeface="Arial" panose="020B0604020202020204" pitchFamily="34" charset="0"/>
            </a:pPr>
            <a:endParaRPr lang="zh-CN" altLang="en-US" sz="2800" dirty="0">
              <a:ea typeface="宋体" panose="02010600030101010101" pitchFamily="2" charset="-122"/>
            </a:endParaRPr>
          </a:p>
        </p:txBody>
      </p:sp>
      <p:graphicFrame>
        <p:nvGraphicFramePr>
          <p:cNvPr id="93187" name="内容占位符 93186"/>
          <p:cNvGraphicFramePr>
            <a:graphicFrameLocks noGrp="1"/>
          </p:cNvGraphicFramePr>
          <p:nvPr>
            <p:ph sz="quarter" idx="2"/>
          </p:nvPr>
        </p:nvGraphicFramePr>
        <p:xfrm>
          <a:off x="2411413" y="5930900"/>
          <a:ext cx="151288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" imgW="596265" imgH="126365" progId="Equation.3">
                  <p:embed/>
                </p:oleObj>
              </mc:Choice>
              <mc:Fallback>
                <p:oleObj name="" r:id="rId1" imgW="596265" imgH="126365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5930900"/>
                        <a:ext cx="1512887" cy="3794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8" name="文本框 93187"/>
          <p:cNvSpPr txBox="1"/>
          <p:nvPr/>
        </p:nvSpPr>
        <p:spPr>
          <a:xfrm>
            <a:off x="395288" y="620713"/>
            <a:ext cx="86423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激光与普通光源相比，具有许多优良的性能，总的说来，主要表现在以下四个方面：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189" name="文本框 93188"/>
          <p:cNvSpPr txBox="1"/>
          <p:nvPr/>
        </p:nvSpPr>
        <p:spPr>
          <a:xfrm>
            <a:off x="158750" y="1000125"/>
            <a:ext cx="15176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方向性极好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190" name="文本框 93189"/>
          <p:cNvSpPr txBox="1"/>
          <p:nvPr/>
        </p:nvSpPr>
        <p:spPr>
          <a:xfrm>
            <a:off x="395288" y="1268413"/>
            <a:ext cx="8274050" cy="10877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激光束基本沿轴传播，除了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LD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光束发散角较大之外，一般激光器发散角   和空间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所张立体角     都很小。典型数据                       ，相应的 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普通光源              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3192" name="对象 93191"/>
          <p:cNvGraphicFramePr/>
          <p:nvPr/>
        </p:nvGraphicFramePr>
        <p:xfrm>
          <a:off x="7740650" y="1341438"/>
          <a:ext cx="2127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3" imgW="56515" imgH="91440" progId="Equation.3">
                  <p:embed/>
                </p:oleObj>
              </mc:Choice>
              <mc:Fallback>
                <p:oleObj name="" r:id="rId3" imgW="56515" imgH="9144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740650" y="1341438"/>
                        <a:ext cx="212725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对象 93193"/>
          <p:cNvGraphicFramePr/>
          <p:nvPr/>
        </p:nvGraphicFramePr>
        <p:xfrm>
          <a:off x="1666240" y="164719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5" imgW="82550" imgH="82550" progId="Equation.3">
                  <p:embed/>
                </p:oleObj>
              </mc:Choice>
              <mc:Fallback>
                <p:oleObj name="" r:id="rId5" imgW="82550" imgH="8255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66240" y="164719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对象 93195"/>
          <p:cNvGraphicFramePr/>
          <p:nvPr/>
        </p:nvGraphicFramePr>
        <p:xfrm>
          <a:off x="3851275" y="1628775"/>
          <a:ext cx="1368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7" imgW="509270" imgH="108585" progId="Equation.3">
                  <p:embed/>
                </p:oleObj>
              </mc:Choice>
              <mc:Fallback>
                <p:oleObj name="" r:id="rId7" imgW="509270" imgH="108585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1628775"/>
                        <a:ext cx="1368425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8" name="对象 93197"/>
          <p:cNvGraphicFramePr/>
          <p:nvPr/>
        </p:nvGraphicFramePr>
        <p:xfrm>
          <a:off x="6227763" y="1628458"/>
          <a:ext cx="14271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9" imgW="509270" imgH="108585" progId="Equation.3">
                  <p:embed/>
                </p:oleObj>
              </mc:Choice>
              <mc:Fallback>
                <p:oleObj name="" r:id="rId9" imgW="509270" imgH="108585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27763" y="1628458"/>
                        <a:ext cx="1427162" cy="360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0" name="对象 93199"/>
          <p:cNvGraphicFramePr/>
          <p:nvPr/>
        </p:nvGraphicFramePr>
        <p:xfrm>
          <a:off x="1547813" y="1989138"/>
          <a:ext cx="85248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11" imgW="309245" imgH="91440" progId="Equation.3">
                  <p:embed/>
                </p:oleObj>
              </mc:Choice>
              <mc:Fallback>
                <p:oleObj name="" r:id="rId11" imgW="309245" imgH="9144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1989138"/>
                        <a:ext cx="852487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1" name="文本框 93200"/>
          <p:cNvSpPr txBox="1"/>
          <p:nvPr/>
        </p:nvSpPr>
        <p:spPr>
          <a:xfrm>
            <a:off x="250825" y="2349500"/>
            <a:ext cx="15176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单色性极好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02" name="文本框 93201"/>
          <p:cNvSpPr txBox="1"/>
          <p:nvPr/>
        </p:nvSpPr>
        <p:spPr>
          <a:xfrm>
            <a:off x="755650" y="2636838"/>
            <a:ext cx="7169150" cy="752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激光发光频率   受激光跃迁决定，仅有极小线宽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(                             )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普通光源中单色性最好的       灯谱线宽度                             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3204" name="对象 93203"/>
          <p:cNvGraphicFramePr/>
          <p:nvPr/>
        </p:nvGraphicFramePr>
        <p:xfrm>
          <a:off x="2195513" y="2781300"/>
          <a:ext cx="23336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3" imgW="47625" imgH="56515" progId="Equation.3">
                  <p:embed/>
                </p:oleObj>
              </mc:Choice>
              <mc:Fallback>
                <p:oleObj name="" r:id="rId13" imgW="47625" imgH="56515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2781300"/>
                        <a:ext cx="233362" cy="252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6" name="对象 93205"/>
          <p:cNvGraphicFramePr/>
          <p:nvPr/>
        </p:nvGraphicFramePr>
        <p:xfrm>
          <a:off x="5702300" y="2647950"/>
          <a:ext cx="17875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5" imgW="718185" imgH="108585" progId="Equation.3">
                  <p:embed/>
                </p:oleObj>
              </mc:Choice>
              <mc:Fallback>
                <p:oleObj name="" r:id="rId15" imgW="718185" imgH="108585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02300" y="2647950"/>
                        <a:ext cx="1787525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8" name="对象 93207"/>
          <p:cNvGraphicFramePr/>
          <p:nvPr/>
        </p:nvGraphicFramePr>
        <p:xfrm>
          <a:off x="3348038" y="2997200"/>
          <a:ext cx="5143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7" imgW="187325" imgH="143510" progId="Equation.3">
                  <p:embed/>
                </p:oleObj>
              </mc:Choice>
              <mc:Fallback>
                <p:oleObj name="" r:id="rId17" imgW="187325" imgH="14351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2997200"/>
                        <a:ext cx="514350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0" name="对象 93209"/>
          <p:cNvGraphicFramePr/>
          <p:nvPr/>
        </p:nvGraphicFramePr>
        <p:xfrm>
          <a:off x="5021263" y="2994025"/>
          <a:ext cx="18034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9" imgW="709930" imgH="108585" progId="Equation.3">
                  <p:embed/>
                </p:oleObj>
              </mc:Choice>
              <mc:Fallback>
                <p:oleObj name="" r:id="rId19" imgW="709930" imgH="108585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21263" y="2994025"/>
                        <a:ext cx="1803400" cy="334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2" name="文本框 93211"/>
          <p:cNvSpPr txBox="1"/>
          <p:nvPr/>
        </p:nvSpPr>
        <p:spPr>
          <a:xfrm>
            <a:off x="250825" y="3357563"/>
            <a:ext cx="10604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相干性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213" name="文本框 93212"/>
          <p:cNvSpPr txBox="1"/>
          <p:nvPr/>
        </p:nvSpPr>
        <p:spPr>
          <a:xfrm>
            <a:off x="179388" y="3716338"/>
            <a:ext cx="8780462" cy="9159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(1)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时间相干性：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指同一光源在不大于</a:t>
            </a:r>
            <a:r>
              <a:rPr lang="zh-CN" altLang="en-US" sz="1800" i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1800" i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的两个不同时刻发生的光在空间某处交会能产生干涉的性质，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1800" i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1800" i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c  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相干时间，</a:t>
            </a:r>
            <a:r>
              <a:rPr lang="zh-CN" altLang="en-US" sz="1800" i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1800" i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时间内所走过的光程差     称为相干长度，于是： 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3215" name="对象 93214"/>
          <p:cNvGraphicFramePr/>
          <p:nvPr/>
        </p:nvGraphicFramePr>
        <p:xfrm>
          <a:off x="4284663" y="4292600"/>
          <a:ext cx="2952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21" imgW="91440" imgH="126365" progId="Equation.3">
                  <p:embed/>
                </p:oleObj>
              </mc:Choice>
              <mc:Fallback>
                <p:oleObj name="" r:id="rId21" imgW="91440" imgH="126365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4292600"/>
                        <a:ext cx="295275" cy="373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7" name="对象 93216"/>
          <p:cNvGraphicFramePr/>
          <p:nvPr/>
        </p:nvGraphicFramePr>
        <p:xfrm>
          <a:off x="3347720" y="4730750"/>
          <a:ext cx="1655763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23" imgW="570230" imgH="248285" progId="Equation.3">
                  <p:embed/>
                </p:oleObj>
              </mc:Choice>
              <mc:Fallback>
                <p:oleObj name="" r:id="rId23" imgW="570230" imgH="248285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7720" y="4730750"/>
                        <a:ext cx="1655763" cy="77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5" name="动作按钮: 后退或前一项 93217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26" name="动作按钮: 前进或下一项 93218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27" name="动作按钮: 第一张 93219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21" name="文本框 93220"/>
          <p:cNvSpPr txBox="1"/>
          <p:nvPr/>
        </p:nvSpPr>
        <p:spPr>
          <a:xfrm>
            <a:off x="250825" y="5568950"/>
            <a:ext cx="6356350" cy="11207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光单色性越好，相应相干时间和相干长度越长，相干性越好，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如 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Kr86, Lc=78cm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，                       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氦氖激光器                       ，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9" name="圆角矩形标注 93221"/>
          <p:cNvSpPr/>
          <p:nvPr/>
        </p:nvSpPr>
        <p:spPr>
          <a:xfrm>
            <a:off x="5148263" y="4724400"/>
            <a:ext cx="2087562" cy="360363"/>
          </a:xfrm>
          <a:prstGeom prst="wedgeRoundRectCallout">
            <a:avLst>
              <a:gd name="adj1" fmla="val -52435"/>
              <a:gd name="adj2" fmla="val 8480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谱线线宽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3223" name="内容占位符 93222"/>
          <p:cNvGraphicFramePr>
            <a:graphicFrameLocks noGrp="1"/>
          </p:cNvGraphicFramePr>
          <p:nvPr>
            <p:ph sz="quarter" idx="3"/>
          </p:nvPr>
        </p:nvGraphicFramePr>
        <p:xfrm>
          <a:off x="1475740" y="6303963"/>
          <a:ext cx="14144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25" imgW="544195" imgH="126365" progId="Equation.3">
                  <p:embed/>
                </p:oleObj>
              </mc:Choice>
              <mc:Fallback>
                <p:oleObj name="" r:id="rId25" imgW="544195" imgH="126365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5740" y="6303963"/>
                        <a:ext cx="1414463" cy="3857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24" name="对象 93223"/>
          <p:cNvGraphicFramePr/>
          <p:nvPr/>
        </p:nvGraphicFramePr>
        <p:xfrm>
          <a:off x="3131503" y="6303963"/>
          <a:ext cx="15573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27" imgW="640080" imgH="135255" progId="Equation.3">
                  <p:embed/>
                </p:oleObj>
              </mc:Choice>
              <mc:Fallback>
                <p:oleObj name="" r:id="rId27" imgW="640080" imgH="135255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1503" y="6303963"/>
                        <a:ext cx="1557337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9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9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89" grpId="0"/>
      <p:bldP spid="93190" grpId="0"/>
      <p:bldP spid="93201" grpId="0"/>
      <p:bldP spid="93202" grpId="0"/>
      <p:bldP spid="93212" grpId="0"/>
      <p:bldP spid="93213" grpId="0"/>
      <p:bldP spid="932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文本占位符 94209"/>
          <p:cNvSpPr>
            <a:spLocks noGrp="1"/>
          </p:cNvSpPr>
          <p:nvPr>
            <p:ph idx="1"/>
          </p:nvPr>
        </p:nvSpPr>
        <p:spPr>
          <a:xfrm>
            <a:off x="0" y="0"/>
            <a:ext cx="9144000" cy="386080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ea typeface="宋体" panose="02010600030101010101" pitchFamily="2" charset="-122"/>
              </a:rPr>
              <a:t>激光的特点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9154" name="矩形 94210"/>
          <p:cNvSpPr/>
          <p:nvPr/>
        </p:nvSpPr>
        <p:spPr>
          <a:xfrm>
            <a:off x="7289800" y="763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5" name="矩形 94211"/>
          <p:cNvSpPr/>
          <p:nvPr/>
        </p:nvSpPr>
        <p:spPr>
          <a:xfrm>
            <a:off x="1081088" y="1778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6" name="矩形 94212"/>
          <p:cNvSpPr/>
          <p:nvPr/>
        </p:nvSpPr>
        <p:spPr>
          <a:xfrm>
            <a:off x="2808288" y="1803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7" name="矩形 94213"/>
          <p:cNvSpPr/>
          <p:nvPr/>
        </p:nvSpPr>
        <p:spPr>
          <a:xfrm>
            <a:off x="3541713" y="1778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8" name="矩形 94214"/>
          <p:cNvSpPr/>
          <p:nvPr/>
        </p:nvSpPr>
        <p:spPr>
          <a:xfrm>
            <a:off x="6929438" y="17510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9" name="矩形 94215"/>
          <p:cNvSpPr/>
          <p:nvPr/>
        </p:nvSpPr>
        <p:spPr>
          <a:xfrm>
            <a:off x="206375" y="20986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0" name="矩形 94216"/>
          <p:cNvSpPr/>
          <p:nvPr/>
        </p:nvSpPr>
        <p:spPr>
          <a:xfrm>
            <a:off x="3000375" y="20986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8" name="文本框 94217"/>
          <p:cNvSpPr txBox="1"/>
          <p:nvPr/>
        </p:nvSpPr>
        <p:spPr>
          <a:xfrm>
            <a:off x="179705" y="565150"/>
            <a:ext cx="8742045" cy="16300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(2)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空间相干性极好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指同一时刻处于某给定光波的同一波阵面上不同两点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线度     ）之间波场的相干性。普通光源：线度      内发出的光，过距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离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处间距为</a:t>
            </a:r>
            <a:r>
              <a:rPr lang="en-US" altLang="zh-CN" sz="2000" i="1" dirty="0"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两狭缝，产生干涉的条件是： 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2" name="矩形 94218"/>
          <p:cNvSpPr/>
          <p:nvPr/>
        </p:nvSpPr>
        <p:spPr>
          <a:xfrm>
            <a:off x="8048625" y="2420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4220" name="对象 94219"/>
          <p:cNvGraphicFramePr/>
          <p:nvPr/>
        </p:nvGraphicFramePr>
        <p:xfrm>
          <a:off x="3060065" y="1393825"/>
          <a:ext cx="4419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" imgW="126365" imgH="91440" progId="Equation.3">
                  <p:embed/>
                </p:oleObj>
              </mc:Choice>
              <mc:Fallback>
                <p:oleObj name="" r:id="rId1" imgW="126365" imgH="9144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60065" y="1393825"/>
                        <a:ext cx="441960" cy="3251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1" name="对象 94220"/>
          <p:cNvGraphicFramePr/>
          <p:nvPr/>
        </p:nvGraphicFramePr>
        <p:xfrm>
          <a:off x="6660515" y="1050290"/>
          <a:ext cx="478155" cy="32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3" imgW="126365" imgH="91440" progId="Equation.3">
                  <p:embed/>
                </p:oleObj>
              </mc:Choice>
              <mc:Fallback>
                <p:oleObj name="" r:id="rId3" imgW="126365" imgH="9144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60515" y="1050290"/>
                        <a:ext cx="478155" cy="3282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矩形 94221"/>
          <p:cNvSpPr/>
          <p:nvPr/>
        </p:nvSpPr>
        <p:spPr>
          <a:xfrm>
            <a:off x="3425825" y="33353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4223" name="对象 94222"/>
          <p:cNvGraphicFramePr/>
          <p:nvPr/>
        </p:nvGraphicFramePr>
        <p:xfrm>
          <a:off x="3708400" y="1917065"/>
          <a:ext cx="10080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318135" imgH="239395" progId="Equation.3">
                  <p:embed/>
                </p:oleObj>
              </mc:Choice>
              <mc:Fallback>
                <p:oleObj name="" r:id="rId5" imgW="318135" imgH="23939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1917065"/>
                        <a:ext cx="1008063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4" name="文本框 94223"/>
          <p:cNvSpPr txBox="1"/>
          <p:nvPr/>
        </p:nvSpPr>
        <p:spPr>
          <a:xfrm>
            <a:off x="251460" y="2842578"/>
            <a:ext cx="420433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激光器：</a:t>
            </a:r>
            <a:r>
              <a:rPr lang="en-US" altLang="zh-CN" sz="2000" i="1" dirty="0">
                <a:latin typeface="+mn-ea"/>
                <a:ea typeface="宋体" panose="02010600030101010101" pitchFamily="2" charset="-122"/>
                <a:cs typeface="+mn-ea"/>
              </a:rPr>
              <a:t>d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很大也可观察到干涉现象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25" name="文本框 94224"/>
          <p:cNvSpPr txBox="1"/>
          <p:nvPr/>
        </p:nvSpPr>
        <p:spPr>
          <a:xfrm>
            <a:off x="252730" y="3490595"/>
            <a:ext cx="14859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buFont typeface="Arial" panose="020B0604020202020204" pitchFamily="34" charset="0"/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亮度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26" name="文本框 94225"/>
          <p:cNvSpPr txBox="1"/>
          <p:nvPr/>
        </p:nvSpPr>
        <p:spPr>
          <a:xfrm>
            <a:off x="323850" y="3850958"/>
            <a:ext cx="7095490" cy="8604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单位面积光源表面在其法向单位立体角内传送的光功率。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面积      ，方位角    、立体角       处能量        ，则其方向亮度 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70" name="矩形 94226"/>
          <p:cNvSpPr/>
          <p:nvPr/>
        </p:nvSpPr>
        <p:spPr>
          <a:xfrm>
            <a:off x="914400" y="55641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4228" name="对象 94227"/>
          <p:cNvGraphicFramePr/>
          <p:nvPr/>
        </p:nvGraphicFramePr>
        <p:xfrm>
          <a:off x="899795" y="4365308"/>
          <a:ext cx="4175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7" imgW="126365" imgH="91440" progId="Equation.3">
                  <p:embed/>
                </p:oleObj>
              </mc:Choice>
              <mc:Fallback>
                <p:oleObj name="" r:id="rId7" imgW="126365" imgH="9144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99795" y="4365308"/>
                        <a:ext cx="417513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0" name="对象 94229"/>
          <p:cNvGraphicFramePr/>
          <p:nvPr/>
        </p:nvGraphicFramePr>
        <p:xfrm>
          <a:off x="2411730" y="4350068"/>
          <a:ext cx="190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9" imgW="30480" imgH="82550" progId="Equation.3">
                  <p:embed/>
                </p:oleObj>
              </mc:Choice>
              <mc:Fallback>
                <p:oleObj name="" r:id="rId9" imgW="30480" imgH="8255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730" y="4350068"/>
                        <a:ext cx="190500" cy="360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4" name="矩形 94230"/>
          <p:cNvSpPr/>
          <p:nvPr/>
        </p:nvSpPr>
        <p:spPr>
          <a:xfrm>
            <a:off x="6451600" y="5537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4232" name="对象 94231"/>
          <p:cNvGraphicFramePr/>
          <p:nvPr/>
        </p:nvGraphicFramePr>
        <p:xfrm>
          <a:off x="3652520" y="4350068"/>
          <a:ext cx="496888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1" imgW="143510" imgH="82550" progId="Equation.3">
                  <p:embed/>
                </p:oleObj>
              </mc:Choice>
              <mc:Fallback>
                <p:oleObj name="" r:id="rId11" imgW="143510" imgH="8255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2520" y="4350068"/>
                        <a:ext cx="496888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6" name="矩形 94232"/>
          <p:cNvSpPr/>
          <p:nvPr/>
        </p:nvSpPr>
        <p:spPr>
          <a:xfrm>
            <a:off x="708025" y="57689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4234" name="对象 94233"/>
          <p:cNvGraphicFramePr/>
          <p:nvPr/>
        </p:nvGraphicFramePr>
        <p:xfrm>
          <a:off x="4932045" y="4350068"/>
          <a:ext cx="47942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3" imgW="135255" imgH="82550" progId="Equation.3">
                  <p:embed/>
                </p:oleObj>
              </mc:Choice>
              <mc:Fallback>
                <p:oleObj name="" r:id="rId13" imgW="135255" imgH="8255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045" y="4350068"/>
                        <a:ext cx="479425" cy="325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6" name="对象 94235"/>
          <p:cNvGraphicFramePr/>
          <p:nvPr/>
        </p:nvGraphicFramePr>
        <p:xfrm>
          <a:off x="1475740" y="4829175"/>
          <a:ext cx="475297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5" imgW="1615440" imgH="239395" progId="Equation.3">
                  <p:embed/>
                </p:oleObj>
              </mc:Choice>
              <mc:Fallback>
                <p:oleObj name="" r:id="rId15" imgW="1615440" imgH="23939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5740" y="4829175"/>
                        <a:ext cx="4752975" cy="77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7" name="文本框 94236"/>
          <p:cNvSpPr txBox="1"/>
          <p:nvPr/>
        </p:nvSpPr>
        <p:spPr>
          <a:xfrm>
            <a:off x="74930" y="5791518"/>
            <a:ext cx="890270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由于激光器在时间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单色性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和空间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方向性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方面的高度集中，因而具有极高的亮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度与单色亮度。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80" name="动作按钮: 后退或前一项 94237">
            <a:hlinkClick r:id="" action="ppaction://hlinkshowjump?jump=previousslide"/>
          </p:cNvPr>
          <p:cNvSpPr/>
          <p:nvPr/>
        </p:nvSpPr>
        <p:spPr>
          <a:xfrm>
            <a:off x="8027988" y="6607175"/>
            <a:ext cx="503237" cy="25082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81" name="动作按钮: 前进或下一项 94238">
            <a:hlinkClick r:id="" action="ppaction://hlinkshowjump?jump=nextslide"/>
          </p:cNvPr>
          <p:cNvSpPr/>
          <p:nvPr/>
        </p:nvSpPr>
        <p:spPr>
          <a:xfrm>
            <a:off x="8640763" y="6607175"/>
            <a:ext cx="503237" cy="25082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82" name="动作按钮: 第一张 94239"/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4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4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8" grpId="0"/>
      <p:bldP spid="94224" grpId="0"/>
      <p:bldP spid="94225" grpId="0"/>
      <p:bldP spid="94226" grpId="0"/>
      <p:bldP spid="942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文本占位符 150530"/>
          <p:cNvSpPr>
            <a:spLocks noGrp="1"/>
          </p:cNvSpPr>
          <p:nvPr>
            <p:ph idx="1"/>
          </p:nvPr>
        </p:nvSpPr>
        <p:spPr>
          <a:xfrm>
            <a:off x="0" y="0"/>
            <a:ext cx="9144000" cy="4005263"/>
          </a:xfrm>
        </p:spPr>
        <p:txBody>
          <a:bodyPr vert="horz" wrap="square" lIns="91440" tIns="45720" rIns="91440" bIns="45720" anchor="t" anchorCtr="0"/>
          <a:p>
            <a:pPr marL="609600" indent="-609600"/>
            <a:r>
              <a:rPr lang="en-US" altLang="zh-CN" dirty="0">
                <a:ea typeface="宋体" panose="02010600030101010101" pitchFamily="2" charset="-122"/>
              </a:rPr>
              <a:t>3.7.2 </a:t>
            </a:r>
            <a:r>
              <a:rPr lang="zh-CN" altLang="en-US" dirty="0">
                <a:ea typeface="宋体" panose="02010600030101010101" pitchFamily="2" charset="-122"/>
              </a:rPr>
              <a:t>激光调</a:t>
            </a:r>
            <a:r>
              <a:rPr lang="en-US" altLang="zh-CN" dirty="0">
                <a:ea typeface="宋体" panose="02010600030101010101" pitchFamily="2" charset="-122"/>
              </a:rPr>
              <a:t>Q</a:t>
            </a:r>
            <a:r>
              <a:rPr lang="zh-CN" altLang="en-US" dirty="0">
                <a:ea typeface="宋体" panose="02010600030101010101" pitchFamily="2" charset="-122"/>
              </a:rPr>
              <a:t>技术</a:t>
            </a:r>
            <a:endParaRPr lang="zh-CN" altLang="en-US" dirty="0">
              <a:ea typeface="宋体" panose="02010600030101010101" pitchFamily="2" charset="-122"/>
            </a:endParaRPr>
          </a:p>
          <a:p>
            <a:pPr marL="609600" indent="-609600"/>
            <a:endParaRPr lang="zh-CN" altLang="en-US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150532" name="文本框 150531"/>
          <p:cNvSpPr txBox="1"/>
          <p:nvPr/>
        </p:nvSpPr>
        <p:spPr>
          <a:xfrm>
            <a:off x="223520" y="764540"/>
            <a:ext cx="8580120" cy="4892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 在激光被发现不久后的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1961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年，就有人提出了调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的概念，并于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1962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年制成第一台调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激光器。它的出现使激光脉冲输出性能得到了几个量级的改善。如今的激光器脉冲宽度可压缩到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ns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量级，峰值功率达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MW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量级，这对于激光测距、激光雷达、激光加工和动态全息照相等应用方面的发展起到了决定性的作用。同时，还因强激光引起的光学现象而开辟了一系列的新科学。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在泵浦开始时增大谐振腔的损耗，使振荡阈值提高，振荡于是难以形成，这时，激光上能级的反转粒子数密度便有可能大量积累，当积累到最大值时，突然使谐振腔的损耗变小，于是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值突增，腔内以极快的速度建立极强的振荡，短时间内反转粒子被大量消耗，转变为腔内的光能量，同时输出一个极强的激光脉冲，称为激光巨脉冲或调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脉冲。谐振腔的损耗包括反射损耗、吸收损耗、衍射损耗、散射损耗、透射损耗等，用不同的方法、控制不同类型的损耗，就形成不同的调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方法，常见的有：</a:t>
            </a:r>
            <a:endParaRPr lang="zh-CN" altLang="en-US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533" name="文本框 150532"/>
          <p:cNvSpPr txBox="1"/>
          <p:nvPr/>
        </p:nvSpPr>
        <p:spPr>
          <a:xfrm>
            <a:off x="339090" y="3141345"/>
            <a:ext cx="84651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endParaRPr lang="zh-CN" altLang="en-US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" name="动作按钮: 第一张 150538">
            <a:hlinkClick r:id="rId1" action="ppaction://hlinksldjump"/>
          </p:cNvPr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3818255" y="5151120"/>
          <a:ext cx="5252085" cy="175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1802765" imgH="696595" progId="Equation.DSMT4">
                  <p:embed/>
                </p:oleObj>
              </mc:Choice>
              <mc:Fallback>
                <p:oleObj name="" r:id="rId2" imgW="1802765" imgH="696595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CC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8255" y="5151120"/>
                        <a:ext cx="5252085" cy="1757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/>
      <p:bldP spid="1505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文本占位符 154625"/>
          <p:cNvSpPr>
            <a:spLocks noGrp="1"/>
          </p:cNvSpPr>
          <p:nvPr>
            <p:ph idx="1"/>
          </p:nvPr>
        </p:nvSpPr>
        <p:spPr>
          <a:xfrm>
            <a:off x="0" y="0"/>
            <a:ext cx="9144000" cy="4005263"/>
          </a:xfrm>
        </p:spPr>
        <p:txBody>
          <a:bodyPr vert="horz" wrap="square" lIns="91440" tIns="45720" rIns="91440" bIns="45720" anchor="t" anchorCtr="0"/>
          <a:p>
            <a:pPr marL="609600" indent="-609600"/>
            <a:r>
              <a:rPr lang="en-US" altLang="zh-CN" dirty="0">
                <a:ea typeface="宋体" panose="02010600030101010101" pitchFamily="2" charset="-122"/>
              </a:rPr>
              <a:t>3.7.3 </a:t>
            </a:r>
            <a:r>
              <a:rPr lang="zh-CN" altLang="en-US" dirty="0">
                <a:ea typeface="宋体" panose="02010600030101010101" pitchFamily="2" charset="-122"/>
              </a:rPr>
              <a:t>激光锁模技术</a:t>
            </a:r>
            <a:endParaRPr lang="zh-CN" altLang="en-US" dirty="0">
              <a:ea typeface="宋体" panose="02010600030101010101" pitchFamily="2" charset="-122"/>
            </a:endParaRPr>
          </a:p>
          <a:p>
            <a:pPr marL="609600" indent="-60960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4627" name="文本框 154626"/>
          <p:cNvSpPr txBox="1"/>
          <p:nvPr/>
        </p:nvSpPr>
        <p:spPr>
          <a:xfrm>
            <a:off x="86995" y="476885"/>
            <a:ext cx="8860790" cy="3192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激光器一般有多个不同的振荡模式，他们本身是不关联、非相干的，其振幅与相位彼此独立；如果能使得各个独立模式在时间上同步、振荡相位一致，则总光场是各个模式光场的相干叠加，输出为一超短脉冲，且参与相干的模越多，不均匀分布越尖锐，脉宽越窄、峰值功率越高。这种通过把激光中所有的模耦合在一起并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把各个模的彼此相位关系锁定的方法称为锁模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，相应的技术称为锁模技术。它不同于调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技术。</a:t>
            </a:r>
            <a:endParaRPr lang="zh-CN" altLang="en-US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628" name="文本框 154627"/>
          <p:cNvSpPr txBox="1"/>
          <p:nvPr/>
        </p:nvSpPr>
        <p:spPr>
          <a:xfrm>
            <a:off x="219075" y="3716655"/>
            <a:ext cx="8728710" cy="3192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调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技术是压缩激光脉宽，提高峰值功率的一种有效方法，其脉宽下限决定于光子平均驻腔寿命，约纳秒量级，称短脉冲。锁模技术可以获得比调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技术更窄的脉冲，称为超短脉冲。超短脉冲技术先后经历了主动锁模、被动锁模、同步泵浦锁模、碰撞锁模、耦合腔锁模等阶段，从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年代的皮秒级，发展到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年代的亚皮秒级、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年代的几十飞秒级，到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年代采用光脉冲压缩技术后获得了数飞秒的光脉冲。</a:t>
            </a:r>
            <a:endParaRPr lang="zh-CN" altLang="en-US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91" name="动作按钮: 第一张 154635">
            <a:hlinkClick r:id="rId1" action="ppaction://hlinksldjump"/>
          </p:cNvPr>
          <p:cNvSpPr/>
          <p:nvPr/>
        </p:nvSpPr>
        <p:spPr>
          <a:xfrm>
            <a:off x="8712200" y="0"/>
            <a:ext cx="431800" cy="431800"/>
          </a:xfrm>
          <a:prstGeom prst="actionButtonHome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/>
      <p:bldP spid="1546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xfrm>
            <a:off x="539750" y="2420938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8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半导体激光器</a:t>
            </a:r>
            <a:endParaRPr lang="zh-CN" altLang="en-US" sz="8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/>
          <p:nvPr/>
        </p:nvSpPr>
        <p:spPr>
          <a:xfrm>
            <a:off x="251778" y="5013008"/>
            <a:ext cx="8747125" cy="1753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本征半导体的电子和空穴是成对出现的，用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位于禁带中央。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本征半导体中掺入施主杂质，称为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靠近导带。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本征半导体中，掺入受主杂质，称为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靠近价带。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9698" name="对象 6148"/>
          <p:cNvGraphicFramePr/>
          <p:nvPr/>
        </p:nvGraphicFramePr>
        <p:xfrm>
          <a:off x="756285" y="548323"/>
          <a:ext cx="7424738" cy="271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030980" imgH="1470660" progId="">
                  <p:embed/>
                </p:oleObj>
              </mc:Choice>
              <mc:Fallback>
                <p:oleObj name="" r:id="rId1" imgW="4030980" imgH="147066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6285" y="548323"/>
                        <a:ext cx="7424738" cy="2713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7" name="文本框 6147"/>
          <p:cNvSpPr txBox="1"/>
          <p:nvPr/>
        </p:nvSpPr>
        <p:spPr>
          <a:xfrm>
            <a:off x="1403668" y="3644900"/>
            <a:ext cx="6681787" cy="914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zh-CN" alt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3.2       </a:t>
            </a:r>
            <a:r>
              <a:rPr lang="zh-CN" alt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半导体的能带和电子分布</a:t>
            </a:r>
            <a:endParaRPr lang="zh-CN" altLang="en-US" sz="20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   (a) </a:t>
            </a:r>
            <a:r>
              <a:rPr lang="zh-CN" alt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本征半导体； 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(b) N</a:t>
            </a:r>
            <a:r>
              <a:rPr lang="zh-CN" alt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型半导体； 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(c) P</a:t>
            </a:r>
            <a:r>
              <a:rPr lang="zh-CN" alt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 </a:t>
            </a:r>
            <a:endParaRPr lang="zh-CN" altLang="en-US" sz="20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Text Box 2"/>
          <p:cNvSpPr txBox="1"/>
          <p:nvPr/>
        </p:nvSpPr>
        <p:spPr>
          <a:xfrm>
            <a:off x="323215" y="44133"/>
            <a:ext cx="8534400" cy="36982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增益区的产生：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结上施加正向电压，产生与内部电场相反方向的外加电场，结果能带倾斜减小，扩散增强，耗尽层增大。此时费米能级不再一致，其差值由外加电压决定。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电子运动方向与电场方向相反，便使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区的电子向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区运动，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区的空穴向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区运动，此时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结的导带上有了较多的电子，同时价带上又出现了较多的空穴，最后形成一个特殊的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增益区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31925" y="4180205"/>
            <a:ext cx="3868698" cy="2503156"/>
            <a:chOff x="2098" y="6230"/>
            <a:chExt cx="6335" cy="4298"/>
          </a:xfrm>
        </p:grpSpPr>
        <p:grpSp>
          <p:nvGrpSpPr>
            <p:cNvPr id="3" name="Group 2"/>
            <p:cNvGrpSpPr/>
            <p:nvPr/>
          </p:nvGrpSpPr>
          <p:grpSpPr>
            <a:xfrm>
              <a:off x="2940" y="8298"/>
              <a:ext cx="1518" cy="280"/>
              <a:chOff x="1824" y="2075"/>
              <a:chExt cx="607" cy="112"/>
            </a:xfrm>
          </p:grpSpPr>
          <p:grpSp>
            <p:nvGrpSpPr>
              <p:cNvPr id="22531" name="Group 3"/>
              <p:cNvGrpSpPr/>
              <p:nvPr/>
            </p:nvGrpSpPr>
            <p:grpSpPr>
              <a:xfrm>
                <a:off x="1824" y="2091"/>
                <a:ext cx="472" cy="88"/>
                <a:chOff x="1824" y="2091"/>
                <a:chExt cx="472" cy="88"/>
              </a:xfrm>
            </p:grpSpPr>
            <p:sp>
              <p:nvSpPr>
                <p:cNvPr id="22532" name="Freeform 4"/>
                <p:cNvSpPr/>
                <p:nvPr/>
              </p:nvSpPr>
              <p:spPr>
                <a:xfrm>
                  <a:off x="1824" y="2091"/>
                  <a:ext cx="56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3" y="0"/>
                    </a:cxn>
                    <a:cxn ang="0">
                      <a:pos x="56" y="16"/>
                    </a:cxn>
                    <a:cxn ang="0">
                      <a:pos x="33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56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3" y="0"/>
                      </a:lnTo>
                      <a:lnTo>
                        <a:pt x="56" y="16"/>
                      </a:lnTo>
                      <a:lnTo>
                        <a:pt x="33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3" name="Freeform 5"/>
                <p:cNvSpPr/>
                <p:nvPr/>
              </p:nvSpPr>
              <p:spPr>
                <a:xfrm>
                  <a:off x="1925" y="2091"/>
                  <a:ext cx="56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45" y="0"/>
                    </a:cxn>
                    <a:cxn ang="0">
                      <a:pos x="56" y="16"/>
                    </a:cxn>
                    <a:cxn ang="0">
                      <a:pos x="45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56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45" y="0"/>
                      </a:lnTo>
                      <a:lnTo>
                        <a:pt x="56" y="16"/>
                      </a:lnTo>
                      <a:lnTo>
                        <a:pt x="45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4" name="Freeform 6"/>
                <p:cNvSpPr/>
                <p:nvPr/>
              </p:nvSpPr>
              <p:spPr>
                <a:xfrm>
                  <a:off x="2037" y="2091"/>
                  <a:ext cx="45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4" y="0"/>
                    </a:cxn>
                    <a:cxn ang="0">
                      <a:pos x="45" y="16"/>
                    </a:cxn>
                    <a:cxn ang="0">
                      <a:pos x="34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45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4" y="0"/>
                      </a:lnTo>
                      <a:lnTo>
                        <a:pt x="45" y="16"/>
                      </a:lnTo>
                      <a:lnTo>
                        <a:pt x="34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5" name="Freeform 7"/>
                <p:cNvSpPr/>
                <p:nvPr/>
              </p:nvSpPr>
              <p:spPr>
                <a:xfrm>
                  <a:off x="2138" y="2091"/>
                  <a:ext cx="57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2" y="0"/>
                    </a:cxn>
                    <a:cxn ang="0">
                      <a:pos x="45" y="0"/>
                    </a:cxn>
                    <a:cxn ang="0">
                      <a:pos x="57" y="16"/>
                    </a:cxn>
                    <a:cxn ang="0">
                      <a:pos x="45" y="32"/>
                    </a:cxn>
                    <a:cxn ang="0">
                      <a:pos x="12" y="32"/>
                    </a:cxn>
                    <a:cxn ang="0">
                      <a:pos x="0" y="16"/>
                    </a:cxn>
                  </a:cxnLst>
                  <a:pathLst>
                    <a:path w="57" h="32">
                      <a:moveTo>
                        <a:pt x="0" y="16"/>
                      </a:moveTo>
                      <a:lnTo>
                        <a:pt x="12" y="0"/>
                      </a:lnTo>
                      <a:lnTo>
                        <a:pt x="45" y="0"/>
                      </a:lnTo>
                      <a:lnTo>
                        <a:pt x="57" y="16"/>
                      </a:lnTo>
                      <a:lnTo>
                        <a:pt x="45" y="32"/>
                      </a:lnTo>
                      <a:lnTo>
                        <a:pt x="12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6" name="Freeform 8"/>
                <p:cNvSpPr/>
                <p:nvPr/>
              </p:nvSpPr>
              <p:spPr>
                <a:xfrm>
                  <a:off x="2251" y="2091"/>
                  <a:ext cx="45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4" y="0"/>
                    </a:cxn>
                    <a:cxn ang="0">
                      <a:pos x="45" y="16"/>
                    </a:cxn>
                    <a:cxn ang="0">
                      <a:pos x="34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45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4" y="0"/>
                      </a:lnTo>
                      <a:lnTo>
                        <a:pt x="45" y="16"/>
                      </a:lnTo>
                      <a:lnTo>
                        <a:pt x="34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7" name="Freeform 9"/>
                <p:cNvSpPr/>
                <p:nvPr/>
              </p:nvSpPr>
              <p:spPr>
                <a:xfrm>
                  <a:off x="1880" y="2147"/>
                  <a:ext cx="45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4" y="0"/>
                    </a:cxn>
                    <a:cxn ang="0">
                      <a:pos x="45" y="16"/>
                    </a:cxn>
                    <a:cxn ang="0">
                      <a:pos x="34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45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4" y="0"/>
                      </a:lnTo>
                      <a:lnTo>
                        <a:pt x="45" y="16"/>
                      </a:lnTo>
                      <a:lnTo>
                        <a:pt x="34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8" name="Freeform 10"/>
                <p:cNvSpPr/>
                <p:nvPr/>
              </p:nvSpPr>
              <p:spPr>
                <a:xfrm>
                  <a:off x="1981" y="2147"/>
                  <a:ext cx="56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45" y="0"/>
                    </a:cxn>
                    <a:cxn ang="0">
                      <a:pos x="56" y="16"/>
                    </a:cxn>
                    <a:cxn ang="0">
                      <a:pos x="45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56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45" y="0"/>
                      </a:lnTo>
                      <a:lnTo>
                        <a:pt x="56" y="16"/>
                      </a:lnTo>
                      <a:lnTo>
                        <a:pt x="45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9" name="Freeform 11"/>
                <p:cNvSpPr/>
                <p:nvPr/>
              </p:nvSpPr>
              <p:spPr>
                <a:xfrm>
                  <a:off x="2082" y="2147"/>
                  <a:ext cx="56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23" y="0"/>
                    </a:cxn>
                    <a:cxn ang="0">
                      <a:pos x="45" y="0"/>
                    </a:cxn>
                    <a:cxn ang="0">
                      <a:pos x="56" y="16"/>
                    </a:cxn>
                    <a:cxn ang="0">
                      <a:pos x="45" y="32"/>
                    </a:cxn>
                    <a:cxn ang="0">
                      <a:pos x="23" y="32"/>
                    </a:cxn>
                    <a:cxn ang="0">
                      <a:pos x="0" y="16"/>
                    </a:cxn>
                  </a:cxnLst>
                  <a:pathLst>
                    <a:path w="56" h="32">
                      <a:moveTo>
                        <a:pt x="0" y="16"/>
                      </a:moveTo>
                      <a:lnTo>
                        <a:pt x="23" y="0"/>
                      </a:lnTo>
                      <a:lnTo>
                        <a:pt x="45" y="0"/>
                      </a:lnTo>
                      <a:lnTo>
                        <a:pt x="56" y="16"/>
                      </a:lnTo>
                      <a:lnTo>
                        <a:pt x="45" y="32"/>
                      </a:lnTo>
                      <a:lnTo>
                        <a:pt x="23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40" name="Freeform 12"/>
                <p:cNvSpPr/>
                <p:nvPr/>
              </p:nvSpPr>
              <p:spPr>
                <a:xfrm>
                  <a:off x="2195" y="2147"/>
                  <a:ext cx="56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3" y="0"/>
                    </a:cxn>
                    <a:cxn ang="0">
                      <a:pos x="56" y="16"/>
                    </a:cxn>
                    <a:cxn ang="0">
                      <a:pos x="33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56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3" y="0"/>
                      </a:lnTo>
                      <a:lnTo>
                        <a:pt x="56" y="16"/>
                      </a:lnTo>
                      <a:lnTo>
                        <a:pt x="33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2541" name="Freeform 13"/>
              <p:cNvSpPr/>
              <p:nvPr/>
            </p:nvSpPr>
            <p:spPr>
              <a:xfrm>
                <a:off x="2352" y="2075"/>
                <a:ext cx="56" cy="40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1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40"/>
                  </a:cxn>
                  <a:cxn ang="0">
                    <a:pos x="11" y="40"/>
                  </a:cxn>
                  <a:cxn ang="0">
                    <a:pos x="0" y="16"/>
                  </a:cxn>
                </a:cxnLst>
                <a:pathLst>
                  <a:path w="56" h="40">
                    <a:moveTo>
                      <a:pt x="0" y="16"/>
                    </a:moveTo>
                    <a:lnTo>
                      <a:pt x="11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40"/>
                    </a:lnTo>
                    <a:lnTo>
                      <a:pt x="11" y="40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42" name="Freeform 14"/>
              <p:cNvSpPr/>
              <p:nvPr/>
            </p:nvSpPr>
            <p:spPr>
              <a:xfrm>
                <a:off x="2374" y="2155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23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23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23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23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2543" name="Group 15"/>
            <p:cNvGrpSpPr/>
            <p:nvPr/>
          </p:nvGrpSpPr>
          <p:grpSpPr>
            <a:xfrm>
              <a:off x="4598" y="8713"/>
              <a:ext cx="675" cy="277"/>
              <a:chOff x="2487" y="2171"/>
              <a:chExt cx="270" cy="111"/>
            </a:xfrm>
          </p:grpSpPr>
          <p:sp>
            <p:nvSpPr>
              <p:cNvPr id="22544" name="Line 16"/>
              <p:cNvSpPr/>
              <p:nvPr/>
            </p:nvSpPr>
            <p:spPr>
              <a:xfrm flipH="1" flipV="1">
                <a:off x="2487" y="2171"/>
                <a:ext cx="270" cy="111"/>
              </a:xfrm>
              <a:prstGeom prst="line">
                <a:avLst/>
              </a:prstGeom>
              <a:ln w="17526" cap="flat" cmpd="sng">
                <a:solidFill>
                  <a:srgbClr val="66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45" name="Freeform 17"/>
              <p:cNvSpPr/>
              <p:nvPr/>
            </p:nvSpPr>
            <p:spPr>
              <a:xfrm>
                <a:off x="2622" y="2218"/>
                <a:ext cx="135" cy="64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33" y="24"/>
                  </a:cxn>
                  <a:cxn ang="0">
                    <a:pos x="0" y="32"/>
                  </a:cxn>
                  <a:cxn ang="0">
                    <a:pos x="135" y="64"/>
                  </a:cxn>
                  <a:cxn ang="0">
                    <a:pos x="22" y="0"/>
                  </a:cxn>
                </a:cxnLst>
                <a:pathLst>
                  <a:path w="135" h="64">
                    <a:moveTo>
                      <a:pt x="22" y="0"/>
                    </a:moveTo>
                    <a:lnTo>
                      <a:pt x="33" y="24"/>
                    </a:lnTo>
                    <a:lnTo>
                      <a:pt x="0" y="32"/>
                    </a:lnTo>
                    <a:lnTo>
                      <a:pt x="135" y="64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6600FF"/>
              </a:solidFill>
              <a:ln w="17526" cap="flat" cmpd="sng">
                <a:solidFill>
                  <a:srgbClr val="66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5525" y="8735"/>
              <a:ext cx="983" cy="220"/>
              <a:chOff x="2858" y="2250"/>
              <a:chExt cx="393" cy="88"/>
            </a:xfrm>
          </p:grpSpPr>
          <p:sp>
            <p:nvSpPr>
              <p:cNvPr id="22547" name="Freeform 19"/>
              <p:cNvSpPr/>
              <p:nvPr/>
            </p:nvSpPr>
            <p:spPr>
              <a:xfrm>
                <a:off x="2914" y="2250"/>
                <a:ext cx="45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1" y="0"/>
                  </a:cxn>
                  <a:cxn ang="0">
                    <a:pos x="34" y="0"/>
                  </a:cxn>
                  <a:cxn ang="0">
                    <a:pos x="45" y="16"/>
                  </a:cxn>
                  <a:cxn ang="0">
                    <a:pos x="34" y="32"/>
                  </a:cxn>
                  <a:cxn ang="0">
                    <a:pos x="11" y="32"/>
                  </a:cxn>
                  <a:cxn ang="0">
                    <a:pos x="0" y="16"/>
                  </a:cxn>
                </a:cxnLst>
                <a:pathLst>
                  <a:path w="45" h="32">
                    <a:moveTo>
                      <a:pt x="0" y="16"/>
                    </a:moveTo>
                    <a:lnTo>
                      <a:pt x="11" y="0"/>
                    </a:lnTo>
                    <a:lnTo>
                      <a:pt x="34" y="0"/>
                    </a:lnTo>
                    <a:lnTo>
                      <a:pt x="45" y="16"/>
                    </a:lnTo>
                    <a:lnTo>
                      <a:pt x="34" y="32"/>
                    </a:lnTo>
                    <a:lnTo>
                      <a:pt x="11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48" name="Freeform 20"/>
              <p:cNvSpPr/>
              <p:nvPr/>
            </p:nvSpPr>
            <p:spPr>
              <a:xfrm>
                <a:off x="3015" y="2250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1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1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1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1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49" name="Freeform 21"/>
              <p:cNvSpPr/>
              <p:nvPr/>
            </p:nvSpPr>
            <p:spPr>
              <a:xfrm>
                <a:off x="3127" y="2250"/>
                <a:ext cx="45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34" y="0"/>
                  </a:cxn>
                  <a:cxn ang="0">
                    <a:pos x="45" y="16"/>
                  </a:cxn>
                  <a:cxn ang="0">
                    <a:pos x="34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45" h="32">
                    <a:moveTo>
                      <a:pt x="0" y="16"/>
                    </a:moveTo>
                    <a:lnTo>
                      <a:pt x="12" y="0"/>
                    </a:lnTo>
                    <a:lnTo>
                      <a:pt x="34" y="0"/>
                    </a:lnTo>
                    <a:lnTo>
                      <a:pt x="45" y="16"/>
                    </a:lnTo>
                    <a:lnTo>
                      <a:pt x="34" y="32"/>
                    </a:lnTo>
                    <a:lnTo>
                      <a:pt x="12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50" name="Freeform 22"/>
              <p:cNvSpPr/>
              <p:nvPr/>
            </p:nvSpPr>
            <p:spPr>
              <a:xfrm>
                <a:off x="2858" y="2306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1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1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1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1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51" name="Freeform 23"/>
              <p:cNvSpPr/>
              <p:nvPr/>
            </p:nvSpPr>
            <p:spPr>
              <a:xfrm>
                <a:off x="2959" y="2306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2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2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2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22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52" name="Freeform 24"/>
              <p:cNvSpPr/>
              <p:nvPr/>
            </p:nvSpPr>
            <p:spPr>
              <a:xfrm>
                <a:off x="3071" y="2306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34" y="0"/>
                  </a:cxn>
                  <a:cxn ang="0">
                    <a:pos x="56" y="16"/>
                  </a:cxn>
                  <a:cxn ang="0">
                    <a:pos x="34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34" y="0"/>
                    </a:lnTo>
                    <a:lnTo>
                      <a:pt x="56" y="16"/>
                    </a:lnTo>
                    <a:lnTo>
                      <a:pt x="34" y="32"/>
                    </a:lnTo>
                    <a:lnTo>
                      <a:pt x="12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53" name="Freeform 25"/>
              <p:cNvSpPr/>
              <p:nvPr/>
            </p:nvSpPr>
            <p:spPr>
              <a:xfrm>
                <a:off x="3206" y="2306"/>
                <a:ext cx="45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1" y="0"/>
                  </a:cxn>
                  <a:cxn ang="0">
                    <a:pos x="34" y="0"/>
                  </a:cxn>
                  <a:cxn ang="0">
                    <a:pos x="45" y="16"/>
                  </a:cxn>
                  <a:cxn ang="0">
                    <a:pos x="34" y="32"/>
                  </a:cxn>
                  <a:cxn ang="0">
                    <a:pos x="11" y="32"/>
                  </a:cxn>
                  <a:cxn ang="0">
                    <a:pos x="0" y="16"/>
                  </a:cxn>
                </a:cxnLst>
                <a:pathLst>
                  <a:path w="45" h="32">
                    <a:moveTo>
                      <a:pt x="0" y="16"/>
                    </a:moveTo>
                    <a:lnTo>
                      <a:pt x="11" y="0"/>
                    </a:lnTo>
                    <a:lnTo>
                      <a:pt x="34" y="0"/>
                    </a:lnTo>
                    <a:lnTo>
                      <a:pt x="45" y="16"/>
                    </a:lnTo>
                    <a:lnTo>
                      <a:pt x="34" y="32"/>
                    </a:lnTo>
                    <a:lnTo>
                      <a:pt x="11" y="32"/>
                    </a:lnTo>
                    <a:lnTo>
                      <a:pt x="0" y="16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135" y="7123"/>
              <a:ext cx="760" cy="420"/>
              <a:chOff x="1902" y="1605"/>
              <a:chExt cx="304" cy="168"/>
            </a:xfrm>
          </p:grpSpPr>
          <p:grpSp>
            <p:nvGrpSpPr>
              <p:cNvPr id="22555" name="Group 27"/>
              <p:cNvGrpSpPr/>
              <p:nvPr/>
            </p:nvGrpSpPr>
            <p:grpSpPr>
              <a:xfrm>
                <a:off x="1902" y="1741"/>
                <a:ext cx="304" cy="32"/>
                <a:chOff x="1902" y="1741"/>
                <a:chExt cx="304" cy="32"/>
              </a:xfrm>
            </p:grpSpPr>
            <p:sp>
              <p:nvSpPr>
                <p:cNvPr id="22556" name="Freeform 28"/>
                <p:cNvSpPr/>
                <p:nvPr/>
              </p:nvSpPr>
              <p:spPr>
                <a:xfrm>
                  <a:off x="2127" y="1749"/>
                  <a:ext cx="79" cy="16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23" y="16"/>
                    </a:cxn>
                    <a:cxn ang="0">
                      <a:pos x="34" y="16"/>
                    </a:cxn>
                    <a:cxn ang="0">
                      <a:pos x="45" y="16"/>
                    </a:cxn>
                    <a:cxn ang="0">
                      <a:pos x="45" y="8"/>
                    </a:cxn>
                    <a:cxn ang="0">
                      <a:pos x="56" y="0"/>
                    </a:cxn>
                    <a:cxn ang="0">
                      <a:pos x="56" y="0"/>
                    </a:cxn>
                    <a:cxn ang="0">
                      <a:pos x="68" y="0"/>
                    </a:cxn>
                    <a:cxn ang="0">
                      <a:pos x="79" y="8"/>
                    </a:cxn>
                  </a:cxnLst>
                  <a:pathLst>
                    <a:path w="79" h="16">
                      <a:moveTo>
                        <a:pt x="0" y="8"/>
                      </a:moveTo>
                      <a:lnTo>
                        <a:pt x="23" y="16"/>
                      </a:lnTo>
                      <a:lnTo>
                        <a:pt x="34" y="16"/>
                      </a:lnTo>
                      <a:lnTo>
                        <a:pt x="45" y="16"/>
                      </a:lnTo>
                      <a:lnTo>
                        <a:pt x="45" y="8"/>
                      </a:lnTo>
                      <a:lnTo>
                        <a:pt x="56" y="0"/>
                      </a:lnTo>
                      <a:lnTo>
                        <a:pt x="68" y="0"/>
                      </a:lnTo>
                      <a:lnTo>
                        <a:pt x="79" y="8"/>
                      </a:lnTo>
                    </a:path>
                  </a:pathLst>
                </a:custGeom>
                <a:noFill/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57" name="Freeform 29"/>
                <p:cNvSpPr/>
                <p:nvPr/>
              </p:nvSpPr>
              <p:spPr>
                <a:xfrm>
                  <a:off x="2048" y="1749"/>
                  <a:ext cx="79" cy="16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23" y="16"/>
                    </a:cxn>
                    <a:cxn ang="0">
                      <a:pos x="34" y="16"/>
                    </a:cxn>
                    <a:cxn ang="0">
                      <a:pos x="45" y="16"/>
                    </a:cxn>
                    <a:cxn ang="0">
                      <a:pos x="45" y="8"/>
                    </a:cxn>
                    <a:cxn ang="0">
                      <a:pos x="57" y="0"/>
                    </a:cxn>
                    <a:cxn ang="0">
                      <a:pos x="57" y="0"/>
                    </a:cxn>
                    <a:cxn ang="0">
                      <a:pos x="68" y="0"/>
                    </a:cxn>
                    <a:cxn ang="0">
                      <a:pos x="79" y="8"/>
                    </a:cxn>
                  </a:cxnLst>
                  <a:pathLst>
                    <a:path w="79" h="16">
                      <a:moveTo>
                        <a:pt x="0" y="8"/>
                      </a:moveTo>
                      <a:lnTo>
                        <a:pt x="23" y="16"/>
                      </a:lnTo>
                      <a:lnTo>
                        <a:pt x="34" y="16"/>
                      </a:lnTo>
                      <a:lnTo>
                        <a:pt x="45" y="16"/>
                      </a:lnTo>
                      <a:lnTo>
                        <a:pt x="45" y="8"/>
                      </a:lnTo>
                      <a:lnTo>
                        <a:pt x="57" y="0"/>
                      </a:lnTo>
                      <a:lnTo>
                        <a:pt x="68" y="0"/>
                      </a:lnTo>
                      <a:lnTo>
                        <a:pt x="79" y="8"/>
                      </a:lnTo>
                    </a:path>
                  </a:pathLst>
                </a:custGeom>
                <a:noFill/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58" name="Line 30"/>
                <p:cNvSpPr/>
                <p:nvPr/>
              </p:nvSpPr>
              <p:spPr>
                <a:xfrm flipH="1">
                  <a:off x="1947" y="1757"/>
                  <a:ext cx="101" cy="1"/>
                </a:xfrm>
                <a:prstGeom prst="line">
                  <a:avLst/>
                </a:prstGeom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559" name="Freeform 31"/>
                <p:cNvSpPr/>
                <p:nvPr/>
              </p:nvSpPr>
              <p:spPr>
                <a:xfrm>
                  <a:off x="1902" y="1741"/>
                  <a:ext cx="90" cy="32"/>
                </a:xfrm>
                <a:custGeom>
                  <a:avLst/>
                  <a:gdLst/>
                  <a:ahLst/>
                  <a:cxnLst>
                    <a:cxn ang="0">
                      <a:pos x="90" y="0"/>
                    </a:cxn>
                    <a:cxn ang="0">
                      <a:pos x="79" y="16"/>
                    </a:cxn>
                    <a:cxn ang="0">
                      <a:pos x="90" y="32"/>
                    </a:cxn>
                    <a:cxn ang="0">
                      <a:pos x="0" y="16"/>
                    </a:cxn>
                    <a:cxn ang="0">
                      <a:pos x="90" y="0"/>
                    </a:cxn>
                  </a:cxnLst>
                  <a:pathLst>
                    <a:path w="90" h="32">
                      <a:moveTo>
                        <a:pt x="90" y="0"/>
                      </a:moveTo>
                      <a:lnTo>
                        <a:pt x="79" y="16"/>
                      </a:lnTo>
                      <a:lnTo>
                        <a:pt x="90" y="32"/>
                      </a:lnTo>
                      <a:lnTo>
                        <a:pt x="0" y="16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22560" name="Group 32"/>
              <p:cNvGrpSpPr/>
              <p:nvPr/>
            </p:nvGrpSpPr>
            <p:grpSpPr>
              <a:xfrm>
                <a:off x="2004" y="1605"/>
                <a:ext cx="107" cy="151"/>
                <a:chOff x="2004" y="1605"/>
                <a:chExt cx="107" cy="151"/>
              </a:xfrm>
            </p:grpSpPr>
            <p:sp>
              <p:nvSpPr>
                <p:cNvPr id="22561" name="Rectangle 33"/>
                <p:cNvSpPr/>
                <p:nvPr/>
              </p:nvSpPr>
              <p:spPr>
                <a:xfrm>
                  <a:off x="2004" y="1605"/>
                  <a:ext cx="52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h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2" name="Rectangle 34"/>
                <p:cNvSpPr/>
                <p:nvPr/>
              </p:nvSpPr>
              <p:spPr>
                <a:xfrm>
                  <a:off x="2082" y="1605"/>
                  <a:ext cx="29" cy="1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f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6" name="Group 35"/>
            <p:cNvGrpSpPr/>
            <p:nvPr/>
          </p:nvGrpSpPr>
          <p:grpSpPr>
            <a:xfrm>
              <a:off x="5940" y="7403"/>
              <a:ext cx="760" cy="447"/>
              <a:chOff x="3024" y="1717"/>
              <a:chExt cx="304" cy="179"/>
            </a:xfrm>
          </p:grpSpPr>
          <p:grpSp>
            <p:nvGrpSpPr>
              <p:cNvPr id="22564" name="Group 36"/>
              <p:cNvGrpSpPr/>
              <p:nvPr/>
            </p:nvGrpSpPr>
            <p:grpSpPr>
              <a:xfrm>
                <a:off x="3024" y="1872"/>
                <a:ext cx="304" cy="24"/>
                <a:chOff x="3026" y="1884"/>
                <a:chExt cx="304" cy="24"/>
              </a:xfrm>
            </p:grpSpPr>
            <p:sp>
              <p:nvSpPr>
                <p:cNvPr id="22565" name="Freeform 37"/>
                <p:cNvSpPr/>
                <p:nvPr/>
              </p:nvSpPr>
              <p:spPr>
                <a:xfrm>
                  <a:off x="3026" y="1884"/>
                  <a:ext cx="79" cy="16"/>
                </a:xfrm>
                <a:custGeom>
                  <a:avLst/>
                  <a:gdLst/>
                  <a:ahLst/>
                  <a:cxnLst>
                    <a:cxn ang="0">
                      <a:pos x="79" y="8"/>
                    </a:cxn>
                    <a:cxn ang="0">
                      <a:pos x="57" y="16"/>
                    </a:cxn>
                    <a:cxn ang="0">
                      <a:pos x="45" y="16"/>
                    </a:cxn>
                    <a:cxn ang="0">
                      <a:pos x="34" y="16"/>
                    </a:cxn>
                    <a:cxn ang="0">
                      <a:pos x="34" y="8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12" y="0"/>
                    </a:cxn>
                    <a:cxn ang="0">
                      <a:pos x="0" y="8"/>
                    </a:cxn>
                  </a:cxnLst>
                  <a:pathLst>
                    <a:path w="79" h="16">
                      <a:moveTo>
                        <a:pt x="79" y="8"/>
                      </a:moveTo>
                      <a:lnTo>
                        <a:pt x="57" y="16"/>
                      </a:lnTo>
                      <a:lnTo>
                        <a:pt x="45" y="16"/>
                      </a:lnTo>
                      <a:lnTo>
                        <a:pt x="34" y="16"/>
                      </a:lnTo>
                      <a:lnTo>
                        <a:pt x="34" y="8"/>
                      </a:lnTo>
                      <a:lnTo>
                        <a:pt x="23" y="0"/>
                      </a:lnTo>
                      <a:lnTo>
                        <a:pt x="12" y="0"/>
                      </a:lnTo>
                      <a:lnTo>
                        <a:pt x="0" y="8"/>
                      </a:lnTo>
                    </a:path>
                  </a:pathLst>
                </a:custGeom>
                <a:noFill/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66" name="Freeform 38"/>
                <p:cNvSpPr/>
                <p:nvPr/>
              </p:nvSpPr>
              <p:spPr>
                <a:xfrm>
                  <a:off x="3105" y="1884"/>
                  <a:ext cx="79" cy="16"/>
                </a:xfrm>
                <a:custGeom>
                  <a:avLst/>
                  <a:gdLst/>
                  <a:ahLst/>
                  <a:cxnLst>
                    <a:cxn ang="0">
                      <a:pos x="79" y="8"/>
                    </a:cxn>
                    <a:cxn ang="0">
                      <a:pos x="56" y="16"/>
                    </a:cxn>
                    <a:cxn ang="0">
                      <a:pos x="45" y="16"/>
                    </a:cxn>
                    <a:cxn ang="0">
                      <a:pos x="34" y="16"/>
                    </a:cxn>
                    <a:cxn ang="0">
                      <a:pos x="34" y="8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11" y="0"/>
                    </a:cxn>
                    <a:cxn ang="0">
                      <a:pos x="0" y="8"/>
                    </a:cxn>
                  </a:cxnLst>
                  <a:pathLst>
                    <a:path w="79" h="16">
                      <a:moveTo>
                        <a:pt x="79" y="8"/>
                      </a:moveTo>
                      <a:lnTo>
                        <a:pt x="56" y="16"/>
                      </a:lnTo>
                      <a:lnTo>
                        <a:pt x="45" y="16"/>
                      </a:lnTo>
                      <a:lnTo>
                        <a:pt x="34" y="16"/>
                      </a:lnTo>
                      <a:lnTo>
                        <a:pt x="34" y="8"/>
                      </a:lnTo>
                      <a:lnTo>
                        <a:pt x="22" y="0"/>
                      </a:lnTo>
                      <a:lnTo>
                        <a:pt x="11" y="0"/>
                      </a:lnTo>
                      <a:lnTo>
                        <a:pt x="0" y="8"/>
                      </a:lnTo>
                    </a:path>
                  </a:pathLst>
                </a:custGeom>
                <a:noFill/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67" name="Line 39"/>
                <p:cNvSpPr/>
                <p:nvPr/>
              </p:nvSpPr>
              <p:spPr>
                <a:xfrm>
                  <a:off x="3184" y="1892"/>
                  <a:ext cx="101" cy="1"/>
                </a:xfrm>
                <a:prstGeom prst="line">
                  <a:avLst/>
                </a:prstGeom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568" name="Freeform 40"/>
                <p:cNvSpPr/>
                <p:nvPr/>
              </p:nvSpPr>
              <p:spPr>
                <a:xfrm>
                  <a:off x="3240" y="1884"/>
                  <a:ext cx="90" cy="2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" y="8"/>
                    </a:cxn>
                    <a:cxn ang="0">
                      <a:pos x="0" y="24"/>
                    </a:cxn>
                    <a:cxn ang="0">
                      <a:pos x="90" y="8"/>
                    </a:cxn>
                    <a:cxn ang="0">
                      <a:pos x="0" y="0"/>
                    </a:cxn>
                  </a:cxnLst>
                  <a:pathLst>
                    <a:path w="90" h="24">
                      <a:moveTo>
                        <a:pt x="0" y="0"/>
                      </a:moveTo>
                      <a:lnTo>
                        <a:pt x="11" y="8"/>
                      </a:lnTo>
                      <a:lnTo>
                        <a:pt x="0" y="24"/>
                      </a:lnTo>
                      <a:lnTo>
                        <a:pt x="90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22569" name="Group 41"/>
              <p:cNvGrpSpPr/>
              <p:nvPr/>
            </p:nvGrpSpPr>
            <p:grpSpPr>
              <a:xfrm>
                <a:off x="3172" y="1717"/>
                <a:ext cx="108" cy="151"/>
                <a:chOff x="3172" y="1717"/>
                <a:chExt cx="108" cy="151"/>
              </a:xfrm>
            </p:grpSpPr>
            <p:sp>
              <p:nvSpPr>
                <p:cNvPr id="22570" name="Rectangle 42"/>
                <p:cNvSpPr/>
                <p:nvPr/>
              </p:nvSpPr>
              <p:spPr>
                <a:xfrm>
                  <a:off x="3172" y="1717"/>
                  <a:ext cx="52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h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71" name="Rectangle 43"/>
                <p:cNvSpPr/>
                <p:nvPr/>
              </p:nvSpPr>
              <p:spPr>
                <a:xfrm>
                  <a:off x="3251" y="1717"/>
                  <a:ext cx="29" cy="1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f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45" name="Group 44"/>
            <p:cNvGrpSpPr/>
            <p:nvPr/>
          </p:nvGrpSpPr>
          <p:grpSpPr>
            <a:xfrm>
              <a:off x="3660" y="6230"/>
              <a:ext cx="840" cy="480"/>
              <a:chOff x="2112" y="1248"/>
              <a:chExt cx="336" cy="192"/>
            </a:xfrm>
          </p:grpSpPr>
          <p:sp>
            <p:nvSpPr>
              <p:cNvPr id="22573" name="Freeform 45"/>
              <p:cNvSpPr/>
              <p:nvPr/>
            </p:nvSpPr>
            <p:spPr>
              <a:xfrm>
                <a:off x="2273" y="1360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4" name="Freeform 46"/>
              <p:cNvSpPr/>
              <p:nvPr/>
            </p:nvSpPr>
            <p:spPr>
              <a:xfrm>
                <a:off x="2329" y="1248"/>
                <a:ext cx="45" cy="4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0"/>
                  </a:cxn>
                  <a:cxn ang="0">
                    <a:pos x="34" y="0"/>
                  </a:cxn>
                  <a:cxn ang="0">
                    <a:pos x="45" y="24"/>
                  </a:cxn>
                  <a:cxn ang="0">
                    <a:pos x="34" y="40"/>
                  </a:cxn>
                  <a:cxn ang="0">
                    <a:pos x="12" y="40"/>
                  </a:cxn>
                  <a:cxn ang="0">
                    <a:pos x="0" y="24"/>
                  </a:cxn>
                </a:cxnLst>
                <a:pathLst>
                  <a:path w="45" h="40">
                    <a:moveTo>
                      <a:pt x="0" y="24"/>
                    </a:moveTo>
                    <a:lnTo>
                      <a:pt x="12" y="0"/>
                    </a:lnTo>
                    <a:lnTo>
                      <a:pt x="34" y="0"/>
                    </a:lnTo>
                    <a:lnTo>
                      <a:pt x="45" y="24"/>
                    </a:lnTo>
                    <a:lnTo>
                      <a:pt x="34" y="40"/>
                    </a:lnTo>
                    <a:lnTo>
                      <a:pt x="12" y="4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5" name="Freeform 47"/>
              <p:cNvSpPr/>
              <p:nvPr/>
            </p:nvSpPr>
            <p:spPr>
              <a:xfrm>
                <a:off x="2369" y="1408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6" name="Freeform 48"/>
              <p:cNvSpPr/>
              <p:nvPr/>
            </p:nvSpPr>
            <p:spPr>
              <a:xfrm>
                <a:off x="2392" y="1312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7" name="Freeform 49"/>
              <p:cNvSpPr/>
              <p:nvPr/>
            </p:nvSpPr>
            <p:spPr>
              <a:xfrm>
                <a:off x="2152" y="1360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8" name="Freeform 50"/>
              <p:cNvSpPr/>
              <p:nvPr/>
            </p:nvSpPr>
            <p:spPr>
              <a:xfrm>
                <a:off x="2248" y="1248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79" name="Freeform 51"/>
              <p:cNvSpPr/>
              <p:nvPr/>
            </p:nvSpPr>
            <p:spPr>
              <a:xfrm>
                <a:off x="2112" y="1264"/>
                <a:ext cx="56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6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6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6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720" y="6710"/>
              <a:ext cx="1443" cy="360"/>
              <a:chOff x="2936" y="1440"/>
              <a:chExt cx="577" cy="144"/>
            </a:xfrm>
          </p:grpSpPr>
          <p:sp>
            <p:nvSpPr>
              <p:cNvPr id="22581" name="Freeform 53"/>
              <p:cNvSpPr/>
              <p:nvPr/>
            </p:nvSpPr>
            <p:spPr>
              <a:xfrm>
                <a:off x="2936" y="1534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2" name="Freeform 54"/>
              <p:cNvSpPr/>
              <p:nvPr/>
            </p:nvSpPr>
            <p:spPr>
              <a:xfrm>
                <a:off x="3032" y="1536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3" name="Freeform 55"/>
              <p:cNvSpPr/>
              <p:nvPr/>
            </p:nvSpPr>
            <p:spPr>
              <a:xfrm>
                <a:off x="3159" y="1536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4" name="Freeform 56"/>
              <p:cNvSpPr/>
              <p:nvPr/>
            </p:nvSpPr>
            <p:spPr>
              <a:xfrm>
                <a:off x="3255" y="1536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5" name="Freeform 57"/>
              <p:cNvSpPr/>
              <p:nvPr/>
            </p:nvSpPr>
            <p:spPr>
              <a:xfrm>
                <a:off x="3351" y="1552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6" name="Freeform 58"/>
              <p:cNvSpPr/>
              <p:nvPr/>
            </p:nvSpPr>
            <p:spPr>
              <a:xfrm>
                <a:off x="3447" y="1536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7" name="Freeform 59"/>
              <p:cNvSpPr/>
              <p:nvPr/>
            </p:nvSpPr>
            <p:spPr>
              <a:xfrm>
                <a:off x="3024" y="1440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8" name="Freeform 60"/>
              <p:cNvSpPr/>
              <p:nvPr/>
            </p:nvSpPr>
            <p:spPr>
              <a:xfrm>
                <a:off x="3456" y="1440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89" name="Freeform 61"/>
              <p:cNvSpPr/>
              <p:nvPr/>
            </p:nvSpPr>
            <p:spPr>
              <a:xfrm>
                <a:off x="3360" y="1440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90" name="Freeform 62"/>
              <p:cNvSpPr/>
              <p:nvPr/>
            </p:nvSpPr>
            <p:spPr>
              <a:xfrm>
                <a:off x="3255" y="1440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91" name="Freeform 63"/>
              <p:cNvSpPr/>
              <p:nvPr/>
            </p:nvSpPr>
            <p:spPr>
              <a:xfrm>
                <a:off x="3128" y="1440"/>
                <a:ext cx="57" cy="32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2" y="0"/>
                  </a:cxn>
                  <a:cxn ang="0">
                    <a:pos x="45" y="0"/>
                  </a:cxn>
                  <a:cxn ang="0">
                    <a:pos x="57" y="16"/>
                  </a:cxn>
                  <a:cxn ang="0">
                    <a:pos x="45" y="32"/>
                  </a:cxn>
                  <a:cxn ang="0">
                    <a:pos x="12" y="32"/>
                  </a:cxn>
                  <a:cxn ang="0">
                    <a:pos x="0" y="16"/>
                  </a:cxn>
                </a:cxnLst>
                <a:pathLst>
                  <a:path w="57" h="32">
                    <a:moveTo>
                      <a:pt x="0" y="16"/>
                    </a:moveTo>
                    <a:lnTo>
                      <a:pt x="12" y="0"/>
                    </a:lnTo>
                    <a:lnTo>
                      <a:pt x="45" y="0"/>
                    </a:lnTo>
                    <a:lnTo>
                      <a:pt x="57" y="16"/>
                    </a:lnTo>
                    <a:lnTo>
                      <a:pt x="45" y="32"/>
                    </a:lnTo>
                    <a:lnTo>
                      <a:pt x="12" y="32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F0000"/>
              </a:solidFill>
              <a:ln w="17526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5" name="Freeform 64"/>
            <p:cNvSpPr/>
            <p:nvPr/>
          </p:nvSpPr>
          <p:spPr>
            <a:xfrm>
              <a:off x="4740" y="6710"/>
              <a:ext cx="140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6" h="32">
                  <a:moveTo>
                    <a:pt x="0" y="16"/>
                  </a:moveTo>
                  <a:lnTo>
                    <a:pt x="12" y="0"/>
                  </a:lnTo>
                  <a:lnTo>
                    <a:pt x="45" y="0"/>
                  </a:lnTo>
                  <a:lnTo>
                    <a:pt x="56" y="16"/>
                  </a:lnTo>
                  <a:lnTo>
                    <a:pt x="45" y="32"/>
                  </a:lnTo>
                  <a:lnTo>
                    <a:pt x="12" y="32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0000"/>
            </a:solidFill>
            <a:ln w="17526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4980" y="6830"/>
              <a:ext cx="140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6" h="32">
                  <a:moveTo>
                    <a:pt x="0" y="16"/>
                  </a:moveTo>
                  <a:lnTo>
                    <a:pt x="12" y="0"/>
                  </a:lnTo>
                  <a:lnTo>
                    <a:pt x="45" y="0"/>
                  </a:lnTo>
                  <a:lnTo>
                    <a:pt x="56" y="16"/>
                  </a:lnTo>
                  <a:lnTo>
                    <a:pt x="45" y="32"/>
                  </a:lnTo>
                  <a:lnTo>
                    <a:pt x="12" y="32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0000"/>
            </a:solidFill>
            <a:ln w="17526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4838" y="8510"/>
              <a:ext cx="142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7" h="32">
                  <a:moveTo>
                    <a:pt x="0" y="16"/>
                  </a:moveTo>
                  <a:lnTo>
                    <a:pt x="23" y="0"/>
                  </a:lnTo>
                  <a:lnTo>
                    <a:pt x="45" y="0"/>
                  </a:lnTo>
                  <a:lnTo>
                    <a:pt x="57" y="16"/>
                  </a:lnTo>
                  <a:lnTo>
                    <a:pt x="45" y="32"/>
                  </a:lnTo>
                  <a:lnTo>
                    <a:pt x="23" y="32"/>
                  </a:lnTo>
                  <a:lnTo>
                    <a:pt x="0" y="16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5078" y="8630"/>
              <a:ext cx="142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7" h="32">
                  <a:moveTo>
                    <a:pt x="0" y="16"/>
                  </a:moveTo>
                  <a:lnTo>
                    <a:pt x="23" y="0"/>
                  </a:lnTo>
                  <a:lnTo>
                    <a:pt x="45" y="0"/>
                  </a:lnTo>
                  <a:lnTo>
                    <a:pt x="57" y="16"/>
                  </a:lnTo>
                  <a:lnTo>
                    <a:pt x="45" y="32"/>
                  </a:lnTo>
                  <a:lnTo>
                    <a:pt x="23" y="32"/>
                  </a:lnTo>
                  <a:lnTo>
                    <a:pt x="0" y="16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96" name="Freeform 68"/>
            <p:cNvSpPr/>
            <p:nvPr/>
          </p:nvSpPr>
          <p:spPr>
            <a:xfrm>
              <a:off x="4203" y="6748"/>
              <a:ext cx="395" cy="97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158" h="39">
                  <a:moveTo>
                    <a:pt x="158" y="39"/>
                  </a:moveTo>
                  <a:lnTo>
                    <a:pt x="79" y="8"/>
                  </a:lnTo>
                  <a:lnTo>
                    <a:pt x="0" y="0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97" name="Freeform 69"/>
            <p:cNvSpPr/>
            <p:nvPr/>
          </p:nvSpPr>
          <p:spPr>
            <a:xfrm>
              <a:off x="4315" y="8258"/>
              <a:ext cx="423" cy="8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169" h="32">
                  <a:moveTo>
                    <a:pt x="169" y="32"/>
                  </a:moveTo>
                  <a:lnTo>
                    <a:pt x="90" y="8"/>
                  </a:lnTo>
                  <a:lnTo>
                    <a:pt x="0" y="0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2598" name="Group 70"/>
            <p:cNvGrpSpPr/>
            <p:nvPr/>
          </p:nvGrpSpPr>
          <p:grpSpPr>
            <a:xfrm>
              <a:off x="4288" y="7323"/>
              <a:ext cx="1125" cy="660"/>
              <a:chOff x="2363" y="1685"/>
              <a:chExt cx="450" cy="264"/>
            </a:xfrm>
          </p:grpSpPr>
          <p:sp>
            <p:nvSpPr>
              <p:cNvPr id="22599" name="Line 71"/>
              <p:cNvSpPr/>
              <p:nvPr/>
            </p:nvSpPr>
            <p:spPr>
              <a:xfrm flipH="1">
                <a:off x="2723" y="1685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0" name="Line 72"/>
              <p:cNvSpPr/>
              <p:nvPr/>
            </p:nvSpPr>
            <p:spPr>
              <a:xfrm flipH="1">
                <a:off x="2566" y="1685"/>
                <a:ext cx="22" cy="2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1" name="Line 73"/>
              <p:cNvSpPr/>
              <p:nvPr/>
            </p:nvSpPr>
            <p:spPr>
              <a:xfrm flipH="1">
                <a:off x="2464" y="1781"/>
                <a:ext cx="34" cy="2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2" name="Line 74"/>
              <p:cNvSpPr/>
              <p:nvPr/>
            </p:nvSpPr>
            <p:spPr>
              <a:xfrm flipH="1">
                <a:off x="2363" y="1884"/>
                <a:ext cx="23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3" name="Line 75"/>
              <p:cNvSpPr/>
              <p:nvPr/>
            </p:nvSpPr>
            <p:spPr>
              <a:xfrm flipH="1">
                <a:off x="2779" y="1733"/>
                <a:ext cx="34" cy="2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4" name="Line 76"/>
              <p:cNvSpPr/>
              <p:nvPr/>
            </p:nvSpPr>
            <p:spPr>
              <a:xfrm flipH="1">
                <a:off x="2633" y="1876"/>
                <a:ext cx="22" cy="2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5" name="Line 77"/>
              <p:cNvSpPr/>
              <p:nvPr/>
            </p:nvSpPr>
            <p:spPr>
              <a:xfrm flipH="1">
                <a:off x="275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6" name="Line 78"/>
              <p:cNvSpPr/>
              <p:nvPr/>
            </p:nvSpPr>
            <p:spPr>
              <a:xfrm flipH="1">
                <a:off x="2667" y="1947"/>
                <a:ext cx="69" cy="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7" name="Line 79"/>
              <p:cNvSpPr/>
              <p:nvPr/>
            </p:nvSpPr>
            <p:spPr>
              <a:xfrm flipH="1">
                <a:off x="248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08" name="Line 80"/>
              <p:cNvSpPr/>
              <p:nvPr/>
            </p:nvSpPr>
            <p:spPr>
              <a:xfrm flipH="1">
                <a:off x="239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2609" name="Group 81"/>
            <p:cNvGrpSpPr/>
            <p:nvPr/>
          </p:nvGrpSpPr>
          <p:grpSpPr>
            <a:xfrm>
              <a:off x="2798" y="7880"/>
              <a:ext cx="2477" cy="240"/>
              <a:chOff x="1767" y="1908"/>
              <a:chExt cx="991" cy="96"/>
            </a:xfrm>
          </p:grpSpPr>
          <p:sp>
            <p:nvSpPr>
              <p:cNvPr id="22610" name="Line 82"/>
              <p:cNvSpPr/>
              <p:nvPr/>
            </p:nvSpPr>
            <p:spPr>
              <a:xfrm>
                <a:off x="2757" y="1908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1" name="Line 83"/>
              <p:cNvSpPr/>
              <p:nvPr/>
            </p:nvSpPr>
            <p:spPr>
              <a:xfrm>
                <a:off x="2757" y="1972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2" name="Line 84"/>
              <p:cNvSpPr/>
              <p:nvPr/>
            </p:nvSpPr>
            <p:spPr>
              <a:xfrm>
                <a:off x="2487" y="1908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3" name="Line 85"/>
              <p:cNvSpPr/>
              <p:nvPr/>
            </p:nvSpPr>
            <p:spPr>
              <a:xfrm>
                <a:off x="2487" y="1972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4" name="Line 86"/>
              <p:cNvSpPr/>
              <p:nvPr/>
            </p:nvSpPr>
            <p:spPr>
              <a:xfrm flipH="1">
                <a:off x="2329" y="1940"/>
                <a:ext cx="12" cy="8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5" name="Line 87"/>
              <p:cNvSpPr/>
              <p:nvPr/>
            </p:nvSpPr>
            <p:spPr>
              <a:xfrm flipH="1">
                <a:off x="2588" y="1924"/>
                <a:ext cx="22" cy="2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6" name="Line 88"/>
              <p:cNvSpPr/>
              <p:nvPr/>
            </p:nvSpPr>
            <p:spPr>
              <a:xfrm flipH="1">
                <a:off x="257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7" name="Line 89"/>
              <p:cNvSpPr/>
              <p:nvPr/>
            </p:nvSpPr>
            <p:spPr>
              <a:xfrm flipH="1">
                <a:off x="230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8" name="Line 90"/>
              <p:cNvSpPr/>
              <p:nvPr/>
            </p:nvSpPr>
            <p:spPr>
              <a:xfrm flipH="1">
                <a:off x="221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19" name="Line 91"/>
              <p:cNvSpPr/>
              <p:nvPr/>
            </p:nvSpPr>
            <p:spPr>
              <a:xfrm flipH="1">
                <a:off x="212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20" name="Line 92"/>
              <p:cNvSpPr/>
              <p:nvPr/>
            </p:nvSpPr>
            <p:spPr>
              <a:xfrm flipH="1">
                <a:off x="203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21" name="Line 93"/>
              <p:cNvSpPr/>
              <p:nvPr/>
            </p:nvSpPr>
            <p:spPr>
              <a:xfrm flipH="1">
                <a:off x="194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22" name="Line 94"/>
              <p:cNvSpPr/>
              <p:nvPr/>
            </p:nvSpPr>
            <p:spPr>
              <a:xfrm flipH="1">
                <a:off x="185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23" name="Line 95"/>
              <p:cNvSpPr/>
              <p:nvPr/>
            </p:nvSpPr>
            <p:spPr>
              <a:xfrm flipH="1">
                <a:off x="1767" y="1948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2624" name="Line 96"/>
            <p:cNvSpPr/>
            <p:nvPr/>
          </p:nvSpPr>
          <p:spPr>
            <a:xfrm>
              <a:off x="4738" y="8338"/>
              <a:ext cx="535" cy="20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25" name="Line 97"/>
            <p:cNvSpPr/>
            <p:nvPr/>
          </p:nvSpPr>
          <p:spPr>
            <a:xfrm>
              <a:off x="5525" y="7125"/>
              <a:ext cx="2248" cy="3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26" name="Line 98"/>
            <p:cNvSpPr/>
            <p:nvPr/>
          </p:nvSpPr>
          <p:spPr>
            <a:xfrm>
              <a:off x="4598" y="6845"/>
              <a:ext cx="532" cy="1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27" name="Line 99"/>
            <p:cNvSpPr/>
            <p:nvPr/>
          </p:nvSpPr>
          <p:spPr>
            <a:xfrm>
              <a:off x="2743" y="6748"/>
              <a:ext cx="1460" cy="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28" name="Line 100"/>
            <p:cNvSpPr/>
            <p:nvPr/>
          </p:nvSpPr>
          <p:spPr>
            <a:xfrm flipH="1">
              <a:off x="5103" y="7680"/>
              <a:ext cx="57" cy="6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29" name="Line 101"/>
            <p:cNvSpPr/>
            <p:nvPr/>
          </p:nvSpPr>
          <p:spPr>
            <a:xfrm flipH="1">
              <a:off x="4683" y="7443"/>
              <a:ext cx="55" cy="6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" name="Freeform 102"/>
            <p:cNvSpPr/>
            <p:nvPr/>
          </p:nvSpPr>
          <p:spPr>
            <a:xfrm>
              <a:off x="4718" y="8430"/>
              <a:ext cx="142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7" h="32">
                  <a:moveTo>
                    <a:pt x="0" y="16"/>
                  </a:moveTo>
                  <a:lnTo>
                    <a:pt x="23" y="0"/>
                  </a:lnTo>
                  <a:lnTo>
                    <a:pt x="45" y="0"/>
                  </a:lnTo>
                  <a:lnTo>
                    <a:pt x="57" y="16"/>
                  </a:lnTo>
                  <a:lnTo>
                    <a:pt x="45" y="32"/>
                  </a:lnTo>
                  <a:lnTo>
                    <a:pt x="23" y="32"/>
                  </a:lnTo>
                  <a:lnTo>
                    <a:pt x="0" y="16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2631" name="Group 103"/>
            <p:cNvGrpSpPr/>
            <p:nvPr/>
          </p:nvGrpSpPr>
          <p:grpSpPr>
            <a:xfrm>
              <a:off x="7660" y="7263"/>
              <a:ext cx="668" cy="343"/>
              <a:chOff x="3712" y="1661"/>
              <a:chExt cx="267" cy="137"/>
            </a:xfrm>
          </p:grpSpPr>
          <p:sp>
            <p:nvSpPr>
              <p:cNvPr id="22632" name="Line 104"/>
              <p:cNvSpPr/>
              <p:nvPr/>
            </p:nvSpPr>
            <p:spPr>
              <a:xfrm flipH="1">
                <a:off x="3712" y="1685"/>
                <a:ext cx="45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33" name="Rectangle 105"/>
              <p:cNvSpPr/>
              <p:nvPr/>
            </p:nvSpPr>
            <p:spPr>
              <a:xfrm>
                <a:off x="3824" y="1661"/>
                <a:ext cx="64" cy="1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p>
                <a:r>
                  <a:rPr lang="en-US" altLang="zh-CN" sz="1300" i="1" dirty="0">
                    <a:solidFill>
                      <a:srgbClr val="000000"/>
                    </a:solidFill>
                    <a:latin typeface="Times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634" name="Rectangle 106"/>
              <p:cNvSpPr/>
              <p:nvPr/>
            </p:nvSpPr>
            <p:spPr>
              <a:xfrm>
                <a:off x="3959" y="1701"/>
                <a:ext cx="20" cy="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p>
                <a:r>
                  <a:rPr lang="en-US" altLang="zh-CN" sz="900" i="1" dirty="0">
                    <a:solidFill>
                      <a:srgbClr val="000000"/>
                    </a:solidFill>
                    <a:latin typeface="Times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635" name="Line 107"/>
            <p:cNvSpPr/>
            <p:nvPr/>
          </p:nvSpPr>
          <p:spPr>
            <a:xfrm>
              <a:off x="5273" y="6290"/>
              <a:ext cx="2" cy="78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36" name="Line 108"/>
            <p:cNvSpPr/>
            <p:nvPr/>
          </p:nvSpPr>
          <p:spPr>
            <a:xfrm>
              <a:off x="5273" y="6448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37" name="Line 109"/>
            <p:cNvSpPr/>
            <p:nvPr/>
          </p:nvSpPr>
          <p:spPr>
            <a:xfrm>
              <a:off x="5273" y="6608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38" name="Line 110"/>
            <p:cNvSpPr/>
            <p:nvPr/>
          </p:nvSpPr>
          <p:spPr>
            <a:xfrm>
              <a:off x="5273" y="6768"/>
              <a:ext cx="2" cy="77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39" name="Line 111"/>
            <p:cNvSpPr/>
            <p:nvPr/>
          </p:nvSpPr>
          <p:spPr>
            <a:xfrm>
              <a:off x="5273" y="6925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0" name="Line 112"/>
            <p:cNvSpPr/>
            <p:nvPr/>
          </p:nvSpPr>
          <p:spPr>
            <a:xfrm>
              <a:off x="5273" y="7085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1" name="Line 113"/>
            <p:cNvSpPr/>
            <p:nvPr/>
          </p:nvSpPr>
          <p:spPr>
            <a:xfrm>
              <a:off x="5273" y="7403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2" name="Line 114"/>
            <p:cNvSpPr/>
            <p:nvPr/>
          </p:nvSpPr>
          <p:spPr>
            <a:xfrm>
              <a:off x="5273" y="7563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3" name="Line 115"/>
            <p:cNvSpPr/>
            <p:nvPr/>
          </p:nvSpPr>
          <p:spPr>
            <a:xfrm>
              <a:off x="5273" y="7720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4" name="Line 116"/>
            <p:cNvSpPr/>
            <p:nvPr/>
          </p:nvSpPr>
          <p:spPr>
            <a:xfrm>
              <a:off x="5273" y="8198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5" name="Line 117"/>
            <p:cNvSpPr/>
            <p:nvPr/>
          </p:nvSpPr>
          <p:spPr>
            <a:xfrm>
              <a:off x="5273" y="8358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6" name="Line 118"/>
            <p:cNvSpPr/>
            <p:nvPr/>
          </p:nvSpPr>
          <p:spPr>
            <a:xfrm>
              <a:off x="5273" y="8518"/>
              <a:ext cx="2" cy="77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7" name="Line 119"/>
            <p:cNvSpPr/>
            <p:nvPr/>
          </p:nvSpPr>
          <p:spPr>
            <a:xfrm>
              <a:off x="5273" y="8675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8" name="Line 120"/>
            <p:cNvSpPr/>
            <p:nvPr/>
          </p:nvSpPr>
          <p:spPr>
            <a:xfrm>
              <a:off x="5273" y="8835"/>
              <a:ext cx="2" cy="8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649" name="Freeform 121"/>
            <p:cNvSpPr/>
            <p:nvPr/>
          </p:nvSpPr>
          <p:spPr>
            <a:xfrm>
              <a:off x="5130" y="7025"/>
              <a:ext cx="395" cy="1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58" h="40">
                  <a:moveTo>
                    <a:pt x="0" y="0"/>
                  </a:moveTo>
                  <a:lnTo>
                    <a:pt x="68" y="32"/>
                  </a:lnTo>
                  <a:lnTo>
                    <a:pt x="158" y="40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650" name="Line 122"/>
            <p:cNvSpPr/>
            <p:nvPr/>
          </p:nvSpPr>
          <p:spPr>
            <a:xfrm flipH="1">
              <a:off x="5215" y="7563"/>
              <a:ext cx="58" cy="60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4" name="Freeform 123"/>
            <p:cNvSpPr/>
            <p:nvPr/>
          </p:nvSpPr>
          <p:spPr>
            <a:xfrm>
              <a:off x="5385" y="8735"/>
              <a:ext cx="140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6" h="32">
                  <a:moveTo>
                    <a:pt x="0" y="16"/>
                  </a:moveTo>
                  <a:lnTo>
                    <a:pt x="11" y="0"/>
                  </a:lnTo>
                  <a:lnTo>
                    <a:pt x="45" y="0"/>
                  </a:lnTo>
                  <a:lnTo>
                    <a:pt x="56" y="16"/>
                  </a:lnTo>
                  <a:lnTo>
                    <a:pt x="45" y="32"/>
                  </a:lnTo>
                  <a:lnTo>
                    <a:pt x="11" y="32"/>
                  </a:lnTo>
                  <a:lnTo>
                    <a:pt x="0" y="16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5340" y="6950"/>
              <a:ext cx="140" cy="8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56" h="32">
                  <a:moveTo>
                    <a:pt x="0" y="16"/>
                  </a:moveTo>
                  <a:lnTo>
                    <a:pt x="12" y="0"/>
                  </a:lnTo>
                  <a:lnTo>
                    <a:pt x="45" y="0"/>
                  </a:lnTo>
                  <a:lnTo>
                    <a:pt x="56" y="16"/>
                  </a:lnTo>
                  <a:lnTo>
                    <a:pt x="45" y="32"/>
                  </a:lnTo>
                  <a:lnTo>
                    <a:pt x="12" y="32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0000"/>
            </a:solidFill>
            <a:ln w="17526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2653" name="Group 125"/>
            <p:cNvGrpSpPr/>
            <p:nvPr/>
          </p:nvGrpSpPr>
          <p:grpSpPr>
            <a:xfrm>
              <a:off x="2855" y="8258"/>
              <a:ext cx="5058" cy="380"/>
              <a:chOff x="1790" y="2059"/>
              <a:chExt cx="2023" cy="152"/>
            </a:xfrm>
          </p:grpSpPr>
          <p:sp>
            <p:nvSpPr>
              <p:cNvPr id="22654" name="Line 126"/>
              <p:cNvSpPr/>
              <p:nvPr/>
            </p:nvSpPr>
            <p:spPr>
              <a:xfrm>
                <a:off x="2914" y="2210"/>
                <a:ext cx="899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55" name="Freeform 127"/>
              <p:cNvSpPr/>
              <p:nvPr/>
            </p:nvSpPr>
            <p:spPr>
              <a:xfrm>
                <a:off x="2757" y="2171"/>
                <a:ext cx="157" cy="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7" y="23"/>
                  </a:cxn>
                  <a:cxn ang="0">
                    <a:pos x="157" y="39"/>
                  </a:cxn>
                </a:cxnLst>
                <a:pathLst>
                  <a:path w="157" h="39">
                    <a:moveTo>
                      <a:pt x="0" y="0"/>
                    </a:moveTo>
                    <a:lnTo>
                      <a:pt x="67" y="23"/>
                    </a:lnTo>
                    <a:lnTo>
                      <a:pt x="157" y="39"/>
                    </a:lnTo>
                  </a:path>
                </a:pathLst>
              </a:custGeom>
              <a:noFill/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656" name="Line 128"/>
              <p:cNvSpPr/>
              <p:nvPr/>
            </p:nvSpPr>
            <p:spPr>
              <a:xfrm>
                <a:off x="1790" y="2059"/>
                <a:ext cx="584" cy="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2657" name="Group 129"/>
            <p:cNvGrpSpPr/>
            <p:nvPr/>
          </p:nvGrpSpPr>
          <p:grpSpPr>
            <a:xfrm>
              <a:off x="2098" y="6308"/>
              <a:ext cx="932" cy="2415"/>
              <a:chOff x="1487" y="1279"/>
              <a:chExt cx="373" cy="966"/>
            </a:xfrm>
          </p:grpSpPr>
          <p:grpSp>
            <p:nvGrpSpPr>
              <p:cNvPr id="22658" name="Group 130"/>
              <p:cNvGrpSpPr/>
              <p:nvPr/>
            </p:nvGrpSpPr>
            <p:grpSpPr>
              <a:xfrm>
                <a:off x="1700" y="1279"/>
                <a:ext cx="160" cy="195"/>
                <a:chOff x="1700" y="1279"/>
                <a:chExt cx="160" cy="195"/>
              </a:xfrm>
            </p:grpSpPr>
            <p:sp>
              <p:nvSpPr>
                <p:cNvPr id="22659" name="Rectangle 131"/>
                <p:cNvSpPr/>
                <p:nvPr/>
              </p:nvSpPr>
              <p:spPr>
                <a:xfrm>
                  <a:off x="1700" y="1327"/>
                  <a:ext cx="64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0" name="Rectangle 132"/>
                <p:cNvSpPr/>
                <p:nvPr/>
              </p:nvSpPr>
              <p:spPr>
                <a:xfrm>
                  <a:off x="1824" y="1279"/>
                  <a:ext cx="36" cy="1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p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1" name="Rectangle 133"/>
                <p:cNvSpPr/>
                <p:nvPr/>
              </p:nvSpPr>
              <p:spPr>
                <a:xfrm>
                  <a:off x="1824" y="1373"/>
                  <a:ext cx="32" cy="1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c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2662" name="Group 134"/>
              <p:cNvGrpSpPr/>
              <p:nvPr/>
            </p:nvGrpSpPr>
            <p:grpSpPr>
              <a:xfrm>
                <a:off x="1487" y="1836"/>
                <a:ext cx="211" cy="409"/>
                <a:chOff x="1487" y="1836"/>
                <a:chExt cx="211" cy="409"/>
              </a:xfrm>
            </p:grpSpPr>
            <p:sp>
              <p:nvSpPr>
                <p:cNvPr id="22663" name="Rectangle 135"/>
                <p:cNvSpPr/>
                <p:nvPr/>
              </p:nvSpPr>
              <p:spPr>
                <a:xfrm>
                  <a:off x="1487" y="1892"/>
                  <a:ext cx="64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4" name="Rectangle 136"/>
                <p:cNvSpPr/>
                <p:nvPr/>
              </p:nvSpPr>
              <p:spPr>
                <a:xfrm>
                  <a:off x="1610" y="1836"/>
                  <a:ext cx="36" cy="9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p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5" name="Rectangle 137"/>
                <p:cNvSpPr/>
                <p:nvPr/>
              </p:nvSpPr>
              <p:spPr>
                <a:xfrm>
                  <a:off x="1621" y="1932"/>
                  <a:ext cx="20" cy="9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f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6" name="Rectangle 138"/>
                <p:cNvSpPr/>
                <p:nvPr/>
              </p:nvSpPr>
              <p:spPr>
                <a:xfrm>
                  <a:off x="1531" y="2099"/>
                  <a:ext cx="64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7" name="Rectangle 139"/>
                <p:cNvSpPr/>
                <p:nvPr/>
              </p:nvSpPr>
              <p:spPr>
                <a:xfrm>
                  <a:off x="1655" y="2049"/>
                  <a:ext cx="36" cy="9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p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68" name="Rectangle 140"/>
                <p:cNvSpPr/>
                <p:nvPr/>
              </p:nvSpPr>
              <p:spPr>
                <a:xfrm>
                  <a:off x="1666" y="2147"/>
                  <a:ext cx="32" cy="9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v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22669" name="Group 141"/>
            <p:cNvGrpSpPr/>
            <p:nvPr/>
          </p:nvGrpSpPr>
          <p:grpSpPr>
            <a:xfrm>
              <a:off x="7940" y="6665"/>
              <a:ext cx="400" cy="2238"/>
              <a:chOff x="3824" y="1422"/>
              <a:chExt cx="160" cy="895"/>
            </a:xfrm>
          </p:grpSpPr>
          <p:grpSp>
            <p:nvGrpSpPr>
              <p:cNvPr id="22670" name="Group 142"/>
              <p:cNvGrpSpPr/>
              <p:nvPr/>
            </p:nvGrpSpPr>
            <p:grpSpPr>
              <a:xfrm>
                <a:off x="3824" y="1422"/>
                <a:ext cx="160" cy="203"/>
                <a:chOff x="3824" y="1422"/>
                <a:chExt cx="160" cy="203"/>
              </a:xfrm>
            </p:grpSpPr>
            <p:sp>
              <p:nvSpPr>
                <p:cNvPr id="22671" name="Rectangle 143"/>
                <p:cNvSpPr/>
                <p:nvPr/>
              </p:nvSpPr>
              <p:spPr>
                <a:xfrm>
                  <a:off x="3824" y="1478"/>
                  <a:ext cx="64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72" name="Rectangle 144"/>
                <p:cNvSpPr/>
                <p:nvPr/>
              </p:nvSpPr>
              <p:spPr>
                <a:xfrm>
                  <a:off x="3948" y="1422"/>
                  <a:ext cx="36" cy="1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n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73" name="Rectangle 145"/>
                <p:cNvSpPr/>
                <p:nvPr/>
              </p:nvSpPr>
              <p:spPr>
                <a:xfrm>
                  <a:off x="3948" y="1524"/>
                  <a:ext cx="32" cy="1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c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2674" name="Rectangle 146"/>
              <p:cNvSpPr/>
              <p:nvPr/>
            </p:nvSpPr>
            <p:spPr>
              <a:xfrm>
                <a:off x="3948" y="1613"/>
                <a:ext cx="36" cy="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p>
                <a:r>
                  <a:rPr lang="en-US" altLang="zh-CN" sz="900" i="1" dirty="0">
                    <a:solidFill>
                      <a:srgbClr val="000000"/>
                    </a:solidFill>
                    <a:latin typeface="Times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2675" name="Group 147"/>
              <p:cNvGrpSpPr/>
              <p:nvPr/>
            </p:nvGrpSpPr>
            <p:grpSpPr>
              <a:xfrm>
                <a:off x="3824" y="2123"/>
                <a:ext cx="160" cy="194"/>
                <a:chOff x="3824" y="2123"/>
                <a:chExt cx="160" cy="194"/>
              </a:xfrm>
            </p:grpSpPr>
            <p:sp>
              <p:nvSpPr>
                <p:cNvPr id="22676" name="Rectangle 148"/>
                <p:cNvSpPr/>
                <p:nvPr/>
              </p:nvSpPr>
              <p:spPr>
                <a:xfrm>
                  <a:off x="3824" y="2170"/>
                  <a:ext cx="64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13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77" name="Rectangle 149"/>
                <p:cNvSpPr/>
                <p:nvPr/>
              </p:nvSpPr>
              <p:spPr>
                <a:xfrm>
                  <a:off x="3948" y="2123"/>
                  <a:ext cx="36" cy="1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n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78" name="Rectangle 150"/>
                <p:cNvSpPr/>
                <p:nvPr/>
              </p:nvSpPr>
              <p:spPr>
                <a:xfrm>
                  <a:off x="3948" y="2216"/>
                  <a:ext cx="32" cy="1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en-US" altLang="zh-CN" sz="900" i="1" dirty="0">
                      <a:solidFill>
                        <a:srgbClr val="000000"/>
                      </a:solidFill>
                      <a:latin typeface="Times" pitchFamily="18" charset="0"/>
                      <a:ea typeface="宋体" panose="02010600030101010101" pitchFamily="2" charset="-122"/>
                    </a:rPr>
                    <a:t>v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22679" name="Group 151"/>
            <p:cNvGrpSpPr/>
            <p:nvPr/>
          </p:nvGrpSpPr>
          <p:grpSpPr>
            <a:xfrm>
              <a:off x="4598" y="6290"/>
              <a:ext cx="2" cy="2625"/>
              <a:chOff x="2487" y="1272"/>
              <a:chExt cx="1" cy="1050"/>
            </a:xfrm>
          </p:grpSpPr>
          <p:sp>
            <p:nvSpPr>
              <p:cNvPr id="22680" name="Line 152"/>
              <p:cNvSpPr/>
              <p:nvPr/>
            </p:nvSpPr>
            <p:spPr>
              <a:xfrm>
                <a:off x="2487" y="1272"/>
                <a:ext cx="1" cy="3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1" name="Line 153"/>
              <p:cNvSpPr/>
              <p:nvPr/>
            </p:nvSpPr>
            <p:spPr>
              <a:xfrm>
                <a:off x="2487" y="1335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2" name="Line 154"/>
              <p:cNvSpPr/>
              <p:nvPr/>
            </p:nvSpPr>
            <p:spPr>
              <a:xfrm>
                <a:off x="2487" y="1399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3" name="Line 155"/>
              <p:cNvSpPr/>
              <p:nvPr/>
            </p:nvSpPr>
            <p:spPr>
              <a:xfrm>
                <a:off x="2487" y="1463"/>
                <a:ext cx="1" cy="3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4" name="Line 156"/>
              <p:cNvSpPr/>
              <p:nvPr/>
            </p:nvSpPr>
            <p:spPr>
              <a:xfrm>
                <a:off x="2487" y="1526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5" name="Line 157"/>
              <p:cNvSpPr/>
              <p:nvPr/>
            </p:nvSpPr>
            <p:spPr>
              <a:xfrm>
                <a:off x="2487" y="1590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6" name="Line 158"/>
              <p:cNvSpPr/>
              <p:nvPr/>
            </p:nvSpPr>
            <p:spPr>
              <a:xfrm>
                <a:off x="2487" y="1717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7" name="Line 159"/>
              <p:cNvSpPr/>
              <p:nvPr/>
            </p:nvSpPr>
            <p:spPr>
              <a:xfrm>
                <a:off x="2487" y="1781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8" name="Line 160"/>
              <p:cNvSpPr/>
              <p:nvPr/>
            </p:nvSpPr>
            <p:spPr>
              <a:xfrm>
                <a:off x="2487" y="1844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89" name="Line 161"/>
              <p:cNvSpPr/>
              <p:nvPr/>
            </p:nvSpPr>
            <p:spPr>
              <a:xfrm>
                <a:off x="2487" y="2035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90" name="Line 162"/>
              <p:cNvSpPr/>
              <p:nvPr/>
            </p:nvSpPr>
            <p:spPr>
              <a:xfrm>
                <a:off x="2487" y="2099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91" name="Line 163"/>
              <p:cNvSpPr/>
              <p:nvPr/>
            </p:nvSpPr>
            <p:spPr>
              <a:xfrm>
                <a:off x="2487" y="2163"/>
                <a:ext cx="1" cy="31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92" name="Line 164"/>
              <p:cNvSpPr/>
              <p:nvPr/>
            </p:nvSpPr>
            <p:spPr>
              <a:xfrm>
                <a:off x="2487" y="2226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693" name="Line 165"/>
              <p:cNvSpPr/>
              <p:nvPr/>
            </p:nvSpPr>
            <p:spPr>
              <a:xfrm>
                <a:off x="2487" y="2290"/>
                <a:ext cx="1" cy="32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2694" name="Group 166"/>
            <p:cNvGrpSpPr/>
            <p:nvPr/>
          </p:nvGrpSpPr>
          <p:grpSpPr>
            <a:xfrm>
              <a:off x="4108" y="8995"/>
              <a:ext cx="4325" cy="1533"/>
              <a:chOff x="2204" y="2354"/>
              <a:chExt cx="1730" cy="613"/>
            </a:xfrm>
          </p:grpSpPr>
          <p:grpSp>
            <p:nvGrpSpPr>
              <p:cNvPr id="22695" name="Group 167"/>
              <p:cNvGrpSpPr/>
              <p:nvPr/>
            </p:nvGrpSpPr>
            <p:grpSpPr>
              <a:xfrm>
                <a:off x="2622" y="2830"/>
                <a:ext cx="1312" cy="137"/>
                <a:chOff x="2622" y="2830"/>
                <a:chExt cx="1312" cy="137"/>
              </a:xfrm>
            </p:grpSpPr>
            <p:sp>
              <p:nvSpPr>
                <p:cNvPr id="22696" name="Freeform 168"/>
                <p:cNvSpPr/>
                <p:nvPr/>
              </p:nvSpPr>
              <p:spPr>
                <a:xfrm>
                  <a:off x="2622" y="2871"/>
                  <a:ext cx="45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3" y="0"/>
                    </a:cxn>
                    <a:cxn ang="0">
                      <a:pos x="45" y="16"/>
                    </a:cxn>
                    <a:cxn ang="0">
                      <a:pos x="33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45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3" y="0"/>
                      </a:lnTo>
                      <a:lnTo>
                        <a:pt x="45" y="16"/>
                      </a:lnTo>
                      <a:lnTo>
                        <a:pt x="33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17526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697" name="Line 169"/>
                <p:cNvSpPr/>
                <p:nvPr/>
              </p:nvSpPr>
              <p:spPr>
                <a:xfrm flipH="1">
                  <a:off x="2723" y="2887"/>
                  <a:ext cx="157" cy="1"/>
                </a:xfrm>
                <a:prstGeom prst="line">
                  <a:avLst/>
                </a:prstGeom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98" name="Rectangle 170"/>
                <p:cNvSpPr/>
                <p:nvPr/>
              </p:nvSpPr>
              <p:spPr>
                <a:xfrm>
                  <a:off x="2959" y="2830"/>
                  <a:ext cx="312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zh-CN" altLang="en-US" sz="1300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电子，</a:t>
                  </a:r>
                  <a:endPara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699" name="Freeform 171"/>
                <p:cNvSpPr/>
                <p:nvPr/>
              </p:nvSpPr>
              <p:spPr>
                <a:xfrm>
                  <a:off x="3364" y="2871"/>
                  <a:ext cx="56" cy="32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1" y="0"/>
                    </a:cxn>
                    <a:cxn ang="0">
                      <a:pos x="33" y="0"/>
                    </a:cxn>
                    <a:cxn ang="0">
                      <a:pos x="56" y="16"/>
                    </a:cxn>
                    <a:cxn ang="0">
                      <a:pos x="33" y="32"/>
                    </a:cxn>
                    <a:cxn ang="0">
                      <a:pos x="11" y="32"/>
                    </a:cxn>
                    <a:cxn ang="0">
                      <a:pos x="0" y="16"/>
                    </a:cxn>
                  </a:cxnLst>
                  <a:pathLst>
                    <a:path w="56" h="32">
                      <a:moveTo>
                        <a:pt x="0" y="16"/>
                      </a:moveTo>
                      <a:lnTo>
                        <a:pt x="11" y="0"/>
                      </a:lnTo>
                      <a:lnTo>
                        <a:pt x="33" y="0"/>
                      </a:lnTo>
                      <a:lnTo>
                        <a:pt x="56" y="16"/>
                      </a:lnTo>
                      <a:lnTo>
                        <a:pt x="33" y="32"/>
                      </a:lnTo>
                      <a:lnTo>
                        <a:pt x="11" y="32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700" name="Line 172"/>
                <p:cNvSpPr/>
                <p:nvPr/>
              </p:nvSpPr>
              <p:spPr>
                <a:xfrm flipH="1">
                  <a:off x="3465" y="2887"/>
                  <a:ext cx="157" cy="1"/>
                </a:xfrm>
                <a:prstGeom prst="line">
                  <a:avLst/>
                </a:prstGeom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01" name="Rectangle 173"/>
                <p:cNvSpPr/>
                <p:nvPr/>
              </p:nvSpPr>
              <p:spPr>
                <a:xfrm>
                  <a:off x="3689" y="2830"/>
                  <a:ext cx="245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zh-CN" altLang="en-US" sz="1300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空穴</a:t>
                  </a:r>
                  <a:endPara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2702" name="Group 174"/>
              <p:cNvGrpSpPr/>
              <p:nvPr/>
            </p:nvGrpSpPr>
            <p:grpSpPr>
              <a:xfrm>
                <a:off x="2204" y="2354"/>
                <a:ext cx="676" cy="517"/>
                <a:chOff x="2204" y="2354"/>
                <a:chExt cx="676" cy="517"/>
              </a:xfrm>
            </p:grpSpPr>
            <p:sp>
              <p:nvSpPr>
                <p:cNvPr id="22703" name="Line 175"/>
                <p:cNvSpPr/>
                <p:nvPr/>
              </p:nvSpPr>
              <p:spPr>
                <a:xfrm>
                  <a:off x="2487" y="2354"/>
                  <a:ext cx="1" cy="8"/>
                </a:xfrm>
                <a:prstGeom prst="line">
                  <a:avLst/>
                </a:prstGeom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04" name="Rectangle 176"/>
                <p:cNvSpPr/>
                <p:nvPr/>
              </p:nvSpPr>
              <p:spPr>
                <a:xfrm>
                  <a:off x="2240" y="2528"/>
                  <a:ext cx="531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zh-CN" altLang="en-US" sz="1300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内部电场</a:t>
                  </a:r>
                  <a:endPara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705" name="Rectangle 177"/>
                <p:cNvSpPr/>
                <p:nvPr/>
              </p:nvSpPr>
              <p:spPr>
                <a:xfrm>
                  <a:off x="2204" y="2731"/>
                  <a:ext cx="549" cy="1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p>
                  <a:r>
                    <a:rPr lang="zh-CN" altLang="en-US" sz="1300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外加电场</a:t>
                  </a:r>
                  <a:endPara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706" name="Line 178"/>
                <p:cNvSpPr/>
                <p:nvPr/>
              </p:nvSpPr>
              <p:spPr>
                <a:xfrm>
                  <a:off x="2304" y="2688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rgbClr val="66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2707" name="Line 179"/>
                <p:cNvSpPr/>
                <p:nvPr/>
              </p:nvSpPr>
              <p:spPr>
                <a:xfrm flipH="1">
                  <a:off x="2304" y="2496"/>
                  <a:ext cx="480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22708" name="Group 180"/>
            <p:cNvGrpSpPr/>
            <p:nvPr/>
          </p:nvGrpSpPr>
          <p:grpSpPr>
            <a:xfrm>
              <a:off x="4020" y="6830"/>
              <a:ext cx="3528" cy="1680"/>
              <a:chOff x="2256" y="1488"/>
              <a:chExt cx="1411" cy="672"/>
            </a:xfrm>
          </p:grpSpPr>
          <p:grpSp>
            <p:nvGrpSpPr>
              <p:cNvPr id="22709" name="Group 181"/>
              <p:cNvGrpSpPr/>
              <p:nvPr/>
            </p:nvGrpSpPr>
            <p:grpSpPr>
              <a:xfrm>
                <a:off x="2419" y="1653"/>
                <a:ext cx="1248" cy="207"/>
                <a:chOff x="2419" y="1653"/>
                <a:chExt cx="1248" cy="207"/>
              </a:xfrm>
            </p:grpSpPr>
            <p:sp>
              <p:nvSpPr>
                <p:cNvPr id="22710" name="Line 182"/>
                <p:cNvSpPr/>
                <p:nvPr/>
              </p:nvSpPr>
              <p:spPr>
                <a:xfrm flipH="1">
                  <a:off x="2419" y="1836"/>
                  <a:ext cx="23" cy="24"/>
                </a:xfrm>
                <a:prstGeom prst="line">
                  <a:avLst/>
                </a:prstGeom>
                <a:ln w="17463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22711" name="Group 183"/>
                <p:cNvGrpSpPr/>
                <p:nvPr/>
              </p:nvGrpSpPr>
              <p:grpSpPr>
                <a:xfrm>
                  <a:off x="2487" y="1653"/>
                  <a:ext cx="1180" cy="56"/>
                  <a:chOff x="2487" y="1653"/>
                  <a:chExt cx="1180" cy="56"/>
                </a:xfrm>
              </p:grpSpPr>
              <p:sp>
                <p:nvSpPr>
                  <p:cNvPr id="22712" name="Line 184"/>
                  <p:cNvSpPr/>
                  <p:nvPr/>
                </p:nvSpPr>
                <p:spPr>
                  <a:xfrm>
                    <a:off x="2757" y="1653"/>
                    <a:ext cx="1" cy="32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3" name="Line 185"/>
                  <p:cNvSpPr/>
                  <p:nvPr/>
                </p:nvSpPr>
                <p:spPr>
                  <a:xfrm>
                    <a:off x="2487" y="1653"/>
                    <a:ext cx="1" cy="32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4" name="Line 186"/>
                  <p:cNvSpPr/>
                  <p:nvPr/>
                </p:nvSpPr>
                <p:spPr>
                  <a:xfrm flipH="1">
                    <a:off x="3622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5" name="Line 187"/>
                  <p:cNvSpPr/>
                  <p:nvPr/>
                </p:nvSpPr>
                <p:spPr>
                  <a:xfrm flipH="1">
                    <a:off x="3532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6" name="Line 188"/>
                  <p:cNvSpPr/>
                  <p:nvPr/>
                </p:nvSpPr>
                <p:spPr>
                  <a:xfrm flipH="1">
                    <a:off x="3442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7" name="Line 189"/>
                  <p:cNvSpPr/>
                  <p:nvPr/>
                </p:nvSpPr>
                <p:spPr>
                  <a:xfrm flipH="1">
                    <a:off x="3352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8" name="Line 190"/>
                  <p:cNvSpPr/>
                  <p:nvPr/>
                </p:nvSpPr>
                <p:spPr>
                  <a:xfrm flipH="1">
                    <a:off x="3262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9" name="Line 191"/>
                  <p:cNvSpPr/>
                  <p:nvPr/>
                </p:nvSpPr>
                <p:spPr>
                  <a:xfrm flipH="1">
                    <a:off x="3172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0" name="Line 192"/>
                  <p:cNvSpPr/>
                  <p:nvPr/>
                </p:nvSpPr>
                <p:spPr>
                  <a:xfrm flipH="1">
                    <a:off x="3083" y="1685"/>
                    <a:ext cx="44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1" name="Line 193"/>
                  <p:cNvSpPr/>
                  <p:nvPr/>
                </p:nvSpPr>
                <p:spPr>
                  <a:xfrm flipH="1">
                    <a:off x="2993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2" name="Line 194"/>
                  <p:cNvSpPr/>
                  <p:nvPr/>
                </p:nvSpPr>
                <p:spPr>
                  <a:xfrm flipH="1">
                    <a:off x="2903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3" name="Line 195"/>
                  <p:cNvSpPr/>
                  <p:nvPr/>
                </p:nvSpPr>
                <p:spPr>
                  <a:xfrm flipH="1">
                    <a:off x="2813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4" name="Line 196"/>
                  <p:cNvSpPr/>
                  <p:nvPr/>
                </p:nvSpPr>
                <p:spPr>
                  <a:xfrm flipH="1">
                    <a:off x="2633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5" name="Line 197"/>
                  <p:cNvSpPr/>
                  <p:nvPr/>
                </p:nvSpPr>
                <p:spPr>
                  <a:xfrm flipH="1">
                    <a:off x="2543" y="1685"/>
                    <a:ext cx="45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6" name="Line 198"/>
                  <p:cNvSpPr/>
                  <p:nvPr/>
                </p:nvSpPr>
                <p:spPr>
                  <a:xfrm flipH="1">
                    <a:off x="2487" y="1685"/>
                    <a:ext cx="11" cy="1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27" name="Line 199"/>
                  <p:cNvSpPr/>
                  <p:nvPr/>
                </p:nvSpPr>
                <p:spPr>
                  <a:xfrm flipH="1">
                    <a:off x="2835" y="1685"/>
                    <a:ext cx="23" cy="24"/>
                  </a:xfrm>
                  <a:prstGeom prst="line">
                    <a:avLst/>
                  </a:prstGeom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2728" name="Line 200"/>
              <p:cNvSpPr/>
              <p:nvPr/>
            </p:nvSpPr>
            <p:spPr>
              <a:xfrm flipV="1">
                <a:off x="2976" y="1632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729" name="Line 201"/>
              <p:cNvSpPr/>
              <p:nvPr/>
            </p:nvSpPr>
            <p:spPr>
              <a:xfrm>
                <a:off x="2256" y="1488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22730" name="Line 202"/>
            <p:cNvSpPr/>
            <p:nvPr/>
          </p:nvSpPr>
          <p:spPr>
            <a:xfrm flipH="1" flipV="1">
              <a:off x="4740" y="6470"/>
              <a:ext cx="720" cy="36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2731" name="Text Box 203"/>
          <p:cNvSpPr txBox="1"/>
          <p:nvPr/>
        </p:nvSpPr>
        <p:spPr>
          <a:xfrm>
            <a:off x="5762625" y="4559300"/>
            <a:ext cx="3429000" cy="336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正向偏压下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 - 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结能带图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" name="Text Box 204"/>
          <p:cNvSpPr txBox="1">
            <a:spLocks noChangeArrowheads="1"/>
          </p:cNvSpPr>
          <p:nvPr/>
        </p:nvSpPr>
        <p:spPr bwMode="auto">
          <a:xfrm>
            <a:off x="6061075" y="5327650"/>
            <a:ext cx="25146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just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获得粒子数反转分布 </a:t>
            </a:r>
            <a:endParaRPr kumimoji="1" lang="zh-CN" altLang="en-US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769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769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charRg st="1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7698">
                                            <p:txEl>
                                              <p:charRg st="1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7698">
                                            <p:txEl>
                                              <p:charRg st="1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charRg st="8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698">
                                            <p:txEl>
                                              <p:charRg st="8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698">
                                            <p:txEl>
                                              <p:charRg st="8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build="p"/>
      <p:bldP spid="20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Text Box 2"/>
          <p:cNvSpPr txBox="1"/>
          <p:nvPr/>
        </p:nvSpPr>
        <p:spPr>
          <a:xfrm>
            <a:off x="119063" y="146050"/>
            <a:ext cx="8763000" cy="17951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半导体激光器基本结构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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半导体激光器的结构多种多样，基本结构是图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3.5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示出的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双异质结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(DH)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平面条形结构。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5" name="Rectangle 3"/>
          <p:cNvSpPr/>
          <p:nvPr/>
        </p:nvSpPr>
        <p:spPr>
          <a:xfrm>
            <a:off x="215900" y="1844675"/>
            <a:ext cx="8686800" cy="2009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结构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中间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有一层厚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0.1~0.3 μm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的窄带隙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型半导体，称为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有源层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两侧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分别为宽带隙的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型和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型半导体，称为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限制层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。三层半导体置于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基片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衬底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上，前后两个晶体解理面作为反射镜构成法布里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珀罗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(FP)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谐振腔。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9939" name="图片 215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" y="4148773"/>
            <a:ext cx="8096250" cy="1916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771775" y="6381115"/>
            <a:ext cx="62376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楷体" panose="02010609060101010101" charset="-122"/>
                <a:ea typeface="楷体" panose="02010609060101010101" charset="-122"/>
              </a:rPr>
              <a:t>异质结，两种不同的半导体相接触所形成的界面区域。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charRg st="0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1795">
                                            <p:txEl>
                                              <p:charRg st="0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1795">
                                            <p:txEl>
                                              <p:charRg st="0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79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4866" name="Group 2"/>
          <p:cNvGrpSpPr/>
          <p:nvPr/>
        </p:nvGrpSpPr>
        <p:grpSpPr>
          <a:xfrm>
            <a:off x="654685" y="332740"/>
            <a:ext cx="7772400" cy="6330950"/>
            <a:chOff x="624" y="144"/>
            <a:chExt cx="4896" cy="3988"/>
          </a:xfrm>
        </p:grpSpPr>
        <p:sp>
          <p:nvSpPr>
            <p:cNvPr id="36866" name="Text Box 3"/>
            <p:cNvSpPr txBox="1"/>
            <p:nvPr/>
          </p:nvSpPr>
          <p:spPr>
            <a:xfrm>
              <a:off x="624" y="3590"/>
              <a:ext cx="4896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图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.6    DH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激光器工作原理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(a)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双异质结构；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(b)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能带；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(c)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折射率分布；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(d)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光功率分布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6867" name="Object 4"/>
            <p:cNvGraphicFramePr>
              <a:graphicFrameLocks noChangeAspect="1"/>
            </p:cNvGraphicFramePr>
            <p:nvPr/>
          </p:nvGraphicFramePr>
          <p:xfrm>
            <a:off x="960" y="144"/>
            <a:ext cx="3984" cy="3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2948940" imgH="3162300" progId="Visio.Drawing.4">
                    <p:embed/>
                  </p:oleObj>
                </mc:Choice>
                <mc:Fallback>
                  <p:oleObj name="" r:id="rId1" imgW="2948940" imgH="3162300" progId="Visio.Drawing.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60" y="144"/>
                          <a:ext cx="3984" cy="3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3011" name="图片 225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0"/>
            <a:ext cx="2019300" cy="1152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文本框 47107"/>
          <p:cNvSpPr txBox="1"/>
          <p:nvPr/>
        </p:nvSpPr>
        <p:spPr>
          <a:xfrm>
            <a:off x="250825" y="333375"/>
            <a:ext cx="8458200" cy="42303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en-US" altLang="en-US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3.1.4    发光二极管</a:t>
            </a:r>
            <a:endParaRPr lang="en-US" altLang="en-US" sz="2800" noProof="1" dirty="0">
              <a:latin typeface="Times New Roman" panose="02020603050405020304" pitchFamily="18" charset="0"/>
            </a:endParaRPr>
          </a:p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en-US" altLang="en-US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LD 和LED的区别</a:t>
            </a:r>
            <a:r>
              <a:rPr lang="en-US" altLang="en-US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lang="en-US" altLang="en-US" b="0" noProof="1" dirty="0">
              <a:latin typeface="Times New Roman" panose="02020603050405020304" pitchFamily="18" charset="0"/>
            </a:endParaRPr>
          </a:p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en-US" altLang="en-US" sz="2400" b="0" noProof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400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LD发射的是</a:t>
            </a:r>
            <a:r>
              <a:rPr lang="en-US" altLang="en-US" sz="2400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受激辐射光</a:t>
            </a:r>
            <a:endParaRPr lang="en-US" altLang="en-US" sz="2400" noProof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400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LED发射的是</a:t>
            </a:r>
            <a:r>
              <a:rPr lang="en-US" altLang="en-US" sz="2400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自发辐射光</a:t>
            </a:r>
            <a:endParaRPr lang="en-US" altLang="en-US" sz="2400" noProof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35000"/>
              </a:lnSpc>
              <a:spcBef>
                <a:spcPct val="50000"/>
              </a:spcBef>
            </a:pPr>
            <a:r>
              <a:rPr lang="en-US" altLang="en-US" sz="2400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LED的结构和LD相似，大多是采用</a:t>
            </a:r>
            <a:r>
              <a:rPr lang="en-US" altLang="en-US" sz="2400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双异质结(DH)芯片</a:t>
            </a:r>
            <a:r>
              <a:rPr lang="en-US" altLang="en-US" sz="2400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，把有源层夹在P型和N型限制层中间，不同的是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LED不需要光学谐振腔</a:t>
            </a:r>
            <a:r>
              <a:rPr lang="en-US" altLang="en-US" sz="2400" b="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，没有阈值。</a:t>
            </a:r>
            <a:endParaRPr lang="en-US" altLang="en-US" sz="2400" b="0" noProof="1" dirty="0">
              <a:latin typeface="Times New Roman" panose="02020603050405020304" pitchFamily="18" charset="0"/>
            </a:endParaRPr>
          </a:p>
        </p:txBody>
      </p:sp>
      <p:sp>
        <p:nvSpPr>
          <p:cNvPr id="58370" name="文本框 47108"/>
          <p:cNvSpPr txBox="1"/>
          <p:nvPr/>
        </p:nvSpPr>
        <p:spPr>
          <a:xfrm>
            <a:off x="0" y="4797425"/>
            <a:ext cx="9023350" cy="1938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Laser---Light Amplification by Stimulation Emission of Radiation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半导体激光二极管 </a:t>
            </a: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semiconductor laser diode, Diode Laser, laser diode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发光二极管 </a:t>
            </a: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Light Emitting Diode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395605" y="1628775"/>
            <a:ext cx="8229600" cy="452596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i="0" dirty="0"/>
              <a:t>波导又分为</a:t>
            </a:r>
            <a:endParaRPr lang="en-US" altLang="zh-CN" sz="2800" i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i="0" dirty="0">
                <a:solidFill>
                  <a:srgbClr val="FF0000"/>
                </a:solidFill>
              </a:rPr>
              <a:t>平面波导</a:t>
            </a:r>
            <a:r>
              <a:rPr lang="en-US" altLang="zh-CN" sz="2800" i="0" dirty="0"/>
              <a:t>(</a:t>
            </a:r>
            <a:r>
              <a:rPr lang="zh-CN" altLang="en-US" sz="2800" i="0" dirty="0"/>
              <a:t>薄膜波导</a:t>
            </a:r>
            <a:r>
              <a:rPr lang="en-US" altLang="zh-CN" sz="2800" i="0" dirty="0"/>
              <a:t>)</a:t>
            </a:r>
            <a:r>
              <a:rPr lang="zh-CN" altLang="en-US" sz="2800" i="0" dirty="0"/>
              <a:t>，由三层平板形介质构成，中间一层的折射率最大，上下层较小，这种波导只能在横截面的一个方向上限制光波。</a:t>
            </a:r>
            <a:endParaRPr lang="en-US" altLang="zh-CN" sz="2800" i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i="0" dirty="0">
                <a:solidFill>
                  <a:srgbClr val="FF0000"/>
                </a:solidFill>
              </a:rPr>
              <a:t>矩形波导</a:t>
            </a:r>
            <a:r>
              <a:rPr lang="en-US" altLang="zh-CN" sz="2800" i="0" dirty="0">
                <a:solidFill>
                  <a:srgbClr val="FF0000"/>
                </a:solidFill>
              </a:rPr>
              <a:t>(</a:t>
            </a:r>
            <a:r>
              <a:rPr lang="zh-CN" altLang="en-US" sz="2800" i="0" dirty="0"/>
              <a:t>条形波导或带状波导</a:t>
            </a:r>
            <a:r>
              <a:rPr lang="en-US" altLang="zh-CN" sz="2800" i="0" dirty="0"/>
              <a:t>)</a:t>
            </a:r>
            <a:r>
              <a:rPr lang="zh-CN" altLang="en-US" sz="2800" i="0" dirty="0"/>
              <a:t>，可以在横截面内的两个方向上限制光波</a:t>
            </a:r>
            <a:endParaRPr lang="en-US" altLang="zh-CN" sz="2800" i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i="0" dirty="0">
                <a:solidFill>
                  <a:srgbClr val="FF0000"/>
                </a:solidFill>
              </a:rPr>
              <a:t>圆柱形波导</a:t>
            </a:r>
            <a:r>
              <a:rPr lang="en-US" altLang="zh-CN" sz="2800" i="0" dirty="0"/>
              <a:t>(</a:t>
            </a:r>
            <a:r>
              <a:rPr lang="zh-CN" altLang="en-US" sz="2800" i="0" dirty="0"/>
              <a:t>光导纤维</a:t>
            </a:r>
            <a:r>
              <a:rPr lang="en-US" altLang="zh-CN" sz="2800" i="0" dirty="0"/>
              <a:t>)</a:t>
            </a:r>
            <a:r>
              <a:rPr lang="zh-CN" altLang="en-US" sz="2800" i="0" dirty="0">
                <a:ea typeface="宋体" panose="02010600030101010101" pitchFamily="2" charset="-122"/>
              </a:rPr>
              <a:t>，</a:t>
            </a:r>
            <a:r>
              <a:rPr lang="zh-CN" altLang="en-US" sz="2800" i="0" dirty="0"/>
              <a:t>包括纤芯和包层。</a:t>
            </a:r>
            <a:endParaRPr lang="zh-CN" altLang="en-US" sz="2800" i="0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404495"/>
            <a:ext cx="36201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6000">
                <a:sym typeface="+mn-ea"/>
              </a:rPr>
              <a:t> 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/>
              <a:t>光波导</a:t>
            </a:r>
            <a:endParaRPr lang="zh-CN" altLang="en-US" sz="6000"/>
          </a:p>
        </p:txBody>
      </p:sp>
    </p:spTree>
  </p:cSld>
  <p:clrMapOvr>
    <a:masterClrMapping/>
  </p:clrMapOvr>
  <p:transition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248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6.1.1  </a:t>
            </a: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光纤的结构</a:t>
            </a:r>
            <a:endParaRPr kumimoji="1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560513"/>
            <a:ext cx="84582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光纤是一种高度透明的玻璃丝，由纯石英经复杂的工艺拉制而成。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光纤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中心部分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芯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Core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＋同心圆状包裹层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包层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Clad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＋涂覆层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特点：</a:t>
            </a:r>
            <a:r>
              <a:rPr kumimoji="1" lang="en-US" altLang="zh-CN" sz="40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core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kumimoji="1" lang="en-US" altLang="zh-CN" sz="40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clad</a:t>
            </a:r>
            <a:r>
              <a:rPr kumimoji="1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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光在芯和包层之间的界面上反复进行全反射，并在光纤中传递下去。</a:t>
            </a:r>
            <a:endParaRPr kumimoji="1" lang="zh-CN" altLang="en-US" sz="2800" b="1" i="1" u="none" strike="noStrike" kern="0" cap="none" spc="0" normalizeH="0" baseline="0" noProof="0" smtClean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5138" name="Group 18"/>
          <p:cNvGrpSpPr/>
          <p:nvPr/>
        </p:nvGrpSpPr>
        <p:grpSpPr>
          <a:xfrm>
            <a:off x="2278063" y="3221038"/>
            <a:ext cx="5322887" cy="1846262"/>
            <a:chOff x="802" y="1862"/>
            <a:chExt cx="3353" cy="1163"/>
          </a:xfrm>
        </p:grpSpPr>
        <p:grpSp>
          <p:nvGrpSpPr>
            <p:cNvPr id="17412" name="Group 14"/>
            <p:cNvGrpSpPr/>
            <p:nvPr/>
          </p:nvGrpSpPr>
          <p:grpSpPr>
            <a:xfrm>
              <a:off x="1248" y="2016"/>
              <a:ext cx="2907" cy="1009"/>
              <a:chOff x="1248" y="1392"/>
              <a:chExt cx="2907" cy="1009"/>
            </a:xfrm>
          </p:grpSpPr>
          <p:sp>
            <p:nvSpPr>
              <p:cNvPr id="17413" name="AutoShape 8"/>
              <p:cNvSpPr/>
              <p:nvPr/>
            </p:nvSpPr>
            <p:spPr>
              <a:xfrm rot="-5400000">
                <a:off x="1838" y="1216"/>
                <a:ext cx="1009" cy="1343"/>
              </a:xfrm>
              <a:prstGeom prst="can">
                <a:avLst>
                  <a:gd name="adj" fmla="val 58102"/>
                </a:avLst>
              </a:prstGeom>
              <a:solidFill>
                <a:srgbClr val="FFFF66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4" name="AutoShape 7"/>
              <p:cNvSpPr/>
              <p:nvPr/>
            </p:nvSpPr>
            <p:spPr>
              <a:xfrm rot="-5400000">
                <a:off x="1406" y="1455"/>
                <a:ext cx="672" cy="815"/>
              </a:xfrm>
              <a:prstGeom prst="can">
                <a:avLst>
                  <a:gd name="adj" fmla="val 52940"/>
                </a:avLst>
              </a:prstGeom>
              <a:solidFill>
                <a:srgbClr val="9FFFE6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5" name="AutoShape 9"/>
              <p:cNvSpPr/>
              <p:nvPr/>
            </p:nvSpPr>
            <p:spPr>
              <a:xfrm rot="-5400000">
                <a:off x="1296" y="1680"/>
                <a:ext cx="288" cy="384"/>
              </a:xfrm>
              <a:prstGeom prst="can">
                <a:avLst>
                  <a:gd name="adj" fmla="val 52426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6" name="Oval 10"/>
              <p:cNvSpPr/>
              <p:nvPr/>
            </p:nvSpPr>
            <p:spPr>
              <a:xfrm>
                <a:off x="3529" y="1559"/>
                <a:ext cx="626" cy="626"/>
              </a:xfrm>
              <a:prstGeom prst="ellipse">
                <a:avLst/>
              </a:prstGeom>
              <a:solidFill>
                <a:srgbClr val="9FFFE6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7" name="Oval 11"/>
              <p:cNvSpPr/>
              <p:nvPr/>
            </p:nvSpPr>
            <p:spPr>
              <a:xfrm>
                <a:off x="3696" y="172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8" name="Line 12"/>
              <p:cNvSpPr/>
              <p:nvPr/>
            </p:nvSpPr>
            <p:spPr>
              <a:xfrm>
                <a:off x="1584" y="1728"/>
                <a:ext cx="2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miter/>
                <a:headEnd type="none" w="med" len="med"/>
                <a:tailEnd type="none" w="med" len="med"/>
              </a:ln>
            </p:spPr>
          </p:sp>
          <p:sp>
            <p:nvSpPr>
              <p:cNvPr id="17419" name="Line 13"/>
              <p:cNvSpPr/>
              <p:nvPr/>
            </p:nvSpPr>
            <p:spPr>
              <a:xfrm>
                <a:off x="1488" y="2016"/>
                <a:ext cx="2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5135" name="Text Box 15"/>
            <p:cNvSpPr txBox="1">
              <a:spLocks noChangeArrowheads="1"/>
            </p:cNvSpPr>
            <p:nvPr/>
          </p:nvSpPr>
          <p:spPr bwMode="auto">
            <a:xfrm>
              <a:off x="802" y="2352"/>
              <a:ext cx="767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en-US" altLang="zh-CN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黑体" panose="02010609060101010101" pitchFamily="1" charset="-122"/>
                  <a:cs typeface="+mn-cs"/>
                </a:rPr>
                <a:t>  </a:t>
              </a:r>
              <a:r>
                <a:rPr kumimoji="1" lang="zh-CN" altLang="en-US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黑体" panose="02010609060101010101" pitchFamily="1" charset="-122"/>
                  <a:cs typeface="+mn-cs"/>
                </a:rPr>
                <a:t>芯</a:t>
              </a:r>
              <a:endPara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sp>
          <p:nvSpPr>
            <p:cNvPr id="5136" name="Text Box 16"/>
            <p:cNvSpPr txBox="1">
              <a:spLocks noChangeArrowheads="1"/>
            </p:cNvSpPr>
            <p:nvPr/>
          </p:nvSpPr>
          <p:spPr bwMode="auto">
            <a:xfrm>
              <a:off x="864" y="206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黑体" panose="02010609060101010101" pitchFamily="1" charset="-122"/>
                  <a:cs typeface="+mn-cs"/>
                </a:rPr>
                <a:t>包层</a:t>
              </a:r>
              <a:endPara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sp>
          <p:nvSpPr>
            <p:cNvPr id="5137" name="Text Box 17"/>
            <p:cNvSpPr txBox="1">
              <a:spLocks noChangeArrowheads="1"/>
            </p:cNvSpPr>
            <p:nvPr/>
          </p:nvSpPr>
          <p:spPr bwMode="auto">
            <a:xfrm>
              <a:off x="2880" y="1862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黑体" panose="02010609060101010101" pitchFamily="1" charset="-122"/>
                  <a:cs typeface="+mn-cs"/>
                </a:rPr>
                <a:t>树脂被覆层</a:t>
              </a:r>
              <a:endPara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1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文本框 3075"/>
          <p:cNvSpPr txBox="1"/>
          <p:nvPr/>
        </p:nvSpPr>
        <p:spPr>
          <a:xfrm>
            <a:off x="381000" y="381000"/>
            <a:ext cx="8382000" cy="52108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6.1   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光纤结构和类型</a:t>
            </a:r>
            <a:endParaRPr lang="zh-CN" altLang="en-US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.1.1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光纤结构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光纤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Optical Fiber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）是由中心的纤芯和外围的包层同轴组成的圆柱形细丝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纤芯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折射率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比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稍高，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损耗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比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更低，光能量主要在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纤芯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内传输。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为光的传输提供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反射面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光隔离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，并起一定的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机械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保护作用。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设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纤芯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折射率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分别为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，光能量在光纤中传输的必要条件是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&gt;n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746" name="对象 1"/>
          <p:cNvGraphicFramePr/>
          <p:nvPr/>
        </p:nvGraphicFramePr>
        <p:xfrm>
          <a:off x="6653213" y="5308600"/>
          <a:ext cx="249078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90700" imgH="1152525" progId="">
                  <p:embed/>
                </p:oleObj>
              </mc:Choice>
              <mc:Fallback>
                <p:oleObj name="" r:id="rId1" imgW="1790700" imgH="115252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53213" y="5308600"/>
                        <a:ext cx="2490787" cy="15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文本框 5123"/>
          <p:cNvSpPr txBox="1"/>
          <p:nvPr/>
        </p:nvSpPr>
        <p:spPr>
          <a:xfrm>
            <a:off x="342900" y="234950"/>
            <a:ext cx="8458200" cy="547751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2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.1.2   光纤类型</a:t>
            </a:r>
            <a:endParaRPr lang="en-US" altLang="en-US" sz="2800" b="1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光纤种类很多，这里只讨论作为信息传输波导用的由</a:t>
            </a:r>
            <a:r>
              <a:rPr lang="en-US" altLang="en-US" sz="28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高纯度石英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（SiO</a:t>
            </a:r>
            <a:r>
              <a:rPr lang="en-US" altLang="en-US" sz="28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）制成的光纤。</a:t>
            </a:r>
            <a:endParaRPr lang="en-US" altLang="en-US" sz="28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实用光纤主要有三种基本类型，       </a:t>
            </a:r>
            <a:endParaRPr lang="en-US" altLang="en-US" sz="28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lang="en-US" altLang="en-US" sz="2800" b="1" noProof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突变型多模光纤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（Step-Index Fiber, SIF）</a:t>
            </a:r>
            <a:endParaRPr lang="en-US" altLang="en-US" sz="28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lang="en-US" altLang="en-US" sz="2800" b="1" noProof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渐变型多模光纤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（Graded-Index Fiber, GIF）</a:t>
            </a:r>
            <a:endParaRPr lang="en-US" altLang="en-US" sz="28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lang="en-US" altLang="en-US" sz="2800" b="1" noProof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单模光纤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（Single-Mode Fiber, SMF）</a:t>
            </a:r>
            <a:endParaRPr lang="en-US" altLang="en-US" sz="28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相对于</a:t>
            </a:r>
            <a:r>
              <a:rPr lang="en-US" altLang="en-US" sz="28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单模光纤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而言，</a:t>
            </a:r>
            <a:r>
              <a:rPr lang="en-US" altLang="en-US" sz="28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突变型光纤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8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渐变型光纤</a:t>
            </a:r>
            <a:r>
              <a:rPr lang="en-US" altLang="en-US" sz="28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的纤芯直径都很大，可以容纳数百个模式，所以称为</a:t>
            </a:r>
            <a:r>
              <a:rPr lang="en-US" altLang="en-US" sz="28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多模光纤。</a:t>
            </a:r>
            <a:endParaRPr lang="en-US" altLang="en-US" sz="2800" b="1" noProof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0" name="文本框 1"/>
          <p:cNvSpPr txBox="1"/>
          <p:nvPr/>
        </p:nvSpPr>
        <p:spPr>
          <a:xfrm>
            <a:off x="14288" y="5927725"/>
            <a:ext cx="9115425" cy="860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000" dirty="0">
                <a:latin typeface="黑体" panose="02010609060101010101" pitchFamily="1" charset="-122"/>
                <a:ea typeface="黑体" panose="02010609060101010101" pitchFamily="1" charset="-122"/>
              </a:rPr>
              <a:t>原则上讲，传输系统中的任意一个特解就是一种可能的传播场。不同的场有不同</a:t>
            </a:r>
            <a:endParaRPr lang="zh-CN" altLang="en-US" sz="2000" dirty="0">
              <a:latin typeface="黑体" panose="02010609060101010101" pitchFamily="1" charset="-122"/>
              <a:ea typeface="黑体" panose="02010609060101010101" pitchFamily="1" charset="-122"/>
            </a:endParaRPr>
          </a:p>
          <a:p>
            <a:r>
              <a:rPr lang="zh-CN" altLang="en-US" sz="2000" dirty="0">
                <a:latin typeface="黑体" panose="02010609060101010101" pitchFamily="1" charset="-122"/>
                <a:ea typeface="黑体" panose="02010609060101010101" pitchFamily="1" charset="-122"/>
              </a:rPr>
              <a:t>的传播特性，通常把能在传输系统中</a:t>
            </a:r>
            <a:r>
              <a:rPr lang="zh-CN" altLang="en-US" sz="2000" b="1" dirty="0">
                <a:solidFill>
                  <a:srgbClr val="CC00FF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独立存在</a:t>
            </a:r>
            <a:r>
              <a:rPr lang="zh-CN" altLang="en-US" sz="2000" dirty="0">
                <a:latin typeface="黑体" panose="02010609060101010101" pitchFamily="1" charset="-122"/>
                <a:ea typeface="黑体" panose="02010609060101010101" pitchFamily="1" charset="-122"/>
              </a:rPr>
              <a:t>的电磁场称为</a:t>
            </a:r>
            <a:r>
              <a:rPr lang="zh-CN" altLang="en-US" sz="2000" dirty="0">
                <a:solidFill>
                  <a:schemeClr val="hlink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模式</a:t>
            </a:r>
            <a:r>
              <a:rPr lang="zh-CN" altLang="en-US" sz="2000" dirty="0">
                <a:latin typeface="黑体" panose="02010609060101010101" pitchFamily="1" charset="-122"/>
                <a:ea typeface="黑体" panose="02010609060101010101" pitchFamily="1" charset="-122"/>
              </a:rPr>
              <a:t>或</a:t>
            </a:r>
            <a:r>
              <a:rPr lang="zh-CN" altLang="en-US" sz="2000" dirty="0">
                <a:solidFill>
                  <a:schemeClr val="hlink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波型</a:t>
            </a:r>
            <a:r>
              <a:rPr lang="zh-CN" altLang="en-US" sz="2000" dirty="0">
                <a:latin typeface="黑体" panose="02010609060101010101" pitchFamily="1" charset="-122"/>
                <a:ea typeface="黑体" panose="02010609060101010101" pitchFamily="1" charset="-122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框 7171"/>
          <p:cNvSpPr txBox="1"/>
          <p:nvPr/>
        </p:nvSpPr>
        <p:spPr>
          <a:xfrm>
            <a:off x="971550" y="5516563"/>
            <a:ext cx="8001000" cy="922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.2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三种基本类型的光纤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(a)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突变型多模光纤；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(b)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渐变型多模光纤；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单模光纤 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794" name="对象 7172"/>
          <p:cNvGraphicFramePr/>
          <p:nvPr/>
        </p:nvGraphicFramePr>
        <p:xfrm>
          <a:off x="250825" y="188913"/>
          <a:ext cx="86106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173980" imgH="3215640" progId="">
                  <p:embed/>
                </p:oleObj>
              </mc:Choice>
              <mc:Fallback>
                <p:oleObj name="" r:id="rId1" imgW="5173980" imgH="321564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188913"/>
                        <a:ext cx="8610600" cy="518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6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65" y="876935"/>
            <a:ext cx="8517890" cy="46526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dissolv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2289"/>
          <p:cNvSpPr>
            <a:spLocks noGrp="1"/>
          </p:cNvSpPr>
          <p:nvPr>
            <p:ph type="title" idx="4294967295"/>
          </p:nvPr>
        </p:nvSpPr>
        <p:spPr>
          <a:xfrm>
            <a:off x="685800" y="762000"/>
            <a:ext cx="7772400" cy="1143000"/>
          </a:xfrm>
        </p:spPr>
        <p:txBody>
          <a:bodyPr vert="horz" wrap="square" anchor="ctr" anchorCtr="0"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</a:rPr>
              <a:t>6.2    </a:t>
            </a:r>
            <a:r>
              <a:rPr lang="zh-CN" altLang="en-US" sz="3600" b="1" dirty="0">
                <a:solidFill>
                  <a:schemeClr val="tx1"/>
                </a:solidFill>
              </a:rPr>
              <a:t>光纤传输原理</a:t>
            </a:r>
            <a:endParaRPr lang="zh-CN" altLang="en-US" sz="3600" b="1" dirty="0">
              <a:solidFill>
                <a:schemeClr val="tx1"/>
              </a:solidFill>
            </a:endParaRPr>
          </a:p>
        </p:txBody>
      </p:sp>
      <p:sp>
        <p:nvSpPr>
          <p:cNvPr id="38915" name="文本框 12291"/>
          <p:cNvSpPr txBox="1"/>
          <p:nvPr/>
        </p:nvSpPr>
        <p:spPr>
          <a:xfrm>
            <a:off x="381000" y="1749425"/>
            <a:ext cx="8382000" cy="19646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45000"/>
              </a:lnSpc>
            </a:pP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分析光纤传输原理的常用方法：</a:t>
            </a:r>
            <a:endParaRPr lang="en-US" altLang="en-US" sz="2800" b="1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4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</a:t>
            </a:r>
            <a:r>
              <a:rPr lang="en-US" altLang="en-US" sz="28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几何光学法</a:t>
            </a:r>
            <a:endParaRPr lang="en-US" altLang="en-US" sz="2800" b="1" noProof="1" dirty="0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45000"/>
              </a:lnSpc>
            </a:pPr>
            <a:r>
              <a:rPr lang="en-US" altLang="en-US" sz="28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波动方程法</a:t>
            </a:r>
            <a:endParaRPr lang="en-US" altLang="en-US" sz="2800" b="1" noProof="1" dirty="0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文本框 16387"/>
          <p:cNvSpPr txBox="1"/>
          <p:nvPr/>
        </p:nvSpPr>
        <p:spPr>
          <a:xfrm>
            <a:off x="457200" y="152400"/>
            <a:ext cx="8153400" cy="16789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spcBef>
                <a:spcPct val="15000"/>
              </a:spcBef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根据这个传播条件，定义临界角θ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的正弦为</a:t>
            </a:r>
            <a:r>
              <a:rPr lang="en-US" altLang="en-US" sz="2400" b="1" u="sng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数值孔径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(Numerical Aperture, NA)。根据定义和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斯奈尔定律</a:t>
            </a:r>
            <a:endParaRPr lang="en-US" altLang="en-US" sz="2400" b="1" noProof="1" dirty="0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15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NA=n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sinθ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cosψ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 ，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sinψ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sin90 °      (6.2)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5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=1，由式（6.2）经简单计算得到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文本框 16389"/>
          <p:cNvSpPr txBox="1"/>
          <p:nvPr/>
        </p:nvSpPr>
        <p:spPr>
          <a:xfrm>
            <a:off x="152400" y="2514600"/>
            <a:ext cx="8839200" cy="40767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式中Δ=(n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)/n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纤芯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包层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相对折射率差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NA表示光纤接收和传输光的能力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，NA(或θ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)越大，光纤接收光的能力越强，从光源到光纤的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耦合效率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越高。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对于无损耗光纤，在θ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内的入射光都能在光纤中传输。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NA越大，纤芯对光能量的束缚越强，光纤抗弯曲性能越好;  但NA越大，经光纤传输后产生的信号畸变越大，因而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限制了信息传输容量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所以要根据实际使用场合，选择适当的NA。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987" name="对象 43011"/>
          <p:cNvGraphicFramePr/>
          <p:nvPr/>
        </p:nvGraphicFramePr>
        <p:xfrm>
          <a:off x="2268538" y="1844675"/>
          <a:ext cx="359886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511300" imgH="279400" progId="Equation.3">
                  <p:embed/>
                </p:oleObj>
              </mc:Choice>
              <mc:Fallback>
                <p:oleObj name="" r:id="rId1" imgW="1511300" imgH="2794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538" y="1844675"/>
                        <a:ext cx="3598862" cy="665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文本框 16390"/>
          <p:cNvSpPr txBox="1"/>
          <p:nvPr/>
        </p:nvSpPr>
        <p:spPr>
          <a:xfrm>
            <a:off x="7451725" y="1916113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(6.3)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9939" name="对象 1"/>
          <p:cNvGraphicFramePr/>
          <p:nvPr/>
        </p:nvGraphicFramePr>
        <p:xfrm>
          <a:off x="6156325" y="5529580"/>
          <a:ext cx="3002280" cy="132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8404860" imgH="2849880" progId="PBrush">
                  <p:embed/>
                </p:oleObj>
              </mc:Choice>
              <mc:Fallback>
                <p:oleObj name="" r:id="rId3" imgW="8404860" imgH="2849880" progId="PBrush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6325" y="5529580"/>
                        <a:ext cx="3002280" cy="1328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文本框 17411"/>
          <p:cNvSpPr txBox="1"/>
          <p:nvPr/>
        </p:nvSpPr>
        <p:spPr>
          <a:xfrm>
            <a:off x="381000" y="304800"/>
            <a:ext cx="8382000" cy="152971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30000"/>
              </a:lnSpc>
            </a:pPr>
            <a:r>
              <a:rPr lang="en-US" altLang="en-US" sz="2400" b="1" u="sng" noProof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时间延迟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根据图6.4，入射角为θ的光线在长度为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(ox)的光纤中传输，所经历的路程为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(oy)， 在θ不大的条件下，其传播时间即</a:t>
            </a:r>
            <a:r>
              <a:rPr lang="en-US" altLang="en-US" sz="2400" b="1" noProof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时间延迟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文本框 17413"/>
          <p:cNvSpPr txBox="1"/>
          <p:nvPr/>
        </p:nvSpPr>
        <p:spPr>
          <a:xfrm>
            <a:off x="381000" y="2743200"/>
            <a:ext cx="8458200" cy="1476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2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式中c为真空中的光速。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algn="just">
              <a:lnSpc>
                <a:spcPct val="125000"/>
              </a:lnSpc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由式(6.4)得到</a:t>
            </a:r>
            <a:r>
              <a:rPr lang="en-US" altLang="en-US" sz="24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最大入射角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(θ=θc)和</a:t>
            </a:r>
            <a:r>
              <a:rPr lang="en-US" altLang="en-US" sz="24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最小入射角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(θ=0)的光线之间</a:t>
            </a:r>
            <a:r>
              <a:rPr lang="en-US" altLang="en-US" sz="2400" b="1" noProof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时间延迟</a:t>
            </a:r>
            <a:r>
              <a:rPr lang="en-US" altLang="en-US" sz="2400" b="1" noProof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差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近似为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3012" name="对象 44036"/>
          <p:cNvGraphicFramePr/>
          <p:nvPr/>
        </p:nvGraphicFramePr>
        <p:xfrm>
          <a:off x="755650" y="1834515"/>
          <a:ext cx="408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2044700" imgH="419100" progId="Equation.3">
                  <p:embed/>
                </p:oleObj>
              </mc:Choice>
              <mc:Fallback>
                <p:oleObj name="" r:id="rId1" imgW="2044700" imgH="4191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834515"/>
                        <a:ext cx="40894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文本框 17416"/>
          <p:cNvSpPr txBox="1"/>
          <p:nvPr/>
        </p:nvSpPr>
        <p:spPr>
          <a:xfrm>
            <a:off x="7019925" y="4579938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(6.5)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40" name="文本框 17417"/>
          <p:cNvSpPr txBox="1"/>
          <p:nvPr/>
        </p:nvSpPr>
        <p:spPr>
          <a:xfrm>
            <a:off x="179388" y="5229225"/>
            <a:ext cx="8763000" cy="11988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这种时间延迟差在时域产生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脉冲展宽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，或称为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信号畸变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     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由此可见，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突变型多模光纤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的信号畸变是由于不同入射角的光线经光纤传输后，其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时间延迟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不同而产生的。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3016" name="内容占位符 44040"/>
          <p:cNvGraphicFramePr>
            <a:graphicFrameLocks noGrp="1"/>
          </p:cNvGraphicFramePr>
          <p:nvPr>
            <p:ph idx="4294967295"/>
          </p:nvPr>
        </p:nvGraphicFramePr>
        <p:xfrm>
          <a:off x="2627313" y="4292600"/>
          <a:ext cx="338296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1650365" imgH="431800" progId="Equation.3">
                  <p:embed/>
                </p:oleObj>
              </mc:Choice>
              <mc:Fallback>
                <p:oleObj name="" r:id="rId3" imgW="1650365" imgH="4318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313" y="4292600"/>
                        <a:ext cx="3382962" cy="8842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对象 1"/>
          <p:cNvGraphicFramePr/>
          <p:nvPr/>
        </p:nvGraphicFramePr>
        <p:xfrm>
          <a:off x="5141595" y="1395730"/>
          <a:ext cx="4016375" cy="1921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8404860" imgH="2849880" progId="PBrush">
                  <p:embed/>
                </p:oleObj>
              </mc:Choice>
              <mc:Fallback>
                <p:oleObj name="" r:id="rId5" imgW="8404860" imgH="2849880" progId="PBrush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1595" y="1395730"/>
                        <a:ext cx="4016375" cy="1921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文本框 30723"/>
          <p:cNvSpPr txBox="1"/>
          <p:nvPr/>
        </p:nvSpPr>
        <p:spPr>
          <a:xfrm>
            <a:off x="457200" y="609600"/>
            <a:ext cx="8305800" cy="29292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30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lang="en-US" altLang="en-US" sz="28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.2.2   光纤传输的波动理论</a:t>
            </a:r>
            <a:endParaRPr lang="en-US" altLang="en-US" sz="2800" b="1" noProof="1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algn="just">
              <a:lnSpc>
                <a:spcPct val="130000"/>
              </a:lnSpc>
            </a:pPr>
            <a:endParaRPr lang="en-US" altLang="en-US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en-US" sz="24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光纤传输的波动理论的两个出发点</a:t>
            </a:r>
            <a:endParaRPr lang="en-US" altLang="en-US" sz="2400" b="1" noProof="1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algn="just">
              <a:lnSpc>
                <a:spcPct val="130000"/>
              </a:lnSpc>
            </a:pPr>
            <a:endParaRPr lang="en-US" altLang="en-US" sz="2400" b="1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en-US" sz="24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波动方程和电磁场表达式</a:t>
            </a:r>
            <a:endParaRPr lang="en-US" altLang="en-US" sz="2400" b="1" noProof="1" dirty="0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en-US" sz="24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特征方程和传输模式</a:t>
            </a:r>
            <a:endParaRPr lang="en-US" altLang="en-US" sz="2400" b="1" noProof="1" dirty="0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文本框 29701"/>
          <p:cNvSpPr txBox="1"/>
          <p:nvPr/>
        </p:nvSpPr>
        <p:spPr>
          <a:xfrm>
            <a:off x="327025" y="3073400"/>
            <a:ext cx="8382000" cy="25825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3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式中，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分别为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电场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磁场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在直角坐标中的任一分量，c为光速。选用圆柱坐标(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r，φ，z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)，使z轴与光纤中心轴线一致，如图6.6所示。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5000"/>
              </a:lnSpc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将式(6.18)在圆柱坐标中展开，得到电场的z分量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波动方程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4274" name="组合 29707"/>
          <p:cNvGrpSpPr/>
          <p:nvPr/>
        </p:nvGrpSpPr>
        <p:grpSpPr>
          <a:xfrm>
            <a:off x="2382838" y="1622425"/>
            <a:ext cx="6021387" cy="838200"/>
            <a:chOff x="0" y="0"/>
            <a:chExt cx="3793" cy="528"/>
          </a:xfrm>
        </p:grpSpPr>
        <p:graphicFrame>
          <p:nvGraphicFramePr>
            <p:cNvPr id="54275" name="对象 55299"/>
            <p:cNvGraphicFramePr/>
            <p:nvPr/>
          </p:nvGraphicFramePr>
          <p:xfrm>
            <a:off x="0" y="0"/>
            <a:ext cx="1585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" imgW="1181735" imgH="393700" progId="Equation.3">
                    <p:embed/>
                  </p:oleObj>
                </mc:Choice>
                <mc:Fallback>
                  <p:oleObj name="" r:id="rId1" imgW="1181735" imgH="3937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585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6" name="文本框 29703"/>
            <p:cNvSpPr txBox="1"/>
            <p:nvPr/>
          </p:nvSpPr>
          <p:spPr>
            <a:xfrm>
              <a:off x="2881" y="96"/>
              <a:ext cx="9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(6.18a)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4277" name="组合 29708"/>
          <p:cNvGrpSpPr/>
          <p:nvPr/>
        </p:nvGrpSpPr>
        <p:grpSpPr>
          <a:xfrm>
            <a:off x="2274888" y="2384425"/>
            <a:ext cx="6129337" cy="838200"/>
            <a:chOff x="0" y="0"/>
            <a:chExt cx="3861" cy="528"/>
          </a:xfrm>
        </p:grpSpPr>
        <p:graphicFrame>
          <p:nvGraphicFramePr>
            <p:cNvPr id="54278" name="对象 55302"/>
            <p:cNvGraphicFramePr/>
            <p:nvPr/>
          </p:nvGraphicFramePr>
          <p:xfrm>
            <a:off x="0" y="0"/>
            <a:ext cx="1653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3" imgW="1232535" imgH="393700" progId="Equation.3">
                    <p:embed/>
                  </p:oleObj>
                </mc:Choice>
                <mc:Fallback>
                  <p:oleObj name="" r:id="rId3" imgW="1232535" imgH="3937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653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9" name="文本框 29704"/>
            <p:cNvSpPr txBox="1"/>
            <p:nvPr/>
          </p:nvSpPr>
          <p:spPr>
            <a:xfrm>
              <a:off x="2949" y="96"/>
              <a:ext cx="9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(6.18b)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4280" name="组合 29709"/>
          <p:cNvGrpSpPr/>
          <p:nvPr/>
        </p:nvGrpSpPr>
        <p:grpSpPr>
          <a:xfrm>
            <a:off x="873125" y="5740400"/>
            <a:ext cx="7799388" cy="911225"/>
            <a:chOff x="0" y="0"/>
            <a:chExt cx="4752" cy="574"/>
          </a:xfrm>
        </p:grpSpPr>
        <p:graphicFrame>
          <p:nvGraphicFramePr>
            <p:cNvPr id="54281" name="对象 55305"/>
            <p:cNvGraphicFramePr/>
            <p:nvPr/>
          </p:nvGraphicFramePr>
          <p:xfrm>
            <a:off x="0" y="0"/>
            <a:ext cx="3841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5" imgW="2970530" imgH="444500" progId="Equation.3">
                    <p:embed/>
                  </p:oleObj>
                </mc:Choice>
                <mc:Fallback>
                  <p:oleObj name="" r:id="rId5" imgW="2970530" imgH="4445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841" cy="5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2" name="文本框 29705"/>
            <p:cNvSpPr txBox="1"/>
            <p:nvPr/>
          </p:nvSpPr>
          <p:spPr>
            <a:xfrm>
              <a:off x="4032" y="144"/>
              <a:ext cx="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(6.19)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308" name="文本框 29706"/>
          <p:cNvSpPr txBox="1"/>
          <p:nvPr/>
        </p:nvSpPr>
        <p:spPr>
          <a:xfrm>
            <a:off x="250825" y="188913"/>
            <a:ext cx="8534400" cy="15862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spcBef>
                <a:spcPct val="30000"/>
              </a:spcBef>
            </a:pPr>
            <a:r>
              <a:rPr lang="en-US" altLang="en-US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波动方程和电磁场表达式</a:t>
            </a:r>
            <a:endParaRPr lang="en-US" altLang="en-US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30000"/>
              </a:spcBef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设光纤没有</a:t>
            </a:r>
            <a:r>
              <a:rPr lang="en-US" altLang="en-US" sz="24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损耗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en-US" sz="24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折射率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变化很小，在光纤中传播的是角频率为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ω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lang="en-US" altLang="en-US" sz="24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单色光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，电磁场与时间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的关系为exp(j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ωt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)，则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标量波动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方程为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文本框 109571"/>
          <p:cNvSpPr txBox="1"/>
          <p:nvPr/>
        </p:nvSpPr>
        <p:spPr>
          <a:xfrm>
            <a:off x="2339975" y="5805488"/>
            <a:ext cx="4281488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.6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光纤中的圆柱坐标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5298" name="对象 109572"/>
          <p:cNvGraphicFramePr/>
          <p:nvPr/>
        </p:nvGraphicFramePr>
        <p:xfrm>
          <a:off x="971550" y="1295400"/>
          <a:ext cx="7272338" cy="359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2247900" imgH="1325880" progId="">
                  <p:embed/>
                </p:oleObj>
              </mc:Choice>
              <mc:Fallback>
                <p:oleObj name="" r:id="rId1" imgW="2247900" imgH="1325880" progId="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1295400"/>
                        <a:ext cx="7272338" cy="359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文本框 110595"/>
          <p:cNvSpPr txBox="1"/>
          <p:nvPr/>
        </p:nvSpPr>
        <p:spPr>
          <a:xfrm>
            <a:off x="1331913" y="6156325"/>
            <a:ext cx="66246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.7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贝赛尔函数；（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修正的贝赛尔函数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9394" name="对象 110596"/>
          <p:cNvGraphicFramePr/>
          <p:nvPr/>
        </p:nvGraphicFramePr>
        <p:xfrm>
          <a:off x="609600" y="533400"/>
          <a:ext cx="80010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2560320" imgH="3215640" progId="">
                  <p:embed/>
                </p:oleObj>
              </mc:Choice>
              <mc:Fallback>
                <p:oleObj name="" r:id="rId1" imgW="2560320" imgH="3215640" progId="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533400"/>
                        <a:ext cx="8001000" cy="495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文本框 110601"/>
          <p:cNvSpPr txBox="1"/>
          <p:nvPr/>
        </p:nvSpPr>
        <p:spPr>
          <a:xfrm flipV="1">
            <a:off x="152400" y="914400"/>
            <a:ext cx="549275" cy="1066800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6" name="文本框 110603"/>
          <p:cNvSpPr txBox="1"/>
          <p:nvPr/>
        </p:nvSpPr>
        <p:spPr>
          <a:xfrm>
            <a:off x="762000" y="533400"/>
            <a:ext cx="685800" cy="2857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1.0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0.8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0.6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0.4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0.2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-0.2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-0.4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-0.6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7" name="文本框 110604"/>
          <p:cNvSpPr txBox="1"/>
          <p:nvPr/>
        </p:nvSpPr>
        <p:spPr>
          <a:xfrm>
            <a:off x="1447800" y="3352800"/>
            <a:ext cx="381000" cy="2017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8" name="文本框 110605"/>
          <p:cNvSpPr txBox="1"/>
          <p:nvPr/>
        </p:nvSpPr>
        <p:spPr>
          <a:xfrm>
            <a:off x="2286000" y="220980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2              4              6               8             10      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9" name="文本框 110606"/>
          <p:cNvSpPr txBox="1"/>
          <p:nvPr/>
        </p:nvSpPr>
        <p:spPr>
          <a:xfrm>
            <a:off x="2286000" y="1066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0" name="文本框 110607"/>
          <p:cNvSpPr txBox="1"/>
          <p:nvPr/>
        </p:nvSpPr>
        <p:spPr>
          <a:xfrm>
            <a:off x="1676400" y="685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1" name="文本框 110608"/>
          <p:cNvSpPr txBox="1"/>
          <p:nvPr/>
        </p:nvSpPr>
        <p:spPr>
          <a:xfrm>
            <a:off x="3810000" y="16764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2" name="文本框 110609"/>
          <p:cNvSpPr txBox="1"/>
          <p:nvPr/>
        </p:nvSpPr>
        <p:spPr>
          <a:xfrm>
            <a:off x="4267200" y="31242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3" name="文本框 110610"/>
          <p:cNvSpPr txBox="1"/>
          <p:nvPr/>
        </p:nvSpPr>
        <p:spPr>
          <a:xfrm>
            <a:off x="4343400" y="54102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4" name="文本框 110611"/>
          <p:cNvSpPr txBox="1"/>
          <p:nvPr/>
        </p:nvSpPr>
        <p:spPr>
          <a:xfrm>
            <a:off x="2209800" y="3886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5" name="文本框 110612"/>
          <p:cNvSpPr txBox="1"/>
          <p:nvPr/>
        </p:nvSpPr>
        <p:spPr>
          <a:xfrm>
            <a:off x="2590800" y="525780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1           2             3            4            5     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endParaRPr lang="en-US" altLang="zh-CN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6" name="文本框 110613"/>
          <p:cNvSpPr txBox="1"/>
          <p:nvPr/>
        </p:nvSpPr>
        <p:spPr>
          <a:xfrm flipV="1">
            <a:off x="914400" y="3581400"/>
            <a:ext cx="549275" cy="1066800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文本框 35843"/>
          <p:cNvSpPr txBox="1"/>
          <p:nvPr/>
        </p:nvSpPr>
        <p:spPr>
          <a:xfrm>
            <a:off x="152400" y="0"/>
            <a:ext cx="8991600" cy="10877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35000"/>
              </a:lnSpc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因此，在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纤芯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包层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电场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(r, φ, z)和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磁场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(r, φ, z)表达式为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5000"/>
              </a:lnSpc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E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(r, φ, z)                                                  (0&lt;r≤a)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418" name="对象 61442"/>
          <p:cNvGraphicFramePr/>
          <p:nvPr/>
        </p:nvGraphicFramePr>
        <p:xfrm>
          <a:off x="2765425" y="620713"/>
          <a:ext cx="24685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" imgW="1346835" imgH="431800" progId="Equation.3">
                  <p:embed/>
                </p:oleObj>
              </mc:Choice>
              <mc:Fallback>
                <p:oleObj name="" r:id="rId1" imgW="1346835" imgH="4318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5425" y="620713"/>
                        <a:ext cx="2468563" cy="693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文本框 35845"/>
          <p:cNvSpPr txBox="1"/>
          <p:nvPr/>
        </p:nvSpPr>
        <p:spPr>
          <a:xfrm>
            <a:off x="1219200" y="1438275"/>
            <a:ext cx="3048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z1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(r, φ, z) =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420" name="对象 61444"/>
          <p:cNvGraphicFramePr/>
          <p:nvPr/>
        </p:nvGraphicFramePr>
        <p:xfrm>
          <a:off x="3070225" y="1360488"/>
          <a:ext cx="22399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1232535" imgH="431800" progId="Equation.3">
                  <p:embed/>
                </p:oleObj>
              </mc:Choice>
              <mc:Fallback>
                <p:oleObj name="" r:id="rId3" imgW="1232535" imgH="4318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0225" y="1360488"/>
                        <a:ext cx="2239963" cy="687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文本框 35847"/>
          <p:cNvSpPr txBox="1"/>
          <p:nvPr/>
        </p:nvSpPr>
        <p:spPr>
          <a:xfrm>
            <a:off x="1219200" y="2105025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z2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(r, φ, z)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422" name="对象 61446"/>
          <p:cNvGraphicFramePr/>
          <p:nvPr/>
        </p:nvGraphicFramePr>
        <p:xfrm>
          <a:off x="2706688" y="2032000"/>
          <a:ext cx="27035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1410335" imgH="431800" progId="Equation.3">
                  <p:embed/>
                </p:oleObj>
              </mc:Choice>
              <mc:Fallback>
                <p:oleObj name="" r:id="rId5" imgW="1410335" imgH="4318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6688" y="2032000"/>
                        <a:ext cx="2703512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文本框 35849"/>
          <p:cNvSpPr txBox="1"/>
          <p:nvPr/>
        </p:nvSpPr>
        <p:spPr>
          <a:xfrm>
            <a:off x="1219200" y="2840038"/>
            <a:ext cx="4495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z2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(r, φ, z)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424" name="对象 61448"/>
          <p:cNvGraphicFramePr/>
          <p:nvPr/>
        </p:nvGraphicFramePr>
        <p:xfrm>
          <a:off x="2743200" y="2768600"/>
          <a:ext cx="274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7" imgW="1410335" imgH="431800" progId="Equation.3">
                  <p:embed/>
                </p:oleObj>
              </mc:Choice>
              <mc:Fallback>
                <p:oleObj name="" r:id="rId7" imgW="1410335" imgH="4318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3200" y="2768600"/>
                        <a:ext cx="27432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文本框 35852"/>
          <p:cNvSpPr txBox="1"/>
          <p:nvPr/>
        </p:nvSpPr>
        <p:spPr>
          <a:xfrm>
            <a:off x="6228080" y="1360805"/>
            <a:ext cx="1371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(0&lt;r≤a)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6" name="文本框 35853"/>
          <p:cNvSpPr txBox="1"/>
          <p:nvPr/>
        </p:nvSpPr>
        <p:spPr>
          <a:xfrm>
            <a:off x="6553200" y="215900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(r≥a)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7" name="文本框 35854"/>
          <p:cNvSpPr txBox="1"/>
          <p:nvPr/>
        </p:nvSpPr>
        <p:spPr>
          <a:xfrm>
            <a:off x="6553200" y="2825750"/>
            <a:ext cx="1219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(r≥a)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8" name="文本框 35855"/>
          <p:cNvSpPr txBox="1"/>
          <p:nvPr/>
        </p:nvSpPr>
        <p:spPr>
          <a:xfrm>
            <a:off x="7848600" y="704850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(6.24a)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9" name="文本框 35856"/>
          <p:cNvSpPr txBox="1"/>
          <p:nvPr/>
        </p:nvSpPr>
        <p:spPr>
          <a:xfrm>
            <a:off x="7848600" y="1358900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(6.24b)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30" name="文本框 35857"/>
          <p:cNvSpPr txBox="1"/>
          <p:nvPr/>
        </p:nvSpPr>
        <p:spPr>
          <a:xfrm>
            <a:off x="7848600" y="2159000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(6.24c)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31" name="文本框 35858"/>
          <p:cNvSpPr txBox="1"/>
          <p:nvPr/>
        </p:nvSpPr>
        <p:spPr>
          <a:xfrm>
            <a:off x="7848600" y="2825750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(6.24d)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7" name="文本框 35859"/>
          <p:cNvSpPr txBox="1"/>
          <p:nvPr/>
        </p:nvSpPr>
        <p:spPr>
          <a:xfrm>
            <a:off x="76200" y="3581400"/>
            <a:ext cx="8991600" cy="319341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spcBef>
                <a:spcPct val="2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式中，脚标1和2分别表示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纤芯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包层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的电磁场分量，A和B为待定常数，由激励条件确定。J</a:t>
            </a:r>
            <a:r>
              <a:rPr lang="en-US" altLang="en-US" sz="2400" i="1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)和K</a:t>
            </a:r>
            <a:r>
              <a:rPr lang="en-US" altLang="en-US" sz="2400" i="1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)如图6.7所示，J</a:t>
            </a:r>
            <a:r>
              <a:rPr lang="en-US" altLang="en-US" sz="2400" i="1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)类似振幅衰减的正弦曲线，K</a:t>
            </a:r>
            <a:r>
              <a:rPr lang="en-US" altLang="en-US" sz="2400" i="1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)类似衰减的指数曲线。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式(6.24)表明，光纤传输模式的电磁场分布和性质取决于特征参数</a:t>
            </a:r>
            <a:r>
              <a:rPr lang="en-US" altLang="en-US" sz="2400" b="1" i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en-US" sz="2400" b="1" i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400" b="1" i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β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的值。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u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决定纤芯和包层横向(r)电磁场的分布，称为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横向传输常数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β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决定纵向(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)电磁场分布和传输性质，所以称为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(纵向)传输常数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文本框 38916"/>
          <p:cNvSpPr txBox="1"/>
          <p:nvPr/>
        </p:nvSpPr>
        <p:spPr>
          <a:xfrm>
            <a:off x="381000" y="1447800"/>
            <a:ext cx="8458200" cy="553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2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横坐标的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称为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归一化频率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 根据式(6.22)       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3490" name="对象 64514"/>
          <p:cNvGraphicFramePr/>
          <p:nvPr/>
        </p:nvGraphicFramePr>
        <p:xfrm>
          <a:off x="2209800" y="533400"/>
          <a:ext cx="29019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1385570" imgH="457835" progId="Equation.3">
                  <p:embed/>
                </p:oleObj>
              </mc:Choice>
              <mc:Fallback>
                <p:oleObj name="" r:id="rId1" imgW="1385570" imgH="457835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533400"/>
                        <a:ext cx="290195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文本框 38918"/>
          <p:cNvSpPr txBox="1"/>
          <p:nvPr/>
        </p:nvSpPr>
        <p:spPr>
          <a:xfrm>
            <a:off x="7010400" y="762000"/>
            <a:ext cx="1371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(6.28)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3492" name="组合 38922"/>
          <p:cNvGrpSpPr/>
          <p:nvPr/>
        </p:nvGrpSpPr>
        <p:grpSpPr>
          <a:xfrm>
            <a:off x="2805113" y="2252663"/>
            <a:ext cx="5181600" cy="796925"/>
            <a:chOff x="0" y="0"/>
            <a:chExt cx="3264" cy="502"/>
          </a:xfrm>
        </p:grpSpPr>
        <p:graphicFrame>
          <p:nvGraphicFramePr>
            <p:cNvPr id="63493" name="对象 64517"/>
            <p:cNvGraphicFramePr/>
            <p:nvPr/>
          </p:nvGraphicFramePr>
          <p:xfrm>
            <a:off x="0" y="0"/>
            <a:ext cx="1424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3" imgW="1118235" imgH="393700" progId="Equation.3">
                    <p:embed/>
                  </p:oleObj>
                </mc:Choice>
                <mc:Fallback>
                  <p:oleObj name="" r:id="rId3" imgW="1118235" imgH="3937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424" cy="5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494" name="文本框 38919"/>
            <p:cNvSpPr txBox="1"/>
            <p:nvPr/>
          </p:nvSpPr>
          <p:spPr>
            <a:xfrm>
              <a:off x="2592" y="70"/>
              <a:ext cx="67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(6.29)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4520" name="文本框 38920"/>
          <p:cNvSpPr txBox="1"/>
          <p:nvPr/>
        </p:nvSpPr>
        <p:spPr>
          <a:xfrm>
            <a:off x="381000" y="3184525"/>
            <a:ext cx="8534400" cy="10147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25000"/>
              </a:lnSpc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图中每一条曲线表示一个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传输模式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β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随V的变化， 所以方程(6.26)又称为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色散方程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文本框 111619"/>
          <p:cNvSpPr txBox="1"/>
          <p:nvPr/>
        </p:nvSpPr>
        <p:spPr>
          <a:xfrm>
            <a:off x="395605" y="6021070"/>
            <a:ext cx="86407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6.8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若干低阶模式归一化传输常数随归一化频率变化的曲线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4514" name="对象 111620"/>
          <p:cNvGraphicFramePr/>
          <p:nvPr/>
        </p:nvGraphicFramePr>
        <p:xfrm>
          <a:off x="0" y="260350"/>
          <a:ext cx="9144000" cy="582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2895600" imgH="2065020" progId="">
                  <p:embed/>
                </p:oleObj>
              </mc:Choice>
              <mc:Fallback>
                <p:oleObj name="" r:id="rId1" imgW="2895600" imgH="2065020" progId="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260350"/>
                        <a:ext cx="9144000" cy="582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矩形 111622"/>
          <p:cNvSpPr/>
          <p:nvPr/>
        </p:nvSpPr>
        <p:spPr>
          <a:xfrm>
            <a:off x="7596188" y="1989138"/>
            <a:ext cx="215900" cy="2159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6" name="文本框 111621"/>
          <p:cNvSpPr txBox="1"/>
          <p:nvPr/>
        </p:nvSpPr>
        <p:spPr>
          <a:xfrm>
            <a:off x="7534275" y="1916113"/>
            <a:ext cx="3397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681" name="组合 45093"/>
          <p:cNvGrpSpPr/>
          <p:nvPr/>
        </p:nvGrpSpPr>
        <p:grpSpPr>
          <a:xfrm>
            <a:off x="304800" y="609600"/>
            <a:ext cx="8610600" cy="5181600"/>
            <a:chOff x="0" y="0"/>
            <a:chExt cx="5424" cy="3264"/>
          </a:xfrm>
        </p:grpSpPr>
        <p:grpSp>
          <p:nvGrpSpPr>
            <p:cNvPr id="71682" name="组合 45092"/>
            <p:cNvGrpSpPr/>
            <p:nvPr/>
          </p:nvGrpSpPr>
          <p:grpSpPr>
            <a:xfrm>
              <a:off x="0" y="496"/>
              <a:ext cx="5424" cy="2768"/>
              <a:chOff x="0" y="0"/>
              <a:chExt cx="5424" cy="2768"/>
            </a:xfrm>
          </p:grpSpPr>
          <p:sp>
            <p:nvSpPr>
              <p:cNvPr id="71683" name="矩形 45065"/>
              <p:cNvSpPr/>
              <p:nvPr/>
            </p:nvSpPr>
            <p:spPr>
              <a:xfrm>
                <a:off x="1824" y="326"/>
                <a:ext cx="3600" cy="2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LP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                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HE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LP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HE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21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TM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TE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 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LP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HE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12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LP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12 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HE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TM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TE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02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LP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03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HE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13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LP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13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HE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23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TM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03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TE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03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84" name="矩形 45064"/>
              <p:cNvSpPr/>
              <p:nvPr/>
            </p:nvSpPr>
            <p:spPr>
              <a:xfrm>
                <a:off x="0" y="326"/>
                <a:ext cx="1824" cy="2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0~2.405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2.405~3.832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3.832~5.520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5.520~7.016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7.016~8.654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8.654~10.173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85" name="矩形 45063"/>
              <p:cNvSpPr/>
              <p:nvPr/>
            </p:nvSpPr>
            <p:spPr>
              <a:xfrm>
                <a:off x="1824" y="0"/>
                <a:ext cx="3600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spcBef>
                    <a:spcPct val="2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低阶模式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86" name="矩形 45062"/>
              <p:cNvSpPr/>
              <p:nvPr/>
            </p:nvSpPr>
            <p:spPr>
              <a:xfrm>
                <a:off x="0" y="0"/>
                <a:ext cx="1824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值范围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87" name="直接连接符 45066"/>
              <p:cNvSpPr/>
              <p:nvPr/>
            </p:nvSpPr>
            <p:spPr>
              <a:xfrm>
                <a:off x="0" y="0"/>
                <a:ext cx="542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bevel/>
                <a:headEnd type="none" w="med" len="med"/>
                <a:tailEnd type="none" w="med" len="med"/>
              </a:ln>
            </p:spPr>
          </p:sp>
          <p:sp>
            <p:nvSpPr>
              <p:cNvPr id="71688" name="直接连接符 45067"/>
              <p:cNvSpPr/>
              <p:nvPr/>
            </p:nvSpPr>
            <p:spPr>
              <a:xfrm>
                <a:off x="0" y="326"/>
                <a:ext cx="542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bevel/>
                <a:headEnd type="none" w="med" len="med"/>
                <a:tailEnd type="none" w="med" len="med"/>
              </a:ln>
            </p:spPr>
          </p:sp>
          <p:sp>
            <p:nvSpPr>
              <p:cNvPr id="71689" name="直接连接符 45068"/>
              <p:cNvSpPr/>
              <p:nvPr/>
            </p:nvSpPr>
            <p:spPr>
              <a:xfrm>
                <a:off x="0" y="2768"/>
                <a:ext cx="542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bevel/>
                <a:headEnd type="none" w="med" len="med"/>
                <a:tailEnd type="none" w="med" len="med"/>
              </a:ln>
            </p:spPr>
          </p:sp>
          <p:sp>
            <p:nvSpPr>
              <p:cNvPr id="71690" name="直接连接符 45069"/>
              <p:cNvSpPr/>
              <p:nvPr/>
            </p:nvSpPr>
            <p:spPr>
              <a:xfrm>
                <a:off x="0" y="0"/>
                <a:ext cx="0" cy="276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bevel/>
                <a:headEnd type="none" w="med" len="med"/>
                <a:tailEnd type="none" w="med" len="med"/>
              </a:ln>
            </p:spPr>
          </p:sp>
          <p:sp>
            <p:nvSpPr>
              <p:cNvPr id="71691" name="直接连接符 45070"/>
              <p:cNvSpPr/>
              <p:nvPr/>
            </p:nvSpPr>
            <p:spPr>
              <a:xfrm>
                <a:off x="1824" y="0"/>
                <a:ext cx="0" cy="276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bevel/>
                <a:headEnd type="none" w="med" len="med"/>
                <a:tailEnd type="none" w="med" len="med"/>
              </a:ln>
            </p:spPr>
          </p:sp>
          <p:sp>
            <p:nvSpPr>
              <p:cNvPr id="71692" name="直接连接符 45071"/>
              <p:cNvSpPr/>
              <p:nvPr/>
            </p:nvSpPr>
            <p:spPr>
              <a:xfrm>
                <a:off x="5424" y="0"/>
                <a:ext cx="0" cy="276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bevel/>
                <a:headEnd type="none" w="med" len="med"/>
                <a:tailEnd type="none" w="med" len="med"/>
              </a:ln>
            </p:spPr>
          </p:sp>
        </p:grpSp>
        <p:sp>
          <p:nvSpPr>
            <p:cNvPr id="71693" name="文本框 45091"/>
            <p:cNvSpPr txBox="1"/>
            <p:nvPr/>
          </p:nvSpPr>
          <p:spPr>
            <a:xfrm>
              <a:off x="528" y="0"/>
              <a:ext cx="436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表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6.2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低阶（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和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=1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）模式和相应的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值范围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dissolv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文本框 47107"/>
          <p:cNvSpPr txBox="1"/>
          <p:nvPr/>
        </p:nvSpPr>
        <p:spPr>
          <a:xfrm>
            <a:off x="1583690" y="6021070"/>
            <a:ext cx="64801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6.9   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四个低阶模式的电磁场矢量结构图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06" name="对象 47108"/>
          <p:cNvGraphicFramePr/>
          <p:nvPr/>
        </p:nvGraphicFramePr>
        <p:xfrm>
          <a:off x="1042988" y="188913"/>
          <a:ext cx="7561262" cy="562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" imgW="3345180" imgH="2491740" progId="">
                  <p:embed/>
                </p:oleObj>
              </mc:Choice>
              <mc:Fallback>
                <p:oleObj name="" r:id="rId1" imgW="3345180" imgH="2491740" progId="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188913"/>
                        <a:ext cx="7561262" cy="562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3729" name="图片 1699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0110" y="0"/>
            <a:ext cx="5795963" cy="33861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3730" name="对象 169991"/>
          <p:cNvGraphicFramePr/>
          <p:nvPr/>
        </p:nvGraphicFramePr>
        <p:xfrm>
          <a:off x="4427538" y="3346450"/>
          <a:ext cx="4716462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2" imgW="3345180" imgH="2491740" progId="">
                  <p:embed/>
                </p:oleObj>
              </mc:Choice>
              <mc:Fallback>
                <p:oleObj name="" r:id="rId2" imgW="3345180" imgH="2491740" progId="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27538" y="3346450"/>
                        <a:ext cx="4716462" cy="351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6" name="Object 4"/>
          <p:cNvGraphicFramePr>
            <a:graphicFrameLocks noChangeAspect="1"/>
          </p:cNvGraphicFramePr>
          <p:nvPr/>
        </p:nvGraphicFramePr>
        <p:xfrm>
          <a:off x="0" y="3213100"/>
          <a:ext cx="3994785" cy="326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4" imgW="3149600" imgH="2679700" progId="MSDraw">
                  <p:embed/>
                </p:oleObj>
              </mc:Choice>
              <mc:Fallback>
                <p:oleObj name="" r:id="rId4" imgW="3149600" imgH="2679700" progId="MSDraw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3213100"/>
                        <a:ext cx="3994785" cy="32626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6195" y="6397625"/>
            <a:ext cx="4224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sym typeface="+mn-ea"/>
              </a:rPr>
              <a:t> </a:t>
            </a:r>
            <a:r>
              <a:rPr lang="en-US" altLang="zh-CN" sz="1800" b="1" dirty="0">
                <a:sym typeface="+mn-ea"/>
              </a:rPr>
              <a:t>LP</a:t>
            </a:r>
            <a:r>
              <a:rPr lang="en-US" altLang="zh-CN" sz="1800" b="1" baseline="-16000" dirty="0">
                <a:sym typeface="+mn-ea"/>
              </a:rPr>
              <a:t>01</a:t>
            </a:r>
            <a:r>
              <a:rPr lang="zh-CN" altLang="en-US" sz="1800" b="1" dirty="0">
                <a:sym typeface="+mn-ea"/>
              </a:rPr>
              <a:t>模电力线和磁力线在光纤中的分布</a:t>
            </a:r>
            <a:r>
              <a:rPr lang="zh-CN" altLang="en-US" b="1" dirty="0"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ransition>
    <p:dissolv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文本框 51203"/>
          <p:cNvSpPr txBox="1"/>
          <p:nvPr/>
        </p:nvSpPr>
        <p:spPr>
          <a:xfrm>
            <a:off x="381000" y="152400"/>
            <a:ext cx="8534400" cy="35972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spcBef>
                <a:spcPct val="30000"/>
              </a:spcBef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en-US" sz="2400" b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单模光纤的模式特性</a:t>
            </a:r>
            <a:endParaRPr lang="en-US" altLang="en-US" sz="2400" b="1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en-US" sz="2400" b="1" u="sng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单模条件和截止波长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从图6.8和表6.1可以看到，传输模式数目随V值的增加而增多。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当V值减小时，不断发生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模式截止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 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模式数目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逐渐减少。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特别值得注意的是当V&lt;2.405时，只有HE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(LP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)一个模式存在，其余模式全部截止。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HE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称为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基模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，由两个偏振态简并而成。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30000"/>
              </a:spcBef>
            </a:pP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由此得到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单模传输条件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    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75" name="文本框 51209"/>
          <p:cNvSpPr txBox="1"/>
          <p:nvPr/>
        </p:nvSpPr>
        <p:spPr>
          <a:xfrm>
            <a:off x="76200" y="4572000"/>
            <a:ext cx="8991600" cy="13087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由式(6.36)可以看到，对于给定的光纤(n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、n</a:t>
            </a:r>
            <a:r>
              <a:rPr lang="en-US" altLang="en-US" sz="2400" baseline="-250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和a确定)，存在一个</a:t>
            </a:r>
            <a:r>
              <a:rPr lang="en-US" altLang="en-US" sz="2400" b="1" noProof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临界波长λc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，当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c时，是多模传输，当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r>
              <a:rPr lang="en-US" altLang="en-US" sz="2400" i="1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c时，是单模传输，这个临界波长λc称为</a:t>
            </a:r>
            <a:r>
              <a:rPr lang="en-US" altLang="en-US" sz="2400" b="1" noProof="1" dirty="0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截止波长</a:t>
            </a:r>
            <a:r>
              <a:rPr lang="en-US" altLang="en-US" sz="2400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en-US" sz="2400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5779" name="组合 51211"/>
          <p:cNvGrpSpPr/>
          <p:nvPr/>
        </p:nvGrpSpPr>
        <p:grpSpPr>
          <a:xfrm>
            <a:off x="2173288" y="3865563"/>
            <a:ext cx="5827712" cy="782637"/>
            <a:chOff x="0" y="0"/>
            <a:chExt cx="3671" cy="493"/>
          </a:xfrm>
        </p:grpSpPr>
        <p:graphicFrame>
          <p:nvGraphicFramePr>
            <p:cNvPr id="75780" name="对象 79876"/>
            <p:cNvGraphicFramePr/>
            <p:nvPr/>
          </p:nvGraphicFramePr>
          <p:xfrm>
            <a:off x="0" y="0"/>
            <a:ext cx="2066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" imgW="1650365" imgH="393700" progId="Equation.3">
                    <p:embed/>
                  </p:oleObj>
                </mc:Choice>
                <mc:Fallback>
                  <p:oleObj name="" r:id="rId1" imgW="1650365" imgH="3937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066" cy="4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81" name="文本框 51210"/>
            <p:cNvSpPr txBox="1"/>
            <p:nvPr/>
          </p:nvSpPr>
          <p:spPr>
            <a:xfrm>
              <a:off x="2951" y="109"/>
              <a:ext cx="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(6.36)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dissolv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5" name="Group 58"/>
          <p:cNvGrpSpPr/>
          <p:nvPr/>
        </p:nvGrpSpPr>
        <p:grpSpPr>
          <a:xfrm>
            <a:off x="143510" y="2514600"/>
            <a:ext cx="8739188" cy="1857375"/>
            <a:chOff x="156" y="1272"/>
            <a:chExt cx="5505" cy="1170"/>
          </a:xfrm>
        </p:grpSpPr>
        <p:sp>
          <p:nvSpPr>
            <p:cNvPr id="26626" name="Text Box 2"/>
            <p:cNvSpPr txBox="1"/>
            <p:nvPr/>
          </p:nvSpPr>
          <p:spPr>
            <a:xfrm>
              <a:off x="372" y="2027"/>
              <a:ext cx="51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Arial Black" panose="020B0A04020102020204" pitchFamily="34" charset="0"/>
                  <a:ea typeface="黑体" panose="02010609060101010101" pitchFamily="1" charset="-122"/>
                </a:rPr>
                <a:t>光源</a:t>
              </a:r>
              <a:endParaRPr lang="zh-CN" altLang="en-US" sz="2000" b="1" dirty="0">
                <a:latin typeface="Arial Black" panose="020B0A04020102020204" pitchFamily="34" charset="0"/>
                <a:ea typeface="黑体" panose="02010609060101010101" pitchFamily="1" charset="-122"/>
              </a:endParaRPr>
            </a:p>
          </p:txBody>
        </p:sp>
        <p:sp>
          <p:nvSpPr>
            <p:cNvPr id="240643" name="Text Box 3"/>
            <p:cNvSpPr txBox="1">
              <a:spLocks noChangeArrowheads="1"/>
            </p:cNvSpPr>
            <p:nvPr/>
          </p:nvSpPr>
          <p:spPr bwMode="auto">
            <a:xfrm>
              <a:off x="999" y="1777"/>
              <a:ext cx="672" cy="2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000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rPr>
                <a:t>调制器</a:t>
              </a:r>
              <a:endPara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sp>
          <p:nvSpPr>
            <p:cNvPr id="26628" name="Line 4"/>
            <p:cNvSpPr/>
            <p:nvPr/>
          </p:nvSpPr>
          <p:spPr>
            <a:xfrm>
              <a:off x="711" y="1902"/>
              <a:ext cx="288" cy="0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6629" name="Oval 5"/>
            <p:cNvSpPr/>
            <p:nvPr/>
          </p:nvSpPr>
          <p:spPr>
            <a:xfrm>
              <a:off x="498" y="1800"/>
              <a:ext cx="213" cy="204"/>
            </a:xfrm>
            <a:prstGeom prst="ellipse">
              <a:avLst/>
            </a:prstGeom>
            <a:solidFill>
              <a:srgbClr val="FF0000"/>
            </a:solidFill>
            <a:ln w="28575">
              <a:noFill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0" name="Line 6"/>
            <p:cNvSpPr/>
            <p:nvPr/>
          </p:nvSpPr>
          <p:spPr>
            <a:xfrm>
              <a:off x="504" y="1902"/>
              <a:ext cx="207" cy="0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31" name="Line 7"/>
            <p:cNvSpPr/>
            <p:nvPr/>
          </p:nvSpPr>
          <p:spPr>
            <a:xfrm>
              <a:off x="1302" y="1605"/>
              <a:ext cx="0" cy="195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32" name="Line 8"/>
            <p:cNvSpPr/>
            <p:nvPr/>
          </p:nvSpPr>
          <p:spPr>
            <a:xfrm>
              <a:off x="600" y="1605"/>
              <a:ext cx="0" cy="195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0649" name="Text Box 9"/>
            <p:cNvSpPr txBox="1">
              <a:spLocks noChangeArrowheads="1"/>
            </p:cNvSpPr>
            <p:nvPr/>
          </p:nvSpPr>
          <p:spPr bwMode="auto">
            <a:xfrm>
              <a:off x="156" y="1344"/>
              <a:ext cx="843" cy="2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000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rPr>
                <a:t>驱动电路</a:t>
              </a:r>
              <a:endPara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grpSp>
          <p:nvGrpSpPr>
            <p:cNvPr id="26634" name="Group 10"/>
            <p:cNvGrpSpPr/>
            <p:nvPr/>
          </p:nvGrpSpPr>
          <p:grpSpPr>
            <a:xfrm>
              <a:off x="1121" y="1437"/>
              <a:ext cx="465" cy="132"/>
              <a:chOff x="621" y="1656"/>
              <a:chExt cx="465" cy="132"/>
            </a:xfrm>
          </p:grpSpPr>
          <p:sp>
            <p:nvSpPr>
              <p:cNvPr id="26635" name="Line 11"/>
              <p:cNvSpPr/>
              <p:nvPr/>
            </p:nvSpPr>
            <p:spPr>
              <a:xfrm>
                <a:off x="621" y="1788"/>
                <a:ext cx="99" cy="0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6" name="Line 12"/>
              <p:cNvSpPr/>
              <p:nvPr/>
            </p:nvSpPr>
            <p:spPr>
              <a:xfrm flipV="1">
                <a:off x="720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7" name="Line 13"/>
              <p:cNvSpPr/>
              <p:nvPr/>
            </p:nvSpPr>
            <p:spPr>
              <a:xfrm>
                <a:off x="720" y="1656"/>
                <a:ext cx="90" cy="0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8" name="Line 14"/>
              <p:cNvSpPr/>
              <p:nvPr/>
            </p:nvSpPr>
            <p:spPr>
              <a:xfrm>
                <a:off x="810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9" name="Line 15"/>
              <p:cNvSpPr/>
              <p:nvPr/>
            </p:nvSpPr>
            <p:spPr>
              <a:xfrm>
                <a:off x="810" y="1788"/>
                <a:ext cx="87" cy="0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0" name="Line 16"/>
              <p:cNvSpPr/>
              <p:nvPr/>
            </p:nvSpPr>
            <p:spPr>
              <a:xfrm flipV="1">
                <a:off x="897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1" name="Line 17"/>
              <p:cNvSpPr/>
              <p:nvPr/>
            </p:nvSpPr>
            <p:spPr>
              <a:xfrm>
                <a:off x="897" y="1656"/>
                <a:ext cx="90" cy="0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2" name="Line 18"/>
              <p:cNvSpPr/>
              <p:nvPr/>
            </p:nvSpPr>
            <p:spPr>
              <a:xfrm>
                <a:off x="987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3" name="Line 19"/>
              <p:cNvSpPr/>
              <p:nvPr/>
            </p:nvSpPr>
            <p:spPr>
              <a:xfrm>
                <a:off x="987" y="1788"/>
                <a:ext cx="99" cy="0"/>
              </a:xfrm>
              <a:prstGeom prst="line">
                <a:avLst/>
              </a:prstGeom>
              <a:ln w="38100" cap="sq" cmpd="sng">
                <a:solidFill>
                  <a:srgbClr val="99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644" name="Line 20"/>
            <p:cNvSpPr/>
            <p:nvPr/>
          </p:nvSpPr>
          <p:spPr>
            <a:xfrm>
              <a:off x="1824" y="1295"/>
              <a:ext cx="0" cy="114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26645" name="Group 21"/>
            <p:cNvGrpSpPr/>
            <p:nvPr/>
          </p:nvGrpSpPr>
          <p:grpSpPr>
            <a:xfrm>
              <a:off x="5196" y="2126"/>
              <a:ext cx="465" cy="132"/>
              <a:chOff x="621" y="1656"/>
              <a:chExt cx="465" cy="132"/>
            </a:xfrm>
          </p:grpSpPr>
          <p:sp>
            <p:nvSpPr>
              <p:cNvPr id="26646" name="Line 22"/>
              <p:cNvSpPr/>
              <p:nvPr/>
            </p:nvSpPr>
            <p:spPr>
              <a:xfrm>
                <a:off x="621" y="1788"/>
                <a:ext cx="99" cy="0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7" name="Line 23"/>
              <p:cNvSpPr/>
              <p:nvPr/>
            </p:nvSpPr>
            <p:spPr>
              <a:xfrm flipV="1">
                <a:off x="720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8" name="Line 24"/>
              <p:cNvSpPr/>
              <p:nvPr/>
            </p:nvSpPr>
            <p:spPr>
              <a:xfrm>
                <a:off x="720" y="1656"/>
                <a:ext cx="90" cy="0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9" name="Line 25"/>
              <p:cNvSpPr/>
              <p:nvPr/>
            </p:nvSpPr>
            <p:spPr>
              <a:xfrm>
                <a:off x="810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0" name="Line 26"/>
              <p:cNvSpPr/>
              <p:nvPr/>
            </p:nvSpPr>
            <p:spPr>
              <a:xfrm>
                <a:off x="810" y="1788"/>
                <a:ext cx="87" cy="0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1" name="Line 27"/>
              <p:cNvSpPr/>
              <p:nvPr/>
            </p:nvSpPr>
            <p:spPr>
              <a:xfrm flipV="1">
                <a:off x="897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2" name="Line 28"/>
              <p:cNvSpPr/>
              <p:nvPr/>
            </p:nvSpPr>
            <p:spPr>
              <a:xfrm>
                <a:off x="897" y="1656"/>
                <a:ext cx="90" cy="0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3" name="Line 29"/>
              <p:cNvSpPr/>
              <p:nvPr/>
            </p:nvSpPr>
            <p:spPr>
              <a:xfrm>
                <a:off x="987" y="1656"/>
                <a:ext cx="0" cy="132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4" name="Line 30"/>
              <p:cNvSpPr/>
              <p:nvPr/>
            </p:nvSpPr>
            <p:spPr>
              <a:xfrm>
                <a:off x="987" y="1788"/>
                <a:ext cx="99" cy="0"/>
              </a:xfrm>
              <a:prstGeom prst="line">
                <a:avLst/>
              </a:prstGeom>
              <a:ln w="38100" cap="sq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655" name="AutoShape 31"/>
            <p:cNvSpPr/>
            <p:nvPr/>
          </p:nvSpPr>
          <p:spPr>
            <a:xfrm rot="5400000">
              <a:off x="3936" y="1689"/>
              <a:ext cx="354" cy="426"/>
            </a:xfrm>
            <a:prstGeom prst="triangle">
              <a:avLst>
                <a:gd name="adj" fmla="val 50000"/>
              </a:avLst>
            </a:prstGeom>
            <a:solidFill>
              <a:srgbClr val="9933FF"/>
            </a:solidFill>
            <a:ln w="28575">
              <a:noFill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56" name="Line 32"/>
            <p:cNvSpPr/>
            <p:nvPr/>
          </p:nvSpPr>
          <p:spPr>
            <a:xfrm>
              <a:off x="3900" y="1902"/>
              <a:ext cx="294" cy="0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7" name="Line 33"/>
            <p:cNvSpPr/>
            <p:nvPr/>
          </p:nvSpPr>
          <p:spPr>
            <a:xfrm>
              <a:off x="4326" y="1902"/>
              <a:ext cx="198" cy="0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8" name="Rectangle 34"/>
            <p:cNvSpPr/>
            <p:nvPr/>
          </p:nvSpPr>
          <p:spPr>
            <a:xfrm>
              <a:off x="4531" y="1789"/>
              <a:ext cx="599" cy="250"/>
            </a:xfrm>
            <a:prstGeom prst="rect">
              <a:avLst/>
            </a:prstGeom>
            <a:solidFill>
              <a:srgbClr val="CCFFCC"/>
            </a:solidFill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Arial Black" panose="020B0A04020102020204" pitchFamily="34" charset="0"/>
                  <a:ea typeface="黑体" panose="02010609060101010101" pitchFamily="1" charset="-122"/>
                </a:rPr>
                <a:t>放大器</a:t>
              </a:r>
              <a:endParaRPr lang="zh-CN" altLang="en-US" sz="2000" b="1" dirty="0">
                <a:latin typeface="Arial Black" panose="020B0A04020102020204" pitchFamily="34" charset="0"/>
                <a:ea typeface="黑体" panose="02010609060101010101" pitchFamily="1" charset="-122"/>
              </a:endParaRPr>
            </a:p>
          </p:txBody>
        </p:sp>
        <p:sp>
          <p:nvSpPr>
            <p:cNvPr id="26659" name="Text Box 35"/>
            <p:cNvSpPr txBox="1"/>
            <p:nvPr/>
          </p:nvSpPr>
          <p:spPr>
            <a:xfrm>
              <a:off x="3774" y="1335"/>
              <a:ext cx="750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Arial Black" panose="020B0A04020102020204" pitchFamily="34" charset="0"/>
                  <a:ea typeface="黑体" panose="02010609060101010101" pitchFamily="1" charset="-122"/>
                </a:rPr>
                <a:t>光电二极管</a:t>
              </a:r>
              <a:endParaRPr lang="zh-CN" altLang="en-US" sz="2000" b="1" dirty="0">
                <a:latin typeface="Arial Black" panose="020B0A04020102020204" pitchFamily="34" charset="0"/>
                <a:ea typeface="黑体" panose="02010609060101010101" pitchFamily="1" charset="-122"/>
              </a:endParaRPr>
            </a:p>
          </p:txBody>
        </p:sp>
        <p:sp>
          <p:nvSpPr>
            <p:cNvPr id="26660" name="Text Box 36"/>
            <p:cNvSpPr txBox="1"/>
            <p:nvPr/>
          </p:nvSpPr>
          <p:spPr>
            <a:xfrm>
              <a:off x="4524" y="2192"/>
              <a:ext cx="672" cy="250"/>
            </a:xfrm>
            <a:prstGeom prst="rect">
              <a:avLst/>
            </a:prstGeom>
            <a:solidFill>
              <a:srgbClr val="CCFFCC"/>
            </a:solidFill>
            <a:ln w="2857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Arial Black" panose="020B0A04020102020204" pitchFamily="34" charset="0"/>
                  <a:ea typeface="黑体" panose="02010609060101010101" pitchFamily="1" charset="-122"/>
                </a:rPr>
                <a:t>判决器</a:t>
              </a:r>
              <a:endParaRPr lang="zh-CN" altLang="en-US" sz="2000" b="1" dirty="0">
                <a:latin typeface="Arial Black" panose="020B0A04020102020204" pitchFamily="34" charset="0"/>
                <a:ea typeface="黑体" panose="02010609060101010101" pitchFamily="1" charset="-122"/>
              </a:endParaRPr>
            </a:p>
          </p:txBody>
        </p:sp>
        <p:sp>
          <p:nvSpPr>
            <p:cNvPr id="26661" name="Line 37"/>
            <p:cNvSpPr/>
            <p:nvPr/>
          </p:nvSpPr>
          <p:spPr>
            <a:xfrm>
              <a:off x="4794" y="2039"/>
              <a:ext cx="0" cy="153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62" name="Line 38"/>
            <p:cNvSpPr/>
            <p:nvPr/>
          </p:nvSpPr>
          <p:spPr>
            <a:xfrm>
              <a:off x="5196" y="2323"/>
              <a:ext cx="300" cy="0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63" name="Line 39"/>
            <p:cNvSpPr/>
            <p:nvPr/>
          </p:nvSpPr>
          <p:spPr>
            <a:xfrm flipH="1">
              <a:off x="3780" y="1272"/>
              <a:ext cx="0" cy="11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26664" name="Group 40"/>
            <p:cNvGrpSpPr/>
            <p:nvPr/>
          </p:nvGrpSpPr>
          <p:grpSpPr>
            <a:xfrm>
              <a:off x="1677" y="1504"/>
              <a:ext cx="2223" cy="688"/>
              <a:chOff x="1677" y="1504"/>
              <a:chExt cx="2223" cy="688"/>
            </a:xfrm>
          </p:grpSpPr>
          <p:sp>
            <p:nvSpPr>
              <p:cNvPr id="26665" name="Oval 41"/>
              <p:cNvSpPr/>
              <p:nvPr/>
            </p:nvSpPr>
            <p:spPr>
              <a:xfrm>
                <a:off x="1956" y="1585"/>
                <a:ext cx="168" cy="297"/>
              </a:xfrm>
              <a:prstGeom prst="ellipse">
                <a:avLst/>
              </a:prstGeom>
              <a:noFill/>
              <a:ln w="28575" cap="sq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66" name="Oval 42"/>
              <p:cNvSpPr/>
              <p:nvPr/>
            </p:nvSpPr>
            <p:spPr>
              <a:xfrm>
                <a:off x="3432" y="1605"/>
                <a:ext cx="168" cy="297"/>
              </a:xfrm>
              <a:prstGeom prst="ellipse">
                <a:avLst/>
              </a:prstGeom>
              <a:noFill/>
              <a:ln w="28575" cap="sq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667" name="Group 43"/>
              <p:cNvGrpSpPr/>
              <p:nvPr/>
            </p:nvGrpSpPr>
            <p:grpSpPr>
              <a:xfrm>
                <a:off x="1677" y="1504"/>
                <a:ext cx="2223" cy="688"/>
                <a:chOff x="1677" y="1504"/>
                <a:chExt cx="2223" cy="688"/>
              </a:xfrm>
            </p:grpSpPr>
            <p:sp>
              <p:nvSpPr>
                <p:cNvPr id="26668" name="Line 44"/>
                <p:cNvSpPr/>
                <p:nvPr/>
              </p:nvSpPr>
              <p:spPr>
                <a:xfrm>
                  <a:off x="1677" y="1902"/>
                  <a:ext cx="2223" cy="0"/>
                </a:xfrm>
                <a:prstGeom prst="line">
                  <a:avLst/>
                </a:prstGeom>
                <a:ln w="28575" cap="sq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69" name="Oval 45"/>
                <p:cNvSpPr/>
                <p:nvPr/>
              </p:nvSpPr>
              <p:spPr>
                <a:xfrm>
                  <a:off x="2004" y="1585"/>
                  <a:ext cx="168" cy="297"/>
                </a:xfrm>
                <a:prstGeom prst="ellipse">
                  <a:avLst/>
                </a:prstGeom>
                <a:noFill/>
                <a:ln w="28575" cap="sq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068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875" y="1922"/>
                  <a:ext cx="49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8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R="0" algn="ctr" defTabSz="914400">
                    <a:spcBef>
                      <a:spcPct val="50000"/>
                    </a:spcBef>
                    <a:buClrTx/>
                    <a:buSzTx/>
                    <a:buFontTx/>
                    <a:defRPr/>
                  </a:pPr>
                  <a:r>
                    <a:rPr kumimoji="1" lang="zh-CN" altLang="en-US" sz="2000" b="1" kern="1200" cap="none" spc="0" normalizeH="0" baseline="0" noProof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 Black" panose="020B0A04020102020204" pitchFamily="34" charset="0"/>
                      <a:ea typeface="黑体" panose="02010609060101010101" pitchFamily="1" charset="-122"/>
                      <a:cs typeface="+mn-cs"/>
                    </a:rPr>
                    <a:t>光纤</a:t>
                  </a:r>
                  <a:endParaRPr kumimoji="1" lang="zh-CN" altLang="en-US" sz="2000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 Black" panose="020B0A04020102020204" pitchFamily="34" charset="0"/>
                    <a:ea typeface="黑体" panose="02010609060101010101" pitchFamily="1" charset="-122"/>
                    <a:cs typeface="+mn-cs"/>
                  </a:endParaRPr>
                </a:p>
              </p:txBody>
            </p:sp>
            <p:sp>
              <p:nvSpPr>
                <p:cNvPr id="26671" name="Oval 47"/>
                <p:cNvSpPr/>
                <p:nvPr/>
              </p:nvSpPr>
              <p:spPr>
                <a:xfrm>
                  <a:off x="3384" y="1605"/>
                  <a:ext cx="168" cy="297"/>
                </a:xfrm>
                <a:prstGeom prst="ellipse">
                  <a:avLst/>
                </a:prstGeom>
                <a:noFill/>
                <a:ln w="28575" cap="sq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0688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3303" y="1942"/>
                  <a:ext cx="49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8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R="0" algn="ctr" defTabSz="914400">
                    <a:spcBef>
                      <a:spcPct val="50000"/>
                    </a:spcBef>
                    <a:buClrTx/>
                    <a:buSzTx/>
                    <a:buFontTx/>
                    <a:defRPr/>
                  </a:pPr>
                  <a:r>
                    <a:rPr kumimoji="1" lang="zh-CN" altLang="en-US" sz="2000" b="1" kern="1200" cap="none" spc="0" normalizeH="0" baseline="0" noProof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 Black" panose="020B0A04020102020204" pitchFamily="34" charset="0"/>
                      <a:ea typeface="黑体" panose="02010609060101010101" pitchFamily="1" charset="-122"/>
                      <a:cs typeface="+mn-cs"/>
                    </a:rPr>
                    <a:t>光纤</a:t>
                  </a:r>
                  <a:endParaRPr kumimoji="1" lang="zh-CN" altLang="en-US" sz="2000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 Black" panose="020B0A04020102020204" pitchFamily="34" charset="0"/>
                    <a:ea typeface="黑体" panose="02010609060101010101" pitchFamily="1" charset="-122"/>
                    <a:cs typeface="+mn-cs"/>
                  </a:endParaRPr>
                </a:p>
              </p:txBody>
            </p:sp>
            <p:sp>
              <p:nvSpPr>
                <p:cNvPr id="26673" name="AutoShape 49"/>
                <p:cNvSpPr/>
                <p:nvPr/>
              </p:nvSpPr>
              <p:spPr>
                <a:xfrm rot="5400000">
                  <a:off x="2694" y="1738"/>
                  <a:ext cx="295" cy="3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 w="28575">
                  <a:noFill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069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494" y="1504"/>
                  <a:ext cx="72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8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R="0" algn="ctr" defTabSz="914400">
                    <a:spcBef>
                      <a:spcPct val="50000"/>
                    </a:spcBef>
                    <a:buClrTx/>
                    <a:buSzTx/>
                    <a:buFontTx/>
                    <a:defRPr/>
                  </a:pPr>
                  <a:r>
                    <a:rPr kumimoji="1" lang="zh-CN" altLang="en-US" sz="2000" b="1" kern="1200" cap="none" spc="0" normalizeH="0" baseline="0" noProof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 Black" panose="020B0A04020102020204" pitchFamily="34" charset="0"/>
                      <a:ea typeface="黑体" panose="02010609060101010101" pitchFamily="1" charset="-122"/>
                      <a:cs typeface="+mn-cs"/>
                    </a:rPr>
                    <a:t>中继器</a:t>
                  </a:r>
                  <a:endParaRPr kumimoji="1" lang="zh-CN" altLang="en-US" sz="2000" b="1" kern="1200" cap="none" spc="0" normalizeH="0" baseline="0" noProof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 Black" panose="020B0A04020102020204" pitchFamily="34" charset="0"/>
                    <a:ea typeface="黑体" panose="02010609060101010101" pitchFamily="1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240697" name="AutoShape 57"/>
          <p:cNvSpPr>
            <a:spLocks noChangeArrowheads="1"/>
          </p:cNvSpPr>
          <p:nvPr/>
        </p:nvSpPr>
        <p:spPr bwMode="auto">
          <a:xfrm>
            <a:off x="3352800" y="908050"/>
            <a:ext cx="2947988" cy="1530350"/>
          </a:xfrm>
          <a:prstGeom prst="irregularSeal1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1" charset="-122"/>
                <a:cs typeface="+mn-cs"/>
              </a:rPr>
              <a:t>光  纤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0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0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0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0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97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683895" y="1340485"/>
            <a:ext cx="7801610" cy="504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 typeface="Webdings" panose="05030102010509060703" pitchFamily="18" charset="2"/>
              <a:buChar char="&lt;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光纤性能是有限制的，随着信道数据率和传输距离的增加，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光纤不再是一个透明管道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.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 typeface="Webdings" panose="05030102010509060703" pitchFamily="18" charset="2"/>
              <a:buChar char="&lt;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传输特性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Char char="-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损耗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(dB/km)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，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直接影响中继距离；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Char char="-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色散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(ps/nm.km)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，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将引起光脉冲展宽和码间串扰，最终影响通信距离和容量；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Char char="-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非线性效应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Char char="·"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Char char="·"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990600" y="457200"/>
            <a:ext cx="7543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光纤的传输性能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914400" y="4876800"/>
            <a:ext cx="7467600" cy="885825"/>
          </a:xfrm>
          <a:prstGeom prst="rect">
            <a:avLst/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FF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6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为维持误码率不变，需提高接收功率，所需增加相应的功率称为功率代价。（</a:t>
            </a:r>
            <a:r>
              <a:rPr kumimoji="1" lang="en-US" altLang="zh-CN" sz="26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Power Penalty</a:t>
            </a:r>
            <a:r>
              <a:rPr kumimoji="1" lang="zh-CN" altLang="en-US" sz="26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）</a:t>
            </a:r>
            <a:endParaRPr kumimoji="1" lang="zh-CN" altLang="en-US" sz="26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3429000" y="582613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3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57200" y="2514600"/>
            <a:ext cx="1909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损耗定义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172200" y="4876800"/>
            <a:ext cx="243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P</a:t>
            </a:r>
            <a:r>
              <a:rPr kumimoji="1" lang="en-US" altLang="zh-CN" sz="2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OUT</a:t>
            </a: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--</a:t>
            </a:r>
            <a:r>
              <a: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出纤光功率 </a:t>
            </a: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P</a:t>
            </a:r>
            <a:r>
              <a:rPr kumimoji="1" lang="en-US" altLang="zh-CN" sz="2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in</a:t>
            </a: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--</a:t>
            </a:r>
            <a:r>
              <a: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入纤光功率</a:t>
            </a:r>
            <a:endParaRPr kumimoji="1" lang="zh-CN" altLang="en-US" sz="2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362200" y="381000"/>
            <a:ext cx="46275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7.2  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光纤的损耗特性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1066800" y="1295400"/>
            <a:ext cx="7620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光纤损耗是通信距离的固有限制，在很大程度上决定着传输系统的中继距离，损耗的降低依赖于工艺的提高和对石英材料的研究。</a:t>
            </a:r>
            <a:endParaRPr kumimoji="1" lang="zh-CN" altLang="en-US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381000" y="3124200"/>
            <a:ext cx="48768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若</a:t>
            </a: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P</a:t>
            </a:r>
            <a:r>
              <a:rPr kumimoji="1" lang="en-US" altLang="zh-CN" sz="2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in</a:t>
            </a:r>
            <a:r>
              <a: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是入射光纤的功率，则传输功率</a:t>
            </a: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P</a:t>
            </a:r>
            <a:r>
              <a:rPr kumimoji="1" lang="en-US" altLang="zh-CN" sz="2000" b="1" i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o</a:t>
            </a:r>
            <a:r>
              <a: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为：</a:t>
            </a:r>
            <a:endParaRPr kumimoji="1" lang="zh-CN" altLang="en-US" sz="2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aphicFrame>
        <p:nvGraphicFramePr>
          <p:cNvPr id="33799" name="Object 11"/>
          <p:cNvGraphicFramePr>
            <a:graphicFrameLocks noChangeAspect="1"/>
          </p:cNvGraphicFramePr>
          <p:nvPr/>
        </p:nvGraphicFramePr>
        <p:xfrm>
          <a:off x="5175250" y="2895600"/>
          <a:ext cx="3670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181100" imgH="228600" progId="Equation.3">
                  <p:embed/>
                </p:oleObj>
              </mc:Choice>
              <mc:Fallback>
                <p:oleObj name="" r:id="rId1" imgW="11811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75250" y="2895600"/>
                        <a:ext cx="3670300" cy="762000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533400" y="3810000"/>
            <a:ext cx="7924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这里</a:t>
            </a:r>
            <a:r>
              <a: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</a:t>
            </a:r>
            <a:r>
              <a: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代表光纤损耗，</a:t>
            </a:r>
            <a:r>
              <a:rPr kumimoji="1" lang="en-US" altLang="zh-CN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L</a:t>
            </a:r>
            <a:r>
              <a: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是光纤长度，习惯上光纤的损耗通过下式用</a:t>
            </a:r>
            <a:r>
              <a:rPr kumimoji="1" lang="en-US" altLang="zh-CN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dB/km</a:t>
            </a:r>
            <a:r>
              <a:rPr kumimoji="1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来表示：</a:t>
            </a:r>
            <a:endParaRPr kumimoji="1" lang="zh-CN" altLang="en-US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aphicFrame>
        <p:nvGraphicFramePr>
          <p:cNvPr id="33801" name="Object 13"/>
          <p:cNvGraphicFramePr>
            <a:graphicFrameLocks noChangeAspect="1"/>
          </p:cNvGraphicFramePr>
          <p:nvPr/>
        </p:nvGraphicFramePr>
        <p:xfrm>
          <a:off x="962025" y="4718050"/>
          <a:ext cx="44735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095500" imgH="508000" progId="Equation.DSMT4">
                  <p:embed/>
                </p:oleObj>
              </mc:Choice>
              <mc:Fallback>
                <p:oleObj name="" r:id="rId3" imgW="2095500" imgH="508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2025" y="4718050"/>
                        <a:ext cx="4473575" cy="1182688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Freeform 1027"/>
          <p:cNvSpPr/>
          <p:nvPr/>
        </p:nvSpPr>
        <p:spPr>
          <a:xfrm>
            <a:off x="1082675" y="1827213"/>
            <a:ext cx="968375" cy="12112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01" h="625">
                <a:moveTo>
                  <a:pt x="0" y="0"/>
                </a:moveTo>
                <a:cubicBezTo>
                  <a:pt x="36" y="63"/>
                  <a:pt x="158" y="292"/>
                  <a:pt x="214" y="378"/>
                </a:cubicBezTo>
                <a:cubicBezTo>
                  <a:pt x="270" y="464"/>
                  <a:pt x="306" y="499"/>
                  <a:pt x="337" y="518"/>
                </a:cubicBezTo>
                <a:cubicBezTo>
                  <a:pt x="368" y="537"/>
                  <a:pt x="383" y="496"/>
                  <a:pt x="403" y="493"/>
                </a:cubicBezTo>
                <a:cubicBezTo>
                  <a:pt x="423" y="490"/>
                  <a:pt x="444" y="479"/>
                  <a:pt x="460" y="501"/>
                </a:cubicBezTo>
                <a:cubicBezTo>
                  <a:pt x="476" y="523"/>
                  <a:pt x="493" y="599"/>
                  <a:pt x="501" y="625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42" name="Freeform 1028"/>
          <p:cNvSpPr/>
          <p:nvPr/>
        </p:nvSpPr>
        <p:spPr>
          <a:xfrm>
            <a:off x="2051050" y="2973388"/>
            <a:ext cx="1003300" cy="1144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18" h="591">
                <a:moveTo>
                  <a:pt x="0" y="0"/>
                </a:moveTo>
                <a:cubicBezTo>
                  <a:pt x="7" y="20"/>
                  <a:pt x="29" y="83"/>
                  <a:pt x="50" y="131"/>
                </a:cubicBezTo>
                <a:cubicBezTo>
                  <a:pt x="71" y="179"/>
                  <a:pt x="102" y="247"/>
                  <a:pt x="124" y="287"/>
                </a:cubicBezTo>
                <a:cubicBezTo>
                  <a:pt x="146" y="327"/>
                  <a:pt x="154" y="334"/>
                  <a:pt x="181" y="370"/>
                </a:cubicBezTo>
                <a:cubicBezTo>
                  <a:pt x="208" y="406"/>
                  <a:pt x="232" y="464"/>
                  <a:pt x="288" y="501"/>
                </a:cubicBezTo>
                <a:cubicBezTo>
                  <a:pt x="344" y="538"/>
                  <a:pt x="470" y="572"/>
                  <a:pt x="518" y="591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43" name="Freeform 1029"/>
          <p:cNvSpPr/>
          <p:nvPr/>
        </p:nvSpPr>
        <p:spPr>
          <a:xfrm>
            <a:off x="3054350" y="1463675"/>
            <a:ext cx="5124450" cy="34877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647" h="1801">
                <a:moveTo>
                  <a:pt x="0" y="1371"/>
                </a:moveTo>
                <a:cubicBezTo>
                  <a:pt x="12" y="1366"/>
                  <a:pt x="51" y="1343"/>
                  <a:pt x="74" y="1339"/>
                </a:cubicBezTo>
                <a:cubicBezTo>
                  <a:pt x="97" y="1335"/>
                  <a:pt x="118" y="1333"/>
                  <a:pt x="140" y="1347"/>
                </a:cubicBezTo>
                <a:cubicBezTo>
                  <a:pt x="162" y="1361"/>
                  <a:pt x="187" y="1403"/>
                  <a:pt x="206" y="1421"/>
                </a:cubicBezTo>
                <a:cubicBezTo>
                  <a:pt x="225" y="1439"/>
                  <a:pt x="232" y="1447"/>
                  <a:pt x="255" y="1454"/>
                </a:cubicBezTo>
                <a:cubicBezTo>
                  <a:pt x="278" y="1461"/>
                  <a:pt x="322" y="1465"/>
                  <a:pt x="345" y="1462"/>
                </a:cubicBezTo>
                <a:cubicBezTo>
                  <a:pt x="368" y="1459"/>
                  <a:pt x="379" y="1459"/>
                  <a:pt x="395" y="1437"/>
                </a:cubicBezTo>
                <a:cubicBezTo>
                  <a:pt x="411" y="1415"/>
                  <a:pt x="428" y="1448"/>
                  <a:pt x="444" y="1330"/>
                </a:cubicBezTo>
                <a:cubicBezTo>
                  <a:pt x="460" y="1212"/>
                  <a:pt x="482" y="945"/>
                  <a:pt x="493" y="730"/>
                </a:cubicBezTo>
                <a:cubicBezTo>
                  <a:pt x="504" y="515"/>
                  <a:pt x="495" y="0"/>
                  <a:pt x="510" y="40"/>
                </a:cubicBezTo>
                <a:cubicBezTo>
                  <a:pt x="525" y="80"/>
                  <a:pt x="548" y="732"/>
                  <a:pt x="584" y="969"/>
                </a:cubicBezTo>
                <a:cubicBezTo>
                  <a:pt x="620" y="1206"/>
                  <a:pt x="683" y="1356"/>
                  <a:pt x="723" y="1462"/>
                </a:cubicBezTo>
                <a:cubicBezTo>
                  <a:pt x="763" y="1568"/>
                  <a:pt x="785" y="1582"/>
                  <a:pt x="822" y="1602"/>
                </a:cubicBezTo>
                <a:cubicBezTo>
                  <a:pt x="859" y="1622"/>
                  <a:pt x="911" y="1573"/>
                  <a:pt x="945" y="1585"/>
                </a:cubicBezTo>
                <a:cubicBezTo>
                  <a:pt x="979" y="1597"/>
                  <a:pt x="994" y="1651"/>
                  <a:pt x="1028" y="1676"/>
                </a:cubicBezTo>
                <a:cubicBezTo>
                  <a:pt x="1062" y="1701"/>
                  <a:pt x="1103" y="1718"/>
                  <a:pt x="1151" y="1733"/>
                </a:cubicBezTo>
                <a:cubicBezTo>
                  <a:pt x="1199" y="1748"/>
                  <a:pt x="1266" y="1759"/>
                  <a:pt x="1315" y="1766"/>
                </a:cubicBezTo>
                <a:cubicBezTo>
                  <a:pt x="1364" y="1773"/>
                  <a:pt x="1413" y="1771"/>
                  <a:pt x="1447" y="1774"/>
                </a:cubicBezTo>
                <a:cubicBezTo>
                  <a:pt x="1481" y="1777"/>
                  <a:pt x="1487" y="1782"/>
                  <a:pt x="1521" y="1782"/>
                </a:cubicBezTo>
                <a:cubicBezTo>
                  <a:pt x="1555" y="1782"/>
                  <a:pt x="1601" y="1801"/>
                  <a:pt x="1652" y="1774"/>
                </a:cubicBezTo>
                <a:cubicBezTo>
                  <a:pt x="1703" y="1747"/>
                  <a:pt x="1773" y="1669"/>
                  <a:pt x="1825" y="1618"/>
                </a:cubicBezTo>
                <a:cubicBezTo>
                  <a:pt x="1877" y="1567"/>
                  <a:pt x="1927" y="1506"/>
                  <a:pt x="1964" y="1470"/>
                </a:cubicBezTo>
                <a:cubicBezTo>
                  <a:pt x="2001" y="1434"/>
                  <a:pt x="2005" y="1459"/>
                  <a:pt x="2047" y="1404"/>
                </a:cubicBezTo>
                <a:cubicBezTo>
                  <a:pt x="2089" y="1349"/>
                  <a:pt x="2163" y="1233"/>
                  <a:pt x="2219" y="1141"/>
                </a:cubicBezTo>
                <a:cubicBezTo>
                  <a:pt x="2275" y="1049"/>
                  <a:pt x="2313" y="992"/>
                  <a:pt x="2384" y="854"/>
                </a:cubicBezTo>
                <a:cubicBezTo>
                  <a:pt x="2455" y="716"/>
                  <a:pt x="2592" y="424"/>
                  <a:pt x="2647" y="311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44" name="Line 1030"/>
          <p:cNvSpPr/>
          <p:nvPr/>
        </p:nvSpPr>
        <p:spPr>
          <a:xfrm>
            <a:off x="1093788" y="1281113"/>
            <a:ext cx="0" cy="39036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grpSp>
        <p:nvGrpSpPr>
          <p:cNvPr id="244806" name="Group 1094"/>
          <p:cNvGrpSpPr/>
          <p:nvPr/>
        </p:nvGrpSpPr>
        <p:grpSpPr>
          <a:xfrm>
            <a:off x="2581275" y="2992438"/>
            <a:ext cx="1412875" cy="2192337"/>
            <a:chOff x="1604" y="2326"/>
            <a:chExt cx="890" cy="1381"/>
          </a:xfrm>
        </p:grpSpPr>
        <p:grpSp>
          <p:nvGrpSpPr>
            <p:cNvPr id="35846" name="Group 1031"/>
            <p:cNvGrpSpPr/>
            <p:nvPr/>
          </p:nvGrpSpPr>
          <p:grpSpPr>
            <a:xfrm>
              <a:off x="1837" y="3005"/>
              <a:ext cx="586" cy="702"/>
              <a:chOff x="1344" y="1536"/>
              <a:chExt cx="480" cy="480"/>
            </a:xfrm>
          </p:grpSpPr>
          <p:sp>
            <p:nvSpPr>
              <p:cNvPr id="35847" name="Line 1032"/>
              <p:cNvSpPr/>
              <p:nvPr/>
            </p:nvSpPr>
            <p:spPr>
              <a:xfrm>
                <a:off x="1344" y="153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48" name="Line 1033"/>
              <p:cNvSpPr/>
              <p:nvPr/>
            </p:nvSpPr>
            <p:spPr>
              <a:xfrm>
                <a:off x="1824" y="163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49" name="Line 1034"/>
              <p:cNvSpPr/>
              <p:nvPr/>
            </p:nvSpPr>
            <p:spPr>
              <a:xfrm flipH="1">
                <a:off x="1344" y="1584"/>
                <a:ext cx="192" cy="96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50" name="Line 1035"/>
              <p:cNvSpPr/>
              <p:nvPr/>
            </p:nvSpPr>
            <p:spPr>
              <a:xfrm flipH="1">
                <a:off x="1344" y="1632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51" name="Line 1036"/>
              <p:cNvSpPr/>
              <p:nvPr/>
            </p:nvSpPr>
            <p:spPr>
              <a:xfrm flipH="1">
                <a:off x="1344" y="1632"/>
                <a:ext cx="336" cy="19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52" name="Line 1037"/>
              <p:cNvSpPr/>
              <p:nvPr/>
            </p:nvSpPr>
            <p:spPr>
              <a:xfrm flipH="1">
                <a:off x="1344" y="1680"/>
                <a:ext cx="384" cy="19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53" name="Line 1038"/>
              <p:cNvSpPr/>
              <p:nvPr/>
            </p:nvSpPr>
            <p:spPr>
              <a:xfrm flipH="1">
                <a:off x="1392" y="1680"/>
                <a:ext cx="432" cy="24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54" name="Line 1039"/>
              <p:cNvSpPr/>
              <p:nvPr/>
            </p:nvSpPr>
            <p:spPr>
              <a:xfrm flipH="1">
                <a:off x="1392" y="1776"/>
                <a:ext cx="432" cy="24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55" name="Line 1040"/>
              <p:cNvSpPr/>
              <p:nvPr/>
            </p:nvSpPr>
            <p:spPr>
              <a:xfrm flipH="1">
                <a:off x="1584" y="1872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44766" name="Text Box 1054"/>
            <p:cNvSpPr txBox="1">
              <a:spLocks noChangeArrowheads="1"/>
            </p:cNvSpPr>
            <p:nvPr/>
          </p:nvSpPr>
          <p:spPr bwMode="auto">
            <a:xfrm>
              <a:off x="1604" y="2326"/>
              <a:ext cx="8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buFontTx/>
                <a:defRPr/>
              </a:pPr>
              <a:r>
                <a:rPr kumimoji="1" lang="zh-CN" altLang="en-US" sz="1600" b="1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rPr>
                <a:t>第二传输窗口</a:t>
              </a:r>
              <a:endParaRPr kumimoji="1" lang="zh-CN" altLang="en-US" sz="1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sp>
          <p:nvSpPr>
            <p:cNvPr id="35857" name="Line 1056"/>
            <p:cNvSpPr/>
            <p:nvPr/>
          </p:nvSpPr>
          <p:spPr>
            <a:xfrm>
              <a:off x="2013" y="2536"/>
              <a:ext cx="0" cy="4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44805" name="Group 1093"/>
          <p:cNvGrpSpPr/>
          <p:nvPr/>
        </p:nvGrpSpPr>
        <p:grpSpPr>
          <a:xfrm>
            <a:off x="1185863" y="1801813"/>
            <a:ext cx="1841500" cy="3382962"/>
            <a:chOff x="725" y="1576"/>
            <a:chExt cx="1160" cy="2131"/>
          </a:xfrm>
        </p:grpSpPr>
        <p:sp>
          <p:nvSpPr>
            <p:cNvPr id="244767" name="Text Box 1055"/>
            <p:cNvSpPr txBox="1">
              <a:spLocks noChangeArrowheads="1"/>
            </p:cNvSpPr>
            <p:nvPr/>
          </p:nvSpPr>
          <p:spPr bwMode="auto">
            <a:xfrm>
              <a:off x="995" y="1576"/>
              <a:ext cx="8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buFontTx/>
                <a:defRPr/>
              </a:pPr>
              <a:r>
                <a:rPr kumimoji="1" lang="zh-CN" altLang="en-US" sz="1600" b="1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rPr>
                <a:t>第一传输窗口</a:t>
              </a:r>
              <a:endParaRPr kumimoji="1" lang="zh-CN" altLang="en-US" sz="1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grpSp>
          <p:nvGrpSpPr>
            <p:cNvPr id="35860" name="Group 1057"/>
            <p:cNvGrpSpPr/>
            <p:nvPr/>
          </p:nvGrpSpPr>
          <p:grpSpPr>
            <a:xfrm>
              <a:off x="725" y="1775"/>
              <a:ext cx="586" cy="1932"/>
              <a:chOff x="432" y="528"/>
              <a:chExt cx="480" cy="1488"/>
            </a:xfrm>
          </p:grpSpPr>
          <p:sp>
            <p:nvSpPr>
              <p:cNvPr id="35861" name="Line 1058"/>
              <p:cNvSpPr/>
              <p:nvPr/>
            </p:nvSpPr>
            <p:spPr>
              <a:xfrm>
                <a:off x="432" y="528"/>
                <a:ext cx="0" cy="1488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2" name="Line 1059"/>
              <p:cNvSpPr/>
              <p:nvPr/>
            </p:nvSpPr>
            <p:spPr>
              <a:xfrm>
                <a:off x="912" y="105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3" name="Line 1060"/>
              <p:cNvSpPr/>
              <p:nvPr/>
            </p:nvSpPr>
            <p:spPr>
              <a:xfrm flipH="1">
                <a:off x="432" y="936"/>
                <a:ext cx="192" cy="24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4" name="Line 1061"/>
              <p:cNvSpPr/>
              <p:nvPr/>
            </p:nvSpPr>
            <p:spPr>
              <a:xfrm flipH="1">
                <a:off x="432" y="912"/>
                <a:ext cx="336" cy="504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5" name="Line 1062"/>
              <p:cNvSpPr/>
              <p:nvPr/>
            </p:nvSpPr>
            <p:spPr>
              <a:xfrm flipH="1">
                <a:off x="432" y="960"/>
                <a:ext cx="432" cy="576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6" name="Line 1063"/>
              <p:cNvSpPr/>
              <p:nvPr/>
            </p:nvSpPr>
            <p:spPr>
              <a:xfrm flipH="1">
                <a:off x="432" y="1104"/>
                <a:ext cx="432" cy="60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7" name="Line 1064"/>
              <p:cNvSpPr/>
              <p:nvPr/>
            </p:nvSpPr>
            <p:spPr>
              <a:xfrm flipH="1">
                <a:off x="480" y="1176"/>
                <a:ext cx="432" cy="60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8" name="Line 1065"/>
              <p:cNvSpPr/>
              <p:nvPr/>
            </p:nvSpPr>
            <p:spPr>
              <a:xfrm flipH="1">
                <a:off x="480" y="1416"/>
                <a:ext cx="432" cy="60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69" name="Line 1066"/>
              <p:cNvSpPr/>
              <p:nvPr/>
            </p:nvSpPr>
            <p:spPr>
              <a:xfrm flipH="1">
                <a:off x="672" y="1656"/>
                <a:ext cx="240" cy="36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0" name="Line 1067"/>
              <p:cNvSpPr/>
              <p:nvPr/>
            </p:nvSpPr>
            <p:spPr>
              <a:xfrm flipH="1">
                <a:off x="432" y="624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1" name="Line 1068"/>
              <p:cNvSpPr/>
              <p:nvPr/>
            </p:nvSpPr>
            <p:spPr>
              <a:xfrm flipH="1">
                <a:off x="432" y="720"/>
                <a:ext cx="144" cy="19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2" name="Line 1069"/>
              <p:cNvSpPr/>
              <p:nvPr/>
            </p:nvSpPr>
            <p:spPr>
              <a:xfrm flipH="1">
                <a:off x="432" y="816"/>
                <a:ext cx="192" cy="19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3" name="Line 1070"/>
              <p:cNvSpPr/>
              <p:nvPr/>
            </p:nvSpPr>
            <p:spPr>
              <a:xfrm flipH="1">
                <a:off x="432" y="1344"/>
                <a:ext cx="480" cy="576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4" name="Line 1071"/>
              <p:cNvSpPr/>
              <p:nvPr/>
            </p:nvSpPr>
            <p:spPr>
              <a:xfrm flipH="1">
                <a:off x="576" y="1584"/>
                <a:ext cx="336" cy="43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5" name="Line 1072"/>
              <p:cNvSpPr/>
              <p:nvPr/>
            </p:nvSpPr>
            <p:spPr>
              <a:xfrm flipH="1">
                <a:off x="768" y="1872"/>
                <a:ext cx="144" cy="144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76" name="Line 1073"/>
              <p:cNvSpPr/>
              <p:nvPr/>
            </p:nvSpPr>
            <p:spPr>
              <a:xfrm flipH="1">
                <a:off x="624" y="528"/>
                <a:ext cx="144" cy="19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sp>
        <p:nvSpPr>
          <p:cNvPr id="244786" name="Text Box 1074"/>
          <p:cNvSpPr txBox="1">
            <a:spLocks noChangeArrowheads="1"/>
          </p:cNvSpPr>
          <p:nvPr/>
        </p:nvSpPr>
        <p:spPr bwMode="auto">
          <a:xfrm>
            <a:off x="3157538" y="5181600"/>
            <a:ext cx="723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en-US" altLang="zh-CN" sz="16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1300</a:t>
            </a:r>
            <a:endParaRPr kumimoji="1" lang="en-US" altLang="zh-CN" sz="1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44787" name="Text Box 1075"/>
          <p:cNvSpPr txBox="1">
            <a:spLocks noChangeArrowheads="1"/>
          </p:cNvSpPr>
          <p:nvPr/>
        </p:nvSpPr>
        <p:spPr bwMode="auto">
          <a:xfrm>
            <a:off x="5553075" y="5181600"/>
            <a:ext cx="723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en-US" altLang="zh-CN" sz="16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1550</a:t>
            </a:r>
            <a:endParaRPr kumimoji="1" lang="en-US" altLang="zh-CN" sz="1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44788" name="Text Box 1076"/>
          <p:cNvSpPr txBox="1">
            <a:spLocks noChangeArrowheads="1"/>
          </p:cNvSpPr>
          <p:nvPr/>
        </p:nvSpPr>
        <p:spPr bwMode="auto">
          <a:xfrm>
            <a:off x="1338263" y="5181600"/>
            <a:ext cx="588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en-US" altLang="zh-CN" sz="16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850</a:t>
            </a:r>
            <a:endParaRPr kumimoji="1" lang="en-US" altLang="zh-CN" sz="1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35880" name="Freeform 1077"/>
          <p:cNvSpPr/>
          <p:nvPr/>
        </p:nvSpPr>
        <p:spPr>
          <a:xfrm>
            <a:off x="1066800" y="2574925"/>
            <a:ext cx="5743575" cy="24685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967" h="1274">
                <a:moveTo>
                  <a:pt x="0" y="0"/>
                </a:moveTo>
                <a:cubicBezTo>
                  <a:pt x="129" y="129"/>
                  <a:pt x="520" y="583"/>
                  <a:pt x="782" y="772"/>
                </a:cubicBezTo>
                <a:cubicBezTo>
                  <a:pt x="1044" y="961"/>
                  <a:pt x="1313" y="1057"/>
                  <a:pt x="1570" y="1134"/>
                </a:cubicBezTo>
                <a:cubicBezTo>
                  <a:pt x="1827" y="1211"/>
                  <a:pt x="2093" y="1210"/>
                  <a:pt x="2326" y="1233"/>
                </a:cubicBezTo>
                <a:cubicBezTo>
                  <a:pt x="2559" y="1256"/>
                  <a:pt x="2834" y="1266"/>
                  <a:pt x="2967" y="1274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81" name="Freeform 1078"/>
          <p:cNvSpPr/>
          <p:nvPr/>
        </p:nvSpPr>
        <p:spPr>
          <a:xfrm>
            <a:off x="1066800" y="2303463"/>
            <a:ext cx="7181850" cy="280352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3710" h="1447">
                <a:moveTo>
                  <a:pt x="0" y="707"/>
                </a:moveTo>
                <a:cubicBezTo>
                  <a:pt x="157" y="803"/>
                  <a:pt x="694" y="1156"/>
                  <a:pt x="945" y="1274"/>
                </a:cubicBezTo>
                <a:cubicBezTo>
                  <a:pt x="1196" y="1392"/>
                  <a:pt x="1248" y="1388"/>
                  <a:pt x="1504" y="1414"/>
                </a:cubicBezTo>
                <a:cubicBezTo>
                  <a:pt x="1760" y="1440"/>
                  <a:pt x="2282" y="1434"/>
                  <a:pt x="2482" y="1431"/>
                </a:cubicBezTo>
                <a:cubicBezTo>
                  <a:pt x="2682" y="1428"/>
                  <a:pt x="2623" y="1447"/>
                  <a:pt x="2704" y="1398"/>
                </a:cubicBezTo>
                <a:cubicBezTo>
                  <a:pt x="2785" y="1349"/>
                  <a:pt x="2881" y="1229"/>
                  <a:pt x="2967" y="1135"/>
                </a:cubicBezTo>
                <a:cubicBezTo>
                  <a:pt x="3053" y="1041"/>
                  <a:pt x="3098" y="1020"/>
                  <a:pt x="3222" y="831"/>
                </a:cubicBezTo>
                <a:cubicBezTo>
                  <a:pt x="3346" y="642"/>
                  <a:pt x="3608" y="173"/>
                  <a:pt x="371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91" name="Text Box 1079"/>
          <p:cNvSpPr txBox="1">
            <a:spLocks noChangeArrowheads="1"/>
          </p:cNvSpPr>
          <p:nvPr/>
        </p:nvSpPr>
        <p:spPr bwMode="auto">
          <a:xfrm>
            <a:off x="1974850" y="4811713"/>
            <a:ext cx="1104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1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紫外吸收</a:t>
            </a:r>
            <a:endParaRPr kumimoji="1" lang="zh-CN" altLang="en-US" sz="16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35883" name="Line 1080"/>
          <p:cNvSpPr/>
          <p:nvPr/>
        </p:nvSpPr>
        <p:spPr>
          <a:xfrm flipV="1">
            <a:off x="2284413" y="4460875"/>
            <a:ext cx="0" cy="388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4793" name="Text Box 1081"/>
          <p:cNvSpPr txBox="1">
            <a:spLocks noChangeArrowheads="1"/>
          </p:cNvSpPr>
          <p:nvPr/>
        </p:nvSpPr>
        <p:spPr bwMode="auto">
          <a:xfrm>
            <a:off x="7502525" y="3654425"/>
            <a:ext cx="1104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1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红外吸收</a:t>
            </a:r>
            <a:endParaRPr kumimoji="1" lang="zh-CN" altLang="en-US" sz="18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35885" name="Line 1082"/>
          <p:cNvSpPr/>
          <p:nvPr/>
        </p:nvSpPr>
        <p:spPr>
          <a:xfrm flipH="1">
            <a:off x="7361238" y="3876675"/>
            <a:ext cx="2016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4795" name="Text Box 1083"/>
          <p:cNvSpPr txBox="1">
            <a:spLocks noChangeArrowheads="1"/>
          </p:cNvSpPr>
          <p:nvPr/>
        </p:nvSpPr>
        <p:spPr bwMode="auto">
          <a:xfrm>
            <a:off x="4319588" y="3783013"/>
            <a:ext cx="1104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1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瑞利散射</a:t>
            </a:r>
            <a:endParaRPr kumimoji="1" lang="zh-CN" altLang="en-US" sz="18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35887" name="Line 1084"/>
          <p:cNvSpPr/>
          <p:nvPr/>
        </p:nvSpPr>
        <p:spPr>
          <a:xfrm flipH="1">
            <a:off x="4246563" y="4135438"/>
            <a:ext cx="338137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4797" name="Text Box 1085"/>
          <p:cNvSpPr txBox="1">
            <a:spLocks noChangeArrowheads="1"/>
          </p:cNvSpPr>
          <p:nvPr/>
        </p:nvSpPr>
        <p:spPr bwMode="auto">
          <a:xfrm>
            <a:off x="679450" y="4730750"/>
            <a:ext cx="522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en-US" altLang="zh-CN" sz="16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0.2</a:t>
            </a:r>
            <a:endParaRPr kumimoji="1" lang="en-US" altLang="zh-CN" sz="1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44798" name="Text Box 1086"/>
          <p:cNvSpPr txBox="1">
            <a:spLocks noChangeArrowheads="1"/>
          </p:cNvSpPr>
          <p:nvPr/>
        </p:nvSpPr>
        <p:spPr bwMode="auto">
          <a:xfrm>
            <a:off x="679450" y="1751013"/>
            <a:ext cx="522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en-US" altLang="zh-CN" sz="16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2.5</a:t>
            </a:r>
            <a:endParaRPr kumimoji="1" lang="en-US" altLang="zh-CN" sz="1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44799" name="Text Box 1087"/>
          <p:cNvSpPr txBox="1">
            <a:spLocks noChangeArrowheads="1"/>
          </p:cNvSpPr>
          <p:nvPr/>
        </p:nvSpPr>
        <p:spPr bwMode="auto">
          <a:xfrm rot="-5400000">
            <a:off x="-7144" y="3078956"/>
            <a:ext cx="174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18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损 耗 </a:t>
            </a:r>
            <a:r>
              <a:rPr kumimoji="1" lang="en-US" altLang="zh-CN" sz="18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(dB/km)</a:t>
            </a:r>
            <a:endParaRPr kumimoji="1" lang="en-US" altLang="zh-CN" sz="1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44800" name="Text Box 1088"/>
          <p:cNvSpPr txBox="1">
            <a:spLocks noChangeArrowheads="1"/>
          </p:cNvSpPr>
          <p:nvPr/>
        </p:nvSpPr>
        <p:spPr bwMode="auto">
          <a:xfrm>
            <a:off x="3697288" y="5513388"/>
            <a:ext cx="1355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18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波 长 </a:t>
            </a:r>
            <a:r>
              <a:rPr kumimoji="1" lang="en-US" altLang="zh-CN" sz="18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(nm)</a:t>
            </a:r>
            <a:endParaRPr kumimoji="1" lang="en-US" altLang="zh-CN" sz="1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35892" name="Line 1089"/>
          <p:cNvSpPr/>
          <p:nvPr/>
        </p:nvSpPr>
        <p:spPr>
          <a:xfrm>
            <a:off x="1066800" y="5257800"/>
            <a:ext cx="75104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4802" name="Text Box 1090"/>
          <p:cNvSpPr txBox="1">
            <a:spLocks noChangeArrowheads="1"/>
          </p:cNvSpPr>
          <p:nvPr/>
        </p:nvSpPr>
        <p:spPr bwMode="auto">
          <a:xfrm>
            <a:off x="4030663" y="1654175"/>
            <a:ext cx="1716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en-US" altLang="zh-CN" sz="1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OH</a:t>
            </a:r>
            <a:r>
              <a:rPr kumimoji="1" lang="zh-CN" altLang="en-US" sz="1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离子吸收峰</a:t>
            </a:r>
            <a:endParaRPr kumimoji="1" lang="zh-CN" altLang="en-US" sz="18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44804" name="Text Box 1092"/>
          <p:cNvSpPr txBox="1">
            <a:spLocks noChangeArrowheads="1"/>
          </p:cNvSpPr>
          <p:nvPr/>
        </p:nvSpPr>
        <p:spPr bwMode="auto">
          <a:xfrm>
            <a:off x="2103438" y="488950"/>
            <a:ext cx="37512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40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itchFamily="49" charset="-122"/>
                <a:cs typeface="+mn-cs"/>
              </a:rPr>
              <a:t>光纤损耗谱特性</a:t>
            </a:r>
            <a:endParaRPr kumimoji="1" lang="zh-CN" altLang="en-US" sz="40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244808" name="Rectangle 1096"/>
          <p:cNvSpPr>
            <a:spLocks noChangeArrowheads="1"/>
          </p:cNvSpPr>
          <p:nvPr/>
        </p:nvSpPr>
        <p:spPr bwMode="auto">
          <a:xfrm>
            <a:off x="838200" y="6019800"/>
            <a:ext cx="670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损耗主要机理：材料吸收、瑞利散射和辐射损耗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1" charset="-122"/>
              <a:cs typeface="+mn-cs"/>
            </a:endParaRPr>
          </a:p>
        </p:txBody>
      </p:sp>
      <p:grpSp>
        <p:nvGrpSpPr>
          <p:cNvPr id="244812" name="Group 1100"/>
          <p:cNvGrpSpPr/>
          <p:nvPr/>
        </p:nvGrpSpPr>
        <p:grpSpPr>
          <a:xfrm>
            <a:off x="5246688" y="2063750"/>
            <a:ext cx="2273300" cy="3121025"/>
            <a:chOff x="3305" y="1300"/>
            <a:chExt cx="1432" cy="1966"/>
          </a:xfrm>
        </p:grpSpPr>
        <p:grpSp>
          <p:nvGrpSpPr>
            <p:cNvPr id="35897" name="Group 1095"/>
            <p:cNvGrpSpPr/>
            <p:nvPr/>
          </p:nvGrpSpPr>
          <p:grpSpPr>
            <a:xfrm>
              <a:off x="3305" y="2246"/>
              <a:ext cx="890" cy="1020"/>
              <a:chOff x="3283" y="2687"/>
              <a:chExt cx="890" cy="1020"/>
            </a:xfrm>
          </p:grpSpPr>
          <p:grpSp>
            <p:nvGrpSpPr>
              <p:cNvPr id="35898" name="Group 1041"/>
              <p:cNvGrpSpPr/>
              <p:nvPr/>
            </p:nvGrpSpPr>
            <p:grpSpPr>
              <a:xfrm>
                <a:off x="3300" y="3473"/>
                <a:ext cx="703" cy="234"/>
                <a:chOff x="2544" y="1920"/>
                <a:chExt cx="576" cy="96"/>
              </a:xfrm>
            </p:grpSpPr>
            <p:sp>
              <p:nvSpPr>
                <p:cNvPr id="35899" name="Line 1042"/>
                <p:cNvSpPr/>
                <p:nvPr/>
              </p:nvSpPr>
              <p:spPr>
                <a:xfrm>
                  <a:off x="2544" y="1920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0" name="Line 1043"/>
                <p:cNvSpPr/>
                <p:nvPr/>
              </p:nvSpPr>
              <p:spPr>
                <a:xfrm>
                  <a:off x="3120" y="2016"/>
                  <a:ext cx="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1" name="Line 1044"/>
                <p:cNvSpPr/>
                <p:nvPr/>
              </p:nvSpPr>
              <p:spPr>
                <a:xfrm>
                  <a:off x="3120" y="2016"/>
                  <a:ext cx="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2" name="Line 1045"/>
                <p:cNvSpPr/>
                <p:nvPr/>
              </p:nvSpPr>
              <p:spPr>
                <a:xfrm>
                  <a:off x="3120" y="1920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3" name="Line 1046"/>
                <p:cNvSpPr/>
                <p:nvPr/>
              </p:nvSpPr>
              <p:spPr>
                <a:xfrm flipH="1">
                  <a:off x="2544" y="1968"/>
                  <a:ext cx="48" cy="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4" name="Line 1047"/>
                <p:cNvSpPr/>
                <p:nvPr/>
              </p:nvSpPr>
              <p:spPr>
                <a:xfrm flipH="1">
                  <a:off x="2640" y="1968"/>
                  <a:ext cx="48" cy="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5" name="Line 1048"/>
                <p:cNvSpPr/>
                <p:nvPr/>
              </p:nvSpPr>
              <p:spPr>
                <a:xfrm flipH="1">
                  <a:off x="2736" y="1968"/>
                  <a:ext cx="48" cy="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6" name="Line 1049"/>
                <p:cNvSpPr/>
                <p:nvPr/>
              </p:nvSpPr>
              <p:spPr>
                <a:xfrm flipH="1">
                  <a:off x="2784" y="1968"/>
                  <a:ext cx="96" cy="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7" name="Line 1050"/>
                <p:cNvSpPr/>
                <p:nvPr/>
              </p:nvSpPr>
              <p:spPr>
                <a:xfrm flipH="1">
                  <a:off x="3024" y="1968"/>
                  <a:ext cx="48" cy="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908" name="Line 1051"/>
                <p:cNvSpPr/>
                <p:nvPr/>
              </p:nvSpPr>
              <p:spPr>
                <a:xfrm flipH="1">
                  <a:off x="2880" y="1968"/>
                  <a:ext cx="96" cy="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5909" name="Line 1052"/>
              <p:cNvSpPr/>
              <p:nvPr/>
            </p:nvSpPr>
            <p:spPr>
              <a:xfrm>
                <a:off x="3653" y="2946"/>
                <a:ext cx="0" cy="58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44765" name="Text Box 1053"/>
              <p:cNvSpPr txBox="1">
                <a:spLocks noChangeArrowheads="1"/>
              </p:cNvSpPr>
              <p:nvPr/>
            </p:nvSpPr>
            <p:spPr bwMode="auto">
              <a:xfrm>
                <a:off x="3283" y="2687"/>
                <a:ext cx="89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defRPr/>
                </a:pPr>
                <a:r>
                  <a:rPr kumimoji="1" lang="zh-CN" altLang="en-US" sz="1600" b="1" kern="1200" cap="none" spc="0" normalizeH="0" baseline="0" noProof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 Black" panose="020B0A04020102020204" pitchFamily="34" charset="0"/>
                    <a:ea typeface="黑体" panose="02010609060101010101" pitchFamily="1" charset="-122"/>
                    <a:cs typeface="+mn-cs"/>
                  </a:rPr>
                  <a:t>第三传输窗口</a:t>
                </a:r>
                <a:endParaRPr kumimoji="1" lang="zh-CN" altLang="en-US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endParaRPr>
              </a:p>
            </p:txBody>
          </p:sp>
        </p:grpSp>
        <p:sp>
          <p:nvSpPr>
            <p:cNvPr id="244811" name="AutoShape 1099" descr="羊皮纸"/>
            <p:cNvSpPr>
              <a:spLocks noChangeArrowheads="1"/>
            </p:cNvSpPr>
            <p:nvPr/>
          </p:nvSpPr>
          <p:spPr bwMode="auto">
            <a:xfrm>
              <a:off x="3322" y="1300"/>
              <a:ext cx="1415" cy="816"/>
            </a:xfrm>
            <a:prstGeom prst="wedgeEllipseCallout">
              <a:avLst>
                <a:gd name="adj1" fmla="val -31171"/>
                <a:gd name="adj2" fmla="val 18259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在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1.55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m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处最小损耗约为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0.2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dB/km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7818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光纤的损耗机理</a:t>
            </a: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(1)</a:t>
            </a:r>
            <a:endParaRPr kumimoji="1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3058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材料吸收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紫外、红外、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OH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离子、金属离子吸收等，是材料本身所固有的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--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本征吸收损耗</a:t>
            </a:r>
            <a:endParaRPr kumimoji="1" lang="zh-CN" altLang="en-US" sz="2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OH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离子吸收：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O-H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键的基本谐振波长为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2.73 m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，与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Si-O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键的谐振波长相互影响，在光纤通信波段内产生一系列的吸收峰，影响较大的是在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1.39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、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1.24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、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0.95 m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，峰之间的低损耗区构成了光纤通信的三个窗口。</a:t>
            </a:r>
            <a:endParaRPr kumimoji="1" lang="zh-CN" altLang="en-US" sz="2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  <a:sym typeface="Symbol" panose="05050102010706020507" pitchFamily="18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减低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OH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离子浓度，减低这些吸收峰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---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全波光纤（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AllWave</a:t>
            </a:r>
            <a:r>
              <a:rPr kumimoji="1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 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康宁）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629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光纤的损耗机理</a:t>
            </a: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(2)</a:t>
            </a:r>
            <a:endParaRPr kumimoji="1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84313"/>
            <a:ext cx="83820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瑞利散射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是一种基本损耗机理。</a:t>
            </a:r>
            <a:endParaRPr kumimoji="1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由于制造过程中沉积到熔石英中的随机密度变化引起的，导致折射率本身的起伏，使光向各个方向散射。</a:t>
            </a:r>
            <a:endParaRPr kumimoji="1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大小与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6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4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成反比， </a:t>
            </a:r>
            <a:r>
              <a:rPr kumimoji="1" lang="zh-CN" altLang="en-US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1" lang="en-US" altLang="zh-CN" sz="2600" b="1" i="1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R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＝</a:t>
            </a:r>
            <a:r>
              <a:rPr kumimoji="1" lang="en-US" altLang="zh-CN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C/ </a:t>
            </a:r>
            <a:r>
              <a:rPr kumimoji="1" lang="en-US" altLang="zh-CN" sz="2600" b="1" i="1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4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（</a:t>
            </a:r>
            <a:r>
              <a:rPr kumimoji="1" lang="en-US" altLang="zh-CN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dB/km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）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因而主要作用在短波长区。</a:t>
            </a:r>
            <a:endParaRPr kumimoji="1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瑞利散射损耗对光纤来说是其本身固有的，因而它确定了光纤损耗的最终极限。</a:t>
            </a:r>
            <a:endParaRPr kumimoji="1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1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1.55 </a:t>
            </a:r>
            <a:r>
              <a:rPr kumimoji="1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m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波段，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瑞利散射引起的损耗仍达</a:t>
            </a:r>
            <a:r>
              <a:rPr kumimoji="1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0.12~0.16 </a:t>
            </a:r>
            <a:r>
              <a:rPr kumimoji="1" lang="en-US" altLang="zh-CN" sz="26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dB/km</a:t>
            </a:r>
            <a:r>
              <a:rPr kumimoji="1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，是该段损耗的主要原因。</a:t>
            </a:r>
            <a:endParaRPr kumimoji="1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215" y="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光纤的损耗机理</a:t>
            </a: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(3)</a:t>
            </a:r>
            <a:endParaRPr kumimoji="1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3260" y="1196975"/>
            <a:ext cx="79248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辐射损耗又称弯曲损耗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，包括两类：一是弯曲半径远大于光纤直径，二是光纤成缆时轴向产生的随机性微弯。</a:t>
            </a:r>
            <a:endParaRPr kumimoji="1" lang="zh-CN" altLang="en-US" sz="2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定性解释</a:t>
            </a:r>
            <a:r>
              <a: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导模的部分能量在光纤包层中（消失场拖尾）于纤芯中的场一起传输。当发生弯曲时，离中心较远的消失场尾部须以较大的速度行进，以便与纤芯中的场一同前进。这有可能要求离纤芯远的消失场尾部以大于光速的速度前进，由于这是不可能的，因此这部分场将辐射出去而损耗掉。</a:t>
            </a:r>
            <a:endParaRPr kumimoji="1" lang="zh-CN" altLang="en-US" sz="2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39" name="Picture 5" descr="wjp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0" y="4114800"/>
            <a:ext cx="4648200" cy="2319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990600" y="377825"/>
            <a:ext cx="6934200" cy="7080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7.3.1  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光纤的色散特性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762000" y="1371600"/>
            <a:ext cx="8001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光纤色散：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信号能量中的各种分量由于在光纤中传输速度不同，而引起的信号畸变。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将引起光脉冲展宽和码间串扰，最终影响通信距离和容量。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1" charset="-122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81534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Char char="•"/>
              <a:defRPr/>
            </a:pPr>
            <a:r>
              <a:rPr kumimoji="1" lang="en-US" altLang="zh-CN" sz="2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 </a:t>
            </a:r>
            <a:r>
              <a:rPr kumimoji="1" lang="en-US" altLang="zh-CN" sz="20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   </a:t>
            </a: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色散类型</a:t>
            </a:r>
            <a:endParaRPr kumimoji="1" lang="zh-CN" altLang="en-US" sz="28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模间色散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：不同模式对应有不同的模折射率，导致群速度不同和脉冲展宽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（仅多模光纤有）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C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波导色散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)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：传播常数随频率变化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材料色散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n(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)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：折射率随频率变化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偏振模色散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PMD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6400800" y="4648200"/>
            <a:ext cx="2132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5FFF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波长色散</a:t>
            </a:r>
            <a:endParaRPr kumimoji="1" lang="zh-CN" altLang="en-US" sz="2000" b="1" kern="1200" cap="none" spc="0" normalizeH="0" baseline="0" noProof="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41989" name="AutoShape 8"/>
          <p:cNvSpPr/>
          <p:nvPr/>
        </p:nvSpPr>
        <p:spPr>
          <a:xfrm>
            <a:off x="6172200" y="4495800"/>
            <a:ext cx="152400" cy="762000"/>
          </a:xfrm>
          <a:prstGeom prst="rightBrace">
            <a:avLst>
              <a:gd name="adj1" fmla="val 41365"/>
              <a:gd name="adj2" fmla="val 50000"/>
            </a:avLst>
          </a:prstGeom>
          <a:noFill/>
          <a:ln w="28575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1990" name="Picture 1" descr="色散棱镜光谱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7913" y="4222750"/>
            <a:ext cx="3009900" cy="2636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8580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群速色散</a:t>
            </a: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(GVD)</a:t>
            </a:r>
            <a:endParaRPr kumimoji="1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19200"/>
            <a:ext cx="8305800" cy="2438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由光源发射进入光纤的光脉冲能量包含许多不同的频率分量，脉冲的不同频率分量将以不同的群速度传播，因而在传输过程中必将出现脉冲展宽，这种现象称为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群速色散（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GVD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）、模内色散或简言之光纤色散。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包括材料色散和波导色散。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3011" name="Picture 5" descr="w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505200"/>
            <a:ext cx="5562600" cy="172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533400" y="5257800"/>
            <a:ext cx="8153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Chromatic dispersion causes different wavelengths of a light pulse to travel at different speeds in fiber, resulting in pulse spreading</a:t>
            </a:r>
            <a:endParaRPr kumimoji="1" lang="en-US" altLang="zh-CN" sz="2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4770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光脉冲展宽</a:t>
            </a: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(1)</a:t>
            </a:r>
            <a:endParaRPr kumimoji="1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875"/>
            <a:ext cx="83058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光脉冲展宽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由于光脉冲包含许多频率分量，因而群速度的频率相关性导致了脉冲传输过程中展宽，不再同时到达光纤输出端。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6083" name="Object 6"/>
          <p:cNvGraphicFramePr>
            <a:graphicFrameLocks noChangeAspect="1"/>
          </p:cNvGraphicFramePr>
          <p:nvPr/>
        </p:nvGraphicFramePr>
        <p:xfrm>
          <a:off x="996950" y="3013075"/>
          <a:ext cx="7315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311400" imgH="419100" progId="Equation.3">
                  <p:embed/>
                </p:oleObj>
              </mc:Choice>
              <mc:Fallback>
                <p:oleObj name="" r:id="rId1" imgW="2311400" imgH="419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6950" y="3013075"/>
                        <a:ext cx="7315200" cy="1066800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7"/>
          <p:cNvGraphicFramePr>
            <a:graphicFrameLocks noChangeAspect="1"/>
          </p:cNvGraphicFramePr>
          <p:nvPr/>
        </p:nvGraphicFramePr>
        <p:xfrm>
          <a:off x="996950" y="4838700"/>
          <a:ext cx="29368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965200" imgH="228600" progId="Equation.3">
                  <p:embed/>
                </p:oleObj>
              </mc:Choice>
              <mc:Fallback>
                <p:oleObj name="" r:id="rId3" imgW="965200" imgH="228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6950" y="4838700"/>
                        <a:ext cx="2936875" cy="647700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3968750" y="4918075"/>
            <a:ext cx="399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为群速度色散（</a:t>
            </a:r>
            <a:r>
              <a:rPr kumimoji="1" lang="en-US" altLang="zh-CN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GVD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）</a:t>
            </a:r>
            <a:endParaRPr kumimoji="1" lang="zh-CN" altLang="en-US" b="1" kern="1200" cap="none" spc="0" normalizeH="0" baseline="0" noProof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971550" y="4230688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脉冲展宽同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en-US" altLang="zh-CN" b="1" kern="1200" cap="none" spc="0" normalizeH="0" baseline="-2500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、光纤长度</a:t>
            </a:r>
            <a:r>
              <a:rPr kumimoji="1" lang="en-US" altLang="zh-CN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L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和信号谱宽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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</a:rPr>
              <a:t>成正比</a:t>
            </a:r>
            <a:endParaRPr kumimoji="1" lang="zh-CN" altLang="en-US" b="1" kern="1200" cap="none" spc="0" normalizeH="0" baseline="0" noProof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1" charset="-122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920750" y="5603875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en-US" altLang="zh-CN" b="1" kern="1200" cap="none" spc="0" normalizeH="0" baseline="-25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决定了脉冲在光纤中的展宽程度</a:t>
            </a:r>
            <a:endParaRPr kumimoji="1" lang="zh-CN" altLang="en-US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4770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光脉冲展宽</a:t>
            </a: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(2)</a:t>
            </a:r>
            <a:endParaRPr kumimoji="1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522288" y="1484313"/>
            <a:ext cx="8305800" cy="121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以色散参数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D[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ps/(nm. km)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表达脉冲展宽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的定义为：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7107" name="Object 4"/>
          <p:cNvGraphicFramePr>
            <a:graphicFrameLocks noChangeAspect="1"/>
          </p:cNvGraphicFramePr>
          <p:nvPr/>
        </p:nvGraphicFramePr>
        <p:xfrm>
          <a:off x="3121025" y="2109788"/>
          <a:ext cx="28194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647700" imgH="393700" progId="Equation.3">
                  <p:embed/>
                </p:oleObj>
              </mc:Choice>
              <mc:Fallback>
                <p:oleObj name="" r:id="rId1" imgW="647700" imgH="3937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1025" y="2109788"/>
                        <a:ext cx="2819400" cy="1031875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600075" y="3189288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D</a:t>
            </a:r>
            <a:r>
              <a:rPr kumimoji="1" lang="zh-CN" altLang="en-US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代表两个波长间隔为</a:t>
            </a:r>
            <a:r>
              <a:rPr kumimoji="1" lang="en-US" altLang="zh-CN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1nm</a:t>
            </a:r>
            <a:r>
              <a:rPr kumimoji="1" lang="zh-CN" altLang="en-US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的光波传输</a:t>
            </a:r>
            <a:r>
              <a:rPr kumimoji="1" lang="en-US" altLang="zh-CN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1km</a:t>
            </a:r>
            <a:r>
              <a:rPr kumimoji="1" lang="zh-CN" altLang="en-US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距离后的时延</a:t>
            </a:r>
            <a:endParaRPr kumimoji="1" lang="zh-CN" altLang="en-US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aphicFrame>
        <p:nvGraphicFramePr>
          <p:cNvPr id="47109" name="Object 6"/>
          <p:cNvGraphicFramePr>
            <a:graphicFrameLocks noChangeAspect="1"/>
          </p:cNvGraphicFramePr>
          <p:nvPr/>
        </p:nvGraphicFramePr>
        <p:xfrm>
          <a:off x="903288" y="4760913"/>
          <a:ext cx="73152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2057400" imgH="393700" progId="Equation.3">
                  <p:embed/>
                </p:oleObj>
              </mc:Choice>
              <mc:Fallback>
                <p:oleObj name="" r:id="rId3" imgW="2057400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3288" y="4760913"/>
                        <a:ext cx="7315200" cy="1057275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7"/>
          <p:cNvGraphicFramePr>
            <a:graphicFrameLocks noChangeAspect="1"/>
          </p:cNvGraphicFramePr>
          <p:nvPr/>
        </p:nvGraphicFramePr>
        <p:xfrm>
          <a:off x="2328863" y="3838575"/>
          <a:ext cx="36576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926465" imgH="177800" progId="Equation.3">
                  <p:embed/>
                </p:oleObj>
              </mc:Choice>
              <mc:Fallback>
                <p:oleObj name="" r:id="rId5" imgW="926465" imgH="177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8863" y="3838575"/>
                        <a:ext cx="3657600" cy="701675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598488" y="3770313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脉冲展宽：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6073775" y="3765550"/>
            <a:ext cx="2743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</a:t>
            </a:r>
            <a:r>
              <a:rPr kumimoji="1" lang="zh-CN" altLang="en-US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以波长单位表达的光信号谱宽</a:t>
            </a:r>
            <a:endParaRPr kumimoji="1" lang="zh-CN" altLang="en-US" b="1" kern="1200" cap="none" spc="0" normalizeH="0" baseline="0" noProof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1" charset="-122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629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单模光纤的色散</a:t>
            </a:r>
            <a:endParaRPr kumimoji="1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9571" name="Rectangle 1027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0010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材料色散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纤芯材料的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折射率随波长变化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导致了这种色散，这样即使不同波长的光经历过完全相同的路径，也会发生脉冲展宽。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波导色散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由于单模光纤中只有约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80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％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的光功率在纤芯中传播，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％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在包层中传播的光功率其速率要更大一些，这样就出现了色散。波导色散的大小取决于光纤的设计，因为模式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传播常数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a/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的函数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纤芯半径，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a/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是光纤相当于波长的尺度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).</a:t>
            </a:r>
            <a:endParaRPr kumimoji="1" lang="en-US" altLang="zh-CN" sz="2800" b="1" i="0" u="none" strike="noStrike" kern="0" cap="none" spc="0" normalizeH="0" baseline="-2500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8131" name="Picture 1" descr="色散棱镜光谱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950" y="5041900"/>
            <a:ext cx="2074863" cy="1817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6629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单模光纤的色散</a:t>
            </a:r>
            <a:endParaRPr kumimoji="1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91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6781800" cy="5162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5462" name="AutoShape 6"/>
          <p:cNvSpPr>
            <a:spLocks noChangeArrowheads="1"/>
          </p:cNvSpPr>
          <p:nvPr/>
        </p:nvSpPr>
        <p:spPr bwMode="auto">
          <a:xfrm>
            <a:off x="7010400" y="4191000"/>
            <a:ext cx="1447800" cy="838200"/>
          </a:xfrm>
          <a:prstGeom prst="wedgeRoundRectCallout">
            <a:avLst>
              <a:gd name="adj1" fmla="val -283444"/>
              <a:gd name="adj2" fmla="val -176704"/>
              <a:gd name="adj3" fmla="val 16667"/>
            </a:avLst>
          </a:prstGeom>
          <a:solidFill>
            <a:srgbClr val="CCFF99"/>
          </a:solidFill>
          <a:ln>
            <a:noFill/>
          </a:ln>
          <a:effectLst>
            <a:outerShdw dist="71842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零色散波长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49156" name="Oval 7"/>
          <p:cNvSpPr/>
          <p:nvPr/>
        </p:nvSpPr>
        <p:spPr>
          <a:xfrm>
            <a:off x="3429000" y="3581400"/>
            <a:ext cx="609600" cy="381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5464" name="AutoShape 8"/>
          <p:cNvSpPr>
            <a:spLocks noChangeArrowheads="1"/>
          </p:cNvSpPr>
          <p:nvPr/>
        </p:nvSpPr>
        <p:spPr bwMode="auto">
          <a:xfrm>
            <a:off x="6324600" y="1524000"/>
            <a:ext cx="2514600" cy="1066800"/>
          </a:xfrm>
          <a:prstGeom prst="wedgeEllipseCallout">
            <a:avLst>
              <a:gd name="adj1" fmla="val -86995"/>
              <a:gd name="adj2" fmla="val 18153"/>
            </a:avLst>
          </a:prstGeom>
          <a:solidFill>
            <a:srgbClr val="CCFF99"/>
          </a:solidFill>
          <a:ln>
            <a:noFill/>
          </a:ln>
          <a:effectLst>
            <a:outerShdw dist="63500" dir="2212194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17ps/nm.km@1550nm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8" name="Line 9"/>
          <p:cNvSpPr/>
          <p:nvPr/>
        </p:nvSpPr>
        <p:spPr>
          <a:xfrm flipV="1">
            <a:off x="5410200" y="2209800"/>
            <a:ext cx="0" cy="2667000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275467" name="Text Box 11"/>
          <p:cNvSpPr txBox="1">
            <a:spLocks noChangeArrowheads="1"/>
          </p:cNvSpPr>
          <p:nvPr/>
        </p:nvSpPr>
        <p:spPr bwMode="auto">
          <a:xfrm>
            <a:off x="1905000" y="1447800"/>
            <a:ext cx="2057400" cy="519113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>
                <a:solidFill>
                  <a:srgbClr val="33FFC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D=D</a:t>
            </a:r>
            <a:r>
              <a:rPr kumimoji="1" lang="en-US" altLang="zh-CN" sz="2800" b="1" kern="1200" cap="none" spc="0" normalizeH="0" baseline="-25000" noProof="0">
                <a:solidFill>
                  <a:srgbClr val="33FFC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1" kern="1200" cap="none" spc="0" normalizeH="0" baseline="0" noProof="0">
                <a:solidFill>
                  <a:srgbClr val="33FFC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+D</a:t>
            </a:r>
            <a:r>
              <a:rPr kumimoji="1" lang="en-US" altLang="zh-CN" sz="2800" b="1" kern="1200" cap="none" spc="0" normalizeH="0" baseline="-25000" noProof="0">
                <a:solidFill>
                  <a:srgbClr val="33FFCA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</a:t>
            </a:r>
            <a:endParaRPr kumimoji="1" lang="en-US" altLang="zh-CN" sz="2800" b="1" kern="1200" cap="none" spc="0" normalizeH="0" baseline="-25000" noProof="0">
              <a:solidFill>
                <a:srgbClr val="33FFCA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2" grpId="0" bldLvl="0" animBg="1"/>
      <p:bldP spid="275464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17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538" y="1460500"/>
            <a:ext cx="7239000" cy="322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042988" y="331788"/>
            <a:ext cx="69611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1" charset="-122"/>
                <a:cs typeface="+mj-lt"/>
              </a:rPr>
              <a:t>Dispersion of “Standard” Single-Mode Fiber</a:t>
            </a:r>
            <a:endParaRPr kumimoji="1" lang="en-US" altLang="zh-CN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1" charset="-122"/>
              <a:cs typeface="+mj-lt"/>
            </a:endParaRPr>
          </a:p>
        </p:txBody>
      </p:sp>
      <p:sp>
        <p:nvSpPr>
          <p:cNvPr id="35849" name="AutoShape 9"/>
          <p:cNvSpPr>
            <a:spLocks noChangeArrowheads="1"/>
          </p:cNvSpPr>
          <p:nvPr/>
        </p:nvSpPr>
        <p:spPr bwMode="auto">
          <a:xfrm>
            <a:off x="515938" y="4356100"/>
            <a:ext cx="3581400" cy="1905000"/>
          </a:xfrm>
          <a:prstGeom prst="wedgeRoundRectCallout">
            <a:avLst>
              <a:gd name="adj1" fmla="val 14894"/>
              <a:gd name="adj2" fmla="val -877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&lt; </a:t>
            </a:r>
            <a:r>
              <a:rPr kumimoji="1" lang="en-US" altLang="zh-CN" sz="22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正常色散区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en-US" altLang="zh-CN" sz="22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&gt;0, D&lt;0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红快兰慢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光脉冲的较高的频率分量（兰移）比较低的频率分量（红移）传输得慢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5850" name="AutoShape 10"/>
          <p:cNvSpPr>
            <a:spLocks noChangeArrowheads="1"/>
          </p:cNvSpPr>
          <p:nvPr/>
        </p:nvSpPr>
        <p:spPr bwMode="auto">
          <a:xfrm>
            <a:off x="4859338" y="4508500"/>
            <a:ext cx="3581400" cy="1905000"/>
          </a:xfrm>
          <a:prstGeom prst="wedgeRoundRectCallout">
            <a:avLst>
              <a:gd name="adj1" fmla="val -1861"/>
              <a:gd name="adj2" fmla="val -957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&gt; </a:t>
            </a:r>
            <a:r>
              <a:rPr kumimoji="1" lang="en-US" altLang="zh-CN" sz="22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反常色散区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en-US" altLang="zh-CN" sz="22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&lt;0, D&gt;0</a:t>
            </a: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兰快红慢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光脉冲的较高的频率分量（兰移）比较低的频率分量（红移）传输得快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35854" name="Group 14"/>
          <p:cNvGrpSpPr/>
          <p:nvPr/>
        </p:nvGrpSpPr>
        <p:grpSpPr>
          <a:xfrm>
            <a:off x="4056063" y="1003300"/>
            <a:ext cx="2936875" cy="3048000"/>
            <a:chOff x="2518" y="480"/>
            <a:chExt cx="1850" cy="1920"/>
          </a:xfrm>
        </p:grpSpPr>
        <p:sp>
          <p:nvSpPr>
            <p:cNvPr id="35848" name="AutoShape 8"/>
            <p:cNvSpPr>
              <a:spLocks noChangeArrowheads="1"/>
            </p:cNvSpPr>
            <p:nvPr/>
          </p:nvSpPr>
          <p:spPr bwMode="auto">
            <a:xfrm>
              <a:off x="3696" y="480"/>
              <a:ext cx="672" cy="432"/>
            </a:xfrm>
            <a:prstGeom prst="wedgeRoundRectCallout">
              <a:avLst>
                <a:gd name="adj1" fmla="val -225000"/>
                <a:gd name="adj2" fmla="val 126157"/>
                <a:gd name="adj3" fmla="val 16667"/>
              </a:avLst>
            </a:prstGeom>
            <a:solidFill>
              <a:srgbClr val="CC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rPr>
                <a:t>零色散波长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sp>
          <p:nvSpPr>
            <p:cNvPr id="50183" name="Line 12"/>
            <p:cNvSpPr/>
            <p:nvPr/>
          </p:nvSpPr>
          <p:spPr>
            <a:xfrm>
              <a:off x="2518" y="1056"/>
              <a:ext cx="0" cy="1344"/>
            </a:xfrm>
            <a:prstGeom prst="line">
              <a:avLst/>
            </a:prstGeom>
            <a:ln w="38100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827088" y="1557338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D</a:t>
            </a:r>
            <a:endParaRPr kumimoji="1" lang="en-US" altLang="zh-CN" sz="2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9" grpId="0" bldLvl="0" animBg="1"/>
      <p:bldP spid="35850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4195" name="Text Box 3"/>
          <p:cNvSpPr txBox="1">
            <a:spLocks noChangeArrowheads="1"/>
          </p:cNvSpPr>
          <p:nvPr/>
        </p:nvSpPr>
        <p:spPr bwMode="auto">
          <a:xfrm>
            <a:off x="1371600" y="522288"/>
            <a:ext cx="32258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G.653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色散位移光纤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pSp>
        <p:nvGrpSpPr>
          <p:cNvPr id="51202" name="Group 67"/>
          <p:cNvGrpSpPr/>
          <p:nvPr/>
        </p:nvGrpSpPr>
        <p:grpSpPr>
          <a:xfrm>
            <a:off x="469900" y="1858963"/>
            <a:ext cx="8459788" cy="4094162"/>
            <a:chOff x="296" y="1171"/>
            <a:chExt cx="5328" cy="2579"/>
          </a:xfrm>
        </p:grpSpPr>
        <p:grpSp>
          <p:nvGrpSpPr>
            <p:cNvPr id="51203" name="Group 4"/>
            <p:cNvGrpSpPr/>
            <p:nvPr/>
          </p:nvGrpSpPr>
          <p:grpSpPr>
            <a:xfrm>
              <a:off x="3721" y="1543"/>
              <a:ext cx="457" cy="1601"/>
              <a:chOff x="3721" y="1543"/>
              <a:chExt cx="457" cy="1601"/>
            </a:xfrm>
          </p:grpSpPr>
          <p:sp>
            <p:nvSpPr>
              <p:cNvPr id="51204" name="Rectangle 5"/>
              <p:cNvSpPr/>
              <p:nvPr/>
            </p:nvSpPr>
            <p:spPr>
              <a:xfrm>
                <a:off x="3784" y="1543"/>
                <a:ext cx="350" cy="1601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4198" name="Rectangle 6"/>
              <p:cNvSpPr>
                <a:spLocks noChangeArrowheads="1"/>
              </p:cNvSpPr>
              <p:nvPr/>
            </p:nvSpPr>
            <p:spPr bwMode="auto">
              <a:xfrm>
                <a:off x="3721" y="1703"/>
                <a:ext cx="457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E35A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7312" tIns="44450" rIns="87312" bIns="44450">
                <a:spAutoFit/>
              </a:bodyPr>
              <a:lstStyle/>
              <a:p>
                <a:pPr marL="0" marR="0" lvl="0" indent="0" algn="ctr" defTabSz="83947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EDFA</a:t>
                </a:r>
                <a:endPara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83947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频带</a:t>
                </a:r>
                <a:endPara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206" name="Line 7"/>
            <p:cNvSpPr/>
            <p:nvPr/>
          </p:nvSpPr>
          <p:spPr>
            <a:xfrm>
              <a:off x="937" y="3167"/>
              <a:ext cx="403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07" name="Line 8"/>
            <p:cNvSpPr/>
            <p:nvPr/>
          </p:nvSpPr>
          <p:spPr>
            <a:xfrm flipV="1">
              <a:off x="1645" y="3109"/>
              <a:ext cx="0" cy="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08" name="Line 9"/>
            <p:cNvSpPr/>
            <p:nvPr/>
          </p:nvSpPr>
          <p:spPr>
            <a:xfrm flipV="1">
              <a:off x="2309" y="3109"/>
              <a:ext cx="0" cy="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09" name="Line 10"/>
            <p:cNvSpPr/>
            <p:nvPr/>
          </p:nvSpPr>
          <p:spPr>
            <a:xfrm flipV="1">
              <a:off x="2973" y="3109"/>
              <a:ext cx="0" cy="8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0" name="Line 11"/>
            <p:cNvSpPr/>
            <p:nvPr/>
          </p:nvSpPr>
          <p:spPr>
            <a:xfrm flipV="1">
              <a:off x="3634" y="3109"/>
              <a:ext cx="0" cy="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1" name="Line 12"/>
            <p:cNvSpPr/>
            <p:nvPr/>
          </p:nvSpPr>
          <p:spPr>
            <a:xfrm flipV="1">
              <a:off x="4297" y="3109"/>
              <a:ext cx="0" cy="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2" name="Freeform 13"/>
            <p:cNvSpPr/>
            <p:nvPr/>
          </p:nvSpPr>
          <p:spPr>
            <a:xfrm>
              <a:off x="986" y="1423"/>
              <a:ext cx="4005" cy="13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" y="298"/>
                </a:cxn>
                <a:cxn ang="0">
                  <a:pos x="721" y="580"/>
                </a:cxn>
                <a:cxn ang="0">
                  <a:pos x="1081" y="827"/>
                </a:cxn>
                <a:cxn ang="0">
                  <a:pos x="1439" y="1063"/>
                </a:cxn>
                <a:cxn ang="0">
                  <a:pos x="1802" y="1274"/>
                </a:cxn>
                <a:cxn ang="0">
                  <a:pos x="2158" y="1466"/>
                </a:cxn>
                <a:cxn ang="0">
                  <a:pos x="2523" y="1646"/>
                </a:cxn>
                <a:cxn ang="0">
                  <a:pos x="2881" y="1817"/>
                </a:cxn>
                <a:cxn ang="0">
                  <a:pos x="3240" y="1970"/>
                </a:cxn>
                <a:cxn ang="0">
                  <a:pos x="3603" y="2107"/>
                </a:cxn>
                <a:cxn ang="0">
                  <a:pos x="3963" y="2235"/>
                </a:cxn>
                <a:cxn ang="0">
                  <a:pos x="4146" y="2300"/>
                </a:cxn>
                <a:cxn ang="0">
                  <a:pos x="4323" y="2311"/>
                </a:cxn>
                <a:cxn ang="0">
                  <a:pos x="4501" y="2311"/>
                </a:cxn>
                <a:cxn ang="0">
                  <a:pos x="4685" y="2300"/>
                </a:cxn>
                <a:cxn ang="0">
                  <a:pos x="4864" y="2153"/>
                </a:cxn>
                <a:cxn ang="0">
                  <a:pos x="5042" y="1712"/>
                </a:cxn>
                <a:cxn ang="0">
                  <a:pos x="5133" y="1201"/>
                </a:cxn>
                <a:cxn ang="0">
                  <a:pos x="5222" y="982"/>
                </a:cxn>
                <a:cxn ang="0">
                  <a:pos x="5409" y="1128"/>
                </a:cxn>
                <a:cxn ang="0">
                  <a:pos x="5586" y="1712"/>
                </a:cxn>
                <a:cxn ang="0">
                  <a:pos x="5765" y="2153"/>
                </a:cxn>
                <a:cxn ang="0">
                  <a:pos x="5946" y="2444"/>
                </a:cxn>
                <a:cxn ang="0">
                  <a:pos x="6124" y="2666"/>
                </a:cxn>
                <a:cxn ang="0">
                  <a:pos x="6307" y="2739"/>
                </a:cxn>
                <a:cxn ang="0">
                  <a:pos x="6485" y="2811"/>
                </a:cxn>
                <a:cxn ang="0">
                  <a:pos x="6665" y="2848"/>
                </a:cxn>
                <a:cxn ang="0">
                  <a:pos x="6843" y="2885"/>
                </a:cxn>
                <a:cxn ang="0">
                  <a:pos x="7204" y="2942"/>
                </a:cxn>
                <a:cxn ang="0">
                  <a:pos x="7567" y="2973"/>
                </a:cxn>
                <a:cxn ang="0">
                  <a:pos x="7929" y="2987"/>
                </a:cxn>
                <a:cxn ang="0">
                  <a:pos x="8289" y="2997"/>
                </a:cxn>
                <a:cxn ang="0">
                  <a:pos x="8649" y="2981"/>
                </a:cxn>
                <a:cxn ang="0">
                  <a:pos x="9006" y="2942"/>
                </a:cxn>
                <a:cxn ang="0">
                  <a:pos x="9371" y="2894"/>
                </a:cxn>
                <a:cxn ang="0">
                  <a:pos x="9728" y="2811"/>
                </a:cxn>
                <a:cxn ang="0">
                  <a:pos x="10086" y="2700"/>
                </a:cxn>
                <a:cxn ang="0">
                  <a:pos x="10451" y="2553"/>
                </a:cxn>
                <a:cxn ang="0">
                  <a:pos x="10813" y="2373"/>
                </a:cxn>
              </a:cxnLst>
              <a:pathLst>
                <a:path w="2876" h="1050">
                  <a:moveTo>
                    <a:pt x="0" y="0"/>
                  </a:moveTo>
                  <a:lnTo>
                    <a:pt x="95" y="104"/>
                  </a:lnTo>
                  <a:lnTo>
                    <a:pt x="192" y="203"/>
                  </a:lnTo>
                  <a:lnTo>
                    <a:pt x="287" y="289"/>
                  </a:lnTo>
                  <a:lnTo>
                    <a:pt x="383" y="372"/>
                  </a:lnTo>
                  <a:lnTo>
                    <a:pt x="479" y="446"/>
                  </a:lnTo>
                  <a:lnTo>
                    <a:pt x="574" y="514"/>
                  </a:lnTo>
                  <a:lnTo>
                    <a:pt x="671" y="576"/>
                  </a:lnTo>
                  <a:lnTo>
                    <a:pt x="766" y="636"/>
                  </a:lnTo>
                  <a:lnTo>
                    <a:pt x="862" y="689"/>
                  </a:lnTo>
                  <a:lnTo>
                    <a:pt x="958" y="738"/>
                  </a:lnTo>
                  <a:lnTo>
                    <a:pt x="1054" y="782"/>
                  </a:lnTo>
                  <a:lnTo>
                    <a:pt x="1102" y="805"/>
                  </a:lnTo>
                  <a:lnTo>
                    <a:pt x="1150" y="809"/>
                  </a:lnTo>
                  <a:lnTo>
                    <a:pt x="1197" y="809"/>
                  </a:lnTo>
                  <a:lnTo>
                    <a:pt x="1246" y="805"/>
                  </a:lnTo>
                  <a:lnTo>
                    <a:pt x="1293" y="754"/>
                  </a:lnTo>
                  <a:lnTo>
                    <a:pt x="1341" y="599"/>
                  </a:lnTo>
                  <a:lnTo>
                    <a:pt x="1365" y="421"/>
                  </a:lnTo>
                  <a:lnTo>
                    <a:pt x="1389" y="344"/>
                  </a:lnTo>
                  <a:lnTo>
                    <a:pt x="1438" y="395"/>
                  </a:lnTo>
                  <a:lnTo>
                    <a:pt x="1485" y="599"/>
                  </a:lnTo>
                  <a:lnTo>
                    <a:pt x="1533" y="754"/>
                  </a:lnTo>
                  <a:lnTo>
                    <a:pt x="1581" y="855"/>
                  </a:lnTo>
                  <a:lnTo>
                    <a:pt x="1629" y="934"/>
                  </a:lnTo>
                  <a:lnTo>
                    <a:pt x="1677" y="959"/>
                  </a:lnTo>
                  <a:lnTo>
                    <a:pt x="1724" y="984"/>
                  </a:lnTo>
                  <a:lnTo>
                    <a:pt x="1772" y="997"/>
                  </a:lnTo>
                  <a:lnTo>
                    <a:pt x="1820" y="1010"/>
                  </a:lnTo>
                  <a:lnTo>
                    <a:pt x="1916" y="1030"/>
                  </a:lnTo>
                  <a:lnTo>
                    <a:pt x="2012" y="1041"/>
                  </a:lnTo>
                  <a:lnTo>
                    <a:pt x="2108" y="1046"/>
                  </a:lnTo>
                  <a:lnTo>
                    <a:pt x="2204" y="1049"/>
                  </a:lnTo>
                  <a:lnTo>
                    <a:pt x="2300" y="1044"/>
                  </a:lnTo>
                  <a:lnTo>
                    <a:pt x="2395" y="1030"/>
                  </a:lnTo>
                  <a:lnTo>
                    <a:pt x="2492" y="1013"/>
                  </a:lnTo>
                  <a:lnTo>
                    <a:pt x="2587" y="984"/>
                  </a:lnTo>
                  <a:lnTo>
                    <a:pt x="2682" y="945"/>
                  </a:lnTo>
                  <a:lnTo>
                    <a:pt x="2779" y="894"/>
                  </a:lnTo>
                  <a:lnTo>
                    <a:pt x="2875" y="831"/>
                  </a:lnTo>
                </a:path>
              </a:pathLst>
            </a:custGeom>
            <a:noFill/>
            <a:ln w="5715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13" name="Line 14"/>
            <p:cNvSpPr/>
            <p:nvPr/>
          </p:nvSpPr>
          <p:spPr>
            <a:xfrm flipV="1">
              <a:off x="949" y="1507"/>
              <a:ext cx="0" cy="16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4" name="Line 15"/>
            <p:cNvSpPr/>
            <p:nvPr/>
          </p:nvSpPr>
          <p:spPr>
            <a:xfrm>
              <a:off x="949" y="2483"/>
              <a:ext cx="4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5" name="Line 16"/>
            <p:cNvSpPr/>
            <p:nvPr/>
          </p:nvSpPr>
          <p:spPr>
            <a:xfrm>
              <a:off x="949" y="2162"/>
              <a:ext cx="4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6" name="Line 17"/>
            <p:cNvSpPr/>
            <p:nvPr/>
          </p:nvSpPr>
          <p:spPr>
            <a:xfrm>
              <a:off x="949" y="1843"/>
              <a:ext cx="4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7" name="Line 18"/>
            <p:cNvSpPr/>
            <p:nvPr/>
          </p:nvSpPr>
          <p:spPr>
            <a:xfrm>
              <a:off x="949" y="1521"/>
              <a:ext cx="4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8" name="Line 19"/>
            <p:cNvSpPr/>
            <p:nvPr/>
          </p:nvSpPr>
          <p:spPr>
            <a:xfrm>
              <a:off x="903" y="2483"/>
              <a:ext cx="9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19" name="Line 20"/>
            <p:cNvSpPr/>
            <p:nvPr/>
          </p:nvSpPr>
          <p:spPr>
            <a:xfrm>
              <a:off x="903" y="2162"/>
              <a:ext cx="9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20" name="Line 21"/>
            <p:cNvSpPr/>
            <p:nvPr/>
          </p:nvSpPr>
          <p:spPr>
            <a:xfrm>
              <a:off x="903" y="1843"/>
              <a:ext cx="9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21" name="Line 22"/>
            <p:cNvSpPr/>
            <p:nvPr/>
          </p:nvSpPr>
          <p:spPr>
            <a:xfrm>
              <a:off x="903" y="1521"/>
              <a:ext cx="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22" name="Rectangle 23"/>
            <p:cNvSpPr/>
            <p:nvPr/>
          </p:nvSpPr>
          <p:spPr>
            <a:xfrm>
              <a:off x="525" y="3002"/>
              <a:ext cx="288" cy="2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0.1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3" name="Rectangle 24"/>
            <p:cNvSpPr/>
            <p:nvPr/>
          </p:nvSpPr>
          <p:spPr>
            <a:xfrm>
              <a:off x="525" y="2697"/>
              <a:ext cx="28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0.2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4" name="Rectangle 25"/>
            <p:cNvSpPr/>
            <p:nvPr/>
          </p:nvSpPr>
          <p:spPr>
            <a:xfrm>
              <a:off x="525" y="2348"/>
              <a:ext cx="28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0.3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5" name="Rectangle 26"/>
            <p:cNvSpPr/>
            <p:nvPr/>
          </p:nvSpPr>
          <p:spPr>
            <a:xfrm>
              <a:off x="525" y="2024"/>
              <a:ext cx="28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0.4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6" name="Rectangle 27"/>
            <p:cNvSpPr/>
            <p:nvPr/>
          </p:nvSpPr>
          <p:spPr>
            <a:xfrm>
              <a:off x="525" y="1706"/>
              <a:ext cx="28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0.5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7" name="Rectangle 28"/>
            <p:cNvSpPr/>
            <p:nvPr/>
          </p:nvSpPr>
          <p:spPr>
            <a:xfrm>
              <a:off x="525" y="1370"/>
              <a:ext cx="28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0.6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8" name="Line 29"/>
            <p:cNvSpPr/>
            <p:nvPr/>
          </p:nvSpPr>
          <p:spPr>
            <a:xfrm>
              <a:off x="903" y="2822"/>
              <a:ext cx="9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64222" name="Rectangle 30"/>
            <p:cNvSpPr>
              <a:spLocks noChangeArrowheads="1"/>
            </p:cNvSpPr>
            <p:nvPr/>
          </p:nvSpPr>
          <p:spPr bwMode="auto">
            <a:xfrm rot="16200000">
              <a:off x="-123" y="2238"/>
              <a:ext cx="104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312" tIns="44450" rIns="87312" bIns="44450">
              <a:spAutoFit/>
            </a:bodyPr>
            <a:lstStyle/>
            <a:p>
              <a:pPr marL="0" marR="0" lvl="0" indent="0" algn="l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衰减 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(dB/km)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81D5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0" name="Rectangle 31"/>
            <p:cNvSpPr/>
            <p:nvPr/>
          </p:nvSpPr>
          <p:spPr>
            <a:xfrm>
              <a:off x="3998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1600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1" name="Rectangle 32"/>
            <p:cNvSpPr/>
            <p:nvPr/>
          </p:nvSpPr>
          <p:spPr>
            <a:xfrm>
              <a:off x="4637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1700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2" name="Rectangle 33"/>
            <p:cNvSpPr/>
            <p:nvPr/>
          </p:nvSpPr>
          <p:spPr>
            <a:xfrm>
              <a:off x="2727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1400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3" name="Rectangle 34"/>
            <p:cNvSpPr/>
            <p:nvPr/>
          </p:nvSpPr>
          <p:spPr>
            <a:xfrm>
              <a:off x="2012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1300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4" name="Rectangle 35"/>
            <p:cNvSpPr/>
            <p:nvPr/>
          </p:nvSpPr>
          <p:spPr>
            <a:xfrm>
              <a:off x="1338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1200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5" name="Rectangle 36"/>
            <p:cNvSpPr/>
            <p:nvPr/>
          </p:nvSpPr>
          <p:spPr>
            <a:xfrm>
              <a:off x="3367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1500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36" name="Rectangle 37"/>
            <p:cNvSpPr/>
            <p:nvPr/>
          </p:nvSpPr>
          <p:spPr>
            <a:xfrm>
              <a:off x="652" y="3215"/>
              <a:ext cx="39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7312" tIns="44450" rIns="87312" bIns="44450" anchor="t" anchorCtr="0">
              <a:spAutoFit/>
            </a:bodyPr>
            <a:p>
              <a:pPr defTabSz="840105" eaLnBrk="0" hangingPunct="0"/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1100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4230" name="Rectangle 38"/>
            <p:cNvSpPr>
              <a:spLocks noChangeArrowheads="1"/>
            </p:cNvSpPr>
            <p:nvPr/>
          </p:nvSpPr>
          <p:spPr bwMode="auto">
            <a:xfrm>
              <a:off x="2426" y="3521"/>
              <a:ext cx="71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312" tIns="44450" rIns="87312" bIns="44450">
              <a:spAutoFit/>
            </a:bodyPr>
            <a:lstStyle/>
            <a:p>
              <a:pPr marL="0" marR="0" lvl="0" indent="0" algn="l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波长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(nm)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8" name="Line 39"/>
            <p:cNvSpPr/>
            <p:nvPr/>
          </p:nvSpPr>
          <p:spPr>
            <a:xfrm flipV="1">
              <a:off x="3634" y="3109"/>
              <a:ext cx="0" cy="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39" name="Line 40"/>
            <p:cNvSpPr/>
            <p:nvPr/>
          </p:nvSpPr>
          <p:spPr>
            <a:xfrm flipV="1">
              <a:off x="4297" y="3109"/>
              <a:ext cx="0" cy="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1240" name="Line 41"/>
            <p:cNvSpPr/>
            <p:nvPr/>
          </p:nvSpPr>
          <p:spPr>
            <a:xfrm>
              <a:off x="2384" y="2244"/>
              <a:ext cx="0" cy="940"/>
            </a:xfrm>
            <a:prstGeom prst="line">
              <a:avLst/>
            </a:prstGeom>
            <a:ln w="12700" cap="flat" cmpd="sng">
              <a:solidFill>
                <a:srgbClr val="FCFEB9"/>
              </a:solidFill>
              <a:prstDash val="sysDot"/>
              <a:round/>
              <a:headEnd type="none" w="sm" len="sm"/>
              <a:tailEnd type="none" w="sm" len="sm"/>
            </a:ln>
          </p:spPr>
        </p:sp>
        <p:sp>
          <p:nvSpPr>
            <p:cNvPr id="51241" name="Line 42"/>
            <p:cNvSpPr/>
            <p:nvPr/>
          </p:nvSpPr>
          <p:spPr>
            <a:xfrm flipH="1">
              <a:off x="3941" y="2260"/>
              <a:ext cx="1" cy="90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</p:sp>
        <p:sp>
          <p:nvSpPr>
            <p:cNvPr id="51242" name="Line 43"/>
            <p:cNvSpPr/>
            <p:nvPr/>
          </p:nvSpPr>
          <p:spPr>
            <a:xfrm flipH="1">
              <a:off x="937" y="2338"/>
              <a:ext cx="4002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lgDash"/>
              <a:round/>
              <a:headEnd type="none" w="sm" len="sm"/>
              <a:tailEnd type="none" w="sm" len="sm"/>
            </a:ln>
          </p:spPr>
        </p:sp>
        <p:grpSp>
          <p:nvGrpSpPr>
            <p:cNvPr id="51243" name="Group 44"/>
            <p:cNvGrpSpPr/>
            <p:nvPr/>
          </p:nvGrpSpPr>
          <p:grpSpPr>
            <a:xfrm>
              <a:off x="4922" y="1407"/>
              <a:ext cx="702" cy="1802"/>
              <a:chOff x="4082" y="1433"/>
              <a:chExt cx="504" cy="1442"/>
            </a:xfrm>
          </p:grpSpPr>
          <p:sp>
            <p:nvSpPr>
              <p:cNvPr id="51244" name="Line 45"/>
              <p:cNvSpPr/>
              <p:nvPr/>
            </p:nvSpPr>
            <p:spPr>
              <a:xfrm flipV="1">
                <a:off x="4099" y="2806"/>
                <a:ext cx="0" cy="6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51245" name="Line 46"/>
              <p:cNvSpPr/>
              <p:nvPr/>
            </p:nvSpPr>
            <p:spPr>
              <a:xfrm flipH="1" flipV="1">
                <a:off x="4099" y="1503"/>
                <a:ext cx="4" cy="136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51246" name="Line 47"/>
              <p:cNvSpPr/>
              <p:nvPr/>
            </p:nvSpPr>
            <p:spPr>
              <a:xfrm flipH="1">
                <a:off x="4082" y="2507"/>
                <a:ext cx="3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51247" name="Line 48"/>
              <p:cNvSpPr/>
              <p:nvPr/>
            </p:nvSpPr>
            <p:spPr>
              <a:xfrm flipH="1">
                <a:off x="4082" y="2176"/>
                <a:ext cx="3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51248" name="Line 49"/>
              <p:cNvSpPr/>
              <p:nvPr/>
            </p:nvSpPr>
            <p:spPr>
              <a:xfrm flipH="1">
                <a:off x="4082" y="1839"/>
                <a:ext cx="3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51249" name="Line 50"/>
              <p:cNvSpPr/>
              <p:nvPr/>
            </p:nvSpPr>
            <p:spPr>
              <a:xfrm flipH="1">
                <a:off x="4082" y="1503"/>
                <a:ext cx="3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51250" name="Rectangle 51"/>
              <p:cNvSpPr/>
              <p:nvPr/>
            </p:nvSpPr>
            <p:spPr>
              <a:xfrm flipH="1">
                <a:off x="4107" y="1433"/>
                <a:ext cx="315" cy="1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87312" tIns="44450" rIns="87312" bIns="44450" anchor="t" anchorCtr="0">
                <a:spAutoFit/>
              </a:bodyPr>
              <a:p>
                <a:pPr defTabSz="840105" eaLnBrk="0" hangingPunct="0">
                  <a:lnSpc>
                    <a:spcPct val="105000"/>
                  </a:lnSpc>
                </a:pPr>
                <a:r>
                  <a:rPr lang="en-US" altLang="zh-CN" sz="16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 20</a:t>
                </a: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r>
                  <a:rPr lang="en-US" altLang="zh-CN" sz="16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 10</a:t>
                </a: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r>
                  <a:rPr lang="en-US" altLang="zh-CN" sz="16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  0</a:t>
                </a: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r>
                  <a:rPr lang="en-US" altLang="zh-CN" sz="16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-10</a:t>
                </a: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defTabSz="840105" eaLnBrk="0" hangingPunct="0">
                  <a:lnSpc>
                    <a:spcPct val="105000"/>
                  </a:lnSpc>
                </a:pPr>
                <a:r>
                  <a:rPr lang="en-US" altLang="zh-CN" sz="16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-20</a:t>
                </a:r>
                <a:endPara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4244" name="Rectangle 52"/>
              <p:cNvSpPr>
                <a:spLocks noChangeArrowheads="1"/>
              </p:cNvSpPr>
              <p:nvPr/>
            </p:nvSpPr>
            <p:spPr bwMode="auto">
              <a:xfrm rot="16200000">
                <a:off x="4027" y="2053"/>
                <a:ext cx="935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E35A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7312" tIns="44450" rIns="87312" bIns="44450">
                <a:spAutoFit/>
              </a:bodyPr>
              <a:lstStyle/>
              <a:p>
                <a:pPr marL="0" marR="0" lvl="0" indent="0" algn="l" defTabSz="83947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色散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(ps/nm.km)</a:t>
                </a:r>
                <a:endPara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81D5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1252" name="Group 53"/>
            <p:cNvGrpSpPr/>
            <p:nvPr/>
          </p:nvGrpSpPr>
          <p:grpSpPr>
            <a:xfrm>
              <a:off x="2842" y="1838"/>
              <a:ext cx="2245" cy="1263"/>
              <a:chOff x="2842" y="1999"/>
              <a:chExt cx="2245" cy="1263"/>
            </a:xfrm>
          </p:grpSpPr>
          <p:sp>
            <p:nvSpPr>
              <p:cNvPr id="51253" name="Rectangle 54"/>
              <p:cNvSpPr/>
              <p:nvPr/>
            </p:nvSpPr>
            <p:spPr>
              <a:xfrm>
                <a:off x="4061" y="1999"/>
                <a:ext cx="1026" cy="2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87312" tIns="44450" rIns="87312" bIns="44450" anchor="t" anchorCtr="0">
                <a:spAutoFit/>
              </a:bodyPr>
              <a:p>
                <a:pPr algn="ctr" defTabSz="840105" eaLnBrk="0" hangingPunct="0"/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G.653</a:t>
                </a:r>
                <a:endPara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54" name="Freeform 55"/>
              <p:cNvSpPr/>
              <p:nvPr/>
            </p:nvSpPr>
            <p:spPr>
              <a:xfrm>
                <a:off x="2842" y="2198"/>
                <a:ext cx="1727" cy="1064"/>
              </a:xfrm>
              <a:custGeom>
                <a:avLst/>
                <a:gdLst/>
                <a:ahLst/>
                <a:cxnLst>
                  <a:cxn ang="0">
                    <a:pos x="0" y="2071"/>
                  </a:cxn>
                  <a:cxn ang="0">
                    <a:pos x="1191" y="1330"/>
                  </a:cxn>
                  <a:cxn ang="0">
                    <a:pos x="2366" y="764"/>
                  </a:cxn>
                  <a:cxn ang="0">
                    <a:pos x="3522" y="341"/>
                  </a:cxn>
                  <a:cxn ang="0">
                    <a:pos x="4663" y="0"/>
                  </a:cxn>
                </a:cxnLst>
                <a:pathLst>
                  <a:path w="1240" h="852">
                    <a:moveTo>
                      <a:pt x="0" y="851"/>
                    </a:moveTo>
                    <a:lnTo>
                      <a:pt x="317" y="547"/>
                    </a:lnTo>
                    <a:lnTo>
                      <a:pt x="629" y="314"/>
                    </a:lnTo>
                    <a:lnTo>
                      <a:pt x="936" y="140"/>
                    </a:lnTo>
                    <a:lnTo>
                      <a:pt x="1239" y="0"/>
                    </a:lnTo>
                  </a:path>
                </a:pathLst>
              </a:custGeom>
              <a:noFill/>
              <a:ln w="38100" cap="rnd" cmpd="sng">
                <a:solidFill>
                  <a:srgbClr val="7B0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1255" name="Group 56"/>
            <p:cNvGrpSpPr/>
            <p:nvPr/>
          </p:nvGrpSpPr>
          <p:grpSpPr>
            <a:xfrm>
              <a:off x="2233" y="1171"/>
              <a:ext cx="2307" cy="1272"/>
              <a:chOff x="2233" y="1171"/>
              <a:chExt cx="2307" cy="1272"/>
            </a:xfrm>
          </p:grpSpPr>
          <p:sp>
            <p:nvSpPr>
              <p:cNvPr id="51256" name="Text Box 57"/>
              <p:cNvSpPr txBox="1"/>
              <p:nvPr/>
            </p:nvSpPr>
            <p:spPr>
              <a:xfrm>
                <a:off x="3584" y="1171"/>
                <a:ext cx="91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17ps/nm.km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51257" name="Group 58"/>
              <p:cNvGrpSpPr/>
              <p:nvPr/>
            </p:nvGrpSpPr>
            <p:grpSpPr>
              <a:xfrm>
                <a:off x="2233" y="1438"/>
                <a:ext cx="2307" cy="1005"/>
                <a:chOff x="2233" y="1438"/>
                <a:chExt cx="2307" cy="1005"/>
              </a:xfrm>
            </p:grpSpPr>
            <p:sp>
              <p:nvSpPr>
                <p:cNvPr id="51258" name="Line 59"/>
                <p:cNvSpPr/>
                <p:nvPr/>
              </p:nvSpPr>
              <p:spPr>
                <a:xfrm>
                  <a:off x="3433" y="1624"/>
                  <a:ext cx="198" cy="91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stealth" w="med" len="lg"/>
                </a:ln>
              </p:spPr>
            </p:sp>
            <p:grpSp>
              <p:nvGrpSpPr>
                <p:cNvPr id="51259" name="Group 60"/>
                <p:cNvGrpSpPr/>
                <p:nvPr/>
              </p:nvGrpSpPr>
              <p:grpSpPr>
                <a:xfrm>
                  <a:off x="2233" y="1438"/>
                  <a:ext cx="2307" cy="1005"/>
                  <a:chOff x="2233" y="1599"/>
                  <a:chExt cx="2307" cy="1005"/>
                </a:xfrm>
              </p:grpSpPr>
              <p:sp>
                <p:nvSpPr>
                  <p:cNvPr id="51260" name="Rectangle 61"/>
                  <p:cNvSpPr/>
                  <p:nvPr/>
                </p:nvSpPr>
                <p:spPr>
                  <a:xfrm>
                    <a:off x="2954" y="1599"/>
                    <a:ext cx="474" cy="22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87312" tIns="44450" rIns="87312" bIns="44450" anchor="t" anchorCtr="0">
                    <a:spAutoFit/>
                  </a:bodyPr>
                  <a:p>
                    <a:pPr defTabSz="840105" eaLnBrk="0" hangingPunct="0"/>
                    <a:r>
                      <a:rPr lang="en-US" altLang="zh-CN" sz="1800" b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G.652</a:t>
                    </a:r>
                    <a:endPara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261" name="Freeform 62"/>
                  <p:cNvSpPr/>
                  <p:nvPr/>
                </p:nvSpPr>
                <p:spPr>
                  <a:xfrm>
                    <a:off x="2233" y="1617"/>
                    <a:ext cx="2307" cy="987"/>
                  </a:xfrm>
                  <a:custGeom>
                    <a:avLst/>
                    <a:gdLst/>
                    <a:ahLst/>
                    <a:cxnLst>
                      <a:cxn ang="0">
                        <a:pos x="0" y="1915"/>
                      </a:cxn>
                      <a:cxn ang="0">
                        <a:pos x="1674" y="1162"/>
                      </a:cxn>
                      <a:cxn ang="0">
                        <a:pos x="3257" y="624"/>
                      </a:cxn>
                      <a:cxn ang="0">
                        <a:pos x="4763" y="262"/>
                      </a:cxn>
                      <a:cxn ang="0">
                        <a:pos x="6225" y="0"/>
                      </a:cxn>
                    </a:cxnLst>
                    <a:pathLst>
                      <a:path w="1657" h="791">
                        <a:moveTo>
                          <a:pt x="0" y="790"/>
                        </a:moveTo>
                        <a:lnTo>
                          <a:pt x="445" y="479"/>
                        </a:lnTo>
                        <a:lnTo>
                          <a:pt x="867" y="257"/>
                        </a:lnTo>
                        <a:lnTo>
                          <a:pt x="1268" y="108"/>
                        </a:lnTo>
                        <a:lnTo>
                          <a:pt x="1656" y="0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rgbClr val="FC0128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</p:grpSp>
      </p:grp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7266" name="Text Box 1026"/>
          <p:cNvSpPr txBox="1">
            <a:spLocks noChangeArrowheads="1"/>
          </p:cNvSpPr>
          <p:nvPr/>
        </p:nvSpPr>
        <p:spPr bwMode="auto">
          <a:xfrm>
            <a:off x="1371600" y="522288"/>
            <a:ext cx="32258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G.653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色散位移光纤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pSp>
        <p:nvGrpSpPr>
          <p:cNvPr id="52226" name="Group 1027"/>
          <p:cNvGrpSpPr/>
          <p:nvPr/>
        </p:nvGrpSpPr>
        <p:grpSpPr>
          <a:xfrm>
            <a:off x="5907088" y="2449513"/>
            <a:ext cx="725487" cy="2541587"/>
            <a:chOff x="3721" y="1543"/>
            <a:chExt cx="457" cy="1601"/>
          </a:xfrm>
        </p:grpSpPr>
        <p:sp>
          <p:nvSpPr>
            <p:cNvPr id="52227" name="Rectangle 1028"/>
            <p:cNvSpPr/>
            <p:nvPr/>
          </p:nvSpPr>
          <p:spPr>
            <a:xfrm>
              <a:off x="3784" y="1543"/>
              <a:ext cx="350" cy="1601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269" name="Rectangle 1029"/>
            <p:cNvSpPr>
              <a:spLocks noChangeArrowheads="1"/>
            </p:cNvSpPr>
            <p:nvPr/>
          </p:nvSpPr>
          <p:spPr bwMode="auto">
            <a:xfrm>
              <a:off x="3721" y="1703"/>
              <a:ext cx="457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312" tIns="44450" rIns="87312" bIns="44450">
              <a:spAutoFit/>
            </a:bodyPr>
            <a:lstStyle/>
            <a:p>
              <a:pPr marL="0" marR="0" lvl="0" indent="0" algn="ctr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EDFA</a:t>
              </a:r>
              <a:endPara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频带</a:t>
              </a: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2229" name="Line 1030"/>
          <p:cNvSpPr/>
          <p:nvPr/>
        </p:nvSpPr>
        <p:spPr>
          <a:xfrm>
            <a:off x="1487488" y="5027613"/>
            <a:ext cx="64039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0" name="Line 1031"/>
          <p:cNvSpPr/>
          <p:nvPr/>
        </p:nvSpPr>
        <p:spPr>
          <a:xfrm flipV="1">
            <a:off x="261143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1" name="Line 1032"/>
          <p:cNvSpPr/>
          <p:nvPr/>
        </p:nvSpPr>
        <p:spPr>
          <a:xfrm flipV="1">
            <a:off x="366553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2" name="Line 1033"/>
          <p:cNvSpPr/>
          <p:nvPr/>
        </p:nvSpPr>
        <p:spPr>
          <a:xfrm flipV="1">
            <a:off x="4719638" y="4935538"/>
            <a:ext cx="0" cy="13652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3" name="Line 1034"/>
          <p:cNvSpPr/>
          <p:nvPr/>
        </p:nvSpPr>
        <p:spPr>
          <a:xfrm flipV="1">
            <a:off x="5768975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4" name="Line 1035"/>
          <p:cNvSpPr/>
          <p:nvPr/>
        </p:nvSpPr>
        <p:spPr>
          <a:xfrm flipV="1">
            <a:off x="682148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5" name="Freeform 1036"/>
          <p:cNvSpPr/>
          <p:nvPr/>
        </p:nvSpPr>
        <p:spPr>
          <a:xfrm>
            <a:off x="1565275" y="2259013"/>
            <a:ext cx="6357938" cy="2166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876" h="1050">
                <a:moveTo>
                  <a:pt x="0" y="0"/>
                </a:moveTo>
                <a:lnTo>
                  <a:pt x="95" y="104"/>
                </a:lnTo>
                <a:lnTo>
                  <a:pt x="192" y="203"/>
                </a:lnTo>
                <a:lnTo>
                  <a:pt x="287" y="289"/>
                </a:lnTo>
                <a:lnTo>
                  <a:pt x="383" y="372"/>
                </a:lnTo>
                <a:lnTo>
                  <a:pt x="479" y="446"/>
                </a:lnTo>
                <a:lnTo>
                  <a:pt x="574" y="514"/>
                </a:lnTo>
                <a:lnTo>
                  <a:pt x="671" y="576"/>
                </a:lnTo>
                <a:lnTo>
                  <a:pt x="766" y="636"/>
                </a:lnTo>
                <a:lnTo>
                  <a:pt x="862" y="689"/>
                </a:lnTo>
                <a:lnTo>
                  <a:pt x="958" y="738"/>
                </a:lnTo>
                <a:lnTo>
                  <a:pt x="1054" y="782"/>
                </a:lnTo>
                <a:lnTo>
                  <a:pt x="1102" y="805"/>
                </a:lnTo>
                <a:lnTo>
                  <a:pt x="1150" y="809"/>
                </a:lnTo>
                <a:lnTo>
                  <a:pt x="1197" y="809"/>
                </a:lnTo>
                <a:lnTo>
                  <a:pt x="1246" y="805"/>
                </a:lnTo>
                <a:lnTo>
                  <a:pt x="1293" y="754"/>
                </a:lnTo>
                <a:lnTo>
                  <a:pt x="1341" y="599"/>
                </a:lnTo>
                <a:lnTo>
                  <a:pt x="1365" y="421"/>
                </a:lnTo>
                <a:lnTo>
                  <a:pt x="1389" y="344"/>
                </a:lnTo>
                <a:lnTo>
                  <a:pt x="1438" y="395"/>
                </a:lnTo>
                <a:lnTo>
                  <a:pt x="1485" y="599"/>
                </a:lnTo>
                <a:lnTo>
                  <a:pt x="1533" y="754"/>
                </a:lnTo>
                <a:lnTo>
                  <a:pt x="1581" y="855"/>
                </a:lnTo>
                <a:lnTo>
                  <a:pt x="1629" y="934"/>
                </a:lnTo>
                <a:lnTo>
                  <a:pt x="1677" y="959"/>
                </a:lnTo>
                <a:lnTo>
                  <a:pt x="1724" y="984"/>
                </a:lnTo>
                <a:lnTo>
                  <a:pt x="1772" y="997"/>
                </a:lnTo>
                <a:lnTo>
                  <a:pt x="1820" y="1010"/>
                </a:lnTo>
                <a:lnTo>
                  <a:pt x="1916" y="1030"/>
                </a:lnTo>
                <a:lnTo>
                  <a:pt x="2012" y="1041"/>
                </a:lnTo>
                <a:lnTo>
                  <a:pt x="2108" y="1046"/>
                </a:lnTo>
                <a:lnTo>
                  <a:pt x="2204" y="1049"/>
                </a:lnTo>
                <a:lnTo>
                  <a:pt x="2300" y="1044"/>
                </a:lnTo>
                <a:lnTo>
                  <a:pt x="2395" y="1030"/>
                </a:lnTo>
                <a:lnTo>
                  <a:pt x="2492" y="1013"/>
                </a:lnTo>
                <a:lnTo>
                  <a:pt x="2587" y="984"/>
                </a:lnTo>
                <a:lnTo>
                  <a:pt x="2682" y="945"/>
                </a:lnTo>
                <a:lnTo>
                  <a:pt x="2779" y="894"/>
                </a:lnTo>
                <a:lnTo>
                  <a:pt x="2875" y="831"/>
                </a:lnTo>
              </a:path>
            </a:pathLst>
          </a:custGeom>
          <a:noFill/>
          <a:ln w="5715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2236" name="Line 1037"/>
          <p:cNvSpPr/>
          <p:nvPr/>
        </p:nvSpPr>
        <p:spPr>
          <a:xfrm flipV="1">
            <a:off x="1506538" y="2392363"/>
            <a:ext cx="0" cy="26622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7" name="Line 1038"/>
          <p:cNvSpPr/>
          <p:nvPr/>
        </p:nvSpPr>
        <p:spPr>
          <a:xfrm>
            <a:off x="1506538" y="3941763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8" name="Line 1039"/>
          <p:cNvSpPr/>
          <p:nvPr/>
        </p:nvSpPr>
        <p:spPr>
          <a:xfrm>
            <a:off x="1506538" y="3432175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39" name="Line 1040"/>
          <p:cNvSpPr/>
          <p:nvPr/>
        </p:nvSpPr>
        <p:spPr>
          <a:xfrm>
            <a:off x="1506538" y="2925763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40" name="Line 1041"/>
          <p:cNvSpPr/>
          <p:nvPr/>
        </p:nvSpPr>
        <p:spPr>
          <a:xfrm>
            <a:off x="1506538" y="2414588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41" name="Line 1042"/>
          <p:cNvSpPr/>
          <p:nvPr/>
        </p:nvSpPr>
        <p:spPr>
          <a:xfrm>
            <a:off x="1433513" y="3941763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42" name="Line 1043"/>
          <p:cNvSpPr/>
          <p:nvPr/>
        </p:nvSpPr>
        <p:spPr>
          <a:xfrm>
            <a:off x="1433513" y="3432175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43" name="Line 1044"/>
          <p:cNvSpPr/>
          <p:nvPr/>
        </p:nvSpPr>
        <p:spPr>
          <a:xfrm>
            <a:off x="1433513" y="2925763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44" name="Line 1045"/>
          <p:cNvSpPr/>
          <p:nvPr/>
        </p:nvSpPr>
        <p:spPr>
          <a:xfrm>
            <a:off x="1433513" y="2414588"/>
            <a:ext cx="120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45" name="Rectangle 1046"/>
          <p:cNvSpPr/>
          <p:nvPr/>
        </p:nvSpPr>
        <p:spPr>
          <a:xfrm>
            <a:off x="833438" y="4765675"/>
            <a:ext cx="457200" cy="331788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0.1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46" name="Rectangle 1047"/>
          <p:cNvSpPr/>
          <p:nvPr/>
        </p:nvSpPr>
        <p:spPr>
          <a:xfrm>
            <a:off x="833438" y="4281488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0.2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47" name="Rectangle 1048"/>
          <p:cNvSpPr/>
          <p:nvPr/>
        </p:nvSpPr>
        <p:spPr>
          <a:xfrm>
            <a:off x="833438" y="3727450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0.3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48" name="Rectangle 1049"/>
          <p:cNvSpPr/>
          <p:nvPr/>
        </p:nvSpPr>
        <p:spPr>
          <a:xfrm>
            <a:off x="833438" y="3213100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0.4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49" name="Rectangle 1050"/>
          <p:cNvSpPr/>
          <p:nvPr/>
        </p:nvSpPr>
        <p:spPr>
          <a:xfrm>
            <a:off x="833438" y="2708275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0.5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0" name="Rectangle 1051"/>
          <p:cNvSpPr/>
          <p:nvPr/>
        </p:nvSpPr>
        <p:spPr>
          <a:xfrm>
            <a:off x="833438" y="2174875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0.6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1" name="Line 1052"/>
          <p:cNvSpPr/>
          <p:nvPr/>
        </p:nvSpPr>
        <p:spPr>
          <a:xfrm>
            <a:off x="1433513" y="4479925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293" name="Rectangle 1053"/>
          <p:cNvSpPr>
            <a:spLocks noChangeArrowheads="1"/>
          </p:cNvSpPr>
          <p:nvPr/>
        </p:nvSpPr>
        <p:spPr bwMode="auto">
          <a:xfrm rot="16200000">
            <a:off x="-192087" y="3916363"/>
            <a:ext cx="16557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E35A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7312" tIns="44450" rIns="87312" bIns="44450">
            <a:spAutoFit/>
          </a:bodyPr>
          <a:lstStyle/>
          <a:p>
            <a:pPr marL="0" marR="0" lvl="0" indent="0" algn="l" defTabSz="8394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衰减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(dB/km)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81D58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53" name="Rectangle 1054"/>
          <p:cNvSpPr/>
          <p:nvPr/>
        </p:nvSpPr>
        <p:spPr>
          <a:xfrm>
            <a:off x="6346825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1600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4" name="Rectangle 1055"/>
          <p:cNvSpPr/>
          <p:nvPr/>
        </p:nvSpPr>
        <p:spPr>
          <a:xfrm>
            <a:off x="7361238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1700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5" name="Rectangle 1056"/>
          <p:cNvSpPr/>
          <p:nvPr/>
        </p:nvSpPr>
        <p:spPr>
          <a:xfrm>
            <a:off x="4329113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1400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6" name="Rectangle 1057"/>
          <p:cNvSpPr/>
          <p:nvPr/>
        </p:nvSpPr>
        <p:spPr>
          <a:xfrm>
            <a:off x="3194050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1300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7" name="Rectangle 1058"/>
          <p:cNvSpPr/>
          <p:nvPr/>
        </p:nvSpPr>
        <p:spPr>
          <a:xfrm>
            <a:off x="2124075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1200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8" name="Rectangle 1059"/>
          <p:cNvSpPr/>
          <p:nvPr/>
        </p:nvSpPr>
        <p:spPr>
          <a:xfrm>
            <a:off x="5345113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1500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59" name="Rectangle 1060"/>
          <p:cNvSpPr/>
          <p:nvPr/>
        </p:nvSpPr>
        <p:spPr>
          <a:xfrm>
            <a:off x="1035050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1100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7301" name="Rectangle 1061"/>
          <p:cNvSpPr>
            <a:spLocks noChangeArrowheads="1"/>
          </p:cNvSpPr>
          <p:nvPr/>
        </p:nvSpPr>
        <p:spPr bwMode="auto">
          <a:xfrm>
            <a:off x="3373438" y="5467350"/>
            <a:ext cx="1104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E35A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2" tIns="44450" rIns="87312" bIns="44450">
            <a:spAutoFit/>
          </a:bodyPr>
          <a:lstStyle/>
          <a:p>
            <a:pPr marL="0" marR="0" lvl="0" indent="0" algn="l" defTabSz="8394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波长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61" name="Line 1062"/>
          <p:cNvSpPr/>
          <p:nvPr/>
        </p:nvSpPr>
        <p:spPr>
          <a:xfrm flipV="1">
            <a:off x="5768975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62" name="Line 1063"/>
          <p:cNvSpPr/>
          <p:nvPr/>
        </p:nvSpPr>
        <p:spPr>
          <a:xfrm flipV="1">
            <a:off x="682148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63" name="Line 1064"/>
          <p:cNvSpPr/>
          <p:nvPr/>
        </p:nvSpPr>
        <p:spPr>
          <a:xfrm>
            <a:off x="3784600" y="3562350"/>
            <a:ext cx="0" cy="1492250"/>
          </a:xfrm>
          <a:prstGeom prst="line">
            <a:avLst/>
          </a:prstGeom>
          <a:ln w="12700" cap="flat" cmpd="sng">
            <a:solidFill>
              <a:srgbClr val="FCFEB9"/>
            </a:solidFill>
            <a:prstDash val="sysDot"/>
            <a:round/>
            <a:headEnd type="none" w="sm" len="sm"/>
            <a:tailEnd type="none" w="sm" len="sm"/>
          </a:ln>
        </p:spPr>
      </p:sp>
      <p:sp>
        <p:nvSpPr>
          <p:cNvPr id="52264" name="Line 1065"/>
          <p:cNvSpPr/>
          <p:nvPr/>
        </p:nvSpPr>
        <p:spPr>
          <a:xfrm flipH="1">
            <a:off x="6256338" y="3587750"/>
            <a:ext cx="1587" cy="1436688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</p:sp>
      <p:sp>
        <p:nvSpPr>
          <p:cNvPr id="52265" name="Line 1066"/>
          <p:cNvSpPr/>
          <p:nvPr/>
        </p:nvSpPr>
        <p:spPr>
          <a:xfrm flipH="1">
            <a:off x="1487488" y="3711575"/>
            <a:ext cx="6353175" cy="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</p:sp>
      <p:grpSp>
        <p:nvGrpSpPr>
          <p:cNvPr id="52266" name="Group 1067"/>
          <p:cNvGrpSpPr/>
          <p:nvPr/>
        </p:nvGrpSpPr>
        <p:grpSpPr>
          <a:xfrm>
            <a:off x="7813675" y="2233613"/>
            <a:ext cx="1084263" cy="2898775"/>
            <a:chOff x="4082" y="1433"/>
            <a:chExt cx="490" cy="1461"/>
          </a:xfrm>
        </p:grpSpPr>
        <p:sp>
          <p:nvSpPr>
            <p:cNvPr id="52267" name="Line 1068"/>
            <p:cNvSpPr/>
            <p:nvPr/>
          </p:nvSpPr>
          <p:spPr>
            <a:xfrm flipV="1">
              <a:off x="4099" y="2806"/>
              <a:ext cx="0" cy="6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2268" name="Line 1069"/>
            <p:cNvSpPr/>
            <p:nvPr/>
          </p:nvSpPr>
          <p:spPr>
            <a:xfrm flipH="1" flipV="1">
              <a:off x="4099" y="1503"/>
              <a:ext cx="4" cy="136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2269" name="Line 1070"/>
            <p:cNvSpPr/>
            <p:nvPr/>
          </p:nvSpPr>
          <p:spPr>
            <a:xfrm flipH="1">
              <a:off x="4082" y="2507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2270" name="Line 1071"/>
            <p:cNvSpPr/>
            <p:nvPr/>
          </p:nvSpPr>
          <p:spPr>
            <a:xfrm flipH="1">
              <a:off x="4082" y="2176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2271" name="Line 1072"/>
            <p:cNvSpPr/>
            <p:nvPr/>
          </p:nvSpPr>
          <p:spPr>
            <a:xfrm flipH="1">
              <a:off x="4082" y="1839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2272" name="Line 1073"/>
            <p:cNvSpPr/>
            <p:nvPr/>
          </p:nvSpPr>
          <p:spPr>
            <a:xfrm flipH="1">
              <a:off x="4082" y="1503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2273" name="Rectangle 1074"/>
            <p:cNvSpPr/>
            <p:nvPr/>
          </p:nvSpPr>
          <p:spPr>
            <a:xfrm flipH="1">
              <a:off x="4107" y="1433"/>
              <a:ext cx="315" cy="1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87312" tIns="44450" rIns="87312" bIns="44450" anchor="t" anchorCtr="0">
              <a:spAutoFit/>
            </a:bodyPr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 20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 10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  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-10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-20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315" name="Rectangle 1075"/>
            <p:cNvSpPr>
              <a:spLocks noChangeArrowheads="1"/>
            </p:cNvSpPr>
            <p:nvPr/>
          </p:nvSpPr>
          <p:spPr bwMode="auto">
            <a:xfrm rot="16200000">
              <a:off x="4023" y="2345"/>
              <a:ext cx="93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312" tIns="44450" rIns="87312" bIns="44450">
              <a:spAutoFit/>
            </a:bodyPr>
            <a:lstStyle/>
            <a:p>
              <a:pPr marL="0" marR="0" lvl="0" indent="0" algn="l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色散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(ps/nm.km)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81D5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2275" name="Group 1076"/>
          <p:cNvGrpSpPr/>
          <p:nvPr/>
        </p:nvGrpSpPr>
        <p:grpSpPr>
          <a:xfrm>
            <a:off x="4511675" y="2917825"/>
            <a:ext cx="3563938" cy="2005013"/>
            <a:chOff x="2842" y="1999"/>
            <a:chExt cx="2245" cy="1263"/>
          </a:xfrm>
        </p:grpSpPr>
        <p:sp>
          <p:nvSpPr>
            <p:cNvPr id="52276" name="Rectangle 1077"/>
            <p:cNvSpPr/>
            <p:nvPr/>
          </p:nvSpPr>
          <p:spPr>
            <a:xfrm>
              <a:off x="4061" y="1999"/>
              <a:ext cx="1026" cy="22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87312" tIns="44450" rIns="87312" bIns="44450" anchor="t" anchorCtr="0">
              <a:spAutoFit/>
            </a:bodyPr>
            <a:p>
              <a:pPr algn="ctr" defTabSz="840105" eaLnBrk="0" hangingPunct="0"/>
              <a:r>
                <a:rPr lang="en-US" altLang="zh-CN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G.653</a:t>
              </a:r>
              <a:endPara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77" name="Freeform 1078"/>
            <p:cNvSpPr/>
            <p:nvPr/>
          </p:nvSpPr>
          <p:spPr>
            <a:xfrm>
              <a:off x="2842" y="2198"/>
              <a:ext cx="1727" cy="1064"/>
            </a:xfrm>
            <a:custGeom>
              <a:avLst/>
              <a:gdLst/>
              <a:ahLst/>
              <a:cxnLst>
                <a:cxn ang="0">
                  <a:pos x="0" y="2071"/>
                </a:cxn>
                <a:cxn ang="0">
                  <a:pos x="1191" y="1330"/>
                </a:cxn>
                <a:cxn ang="0">
                  <a:pos x="2366" y="764"/>
                </a:cxn>
                <a:cxn ang="0">
                  <a:pos x="3522" y="341"/>
                </a:cxn>
                <a:cxn ang="0">
                  <a:pos x="4663" y="0"/>
                </a:cxn>
              </a:cxnLst>
              <a:pathLst>
                <a:path w="1240" h="852">
                  <a:moveTo>
                    <a:pt x="0" y="851"/>
                  </a:moveTo>
                  <a:lnTo>
                    <a:pt x="317" y="547"/>
                  </a:lnTo>
                  <a:lnTo>
                    <a:pt x="629" y="314"/>
                  </a:lnTo>
                  <a:lnTo>
                    <a:pt x="936" y="140"/>
                  </a:lnTo>
                  <a:lnTo>
                    <a:pt x="1239" y="0"/>
                  </a:lnTo>
                </a:path>
              </a:pathLst>
            </a:custGeom>
            <a:noFill/>
            <a:ln w="38100" cap="rnd" cmpd="sng">
              <a:solidFill>
                <a:srgbClr val="7B0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2278" name="Group 1079"/>
          <p:cNvGrpSpPr/>
          <p:nvPr/>
        </p:nvGrpSpPr>
        <p:grpSpPr>
          <a:xfrm>
            <a:off x="3544888" y="1855788"/>
            <a:ext cx="3709987" cy="2022475"/>
            <a:chOff x="2233" y="1169"/>
            <a:chExt cx="2337" cy="1274"/>
          </a:xfrm>
        </p:grpSpPr>
        <p:sp>
          <p:nvSpPr>
            <p:cNvPr id="52279" name="Text Box 1080"/>
            <p:cNvSpPr txBox="1"/>
            <p:nvPr/>
          </p:nvSpPr>
          <p:spPr>
            <a:xfrm>
              <a:off x="3584" y="1169"/>
              <a:ext cx="98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17ps/nm.km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2280" name="Group 1081"/>
            <p:cNvGrpSpPr/>
            <p:nvPr/>
          </p:nvGrpSpPr>
          <p:grpSpPr>
            <a:xfrm>
              <a:off x="2233" y="1438"/>
              <a:ext cx="2307" cy="1005"/>
              <a:chOff x="2233" y="1438"/>
              <a:chExt cx="2307" cy="1005"/>
            </a:xfrm>
          </p:grpSpPr>
          <p:sp>
            <p:nvSpPr>
              <p:cNvPr id="52281" name="Line 1082"/>
              <p:cNvSpPr/>
              <p:nvPr/>
            </p:nvSpPr>
            <p:spPr>
              <a:xfrm>
                <a:off x="3433" y="1624"/>
                <a:ext cx="198" cy="9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med" len="lg"/>
              </a:ln>
            </p:spPr>
          </p:sp>
          <p:grpSp>
            <p:nvGrpSpPr>
              <p:cNvPr id="52282" name="Group 1083"/>
              <p:cNvGrpSpPr/>
              <p:nvPr/>
            </p:nvGrpSpPr>
            <p:grpSpPr>
              <a:xfrm>
                <a:off x="2233" y="1438"/>
                <a:ext cx="2307" cy="1005"/>
                <a:chOff x="2233" y="1599"/>
                <a:chExt cx="2307" cy="1005"/>
              </a:xfrm>
            </p:grpSpPr>
            <p:sp>
              <p:nvSpPr>
                <p:cNvPr id="52283" name="Rectangle 1084"/>
                <p:cNvSpPr/>
                <p:nvPr/>
              </p:nvSpPr>
              <p:spPr>
                <a:xfrm>
                  <a:off x="2954" y="1599"/>
                  <a:ext cx="502" cy="2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87312" tIns="44450" rIns="87312" bIns="44450" anchor="t" anchorCtr="0">
                  <a:spAutoFit/>
                </a:bodyPr>
                <a:p>
                  <a:pPr defTabSz="840105" eaLnBrk="0" hangingPunct="0"/>
                  <a:r>
                    <a:rPr lang="en-US" altLang="zh-CN" sz="18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G.652</a:t>
                  </a:r>
                  <a:endParaRPr lang="en-US" altLang="zh-CN" sz="1800" b="1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84" name="Freeform 1085"/>
                <p:cNvSpPr/>
                <p:nvPr/>
              </p:nvSpPr>
              <p:spPr>
                <a:xfrm>
                  <a:off x="2233" y="1617"/>
                  <a:ext cx="2307" cy="987"/>
                </a:xfrm>
                <a:custGeom>
                  <a:avLst/>
                  <a:gdLst/>
                  <a:ahLst/>
                  <a:cxnLst>
                    <a:cxn ang="0">
                      <a:pos x="0" y="1915"/>
                    </a:cxn>
                    <a:cxn ang="0">
                      <a:pos x="1674" y="1162"/>
                    </a:cxn>
                    <a:cxn ang="0">
                      <a:pos x="3257" y="624"/>
                    </a:cxn>
                    <a:cxn ang="0">
                      <a:pos x="4763" y="262"/>
                    </a:cxn>
                    <a:cxn ang="0">
                      <a:pos x="6225" y="0"/>
                    </a:cxn>
                  </a:cxnLst>
                  <a:pathLst>
                    <a:path w="1657" h="791">
                      <a:moveTo>
                        <a:pt x="0" y="790"/>
                      </a:moveTo>
                      <a:lnTo>
                        <a:pt x="445" y="479"/>
                      </a:lnTo>
                      <a:lnTo>
                        <a:pt x="867" y="257"/>
                      </a:lnTo>
                      <a:lnTo>
                        <a:pt x="1268" y="108"/>
                      </a:lnTo>
                      <a:lnTo>
                        <a:pt x="1656" y="0"/>
                      </a:lnTo>
                    </a:path>
                  </a:pathLst>
                </a:custGeom>
                <a:noFill/>
                <a:ln w="25400" cap="rnd" cmpd="sng">
                  <a:solidFill>
                    <a:srgbClr val="FC012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267326" name="Group 1086"/>
          <p:cNvGrpSpPr/>
          <p:nvPr/>
        </p:nvGrpSpPr>
        <p:grpSpPr>
          <a:xfrm>
            <a:off x="990600" y="1905000"/>
            <a:ext cx="7543800" cy="2633663"/>
            <a:chOff x="576" y="1104"/>
            <a:chExt cx="4752" cy="1659"/>
          </a:xfrm>
        </p:grpSpPr>
        <p:sp>
          <p:nvSpPr>
            <p:cNvPr id="52286" name="Text Box 1087" descr="紫色网格"/>
            <p:cNvSpPr txBox="1"/>
            <p:nvPr/>
          </p:nvSpPr>
          <p:spPr>
            <a:xfrm>
              <a:off x="576" y="1763"/>
              <a:ext cx="4752" cy="1000"/>
            </a:xfrm>
            <a:prstGeom prst="rect">
              <a:avLst/>
            </a:prstGeom>
            <a:blipFill rotWithShape="0">
              <a:blip r:embed="rId1"/>
            </a:blipFill>
            <a:ln w="28575">
              <a:noFill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66"/>
                  </a:solidFill>
                  <a:latin typeface="Arial Black" panose="020B0A04020102020204" pitchFamily="34" charset="0"/>
                  <a:ea typeface="黑体" panose="02010609060101010101" pitchFamily="1" charset="-122"/>
                </a:rPr>
                <a:t>非线性大</a:t>
              </a:r>
              <a:endParaRPr lang="zh-CN" altLang="en-US" sz="2800" b="1" dirty="0">
                <a:solidFill>
                  <a:srgbClr val="FFFF66"/>
                </a:solidFill>
                <a:latin typeface="Arial Black" panose="020B0A04020102020204" pitchFamily="34" charset="0"/>
                <a:ea typeface="黑体" panose="02010609060101010101" pitchFamily="1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66"/>
                  </a:solidFill>
                  <a:latin typeface="Arial Black" panose="020B0A04020102020204" pitchFamily="34" charset="0"/>
                  <a:ea typeface="黑体" panose="02010609060101010101" pitchFamily="1" charset="-122"/>
                </a:rPr>
                <a:t>色散非常小</a:t>
              </a:r>
              <a:r>
                <a:rPr lang="en-US" altLang="zh-CN" sz="28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黑体" panose="02010609060101010101" pitchFamily="1" charset="-122"/>
                </a:rPr>
                <a:t>@1550nm</a:t>
              </a:r>
              <a:r>
                <a:rPr lang="zh-CN" altLang="en-US" sz="2800" b="1" dirty="0">
                  <a:solidFill>
                    <a:srgbClr val="FFFF66"/>
                  </a:solidFill>
                  <a:latin typeface="Arial Black" panose="020B0A04020102020204" pitchFamily="34" charset="0"/>
                  <a:ea typeface="黑体" panose="02010609060101010101" pitchFamily="1" charset="-122"/>
                </a:rPr>
                <a:t>窗口</a:t>
              </a:r>
              <a:r>
                <a:rPr lang="zh-CN" altLang="en-US" sz="2800" b="1" dirty="0">
                  <a:solidFill>
                    <a:srgbClr val="FFFF66"/>
                  </a:solidFill>
                  <a:latin typeface="Arial Black" panose="020B0A04020102020204" pitchFamily="34" charset="0"/>
                  <a:ea typeface="黑体" panose="02010609060101010101" pitchFamily="1" charset="-122"/>
                  <a:sym typeface="Symbol" panose="05050102010706020507" pitchFamily="18" charset="2"/>
                </a:rPr>
                <a:t>不同信道的</a:t>
              </a:r>
              <a:r>
                <a:rPr lang="en-US" altLang="zh-CN" sz="28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黑体" panose="02010609060101010101" pitchFamily="1" charset="-122"/>
                  <a:sym typeface="Symbol" panose="05050102010706020507" pitchFamily="18" charset="2"/>
                </a:rPr>
                <a:t>WDM</a:t>
              </a:r>
              <a:r>
                <a:rPr lang="zh-CN" altLang="en-US" sz="2800" b="1" dirty="0">
                  <a:solidFill>
                    <a:srgbClr val="FFFF66"/>
                  </a:solidFill>
                  <a:latin typeface="Arial Black" panose="020B0A04020102020204" pitchFamily="34" charset="0"/>
                  <a:ea typeface="黑体" panose="02010609060101010101" pitchFamily="1" charset="-122"/>
                  <a:sym typeface="Symbol" panose="05050102010706020507" pitchFamily="18" charset="2"/>
                </a:rPr>
                <a:t>信号传输速度相近四波混频</a:t>
              </a:r>
              <a:r>
                <a:rPr lang="en-US" altLang="zh-CN" sz="28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黑体" panose="02010609060101010101" pitchFamily="1" charset="-122"/>
                  <a:sym typeface="Symbol" panose="05050102010706020507" pitchFamily="18" charset="2"/>
                </a:rPr>
                <a:t>FWM</a:t>
              </a:r>
              <a:r>
                <a:rPr lang="zh-CN" altLang="en-US" sz="2800" b="1" dirty="0">
                  <a:solidFill>
                    <a:srgbClr val="FFFF66"/>
                  </a:solidFill>
                  <a:latin typeface="Arial Black" panose="020B0A04020102020204" pitchFamily="34" charset="0"/>
                  <a:ea typeface="黑体" panose="02010609060101010101" pitchFamily="1" charset="-122"/>
                  <a:sym typeface="Symbol" panose="05050102010706020507" pitchFamily="18" charset="2"/>
                </a:rPr>
                <a:t>严重</a:t>
              </a:r>
              <a:endParaRPr lang="zh-CN" altLang="en-US" sz="2800" b="1" dirty="0">
                <a:solidFill>
                  <a:srgbClr val="FFFF66"/>
                </a:solidFill>
                <a:latin typeface="Arial Black" panose="020B0A04020102020204" pitchFamily="34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67328" name="AutoShape 1088"/>
            <p:cNvSpPr>
              <a:spLocks noChangeArrowheads="1"/>
            </p:cNvSpPr>
            <p:nvPr/>
          </p:nvSpPr>
          <p:spPr bwMode="auto">
            <a:xfrm>
              <a:off x="1685" y="1104"/>
              <a:ext cx="2112" cy="605"/>
            </a:xfrm>
            <a:prstGeom prst="wedgeEllipseCallout">
              <a:avLst>
                <a:gd name="adj1" fmla="val -29375"/>
                <a:gd name="adj2" fmla="val -30870"/>
              </a:avLst>
            </a:prstGeom>
            <a:solidFill>
              <a:schemeClr val="hlink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Problem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7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7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7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7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5218" name="Text Box 1026"/>
          <p:cNvSpPr txBox="1">
            <a:spLocks noChangeArrowheads="1"/>
          </p:cNvSpPr>
          <p:nvPr/>
        </p:nvSpPr>
        <p:spPr bwMode="auto">
          <a:xfrm>
            <a:off x="1438275" y="550863"/>
            <a:ext cx="4475163" cy="5794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G.655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非零色散位移光纤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pSp>
        <p:nvGrpSpPr>
          <p:cNvPr id="53250" name="Group 1027"/>
          <p:cNvGrpSpPr/>
          <p:nvPr/>
        </p:nvGrpSpPr>
        <p:grpSpPr>
          <a:xfrm>
            <a:off x="5689600" y="1855788"/>
            <a:ext cx="1565275" cy="3135312"/>
            <a:chOff x="3584" y="1330"/>
            <a:chExt cx="986" cy="1975"/>
          </a:xfrm>
        </p:grpSpPr>
        <p:grpSp>
          <p:nvGrpSpPr>
            <p:cNvPr id="53251" name="Group 1028"/>
            <p:cNvGrpSpPr/>
            <p:nvPr/>
          </p:nvGrpSpPr>
          <p:grpSpPr>
            <a:xfrm>
              <a:off x="3584" y="1330"/>
              <a:ext cx="986" cy="1975"/>
              <a:chOff x="3584" y="1330"/>
              <a:chExt cx="986" cy="1975"/>
            </a:xfrm>
          </p:grpSpPr>
          <p:sp>
            <p:nvSpPr>
              <p:cNvPr id="53252" name="Rectangle 1029"/>
              <p:cNvSpPr/>
              <p:nvPr/>
            </p:nvSpPr>
            <p:spPr>
              <a:xfrm>
                <a:off x="3784" y="1704"/>
                <a:ext cx="350" cy="1601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53" name="Text Box 1030"/>
              <p:cNvSpPr txBox="1"/>
              <p:nvPr/>
            </p:nvSpPr>
            <p:spPr>
              <a:xfrm>
                <a:off x="3584" y="1330"/>
                <a:ext cx="98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17ps/nm.km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5223" name="Rectangle 1031"/>
            <p:cNvSpPr>
              <a:spLocks noChangeArrowheads="1"/>
            </p:cNvSpPr>
            <p:nvPr/>
          </p:nvSpPr>
          <p:spPr bwMode="auto">
            <a:xfrm>
              <a:off x="3721" y="1864"/>
              <a:ext cx="457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312" tIns="44450" rIns="87312" bIns="44450">
              <a:spAutoFit/>
            </a:bodyPr>
            <a:lstStyle/>
            <a:p>
              <a:pPr marL="0" marR="0" lvl="0" indent="0" algn="ctr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EDFA</a:t>
              </a:r>
              <a:endPara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频带</a:t>
              </a: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3255" name="Line 1032"/>
          <p:cNvSpPr/>
          <p:nvPr/>
        </p:nvSpPr>
        <p:spPr>
          <a:xfrm>
            <a:off x="1487488" y="5027613"/>
            <a:ext cx="64039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6" name="Line 1033"/>
          <p:cNvSpPr/>
          <p:nvPr/>
        </p:nvSpPr>
        <p:spPr>
          <a:xfrm flipV="1">
            <a:off x="261143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7" name="Line 1034"/>
          <p:cNvSpPr/>
          <p:nvPr/>
        </p:nvSpPr>
        <p:spPr>
          <a:xfrm flipV="1">
            <a:off x="366553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8" name="Line 1035"/>
          <p:cNvSpPr/>
          <p:nvPr/>
        </p:nvSpPr>
        <p:spPr>
          <a:xfrm flipV="1">
            <a:off x="4719638" y="4935538"/>
            <a:ext cx="0" cy="13652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9" name="Line 1036"/>
          <p:cNvSpPr/>
          <p:nvPr/>
        </p:nvSpPr>
        <p:spPr>
          <a:xfrm flipV="1">
            <a:off x="5768975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0" name="Line 1037"/>
          <p:cNvSpPr/>
          <p:nvPr/>
        </p:nvSpPr>
        <p:spPr>
          <a:xfrm flipV="1">
            <a:off x="682148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1" name="Freeform 1038"/>
          <p:cNvSpPr/>
          <p:nvPr/>
        </p:nvSpPr>
        <p:spPr>
          <a:xfrm>
            <a:off x="1565275" y="2259013"/>
            <a:ext cx="6357938" cy="2166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876" h="1050">
                <a:moveTo>
                  <a:pt x="0" y="0"/>
                </a:moveTo>
                <a:lnTo>
                  <a:pt x="95" y="104"/>
                </a:lnTo>
                <a:lnTo>
                  <a:pt x="192" y="203"/>
                </a:lnTo>
                <a:lnTo>
                  <a:pt x="287" y="289"/>
                </a:lnTo>
                <a:lnTo>
                  <a:pt x="383" y="372"/>
                </a:lnTo>
                <a:lnTo>
                  <a:pt x="479" y="446"/>
                </a:lnTo>
                <a:lnTo>
                  <a:pt x="574" y="514"/>
                </a:lnTo>
                <a:lnTo>
                  <a:pt x="671" y="576"/>
                </a:lnTo>
                <a:lnTo>
                  <a:pt x="766" y="636"/>
                </a:lnTo>
                <a:lnTo>
                  <a:pt x="862" y="689"/>
                </a:lnTo>
                <a:lnTo>
                  <a:pt x="958" y="738"/>
                </a:lnTo>
                <a:lnTo>
                  <a:pt x="1054" y="782"/>
                </a:lnTo>
                <a:lnTo>
                  <a:pt x="1102" y="805"/>
                </a:lnTo>
                <a:lnTo>
                  <a:pt x="1150" y="809"/>
                </a:lnTo>
                <a:lnTo>
                  <a:pt x="1197" y="809"/>
                </a:lnTo>
                <a:lnTo>
                  <a:pt x="1246" y="805"/>
                </a:lnTo>
                <a:lnTo>
                  <a:pt x="1293" y="754"/>
                </a:lnTo>
                <a:lnTo>
                  <a:pt x="1341" y="599"/>
                </a:lnTo>
                <a:lnTo>
                  <a:pt x="1365" y="421"/>
                </a:lnTo>
                <a:lnTo>
                  <a:pt x="1389" y="344"/>
                </a:lnTo>
                <a:lnTo>
                  <a:pt x="1438" y="395"/>
                </a:lnTo>
                <a:lnTo>
                  <a:pt x="1485" y="599"/>
                </a:lnTo>
                <a:lnTo>
                  <a:pt x="1533" y="754"/>
                </a:lnTo>
                <a:lnTo>
                  <a:pt x="1581" y="855"/>
                </a:lnTo>
                <a:lnTo>
                  <a:pt x="1629" y="934"/>
                </a:lnTo>
                <a:lnTo>
                  <a:pt x="1677" y="959"/>
                </a:lnTo>
                <a:lnTo>
                  <a:pt x="1724" y="984"/>
                </a:lnTo>
                <a:lnTo>
                  <a:pt x="1772" y="997"/>
                </a:lnTo>
                <a:lnTo>
                  <a:pt x="1820" y="1010"/>
                </a:lnTo>
                <a:lnTo>
                  <a:pt x="1916" y="1030"/>
                </a:lnTo>
                <a:lnTo>
                  <a:pt x="2012" y="1041"/>
                </a:lnTo>
                <a:lnTo>
                  <a:pt x="2108" y="1046"/>
                </a:lnTo>
                <a:lnTo>
                  <a:pt x="2204" y="1049"/>
                </a:lnTo>
                <a:lnTo>
                  <a:pt x="2300" y="1044"/>
                </a:lnTo>
                <a:lnTo>
                  <a:pt x="2395" y="1030"/>
                </a:lnTo>
                <a:lnTo>
                  <a:pt x="2492" y="1013"/>
                </a:lnTo>
                <a:lnTo>
                  <a:pt x="2587" y="984"/>
                </a:lnTo>
                <a:lnTo>
                  <a:pt x="2682" y="945"/>
                </a:lnTo>
                <a:lnTo>
                  <a:pt x="2779" y="894"/>
                </a:lnTo>
                <a:lnTo>
                  <a:pt x="2875" y="831"/>
                </a:lnTo>
              </a:path>
            </a:pathLst>
          </a:custGeom>
          <a:noFill/>
          <a:ln w="5715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3262" name="Line 1039"/>
          <p:cNvSpPr/>
          <p:nvPr/>
        </p:nvSpPr>
        <p:spPr>
          <a:xfrm flipV="1">
            <a:off x="1506538" y="2392363"/>
            <a:ext cx="0" cy="26622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3" name="Line 1040"/>
          <p:cNvSpPr/>
          <p:nvPr/>
        </p:nvSpPr>
        <p:spPr>
          <a:xfrm>
            <a:off x="1506538" y="3941763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4" name="Line 1041"/>
          <p:cNvSpPr/>
          <p:nvPr/>
        </p:nvSpPr>
        <p:spPr>
          <a:xfrm>
            <a:off x="1506538" y="3432175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5" name="Line 1042"/>
          <p:cNvSpPr/>
          <p:nvPr/>
        </p:nvSpPr>
        <p:spPr>
          <a:xfrm>
            <a:off x="1506538" y="2925763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6" name="Line 1043"/>
          <p:cNvSpPr/>
          <p:nvPr/>
        </p:nvSpPr>
        <p:spPr>
          <a:xfrm>
            <a:off x="1506538" y="2414588"/>
            <a:ext cx="746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7" name="Line 1044"/>
          <p:cNvSpPr/>
          <p:nvPr/>
        </p:nvSpPr>
        <p:spPr>
          <a:xfrm>
            <a:off x="1433513" y="3941763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8" name="Line 1045"/>
          <p:cNvSpPr/>
          <p:nvPr/>
        </p:nvSpPr>
        <p:spPr>
          <a:xfrm>
            <a:off x="1433513" y="3432175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69" name="Line 1046"/>
          <p:cNvSpPr/>
          <p:nvPr/>
        </p:nvSpPr>
        <p:spPr>
          <a:xfrm>
            <a:off x="1433513" y="2925763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70" name="Line 1047"/>
          <p:cNvSpPr/>
          <p:nvPr/>
        </p:nvSpPr>
        <p:spPr>
          <a:xfrm>
            <a:off x="1433513" y="2414588"/>
            <a:ext cx="120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71" name="Rectangle 1048"/>
          <p:cNvSpPr/>
          <p:nvPr/>
        </p:nvSpPr>
        <p:spPr>
          <a:xfrm>
            <a:off x="833438" y="4765675"/>
            <a:ext cx="457200" cy="331788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0.1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2" name="Rectangle 1049"/>
          <p:cNvSpPr/>
          <p:nvPr/>
        </p:nvSpPr>
        <p:spPr>
          <a:xfrm>
            <a:off x="833438" y="4281488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0.2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3" name="Rectangle 1050"/>
          <p:cNvSpPr/>
          <p:nvPr/>
        </p:nvSpPr>
        <p:spPr>
          <a:xfrm>
            <a:off x="833438" y="3727450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0.3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4" name="Rectangle 1051"/>
          <p:cNvSpPr/>
          <p:nvPr/>
        </p:nvSpPr>
        <p:spPr>
          <a:xfrm>
            <a:off x="833438" y="3213100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0.4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5" name="Rectangle 1052"/>
          <p:cNvSpPr/>
          <p:nvPr/>
        </p:nvSpPr>
        <p:spPr>
          <a:xfrm>
            <a:off x="833438" y="2708275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0.5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6" name="Rectangle 1053"/>
          <p:cNvSpPr/>
          <p:nvPr/>
        </p:nvSpPr>
        <p:spPr>
          <a:xfrm>
            <a:off x="833438" y="2174875"/>
            <a:ext cx="45720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0.6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7" name="Line 1054"/>
          <p:cNvSpPr/>
          <p:nvPr/>
        </p:nvSpPr>
        <p:spPr>
          <a:xfrm>
            <a:off x="1433513" y="4479925"/>
            <a:ext cx="147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247" name="Rectangle 1055"/>
          <p:cNvSpPr>
            <a:spLocks noChangeArrowheads="1"/>
          </p:cNvSpPr>
          <p:nvPr/>
        </p:nvSpPr>
        <p:spPr bwMode="auto">
          <a:xfrm rot="16200000">
            <a:off x="-192087" y="3916363"/>
            <a:ext cx="16557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E35A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7312" tIns="44450" rIns="87312" bIns="44450">
            <a:spAutoFit/>
          </a:bodyPr>
          <a:lstStyle/>
          <a:p>
            <a:pPr marL="0" marR="0" lvl="0" indent="0" algn="l" defTabSz="8394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衰减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(dB/km)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81D58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79" name="Rectangle 1056"/>
          <p:cNvSpPr/>
          <p:nvPr/>
        </p:nvSpPr>
        <p:spPr>
          <a:xfrm>
            <a:off x="6346825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1600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0" name="Rectangle 1057"/>
          <p:cNvSpPr/>
          <p:nvPr/>
        </p:nvSpPr>
        <p:spPr>
          <a:xfrm>
            <a:off x="7361238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1700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1" name="Rectangle 1058"/>
          <p:cNvSpPr/>
          <p:nvPr/>
        </p:nvSpPr>
        <p:spPr>
          <a:xfrm>
            <a:off x="4329113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1400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2" name="Rectangle 1059"/>
          <p:cNvSpPr/>
          <p:nvPr/>
        </p:nvSpPr>
        <p:spPr>
          <a:xfrm>
            <a:off x="3194050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1300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3" name="Rectangle 1060"/>
          <p:cNvSpPr/>
          <p:nvPr/>
        </p:nvSpPr>
        <p:spPr>
          <a:xfrm>
            <a:off x="2124075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1200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4" name="Rectangle 1061"/>
          <p:cNvSpPr/>
          <p:nvPr/>
        </p:nvSpPr>
        <p:spPr>
          <a:xfrm>
            <a:off x="5345113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1500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5" name="Rectangle 1062"/>
          <p:cNvSpPr/>
          <p:nvPr/>
        </p:nvSpPr>
        <p:spPr>
          <a:xfrm>
            <a:off x="1035050" y="5103813"/>
            <a:ext cx="62547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87312" tIns="44450" rIns="87312" bIns="44450" anchor="t" anchorCtr="0">
            <a:spAutoFit/>
          </a:bodyPr>
          <a:p>
            <a:pPr defTabSz="840105" eaLnBrk="0" hangingPunct="0"/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1100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5255" name="Rectangle 1063"/>
          <p:cNvSpPr>
            <a:spLocks noChangeArrowheads="1"/>
          </p:cNvSpPr>
          <p:nvPr/>
        </p:nvSpPr>
        <p:spPr bwMode="auto">
          <a:xfrm>
            <a:off x="3373438" y="5467350"/>
            <a:ext cx="11303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E35A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2" tIns="44450" rIns="87312" bIns="44450">
            <a:spAutoFit/>
          </a:bodyPr>
          <a:lstStyle/>
          <a:p>
            <a:pPr marL="0" marR="0" lvl="0" indent="0" algn="l" defTabSz="8394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波长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(nm)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87" name="Line 1064"/>
          <p:cNvSpPr/>
          <p:nvPr/>
        </p:nvSpPr>
        <p:spPr>
          <a:xfrm flipV="1">
            <a:off x="5768975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88" name="Line 1065"/>
          <p:cNvSpPr/>
          <p:nvPr/>
        </p:nvSpPr>
        <p:spPr>
          <a:xfrm flipV="1">
            <a:off x="6821488" y="4935538"/>
            <a:ext cx="0" cy="136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89" name="Line 1066"/>
          <p:cNvSpPr/>
          <p:nvPr/>
        </p:nvSpPr>
        <p:spPr>
          <a:xfrm>
            <a:off x="3784600" y="3562350"/>
            <a:ext cx="0" cy="1492250"/>
          </a:xfrm>
          <a:prstGeom prst="line">
            <a:avLst/>
          </a:prstGeom>
          <a:ln w="12700" cap="flat" cmpd="sng">
            <a:solidFill>
              <a:srgbClr val="FCFEB9"/>
            </a:solidFill>
            <a:prstDash val="sysDot"/>
            <a:round/>
            <a:headEnd type="none" w="sm" len="sm"/>
            <a:tailEnd type="none" w="sm" len="sm"/>
          </a:ln>
        </p:spPr>
      </p:sp>
      <p:sp>
        <p:nvSpPr>
          <p:cNvPr id="53290" name="Line 1067"/>
          <p:cNvSpPr/>
          <p:nvPr/>
        </p:nvSpPr>
        <p:spPr>
          <a:xfrm flipH="1">
            <a:off x="6256338" y="3587750"/>
            <a:ext cx="1587" cy="1436688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</p:sp>
      <p:sp>
        <p:nvSpPr>
          <p:cNvPr id="53291" name="Line 1068"/>
          <p:cNvSpPr/>
          <p:nvPr/>
        </p:nvSpPr>
        <p:spPr>
          <a:xfrm flipH="1">
            <a:off x="1487488" y="3711575"/>
            <a:ext cx="6353175" cy="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</p:sp>
      <p:grpSp>
        <p:nvGrpSpPr>
          <p:cNvPr id="53292" name="Group 1069"/>
          <p:cNvGrpSpPr/>
          <p:nvPr/>
        </p:nvGrpSpPr>
        <p:grpSpPr>
          <a:xfrm>
            <a:off x="7813675" y="2233613"/>
            <a:ext cx="1084263" cy="2898775"/>
            <a:chOff x="4082" y="1433"/>
            <a:chExt cx="490" cy="1461"/>
          </a:xfrm>
        </p:grpSpPr>
        <p:sp>
          <p:nvSpPr>
            <p:cNvPr id="53293" name="Line 1070"/>
            <p:cNvSpPr/>
            <p:nvPr/>
          </p:nvSpPr>
          <p:spPr>
            <a:xfrm flipV="1">
              <a:off x="4099" y="2806"/>
              <a:ext cx="0" cy="6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3294" name="Line 1071"/>
            <p:cNvSpPr/>
            <p:nvPr/>
          </p:nvSpPr>
          <p:spPr>
            <a:xfrm flipH="1" flipV="1">
              <a:off x="4099" y="1503"/>
              <a:ext cx="4" cy="136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3295" name="Line 1072"/>
            <p:cNvSpPr/>
            <p:nvPr/>
          </p:nvSpPr>
          <p:spPr>
            <a:xfrm flipH="1">
              <a:off x="4082" y="2507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3296" name="Line 1073"/>
            <p:cNvSpPr/>
            <p:nvPr/>
          </p:nvSpPr>
          <p:spPr>
            <a:xfrm flipH="1">
              <a:off x="4082" y="2176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3297" name="Line 1074"/>
            <p:cNvSpPr/>
            <p:nvPr/>
          </p:nvSpPr>
          <p:spPr>
            <a:xfrm flipH="1">
              <a:off x="4082" y="1839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3298" name="Line 1075"/>
            <p:cNvSpPr/>
            <p:nvPr/>
          </p:nvSpPr>
          <p:spPr>
            <a:xfrm flipH="1">
              <a:off x="4082" y="1503"/>
              <a:ext cx="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3299" name="Rectangle 1076"/>
            <p:cNvSpPr/>
            <p:nvPr/>
          </p:nvSpPr>
          <p:spPr>
            <a:xfrm flipH="1">
              <a:off x="4107" y="1433"/>
              <a:ext cx="315" cy="1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87312" tIns="44450" rIns="87312" bIns="44450" anchor="t" anchorCtr="0">
              <a:spAutoFit/>
            </a:bodyPr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 20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 10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  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-10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defTabSz="840105" eaLnBrk="0" hangingPunct="0">
                <a:lnSpc>
                  <a:spcPct val="105000"/>
                </a:lnSpc>
              </a:pPr>
              <a:r>
                <a:rPr lang="en-US" altLang="zh-CN" sz="1600" b="1" dirty="0">
                  <a:latin typeface="Arial" panose="020B0604020202020204" pitchFamily="34" charset="0"/>
                  <a:ea typeface="宋体" panose="02010600030101010101" pitchFamily="2" charset="-122"/>
                </a:rPr>
                <a:t>-20</a:t>
              </a:r>
              <a:endPara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5269" name="Rectangle 1077"/>
            <p:cNvSpPr>
              <a:spLocks noChangeArrowheads="1"/>
            </p:cNvSpPr>
            <p:nvPr/>
          </p:nvSpPr>
          <p:spPr bwMode="auto">
            <a:xfrm rot="16200000">
              <a:off x="4023" y="2345"/>
              <a:ext cx="93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312" tIns="44450" rIns="87312" bIns="44450">
              <a:spAutoFit/>
            </a:bodyPr>
            <a:lstStyle/>
            <a:p>
              <a:pPr marL="0" marR="0" lvl="0" indent="0" algn="l" defTabSz="8394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色散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(ps/nm.km)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81D5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3301" name="Group 1078"/>
          <p:cNvGrpSpPr/>
          <p:nvPr/>
        </p:nvGrpSpPr>
        <p:grpSpPr>
          <a:xfrm>
            <a:off x="4511675" y="2917825"/>
            <a:ext cx="3563938" cy="2005013"/>
            <a:chOff x="2842" y="1999"/>
            <a:chExt cx="2245" cy="1263"/>
          </a:xfrm>
        </p:grpSpPr>
        <p:sp>
          <p:nvSpPr>
            <p:cNvPr id="53302" name="Rectangle 1079"/>
            <p:cNvSpPr/>
            <p:nvPr/>
          </p:nvSpPr>
          <p:spPr>
            <a:xfrm>
              <a:off x="4061" y="1999"/>
              <a:ext cx="1026" cy="22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87312" tIns="44450" rIns="87312" bIns="44450" anchor="t" anchorCtr="0">
              <a:spAutoFit/>
            </a:bodyPr>
            <a:p>
              <a:pPr algn="ctr" defTabSz="840105" eaLnBrk="0" hangingPunct="0"/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G.653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3" name="Freeform 1080"/>
            <p:cNvSpPr/>
            <p:nvPr/>
          </p:nvSpPr>
          <p:spPr>
            <a:xfrm>
              <a:off x="2842" y="2198"/>
              <a:ext cx="1727" cy="1064"/>
            </a:xfrm>
            <a:custGeom>
              <a:avLst/>
              <a:gdLst/>
              <a:ahLst/>
              <a:cxnLst>
                <a:cxn ang="0">
                  <a:pos x="0" y="2071"/>
                </a:cxn>
                <a:cxn ang="0">
                  <a:pos x="1191" y="1330"/>
                </a:cxn>
                <a:cxn ang="0">
                  <a:pos x="2366" y="764"/>
                </a:cxn>
                <a:cxn ang="0">
                  <a:pos x="3522" y="341"/>
                </a:cxn>
                <a:cxn ang="0">
                  <a:pos x="4663" y="0"/>
                </a:cxn>
              </a:cxnLst>
              <a:pathLst>
                <a:path w="1240" h="852">
                  <a:moveTo>
                    <a:pt x="0" y="851"/>
                  </a:moveTo>
                  <a:lnTo>
                    <a:pt x="317" y="547"/>
                  </a:lnTo>
                  <a:lnTo>
                    <a:pt x="629" y="314"/>
                  </a:lnTo>
                  <a:lnTo>
                    <a:pt x="936" y="140"/>
                  </a:lnTo>
                  <a:lnTo>
                    <a:pt x="1239" y="0"/>
                  </a:lnTo>
                </a:path>
              </a:pathLst>
            </a:custGeom>
            <a:noFill/>
            <a:ln w="38100" cap="rnd" cmpd="sng">
              <a:solidFill>
                <a:srgbClr val="7B0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3304" name="Group 1081"/>
          <p:cNvGrpSpPr/>
          <p:nvPr/>
        </p:nvGrpSpPr>
        <p:grpSpPr>
          <a:xfrm>
            <a:off x="3544888" y="2282825"/>
            <a:ext cx="3662362" cy="1595438"/>
            <a:chOff x="2233" y="1438"/>
            <a:chExt cx="2307" cy="1005"/>
          </a:xfrm>
        </p:grpSpPr>
        <p:sp>
          <p:nvSpPr>
            <p:cNvPr id="53305" name="Line 1082"/>
            <p:cNvSpPr/>
            <p:nvPr/>
          </p:nvSpPr>
          <p:spPr>
            <a:xfrm>
              <a:off x="3433" y="1624"/>
              <a:ext cx="198" cy="9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</p:spPr>
        </p:sp>
        <p:grpSp>
          <p:nvGrpSpPr>
            <p:cNvPr id="53306" name="Group 1083"/>
            <p:cNvGrpSpPr/>
            <p:nvPr/>
          </p:nvGrpSpPr>
          <p:grpSpPr>
            <a:xfrm>
              <a:off x="2233" y="1438"/>
              <a:ext cx="2307" cy="1005"/>
              <a:chOff x="2233" y="1599"/>
              <a:chExt cx="2307" cy="1005"/>
            </a:xfrm>
          </p:grpSpPr>
          <p:sp>
            <p:nvSpPr>
              <p:cNvPr id="53307" name="Rectangle 1084"/>
              <p:cNvSpPr/>
              <p:nvPr/>
            </p:nvSpPr>
            <p:spPr>
              <a:xfrm>
                <a:off x="2954" y="1599"/>
                <a:ext cx="474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7312" tIns="44450" rIns="87312" bIns="44450" anchor="t" anchorCtr="0">
                <a:spAutoFit/>
              </a:bodyPr>
              <a:p>
                <a:pPr defTabSz="840105" eaLnBrk="0" hangingPunct="0"/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G.652</a:t>
                </a:r>
                <a:endPara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308" name="Freeform 1085"/>
              <p:cNvSpPr/>
              <p:nvPr/>
            </p:nvSpPr>
            <p:spPr>
              <a:xfrm>
                <a:off x="2233" y="1617"/>
                <a:ext cx="2307" cy="987"/>
              </a:xfrm>
              <a:custGeom>
                <a:avLst/>
                <a:gdLst/>
                <a:ahLst/>
                <a:cxnLst>
                  <a:cxn ang="0">
                    <a:pos x="0" y="1915"/>
                  </a:cxn>
                  <a:cxn ang="0">
                    <a:pos x="1674" y="1162"/>
                  </a:cxn>
                  <a:cxn ang="0">
                    <a:pos x="3257" y="624"/>
                  </a:cxn>
                  <a:cxn ang="0">
                    <a:pos x="4763" y="262"/>
                  </a:cxn>
                  <a:cxn ang="0">
                    <a:pos x="6225" y="0"/>
                  </a:cxn>
                </a:cxnLst>
                <a:pathLst>
                  <a:path w="1657" h="791">
                    <a:moveTo>
                      <a:pt x="0" y="790"/>
                    </a:moveTo>
                    <a:lnTo>
                      <a:pt x="445" y="479"/>
                    </a:lnTo>
                    <a:lnTo>
                      <a:pt x="867" y="257"/>
                    </a:lnTo>
                    <a:lnTo>
                      <a:pt x="1268" y="108"/>
                    </a:lnTo>
                    <a:lnTo>
                      <a:pt x="1656" y="0"/>
                    </a:lnTo>
                  </a:path>
                </a:pathLst>
              </a:custGeom>
              <a:noFill/>
              <a:ln w="25400" cap="rnd" cmpd="sng">
                <a:solidFill>
                  <a:srgbClr val="FC01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65278" name="Group 1086"/>
          <p:cNvGrpSpPr/>
          <p:nvPr/>
        </p:nvGrpSpPr>
        <p:grpSpPr>
          <a:xfrm>
            <a:off x="3824288" y="3257550"/>
            <a:ext cx="3081337" cy="1762125"/>
            <a:chOff x="2409" y="2052"/>
            <a:chExt cx="1941" cy="1110"/>
          </a:xfrm>
        </p:grpSpPr>
        <p:sp>
          <p:nvSpPr>
            <p:cNvPr id="53310" name="Freeform 1087"/>
            <p:cNvSpPr/>
            <p:nvPr/>
          </p:nvSpPr>
          <p:spPr>
            <a:xfrm>
              <a:off x="2630" y="2052"/>
              <a:ext cx="1720" cy="1110"/>
            </a:xfrm>
            <a:custGeom>
              <a:avLst/>
              <a:gdLst/>
              <a:ahLst/>
              <a:cxnLst>
                <a:cxn ang="0">
                  <a:pos x="0" y="2453"/>
                </a:cxn>
                <a:cxn ang="0">
                  <a:pos x="1173" y="1576"/>
                </a:cxn>
                <a:cxn ang="0">
                  <a:pos x="2325" y="904"/>
                </a:cxn>
                <a:cxn ang="0">
                  <a:pos x="3469" y="403"/>
                </a:cxn>
                <a:cxn ang="0">
                  <a:pos x="4587" y="0"/>
                </a:cxn>
              </a:cxnLst>
              <a:pathLst>
                <a:path w="1240" h="852">
                  <a:moveTo>
                    <a:pt x="0" y="851"/>
                  </a:moveTo>
                  <a:lnTo>
                    <a:pt x="317" y="547"/>
                  </a:lnTo>
                  <a:lnTo>
                    <a:pt x="628" y="314"/>
                  </a:lnTo>
                  <a:lnTo>
                    <a:pt x="937" y="140"/>
                  </a:lnTo>
                  <a:lnTo>
                    <a:pt x="1239" y="0"/>
                  </a:lnTo>
                </a:path>
              </a:pathLst>
            </a:custGeom>
            <a:noFill/>
            <a:ln w="57150" cap="rnd" cmpd="sng">
              <a:solidFill>
                <a:srgbClr val="FF00FF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5280" name="Rectangle 1088"/>
            <p:cNvSpPr>
              <a:spLocks noChangeArrowheads="1"/>
            </p:cNvSpPr>
            <p:nvPr/>
          </p:nvSpPr>
          <p:spPr bwMode="auto">
            <a:xfrm>
              <a:off x="2409" y="2682"/>
              <a:ext cx="4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E35A2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6038" rIns="90488" bIns="46038">
              <a:spAutoFit/>
            </a:bodyPr>
            <a:lstStyle/>
            <a:p>
              <a:pPr marL="0" marR="0" lvl="0" indent="0" algn="ctr" defTabSz="88074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G.655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723" name="文本框 28722"/>
          <p:cNvSpPr txBox="1"/>
          <p:nvPr/>
        </p:nvSpPr>
        <p:spPr>
          <a:xfrm>
            <a:off x="1258888" y="331788"/>
            <a:ext cx="3929063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4000" b="1" noProof="1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itchFamily="2" charset="-122"/>
                <a:cs typeface="+mn-cs"/>
              </a:rPr>
              <a:t>WDM</a:t>
            </a:r>
            <a:r>
              <a:rPr lang="en-US" altLang="zh-CN" sz="4000" b="1" noProof="1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  <a:cs typeface="+mn-cs"/>
              </a:rPr>
              <a:t>(</a:t>
            </a:r>
            <a:r>
              <a:rPr lang="zh-CN" altLang="zh-CN" sz="4000" b="1" noProof="1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  <a:cs typeface="+mn-cs"/>
              </a:rPr>
              <a:t>波分复用</a:t>
            </a:r>
            <a:r>
              <a:rPr lang="en-US" altLang="zh-CN" sz="4000" b="1" noProof="1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  <a:cs typeface="+mn-cs"/>
              </a:rPr>
              <a:t>)</a:t>
            </a:r>
            <a:endParaRPr lang="en-US" altLang="zh-CN" sz="4000" b="1" noProof="1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82946" name="组合 1"/>
          <p:cNvGrpSpPr/>
          <p:nvPr/>
        </p:nvGrpSpPr>
        <p:grpSpPr>
          <a:xfrm>
            <a:off x="465138" y="2354263"/>
            <a:ext cx="8212137" cy="1885950"/>
            <a:chOff x="733" y="3708"/>
            <a:chExt cx="12932" cy="2970"/>
          </a:xfrm>
        </p:grpSpPr>
        <p:sp>
          <p:nvSpPr>
            <p:cNvPr id="82947" name="直接连接符 28676"/>
            <p:cNvSpPr/>
            <p:nvPr/>
          </p:nvSpPr>
          <p:spPr>
            <a:xfrm>
              <a:off x="4317" y="5237"/>
              <a:ext cx="5830" cy="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78" name="文本框 28677"/>
            <p:cNvSpPr txBox="1"/>
            <p:nvPr/>
          </p:nvSpPr>
          <p:spPr>
            <a:xfrm>
              <a:off x="732" y="3780"/>
              <a:ext cx="1740" cy="577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光发射机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679" name="文本框 28678"/>
            <p:cNvSpPr txBox="1"/>
            <p:nvPr/>
          </p:nvSpPr>
          <p:spPr>
            <a:xfrm>
              <a:off x="732" y="4432"/>
              <a:ext cx="1740" cy="577"/>
            </a:xfrm>
            <a:prstGeom prst="rect">
              <a:avLst/>
            </a:prstGeom>
            <a:solidFill>
              <a:srgbClr val="C1C1EB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光发射机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680" name="文本框 28679"/>
            <p:cNvSpPr txBox="1"/>
            <p:nvPr/>
          </p:nvSpPr>
          <p:spPr>
            <a:xfrm>
              <a:off x="732" y="5077"/>
              <a:ext cx="1740" cy="577"/>
            </a:xfrm>
            <a:prstGeom prst="rect">
              <a:avLst/>
            </a:prstGeom>
            <a:solidFill>
              <a:srgbClr val="A7FFA7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光发射机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681" name="文本框 28680"/>
            <p:cNvSpPr txBox="1"/>
            <p:nvPr/>
          </p:nvSpPr>
          <p:spPr>
            <a:xfrm>
              <a:off x="732" y="6025"/>
              <a:ext cx="1740" cy="57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光发射机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82952" name="任意多边形 28681"/>
            <p:cNvSpPr/>
            <p:nvPr/>
          </p:nvSpPr>
          <p:spPr>
            <a:xfrm rot="-5400000" flipH="1">
              <a:off x="3196" y="4981"/>
              <a:ext cx="1762" cy="417"/>
            </a:xfrm>
            <a:custGeom>
              <a:avLst/>
              <a:gdLst/>
              <a:ahLst/>
              <a:cxnLst>
                <a:cxn ang="0">
                  <a:pos x="18332" y="10800"/>
                </a:cxn>
                <a:cxn ang="90">
                  <a:pos x="10800" y="21600"/>
                </a:cxn>
                <a:cxn ang="180">
                  <a:pos x="3268" y="10800"/>
                </a:cxn>
                <a:cxn ang="270">
                  <a:pos x="10800" y="0"/>
                </a:cxn>
              </a:cxnLst>
              <a:pathLst>
                <a:path w="21600" h="21600">
                  <a:moveTo>
                    <a:pt x="0" y="0"/>
                  </a:moveTo>
                  <a:lnTo>
                    <a:pt x="6536" y="21600"/>
                  </a:lnTo>
                  <a:lnTo>
                    <a:pt x="1506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53" name="任意多边形 28682"/>
            <p:cNvSpPr/>
            <p:nvPr/>
          </p:nvSpPr>
          <p:spPr>
            <a:xfrm>
              <a:off x="2415" y="4125"/>
              <a:ext cx="1360" cy="477"/>
            </a:xfrm>
            <a:custGeom>
              <a:avLst/>
              <a:gdLst/>
              <a:ahLst/>
              <a:cxnLst/>
              <a:pathLst>
                <a:path w="624" h="248">
                  <a:moveTo>
                    <a:pt x="0" y="0"/>
                  </a:moveTo>
                  <a:cubicBezTo>
                    <a:pt x="41" y="4"/>
                    <a:pt x="188" y="6"/>
                    <a:pt x="244" y="22"/>
                  </a:cubicBezTo>
                  <a:cubicBezTo>
                    <a:pt x="300" y="38"/>
                    <a:pt x="313" y="68"/>
                    <a:pt x="336" y="96"/>
                  </a:cubicBezTo>
                  <a:cubicBezTo>
                    <a:pt x="359" y="124"/>
                    <a:pt x="360" y="168"/>
                    <a:pt x="384" y="192"/>
                  </a:cubicBezTo>
                  <a:cubicBezTo>
                    <a:pt x="408" y="216"/>
                    <a:pt x="440" y="232"/>
                    <a:pt x="480" y="240"/>
                  </a:cubicBezTo>
                  <a:cubicBezTo>
                    <a:pt x="520" y="248"/>
                    <a:pt x="572" y="244"/>
                    <a:pt x="624" y="240"/>
                  </a:cubicBezTo>
                </a:path>
              </a:pathLst>
            </a:custGeom>
            <a:noFill/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54" name="任意多边形 28683"/>
            <p:cNvSpPr/>
            <p:nvPr/>
          </p:nvSpPr>
          <p:spPr>
            <a:xfrm flipV="1">
              <a:off x="2527" y="5792"/>
              <a:ext cx="1360" cy="480"/>
            </a:xfrm>
            <a:custGeom>
              <a:avLst/>
              <a:gdLst/>
              <a:ahLst/>
              <a:cxnLst/>
              <a:pathLst>
                <a:path w="624" h="248">
                  <a:moveTo>
                    <a:pt x="0" y="0"/>
                  </a:moveTo>
                  <a:cubicBezTo>
                    <a:pt x="41" y="4"/>
                    <a:pt x="188" y="6"/>
                    <a:pt x="244" y="22"/>
                  </a:cubicBezTo>
                  <a:cubicBezTo>
                    <a:pt x="300" y="38"/>
                    <a:pt x="313" y="68"/>
                    <a:pt x="336" y="96"/>
                  </a:cubicBezTo>
                  <a:cubicBezTo>
                    <a:pt x="359" y="124"/>
                    <a:pt x="360" y="168"/>
                    <a:pt x="384" y="192"/>
                  </a:cubicBezTo>
                  <a:cubicBezTo>
                    <a:pt x="408" y="216"/>
                    <a:pt x="440" y="232"/>
                    <a:pt x="480" y="240"/>
                  </a:cubicBezTo>
                  <a:cubicBezTo>
                    <a:pt x="520" y="248"/>
                    <a:pt x="572" y="244"/>
                    <a:pt x="624" y="24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55" name="直接连接符 28684"/>
            <p:cNvSpPr/>
            <p:nvPr/>
          </p:nvSpPr>
          <p:spPr>
            <a:xfrm>
              <a:off x="2415" y="4772"/>
              <a:ext cx="1360" cy="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956" name="直接连接符 28685"/>
            <p:cNvSpPr/>
            <p:nvPr/>
          </p:nvSpPr>
          <p:spPr>
            <a:xfrm>
              <a:off x="2415" y="5422"/>
              <a:ext cx="1360" cy="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957" name="直接连接符 28686"/>
            <p:cNvSpPr/>
            <p:nvPr/>
          </p:nvSpPr>
          <p:spPr>
            <a:xfrm>
              <a:off x="1632" y="5607"/>
              <a:ext cx="0" cy="4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8688" name="文本框 28687"/>
            <p:cNvSpPr txBox="1"/>
            <p:nvPr/>
          </p:nvSpPr>
          <p:spPr>
            <a:xfrm>
              <a:off x="2415" y="5840"/>
              <a:ext cx="83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en-US" altLang="zh-CN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N </a:t>
              </a:r>
              <a:endParaRPr lang="en-US" altLang="zh-CN" b="1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8689" name="文本框 28688"/>
            <p:cNvSpPr txBox="1"/>
            <p:nvPr/>
          </p:nvSpPr>
          <p:spPr>
            <a:xfrm>
              <a:off x="2400" y="3707"/>
              <a:ext cx="66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 dirty="0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</a:t>
              </a:r>
              <a:r>
                <a:rPr lang="en-US" altLang="zh-CN" b="1" noProof="1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1</a:t>
              </a:r>
              <a:endParaRPr lang="en-US" altLang="zh-CN" b="1" noProof="1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8690" name="文本框 28689"/>
            <p:cNvSpPr txBox="1"/>
            <p:nvPr/>
          </p:nvSpPr>
          <p:spPr>
            <a:xfrm>
              <a:off x="2417" y="4340"/>
              <a:ext cx="66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 dirty="0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</a:t>
              </a:r>
              <a:r>
                <a:rPr lang="en-US" altLang="zh-CN" b="1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2</a:t>
              </a:r>
              <a:endParaRPr lang="en-US" altLang="zh-CN" b="1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8691" name="文本框 28690"/>
            <p:cNvSpPr txBox="1"/>
            <p:nvPr/>
          </p:nvSpPr>
          <p:spPr>
            <a:xfrm>
              <a:off x="2417" y="4985"/>
              <a:ext cx="66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 dirty="0">
                  <a:solidFill>
                    <a:srgbClr val="00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</a:t>
              </a:r>
              <a:r>
                <a:rPr lang="en-US" altLang="zh-CN" b="1" noProof="1">
                  <a:solidFill>
                    <a:srgbClr val="00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3</a:t>
              </a:r>
              <a:endParaRPr lang="en-US" altLang="zh-CN" b="1" noProof="1">
                <a:solidFill>
                  <a:srgbClr val="00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82962" name="等腰三角形 28691"/>
            <p:cNvSpPr/>
            <p:nvPr/>
          </p:nvSpPr>
          <p:spPr>
            <a:xfrm rot="5400000">
              <a:off x="4924" y="4816"/>
              <a:ext cx="740" cy="8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63" name="等腰三角形 28692"/>
            <p:cNvSpPr/>
            <p:nvPr/>
          </p:nvSpPr>
          <p:spPr>
            <a:xfrm rot="5400000">
              <a:off x="6786" y="4794"/>
              <a:ext cx="740" cy="8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64" name="等腰三角形 28693"/>
            <p:cNvSpPr/>
            <p:nvPr/>
          </p:nvSpPr>
          <p:spPr>
            <a:xfrm rot="5400000">
              <a:off x="8834" y="4874"/>
              <a:ext cx="740" cy="8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文本框 28694"/>
            <p:cNvSpPr txBox="1"/>
            <p:nvPr/>
          </p:nvSpPr>
          <p:spPr>
            <a:xfrm flipH="1">
              <a:off x="11925" y="3877"/>
              <a:ext cx="1740" cy="577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光接收机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696" name="文本框 28695"/>
            <p:cNvSpPr txBox="1"/>
            <p:nvPr/>
          </p:nvSpPr>
          <p:spPr>
            <a:xfrm flipH="1">
              <a:off x="11880" y="4507"/>
              <a:ext cx="1740" cy="577"/>
            </a:xfrm>
            <a:prstGeom prst="rect">
              <a:avLst/>
            </a:prstGeom>
            <a:solidFill>
              <a:srgbClr val="C1C1EB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光接收机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697" name="文本框 28696"/>
            <p:cNvSpPr txBox="1"/>
            <p:nvPr/>
          </p:nvSpPr>
          <p:spPr>
            <a:xfrm flipH="1">
              <a:off x="11880" y="5157"/>
              <a:ext cx="1740" cy="577"/>
            </a:xfrm>
            <a:prstGeom prst="rect">
              <a:avLst/>
            </a:prstGeom>
            <a:solidFill>
              <a:srgbClr val="A7FFA7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光接收机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698" name="文本框 28697"/>
            <p:cNvSpPr txBox="1"/>
            <p:nvPr/>
          </p:nvSpPr>
          <p:spPr>
            <a:xfrm flipH="1">
              <a:off x="11880" y="6100"/>
              <a:ext cx="1740" cy="57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solidFill>
                    <a:schemeClr val="bg2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光接收机</a:t>
              </a:r>
              <a:endParaRPr lang="zh-CN" altLang="en-US" b="1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82969" name="任意多边形 28698"/>
            <p:cNvSpPr/>
            <p:nvPr/>
          </p:nvSpPr>
          <p:spPr>
            <a:xfrm rot="5400000">
              <a:off x="9464" y="5056"/>
              <a:ext cx="1762" cy="417"/>
            </a:xfrm>
            <a:custGeom>
              <a:avLst/>
              <a:gdLst/>
              <a:ahLst/>
              <a:cxnLst>
                <a:cxn ang="0">
                  <a:pos x="18332" y="10800"/>
                </a:cxn>
                <a:cxn ang="90">
                  <a:pos x="10800" y="21600"/>
                </a:cxn>
                <a:cxn ang="180">
                  <a:pos x="3268" y="10800"/>
                </a:cxn>
                <a:cxn ang="270">
                  <a:pos x="10800" y="0"/>
                </a:cxn>
              </a:cxnLst>
              <a:pathLst>
                <a:path w="21600" h="21600">
                  <a:moveTo>
                    <a:pt x="0" y="0"/>
                  </a:moveTo>
                  <a:lnTo>
                    <a:pt x="6536" y="21600"/>
                  </a:lnTo>
                  <a:lnTo>
                    <a:pt x="1506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70" name="任意多边形 28699"/>
            <p:cNvSpPr/>
            <p:nvPr/>
          </p:nvSpPr>
          <p:spPr>
            <a:xfrm flipH="1">
              <a:off x="10585" y="4200"/>
              <a:ext cx="1357" cy="480"/>
            </a:xfrm>
            <a:custGeom>
              <a:avLst/>
              <a:gdLst/>
              <a:ahLst/>
              <a:cxnLst/>
              <a:pathLst>
                <a:path w="624" h="248">
                  <a:moveTo>
                    <a:pt x="0" y="0"/>
                  </a:moveTo>
                  <a:cubicBezTo>
                    <a:pt x="41" y="4"/>
                    <a:pt x="188" y="6"/>
                    <a:pt x="244" y="22"/>
                  </a:cubicBezTo>
                  <a:cubicBezTo>
                    <a:pt x="300" y="38"/>
                    <a:pt x="313" y="68"/>
                    <a:pt x="336" y="96"/>
                  </a:cubicBezTo>
                  <a:cubicBezTo>
                    <a:pt x="359" y="124"/>
                    <a:pt x="360" y="168"/>
                    <a:pt x="384" y="192"/>
                  </a:cubicBezTo>
                  <a:cubicBezTo>
                    <a:pt x="408" y="216"/>
                    <a:pt x="440" y="232"/>
                    <a:pt x="480" y="240"/>
                  </a:cubicBezTo>
                  <a:cubicBezTo>
                    <a:pt x="520" y="248"/>
                    <a:pt x="572" y="244"/>
                    <a:pt x="624" y="240"/>
                  </a:cubicBezTo>
                </a:path>
              </a:pathLst>
            </a:custGeom>
            <a:noFill/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71" name="任意多边形 28700"/>
            <p:cNvSpPr/>
            <p:nvPr/>
          </p:nvSpPr>
          <p:spPr>
            <a:xfrm flipH="1" flipV="1">
              <a:off x="10562" y="5870"/>
              <a:ext cx="1360" cy="477"/>
            </a:xfrm>
            <a:custGeom>
              <a:avLst/>
              <a:gdLst/>
              <a:ahLst/>
              <a:cxnLst/>
              <a:pathLst>
                <a:path w="624" h="248">
                  <a:moveTo>
                    <a:pt x="0" y="0"/>
                  </a:moveTo>
                  <a:cubicBezTo>
                    <a:pt x="41" y="4"/>
                    <a:pt x="188" y="6"/>
                    <a:pt x="244" y="22"/>
                  </a:cubicBezTo>
                  <a:cubicBezTo>
                    <a:pt x="300" y="38"/>
                    <a:pt x="313" y="68"/>
                    <a:pt x="336" y="96"/>
                  </a:cubicBezTo>
                  <a:cubicBezTo>
                    <a:pt x="359" y="124"/>
                    <a:pt x="360" y="168"/>
                    <a:pt x="384" y="192"/>
                  </a:cubicBezTo>
                  <a:cubicBezTo>
                    <a:pt x="408" y="216"/>
                    <a:pt x="440" y="232"/>
                    <a:pt x="480" y="240"/>
                  </a:cubicBezTo>
                  <a:cubicBezTo>
                    <a:pt x="520" y="248"/>
                    <a:pt x="572" y="244"/>
                    <a:pt x="624" y="24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72" name="直接连接符 28701"/>
            <p:cNvSpPr/>
            <p:nvPr/>
          </p:nvSpPr>
          <p:spPr>
            <a:xfrm flipH="1">
              <a:off x="10585" y="4850"/>
              <a:ext cx="1357" cy="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973" name="直接连接符 28702"/>
            <p:cNvSpPr/>
            <p:nvPr/>
          </p:nvSpPr>
          <p:spPr>
            <a:xfrm flipH="1">
              <a:off x="10585" y="5497"/>
              <a:ext cx="1357" cy="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974" name="直接连接符 28703"/>
            <p:cNvSpPr/>
            <p:nvPr/>
          </p:nvSpPr>
          <p:spPr>
            <a:xfrm flipH="1">
              <a:off x="12822" y="5685"/>
              <a:ext cx="0" cy="4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8705" name="文本框 28704"/>
            <p:cNvSpPr txBox="1"/>
            <p:nvPr/>
          </p:nvSpPr>
          <p:spPr>
            <a:xfrm flipH="1">
              <a:off x="11377" y="5915"/>
              <a:ext cx="83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en-US" altLang="zh-CN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N </a:t>
              </a:r>
              <a:endParaRPr lang="en-US" altLang="zh-CN" b="1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8706" name="文本框 28705"/>
            <p:cNvSpPr txBox="1"/>
            <p:nvPr/>
          </p:nvSpPr>
          <p:spPr>
            <a:xfrm flipH="1">
              <a:off x="11355" y="3782"/>
              <a:ext cx="66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 dirty="0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</a:t>
              </a:r>
              <a:r>
                <a:rPr lang="en-US" altLang="zh-CN" b="1" noProof="1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1</a:t>
              </a:r>
              <a:endParaRPr lang="en-US" altLang="zh-CN" b="1" noProof="1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8707" name="文本框 28706"/>
            <p:cNvSpPr txBox="1"/>
            <p:nvPr/>
          </p:nvSpPr>
          <p:spPr>
            <a:xfrm flipH="1">
              <a:off x="11332" y="4415"/>
              <a:ext cx="66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 dirty="0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</a:t>
              </a:r>
              <a:r>
                <a:rPr lang="en-US" altLang="zh-CN" b="1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2</a:t>
              </a:r>
              <a:endParaRPr lang="en-US" altLang="zh-CN" b="1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28708" name="文本框 28707"/>
            <p:cNvSpPr txBox="1"/>
            <p:nvPr/>
          </p:nvSpPr>
          <p:spPr>
            <a:xfrm flipH="1">
              <a:off x="11332" y="5065"/>
              <a:ext cx="66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 dirty="0">
                  <a:solidFill>
                    <a:srgbClr val="00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</a:t>
              </a:r>
              <a:r>
                <a:rPr lang="en-US" altLang="zh-CN" b="1" noProof="1">
                  <a:solidFill>
                    <a:srgbClr val="00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  <a:sym typeface="Symbol" panose="05050102010706020507" pitchFamily="18" charset="2"/>
                </a:rPr>
                <a:t>3</a:t>
              </a:r>
              <a:endParaRPr lang="en-US" altLang="zh-CN" b="1" noProof="1">
                <a:solidFill>
                  <a:srgbClr val="00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sym typeface="Symbol" panose="05050102010706020507" pitchFamily="18" charset="2"/>
              </a:endParaRPr>
            </a:p>
          </p:txBody>
        </p:sp>
        <p:sp>
          <p:nvSpPr>
            <p:cNvPr id="82979" name="椭圆 28708"/>
            <p:cNvSpPr/>
            <p:nvPr/>
          </p:nvSpPr>
          <p:spPr>
            <a:xfrm>
              <a:off x="6107" y="4867"/>
              <a:ext cx="210" cy="3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80" name="椭圆 28709"/>
            <p:cNvSpPr/>
            <p:nvPr/>
          </p:nvSpPr>
          <p:spPr>
            <a:xfrm>
              <a:off x="8122" y="4867"/>
              <a:ext cx="207" cy="3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11" name="文本框 28710"/>
            <p:cNvSpPr txBox="1"/>
            <p:nvPr/>
          </p:nvSpPr>
          <p:spPr>
            <a:xfrm>
              <a:off x="3217" y="6007"/>
              <a:ext cx="1377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复用器</a:t>
              </a:r>
              <a:endParaRPr lang="zh-CN" altLang="en-US" b="1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712" name="文本框 28711"/>
            <p:cNvSpPr txBox="1"/>
            <p:nvPr/>
          </p:nvSpPr>
          <p:spPr>
            <a:xfrm>
              <a:off x="9525" y="6025"/>
              <a:ext cx="174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b="1" noProof="1" dirty="0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解复用器</a:t>
              </a:r>
              <a:endParaRPr lang="zh-CN" altLang="en-US" b="1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  <p:sp>
          <p:nvSpPr>
            <p:cNvPr id="28713" name="文本框 28712"/>
            <p:cNvSpPr txBox="1"/>
            <p:nvPr/>
          </p:nvSpPr>
          <p:spPr>
            <a:xfrm>
              <a:off x="6340" y="4247"/>
              <a:ext cx="127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1" charset="-122"/>
                  <a:cs typeface="+mn-cs"/>
                </a:rPr>
                <a:t>EDFA</a:t>
              </a:r>
              <a:endParaRPr lang="en-US" altLang="zh-CN" b="1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</a:endParaRPr>
            </a:p>
          </p:txBody>
        </p:sp>
      </p:grp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1258888" y="404813"/>
            <a:ext cx="6684963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7.4	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光纤中的非线性光学效应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2124075" y="1412875"/>
            <a:ext cx="4230688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7.4.1  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概述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7.4.2  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受激非弹性散射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受激布里渊散射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SBS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受激喇曼散射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SRS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7.4.3  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非线性折射率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自相位调制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SPM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互相位调制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XPM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四波混频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FWM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8424863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spcAft>
                <a:spcPct val="40000"/>
              </a:spcAft>
              <a:buClrTx/>
              <a:buSzTx/>
              <a:buFontTx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      </a:t>
            </a:r>
            <a:r>
              <a:rPr kumimoji="1" lang="zh-CN" altLang="en-US" sz="3200" b="1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光纤中的非线性效应可分为两类</a:t>
            </a:r>
            <a:r>
              <a:rPr kumimoji="1" lang="en-US" altLang="zh-CN" sz="3200" b="1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:</a:t>
            </a:r>
            <a:endParaRPr kumimoji="1" lang="en-US" altLang="zh-CN" sz="3200" b="1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一、受激非弹性散射：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光场经过非弹性散射将能量传递给介质产生的效应。包括：受激布里渊散射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SBS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和受激喇曼散射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SRS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20000"/>
              </a:spcBef>
              <a:buClrTx/>
              <a:buSzTx/>
              <a:buFontTx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二、非线性折射率：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光纤折射率与光强的相关性产生的效应。包括：自相位调制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SPM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、互相位调制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XPM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和四波混频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FWM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2057400" y="381000"/>
            <a:ext cx="5716588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7.4.2  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受激非弹性散射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533400" y="1143000"/>
            <a:ext cx="8153400" cy="470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一、概述</a:t>
            </a:r>
            <a:endParaRPr kumimoji="1" lang="zh-CN" altLang="en-US" sz="2800" b="1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受激非弹性散射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：散射光频率下移，光场把部分能量传递给介质。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一个高能量光子（通常称为泵浦）被散射成一个低能量的光子（斯托克斯光），同时产生能量为两光子能量差的另一个能量子。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SBS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参与的能量子为声学声子，只有后向散射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SRS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参与的能量子为光学声子，以前向散射为主，但也有后向散射。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92163" name="Rectangle 7"/>
          <p:cNvSpPr/>
          <p:nvPr/>
        </p:nvSpPr>
        <p:spPr>
          <a:xfrm>
            <a:off x="63500" y="5988050"/>
            <a:ext cx="898207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参考文献：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C. Kittel, Introduction to solid state physics, Fifth edition. Wiley &amp; Sons, 1976. 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2339975" y="333375"/>
            <a:ext cx="4511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2.4.3  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非线性折射率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595313" y="1196658"/>
            <a:ext cx="73914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在较高入射光功率下，纤芯折射率应表示为：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(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光场线偏振，光脉冲宽度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&gt;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1ps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)</a:t>
            </a:r>
            <a:endParaRPr kumimoji="1" lang="en-US" altLang="zh-CN" sz="2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aphicFrame>
        <p:nvGraphicFramePr>
          <p:cNvPr id="101379" name="Object 8"/>
          <p:cNvGraphicFramePr>
            <a:graphicFrameLocks noChangeAspect="1"/>
          </p:cNvGraphicFramePr>
          <p:nvPr/>
        </p:nvGraphicFramePr>
        <p:xfrm>
          <a:off x="1281113" y="2322513"/>
          <a:ext cx="61722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1524000" imgH="279400" progId="Equation.3">
                  <p:embed/>
                </p:oleObj>
              </mc:Choice>
              <mc:Fallback>
                <p:oleObj name="" r:id="rId1" imgW="1524000" imgH="2794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1113" y="2322513"/>
                        <a:ext cx="6172200" cy="857250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6" name="AutoShape 22"/>
          <p:cNvSpPr>
            <a:spLocks noChangeArrowheads="1"/>
          </p:cNvSpPr>
          <p:nvPr/>
        </p:nvSpPr>
        <p:spPr bwMode="auto">
          <a:xfrm>
            <a:off x="366713" y="3389313"/>
            <a:ext cx="2133600" cy="1295400"/>
          </a:xfrm>
          <a:prstGeom prst="cloudCallout">
            <a:avLst>
              <a:gd name="adj1" fmla="val 50222"/>
              <a:gd name="adj2" fmla="val -87991"/>
            </a:avLst>
          </a:prstGeom>
          <a:noFill/>
          <a:ln w="28575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光场幅度的有效值或均方根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59767" name="AutoShape 23"/>
          <p:cNvSpPr>
            <a:spLocks noChangeArrowheads="1"/>
          </p:cNvSpPr>
          <p:nvPr/>
        </p:nvSpPr>
        <p:spPr bwMode="auto">
          <a:xfrm>
            <a:off x="2728913" y="3313113"/>
            <a:ext cx="1676400" cy="914400"/>
          </a:xfrm>
          <a:prstGeom prst="cloudCallout">
            <a:avLst>
              <a:gd name="adj1" fmla="val 63162"/>
              <a:gd name="adj2" fmla="val -105208"/>
            </a:avLst>
          </a:prstGeom>
          <a:noFill/>
          <a:ln w="28575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线性折射率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59768" name="AutoShape 24"/>
          <p:cNvSpPr>
            <a:spLocks noChangeArrowheads="1"/>
          </p:cNvSpPr>
          <p:nvPr/>
        </p:nvSpPr>
        <p:spPr bwMode="auto">
          <a:xfrm>
            <a:off x="5243513" y="3389313"/>
            <a:ext cx="2743200" cy="990600"/>
          </a:xfrm>
          <a:prstGeom prst="cloudCallout">
            <a:avLst>
              <a:gd name="adj1" fmla="val -18866"/>
              <a:gd name="adj2" fmla="val -104968"/>
            </a:avLst>
          </a:prstGeom>
          <a:noFill/>
          <a:ln w="28575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非线性折射率或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Kerr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系数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159771" name="Text Box 27"/>
          <p:cNvSpPr txBox="1">
            <a:spLocks noChangeArrowheads="1"/>
          </p:cNvSpPr>
          <p:nvPr/>
        </p:nvSpPr>
        <p:spPr bwMode="auto">
          <a:xfrm>
            <a:off x="741363" y="5057775"/>
            <a:ext cx="7718425" cy="94615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折射率的非线性影响一般很小。但光纤中大部分非线性效应都起源于非线性折射率。</a:t>
            </a:r>
            <a:endParaRPr kumimoji="1" lang="zh-CN" altLang="en-US" sz="28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5867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j-cs"/>
              </a:rPr>
              <a:t>一、自相位调制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1" charset="-122"/>
                <a:cs typeface="Times New Roman" panose="02020603050405020304" pitchFamily="18" charset="0"/>
              </a:rPr>
              <a:t>SPM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1" charset="-122"/>
              <a:cs typeface="Times New Roman" panose="02020603050405020304" pitchFamily="18" charset="0"/>
            </a:endParaRP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458200" cy="121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折射率非线性分量的出现将引起导模传播常数的变化，使传播常数增加了一附加项：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2403" name="Object 8"/>
          <p:cNvGraphicFramePr>
            <a:graphicFrameLocks noChangeAspect="1"/>
          </p:cNvGraphicFramePr>
          <p:nvPr/>
        </p:nvGraphicFramePr>
        <p:xfrm>
          <a:off x="4648200" y="3581400"/>
          <a:ext cx="2590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748665" imgH="444500" progId="Equation.3">
                  <p:embed/>
                </p:oleObj>
              </mc:Choice>
              <mc:Fallback>
                <p:oleObj name="" r:id="rId1" imgW="748665" imgH="4445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8200" y="3581400"/>
                        <a:ext cx="2590800" cy="990600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04" name="Group 16"/>
          <p:cNvGrpSpPr/>
          <p:nvPr/>
        </p:nvGrpSpPr>
        <p:grpSpPr>
          <a:xfrm>
            <a:off x="7010400" y="3810000"/>
            <a:ext cx="1752600" cy="701675"/>
            <a:chOff x="4416" y="2400"/>
            <a:chExt cx="1104" cy="442"/>
          </a:xfrm>
        </p:grpSpPr>
        <p:sp>
          <p:nvSpPr>
            <p:cNvPr id="213001" name="Text Box 9"/>
            <p:cNvSpPr txBox="1">
              <a:spLocks noChangeArrowheads="1"/>
            </p:cNvSpPr>
            <p:nvPr/>
          </p:nvSpPr>
          <p:spPr bwMode="auto">
            <a:xfrm>
              <a:off x="4608" y="2400"/>
              <a:ext cx="912" cy="44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000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 Black" panose="020B0A04020102020204" pitchFamily="34" charset="0"/>
                  <a:ea typeface="黑体" panose="02010609060101010101" pitchFamily="1" charset="-122"/>
                  <a:cs typeface="+mn-cs"/>
                </a:rPr>
                <a:t>光纤有效截面积</a:t>
              </a:r>
              <a:endParaRPr kumimoji="1" lang="zh-CN" altLang="en-US" sz="20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endParaRPr>
            </a:p>
          </p:txBody>
        </p:sp>
        <p:sp>
          <p:nvSpPr>
            <p:cNvPr id="102406" name="Line 10"/>
            <p:cNvSpPr/>
            <p:nvPr/>
          </p:nvSpPr>
          <p:spPr>
            <a:xfrm flipH="1">
              <a:off x="4416" y="2688"/>
              <a:ext cx="288" cy="0"/>
            </a:xfrm>
            <a:prstGeom prst="line">
              <a:avLst/>
            </a:prstGeom>
            <a:ln w="38100" cap="sq" cmpd="sng">
              <a:solidFill>
                <a:schemeClr val="folHlink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213004" name="Text Box 12"/>
          <p:cNvSpPr txBox="1">
            <a:spLocks noChangeArrowheads="1"/>
          </p:cNvSpPr>
          <p:nvPr/>
        </p:nvSpPr>
        <p:spPr bwMode="auto">
          <a:xfrm>
            <a:off x="533400" y="4648200"/>
            <a:ext cx="8077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由模场自己产生的非线性效应而引起的非线性相移称为</a:t>
            </a:r>
            <a:r>
              <a:rPr kumimoji="1" lang="zh-CN" altLang="en-US" sz="2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自相位调制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，信号光强的瞬间变化引起其自身的相位调制。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grpSp>
        <p:nvGrpSpPr>
          <p:cNvPr id="102408" name="Group 15"/>
          <p:cNvGrpSpPr/>
          <p:nvPr/>
        </p:nvGrpSpPr>
        <p:grpSpPr>
          <a:xfrm>
            <a:off x="1752600" y="1828800"/>
            <a:ext cx="4267200" cy="1295400"/>
            <a:chOff x="1104" y="1152"/>
            <a:chExt cx="2688" cy="816"/>
          </a:xfrm>
        </p:grpSpPr>
        <p:graphicFrame>
          <p:nvGraphicFramePr>
            <p:cNvPr id="102409" name="Object 4"/>
            <p:cNvGraphicFramePr>
              <a:graphicFrameLocks noChangeAspect="1"/>
            </p:cNvGraphicFramePr>
            <p:nvPr/>
          </p:nvGraphicFramePr>
          <p:xfrm>
            <a:off x="1104" y="1488"/>
            <a:ext cx="268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3" imgW="749300" imgH="228600" progId="Equation.3">
                    <p:embed/>
                  </p:oleObj>
                </mc:Choice>
                <mc:Fallback>
                  <p:oleObj name="" r:id="rId3" imgW="749300" imgH="2286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04" y="1488"/>
                          <a:ext cx="2688" cy="480"/>
                        </a:xfrm>
                        <a:prstGeom prst="rect">
                          <a:avLst/>
                        </a:prstGeom>
                        <a:solidFill>
                          <a:srgbClr val="C5FFF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0" name="Oval 13"/>
            <p:cNvSpPr/>
            <p:nvPr/>
          </p:nvSpPr>
          <p:spPr>
            <a:xfrm>
              <a:off x="2880" y="1152"/>
              <a:ext cx="864" cy="336"/>
            </a:xfrm>
            <a:prstGeom prst="ellipse">
              <a:avLst/>
            </a:prstGeom>
            <a:noFill/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11" name="AutoShape 14"/>
            <p:cNvSpPr/>
            <p:nvPr/>
          </p:nvSpPr>
          <p:spPr>
            <a:xfrm>
              <a:off x="3168" y="1440"/>
              <a:ext cx="306" cy="14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2997" name="AutoShape 5"/>
          <p:cNvSpPr>
            <a:spLocks noChangeArrowheads="1"/>
          </p:cNvSpPr>
          <p:nvPr/>
        </p:nvSpPr>
        <p:spPr bwMode="auto">
          <a:xfrm>
            <a:off x="457200" y="3276600"/>
            <a:ext cx="2438400" cy="990600"/>
          </a:xfrm>
          <a:prstGeom prst="cloudCallout">
            <a:avLst>
              <a:gd name="adj1" fmla="val 79231"/>
              <a:gd name="adj2" fmla="val -84296"/>
            </a:avLst>
          </a:prstGeom>
          <a:noFill/>
          <a:ln w="28575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线性传输时的传播常数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12999" name="AutoShape 7"/>
          <p:cNvSpPr>
            <a:spLocks noChangeArrowheads="1"/>
          </p:cNvSpPr>
          <p:nvPr/>
        </p:nvSpPr>
        <p:spPr bwMode="auto">
          <a:xfrm>
            <a:off x="3048000" y="3200400"/>
            <a:ext cx="1676400" cy="990600"/>
          </a:xfrm>
          <a:prstGeom prst="cloudCallout">
            <a:avLst>
              <a:gd name="adj1" fmla="val 61079"/>
              <a:gd name="adj2" fmla="val -73880"/>
            </a:avLst>
          </a:prstGeom>
          <a:noFill/>
          <a:ln w="28575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非线性系数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  <p:sp>
        <p:nvSpPr>
          <p:cNvPr id="212998" name="AutoShape 6"/>
          <p:cNvSpPr>
            <a:spLocks noChangeArrowheads="1"/>
          </p:cNvSpPr>
          <p:nvPr/>
        </p:nvSpPr>
        <p:spPr bwMode="auto">
          <a:xfrm>
            <a:off x="6629400" y="2578100"/>
            <a:ext cx="2133600" cy="990600"/>
          </a:xfrm>
          <a:prstGeom prst="cloudCallout">
            <a:avLst>
              <a:gd name="adj1" fmla="val -96949"/>
              <a:gd name="adj2" fmla="val -19231"/>
            </a:avLst>
          </a:prstGeom>
          <a:noFill/>
          <a:ln w="28575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光纤中传输的功率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620000" cy="68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为此定义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8546" name="Object 7"/>
          <p:cNvGraphicFramePr>
            <a:graphicFrameLocks noChangeAspect="1"/>
          </p:cNvGraphicFramePr>
          <p:nvPr/>
        </p:nvGraphicFramePr>
        <p:xfrm>
          <a:off x="1619250" y="1917700"/>
          <a:ext cx="5334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1155700" imgH="469900" progId="Equation.3">
                  <p:embed/>
                </p:oleObj>
              </mc:Choice>
              <mc:Fallback>
                <p:oleObj name="" r:id="rId1" imgW="1155700" imgH="4699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1917700"/>
                        <a:ext cx="5334000" cy="1371600"/>
                      </a:xfrm>
                      <a:prstGeom prst="rect">
                        <a:avLst/>
                      </a:prstGeom>
                      <a:solidFill>
                        <a:srgbClr val="C5FFF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8" name="Text Box 8"/>
          <p:cNvSpPr txBox="1">
            <a:spLocks noChangeArrowheads="1"/>
          </p:cNvSpPr>
          <p:nvPr/>
        </p:nvSpPr>
        <p:spPr bwMode="auto">
          <a:xfrm>
            <a:off x="533400" y="3429000"/>
            <a:ext cx="7772400" cy="2528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20000"/>
              </a:spcBef>
              <a:buClrTx/>
              <a:buSzTx/>
              <a:buFontTx/>
              <a:defRPr/>
            </a:pP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    </a:t>
            </a:r>
            <a:r>
              <a:rPr kumimoji="1" lang="en-US" altLang="zh-CN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N</a:t>
            </a:r>
            <a:r>
              <a:rPr kumimoji="1" lang="zh-CN" altLang="en-US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决定脉冲在传播过程中，是</a:t>
            </a:r>
            <a:r>
              <a:rPr kumimoji="1" lang="en-US" altLang="zh-CN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SPM</a:t>
            </a:r>
            <a:r>
              <a:rPr kumimoji="1" lang="zh-CN" altLang="en-US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还是</a:t>
            </a:r>
            <a:r>
              <a:rPr kumimoji="1" lang="en-US" altLang="zh-CN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GVD</a:t>
            </a:r>
            <a:r>
              <a:rPr kumimoji="1" lang="zh-CN" altLang="en-US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效应起主要作用</a:t>
            </a:r>
            <a:r>
              <a:rPr kumimoji="1" lang="en-US" altLang="zh-CN" sz="2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: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 </a:t>
            </a:r>
            <a:endParaRPr kumimoji="1" lang="en-US" altLang="zh-CN" sz="2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 eaLnBrk="0" hangingPunct="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N&lt;&lt;1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时，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GVD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起支配作用；</a:t>
            </a:r>
            <a:endParaRPr kumimoji="1" lang="zh-CN" altLang="en-US" sz="2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 eaLnBrk="0" hangingPunct="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N&gt;&gt;1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时，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SPM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</a:rPr>
              <a:t>起支配作用；</a:t>
            </a:r>
            <a:endParaRPr kumimoji="1" lang="zh-CN" altLang="en-US" sz="2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</a:endParaRPr>
          </a:p>
          <a:p>
            <a:pPr marR="0" defTabSz="914400" eaLnBrk="0" hangingPunct="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</a:rPr>
              <a:t>N 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 1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时，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GVD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和</a:t>
            </a:r>
            <a:r>
              <a:rPr kumimoji="1" lang="en-US" altLang="zh-CN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SPM</a:t>
            </a:r>
            <a:r>
              <a:rPr kumimoji="1" lang="zh-CN" altLang="en-US" sz="2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1" charset="-122"/>
                <a:cs typeface="+mn-cs"/>
                <a:sym typeface="Symbol" panose="05050102010706020507" pitchFamily="18" charset="2"/>
              </a:rPr>
              <a:t>共同作用，光脉冲的传输特性将出现许多新的特点。</a:t>
            </a:r>
            <a:endParaRPr kumimoji="1" lang="zh-CN" altLang="en-US" sz="2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1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56011" name="Rectangle 11"/>
          <p:cNvSpPr>
            <a:spLocks noGrp="1" noChangeArrowheads="1"/>
          </p:cNvSpPr>
          <p:nvPr>
            <p:ph type="title"/>
          </p:nvPr>
        </p:nvSpPr>
        <p:spPr>
          <a:xfrm>
            <a:off x="1524000" y="533400"/>
            <a:ext cx="64770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j-cs"/>
              </a:rPr>
              <a:t>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j-cs"/>
              </a:rPr>
              <a:t>色散对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黑体" panose="02010609060101010101" pitchFamily="1" charset="-122"/>
                <a:cs typeface="+mj-cs"/>
              </a:rPr>
              <a:t>SPM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1" charset="-122"/>
                <a:cs typeface="+mj-cs"/>
              </a:rPr>
              <a:t>效应的影响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黑体" panose="02010609060101010101" pitchFamily="1" charset="-122"/>
                <a:cs typeface="+mj-cs"/>
              </a:rPr>
              <a:t>(2)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黑体" panose="02010609060101010101" pitchFamily="1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08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08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charRg st="3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08">
                                            <p:txEl>
                                              <p:charRg st="3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08">
                                            <p:txEl>
                                              <p:charRg st="3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charRg st="5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08">
                                            <p:txEl>
                                              <p:charRg st="5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08">
                                            <p:txEl>
                                              <p:charRg st="5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08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08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51143" y="2204720"/>
            <a:ext cx="8229600" cy="4162425"/>
          </a:xfrm>
        </p:spPr>
        <p:txBody>
          <a:bodyPr vert="horz" wrap="square" lIns="91440" tIns="45720" rIns="91440" bIns="45720" anchor="t" anchorCtr="0"/>
          <a:p>
            <a:pPr marL="609600" indent="-609600" eaLnBrk="1" hangingPunct="1"/>
            <a:r>
              <a:rPr lang="zh-CN" altLang="en-US" sz="3400" dirty="0">
                <a:solidFill>
                  <a:srgbClr val="FF0000"/>
                </a:solidFill>
              </a:rPr>
              <a:t>光轴</a:t>
            </a:r>
            <a:r>
              <a:rPr lang="zh-CN" altLang="en-US" sz="3400" dirty="0"/>
              <a:t>：若改变入射光的方向，将发现</a:t>
            </a:r>
            <a:r>
              <a:rPr lang="zh-CN" altLang="en-US" sz="3400" dirty="0">
                <a:solidFill>
                  <a:srgbClr val="0000CC"/>
                </a:solidFill>
              </a:rPr>
              <a:t>在晶体内存在着一些</a:t>
            </a:r>
            <a:r>
              <a:rPr lang="zh-CN" altLang="en-US" sz="3400" dirty="0"/>
              <a:t>特殊的方向，沿着这些特殊方向传播的光</a:t>
            </a:r>
            <a:r>
              <a:rPr lang="zh-CN" altLang="en-US" sz="3400" dirty="0">
                <a:solidFill>
                  <a:srgbClr val="0000CC"/>
                </a:solidFill>
              </a:rPr>
              <a:t>并不发生双折射</a:t>
            </a:r>
            <a:r>
              <a:rPr lang="zh-CN" altLang="en-US" sz="3400" dirty="0"/>
              <a:t>，</a:t>
            </a:r>
            <a:r>
              <a:rPr lang="zh-CN" altLang="en-US" sz="3400" dirty="0">
                <a:latin typeface="Times New Roman" panose="02020603050405020304" pitchFamily="18" charset="0"/>
              </a:rPr>
              <a:t>即</a:t>
            </a:r>
            <a:r>
              <a:rPr lang="en-US" altLang="zh-CN" sz="3400" dirty="0">
                <a:latin typeface="Times New Roman" panose="02020603050405020304" pitchFamily="18" charset="0"/>
              </a:rPr>
              <a:t>o</a:t>
            </a:r>
            <a:r>
              <a:rPr lang="zh-CN" altLang="en-US" sz="3400" dirty="0">
                <a:latin typeface="Times New Roman" panose="02020603050405020304" pitchFamily="18" charset="0"/>
              </a:rPr>
              <a:t>光和</a:t>
            </a:r>
            <a:r>
              <a:rPr lang="en-US" altLang="zh-CN" sz="3400" dirty="0">
                <a:latin typeface="Times New Roman" panose="02020603050405020304" pitchFamily="18" charset="0"/>
              </a:rPr>
              <a:t>e</a:t>
            </a:r>
            <a:r>
              <a:rPr lang="zh-CN" altLang="en-US" sz="3400" dirty="0"/>
              <a:t>光的传播速度和传播方向都一样。这些</a:t>
            </a:r>
            <a:r>
              <a:rPr lang="zh-CN" altLang="en-US" sz="3400" dirty="0">
                <a:solidFill>
                  <a:srgbClr val="0000CC"/>
                </a:solidFill>
              </a:rPr>
              <a:t>特殊的方向</a:t>
            </a:r>
            <a:r>
              <a:rPr lang="zh-CN" altLang="en-US" sz="3400" dirty="0"/>
              <a:t>就称为晶体的光轴。</a:t>
            </a:r>
            <a:endParaRPr lang="zh-CN" altLang="en-US" sz="3400" dirty="0"/>
          </a:p>
          <a:p>
            <a:pPr marL="609600" indent="-609600" eaLnBrk="1" hangingPunct="1">
              <a:buNone/>
            </a:pPr>
            <a:r>
              <a:rPr lang="zh-CN" altLang="en-US" sz="3400" dirty="0"/>
              <a:t>  </a:t>
            </a:r>
            <a:endParaRPr lang="zh-CN" altLang="en-US" sz="3400" dirty="0"/>
          </a:p>
          <a:p>
            <a:pPr marL="609600" indent="-609600" eaLnBrk="1" hangingPunct="1">
              <a:buNone/>
            </a:pPr>
            <a:r>
              <a:rPr lang="zh-CN" altLang="en-US" sz="3400" dirty="0"/>
              <a:t> </a:t>
            </a:r>
            <a:r>
              <a:rPr lang="en-US" altLang="zh-CN" sz="3400" dirty="0"/>
              <a:t>    </a:t>
            </a:r>
            <a:r>
              <a:rPr lang="zh-CN" altLang="en-US" sz="3400" dirty="0"/>
              <a:t>注意：</a:t>
            </a:r>
            <a:r>
              <a:rPr lang="zh-CN" altLang="en-US" sz="3400" dirty="0">
                <a:solidFill>
                  <a:srgbClr val="FF0000"/>
                </a:solidFill>
                <a:hlinkClick r:id="rId1" action="ppaction://hlinkfile"/>
              </a:rPr>
              <a:t>光轴仅标志一定的方向</a:t>
            </a:r>
            <a:r>
              <a:rPr lang="zh-CN" altLang="en-US" sz="3400" dirty="0">
                <a:hlinkClick r:id="rId1" action="ppaction://hlinkfile"/>
              </a:rPr>
              <a:t>。</a:t>
            </a:r>
            <a:endParaRPr lang="zh-CN" altLang="en-US" sz="340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23215" y="260985"/>
            <a:ext cx="7772400" cy="153289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4600" b="1" dirty="0">
                <a:solidFill>
                  <a:srgbClr val="FF3300"/>
                </a:solidFill>
                <a:latin typeface="宋体" panose="02010600030101010101" pitchFamily="2" charset="-122"/>
              </a:rPr>
              <a:t>          </a:t>
            </a:r>
            <a:br>
              <a:rPr lang="zh-CN" altLang="en-US" sz="4600" b="1" dirty="0">
                <a:solidFill>
                  <a:srgbClr val="FF3300"/>
                </a:solidFill>
                <a:latin typeface="宋体" panose="02010600030101010101" pitchFamily="2" charset="-122"/>
              </a:rPr>
            </a:br>
            <a:r>
              <a:rPr lang="zh-CN" altLang="en-US" sz="4600" b="1" dirty="0">
                <a:solidFill>
                  <a:srgbClr val="FF3300"/>
                </a:solidFill>
                <a:latin typeface="宋体" panose="02010600030101010101" pitchFamily="2" charset="-122"/>
              </a:rPr>
              <a:t>     第八章  电光调制</a:t>
            </a:r>
            <a:endParaRPr lang="zh-CN" altLang="en-US" sz="38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主平面：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晶体中</a:t>
            </a:r>
            <a:r>
              <a:rPr lang="zh-CN" altLang="en-US" b="1" dirty="0">
                <a:latin typeface="Times New Roman" panose="02020603050405020304" pitchFamily="18" charset="0"/>
              </a:rPr>
              <a:t>光的传播方向</a:t>
            </a:r>
            <a:r>
              <a:rPr lang="zh-CN" altLang="en-US" dirty="0">
                <a:latin typeface="Times New Roman" panose="02020603050405020304" pitchFamily="18" charset="0"/>
              </a:rPr>
              <a:t>与晶体光轴构成的平面。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o</a:t>
            </a:r>
            <a:r>
              <a:rPr lang="zh-CN" altLang="en-US" dirty="0">
                <a:latin typeface="Times New Roman" panose="02020603050405020304" pitchFamily="18" charset="0"/>
              </a:rPr>
              <a:t>光振动垂直主平面，</a:t>
            </a:r>
            <a:r>
              <a:rPr lang="en-US" altLang="zh-CN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光振动在主平面内。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主截面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晶体表面的法线与晶体光轴构成的平面。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当光的入射面为主截面时，</a:t>
            </a:r>
            <a:r>
              <a:rPr lang="en-US" altLang="zh-CN" dirty="0">
                <a:latin typeface="Times New Roman" panose="02020603050405020304" pitchFamily="18" charset="0"/>
              </a:rPr>
              <a:t>o</a:t>
            </a:r>
            <a:r>
              <a:rPr lang="zh-CN" altLang="en-US" dirty="0">
                <a:latin typeface="Times New Roman" panose="02020603050405020304" pitchFamily="18" charset="0"/>
              </a:rPr>
              <a:t>光和</a:t>
            </a:r>
            <a:r>
              <a:rPr lang="en-US" altLang="zh-CN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光的主平面都在主截面内，此情形下</a:t>
            </a:r>
            <a:r>
              <a:rPr lang="en-US" altLang="zh-CN" dirty="0">
                <a:latin typeface="Times New Roman" panose="02020603050405020304" pitchFamily="18" charset="0"/>
              </a:rPr>
              <a:t>o</a:t>
            </a:r>
            <a:r>
              <a:rPr lang="zh-CN" altLang="en-US" dirty="0">
                <a:latin typeface="Times New Roman" panose="02020603050405020304" pitchFamily="18" charset="0"/>
              </a:rPr>
              <a:t>光与</a:t>
            </a:r>
            <a:r>
              <a:rPr lang="en-US" altLang="zh-CN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光的振动方向相互垂直。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315" name="Picture 3" descr="5-1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0" y="0"/>
            <a:ext cx="3930650" cy="199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15362" name="Rectangle 2"/>
          <p:cNvSpPr/>
          <p:nvPr/>
        </p:nvSpPr>
        <p:spPr>
          <a:xfrm>
            <a:off x="179388" y="1341438"/>
            <a:ext cx="8763000" cy="1770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304800" eaLnBrk="0" hangingPunct="0">
              <a:lnSpc>
                <a:spcPct val="13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电光效应，即某些晶体在外加电场的作用下，其折射率将发生变化，当光波通过此介质时，其传输特性就受到影响而改变，这种现象称为电光效应。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/>
          <p:nvPr/>
        </p:nvSpPr>
        <p:spPr>
          <a:xfrm>
            <a:off x="2987675" y="404813"/>
            <a:ext cx="3144838" cy="682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Ch8.  </a:t>
            </a: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电光效应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/>
          <p:nvPr/>
        </p:nvSpPr>
        <p:spPr>
          <a:xfrm>
            <a:off x="179388" y="3141663"/>
            <a:ext cx="8763000" cy="2889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304800" eaLnBrk="0" hangingPunct="0">
              <a:lnSpc>
                <a:spcPct val="13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 §8.1  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电光效应的物理基础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eaLnBrk="0" hangingPunct="0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光波在介质中的传播规律受到介质折射率分布的制约，而一些晶体的折射率（介电常量）的分布又与其外加电场密切相关。晶体折射率由施加电场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的幂级数表示，即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17410" name="Rectangle 2"/>
          <p:cNvSpPr/>
          <p:nvPr/>
        </p:nvSpPr>
        <p:spPr>
          <a:xfrm>
            <a:off x="179388" y="1125538"/>
            <a:ext cx="8763000" cy="2314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对电光效应的分析和描述有两种方法：一种是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电磁理论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方法，但数学推导相当繁复；另一种是用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几何图形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折射率椭球体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又称光率体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的方法，这种方法直观、方便，故通常都采用这种方法。      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Rectangle 4"/>
          <p:cNvSpPr/>
          <p:nvPr/>
        </p:nvSpPr>
        <p:spPr>
          <a:xfrm>
            <a:off x="350838" y="360363"/>
            <a:ext cx="3344862" cy="676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电致折射率变化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2" name="Rectangle 5"/>
          <p:cNvSpPr/>
          <p:nvPr/>
        </p:nvSpPr>
        <p:spPr>
          <a:xfrm>
            <a:off x="179388" y="3408363"/>
            <a:ext cx="8763000" cy="1203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在晶体未加外电场时，主轴坐标系中，折射率椭球由如下方程描述：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413" name="Object 7"/>
          <p:cNvGraphicFramePr>
            <a:graphicFrameLocks noChangeAspect="1"/>
          </p:cNvGraphicFramePr>
          <p:nvPr/>
        </p:nvGraphicFramePr>
        <p:xfrm>
          <a:off x="395288" y="4868863"/>
          <a:ext cx="518477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028700" imgH="457200" progId="Equation.DSMT4">
                  <p:embed/>
                </p:oleObj>
              </mc:Choice>
              <mc:Fallback>
                <p:oleObj name="" r:id="rId1" imgW="1028700" imgH="457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4868863"/>
                        <a:ext cx="5184775" cy="1276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8"/>
          <p:cNvSpPr txBox="1"/>
          <p:nvPr/>
        </p:nvSpPr>
        <p:spPr>
          <a:xfrm>
            <a:off x="7092950" y="5229225"/>
            <a:ext cx="11493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(2.1.2)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41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4238625"/>
            <a:ext cx="3492500" cy="261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21506" name="Rectangle 3"/>
          <p:cNvSpPr/>
          <p:nvPr/>
        </p:nvSpPr>
        <p:spPr>
          <a:xfrm>
            <a:off x="250825" y="333375"/>
            <a:ext cx="8610600" cy="3013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88900" algn="just">
              <a:lnSpc>
                <a:spcPct val="120000"/>
              </a:lnSpc>
            </a:pP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式中，                 是电场沿             方向的分量。具有      元素的         矩阵称为电光张量，每个元素的值由具体的晶体决定，它是表征感应极化强弱的量。下面以常用的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KDP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晶体为例进行分析。       </a:t>
            </a:r>
            <a:endParaRPr lang="zh-CN" altLang="en-US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07" name="Object 4"/>
          <p:cNvGraphicFramePr>
            <a:graphicFrameLocks noChangeAspect="1"/>
          </p:cNvGraphicFramePr>
          <p:nvPr/>
        </p:nvGraphicFramePr>
        <p:xfrm>
          <a:off x="1547813" y="404813"/>
          <a:ext cx="18716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660400" imgH="241300" progId="Equation.3">
                  <p:embed/>
                </p:oleObj>
              </mc:Choice>
              <mc:Fallback>
                <p:oleObj name="" r:id="rId1" imgW="660400" imgH="2413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404813"/>
                        <a:ext cx="1871662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5"/>
          <p:cNvGraphicFramePr>
            <a:graphicFrameLocks noChangeAspect="1"/>
          </p:cNvGraphicFramePr>
          <p:nvPr/>
        </p:nvGraphicFramePr>
        <p:xfrm>
          <a:off x="5076825" y="477838"/>
          <a:ext cx="11509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393065" imgH="165100" progId="Equation.3">
                  <p:embed/>
                </p:oleObj>
              </mc:Choice>
              <mc:Fallback>
                <p:oleObj name="" r:id="rId3" imgW="393065" imgH="1651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6825" y="477838"/>
                        <a:ext cx="1150938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6"/>
          <p:cNvGraphicFramePr>
            <a:graphicFrameLocks noChangeAspect="1"/>
          </p:cNvGraphicFramePr>
          <p:nvPr/>
        </p:nvGraphicFramePr>
        <p:xfrm>
          <a:off x="1187450" y="981075"/>
          <a:ext cx="792163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177800" imgH="241300" progId="Equation.3">
                  <p:embed/>
                </p:oleObj>
              </mc:Choice>
              <mc:Fallback>
                <p:oleObj name="" r:id="rId5" imgW="177800" imgH="2413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450" y="981075"/>
                        <a:ext cx="792163" cy="623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7"/>
          <p:cNvGraphicFramePr>
            <a:graphicFrameLocks noChangeAspect="1"/>
          </p:cNvGraphicFramePr>
          <p:nvPr/>
        </p:nvGraphicFramePr>
        <p:xfrm>
          <a:off x="3195638" y="1052513"/>
          <a:ext cx="1016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316865" imgH="177800" progId="Equation.3">
                  <p:embed/>
                </p:oleObj>
              </mc:Choice>
              <mc:Fallback>
                <p:oleObj name="" r:id="rId7" imgW="316865" imgH="1778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5638" y="1052513"/>
                        <a:ext cx="101600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9"/>
          <p:cNvSpPr/>
          <p:nvPr/>
        </p:nvSpPr>
        <p:spPr>
          <a:xfrm>
            <a:off x="304800" y="3573463"/>
            <a:ext cx="8839200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88900" algn="just">
              <a:lnSpc>
                <a:spcPct val="120000"/>
              </a:lnSpc>
            </a:pP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KDP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KH</a:t>
            </a:r>
            <a:r>
              <a:rPr lang="en-US" altLang="zh-CN" sz="3200" baseline="-30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</a:t>
            </a:r>
            <a:r>
              <a:rPr lang="en-US" altLang="zh-CN" sz="3200" baseline="-30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）类晶体属于四方晶系，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42m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点群，是负单轴晶体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因此有                               </a:t>
            </a:r>
            <a:endParaRPr lang="zh-CN" altLang="en-US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88900" algn="just" eaLnBrk="0" hangingPunct="0">
              <a:lnSpc>
                <a:spcPct val="120000"/>
              </a:lnSpc>
            </a:pP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             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这类晶体的电光张量为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</a:t>
            </a:r>
            <a:endParaRPr lang="en-US" altLang="zh-CN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12" name="Object 12"/>
          <p:cNvGraphicFramePr>
            <a:graphicFrameLocks noChangeAspect="1"/>
          </p:cNvGraphicFramePr>
          <p:nvPr/>
        </p:nvGraphicFramePr>
        <p:xfrm>
          <a:off x="684213" y="4797425"/>
          <a:ext cx="12969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9" imgW="444500" imgH="228600" progId="Equation.DSMT4">
                  <p:embed/>
                </p:oleObj>
              </mc:Choice>
              <mc:Fallback>
                <p:oleObj name="" r:id="rId9" imgW="444500" imgH="2286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4213" y="4797425"/>
                        <a:ext cx="1296987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13"/>
          <p:cNvGraphicFramePr>
            <a:graphicFrameLocks noChangeAspect="1"/>
          </p:cNvGraphicFramePr>
          <p:nvPr/>
        </p:nvGraphicFramePr>
        <p:xfrm>
          <a:off x="4967288" y="4221163"/>
          <a:ext cx="4176712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1" imgW="1218565" imgH="241300" progId="Equation.DSMT4">
                  <p:embed/>
                </p:oleObj>
              </mc:Choice>
              <mc:Fallback>
                <p:oleObj name="" r:id="rId11" imgW="1218565" imgH="2413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67288" y="4221163"/>
                        <a:ext cx="4176712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4" name="Picture 15" descr="t0174e0438bb76c4718_size=260x19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0" y="5000625"/>
            <a:ext cx="2476500" cy="1857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graphicFrame>
        <p:nvGraphicFramePr>
          <p:cNvPr id="22530" name="Object 4"/>
          <p:cNvGraphicFramePr>
            <a:graphicFrameLocks noChangeAspect="1"/>
          </p:cNvGraphicFramePr>
          <p:nvPr/>
        </p:nvGraphicFramePr>
        <p:xfrm>
          <a:off x="2700338" y="404813"/>
          <a:ext cx="5562600" cy="553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1028700" imgH="1397000" progId="Equation.3">
                  <p:embed/>
                </p:oleObj>
              </mc:Choice>
              <mc:Fallback>
                <p:oleObj name="" r:id="rId1" imgW="1028700" imgH="13970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338" y="404813"/>
                        <a:ext cx="5562600" cy="553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Rectangle 5"/>
          <p:cNvSpPr/>
          <p:nvPr/>
        </p:nvSpPr>
        <p:spPr>
          <a:xfrm>
            <a:off x="7169150" y="5937250"/>
            <a:ext cx="1524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 (8.1.6)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532" name="Object 6"/>
          <p:cNvGraphicFramePr>
            <a:graphicFrameLocks noChangeAspect="1"/>
          </p:cNvGraphicFramePr>
          <p:nvPr/>
        </p:nvGraphicFramePr>
        <p:xfrm>
          <a:off x="684213" y="2636838"/>
          <a:ext cx="187166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444500" imgH="279400" progId="Equation.DSMT4">
                  <p:embed/>
                </p:oleObj>
              </mc:Choice>
              <mc:Fallback>
                <p:oleObj name="" r:id="rId3" imgW="444500" imgH="2794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2636838"/>
                        <a:ext cx="1871662" cy="1196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24578" name="Rectangle 2"/>
          <p:cNvSpPr/>
          <p:nvPr/>
        </p:nvSpPr>
        <p:spPr>
          <a:xfrm>
            <a:off x="228600" y="111125"/>
            <a:ext cx="8686800" cy="1211263"/>
          </a:xfrm>
          <a:prstGeom prst="rect">
            <a:avLst/>
          </a:prstGeom>
          <a:noFill/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(8.1.7)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式代入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1" action="ppaction://hlinksldjump"/>
              </a:rPr>
              <a:t>(8.1.3)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1" action="ppaction://hlinksldjump"/>
              </a:rPr>
              <a:t>式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便得到晶体加外电场 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后的新折射率椭球方程式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5"/>
          <p:cNvSpPr/>
          <p:nvPr/>
        </p:nvSpPr>
        <p:spPr>
          <a:xfrm>
            <a:off x="250825" y="2636838"/>
            <a:ext cx="8686800" cy="34496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可看出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外加电场导致折射率椭球方程中“交叉”项的出现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加电场后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椭球的主轴不再与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x, y, z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轴平行。因此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必须找出一个新的坐标系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(8.1.8)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式在该坐标系中主轴化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这样才可能确定电场对光传播的影响。为了简单起见，将外加电场的方向平行于轴，                             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于是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(8.1.8)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式变成：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4580" name="Object 8"/>
          <p:cNvGraphicFramePr>
            <a:graphicFrameLocks noChangeAspect="1"/>
          </p:cNvGraphicFramePr>
          <p:nvPr/>
        </p:nvGraphicFramePr>
        <p:xfrm>
          <a:off x="395288" y="1482725"/>
          <a:ext cx="74644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3048000" imgH="457200" progId="Equation.DSMT4">
                  <p:embed/>
                </p:oleObj>
              </mc:Choice>
              <mc:Fallback>
                <p:oleObj name="" r:id="rId2" imgW="3048000" imgH="457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288" y="1482725"/>
                        <a:ext cx="7464425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10"/>
          <p:cNvGraphicFramePr>
            <a:graphicFrameLocks noChangeAspect="1"/>
          </p:cNvGraphicFramePr>
          <p:nvPr/>
        </p:nvGraphicFramePr>
        <p:xfrm>
          <a:off x="5867400" y="5013325"/>
          <a:ext cx="11572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482600" imgH="203200" progId="Equation.DSMT4">
                  <p:embed/>
                </p:oleObj>
              </mc:Choice>
              <mc:Fallback>
                <p:oleObj name="" r:id="rId4" imgW="482600" imgH="203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67400" y="5013325"/>
                        <a:ext cx="1157288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1"/>
          <p:cNvGraphicFramePr>
            <a:graphicFrameLocks noChangeAspect="1"/>
          </p:cNvGraphicFramePr>
          <p:nvPr/>
        </p:nvGraphicFramePr>
        <p:xfrm>
          <a:off x="7091363" y="5013325"/>
          <a:ext cx="16097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6" imgW="748665" imgH="241300" progId="Equation.DSMT4">
                  <p:embed/>
                </p:oleObj>
              </mc:Choice>
              <mc:Fallback>
                <p:oleObj name="" r:id="rId6" imgW="748665" imgH="241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91363" y="5013325"/>
                        <a:ext cx="1609725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25602" name="Rectangle 2"/>
          <p:cNvSpPr/>
          <p:nvPr/>
        </p:nvSpPr>
        <p:spPr>
          <a:xfrm>
            <a:off x="190500" y="2205038"/>
            <a:ext cx="8763000" cy="1203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457200" algn="just">
              <a:lnSpc>
                <a:spcPct val="130000"/>
              </a:lnSpc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为了寻求一个新的坐标系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y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z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，使椭球方程不含交叉项，即具有如下形式：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603" name="Object 11"/>
          <p:cNvGraphicFramePr>
            <a:graphicFrameLocks noChangeAspect="1"/>
          </p:cNvGraphicFramePr>
          <p:nvPr/>
        </p:nvGraphicFramePr>
        <p:xfrm>
          <a:off x="971550" y="3716338"/>
          <a:ext cx="48958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129665" imgH="469900" progId="Equation.DSMT4">
                  <p:embed/>
                </p:oleObj>
              </mc:Choice>
              <mc:Fallback>
                <p:oleObj name="" r:id="rId1" imgW="1129665" imgH="4699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3716338"/>
                        <a:ext cx="489585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文本框 1"/>
          <p:cNvSpPr txBox="1"/>
          <p:nvPr/>
        </p:nvSpPr>
        <p:spPr>
          <a:xfrm>
            <a:off x="6661150" y="920750"/>
            <a:ext cx="13779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(8.1.9)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605" name="Object 27"/>
          <p:cNvGraphicFramePr>
            <a:graphicFrameLocks noChangeAspect="1"/>
          </p:cNvGraphicFramePr>
          <p:nvPr/>
        </p:nvGraphicFramePr>
        <p:xfrm>
          <a:off x="900113" y="620713"/>
          <a:ext cx="5148262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701800" imgH="457200" progId="Equation.DSMT4">
                  <p:embed/>
                </p:oleObj>
              </mc:Choice>
              <mc:Fallback>
                <p:oleObj name="" r:id="rId3" imgW="1701800" imgH="457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620713"/>
                        <a:ext cx="5148262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27650" name="Rectangle 4"/>
          <p:cNvSpPr/>
          <p:nvPr/>
        </p:nvSpPr>
        <p:spPr>
          <a:xfrm>
            <a:off x="228600" y="1965325"/>
            <a:ext cx="4406900" cy="6080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(8.1.11)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式代入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(8.1.9)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 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5"/>
          <p:cNvSpPr/>
          <p:nvPr/>
        </p:nvSpPr>
        <p:spPr>
          <a:xfrm>
            <a:off x="228600" y="5624513"/>
            <a:ext cx="8686800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 defTabSz="914400" eaLnBrk="0" hangingPunct="0">
              <a:lnSpc>
                <a:spcPct val="120000"/>
              </a:lnSpc>
              <a:tabLst>
                <a:tab pos="0" algn="l"/>
              </a:tabLst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这就是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KDP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类晶体沿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轴加电场之后的新椭球方程，如图所示。其椭球主轴的半长度由下式决定：          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2" name="Rectangle 7"/>
          <p:cNvSpPr/>
          <p:nvPr/>
        </p:nvSpPr>
        <p:spPr>
          <a:xfrm>
            <a:off x="179388" y="3860800"/>
            <a:ext cx="86868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 defTabSz="914400">
              <a:lnSpc>
                <a:spcPct val="120000"/>
              </a:lnSpc>
              <a:tabLst>
                <a:tab pos="0" algn="l"/>
              </a:tabLst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令交叉项为零，即                                    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则方程式变为                                                               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7653" name="Object 8"/>
          <p:cNvGraphicFramePr>
            <a:graphicFrameLocks noChangeAspect="1"/>
          </p:cNvGraphicFramePr>
          <p:nvPr/>
        </p:nvGraphicFramePr>
        <p:xfrm>
          <a:off x="3132138" y="3933825"/>
          <a:ext cx="32845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752600" imgH="254000" progId="Equation.3">
                  <p:embed/>
                </p:oleObj>
              </mc:Choice>
              <mc:Fallback>
                <p:oleObj name="" r:id="rId1" imgW="1752600" imgH="254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2138" y="3933825"/>
                        <a:ext cx="328453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10"/>
          <p:cNvSpPr/>
          <p:nvPr/>
        </p:nvSpPr>
        <p:spPr>
          <a:xfrm>
            <a:off x="7164388" y="4724400"/>
            <a:ext cx="161925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(8.1.12)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655" name="Group 11"/>
          <p:cNvGrpSpPr/>
          <p:nvPr/>
        </p:nvGrpSpPr>
        <p:grpSpPr>
          <a:xfrm>
            <a:off x="5651500" y="115888"/>
            <a:ext cx="2017713" cy="1152525"/>
            <a:chOff x="3560" y="73"/>
            <a:chExt cx="1271" cy="726"/>
          </a:xfrm>
        </p:grpSpPr>
        <p:sp>
          <p:nvSpPr>
            <p:cNvPr id="27656" name="Line 12"/>
            <p:cNvSpPr/>
            <p:nvPr/>
          </p:nvSpPr>
          <p:spPr>
            <a:xfrm>
              <a:off x="3923" y="663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57" name="Line 13"/>
            <p:cNvSpPr/>
            <p:nvPr/>
          </p:nvSpPr>
          <p:spPr>
            <a:xfrm flipV="1">
              <a:off x="3923" y="181"/>
              <a:ext cx="0" cy="4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58" name="Line 14"/>
            <p:cNvSpPr/>
            <p:nvPr/>
          </p:nvSpPr>
          <p:spPr>
            <a:xfrm flipV="1">
              <a:off x="3923" y="481"/>
              <a:ext cx="680" cy="18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59" name="Line 15"/>
            <p:cNvSpPr/>
            <p:nvPr/>
          </p:nvSpPr>
          <p:spPr>
            <a:xfrm flipH="1" flipV="1">
              <a:off x="3742" y="181"/>
              <a:ext cx="181" cy="48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60" name="Text Box 16"/>
            <p:cNvSpPr txBox="1"/>
            <p:nvPr/>
          </p:nvSpPr>
          <p:spPr>
            <a:xfrm>
              <a:off x="4241" y="481"/>
              <a:ext cx="2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α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Text Box 17"/>
            <p:cNvSpPr txBox="1"/>
            <p:nvPr/>
          </p:nvSpPr>
          <p:spPr>
            <a:xfrm>
              <a:off x="4558" y="527"/>
              <a:ext cx="2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Text Box 18"/>
            <p:cNvSpPr txBox="1"/>
            <p:nvPr/>
          </p:nvSpPr>
          <p:spPr>
            <a:xfrm>
              <a:off x="3922" y="73"/>
              <a:ext cx="2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3" name="Text Box 19"/>
            <p:cNvSpPr txBox="1"/>
            <p:nvPr/>
          </p:nvSpPr>
          <p:spPr>
            <a:xfrm>
              <a:off x="4557" y="367"/>
              <a:ext cx="2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x’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4" name="Text Box 20"/>
            <p:cNvSpPr txBox="1"/>
            <p:nvPr/>
          </p:nvSpPr>
          <p:spPr>
            <a:xfrm>
              <a:off x="3560" y="73"/>
              <a:ext cx="2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y’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5" name="Line 21"/>
            <p:cNvSpPr/>
            <p:nvPr/>
          </p:nvSpPr>
          <p:spPr>
            <a:xfrm flipH="1" flipV="1">
              <a:off x="4467" y="527"/>
              <a:ext cx="46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7666" name="Line 22"/>
            <p:cNvSpPr/>
            <p:nvPr/>
          </p:nvSpPr>
          <p:spPr>
            <a:xfrm flipH="1">
              <a:off x="3968" y="663"/>
              <a:ext cx="545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7667" name="Line 23"/>
            <p:cNvSpPr/>
            <p:nvPr/>
          </p:nvSpPr>
          <p:spPr>
            <a:xfrm>
              <a:off x="3923" y="663"/>
              <a:ext cx="45" cy="136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27668" name="Object 27"/>
          <p:cNvGraphicFramePr>
            <a:graphicFrameLocks noChangeAspect="1"/>
          </p:cNvGraphicFramePr>
          <p:nvPr/>
        </p:nvGraphicFramePr>
        <p:xfrm>
          <a:off x="4427538" y="1916113"/>
          <a:ext cx="357028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1701800" imgH="457200" progId="Equation.DSMT4">
                  <p:embed/>
                </p:oleObj>
              </mc:Choice>
              <mc:Fallback>
                <p:oleObj name="" r:id="rId3" imgW="1701800" imgH="457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7538" y="1916113"/>
                        <a:ext cx="3570287" cy="828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AutoShape 29"/>
          <p:cNvSpPr>
            <a:spLocks noChangeAspect="1" noTextEdit="1"/>
          </p:cNvSpPr>
          <p:nvPr/>
        </p:nvSpPr>
        <p:spPr>
          <a:xfrm>
            <a:off x="323850" y="269875"/>
            <a:ext cx="8258175" cy="15827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0" name="Rectangle 31"/>
          <p:cNvSpPr/>
          <p:nvPr/>
        </p:nvSpPr>
        <p:spPr>
          <a:xfrm>
            <a:off x="8367713" y="1365250"/>
            <a:ext cx="122237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1" name="Rectangle 32"/>
          <p:cNvSpPr/>
          <p:nvPr/>
        </p:nvSpPr>
        <p:spPr>
          <a:xfrm>
            <a:off x="7816850" y="1365250"/>
            <a:ext cx="368300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2" name="Rectangle 33"/>
          <p:cNvSpPr/>
          <p:nvPr/>
        </p:nvSpPr>
        <p:spPr>
          <a:xfrm>
            <a:off x="7667625" y="1365250"/>
            <a:ext cx="920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3" name="Rectangle 34"/>
          <p:cNvSpPr/>
          <p:nvPr/>
        </p:nvSpPr>
        <p:spPr>
          <a:xfrm>
            <a:off x="7369175" y="1365250"/>
            <a:ext cx="184150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4" name="Rectangle 35"/>
          <p:cNvSpPr/>
          <p:nvPr/>
        </p:nvSpPr>
        <p:spPr>
          <a:xfrm>
            <a:off x="7219950" y="1365250"/>
            <a:ext cx="920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5" name="Rectangle 36"/>
          <p:cNvSpPr/>
          <p:nvPr/>
        </p:nvSpPr>
        <p:spPr>
          <a:xfrm>
            <a:off x="6921500" y="1365250"/>
            <a:ext cx="184150" cy="4460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6" name="Rectangle 37"/>
          <p:cNvSpPr/>
          <p:nvPr/>
        </p:nvSpPr>
        <p:spPr>
          <a:xfrm>
            <a:off x="6707188" y="1365250"/>
            <a:ext cx="122237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7" name="Rectangle 38"/>
          <p:cNvSpPr/>
          <p:nvPr/>
        </p:nvSpPr>
        <p:spPr>
          <a:xfrm>
            <a:off x="4197350" y="1365250"/>
            <a:ext cx="490538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8" name="Rectangle 39"/>
          <p:cNvSpPr/>
          <p:nvPr/>
        </p:nvSpPr>
        <p:spPr>
          <a:xfrm>
            <a:off x="1922463" y="1365250"/>
            <a:ext cx="42862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9" name="Rectangle 40"/>
          <p:cNvSpPr/>
          <p:nvPr/>
        </p:nvSpPr>
        <p:spPr>
          <a:xfrm>
            <a:off x="4225925" y="817563"/>
            <a:ext cx="42862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0" name="Rectangle 41"/>
          <p:cNvSpPr/>
          <p:nvPr/>
        </p:nvSpPr>
        <p:spPr>
          <a:xfrm>
            <a:off x="1893888" y="817563"/>
            <a:ext cx="490537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1" name="Rectangle 42"/>
          <p:cNvSpPr/>
          <p:nvPr/>
        </p:nvSpPr>
        <p:spPr>
          <a:xfrm>
            <a:off x="1660525" y="269875"/>
            <a:ext cx="666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2" name="Rectangle 43"/>
          <p:cNvSpPr/>
          <p:nvPr/>
        </p:nvSpPr>
        <p:spPr>
          <a:xfrm>
            <a:off x="5027613" y="1323975"/>
            <a:ext cx="2317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3" name="Rectangle 44"/>
          <p:cNvSpPr/>
          <p:nvPr/>
        </p:nvSpPr>
        <p:spPr>
          <a:xfrm>
            <a:off x="2678113" y="1323975"/>
            <a:ext cx="2317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4" name="Rectangle 45"/>
          <p:cNvSpPr/>
          <p:nvPr/>
        </p:nvSpPr>
        <p:spPr>
          <a:xfrm>
            <a:off x="4981575" y="776288"/>
            <a:ext cx="2317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5" name="Rectangle 46"/>
          <p:cNvSpPr/>
          <p:nvPr/>
        </p:nvSpPr>
        <p:spPr>
          <a:xfrm>
            <a:off x="2724150" y="776288"/>
            <a:ext cx="2317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6" name="Rectangle 47"/>
          <p:cNvSpPr/>
          <p:nvPr/>
        </p:nvSpPr>
        <p:spPr>
          <a:xfrm>
            <a:off x="3713163" y="1365250"/>
            <a:ext cx="1635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7" name="Rectangle 48"/>
          <p:cNvSpPr/>
          <p:nvPr/>
        </p:nvSpPr>
        <p:spPr>
          <a:xfrm>
            <a:off x="1455738" y="1365250"/>
            <a:ext cx="1635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8" name="Rectangle 49"/>
          <p:cNvSpPr/>
          <p:nvPr/>
        </p:nvSpPr>
        <p:spPr>
          <a:xfrm>
            <a:off x="541338" y="1365250"/>
            <a:ext cx="1635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9" name="Rectangle 50"/>
          <p:cNvSpPr/>
          <p:nvPr/>
        </p:nvSpPr>
        <p:spPr>
          <a:xfrm>
            <a:off x="3749675" y="817563"/>
            <a:ext cx="163513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0" name="Rectangle 51"/>
          <p:cNvSpPr/>
          <p:nvPr/>
        </p:nvSpPr>
        <p:spPr>
          <a:xfrm>
            <a:off x="1417638" y="817563"/>
            <a:ext cx="1635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1" name="Rectangle 52"/>
          <p:cNvSpPr/>
          <p:nvPr/>
        </p:nvSpPr>
        <p:spPr>
          <a:xfrm>
            <a:off x="512763" y="817563"/>
            <a:ext cx="1635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2" name="Rectangle 53"/>
          <p:cNvSpPr/>
          <p:nvPr/>
        </p:nvSpPr>
        <p:spPr>
          <a:xfrm>
            <a:off x="1400175" y="269875"/>
            <a:ext cx="1428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3" name="Rectangle 54"/>
          <p:cNvSpPr/>
          <p:nvPr/>
        </p:nvSpPr>
        <p:spPr>
          <a:xfrm>
            <a:off x="512763" y="269875"/>
            <a:ext cx="14287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4" name="Rectangle 55"/>
          <p:cNvSpPr/>
          <p:nvPr/>
        </p:nvSpPr>
        <p:spPr>
          <a:xfrm>
            <a:off x="3992563" y="1303338"/>
            <a:ext cx="90487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5" name="Rectangle 56"/>
          <p:cNvSpPr/>
          <p:nvPr/>
        </p:nvSpPr>
        <p:spPr>
          <a:xfrm>
            <a:off x="3217863" y="1323975"/>
            <a:ext cx="2016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+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6" name="Rectangle 57"/>
          <p:cNvSpPr/>
          <p:nvPr/>
        </p:nvSpPr>
        <p:spPr>
          <a:xfrm>
            <a:off x="1725613" y="1303338"/>
            <a:ext cx="90487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7" name="Rectangle 58"/>
          <p:cNvSpPr/>
          <p:nvPr/>
        </p:nvSpPr>
        <p:spPr>
          <a:xfrm>
            <a:off x="960438" y="1323975"/>
            <a:ext cx="201612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8" name="Rectangle 59"/>
          <p:cNvSpPr/>
          <p:nvPr/>
        </p:nvSpPr>
        <p:spPr>
          <a:xfrm>
            <a:off x="4030663" y="755650"/>
            <a:ext cx="90487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99" name="Rectangle 61"/>
          <p:cNvSpPr/>
          <p:nvPr/>
        </p:nvSpPr>
        <p:spPr>
          <a:xfrm>
            <a:off x="1689100" y="755650"/>
            <a:ext cx="90488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¢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700" name="Rectangle 62"/>
          <p:cNvSpPr/>
          <p:nvPr/>
        </p:nvSpPr>
        <p:spPr>
          <a:xfrm>
            <a:off x="923925" y="776288"/>
            <a:ext cx="201613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701" name="Rectangle 63"/>
          <p:cNvSpPr/>
          <p:nvPr/>
        </p:nvSpPr>
        <p:spPr>
          <a:xfrm>
            <a:off x="904875" y="228600"/>
            <a:ext cx="201613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9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702" name="Text Box 64"/>
          <p:cNvSpPr txBox="1"/>
          <p:nvPr/>
        </p:nvSpPr>
        <p:spPr>
          <a:xfrm>
            <a:off x="3132138" y="836613"/>
            <a:ext cx="3270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703" name="Text Box 65"/>
          <p:cNvSpPr txBox="1"/>
          <p:nvPr/>
        </p:nvSpPr>
        <p:spPr>
          <a:xfrm>
            <a:off x="1187450" y="1341438"/>
            <a:ext cx="452438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7704" name="Object 67"/>
          <p:cNvGraphicFramePr>
            <a:graphicFrameLocks noChangeAspect="1"/>
          </p:cNvGraphicFramePr>
          <p:nvPr/>
        </p:nvGraphicFramePr>
        <p:xfrm>
          <a:off x="85725" y="2781300"/>
          <a:ext cx="88931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5" imgW="4699000" imgH="431800" progId="Equation.DSMT4">
                  <p:embed/>
                </p:oleObj>
              </mc:Choice>
              <mc:Fallback>
                <p:oleObj name="" r:id="rId5" imgW="4699000" imgH="431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725" y="2781300"/>
                        <a:ext cx="8893175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05" name="Object 68"/>
          <p:cNvGraphicFramePr>
            <a:graphicFrameLocks noChangeAspect="1"/>
          </p:cNvGraphicFramePr>
          <p:nvPr/>
        </p:nvGraphicFramePr>
        <p:xfrm>
          <a:off x="1042988" y="4581525"/>
          <a:ext cx="58340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2705100" imgH="431800" progId="Equation.DSMT4">
                  <p:embed/>
                </p:oleObj>
              </mc:Choice>
              <mc:Fallback>
                <p:oleObj name="" r:id="rId7" imgW="2705100" imgH="4318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2988" y="4581525"/>
                        <a:ext cx="5834062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grpSp>
        <p:nvGrpSpPr>
          <p:cNvPr id="28674" name="Group 15"/>
          <p:cNvGrpSpPr/>
          <p:nvPr/>
        </p:nvGrpSpPr>
        <p:grpSpPr>
          <a:xfrm>
            <a:off x="0" y="1773238"/>
            <a:ext cx="5580063" cy="5118100"/>
            <a:chOff x="768" y="-96"/>
            <a:chExt cx="4754" cy="4464"/>
          </a:xfrm>
        </p:grpSpPr>
        <p:sp>
          <p:nvSpPr>
            <p:cNvPr id="28675" name="Line 2"/>
            <p:cNvSpPr/>
            <p:nvPr/>
          </p:nvSpPr>
          <p:spPr>
            <a:xfrm flipV="1">
              <a:off x="2736" y="0"/>
              <a:ext cx="0" cy="38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76" name="Line 3"/>
            <p:cNvSpPr/>
            <p:nvPr/>
          </p:nvSpPr>
          <p:spPr>
            <a:xfrm>
              <a:off x="768" y="2064"/>
              <a:ext cx="441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77" name="Text Box 4"/>
            <p:cNvSpPr txBox="1"/>
            <p:nvPr/>
          </p:nvSpPr>
          <p:spPr>
            <a:xfrm>
              <a:off x="2832" y="-96"/>
              <a:ext cx="527" cy="5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8" name="Text Box 5"/>
            <p:cNvSpPr txBox="1"/>
            <p:nvPr/>
          </p:nvSpPr>
          <p:spPr>
            <a:xfrm>
              <a:off x="4271" y="480"/>
              <a:ext cx="392" cy="5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x'</a:t>
              </a:r>
              <a:endPara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Oval 6"/>
            <p:cNvSpPr/>
            <p:nvPr/>
          </p:nvSpPr>
          <p:spPr>
            <a:xfrm>
              <a:off x="1872" y="1152"/>
              <a:ext cx="1680" cy="163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0" name="Line 7"/>
            <p:cNvSpPr/>
            <p:nvPr/>
          </p:nvSpPr>
          <p:spPr>
            <a:xfrm flipH="1" flipV="1">
              <a:off x="1296" y="624"/>
              <a:ext cx="2688" cy="26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"/>
              <a:round/>
              <a:headEnd type="none" w="med" len="med"/>
              <a:tailEnd type="triangle" w="med" len="med"/>
            </a:ln>
          </p:spPr>
        </p:sp>
        <p:sp>
          <p:nvSpPr>
            <p:cNvPr id="28681" name="Text Box 8"/>
            <p:cNvSpPr txBox="1"/>
            <p:nvPr/>
          </p:nvSpPr>
          <p:spPr>
            <a:xfrm>
              <a:off x="1391" y="336"/>
              <a:ext cx="528" cy="5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y'</a:t>
              </a:r>
              <a:endPara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Line 9"/>
            <p:cNvSpPr/>
            <p:nvPr/>
          </p:nvSpPr>
          <p:spPr>
            <a:xfrm flipV="1">
              <a:off x="1440" y="720"/>
              <a:ext cx="2784" cy="24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"/>
              <a:round/>
              <a:headEnd type="none" w="med" len="med"/>
              <a:tailEnd type="triangle" w="med" len="med"/>
            </a:ln>
          </p:spPr>
        </p:sp>
        <p:sp>
          <p:nvSpPr>
            <p:cNvPr id="28683" name="Line 10"/>
            <p:cNvSpPr/>
            <p:nvPr/>
          </p:nvSpPr>
          <p:spPr>
            <a:xfrm>
              <a:off x="2976" y="1824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28684" name="Text Box 11"/>
            <p:cNvSpPr txBox="1"/>
            <p:nvPr/>
          </p:nvSpPr>
          <p:spPr>
            <a:xfrm>
              <a:off x="2977" y="1746"/>
              <a:ext cx="959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45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Rectangle 12"/>
            <p:cNvSpPr/>
            <p:nvPr/>
          </p:nvSpPr>
          <p:spPr>
            <a:xfrm>
              <a:off x="863" y="3859"/>
              <a:ext cx="4530" cy="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图</a:t>
              </a:r>
              <a:r>
                <a:rPr lang="en-US" altLang="zh-CN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8-1 </a:t>
              </a:r>
              <a:r>
                <a:rPr lang="zh-CN" altLang="en-US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加电场后的椭球的形变</a:t>
              </a:r>
              <a:endPara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Oval 13"/>
            <p:cNvSpPr/>
            <p:nvPr/>
          </p:nvSpPr>
          <p:spPr>
            <a:xfrm rot="-2700000">
              <a:off x="2095" y="960"/>
              <a:ext cx="1200" cy="201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Text Box 14"/>
            <p:cNvSpPr txBox="1"/>
            <p:nvPr/>
          </p:nvSpPr>
          <p:spPr>
            <a:xfrm>
              <a:off x="5233" y="1872"/>
              <a:ext cx="289" cy="5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8688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163" y="2924175"/>
            <a:ext cx="3779837" cy="283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89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725" y="0"/>
            <a:ext cx="3851275" cy="2889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1746" name="Rectangle 3"/>
          <p:cNvSpPr/>
          <p:nvPr/>
        </p:nvSpPr>
        <p:spPr>
          <a:xfrm>
            <a:off x="228600" y="3048000"/>
            <a:ext cx="8763000" cy="3530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由此可见，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KDP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晶体沿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（主）轴加电场时，由单轴晶变成了双轴晶体，折射率椭球的主轴绕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轴旋转了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r>
            <a:r>
              <a:rPr lang="en-US" altLang="zh-CN" sz="2800" baseline="30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角，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此转角与外加电场的大小无关，其折射率变化与电场成正比，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(8.1.13)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式的△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值称为电致折射率变化。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这是利用电光效应实现光调制、调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、锁模等技术的物理基础。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747" name="Group 53"/>
          <p:cNvGrpSpPr/>
          <p:nvPr/>
        </p:nvGrpSpPr>
        <p:grpSpPr>
          <a:xfrm>
            <a:off x="1543050" y="211138"/>
            <a:ext cx="3614738" cy="2860675"/>
            <a:chOff x="972" y="133"/>
            <a:chExt cx="2277" cy="1802"/>
          </a:xfrm>
        </p:grpSpPr>
        <p:sp>
          <p:nvSpPr>
            <p:cNvPr id="31748" name="Line 6"/>
            <p:cNvSpPr/>
            <p:nvPr/>
          </p:nvSpPr>
          <p:spPr>
            <a:xfrm>
              <a:off x="2128" y="445"/>
              <a:ext cx="183" cy="1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49" name="Line 7"/>
            <p:cNvSpPr/>
            <p:nvPr/>
          </p:nvSpPr>
          <p:spPr>
            <a:xfrm>
              <a:off x="2144" y="1145"/>
              <a:ext cx="183" cy="1"/>
            </a:xfrm>
            <a:prstGeom prst="line">
              <a:avLst/>
            </a:prstGeom>
            <a:ln w="2063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0" name="Rectangle 8"/>
            <p:cNvSpPr/>
            <p:nvPr/>
          </p:nvSpPr>
          <p:spPr>
            <a:xfrm>
              <a:off x="1732" y="1724"/>
              <a:ext cx="7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Rectangle 9"/>
            <p:cNvSpPr/>
            <p:nvPr/>
          </p:nvSpPr>
          <p:spPr>
            <a:xfrm>
              <a:off x="1130" y="1724"/>
              <a:ext cx="6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Rectangle 10"/>
            <p:cNvSpPr/>
            <p:nvPr/>
          </p:nvSpPr>
          <p:spPr>
            <a:xfrm>
              <a:off x="3181" y="1138"/>
              <a:ext cx="6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Rectangle 11"/>
            <p:cNvSpPr/>
            <p:nvPr/>
          </p:nvSpPr>
          <p:spPr>
            <a:xfrm>
              <a:off x="1138" y="1138"/>
              <a:ext cx="7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4" name="Rectangle 12"/>
            <p:cNvSpPr/>
            <p:nvPr/>
          </p:nvSpPr>
          <p:spPr>
            <a:xfrm>
              <a:off x="3166" y="438"/>
              <a:ext cx="6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5" name="Rectangle 13"/>
            <p:cNvSpPr/>
            <p:nvPr/>
          </p:nvSpPr>
          <p:spPr>
            <a:xfrm>
              <a:off x="1130" y="438"/>
              <a:ext cx="7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Rectangle 14"/>
            <p:cNvSpPr/>
            <p:nvPr/>
          </p:nvSpPr>
          <p:spPr>
            <a:xfrm>
              <a:off x="1584" y="1534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Rectangle 15"/>
            <p:cNvSpPr/>
            <p:nvPr/>
          </p:nvSpPr>
          <p:spPr>
            <a:xfrm>
              <a:off x="972" y="1534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Rectangle 16"/>
            <p:cNvSpPr/>
            <p:nvPr/>
          </p:nvSpPr>
          <p:spPr>
            <a:xfrm>
              <a:off x="2984" y="949"/>
              <a:ext cx="18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9" name="Rectangle 17"/>
            <p:cNvSpPr/>
            <p:nvPr/>
          </p:nvSpPr>
          <p:spPr>
            <a:xfrm>
              <a:off x="2379" y="949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0" name="Rectangle 18"/>
            <p:cNvSpPr/>
            <p:nvPr/>
          </p:nvSpPr>
          <p:spPr>
            <a:xfrm>
              <a:off x="1601" y="949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1" name="Rectangle 19"/>
            <p:cNvSpPr/>
            <p:nvPr/>
          </p:nvSpPr>
          <p:spPr>
            <a:xfrm>
              <a:off x="972" y="949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2" name="Rectangle 20"/>
            <p:cNvSpPr/>
            <p:nvPr/>
          </p:nvSpPr>
          <p:spPr>
            <a:xfrm>
              <a:off x="2969" y="248"/>
              <a:ext cx="18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3" name="Rectangle 21"/>
            <p:cNvSpPr/>
            <p:nvPr/>
          </p:nvSpPr>
          <p:spPr>
            <a:xfrm>
              <a:off x="2363" y="248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4" name="Rectangle 22"/>
            <p:cNvSpPr/>
            <p:nvPr/>
          </p:nvSpPr>
          <p:spPr>
            <a:xfrm>
              <a:off x="1590" y="248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5" name="Rectangle 23"/>
            <p:cNvSpPr/>
            <p:nvPr/>
          </p:nvSpPr>
          <p:spPr>
            <a:xfrm>
              <a:off x="972" y="248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6" name="Rectangle 24"/>
            <p:cNvSpPr/>
            <p:nvPr/>
          </p:nvSpPr>
          <p:spPr>
            <a:xfrm>
              <a:off x="1348" y="1498"/>
              <a:ext cx="16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7" name="Rectangle 25"/>
            <p:cNvSpPr/>
            <p:nvPr/>
          </p:nvSpPr>
          <p:spPr>
            <a:xfrm>
              <a:off x="1882" y="255"/>
              <a:ext cx="167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/>
            <a:p>
              <a:r>
                <a: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8" name="Rectangle 26"/>
            <p:cNvSpPr/>
            <p:nvPr/>
          </p:nvSpPr>
          <p:spPr>
            <a:xfrm>
              <a:off x="1365" y="913"/>
              <a:ext cx="16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9" name="Rectangle 28"/>
            <p:cNvSpPr/>
            <p:nvPr/>
          </p:nvSpPr>
          <p:spPr>
            <a:xfrm>
              <a:off x="1354" y="212"/>
              <a:ext cx="16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0" name="Rectangle 29"/>
            <p:cNvSpPr/>
            <p:nvPr/>
          </p:nvSpPr>
          <p:spPr>
            <a:xfrm>
              <a:off x="1206" y="1693"/>
              <a:ext cx="43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¢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1" name="Rectangle 30"/>
            <p:cNvSpPr/>
            <p:nvPr/>
          </p:nvSpPr>
          <p:spPr>
            <a:xfrm>
              <a:off x="1223" y="1108"/>
              <a:ext cx="43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¢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2" name="Rectangle 31"/>
            <p:cNvSpPr/>
            <p:nvPr/>
          </p:nvSpPr>
          <p:spPr>
            <a:xfrm>
              <a:off x="1212" y="408"/>
              <a:ext cx="43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¢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3" name="Rectangle 39"/>
            <p:cNvSpPr/>
            <p:nvPr/>
          </p:nvSpPr>
          <p:spPr>
            <a:xfrm>
              <a:off x="2165" y="1145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4" name="Rectangle 40"/>
            <p:cNvSpPr/>
            <p:nvPr/>
          </p:nvSpPr>
          <p:spPr>
            <a:xfrm>
              <a:off x="2160" y="834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5" name="Rectangle 41"/>
            <p:cNvSpPr/>
            <p:nvPr/>
          </p:nvSpPr>
          <p:spPr>
            <a:xfrm>
              <a:off x="2149" y="445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6" name="Rectangle 42"/>
            <p:cNvSpPr/>
            <p:nvPr/>
          </p:nvSpPr>
          <p:spPr>
            <a:xfrm>
              <a:off x="2144" y="133"/>
              <a:ext cx="1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7" name="Rectangle 43"/>
            <p:cNvSpPr/>
            <p:nvPr/>
          </p:nvSpPr>
          <p:spPr>
            <a:xfrm>
              <a:off x="2789" y="1137"/>
              <a:ext cx="176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8" name="Rectangle 44"/>
            <p:cNvSpPr/>
            <p:nvPr/>
          </p:nvSpPr>
          <p:spPr>
            <a:xfrm>
              <a:off x="2541" y="923"/>
              <a:ext cx="8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9" name="Rectangle 45"/>
            <p:cNvSpPr/>
            <p:nvPr/>
          </p:nvSpPr>
          <p:spPr>
            <a:xfrm>
              <a:off x="2526" y="1137"/>
              <a:ext cx="8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0" name="Rectangle 46"/>
            <p:cNvSpPr/>
            <p:nvPr/>
          </p:nvSpPr>
          <p:spPr>
            <a:xfrm>
              <a:off x="1748" y="1137"/>
              <a:ext cx="8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1" name="Rectangle 47"/>
            <p:cNvSpPr/>
            <p:nvPr/>
          </p:nvSpPr>
          <p:spPr>
            <a:xfrm>
              <a:off x="2773" y="437"/>
              <a:ext cx="176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2" name="Rectangle 48"/>
            <p:cNvSpPr/>
            <p:nvPr/>
          </p:nvSpPr>
          <p:spPr>
            <a:xfrm>
              <a:off x="2525" y="223"/>
              <a:ext cx="8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3" name="Rectangle 49"/>
            <p:cNvSpPr/>
            <p:nvPr/>
          </p:nvSpPr>
          <p:spPr>
            <a:xfrm>
              <a:off x="2510" y="437"/>
              <a:ext cx="8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4" name="Rectangle 50"/>
            <p:cNvSpPr/>
            <p:nvPr/>
          </p:nvSpPr>
          <p:spPr>
            <a:xfrm>
              <a:off x="1737" y="437"/>
              <a:ext cx="8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5" name="Rectangle 51"/>
            <p:cNvSpPr/>
            <p:nvPr/>
          </p:nvSpPr>
          <p:spPr>
            <a:xfrm>
              <a:off x="2625" y="913"/>
              <a:ext cx="12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g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6" name="Rectangle 52"/>
            <p:cNvSpPr/>
            <p:nvPr/>
          </p:nvSpPr>
          <p:spPr>
            <a:xfrm>
              <a:off x="2609" y="212"/>
              <a:ext cx="12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80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g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87" name="文本框 1"/>
          <p:cNvSpPr txBox="1"/>
          <p:nvPr/>
        </p:nvSpPr>
        <p:spPr>
          <a:xfrm>
            <a:off x="2987675" y="1495425"/>
            <a:ext cx="30480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endParaRPr lang="en-US" altLang="zh-CN" sz="3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2770" name="Rectangle 2"/>
          <p:cNvSpPr/>
          <p:nvPr/>
        </p:nvSpPr>
        <p:spPr>
          <a:xfrm>
            <a:off x="152400" y="642938"/>
            <a:ext cx="8839200" cy="287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下面分析电光效应如何引起相位延迟。一种是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电场方向与通光方向一致</a:t>
            </a:r>
            <a:r>
              <a:rPr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称为纵向电光效应</a:t>
            </a:r>
            <a:r>
              <a:rPr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en-US" altLang="zh-CN" sz="28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另一种是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电场与通光方向相垂直</a:t>
            </a:r>
            <a:r>
              <a:rPr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称为横向电光效应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仍以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KDP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类晶体为例进行分析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沿晶体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轴加电场后，其折射率椭球如图所示。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4"/>
          <p:cNvSpPr/>
          <p:nvPr/>
        </p:nvSpPr>
        <p:spPr>
          <a:xfrm>
            <a:off x="304800" y="76200"/>
            <a:ext cx="34750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电光相位延迟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Rectangle 7"/>
          <p:cNvSpPr/>
          <p:nvPr/>
        </p:nvSpPr>
        <p:spPr>
          <a:xfrm>
            <a:off x="7524750" y="3860800"/>
            <a:ext cx="11477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(8.1.12)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2773" name="Object 28"/>
          <p:cNvGraphicFramePr>
            <a:graphicFrameLocks noChangeAspect="1"/>
          </p:cNvGraphicFramePr>
          <p:nvPr/>
        </p:nvGraphicFramePr>
        <p:xfrm>
          <a:off x="971550" y="5373688"/>
          <a:ext cx="61928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2209800" imgH="393700" progId="Equation.DSMT4">
                  <p:embed/>
                </p:oleObj>
              </mc:Choice>
              <mc:Fallback>
                <p:oleObj name="" r:id="rId1" imgW="2209800" imgH="3937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5373688"/>
                        <a:ext cx="6192838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29"/>
          <p:cNvGraphicFramePr>
            <a:graphicFrameLocks noChangeAspect="1"/>
          </p:cNvGraphicFramePr>
          <p:nvPr/>
        </p:nvGraphicFramePr>
        <p:xfrm>
          <a:off x="611188" y="3644900"/>
          <a:ext cx="64087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2705100" imgH="431800" progId="Equation.DSMT4">
                  <p:embed/>
                </p:oleObj>
              </mc:Choice>
              <mc:Fallback>
                <p:oleObj name="" r:id="rId3" imgW="2705100" imgH="431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3644900"/>
                        <a:ext cx="6408737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Rectangle 30"/>
          <p:cNvSpPr/>
          <p:nvPr/>
        </p:nvSpPr>
        <p:spPr>
          <a:xfrm>
            <a:off x="539750" y="4581525"/>
            <a:ext cx="7694613" cy="650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(8.1.12)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式中，令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Z’ = 0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，得到该椭圆的方程为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3794" name="Rectangle 2"/>
          <p:cNvSpPr/>
          <p:nvPr/>
        </p:nvSpPr>
        <p:spPr>
          <a:xfrm>
            <a:off x="539750" y="476250"/>
            <a:ext cx="8064500" cy="1758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这个椭圆的一个象限如图中的暗影部分所示。它的长、短半轴分别与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x’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y’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重合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x’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y’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也就是两个分量的偏振方向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相应的折射率为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x’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y’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 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Line 7"/>
          <p:cNvSpPr/>
          <p:nvPr/>
        </p:nvSpPr>
        <p:spPr>
          <a:xfrm>
            <a:off x="3279775" y="5148263"/>
            <a:ext cx="34194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3796" name="Line 8"/>
          <p:cNvSpPr/>
          <p:nvPr/>
        </p:nvSpPr>
        <p:spPr>
          <a:xfrm>
            <a:off x="3279775" y="5148263"/>
            <a:ext cx="1257300" cy="7191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3797" name="Line 9"/>
          <p:cNvSpPr/>
          <p:nvPr/>
        </p:nvSpPr>
        <p:spPr>
          <a:xfrm flipV="1">
            <a:off x="3279775" y="2781300"/>
            <a:ext cx="803275" cy="23669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33798" name="Line 10"/>
          <p:cNvSpPr/>
          <p:nvPr/>
        </p:nvSpPr>
        <p:spPr>
          <a:xfrm flipH="1" flipV="1">
            <a:off x="2525713" y="2781300"/>
            <a:ext cx="754062" cy="23669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3799" name="Arc 11"/>
          <p:cNvSpPr/>
          <p:nvPr/>
        </p:nvSpPr>
        <p:spPr>
          <a:xfrm>
            <a:off x="2776538" y="3641725"/>
            <a:ext cx="1660525" cy="5730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403419089"/>
              </a:cxn>
              <a:cxn ang="0">
                <a:pos x="0" y="403419089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00" name="Arc 12"/>
          <p:cNvSpPr/>
          <p:nvPr/>
        </p:nvSpPr>
        <p:spPr>
          <a:xfrm>
            <a:off x="4437063" y="4214813"/>
            <a:ext cx="1808162" cy="933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1743274098"/>
              </a:cxn>
              <a:cxn ang="0">
                <a:pos x="0" y="1743274098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01" name="Arc 13"/>
          <p:cNvSpPr/>
          <p:nvPr/>
        </p:nvSpPr>
        <p:spPr>
          <a:xfrm>
            <a:off x="2776538" y="3641725"/>
            <a:ext cx="3468687" cy="1435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02" name="Line 14"/>
          <p:cNvSpPr/>
          <p:nvPr/>
        </p:nvSpPr>
        <p:spPr>
          <a:xfrm flipH="1">
            <a:off x="2825750" y="3641725"/>
            <a:ext cx="101600" cy="142875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3" name="Line 15"/>
          <p:cNvSpPr/>
          <p:nvPr/>
        </p:nvSpPr>
        <p:spPr>
          <a:xfrm flipH="1">
            <a:off x="2927350" y="3641725"/>
            <a:ext cx="301625" cy="430213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4" name="Line 16"/>
          <p:cNvSpPr/>
          <p:nvPr/>
        </p:nvSpPr>
        <p:spPr>
          <a:xfrm flipH="1">
            <a:off x="2976563" y="3711575"/>
            <a:ext cx="352425" cy="503238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5" name="Line 17"/>
          <p:cNvSpPr/>
          <p:nvPr/>
        </p:nvSpPr>
        <p:spPr>
          <a:xfrm flipV="1">
            <a:off x="2874963" y="3641725"/>
            <a:ext cx="203200" cy="285750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6" name="Line 18"/>
          <p:cNvSpPr/>
          <p:nvPr/>
        </p:nvSpPr>
        <p:spPr>
          <a:xfrm flipH="1">
            <a:off x="3027363" y="3711575"/>
            <a:ext cx="503237" cy="719138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7" name="Line 19"/>
          <p:cNvSpPr/>
          <p:nvPr/>
        </p:nvSpPr>
        <p:spPr>
          <a:xfrm flipH="1">
            <a:off x="3078163" y="3711575"/>
            <a:ext cx="603250" cy="863600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8" name="Line 20"/>
          <p:cNvSpPr/>
          <p:nvPr/>
        </p:nvSpPr>
        <p:spPr>
          <a:xfrm flipV="1">
            <a:off x="3128963" y="3711575"/>
            <a:ext cx="703262" cy="1006475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09" name="Line 21"/>
          <p:cNvSpPr/>
          <p:nvPr/>
        </p:nvSpPr>
        <p:spPr>
          <a:xfrm flipV="1">
            <a:off x="3179763" y="3784600"/>
            <a:ext cx="754062" cy="1076325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10" name="Line 22"/>
          <p:cNvSpPr/>
          <p:nvPr/>
        </p:nvSpPr>
        <p:spPr>
          <a:xfrm flipV="1">
            <a:off x="3228975" y="3857625"/>
            <a:ext cx="804863" cy="1147763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11" name="Line 23"/>
          <p:cNvSpPr/>
          <p:nvPr/>
        </p:nvSpPr>
        <p:spPr>
          <a:xfrm flipV="1">
            <a:off x="3279775" y="3927475"/>
            <a:ext cx="904875" cy="1220788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12" name="Line 24"/>
          <p:cNvSpPr/>
          <p:nvPr/>
        </p:nvSpPr>
        <p:spPr>
          <a:xfrm flipV="1">
            <a:off x="3632200" y="4000500"/>
            <a:ext cx="703263" cy="860425"/>
          </a:xfrm>
          <a:prstGeom prst="line">
            <a:avLst/>
          </a:prstGeom>
          <a:ln w="9525" cap="flat" cmpd="sng">
            <a:solidFill>
              <a:srgbClr val="00CC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3813" name="Text Box 25"/>
          <p:cNvSpPr txBox="1"/>
          <p:nvPr/>
        </p:nvSpPr>
        <p:spPr>
          <a:xfrm>
            <a:off x="6634163" y="4859338"/>
            <a:ext cx="296862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814" name="Object 26"/>
          <p:cNvGraphicFramePr>
            <a:graphicFrameLocks noChangeAspect="1"/>
          </p:cNvGraphicFramePr>
          <p:nvPr/>
        </p:nvGraphicFramePr>
        <p:xfrm>
          <a:off x="2195513" y="2565400"/>
          <a:ext cx="279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165100" imgH="177800" progId="Equation.DSMT4">
                  <p:embed/>
                </p:oleObj>
              </mc:Choice>
              <mc:Fallback>
                <p:oleObj name="" r:id="rId1" imgW="165100" imgH="177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2565400"/>
                        <a:ext cx="27940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5" name="Object 27"/>
          <p:cNvGraphicFramePr>
            <a:graphicFrameLocks noChangeAspect="1"/>
          </p:cNvGraphicFramePr>
          <p:nvPr/>
        </p:nvGraphicFramePr>
        <p:xfrm>
          <a:off x="5156200" y="3303588"/>
          <a:ext cx="2619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165100" imgH="203200" progId="Equation.DSMT4">
                  <p:embed/>
                </p:oleObj>
              </mc:Choice>
              <mc:Fallback>
                <p:oleObj name="" r:id="rId3" imgW="165100" imgH="2032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6200" y="3303588"/>
                        <a:ext cx="261938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6" name="Object 28"/>
          <p:cNvGraphicFramePr>
            <a:graphicFrameLocks noChangeAspect="1"/>
          </p:cNvGraphicFramePr>
          <p:nvPr/>
        </p:nvGraphicFramePr>
        <p:xfrm>
          <a:off x="4083050" y="2565400"/>
          <a:ext cx="228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5" imgW="127000" imgH="139700" progId="Equation.DSMT4">
                  <p:embed/>
                </p:oleObj>
              </mc:Choice>
              <mc:Fallback>
                <p:oleObj name="" r:id="rId5" imgW="127000" imgH="1397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83050" y="2565400"/>
                        <a:ext cx="2286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29"/>
          <p:cNvGraphicFramePr>
            <a:graphicFrameLocks noChangeAspect="1"/>
          </p:cNvGraphicFramePr>
          <p:nvPr/>
        </p:nvGraphicFramePr>
        <p:xfrm>
          <a:off x="4578350" y="5721350"/>
          <a:ext cx="2190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139700" imgH="165100" progId="Equation.DSMT4">
                  <p:embed/>
                </p:oleObj>
              </mc:Choice>
              <mc:Fallback>
                <p:oleObj name="" r:id="rId7" imgW="139700" imgH="1651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8350" y="5721350"/>
                        <a:ext cx="219075" cy="371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8" name="Line 30"/>
          <p:cNvSpPr/>
          <p:nvPr/>
        </p:nvSpPr>
        <p:spPr>
          <a:xfrm flipV="1">
            <a:off x="3279775" y="3641725"/>
            <a:ext cx="1862138" cy="15065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3819" name="Object 31"/>
          <p:cNvGraphicFramePr>
            <a:graphicFrameLocks noChangeAspect="1"/>
          </p:cNvGraphicFramePr>
          <p:nvPr/>
        </p:nvGraphicFramePr>
        <p:xfrm>
          <a:off x="2225675" y="3857625"/>
          <a:ext cx="3952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9" imgW="190500" imgH="266700" progId="Equation.DSMT4">
                  <p:embed/>
                </p:oleObj>
              </mc:Choice>
              <mc:Fallback>
                <p:oleObj name="" r:id="rId9" imgW="190500" imgH="2667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25675" y="3857625"/>
                        <a:ext cx="395288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0" name="Object 32"/>
          <p:cNvGraphicFramePr>
            <a:graphicFrameLocks noChangeAspect="1"/>
          </p:cNvGraphicFramePr>
          <p:nvPr/>
        </p:nvGraphicFramePr>
        <p:xfrm>
          <a:off x="4017963" y="4575175"/>
          <a:ext cx="3476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1" imgW="190500" imgH="266700" progId="Equation.DSMT4">
                  <p:embed/>
                </p:oleObj>
              </mc:Choice>
              <mc:Fallback>
                <p:oleObj name="" r:id="rId11" imgW="190500" imgH="2667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17963" y="4575175"/>
                        <a:ext cx="347662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1" name="Line 33"/>
          <p:cNvSpPr/>
          <p:nvPr/>
        </p:nvSpPr>
        <p:spPr>
          <a:xfrm flipV="1">
            <a:off x="2525713" y="4071938"/>
            <a:ext cx="349250" cy="71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22" name="Line 34"/>
          <p:cNvSpPr/>
          <p:nvPr/>
        </p:nvSpPr>
        <p:spPr>
          <a:xfrm>
            <a:off x="3884613" y="4645025"/>
            <a:ext cx="149225" cy="146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33823" name="Object 35"/>
          <p:cNvGraphicFramePr>
            <a:graphicFrameLocks noChangeAspect="1"/>
          </p:cNvGraphicFramePr>
          <p:nvPr/>
        </p:nvGraphicFramePr>
        <p:xfrm>
          <a:off x="5148263" y="5157788"/>
          <a:ext cx="10795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3" imgW="444500" imgH="228600" progId="Equation.DSMT4">
                  <p:embed/>
                </p:oleObj>
              </mc:Choice>
              <mc:Fallback>
                <p:oleObj name="" r:id="rId13" imgW="444500" imgH="2286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48263" y="5157788"/>
                        <a:ext cx="107950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4" name="Arc 36"/>
          <p:cNvSpPr/>
          <p:nvPr/>
        </p:nvSpPr>
        <p:spPr>
          <a:xfrm>
            <a:off x="3378200" y="4791075"/>
            <a:ext cx="152400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86606" y="6461930"/>
              </a:cxn>
              <a:cxn ang="0">
                <a:pos x="0" y="6461930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3825" name="Object 37"/>
          <p:cNvGraphicFramePr>
            <a:graphicFrameLocks noChangeAspect="1"/>
          </p:cNvGraphicFramePr>
          <p:nvPr/>
        </p:nvGraphicFramePr>
        <p:xfrm>
          <a:off x="3429000" y="4430713"/>
          <a:ext cx="3857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5" imgW="241300" imgH="203200" progId="Equation.DSMT4">
                  <p:embed/>
                </p:oleObj>
              </mc:Choice>
              <mc:Fallback>
                <p:oleObj name="" r:id="rId15" imgW="241300" imgH="2032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29000" y="4430713"/>
                        <a:ext cx="385763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446088" y="549275"/>
          <a:ext cx="7818437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2959100" imgH="685800" progId="Equation.DSMT4">
                  <p:embed/>
                </p:oleObj>
              </mc:Choice>
              <mc:Fallback>
                <p:oleObj name="" r:id="rId1" imgW="2959100" imgH="685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6088" y="549275"/>
                        <a:ext cx="7818437" cy="175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Rectangle 3"/>
          <p:cNvSpPr/>
          <p:nvPr/>
        </p:nvSpPr>
        <p:spPr>
          <a:xfrm>
            <a:off x="228600" y="2362200"/>
            <a:ext cx="86868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因此，当这两个光波穿过晶体后将产生一个相位差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446088" y="3328988"/>
          <a:ext cx="82994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3378200" imgH="330200" progId="Equation.3">
                  <p:embed/>
                </p:oleObj>
              </mc:Choice>
              <mc:Fallback>
                <p:oleObj name="" r:id="rId3" imgW="3378200" imgH="330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088" y="3328988"/>
                        <a:ext cx="8299450" cy="706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/>
          <p:cNvSpPr/>
          <p:nvPr/>
        </p:nvSpPr>
        <p:spPr>
          <a:xfrm>
            <a:off x="152400" y="4267200"/>
            <a:ext cx="8839200" cy="17700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式中的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 = E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是沿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轴加的电压；当电光晶体和通光波长确定后，相位差的变化仅取决于外加电压，即只要改变电压，就能使相位成比例地变化。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grpSp>
        <p:nvGrpSpPr>
          <p:cNvPr id="35842" name="Group 2"/>
          <p:cNvGrpSpPr/>
          <p:nvPr/>
        </p:nvGrpSpPr>
        <p:grpSpPr>
          <a:xfrm>
            <a:off x="152400" y="152400"/>
            <a:ext cx="8839200" cy="1766888"/>
            <a:chOff x="96" y="96"/>
            <a:chExt cx="5568" cy="1113"/>
          </a:xfrm>
        </p:grpSpPr>
        <p:sp>
          <p:nvSpPr>
            <p:cNvPr id="35843" name="Rectangle 3"/>
            <p:cNvSpPr/>
            <p:nvPr/>
          </p:nvSpPr>
          <p:spPr>
            <a:xfrm>
              <a:off x="96" y="96"/>
              <a:ext cx="5568" cy="11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当光波的两个垂直分量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800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x’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, 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800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y’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的光程差为半个波长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相应的相位差为</a:t>
              </a:r>
              <a:r>
                <a:rPr lang="en-US" altLang="zh-CN" sz="2800" b="1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π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时所需要加的电压，称为“半波电压”，通常以              表示。由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(2.2.4)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式得到</a:t>
              </a:r>
              <a:endPara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44" name="Object 4"/>
            <p:cNvGraphicFramePr>
              <a:graphicFrameLocks noChangeAspect="1"/>
            </p:cNvGraphicFramePr>
            <p:nvPr/>
          </p:nvGraphicFramePr>
          <p:xfrm>
            <a:off x="816" y="864"/>
            <a:ext cx="76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1" imgW="660400" imgH="292100" progId="Equation.3">
                    <p:embed/>
                  </p:oleObj>
                </mc:Choice>
                <mc:Fallback>
                  <p:oleObj name="" r:id="rId1" imgW="660400" imgH="2921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16" y="864"/>
                          <a:ext cx="768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1116013" y="1989138"/>
          <a:ext cx="744378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3" imgW="2146300" imgH="431800" progId="Equation.3">
                  <p:embed/>
                </p:oleObj>
              </mc:Choice>
              <mc:Fallback>
                <p:oleObj name="" r:id="rId3" imgW="2146300" imgH="4318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1989138"/>
                        <a:ext cx="7443787" cy="1112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6" name="Group 6"/>
          <p:cNvGrpSpPr/>
          <p:nvPr/>
        </p:nvGrpSpPr>
        <p:grpSpPr>
          <a:xfrm>
            <a:off x="179388" y="3213100"/>
            <a:ext cx="8763000" cy="3168650"/>
            <a:chOff x="96" y="2036"/>
            <a:chExt cx="5520" cy="1996"/>
          </a:xfrm>
        </p:grpSpPr>
        <p:sp>
          <p:nvSpPr>
            <p:cNvPr id="35847" name="Rectangle 7"/>
            <p:cNvSpPr/>
            <p:nvPr/>
          </p:nvSpPr>
          <p:spPr>
            <a:xfrm>
              <a:off x="96" y="2036"/>
              <a:ext cx="5520" cy="19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半波电压是表征电光晶体性能的一个重要参数，这个电压越小越好，特别是在宽频带高频率情况下，半波电压小，需要的调制功率就小。半波电压通常可用静态法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加直流电压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测出，再利用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(2. 2. 8)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式就可计算出电光系数        值。下表为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KDP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型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(42m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晶类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晶体的半波电压和电光系数（波长＝</a:t>
              </a: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0.55um</a:t>
              </a:r>
              <a:r>
                <a:rPr lang="zh-CN" altLang="en-US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）的关系。</a:t>
              </a:r>
              <a:endPara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48" name="Object 8"/>
            <p:cNvGraphicFramePr>
              <a:graphicFrameLocks noChangeAspect="1"/>
            </p:cNvGraphicFramePr>
            <p:nvPr/>
          </p:nvGraphicFramePr>
          <p:xfrm>
            <a:off x="432" y="3312"/>
            <a:ext cx="35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5" imgW="254000" imgH="279400" progId="Equation.3">
                    <p:embed/>
                  </p:oleObj>
                </mc:Choice>
                <mc:Fallback>
                  <p:oleObj name="" r:id="rId5" imgW="254000" imgH="2794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" y="3312"/>
                          <a:ext cx="358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9" name="Line 9"/>
            <p:cNvSpPr/>
            <p:nvPr/>
          </p:nvSpPr>
          <p:spPr>
            <a:xfrm>
              <a:off x="2880" y="3408"/>
              <a:ext cx="144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145410" name="Rectangle 2"/>
          <p:cNvSpPr/>
          <p:nvPr/>
        </p:nvSpPr>
        <p:spPr>
          <a:xfrm>
            <a:off x="0" y="0"/>
            <a:ext cx="914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纵向电光调制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通光方向与电场方向一致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5"/>
          <p:cNvSpPr/>
          <p:nvPr/>
        </p:nvSpPr>
        <p:spPr>
          <a:xfrm>
            <a:off x="179388" y="4221163"/>
            <a:ext cx="8839200" cy="2636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  <a:spcBef>
                <a:spcPts val="5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电光晶体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(KDP)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置于两个成正交的偏振器之间，其中起偏器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的偏振方向平行于电光晶体的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轴，检偏器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的偏振方向平行于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轴，当沿晶体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轴方向加电场后，它们将旋转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变为感应主轴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x’, y’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。因此，沿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轴入射的光束经起偏器变为平行于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轴的线偏振光，进入晶体后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(z=0)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被分解为沿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x’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y’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方向的两个分量，两个振幅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等于入射光振幅的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1/  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）和相位都相等．分别为：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9940" name="Object 6"/>
          <p:cNvGraphicFramePr>
            <a:graphicFrameLocks noChangeAspect="1"/>
          </p:cNvGraphicFramePr>
          <p:nvPr/>
        </p:nvGraphicFramePr>
        <p:xfrm>
          <a:off x="2627313" y="6381750"/>
          <a:ext cx="3952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241300" imgH="215900" progId="Equation.3">
                  <p:embed/>
                </p:oleObj>
              </mc:Choice>
              <mc:Fallback>
                <p:oleObj name="" r:id="rId1" imgW="241300" imgH="2159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6381750"/>
                        <a:ext cx="39528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Rectangle 7"/>
          <p:cNvSpPr/>
          <p:nvPr/>
        </p:nvSpPr>
        <p:spPr>
          <a:xfrm>
            <a:off x="2120900" y="3644900"/>
            <a:ext cx="495617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纵向电光强度调制的典型结构。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994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3" y="620713"/>
            <a:ext cx="8640762" cy="2782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>
                <a:latin typeface="Garamond" pitchFamily="18" charset="0"/>
              </a:rPr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50178" name="Rectangle 2"/>
          <p:cNvSpPr/>
          <p:nvPr/>
        </p:nvSpPr>
        <p:spPr>
          <a:xfrm>
            <a:off x="250825" y="44450"/>
            <a:ext cx="8713788" cy="2892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§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2.4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电光相位调制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1.2-9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所示的是电光相位调制的原理图，它由起偏器和电光晶体组成。起偏器的偏振方向平行于晶体的感应主轴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x’(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y’)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，此时入射晶体的线偏振光不再分解成沿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x’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y’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两个分量，而是沿着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x’(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y’)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轴一个方向偏振，故外电场不改变出射光的偏振状态，仅改变其相位，相位的变化为                                                                                                    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9" name="Rectangle 5"/>
          <p:cNvSpPr/>
          <p:nvPr/>
        </p:nvSpPr>
        <p:spPr>
          <a:xfrm>
            <a:off x="7164388" y="2924175"/>
            <a:ext cx="9953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(8.4.1)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0180" name="Object 7"/>
          <p:cNvGraphicFramePr>
            <a:graphicFrameLocks noChangeAspect="1"/>
          </p:cNvGraphicFramePr>
          <p:nvPr/>
        </p:nvGraphicFramePr>
        <p:xfrm>
          <a:off x="1763713" y="2781300"/>
          <a:ext cx="4856162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2070100" imgH="419100" progId="Equation.DSMT4">
                  <p:embed/>
                </p:oleObj>
              </mc:Choice>
              <mc:Fallback>
                <p:oleObj name="" r:id="rId1" imgW="2070100" imgH="4191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2781300"/>
                        <a:ext cx="4856162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8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75" y="3617913"/>
            <a:ext cx="6176963" cy="3240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400,&quot;width&quot;:7040}"/>
</p:tagLst>
</file>

<file path=ppt/tags/tag2.xml><?xml version="1.0" encoding="utf-8"?>
<p:tagLst xmlns:p="http://schemas.openxmlformats.org/presentationml/2006/main">
  <p:tag name="KSO_WM_UNIT_PLACING_PICTURE_USER_VIEWPORT" val="{&quot;height&quot;:5734,&quot;width&quot;:7846}"/>
</p:tagLst>
</file>

<file path=ppt/tags/tag3.xml><?xml version="1.0" encoding="utf-8"?>
<p:tagLst xmlns:p="http://schemas.openxmlformats.org/presentationml/2006/main">
  <p:tag name="COMMONDATA" val="eyJoZGlkIjoiOWY5ZDhlMzM5NzZiOTNkOTQ0MjViMjJkM2FhOGRjN2EifQ=="/>
  <p:tag name="KSO_WPP_MARK_KEY" val="37a27c22-f221-4fa7-9c15-0c5f4ec1f7e7"/>
</p:tagLst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宋体"/>
      </a:majorFont>
      <a:minorFont>
        <a:latin typeface="Arial"/>
        <a:ea typeface="宋体"/>
        <a:cs typeface="宋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  <a:cs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  <a:cs typeface="宋体" panose="02010600030101010101" pitchFamily="2" charset="-122"/>
          </a:defRPr>
        </a:defPPr>
      </a:lstStyle>
    </a:lnDef>
  </a:objectDefaul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16607</Words>
  <Application>WPS 演示</Application>
  <PresentationFormat>全屏显示(4:3)</PresentationFormat>
  <Paragraphs>1430</Paragraphs>
  <Slides>98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133</vt:i4>
      </vt:variant>
      <vt:variant>
        <vt:lpstr>幻灯片标题</vt:lpstr>
      </vt:variant>
      <vt:variant>
        <vt:i4>98</vt:i4>
      </vt:variant>
    </vt:vector>
  </HeadingPairs>
  <TitlesOfParts>
    <vt:vector size="256" baseType="lpstr">
      <vt:lpstr>Arial</vt:lpstr>
      <vt:lpstr>宋体</vt:lpstr>
      <vt:lpstr>Wingdings</vt:lpstr>
      <vt:lpstr>Wingdings</vt:lpstr>
      <vt:lpstr>Garamond</vt:lpstr>
      <vt:lpstr>Times New Roman</vt:lpstr>
      <vt:lpstr>仿宋_GB2312</vt:lpstr>
      <vt:lpstr>仿宋</vt:lpstr>
      <vt:lpstr>Symbol</vt:lpstr>
      <vt:lpstr>楷体_GB2312</vt:lpstr>
      <vt:lpstr>新宋体</vt:lpstr>
      <vt:lpstr>微软雅黑</vt:lpstr>
      <vt:lpstr>Arial Unicode MS</vt:lpstr>
      <vt:lpstr>Calibri</vt:lpstr>
      <vt:lpstr>Tahoma</vt:lpstr>
      <vt:lpstr>幼圆</vt:lpstr>
      <vt:lpstr>楷体</vt:lpstr>
      <vt:lpstr>Times</vt:lpstr>
      <vt:lpstr>黑体</vt:lpstr>
      <vt:lpstr>Arial Black</vt:lpstr>
      <vt:lpstr>Webdings</vt:lpstr>
      <vt:lpstr>隶书</vt:lpstr>
      <vt:lpstr>华文新魏</vt:lpstr>
      <vt:lpstr>Segoe Print</vt:lpstr>
      <vt:lpstr>古瓶荷花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Visio.Drawing.4</vt:lpstr>
      <vt:lpstr>Equation.3</vt:lpstr>
      <vt:lpstr>PBrush</vt:lpstr>
      <vt:lpstr>Equation.3</vt:lpstr>
      <vt:lpstr>Equation.3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MSDraw</vt:lpstr>
      <vt:lpstr>Equation.3</vt:lpstr>
      <vt:lpstr>Equation.3</vt:lpstr>
      <vt:lpstr>Equation.DSMT4</vt:lpstr>
      <vt:lpstr>Equation.3</vt:lpstr>
      <vt:lpstr>Equation.3</vt:lpstr>
      <vt:lpstr>光电子技术基础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第三章  光和物质的相互作用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（2）受激吸收</vt:lpstr>
      <vt:lpstr>(3) 受激辐射 </vt:lpstr>
      <vt:lpstr>光谱线的加宽机制和类型</vt:lpstr>
      <vt:lpstr>PowerPoint 演示文稿</vt:lpstr>
      <vt:lpstr>第4章   光源--激光原理</vt:lpstr>
      <vt:lpstr>1 非相干光源、相干光源与激光 ——激光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半导体激光器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6.1.1  光纤的结构</vt:lpstr>
      <vt:lpstr>PowerPoint 演示文稿</vt:lpstr>
      <vt:lpstr>PowerPoint 演示文稿</vt:lpstr>
      <vt:lpstr>PowerPoint 演示文稿</vt:lpstr>
      <vt:lpstr>PowerPoint 演示文稿</vt:lpstr>
      <vt:lpstr>6.2    光纤传输原理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光纤的损耗机理(1)</vt:lpstr>
      <vt:lpstr>光纤的损耗机理(2)</vt:lpstr>
      <vt:lpstr>光纤的损耗机理(3)</vt:lpstr>
      <vt:lpstr>PowerPoint 演示文稿</vt:lpstr>
      <vt:lpstr>群速色散(GVD)</vt:lpstr>
      <vt:lpstr>光脉冲展宽(1)</vt:lpstr>
      <vt:lpstr>光脉冲展宽(2)</vt:lpstr>
      <vt:lpstr>单模光纤的色散</vt:lpstr>
      <vt:lpstr>单模光纤的色散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一、自相位调制SPM</vt:lpstr>
      <vt:lpstr>  色散对SPM效应的影响 (2)</vt:lpstr>
      <vt:lpstr>                第八章  电光调制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光电子学</dc:title>
  <dc:creator>DEll</dc:creator>
  <cp:lastModifiedBy>廖同庆</cp:lastModifiedBy>
  <cp:revision>186</cp:revision>
  <dcterms:created xsi:type="dcterms:W3CDTF">2008-02-24T02:08:00Z</dcterms:created>
  <dcterms:modified xsi:type="dcterms:W3CDTF">2023-02-16T07:22:35Z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2052-11.1.0.12970</vt:lpwstr>
  </property>
  <property fmtid="{D5CDD505-2E9C-101B-9397-08002B2CF9AE}" pid="3" name="ICV">
    <vt:lpwstr>FBA6D98A3F9A422FA7357C9489F1329D</vt:lpwstr>
  </property>
</Properties>
</file>